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63"/>
  </p:notesMasterIdLst>
  <p:sldIdLst>
    <p:sldId id="295" r:id="rId2"/>
    <p:sldId id="651" r:id="rId3"/>
    <p:sldId id="649" r:id="rId4"/>
    <p:sldId id="652" r:id="rId5"/>
    <p:sldId id="653" r:id="rId6"/>
    <p:sldId id="654" r:id="rId7"/>
    <p:sldId id="655" r:id="rId8"/>
    <p:sldId id="611" r:id="rId9"/>
    <p:sldId id="656" r:id="rId10"/>
    <p:sldId id="657" r:id="rId11"/>
    <p:sldId id="658" r:id="rId12"/>
    <p:sldId id="663" r:id="rId13"/>
    <p:sldId id="664" r:id="rId14"/>
    <p:sldId id="588" r:id="rId15"/>
    <p:sldId id="589" r:id="rId16"/>
    <p:sldId id="590" r:id="rId17"/>
    <p:sldId id="644" r:id="rId18"/>
    <p:sldId id="592" r:id="rId19"/>
    <p:sldId id="593" r:id="rId20"/>
    <p:sldId id="594" r:id="rId21"/>
    <p:sldId id="596" r:id="rId22"/>
    <p:sldId id="597" r:id="rId23"/>
    <p:sldId id="598" r:id="rId24"/>
    <p:sldId id="599" r:id="rId25"/>
    <p:sldId id="601" r:id="rId26"/>
    <p:sldId id="602" r:id="rId27"/>
    <p:sldId id="628" r:id="rId28"/>
    <p:sldId id="631" r:id="rId29"/>
    <p:sldId id="659" r:id="rId30"/>
    <p:sldId id="660" r:id="rId31"/>
    <p:sldId id="661" r:id="rId32"/>
    <p:sldId id="662" r:id="rId33"/>
    <p:sldId id="673" r:id="rId34"/>
    <p:sldId id="672" r:id="rId35"/>
    <p:sldId id="674" r:id="rId36"/>
    <p:sldId id="632" r:id="rId37"/>
    <p:sldId id="636" r:id="rId38"/>
    <p:sldId id="637" r:id="rId39"/>
    <p:sldId id="675" r:id="rId40"/>
    <p:sldId id="676" r:id="rId41"/>
    <p:sldId id="677" r:id="rId42"/>
    <p:sldId id="678" r:id="rId43"/>
    <p:sldId id="679" r:id="rId44"/>
    <p:sldId id="680" r:id="rId45"/>
    <p:sldId id="681" r:id="rId46"/>
    <p:sldId id="638" r:id="rId47"/>
    <p:sldId id="639" r:id="rId48"/>
    <p:sldId id="640" r:id="rId49"/>
    <p:sldId id="641" r:id="rId50"/>
    <p:sldId id="607" r:id="rId51"/>
    <p:sldId id="618" r:id="rId52"/>
    <p:sldId id="645" r:id="rId53"/>
    <p:sldId id="648" r:id="rId54"/>
    <p:sldId id="682" r:id="rId55"/>
    <p:sldId id="683" r:id="rId56"/>
    <p:sldId id="684" r:id="rId57"/>
    <p:sldId id="685" r:id="rId58"/>
    <p:sldId id="686" r:id="rId59"/>
    <p:sldId id="687" r:id="rId60"/>
    <p:sldId id="688" r:id="rId61"/>
    <p:sldId id="689"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2280" autoAdjust="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3E91E2-F7BD-4FD6-9FE6-3EF0661FA4EC}"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E99DF-D32B-494B-8AD6-958D85979CC8}" type="slidenum">
              <a:rPr lang="en-US" smtClean="0"/>
              <a:t>‹#›</a:t>
            </a:fld>
            <a:endParaRPr lang="en-US"/>
          </a:p>
        </p:txBody>
      </p:sp>
    </p:spTree>
    <p:extLst>
      <p:ext uri="{BB962C8B-B14F-4D97-AF65-F5344CB8AC3E}">
        <p14:creationId xmlns:p14="http://schemas.microsoft.com/office/powerpoint/2010/main" val="215937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534AE-FF52-4F0F-BC81-9FF93745055C}" type="slidenum">
              <a:rPr lang="en-US" smtClean="0"/>
              <a:t>1</a:t>
            </a:fld>
            <a:endParaRPr lang="en-US"/>
          </a:p>
        </p:txBody>
      </p:sp>
    </p:spTree>
    <p:extLst>
      <p:ext uri="{BB962C8B-B14F-4D97-AF65-F5344CB8AC3E}">
        <p14:creationId xmlns:p14="http://schemas.microsoft.com/office/powerpoint/2010/main" val="2067132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2406873-C4C4-409F-B774-0200072D81BD}" type="datetimeFigureOut">
              <a:rPr lang="en-US" smtClean="0"/>
              <a:t>8/26/2026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7AD83DBD-A642-4633-B082-2C4E03817EF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9755085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406873-C4C4-409F-B774-0200072D81BD}"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929293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406873-C4C4-409F-B774-0200072D81BD}"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83DBD-A642-4633-B082-2C4E03817EF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50083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2406873-C4C4-409F-B774-0200072D81BD}"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3761212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2406873-C4C4-409F-B774-0200072D81BD}"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1133230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2406873-C4C4-409F-B774-0200072D81BD}"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662935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406873-C4C4-409F-B774-0200072D81BD}"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906666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406873-C4C4-409F-B774-0200072D81BD}"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3581337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406873-C4C4-409F-B774-0200072D81BD}"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2839337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406873-C4C4-409F-B774-0200072D81BD}"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350519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406873-C4C4-409F-B774-0200072D81BD}"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3429417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2406873-C4C4-409F-B774-0200072D81BD}" type="datetimeFigureOut">
              <a:rPr lang="en-US" smtClean="0"/>
              <a:t>8/26/2026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7AD83DBD-A642-4633-B082-2C4E03817EFE}" type="slidenum">
              <a:rPr lang="en-US" smtClean="0"/>
              <a:t>‹#›</a:t>
            </a:fld>
            <a:endParaRPr lang="en-US"/>
          </a:p>
        </p:txBody>
      </p:sp>
    </p:spTree>
    <p:extLst>
      <p:ext uri="{BB962C8B-B14F-4D97-AF65-F5344CB8AC3E}">
        <p14:creationId xmlns:p14="http://schemas.microsoft.com/office/powerpoint/2010/main" val="157852214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hyperlink" Target="https://tailwindcss.com/docs/installatio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tailwindcss.com/docs/installation"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5764" y="994264"/>
            <a:ext cx="10172687" cy="2677648"/>
          </a:xfrm>
        </p:spPr>
        <p:txBody>
          <a:bodyPr>
            <a:normAutofit/>
          </a:bodyPr>
          <a:lstStyle/>
          <a:p>
            <a:r>
              <a:rPr lang="en-US" dirty="0" smtClean="0"/>
              <a:t>Tailwind CSS</a:t>
            </a:r>
            <a:endParaRPr lang="en-US" dirty="0"/>
          </a:p>
        </p:txBody>
      </p:sp>
      <p:sp>
        <p:nvSpPr>
          <p:cNvPr id="3" name="Subtitle 2"/>
          <p:cNvSpPr>
            <a:spLocks noGrp="1"/>
          </p:cNvSpPr>
          <p:nvPr>
            <p:ph type="subTitle" idx="1"/>
          </p:nvPr>
        </p:nvSpPr>
        <p:spPr/>
        <p:txBody>
          <a:bodyPr/>
          <a:lstStyle/>
          <a:p>
            <a:r>
              <a:rPr lang="en-US" dirty="0" smtClean="0"/>
              <a:t>Dr. </a:t>
            </a:r>
            <a:r>
              <a:rPr lang="en-US" dirty="0" err="1" smtClean="0"/>
              <a:t>Shruti</a:t>
            </a:r>
            <a:r>
              <a:rPr lang="en-US" dirty="0" smtClean="0"/>
              <a:t> </a:t>
            </a:r>
            <a:r>
              <a:rPr lang="en-US" dirty="0" err="1"/>
              <a:t>B</a:t>
            </a:r>
            <a:r>
              <a:rPr lang="en-US" dirty="0" err="1" smtClean="0"/>
              <a:t>hilare</a:t>
            </a:r>
            <a:endParaRPr lang="en-US" dirty="0"/>
          </a:p>
        </p:txBody>
      </p:sp>
    </p:spTree>
    <p:extLst>
      <p:ext uri="{BB962C8B-B14F-4D97-AF65-F5344CB8AC3E}">
        <p14:creationId xmlns:p14="http://schemas.microsoft.com/office/powerpoint/2010/main" val="21170011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Motivation: framework</a:t>
            </a:r>
            <a:endParaRPr lang="en-IN" dirty="0"/>
          </a:p>
        </p:txBody>
      </p:sp>
      <p:sp>
        <p:nvSpPr>
          <p:cNvPr id="3" name="Content Placeholder 2"/>
          <p:cNvSpPr>
            <a:spLocks noGrp="1"/>
          </p:cNvSpPr>
          <p:nvPr>
            <p:ph idx="1"/>
          </p:nvPr>
        </p:nvSpPr>
        <p:spPr/>
        <p:txBody>
          <a:bodyPr/>
          <a:lstStyle/>
          <a:p>
            <a:r>
              <a:rPr lang="en-IN" dirty="0"/>
              <a:t>Writing raw </a:t>
            </a:r>
            <a:r>
              <a:rPr lang="en-IN" dirty="0" smtClean="0"/>
              <a:t>CSS can be </a:t>
            </a:r>
            <a:r>
              <a:rPr lang="en-IN" dirty="0"/>
              <a:t>repetitive &amp; </a:t>
            </a:r>
            <a:r>
              <a:rPr lang="en-IN" dirty="0" smtClean="0"/>
              <a:t>time-consuming</a:t>
            </a:r>
          </a:p>
          <a:p>
            <a:r>
              <a:rPr lang="en-IN" dirty="0" smtClean="0"/>
              <a:t>Hard </a:t>
            </a:r>
            <a:r>
              <a:rPr lang="en-IN" dirty="0"/>
              <a:t>to maintain large </a:t>
            </a:r>
            <a:r>
              <a:rPr lang="en-IN" dirty="0" smtClean="0"/>
              <a:t>stylesheets</a:t>
            </a:r>
          </a:p>
          <a:p>
            <a:r>
              <a:rPr lang="en-IN" dirty="0" smtClean="0"/>
              <a:t>Inconsistent </a:t>
            </a:r>
            <a:r>
              <a:rPr lang="en-IN" dirty="0"/>
              <a:t>design across </a:t>
            </a:r>
            <a:r>
              <a:rPr lang="en-IN" dirty="0" smtClean="0"/>
              <a:t>components</a:t>
            </a:r>
          </a:p>
          <a:p>
            <a:r>
              <a:rPr lang="en-IN" dirty="0" smtClean="0"/>
              <a:t>Frameworks </a:t>
            </a:r>
            <a:r>
              <a:rPr lang="en-IN" dirty="0"/>
              <a:t>provide</a:t>
            </a:r>
            <a:r>
              <a:rPr lang="en-IN" dirty="0" smtClean="0"/>
              <a:t>:</a:t>
            </a:r>
          </a:p>
          <a:p>
            <a:pPr lvl="1"/>
            <a:r>
              <a:rPr lang="en-IN" dirty="0" smtClean="0"/>
              <a:t>Predefined utilities</a:t>
            </a:r>
          </a:p>
          <a:p>
            <a:pPr lvl="1"/>
            <a:r>
              <a:rPr lang="en-IN" dirty="0" smtClean="0"/>
              <a:t>Faster prototyping</a:t>
            </a:r>
          </a:p>
          <a:p>
            <a:pPr lvl="1"/>
            <a:r>
              <a:rPr lang="en-IN" dirty="0" smtClean="0"/>
              <a:t>Consistent </a:t>
            </a:r>
            <a:r>
              <a:rPr lang="en-IN" dirty="0"/>
              <a:t>UI</a:t>
            </a:r>
          </a:p>
        </p:txBody>
      </p:sp>
    </p:spTree>
    <p:extLst>
      <p:ext uri="{BB962C8B-B14F-4D97-AF65-F5344CB8AC3E}">
        <p14:creationId xmlns:p14="http://schemas.microsoft.com/office/powerpoint/2010/main" val="2669847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Philosophy of Tailwind CSS</a:t>
            </a:r>
            <a:endParaRPr lang="en-IN" dirty="0"/>
          </a:p>
        </p:txBody>
      </p:sp>
      <p:sp>
        <p:nvSpPr>
          <p:cNvPr id="3" name="Content Placeholder 2"/>
          <p:cNvSpPr>
            <a:spLocks noGrp="1"/>
          </p:cNvSpPr>
          <p:nvPr>
            <p:ph idx="1"/>
          </p:nvPr>
        </p:nvSpPr>
        <p:spPr/>
        <p:txBody>
          <a:bodyPr/>
          <a:lstStyle/>
          <a:p>
            <a:r>
              <a:rPr lang="en-US" b="1" dirty="0"/>
              <a:t>Rapidly build modern websites without ever leaving your HTML.</a:t>
            </a:r>
          </a:p>
          <a:p>
            <a:endParaRPr lang="en-US" dirty="0" smtClean="0"/>
          </a:p>
          <a:p>
            <a:r>
              <a:rPr lang="en-US" dirty="0" smtClean="0"/>
              <a:t>Utility-first </a:t>
            </a:r>
            <a:r>
              <a:rPr lang="en-US" dirty="0"/>
              <a:t>approach → small, single-purpose </a:t>
            </a:r>
            <a:r>
              <a:rPr lang="en-US" dirty="0" smtClean="0"/>
              <a:t>classes</a:t>
            </a:r>
          </a:p>
          <a:p>
            <a:r>
              <a:rPr lang="en-US" dirty="0" smtClean="0"/>
              <a:t>Focus </a:t>
            </a:r>
            <a:r>
              <a:rPr lang="en-US" dirty="0"/>
              <a:t>on composition, not pre-styled </a:t>
            </a:r>
            <a:r>
              <a:rPr lang="en-US" dirty="0" smtClean="0"/>
              <a:t>components</a:t>
            </a:r>
          </a:p>
          <a:p>
            <a:r>
              <a:rPr lang="en-US" dirty="0" smtClean="0"/>
              <a:t>Build </a:t>
            </a:r>
            <a:r>
              <a:rPr lang="en-US" dirty="0"/>
              <a:t>custom designs without leaving </a:t>
            </a:r>
            <a:r>
              <a:rPr lang="en-US" dirty="0" smtClean="0"/>
              <a:t>HTML</a:t>
            </a:r>
          </a:p>
          <a:p>
            <a:r>
              <a:rPr lang="en-US" dirty="0" smtClean="0"/>
              <a:t>Not opinionated </a:t>
            </a:r>
            <a:r>
              <a:rPr lang="en-US" dirty="0"/>
              <a:t>about </a:t>
            </a:r>
            <a:r>
              <a:rPr lang="en-US" dirty="0" smtClean="0"/>
              <a:t>design</a:t>
            </a:r>
            <a:endParaRPr lang="en-IN" dirty="0"/>
          </a:p>
        </p:txBody>
      </p:sp>
    </p:spTree>
    <p:extLst>
      <p:ext uri="{BB962C8B-B14F-4D97-AF65-F5344CB8AC3E}">
        <p14:creationId xmlns:p14="http://schemas.microsoft.com/office/powerpoint/2010/main" val="4066492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Contradicts the guideline</a:t>
            </a:r>
            <a:endParaRPr lang="en-IN" dirty="0"/>
          </a:p>
        </p:txBody>
      </p:sp>
      <p:sp>
        <p:nvSpPr>
          <p:cNvPr id="3" name="Content Placeholder 2"/>
          <p:cNvSpPr>
            <a:spLocks noGrp="1"/>
          </p:cNvSpPr>
          <p:nvPr>
            <p:ph idx="1"/>
          </p:nvPr>
        </p:nvSpPr>
        <p:spPr/>
        <p:txBody>
          <a:bodyPr/>
          <a:lstStyle/>
          <a:p>
            <a:r>
              <a:rPr lang="en-IN" dirty="0"/>
              <a:t>Traditional rule: “Keep HTML and CSS separate</a:t>
            </a:r>
            <a:r>
              <a:rPr lang="en-IN" dirty="0" smtClean="0"/>
              <a:t>”</a:t>
            </a:r>
          </a:p>
          <a:p>
            <a:r>
              <a:rPr lang="en-IN" dirty="0" smtClean="0"/>
              <a:t>Tailwind </a:t>
            </a:r>
            <a:r>
              <a:rPr lang="en-IN" dirty="0"/>
              <a:t>mixes styling into HTML via utility </a:t>
            </a:r>
            <a:r>
              <a:rPr lang="en-IN" dirty="0" smtClean="0"/>
              <a:t>classes</a:t>
            </a:r>
          </a:p>
          <a:p>
            <a:r>
              <a:rPr lang="en-IN" dirty="0" smtClean="0"/>
              <a:t>But:</a:t>
            </a:r>
          </a:p>
          <a:p>
            <a:pPr lvl="1"/>
            <a:r>
              <a:rPr lang="en-IN" dirty="0" smtClean="0"/>
              <a:t>Removes </a:t>
            </a:r>
            <a:r>
              <a:rPr lang="en-IN" dirty="0"/>
              <a:t>need for long CSS </a:t>
            </a:r>
            <a:r>
              <a:rPr lang="en-IN" dirty="0" smtClean="0"/>
              <a:t>files</a:t>
            </a:r>
          </a:p>
          <a:p>
            <a:pPr lvl="1"/>
            <a:r>
              <a:rPr lang="en-IN" dirty="0" smtClean="0"/>
              <a:t>Reduces </a:t>
            </a:r>
            <a:r>
              <a:rPr lang="en-IN" dirty="0"/>
              <a:t>context switching (HTML ↔ CSS</a:t>
            </a:r>
            <a:r>
              <a:rPr lang="en-IN" dirty="0" smtClean="0"/>
              <a:t>)</a:t>
            </a:r>
          </a:p>
          <a:p>
            <a:pPr lvl="1"/>
            <a:r>
              <a:rPr lang="en-IN" dirty="0" smtClean="0"/>
              <a:t>Enables </a:t>
            </a:r>
            <a:r>
              <a:rPr lang="en-IN" dirty="0"/>
              <a:t>design consistency across app</a:t>
            </a:r>
          </a:p>
        </p:txBody>
      </p:sp>
    </p:spTree>
    <p:extLst>
      <p:ext uri="{BB962C8B-B14F-4D97-AF65-F5344CB8AC3E}">
        <p14:creationId xmlns:p14="http://schemas.microsoft.com/office/powerpoint/2010/main" val="2212284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Other players in the market</a:t>
            </a:r>
            <a:endParaRPr lang="en-IN" dirty="0"/>
          </a:p>
        </p:txBody>
      </p:sp>
      <p:sp>
        <p:nvSpPr>
          <p:cNvPr id="3" name="Content Placeholder 2"/>
          <p:cNvSpPr>
            <a:spLocks noGrp="1"/>
          </p:cNvSpPr>
          <p:nvPr>
            <p:ph idx="1"/>
          </p:nvPr>
        </p:nvSpPr>
        <p:spPr/>
        <p:txBody>
          <a:bodyPr/>
          <a:lstStyle/>
          <a:p>
            <a:r>
              <a:rPr lang="en-IN" dirty="0"/>
              <a:t>Bootstrap → Component-based, “Bootstrap look</a:t>
            </a:r>
            <a:r>
              <a:rPr lang="en-IN" dirty="0" smtClean="0"/>
              <a:t>”</a:t>
            </a:r>
          </a:p>
          <a:p>
            <a:r>
              <a:rPr lang="en-IN" dirty="0" err="1" smtClean="0"/>
              <a:t>Bulma</a:t>
            </a:r>
            <a:r>
              <a:rPr lang="en-IN" dirty="0" smtClean="0"/>
              <a:t> </a:t>
            </a:r>
            <a:r>
              <a:rPr lang="en-IN" dirty="0"/>
              <a:t>→ Flexbox-based, minimal, has </a:t>
            </a:r>
            <a:r>
              <a:rPr lang="en-IN" dirty="0" smtClean="0"/>
              <a:t>components</a:t>
            </a:r>
          </a:p>
          <a:p>
            <a:r>
              <a:rPr lang="en-IN" dirty="0" smtClean="0"/>
              <a:t>Materialize </a:t>
            </a:r>
            <a:r>
              <a:rPr lang="en-IN" dirty="0"/>
              <a:t>→ Based on Google Material </a:t>
            </a:r>
            <a:r>
              <a:rPr lang="en-IN" dirty="0" smtClean="0"/>
              <a:t>Design</a:t>
            </a:r>
          </a:p>
          <a:p>
            <a:r>
              <a:rPr lang="en-IN" dirty="0" smtClean="0"/>
              <a:t>Foundation </a:t>
            </a:r>
            <a:r>
              <a:rPr lang="en-IN" dirty="0"/>
              <a:t>→ Responsive grid + UI </a:t>
            </a:r>
            <a:r>
              <a:rPr lang="en-IN" dirty="0" smtClean="0"/>
              <a:t>kit</a:t>
            </a:r>
          </a:p>
          <a:p>
            <a:r>
              <a:rPr lang="en-IN" dirty="0" smtClean="0"/>
              <a:t>Tailwind </a:t>
            </a:r>
            <a:r>
              <a:rPr lang="en-IN" dirty="0"/>
              <a:t>→ Pure utility classes, highly customizable</a:t>
            </a:r>
          </a:p>
        </p:txBody>
      </p:sp>
    </p:spTree>
    <p:extLst>
      <p:ext uri="{BB962C8B-B14F-4D97-AF65-F5344CB8AC3E}">
        <p14:creationId xmlns:p14="http://schemas.microsoft.com/office/powerpoint/2010/main" val="1705960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 1: styling requirement</a:t>
            </a:r>
            <a:endParaRPr lang="en-IN" dirty="0"/>
          </a:p>
        </p:txBody>
      </p:sp>
      <p:sp>
        <p:nvSpPr>
          <p:cNvPr id="3" name="Content Placeholder 2"/>
          <p:cNvSpPr>
            <a:spLocks noGrp="1"/>
          </p:cNvSpPr>
          <p:nvPr>
            <p:ph idx="1"/>
          </p:nvPr>
        </p:nvSpPr>
        <p:spPr/>
        <p:txBody>
          <a:bodyPr/>
          <a:lstStyle/>
          <a:p>
            <a:pPr marL="0" indent="0">
              <a:buNone/>
            </a:pPr>
            <a:r>
              <a:rPr lang="en-US" dirty="0"/>
              <a:t>Create a button with</a:t>
            </a:r>
            <a:r>
              <a:rPr lang="en-US" dirty="0" smtClean="0"/>
              <a:t>:</a:t>
            </a:r>
          </a:p>
          <a:p>
            <a:r>
              <a:rPr lang="en-US" dirty="0" smtClean="0"/>
              <a:t>Blue background</a:t>
            </a:r>
          </a:p>
          <a:p>
            <a:r>
              <a:rPr lang="en-US" dirty="0" smtClean="0"/>
              <a:t>White text</a:t>
            </a:r>
          </a:p>
          <a:p>
            <a:r>
              <a:rPr lang="en-US" dirty="0" smtClean="0"/>
              <a:t>Horizontal </a:t>
            </a:r>
            <a:r>
              <a:rPr lang="en-US" dirty="0"/>
              <a:t>padding (left &amp; right</a:t>
            </a:r>
            <a:r>
              <a:rPr lang="en-US" dirty="0" smtClean="0"/>
              <a:t>)</a:t>
            </a:r>
          </a:p>
          <a:p>
            <a:r>
              <a:rPr lang="en-US" dirty="0" smtClean="0"/>
              <a:t>Vertical </a:t>
            </a:r>
            <a:r>
              <a:rPr lang="en-US" dirty="0"/>
              <a:t>padding (top &amp; bottom</a:t>
            </a:r>
            <a:r>
              <a:rPr lang="en-US" dirty="0" smtClean="0"/>
              <a:t>)</a:t>
            </a:r>
          </a:p>
          <a:p>
            <a:r>
              <a:rPr lang="en-US" dirty="0" smtClean="0"/>
              <a:t>Rounded corners</a:t>
            </a:r>
          </a:p>
          <a:p>
            <a:r>
              <a:rPr lang="en-US" dirty="0" smtClean="0"/>
              <a:t>Darker </a:t>
            </a:r>
            <a:r>
              <a:rPr lang="en-US" dirty="0"/>
              <a:t>blue background on hover</a:t>
            </a:r>
            <a:endParaRPr lang="en-IN" dirty="0"/>
          </a:p>
        </p:txBody>
      </p:sp>
      <p:pic>
        <p:nvPicPr>
          <p:cNvPr id="4" name="Picture 3"/>
          <p:cNvPicPr>
            <a:picLocks noChangeAspect="1"/>
          </p:cNvPicPr>
          <p:nvPr/>
        </p:nvPicPr>
        <p:blipFill>
          <a:blip r:embed="rId2"/>
          <a:stretch>
            <a:fillRect/>
          </a:stretch>
        </p:blipFill>
        <p:spPr>
          <a:xfrm>
            <a:off x="6770973" y="2326391"/>
            <a:ext cx="3086259" cy="1892397"/>
          </a:xfrm>
          <a:prstGeom prst="rect">
            <a:avLst/>
          </a:prstGeom>
        </p:spPr>
      </p:pic>
    </p:spTree>
    <p:extLst>
      <p:ext uri="{BB962C8B-B14F-4D97-AF65-F5344CB8AC3E}">
        <p14:creationId xmlns:p14="http://schemas.microsoft.com/office/powerpoint/2010/main" val="3179214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Traditional vs Tailwind CSS</a:t>
            </a:r>
            <a:endParaRPr lang="en-IN" dirty="0"/>
          </a:p>
        </p:txBody>
      </p:sp>
      <p:sp>
        <p:nvSpPr>
          <p:cNvPr id="5" name="Content Placeholder 4"/>
          <p:cNvSpPr>
            <a:spLocks noGrp="1"/>
          </p:cNvSpPr>
          <p:nvPr>
            <p:ph sz="half" idx="1"/>
          </p:nvPr>
        </p:nvSpPr>
        <p:spPr>
          <a:ln>
            <a:solidFill>
              <a:schemeClr val="accent1"/>
            </a:solidFill>
          </a:ln>
        </p:spPr>
        <p:txBody>
          <a:bodyPr>
            <a:normAutofit fontScale="70000" lnSpcReduction="20000"/>
          </a:bodyPr>
          <a:lstStyle/>
          <a:p>
            <a:pPr marL="0" indent="0">
              <a:buNone/>
            </a:pPr>
            <a:r>
              <a:rPr lang="en-IN" dirty="0"/>
              <a:t>/* Normal CSS to replicate the same Tailwind design */</a:t>
            </a:r>
          </a:p>
          <a:p>
            <a:pPr marL="0" indent="0">
              <a:buNone/>
            </a:pPr>
            <a:r>
              <a:rPr lang="en-IN" dirty="0"/>
              <a:t>.custom-</a:t>
            </a:r>
            <a:r>
              <a:rPr lang="en-IN" dirty="0" err="1"/>
              <a:t>btn</a:t>
            </a:r>
            <a:r>
              <a:rPr lang="en-IN" dirty="0"/>
              <a:t> {</a:t>
            </a:r>
          </a:p>
          <a:p>
            <a:pPr marL="0" indent="0">
              <a:buNone/>
            </a:pPr>
            <a:r>
              <a:rPr lang="en-IN" dirty="0"/>
              <a:t>  background-</a:t>
            </a:r>
            <a:r>
              <a:rPr lang="en-IN" dirty="0" err="1"/>
              <a:t>color</a:t>
            </a:r>
            <a:r>
              <a:rPr lang="en-IN" dirty="0"/>
              <a:t>: #3B82F6;   /* Tailwind bg-blue-500 */</a:t>
            </a:r>
          </a:p>
          <a:p>
            <a:pPr marL="0" indent="0">
              <a:buNone/>
            </a:pPr>
            <a:r>
              <a:rPr lang="en-IN" dirty="0"/>
              <a:t>  </a:t>
            </a:r>
            <a:r>
              <a:rPr lang="en-IN" dirty="0" err="1"/>
              <a:t>color</a:t>
            </a:r>
            <a:r>
              <a:rPr lang="en-IN" dirty="0"/>
              <a:t>: white;                /* Tailwind text-white */</a:t>
            </a:r>
          </a:p>
          <a:p>
            <a:pPr marL="0" indent="0">
              <a:buNone/>
            </a:pPr>
            <a:r>
              <a:rPr lang="en-IN" dirty="0"/>
              <a:t>  padding: 0.5rem 1rem;        /* Tailwind px-4 py-2 */</a:t>
            </a:r>
          </a:p>
          <a:p>
            <a:pPr marL="0" indent="0">
              <a:buNone/>
            </a:pPr>
            <a:r>
              <a:rPr lang="en-IN" dirty="0"/>
              <a:t>  border-radius: 0.5rem;       /* Tailwind rounded-</a:t>
            </a:r>
            <a:r>
              <a:rPr lang="en-IN" dirty="0" err="1"/>
              <a:t>lg</a:t>
            </a:r>
            <a:r>
              <a:rPr lang="en-IN" dirty="0"/>
              <a:t> */</a:t>
            </a:r>
          </a:p>
          <a:p>
            <a:pPr marL="0" indent="0">
              <a:buNone/>
            </a:pPr>
            <a:r>
              <a:rPr lang="en-IN" dirty="0" smtClean="0"/>
              <a:t>}</a:t>
            </a:r>
            <a:endParaRPr lang="en-IN" dirty="0"/>
          </a:p>
          <a:p>
            <a:pPr marL="0" indent="0">
              <a:buNone/>
            </a:pPr>
            <a:endParaRPr lang="en-IN" dirty="0"/>
          </a:p>
          <a:p>
            <a:pPr marL="0" indent="0">
              <a:buNone/>
            </a:pPr>
            <a:r>
              <a:rPr lang="en-IN" dirty="0"/>
              <a:t>.</a:t>
            </a:r>
            <a:r>
              <a:rPr lang="en-IN" dirty="0" err="1"/>
              <a:t>custom-btn:hover</a:t>
            </a:r>
            <a:r>
              <a:rPr lang="en-IN" dirty="0"/>
              <a:t> {</a:t>
            </a:r>
          </a:p>
          <a:p>
            <a:pPr marL="0" indent="0">
              <a:buNone/>
            </a:pPr>
            <a:r>
              <a:rPr lang="en-IN" dirty="0"/>
              <a:t>  background-</a:t>
            </a:r>
            <a:r>
              <a:rPr lang="en-IN" dirty="0" err="1"/>
              <a:t>color</a:t>
            </a:r>
            <a:r>
              <a:rPr lang="en-IN" dirty="0"/>
              <a:t>: #1D4ED8;   /* Tailwind hover:bg-blue-700 */</a:t>
            </a:r>
          </a:p>
          <a:p>
            <a:pPr marL="0" indent="0">
              <a:buNone/>
            </a:pPr>
            <a:r>
              <a:rPr lang="en-IN" dirty="0"/>
              <a:t>}</a:t>
            </a:r>
          </a:p>
        </p:txBody>
      </p:sp>
      <p:sp>
        <p:nvSpPr>
          <p:cNvPr id="6" name="Content Placeholder 5"/>
          <p:cNvSpPr>
            <a:spLocks noGrp="1"/>
          </p:cNvSpPr>
          <p:nvPr>
            <p:ph sz="half" idx="2"/>
          </p:nvPr>
        </p:nvSpPr>
        <p:spPr>
          <a:xfrm>
            <a:off x="6126480" y="1828801"/>
            <a:ext cx="4480560" cy="1338606"/>
          </a:xfrm>
          <a:ln>
            <a:solidFill>
              <a:schemeClr val="accent1"/>
            </a:solidFill>
          </a:ln>
        </p:spPr>
        <p:txBody>
          <a:bodyPr>
            <a:normAutofit fontScale="70000" lnSpcReduction="20000"/>
          </a:bodyPr>
          <a:lstStyle/>
          <a:p>
            <a:pPr marL="0" indent="0">
              <a:buNone/>
            </a:pPr>
            <a:r>
              <a:rPr lang="en-US" dirty="0"/>
              <a:t>&lt;button class="bg-blue-500 text-white px-4 py-2 rounded-</a:t>
            </a:r>
            <a:r>
              <a:rPr lang="en-US" dirty="0" err="1"/>
              <a:t>lg</a:t>
            </a:r>
            <a:r>
              <a:rPr lang="en-US" dirty="0"/>
              <a:t> hover:bg-blue-700"&gt;</a:t>
            </a:r>
          </a:p>
          <a:p>
            <a:pPr marL="0" indent="0">
              <a:buNone/>
            </a:pPr>
            <a:r>
              <a:rPr lang="en-US" dirty="0" smtClean="0"/>
              <a:t>   Click </a:t>
            </a:r>
            <a:r>
              <a:rPr lang="en-US" dirty="0"/>
              <a:t>Me</a:t>
            </a:r>
          </a:p>
          <a:p>
            <a:pPr marL="0" indent="0">
              <a:buNone/>
            </a:pPr>
            <a:r>
              <a:rPr lang="en-US" dirty="0" smtClean="0"/>
              <a:t>&lt;/</a:t>
            </a:r>
            <a:r>
              <a:rPr lang="en-US" dirty="0"/>
              <a:t>button</a:t>
            </a:r>
            <a:r>
              <a:rPr lang="en-US" dirty="0" smtClean="0"/>
              <a:t>&gt;</a:t>
            </a:r>
          </a:p>
          <a:p>
            <a:pPr marL="0" indent="0">
              <a:buNone/>
            </a:pPr>
            <a:endParaRPr lang="en-US" dirty="0"/>
          </a:p>
          <a:p>
            <a:pPr marL="0" indent="0">
              <a:buNone/>
            </a:pPr>
            <a:endParaRPr lang="en-US" dirty="0"/>
          </a:p>
          <a:p>
            <a:endParaRPr lang="en-IN" dirty="0"/>
          </a:p>
        </p:txBody>
      </p:sp>
    </p:spTree>
    <p:extLst>
      <p:ext uri="{BB962C8B-B14F-4D97-AF65-F5344CB8AC3E}">
        <p14:creationId xmlns:p14="http://schemas.microsoft.com/office/powerpoint/2010/main" val="172640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365760"/>
            <a:ext cx="8370489" cy="1325562"/>
          </a:xfrm>
        </p:spPr>
        <p:txBody>
          <a:bodyPr>
            <a:normAutofit/>
          </a:bodyPr>
          <a:lstStyle/>
          <a:p>
            <a:r>
              <a:rPr lang="en-US" altLang="en-US" dirty="0"/>
              <a:t>utility class</a:t>
            </a:r>
            <a:endParaRPr lang="en-IN" dirty="0"/>
          </a:p>
        </p:txBody>
      </p:sp>
      <p:sp>
        <p:nvSpPr>
          <p:cNvPr id="4" name="Rectangle 1"/>
          <p:cNvSpPr>
            <a:spLocks noGrp="1" noChangeArrowheads="1"/>
          </p:cNvSpPr>
          <p:nvPr>
            <p:ph idx="1"/>
          </p:nvPr>
        </p:nvSpPr>
        <p:spPr bwMode="auto">
          <a:xfrm>
            <a:off x="1261872" y="1505021"/>
            <a:ext cx="932591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Each utility class in Tailwind CSS corresponds to a single CSS property. For example:</a:t>
            </a: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Unicode MS"/>
            </a:endParaRPr>
          </a:p>
          <a:p>
            <a:pPr eaLnBrk="0" fontAlgn="base" hangingPunct="0">
              <a:lnSpc>
                <a:spcPct val="100000"/>
              </a:lnSpc>
              <a:spcBef>
                <a:spcPct val="0"/>
              </a:spcBef>
              <a:spcAft>
                <a:spcPct val="0"/>
              </a:spcAft>
              <a:buClrTx/>
              <a:buSzTx/>
            </a:pPr>
            <a:r>
              <a:rPr kumimoji="0" lang="en-US" altLang="en-US" sz="2000" b="0" i="0" u="none" strike="noStrike" cap="none" normalizeH="0" baseline="0" dirty="0" smtClean="0">
                <a:ln>
                  <a:noFill/>
                </a:ln>
                <a:solidFill>
                  <a:schemeClr val="tx1"/>
                </a:solidFill>
                <a:effectLst/>
                <a:latin typeface="Arial Unicode MS"/>
              </a:rPr>
              <a:t>text-center</a:t>
            </a:r>
            <a:r>
              <a:rPr kumimoji="0" lang="en-US" altLang="en-US" sz="2000" b="0" i="0" u="none" strike="noStrike" cap="none" normalizeH="0" baseline="0" dirty="0" smtClean="0">
                <a:ln>
                  <a:noFill/>
                </a:ln>
                <a:solidFill>
                  <a:schemeClr val="tx1"/>
                </a:solidFill>
                <a:effectLst/>
              </a:rPr>
              <a:t> aligns text to the center.</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Unicode MS"/>
            </a:endParaRPr>
          </a:p>
          <a:p>
            <a:pPr eaLnBrk="0" fontAlgn="base" hangingPunct="0">
              <a:lnSpc>
                <a:spcPct val="100000"/>
              </a:lnSpc>
              <a:spcBef>
                <a:spcPct val="0"/>
              </a:spcBef>
              <a:spcAft>
                <a:spcPct val="0"/>
              </a:spcAft>
              <a:buClrTx/>
              <a:buSzTx/>
            </a:pPr>
            <a:r>
              <a:rPr kumimoji="0" lang="en-US" altLang="en-US" sz="2000" b="0" i="0" u="none" strike="noStrike" cap="none" normalizeH="0" baseline="0" dirty="0" smtClean="0">
                <a:ln>
                  <a:noFill/>
                </a:ln>
                <a:solidFill>
                  <a:schemeClr val="tx1"/>
                </a:solidFill>
                <a:effectLst/>
                <a:latin typeface="Arial Unicode MS"/>
              </a:rPr>
              <a:t>bg-blue-500</a:t>
            </a:r>
            <a:r>
              <a:rPr kumimoji="0" lang="en-US" altLang="en-US" sz="2000" b="0" i="0" u="none" strike="noStrike" cap="none" normalizeH="0" baseline="0" dirty="0" smtClean="0">
                <a:ln>
                  <a:noFill/>
                </a:ln>
                <a:solidFill>
                  <a:schemeClr val="tx1"/>
                </a:solidFill>
                <a:effectLst/>
              </a:rPr>
              <a:t> sets the background color to a specific shade of blue.</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Unicode MS"/>
            </a:endParaRPr>
          </a:p>
          <a:p>
            <a:pPr eaLnBrk="0" fontAlgn="base" hangingPunct="0">
              <a:lnSpc>
                <a:spcPct val="100000"/>
              </a:lnSpc>
              <a:spcBef>
                <a:spcPct val="0"/>
              </a:spcBef>
              <a:spcAft>
                <a:spcPct val="0"/>
              </a:spcAft>
              <a:buClrTx/>
              <a:buSzTx/>
            </a:pPr>
            <a:r>
              <a:rPr kumimoji="0" lang="en-US" altLang="en-US" sz="2000" b="0" i="0" u="none" strike="noStrike" cap="none" normalizeH="0" baseline="0" dirty="0" smtClean="0">
                <a:ln>
                  <a:noFill/>
                </a:ln>
                <a:solidFill>
                  <a:schemeClr val="tx1"/>
                </a:solidFill>
                <a:effectLst/>
                <a:latin typeface="Arial Unicode MS"/>
              </a:rPr>
              <a:t>p-4</a:t>
            </a:r>
            <a:r>
              <a:rPr kumimoji="0" lang="en-US" altLang="en-US" sz="2000" b="0" i="0" u="none" strike="noStrike" cap="none" normalizeH="0" baseline="0" dirty="0" smtClean="0">
                <a:ln>
                  <a:noFill/>
                </a:ln>
                <a:solidFill>
                  <a:schemeClr val="tx1"/>
                </a:solidFill>
                <a:effectLst/>
              </a:rPr>
              <a:t> applies padding on all sides.</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5439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Spacing utilities</a:t>
            </a:r>
            <a:endParaRPr lang="en-IN" dirty="0"/>
          </a:p>
        </p:txBody>
      </p:sp>
      <p:sp>
        <p:nvSpPr>
          <p:cNvPr id="4" name="Rectangle 1"/>
          <p:cNvSpPr>
            <a:spLocks noGrp="1" noChangeArrowheads="1"/>
          </p:cNvSpPr>
          <p:nvPr>
            <p:ph idx="1"/>
          </p:nvPr>
        </p:nvSpPr>
        <p:spPr bwMode="auto">
          <a:xfrm>
            <a:off x="1261872" y="1773090"/>
            <a:ext cx="9241312"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Margin: </a:t>
            </a:r>
            <a:r>
              <a:rPr lang="en-US" altLang="en-US" sz="2000" dirty="0">
                <a:latin typeface="Arial" panose="020B0604020202020204" pitchFamily="34" charset="0"/>
              </a:rPr>
              <a:t>Sets margin on all sides or specific sides.</a:t>
            </a:r>
          </a:p>
          <a:p>
            <a:pPr lvl="1" eaLnBrk="0" fontAlgn="base" hangingPunct="0">
              <a:lnSpc>
                <a:spcPct val="100000"/>
              </a:lnSpc>
              <a:spcBef>
                <a:spcPct val="0"/>
              </a:spcBef>
              <a:spcAft>
                <a:spcPct val="0"/>
              </a:spcAft>
              <a:buClrTx/>
            </a:pPr>
            <a:r>
              <a:rPr lang="en-US" altLang="en-US" sz="1800" dirty="0" smtClean="0">
                <a:latin typeface="Arial" panose="020B0604020202020204" pitchFamily="34" charset="0"/>
              </a:rPr>
              <a:t>m-</a:t>
            </a:r>
            <a:r>
              <a:rPr lang="en-US" altLang="en-US" sz="1800" dirty="0">
                <a:latin typeface="Arial" panose="020B0604020202020204" pitchFamily="34" charset="0"/>
              </a:rPr>
              <a:t>{side}-{size} </a:t>
            </a:r>
          </a:p>
          <a:p>
            <a:pPr lvl="2" eaLnBrk="0" fontAlgn="base" hangingPunct="0">
              <a:lnSpc>
                <a:spcPct val="100000"/>
              </a:lnSpc>
              <a:spcBef>
                <a:spcPct val="0"/>
              </a:spcBef>
              <a:spcAft>
                <a:spcPct val="0"/>
              </a:spcAft>
              <a:buClrTx/>
            </a:pPr>
            <a:r>
              <a:rPr lang="en-US" altLang="en-US" sz="1600" dirty="0" smtClean="0">
                <a:latin typeface="Arial" panose="020B0604020202020204" pitchFamily="34" charset="0"/>
              </a:rPr>
              <a:t>where </a:t>
            </a:r>
            <a:r>
              <a:rPr lang="en-US" altLang="en-US" sz="1600" dirty="0">
                <a:latin typeface="Arial" panose="020B0604020202020204" pitchFamily="34" charset="0"/>
              </a:rPr>
              <a:t>{side} is optional and {size} corresponds to predefined spacing values. </a:t>
            </a:r>
          </a:p>
          <a:p>
            <a:pPr lvl="2" eaLnBrk="0" fontAlgn="base" hangingPunct="0">
              <a:lnSpc>
                <a:spcPct val="100000"/>
              </a:lnSpc>
              <a:spcBef>
                <a:spcPct val="0"/>
              </a:spcBef>
              <a:spcAft>
                <a:spcPct val="0"/>
              </a:spcAft>
              <a:buClrTx/>
            </a:pPr>
            <a:r>
              <a:rPr lang="en-US" altLang="en-US" sz="1600" dirty="0" smtClean="0">
                <a:latin typeface="Arial" panose="020B0604020202020204" pitchFamily="34" charset="0"/>
              </a:rPr>
              <a:t>Example: m-{size}, </a:t>
            </a:r>
            <a:r>
              <a:rPr lang="en-US" altLang="en-US" sz="1600" dirty="0" err="1" smtClean="0">
                <a:latin typeface="Arial" panose="020B0604020202020204" pitchFamily="34" charset="0"/>
              </a:rPr>
              <a:t>mt</a:t>
            </a:r>
            <a:r>
              <a:rPr lang="en-US" altLang="en-US" sz="1600" dirty="0" smtClean="0">
                <a:latin typeface="Arial" panose="020B0604020202020204" pitchFamily="34" charset="0"/>
              </a:rPr>
              <a:t>-{size}, </a:t>
            </a:r>
            <a:r>
              <a:rPr lang="en-US" altLang="en-US" sz="1600" dirty="0" err="1" smtClean="0">
                <a:latin typeface="Arial" panose="020B0604020202020204" pitchFamily="34" charset="0"/>
              </a:rPr>
              <a:t>mr</a:t>
            </a:r>
            <a:r>
              <a:rPr lang="en-US" altLang="en-US" sz="1600" dirty="0" smtClean="0">
                <a:latin typeface="Arial" panose="020B0604020202020204" pitchFamily="34" charset="0"/>
              </a:rPr>
              <a:t>-{size}, </a:t>
            </a:r>
            <a:r>
              <a:rPr lang="en-US" altLang="en-US" sz="1600" dirty="0" err="1" smtClean="0">
                <a:latin typeface="Arial" panose="020B0604020202020204" pitchFamily="34" charset="0"/>
              </a:rPr>
              <a:t>mb</a:t>
            </a:r>
            <a:r>
              <a:rPr lang="en-US" altLang="en-US" sz="1600" dirty="0" smtClean="0">
                <a:latin typeface="Arial" panose="020B0604020202020204" pitchFamily="34" charset="0"/>
              </a:rPr>
              <a:t>-{size}, ml-{size}, mx-{size}, my-{size}</a:t>
            </a:r>
          </a:p>
          <a:p>
            <a:pPr lvl="2" eaLnBrk="0" fontAlgn="base" hangingPunct="0">
              <a:lnSpc>
                <a:spcPct val="100000"/>
              </a:lnSpc>
              <a:spcBef>
                <a:spcPct val="0"/>
              </a:spcBef>
              <a:spcAft>
                <a:spcPct val="0"/>
              </a:spcAft>
              <a:buClrTx/>
            </a:pPr>
            <a:r>
              <a:rPr lang="en-US" altLang="en-US" sz="1600" b="1" dirty="0">
                <a:latin typeface="Arial Unicode MS"/>
              </a:rPr>
              <a:t>m-{size}</a:t>
            </a:r>
            <a:r>
              <a:rPr lang="en-US" altLang="en-US" sz="1600" dirty="0"/>
              <a:t>: Applies margin to all sides. E.g., </a:t>
            </a:r>
            <a:r>
              <a:rPr lang="en-US" altLang="en-US" sz="1600" dirty="0">
                <a:latin typeface="Arial Unicode MS"/>
              </a:rPr>
              <a:t>m-4</a:t>
            </a:r>
            <a:r>
              <a:rPr lang="en-US" altLang="en-US" sz="1600" dirty="0"/>
              <a:t> applies </a:t>
            </a:r>
            <a:r>
              <a:rPr lang="en-US" altLang="en-US" sz="1600" dirty="0">
                <a:latin typeface="Arial Unicode MS"/>
              </a:rPr>
              <a:t>1rem</a:t>
            </a:r>
            <a:r>
              <a:rPr lang="en-US" altLang="en-US" sz="1600" dirty="0"/>
              <a:t> margin on all sides.</a:t>
            </a:r>
            <a:endParaRPr lang="en-US" altLang="en-US" sz="1600" dirty="0">
              <a:latin typeface="Arial" panose="020B0604020202020204" pitchFamily="34" charset="0"/>
            </a:endParaRPr>
          </a:p>
          <a:p>
            <a:pPr lvl="2" eaLnBrk="0" fontAlgn="base" hangingPunct="0">
              <a:lnSpc>
                <a:spcPct val="100000"/>
              </a:lnSpc>
              <a:spcBef>
                <a:spcPct val="0"/>
              </a:spcBef>
              <a:spcAft>
                <a:spcPct val="0"/>
              </a:spcAft>
              <a:buClrTx/>
            </a:pPr>
            <a:r>
              <a:rPr lang="en-US" altLang="en-US" sz="1600" b="1" dirty="0" err="1">
                <a:latin typeface="Arial Unicode MS"/>
              </a:rPr>
              <a:t>mr</a:t>
            </a:r>
            <a:r>
              <a:rPr lang="en-US" altLang="en-US" sz="1600" b="1" dirty="0">
                <a:latin typeface="Arial Unicode MS"/>
              </a:rPr>
              <a:t>-{size}</a:t>
            </a:r>
            <a:r>
              <a:rPr lang="en-US" altLang="en-US" sz="1600" dirty="0"/>
              <a:t>: Applies margin to the right. E.g., </a:t>
            </a:r>
            <a:r>
              <a:rPr lang="en-US" altLang="en-US" sz="1600" dirty="0">
                <a:latin typeface="Arial Unicode MS"/>
              </a:rPr>
              <a:t>mr-4</a:t>
            </a:r>
            <a:r>
              <a:rPr lang="en-US" altLang="en-US" sz="1600" dirty="0"/>
              <a:t> applies </a:t>
            </a:r>
            <a:r>
              <a:rPr lang="en-US" altLang="en-US" sz="1600" dirty="0">
                <a:latin typeface="Arial Unicode MS"/>
              </a:rPr>
              <a:t>1rem</a:t>
            </a:r>
            <a:r>
              <a:rPr lang="en-US" altLang="en-US" sz="1600" dirty="0"/>
              <a:t> margin on the right.</a:t>
            </a:r>
            <a:endParaRPr lang="en-US" altLang="en-US" sz="1600" dirty="0">
              <a:latin typeface="Arial" panose="020B0604020202020204" pitchFamily="34" charset="0"/>
            </a:endParaRPr>
          </a:p>
          <a:p>
            <a:pPr eaLnBrk="0" fontAlgn="base" hangingPunct="0">
              <a:lnSpc>
                <a:spcPct val="100000"/>
              </a:lnSpc>
              <a:spcBef>
                <a:spcPct val="0"/>
              </a:spcBef>
              <a:spcAft>
                <a:spcPct val="0"/>
              </a:spcAft>
              <a:buClrTx/>
              <a:buSzTx/>
            </a:pPr>
            <a:endParaRPr lang="en-US" altLang="en-US" sz="2000" b="1" dirty="0">
              <a:latin typeface="Arial Unicode MS"/>
            </a:endParaRPr>
          </a:p>
          <a:p>
            <a:pPr eaLnBrk="0" fontAlgn="base" hangingPunct="0">
              <a:lnSpc>
                <a:spcPct val="100000"/>
              </a:lnSpc>
              <a:spcBef>
                <a:spcPct val="0"/>
              </a:spcBef>
              <a:spcAft>
                <a:spcPct val="0"/>
              </a:spcAft>
              <a:buClrTx/>
              <a:buSzTx/>
            </a:pPr>
            <a:endParaRPr lang="en-US" altLang="en-US" sz="2000" b="1" dirty="0">
              <a:latin typeface="Arial Unicode MS"/>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Padding</a:t>
            </a:r>
            <a:r>
              <a:rPr kumimoji="0" lang="en-US" altLang="en-US" sz="2000" b="0" i="0" u="none" strike="noStrike" cap="none" normalizeH="0" baseline="0" dirty="0" smtClean="0">
                <a:ln>
                  <a:noFill/>
                </a:ln>
                <a:solidFill>
                  <a:schemeClr val="tx1"/>
                </a:solidFill>
                <a:effectLst/>
                <a:latin typeface="Arial" panose="020B0604020202020204" pitchFamily="34" charset="0"/>
              </a:rPr>
              <a:t>: Sets padding on all sides or specific sides.</a:t>
            </a:r>
          </a:p>
          <a:p>
            <a:pPr lvl="1" eaLnBrk="0" fontAlgn="base" hangingPunct="0">
              <a:lnSpc>
                <a:spcPct val="100000"/>
              </a:lnSpc>
              <a:spcBef>
                <a:spcPct val="0"/>
              </a:spcBef>
              <a:spcAft>
                <a:spcPct val="0"/>
              </a:spcAft>
              <a:buClrTx/>
            </a:pPr>
            <a:r>
              <a:rPr lang="en-US" altLang="en-US" sz="1800" dirty="0">
                <a:latin typeface="Arial Unicode MS"/>
              </a:rPr>
              <a:t>p</a:t>
            </a:r>
            <a:r>
              <a:rPr lang="en-US" altLang="en-US" sz="1800" dirty="0" smtClean="0">
                <a:latin typeface="Arial Unicode MS"/>
              </a:rPr>
              <a:t>{side}-{size}</a:t>
            </a:r>
          </a:p>
          <a:p>
            <a:pPr lvl="2" eaLnBrk="0" fontAlgn="base" hangingPunct="0">
              <a:lnSpc>
                <a:spcPct val="100000"/>
              </a:lnSpc>
              <a:spcBef>
                <a:spcPct val="0"/>
              </a:spcBef>
              <a:spcAft>
                <a:spcPct val="0"/>
              </a:spcAft>
              <a:buClrTx/>
            </a:pPr>
            <a:r>
              <a:rPr lang="en-US" altLang="en-US" sz="1600" dirty="0">
                <a:latin typeface="Arial" panose="020B0604020202020204" pitchFamily="34" charset="0"/>
              </a:rPr>
              <a:t>where {side} is optional and {size} corresponds to predefined spacing values. </a:t>
            </a:r>
          </a:p>
          <a:p>
            <a:pPr lvl="2" eaLnBrk="0" fontAlgn="base" hangingPunct="0">
              <a:lnSpc>
                <a:spcPct val="100000"/>
              </a:lnSpc>
              <a:spcBef>
                <a:spcPct val="0"/>
              </a:spcBef>
              <a:spcAft>
                <a:spcPct val="0"/>
              </a:spcAft>
              <a:buClrTx/>
            </a:pPr>
            <a:r>
              <a:rPr lang="en-US" altLang="en-US" sz="1600" dirty="0" smtClean="0">
                <a:latin typeface="Arial" panose="020B0604020202020204" pitchFamily="34" charset="0"/>
              </a:rPr>
              <a:t>Example: </a:t>
            </a:r>
            <a:r>
              <a:rPr lang="en-US" altLang="en-US" sz="1600" dirty="0" smtClean="0">
                <a:latin typeface="Arial Unicode MS"/>
              </a:rPr>
              <a:t>p-{size}</a:t>
            </a:r>
            <a:r>
              <a:rPr lang="en-US" altLang="en-US" sz="1600" dirty="0" smtClean="0"/>
              <a:t>, </a:t>
            </a:r>
            <a:r>
              <a:rPr lang="en-US" altLang="en-US" sz="1600" dirty="0" err="1" smtClean="0">
                <a:latin typeface="Arial Unicode MS"/>
              </a:rPr>
              <a:t>pt</a:t>
            </a:r>
            <a:r>
              <a:rPr lang="en-US" altLang="en-US" sz="1600" dirty="0" smtClean="0">
                <a:latin typeface="Arial Unicode MS"/>
              </a:rPr>
              <a:t>-{size}</a:t>
            </a:r>
            <a:r>
              <a:rPr lang="en-US" altLang="en-US" sz="1600" dirty="0" smtClean="0"/>
              <a:t>, </a:t>
            </a:r>
            <a:r>
              <a:rPr lang="en-US" altLang="en-US" sz="1600" dirty="0" err="1" smtClean="0">
                <a:latin typeface="Arial Unicode MS"/>
              </a:rPr>
              <a:t>pr</a:t>
            </a:r>
            <a:r>
              <a:rPr lang="en-US" altLang="en-US" sz="1600" dirty="0" smtClean="0">
                <a:latin typeface="Arial Unicode MS"/>
              </a:rPr>
              <a:t>-{size}</a:t>
            </a:r>
            <a:r>
              <a:rPr lang="en-US" altLang="en-US" sz="1600" dirty="0" smtClean="0"/>
              <a:t>, </a:t>
            </a:r>
            <a:r>
              <a:rPr lang="en-US" altLang="en-US" sz="1600" dirty="0" err="1" smtClean="0">
                <a:latin typeface="Arial Unicode MS"/>
              </a:rPr>
              <a:t>pb</a:t>
            </a:r>
            <a:r>
              <a:rPr lang="en-US" altLang="en-US" sz="1600" dirty="0" smtClean="0">
                <a:latin typeface="Arial Unicode MS"/>
              </a:rPr>
              <a:t>-{size}</a:t>
            </a:r>
            <a:r>
              <a:rPr lang="en-US" altLang="en-US" sz="1600" dirty="0" smtClean="0"/>
              <a:t>, </a:t>
            </a:r>
            <a:r>
              <a:rPr lang="en-US" altLang="en-US" sz="1600" dirty="0" err="1" smtClean="0">
                <a:latin typeface="Arial Unicode MS"/>
              </a:rPr>
              <a:t>pl</a:t>
            </a:r>
            <a:r>
              <a:rPr lang="en-US" altLang="en-US" sz="1600" dirty="0" smtClean="0">
                <a:latin typeface="Arial Unicode MS"/>
              </a:rPr>
              <a:t>-{size}</a:t>
            </a:r>
            <a:r>
              <a:rPr lang="en-US" altLang="en-US" sz="1600" dirty="0" smtClean="0"/>
              <a:t>, </a:t>
            </a:r>
            <a:r>
              <a:rPr lang="en-US" altLang="en-US" sz="1600" dirty="0" err="1" smtClean="0">
                <a:latin typeface="Arial Unicode MS"/>
              </a:rPr>
              <a:t>px</a:t>
            </a:r>
            <a:r>
              <a:rPr lang="en-US" altLang="en-US" sz="1600" dirty="0" smtClean="0">
                <a:latin typeface="Arial Unicode MS"/>
              </a:rPr>
              <a:t>-{size}</a:t>
            </a:r>
            <a:r>
              <a:rPr lang="en-US" altLang="en-US" sz="1600" dirty="0" smtClean="0"/>
              <a:t>, </a:t>
            </a:r>
            <a:r>
              <a:rPr lang="en-US" altLang="en-US" sz="1600" dirty="0" err="1" smtClean="0">
                <a:latin typeface="Arial Unicode MS"/>
              </a:rPr>
              <a:t>py</a:t>
            </a:r>
            <a:r>
              <a:rPr lang="en-US" altLang="en-US" sz="1600" dirty="0" smtClean="0">
                <a:latin typeface="Arial Unicode MS"/>
              </a:rPr>
              <a:t>-{size}</a:t>
            </a:r>
            <a:endParaRPr lang="en-US" altLang="en-US" sz="1600" dirty="0" smtClean="0"/>
          </a:p>
          <a:p>
            <a:pPr lvl="2" eaLnBrk="0" fontAlgn="base" hangingPunct="0">
              <a:lnSpc>
                <a:spcPct val="100000"/>
              </a:lnSpc>
              <a:spcBef>
                <a:spcPct val="0"/>
              </a:spcBef>
              <a:spcAft>
                <a:spcPct val="0"/>
              </a:spcAft>
              <a:buClrTx/>
            </a:pPr>
            <a:r>
              <a:rPr lang="en-US" altLang="en-US" sz="1600" b="1" dirty="0" smtClean="0">
                <a:latin typeface="Arial Unicode MS"/>
              </a:rPr>
              <a:t>p-</a:t>
            </a:r>
            <a:r>
              <a:rPr lang="en-US" altLang="en-US" sz="1600" b="1" dirty="0">
                <a:latin typeface="Arial Unicode MS"/>
              </a:rPr>
              <a:t>{size}</a:t>
            </a:r>
            <a:r>
              <a:rPr lang="en-US" altLang="en-US" sz="1600" dirty="0"/>
              <a:t>: Applies padding to all sides. E.g., </a:t>
            </a:r>
            <a:r>
              <a:rPr lang="en-US" altLang="en-US" sz="1600" dirty="0">
                <a:latin typeface="Arial Unicode MS"/>
              </a:rPr>
              <a:t>p-4</a:t>
            </a:r>
            <a:r>
              <a:rPr lang="en-US" altLang="en-US" sz="1600" dirty="0"/>
              <a:t> applies </a:t>
            </a:r>
            <a:r>
              <a:rPr lang="en-US" altLang="en-US" sz="1600" dirty="0">
                <a:latin typeface="Arial Unicode MS"/>
              </a:rPr>
              <a:t>1rem</a:t>
            </a:r>
            <a:r>
              <a:rPr lang="en-US" altLang="en-US" sz="1600" dirty="0"/>
              <a:t> padding on all sides.</a:t>
            </a:r>
            <a:endParaRPr lang="en-US" altLang="en-US" sz="1600" dirty="0">
              <a:latin typeface="Arial" panose="020B0604020202020204" pitchFamily="34" charset="0"/>
            </a:endParaRPr>
          </a:p>
          <a:p>
            <a:pPr lvl="2" eaLnBrk="0" fontAlgn="base" hangingPunct="0">
              <a:lnSpc>
                <a:spcPct val="100000"/>
              </a:lnSpc>
              <a:spcBef>
                <a:spcPct val="0"/>
              </a:spcBef>
              <a:spcAft>
                <a:spcPct val="0"/>
              </a:spcAft>
              <a:buClrTx/>
            </a:pPr>
            <a:r>
              <a:rPr lang="en-US" altLang="en-US" sz="1600" b="1" dirty="0" err="1">
                <a:latin typeface="Arial Unicode MS"/>
              </a:rPr>
              <a:t>pb</a:t>
            </a:r>
            <a:r>
              <a:rPr lang="en-US" altLang="en-US" sz="1600" b="1" dirty="0">
                <a:latin typeface="Arial Unicode MS"/>
              </a:rPr>
              <a:t>-{size}</a:t>
            </a:r>
            <a:r>
              <a:rPr lang="en-US" altLang="en-US" sz="1600" dirty="0"/>
              <a:t>: Applies padding to the bottom. E.g., </a:t>
            </a:r>
            <a:r>
              <a:rPr lang="en-US" altLang="en-US" sz="1600" dirty="0">
                <a:latin typeface="Arial Unicode MS"/>
              </a:rPr>
              <a:t>pb-4</a:t>
            </a:r>
            <a:r>
              <a:rPr lang="en-US" altLang="en-US" sz="1600" dirty="0"/>
              <a:t> applies </a:t>
            </a:r>
            <a:r>
              <a:rPr lang="en-US" altLang="en-US" sz="1600" dirty="0">
                <a:latin typeface="Arial Unicode MS"/>
              </a:rPr>
              <a:t>1rem</a:t>
            </a:r>
            <a:r>
              <a:rPr lang="en-US" altLang="en-US" sz="1600" dirty="0"/>
              <a:t> padding on the bottom</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7705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Spacing scale</a:t>
            </a:r>
            <a:endParaRPr lang="en-IN" dirty="0"/>
          </a:p>
        </p:txBody>
      </p:sp>
      <p:sp>
        <p:nvSpPr>
          <p:cNvPr id="3" name="Content Placeholder 2"/>
          <p:cNvSpPr>
            <a:spLocks noGrp="1"/>
          </p:cNvSpPr>
          <p:nvPr>
            <p:ph idx="1"/>
          </p:nvPr>
        </p:nvSpPr>
        <p:spPr/>
        <p:txBody>
          <a:bodyPr>
            <a:normAutofit/>
          </a:bodyPr>
          <a:lstStyle/>
          <a:p>
            <a:pPr marL="0" indent="0" eaLnBrk="0" fontAlgn="base" hangingPunct="0">
              <a:lnSpc>
                <a:spcPct val="100000"/>
              </a:lnSpc>
              <a:spcBef>
                <a:spcPct val="0"/>
              </a:spcBef>
              <a:spcAft>
                <a:spcPct val="0"/>
              </a:spcAft>
              <a:buClrTx/>
              <a:buSzTx/>
              <a:buNone/>
            </a:pPr>
            <a:r>
              <a:rPr lang="en-US" altLang="en-US" dirty="0" smtClean="0">
                <a:latin typeface="Arial" panose="020B0604020202020204" pitchFamily="34" charset="0"/>
              </a:rPr>
              <a:t>Tailwind </a:t>
            </a:r>
            <a:r>
              <a:rPr lang="en-US" altLang="en-US" dirty="0">
                <a:latin typeface="Arial" panose="020B0604020202020204" pitchFamily="34" charset="0"/>
              </a:rPr>
              <a:t>CSS uses a spacing scale that usually includes values ranging from </a:t>
            </a:r>
            <a:r>
              <a:rPr lang="en-US" altLang="en-US" dirty="0">
                <a:latin typeface="Arial Unicode MS"/>
              </a:rPr>
              <a:t>0</a:t>
            </a:r>
            <a:r>
              <a:rPr lang="en-US" altLang="en-US" dirty="0"/>
              <a:t> to </a:t>
            </a:r>
            <a:r>
              <a:rPr lang="en-US" altLang="en-US" dirty="0">
                <a:latin typeface="Arial Unicode MS"/>
              </a:rPr>
              <a:t>96</a:t>
            </a:r>
            <a:r>
              <a:rPr lang="en-US" altLang="en-US" dirty="0"/>
              <a:t> and beyond. Here’s a typical scale you might find in Tailwind CSS</a:t>
            </a:r>
            <a:r>
              <a:rPr lang="en-US" altLang="en-US" dirty="0" smtClean="0"/>
              <a:t>:</a:t>
            </a:r>
          </a:p>
          <a:p>
            <a:pPr eaLnBrk="0" fontAlgn="base" hangingPunct="0">
              <a:lnSpc>
                <a:spcPct val="100000"/>
              </a:lnSpc>
              <a:spcBef>
                <a:spcPct val="0"/>
              </a:spcBef>
              <a:spcAft>
                <a:spcPct val="0"/>
              </a:spcAft>
              <a:buClrTx/>
              <a:buSzTx/>
            </a:pPr>
            <a:endParaRPr lang="en-US" altLang="en-US" dirty="0"/>
          </a:p>
          <a:p>
            <a:pPr eaLnBrk="0" fontAlgn="base" hangingPunct="0">
              <a:lnSpc>
                <a:spcPct val="100000"/>
              </a:lnSpc>
              <a:spcBef>
                <a:spcPct val="0"/>
              </a:spcBef>
              <a:spcAft>
                <a:spcPct val="0"/>
              </a:spcAft>
              <a:buClrTx/>
              <a:buSzTx/>
            </a:pPr>
            <a:endParaRPr lang="en-US" altLang="en-US" dirty="0" smtClean="0"/>
          </a:p>
        </p:txBody>
      </p:sp>
      <p:graphicFrame>
        <p:nvGraphicFramePr>
          <p:cNvPr id="4" name="Table 3"/>
          <p:cNvGraphicFramePr>
            <a:graphicFrameLocks noGrp="1"/>
          </p:cNvGraphicFramePr>
          <p:nvPr>
            <p:extLst/>
          </p:nvPr>
        </p:nvGraphicFramePr>
        <p:xfrm>
          <a:off x="3242443" y="2471737"/>
          <a:ext cx="5731498" cy="3708400"/>
        </p:xfrm>
        <a:graphic>
          <a:graphicData uri="http://schemas.openxmlformats.org/drawingml/2006/table">
            <a:tbl>
              <a:tblPr firstRow="1" bandRow="1">
                <a:tableStyleId>{5C22544A-7EE6-4342-B048-85BDC9FD1C3A}</a:tableStyleId>
              </a:tblPr>
              <a:tblGrid>
                <a:gridCol w="2865749">
                  <a:extLst>
                    <a:ext uri="{9D8B030D-6E8A-4147-A177-3AD203B41FA5}">
                      <a16:colId xmlns:a16="http://schemas.microsoft.com/office/drawing/2014/main" val="3523110010"/>
                    </a:ext>
                  </a:extLst>
                </a:gridCol>
                <a:gridCol w="2865749">
                  <a:extLst>
                    <a:ext uri="{9D8B030D-6E8A-4147-A177-3AD203B41FA5}">
                      <a16:colId xmlns:a16="http://schemas.microsoft.com/office/drawing/2014/main" val="2970101300"/>
                    </a:ext>
                  </a:extLst>
                </a:gridCol>
              </a:tblGrid>
              <a:tr h="370840">
                <a:tc>
                  <a:txBody>
                    <a:bodyPr/>
                    <a:lstStyle/>
                    <a:p>
                      <a:r>
                        <a:rPr lang="en-IN" dirty="0" smtClean="0"/>
                        <a:t>margin</a:t>
                      </a:r>
                      <a:endParaRPr lang="en-IN" dirty="0"/>
                    </a:p>
                  </a:txBody>
                  <a:tcPr/>
                </a:tc>
                <a:tc>
                  <a:txBody>
                    <a:bodyPr/>
                    <a:lstStyle/>
                    <a:p>
                      <a:r>
                        <a:rPr lang="en-IN" dirty="0" smtClean="0"/>
                        <a:t>space</a:t>
                      </a:r>
                      <a:endParaRPr lang="en-IN" dirty="0"/>
                    </a:p>
                  </a:txBody>
                  <a:tcPr/>
                </a:tc>
                <a:extLst>
                  <a:ext uri="{0D108BD9-81ED-4DB2-BD59-A6C34878D82A}">
                    <a16:rowId xmlns:a16="http://schemas.microsoft.com/office/drawing/2014/main" val="2859301998"/>
                  </a:ext>
                </a:extLst>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m-0</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a:t>
                      </a:r>
                      <a:endParaRPr lang="en-IN"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     0</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 (no margin)</a:t>
                      </a:r>
                      <a:endPar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endParaRPr>
                    </a:p>
                  </a:txBody>
                  <a:tcPr/>
                </a:tc>
                <a:extLst>
                  <a:ext uri="{0D108BD9-81ED-4DB2-BD59-A6C34878D82A}">
                    <a16:rowId xmlns:a16="http://schemas.microsoft.com/office/drawing/2014/main" val="3095659751"/>
                  </a:ext>
                </a:extLst>
              </a:tr>
              <a:tr h="370840">
                <a:tc>
                  <a:txBody>
                    <a:bodyPr/>
                    <a:lstStyle/>
                    <a:p>
                      <a:r>
                        <a:rPr lang="en-IN" b="1" dirty="0" smtClean="0"/>
                        <a:t>m-1</a:t>
                      </a:r>
                      <a:endParaRPr lang="en-IN" b="1" dirty="0"/>
                    </a:p>
                  </a:txBody>
                  <a:tcPr/>
                </a:tc>
                <a:tc>
                  <a:txBody>
                    <a:bodyPr/>
                    <a:lstStyle/>
                    <a:p>
                      <a:pPr marL="274320" marR="0" lvl="1" indent="0" algn="l" defTabSz="914400" rtl="0" eaLnBrk="0" fontAlgn="base" latinLnBrk="0" hangingPunct="0">
                        <a:lnSpc>
                          <a:spcPct val="100000"/>
                        </a:lnSpc>
                        <a:spcBef>
                          <a:spcPct val="0"/>
                        </a:spcBef>
                        <a:spcAft>
                          <a:spcPct val="0"/>
                        </a:spcAft>
                        <a:buClrTx/>
                        <a:buSzTx/>
                        <a:buFont typeface="Wingdings 2" pitchFamily="18" charset="2"/>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0.25rem</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 (4px)</a:t>
                      </a:r>
                      <a:endPar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endParaRPr>
                    </a:p>
                  </a:txBody>
                  <a:tcPr/>
                </a:tc>
                <a:extLst>
                  <a:ext uri="{0D108BD9-81ED-4DB2-BD59-A6C34878D82A}">
                    <a16:rowId xmlns:a16="http://schemas.microsoft.com/office/drawing/2014/main" val="1991886536"/>
                  </a:ext>
                </a:extLst>
              </a:tr>
              <a:tr h="370840">
                <a:tc>
                  <a:txBody>
                    <a:bodyPr/>
                    <a:lstStyle/>
                    <a:p>
                      <a:r>
                        <a:rPr lang="en-IN" b="1" dirty="0" smtClean="0"/>
                        <a:t>m-2</a:t>
                      </a:r>
                      <a:endParaRPr lang="en-IN" b="1" dirty="0"/>
                    </a:p>
                  </a:txBody>
                  <a:tcPr/>
                </a:tc>
                <a:tc>
                  <a:txBody>
                    <a:bodyPr/>
                    <a:lstStyle/>
                    <a:p>
                      <a:pPr marL="274320" marR="0" lvl="1" indent="0" algn="l" defTabSz="914400" rtl="0" eaLnBrk="0" fontAlgn="base" latinLnBrk="0" hangingPunct="0">
                        <a:lnSpc>
                          <a:spcPct val="100000"/>
                        </a:lnSpc>
                        <a:spcBef>
                          <a:spcPct val="0"/>
                        </a:spcBef>
                        <a:spcAft>
                          <a:spcPct val="0"/>
                        </a:spcAft>
                        <a:buClrTx/>
                        <a:buSzTx/>
                        <a:buFont typeface="Wingdings 2" pitchFamily="18" charset="2"/>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0.5rem</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 (8px)</a:t>
                      </a:r>
                      <a:endPar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endParaRPr>
                    </a:p>
                  </a:txBody>
                  <a:tcPr/>
                </a:tc>
                <a:extLst>
                  <a:ext uri="{0D108BD9-81ED-4DB2-BD59-A6C34878D82A}">
                    <a16:rowId xmlns:a16="http://schemas.microsoft.com/office/drawing/2014/main" val="2428006484"/>
                  </a:ext>
                </a:extLst>
              </a:tr>
              <a:tr h="370840">
                <a:tc>
                  <a:txBody>
                    <a:bodyPr/>
                    <a:lstStyle/>
                    <a:p>
                      <a:r>
                        <a:rPr lang="en-IN" dirty="0" smtClean="0"/>
                        <a:t>m-3</a:t>
                      </a:r>
                      <a:endParaRPr lang="en-IN" dirty="0"/>
                    </a:p>
                  </a:txBody>
                  <a:tcPr/>
                </a:tc>
                <a:tc>
                  <a:txBody>
                    <a:bodyPr/>
                    <a:lstStyle/>
                    <a:p>
                      <a:pPr marL="274320" marR="0" lvl="1" indent="0" algn="l" defTabSz="914400" rtl="0" eaLnBrk="0" fontAlgn="base" latinLnBrk="0" hangingPunct="0">
                        <a:lnSpc>
                          <a:spcPct val="100000"/>
                        </a:lnSpc>
                        <a:spcBef>
                          <a:spcPct val="0"/>
                        </a:spcBef>
                        <a:spcAft>
                          <a:spcPct val="0"/>
                        </a:spcAft>
                        <a:buClrTx/>
                        <a:buSzTx/>
                        <a:buFont typeface="Wingdings 2" pitchFamily="18" charset="2"/>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0.75rem</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 (12px)</a:t>
                      </a:r>
                      <a:endPar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endParaRPr>
                    </a:p>
                  </a:txBody>
                  <a:tcPr/>
                </a:tc>
                <a:extLst>
                  <a:ext uri="{0D108BD9-81ED-4DB2-BD59-A6C34878D82A}">
                    <a16:rowId xmlns:a16="http://schemas.microsoft.com/office/drawing/2014/main" val="533666504"/>
                  </a:ext>
                </a:extLst>
              </a:tr>
              <a:tr h="370840">
                <a:tc>
                  <a:txBody>
                    <a:bodyPr/>
                    <a:lstStyle/>
                    <a:p>
                      <a:r>
                        <a:rPr lang="en-IN" dirty="0" smtClean="0"/>
                        <a:t>m-4</a:t>
                      </a:r>
                      <a:endParaRPr lang="en-IN" dirty="0"/>
                    </a:p>
                  </a:txBody>
                  <a:tcPr/>
                </a:tc>
                <a:tc>
                  <a:txBody>
                    <a:bodyPr/>
                    <a:lstStyle/>
                    <a:p>
                      <a:pPr marL="274320" marR="0" lvl="1" indent="0" algn="l" defTabSz="914400" rtl="0" eaLnBrk="0" fontAlgn="base" latinLnBrk="0" hangingPunct="0">
                        <a:lnSpc>
                          <a:spcPct val="100000"/>
                        </a:lnSpc>
                        <a:spcBef>
                          <a:spcPct val="0"/>
                        </a:spcBef>
                        <a:spcAft>
                          <a:spcPct val="0"/>
                        </a:spcAft>
                        <a:buClrTx/>
                        <a:buSzTx/>
                        <a:buFont typeface="Wingdings 2" pitchFamily="18" charset="2"/>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1rem</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 (16px)</a:t>
                      </a:r>
                      <a:endPar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endParaRPr>
                    </a:p>
                  </a:txBody>
                  <a:tcPr/>
                </a:tc>
                <a:extLst>
                  <a:ext uri="{0D108BD9-81ED-4DB2-BD59-A6C34878D82A}">
                    <a16:rowId xmlns:a16="http://schemas.microsoft.com/office/drawing/2014/main" val="999481041"/>
                  </a:ext>
                </a:extLst>
              </a:tr>
              <a:tr h="370840">
                <a:tc>
                  <a:txBody>
                    <a:bodyPr/>
                    <a:lstStyle/>
                    <a:p>
                      <a:r>
                        <a:rPr lang="en-IN" dirty="0" smtClean="0"/>
                        <a:t>m-8</a:t>
                      </a:r>
                      <a:endParaRPr lang="en-IN" dirty="0"/>
                    </a:p>
                  </a:txBody>
                  <a:tcPr/>
                </a:tc>
                <a:tc>
                  <a:txBody>
                    <a:bodyPr/>
                    <a:lstStyle/>
                    <a:p>
                      <a:pPr marL="274320" marR="0" lvl="1" indent="0" algn="l" defTabSz="914400" rtl="0" eaLnBrk="0" fontAlgn="base" latinLnBrk="0" hangingPunct="0">
                        <a:lnSpc>
                          <a:spcPct val="100000"/>
                        </a:lnSpc>
                        <a:spcBef>
                          <a:spcPct val="0"/>
                        </a:spcBef>
                        <a:spcAft>
                          <a:spcPct val="0"/>
                        </a:spcAft>
                        <a:buClrTx/>
                        <a:buSzTx/>
                        <a:buFont typeface="Wingdings 2" pitchFamily="18" charset="2"/>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2rem</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 (32px)</a:t>
                      </a:r>
                      <a:endPar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endParaRPr>
                    </a:p>
                  </a:txBody>
                  <a:tcPr/>
                </a:tc>
                <a:extLst>
                  <a:ext uri="{0D108BD9-81ED-4DB2-BD59-A6C34878D82A}">
                    <a16:rowId xmlns:a16="http://schemas.microsoft.com/office/drawing/2014/main" val="1362914503"/>
                  </a:ext>
                </a:extLst>
              </a:tr>
              <a:tr h="370840">
                <a:tc>
                  <a:txBody>
                    <a:bodyPr/>
                    <a:lstStyle/>
                    <a:p>
                      <a:r>
                        <a:rPr lang="en-IN" dirty="0" smtClean="0"/>
                        <a:t>m-12</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     3rem</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 (48px)</a:t>
                      </a:r>
                      <a:endPar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endParaRPr>
                    </a:p>
                  </a:txBody>
                  <a:tcPr/>
                </a:tc>
                <a:extLst>
                  <a:ext uri="{0D108BD9-81ED-4DB2-BD59-A6C34878D82A}">
                    <a16:rowId xmlns:a16="http://schemas.microsoft.com/office/drawing/2014/main" val="1013736138"/>
                  </a:ext>
                </a:extLst>
              </a:tr>
              <a:tr h="370840">
                <a:tc>
                  <a:txBody>
                    <a:bodyPr/>
                    <a:lstStyle/>
                    <a:p>
                      <a:r>
                        <a:rPr lang="en-IN" dirty="0" smtClean="0"/>
                        <a:t>m-16</a:t>
                      </a:r>
                      <a:endParaRPr lang="en-IN" dirty="0"/>
                    </a:p>
                  </a:txBody>
                  <a:tcPr/>
                </a:tc>
                <a:tc>
                  <a:txBody>
                    <a:bodyPr/>
                    <a:lstStyle/>
                    <a:p>
                      <a:pPr marL="274320" marR="0" lvl="1" indent="0" algn="l" defTabSz="914400" rtl="0" eaLnBrk="0" fontAlgn="base" latinLnBrk="0" hangingPunct="0">
                        <a:lnSpc>
                          <a:spcPct val="100000"/>
                        </a:lnSpc>
                        <a:spcBef>
                          <a:spcPct val="0"/>
                        </a:spcBef>
                        <a:spcAft>
                          <a:spcPct val="0"/>
                        </a:spcAft>
                        <a:buClrTx/>
                        <a:buSzTx/>
                        <a:buFont typeface="Wingdings 2" pitchFamily="18" charset="2"/>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Unicode MS"/>
                          <a:ea typeface="+mn-ea"/>
                          <a:cs typeface="+mn-cs"/>
                        </a:rPr>
                        <a:t>4rem</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mn-lt"/>
                          <a:ea typeface="+mn-ea"/>
                          <a:cs typeface="+mn-cs"/>
                        </a:rPr>
                        <a:t> (64px)</a:t>
                      </a: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904791489"/>
                  </a:ext>
                </a:extLst>
              </a:tr>
              <a:tr h="370840">
                <a:tc>
                  <a:txBody>
                    <a:bodyPr/>
                    <a:lstStyle/>
                    <a:p>
                      <a:r>
                        <a:rPr lang="en-IN" dirty="0" smtClean="0"/>
                        <a:t>m-64</a:t>
                      </a:r>
                      <a:endParaRPr lang="en-IN" dirty="0"/>
                    </a:p>
                  </a:txBody>
                  <a:tcPr/>
                </a:tc>
                <a:tc>
                  <a:txBody>
                    <a:bodyPr/>
                    <a:lstStyle/>
                    <a:p>
                      <a:pPr marL="274320" marR="0" lvl="1" indent="0" algn="l" defTabSz="914400" rtl="0" eaLnBrk="0" fontAlgn="base" latinLnBrk="0" hangingPunct="0">
                        <a:lnSpc>
                          <a:spcPct val="100000"/>
                        </a:lnSpc>
                        <a:spcBef>
                          <a:spcPct val="0"/>
                        </a:spcBef>
                        <a:spcAft>
                          <a:spcPct val="0"/>
                        </a:spcAft>
                        <a:buClrTx/>
                        <a:buSzTx/>
                        <a:buFont typeface="Wingdings 2" pitchFamily="18" charset="2"/>
                        <a:buNone/>
                        <a:tabLst/>
                        <a:defRPr/>
                      </a:pPr>
                      <a:r>
                        <a:rPr kumimoji="0" lang="en-US" altLang="en-US" sz="1600" b="0" i="0" u="none" strike="noStrike" kern="1200" cap="none" spc="0" normalizeH="0" baseline="0" noProof="0" dirty="0" smtClean="0">
                          <a:ln>
                            <a:noFill/>
                          </a:ln>
                          <a:solidFill>
                            <a:srgbClr val="000000">
                              <a:lumMod val="85000"/>
                              <a:lumOff val="15000"/>
                            </a:srgbClr>
                          </a:solidFill>
                          <a:effectLst/>
                          <a:uLnTx/>
                          <a:uFillTx/>
                          <a:latin typeface="Arial" panose="020B0604020202020204" pitchFamily="34" charset="0"/>
                          <a:ea typeface="+mn-ea"/>
                          <a:cs typeface="+mn-cs"/>
                        </a:rPr>
                        <a:t>16 rem or 256px</a:t>
                      </a:r>
                    </a:p>
                  </a:txBody>
                  <a:tcPr/>
                </a:tc>
                <a:extLst>
                  <a:ext uri="{0D108BD9-81ED-4DB2-BD59-A6C34878D82A}">
                    <a16:rowId xmlns:a16="http://schemas.microsoft.com/office/drawing/2014/main" val="997965461"/>
                  </a:ext>
                </a:extLst>
              </a:tr>
            </a:tbl>
          </a:graphicData>
        </a:graphic>
      </p:graphicFrame>
      <p:sp>
        <p:nvSpPr>
          <p:cNvPr id="5" name="TextBox 4"/>
          <p:cNvSpPr txBox="1"/>
          <p:nvPr/>
        </p:nvSpPr>
        <p:spPr>
          <a:xfrm>
            <a:off x="0" y="6393815"/>
            <a:ext cx="11325224" cy="369332"/>
          </a:xfrm>
          <a:prstGeom prst="rect">
            <a:avLst/>
          </a:prstGeom>
          <a:noFill/>
        </p:spPr>
        <p:txBody>
          <a:bodyPr wrap="square" rtlCol="0">
            <a:spAutoFit/>
          </a:bodyPr>
          <a:lstStyle/>
          <a:p>
            <a:r>
              <a:rPr lang="en-US" dirty="0"/>
              <a:t> 1 rem is usually equal to 16 pixels (</a:t>
            </a:r>
            <a:r>
              <a:rPr lang="en-US" dirty="0" err="1" smtClean="0"/>
              <a:t>px</a:t>
            </a:r>
            <a:r>
              <a:rPr lang="en-US" dirty="0" smtClean="0"/>
              <a:t>): most </a:t>
            </a:r>
            <a:r>
              <a:rPr lang="en-US" dirty="0"/>
              <a:t>browsers set the HTML's root font size to 16 </a:t>
            </a:r>
            <a:r>
              <a:rPr lang="en-US" dirty="0" err="1"/>
              <a:t>px</a:t>
            </a:r>
            <a:r>
              <a:rPr lang="en-US" dirty="0"/>
              <a:t> by default. </a:t>
            </a:r>
            <a:endParaRPr lang="en-IN" dirty="0"/>
          </a:p>
        </p:txBody>
      </p:sp>
    </p:spTree>
    <p:extLst>
      <p:ext uri="{BB962C8B-B14F-4D97-AF65-F5344CB8AC3E}">
        <p14:creationId xmlns:p14="http://schemas.microsoft.com/office/powerpoint/2010/main" val="66550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Color</a:t>
            </a:r>
            <a:r>
              <a:rPr lang="en-IN" dirty="0"/>
              <a:t> Palette</a:t>
            </a:r>
          </a:p>
        </p:txBody>
      </p:sp>
      <p:sp>
        <p:nvSpPr>
          <p:cNvPr id="4" name="Rectangle 1"/>
          <p:cNvSpPr>
            <a:spLocks noGrp="1" noChangeArrowheads="1"/>
          </p:cNvSpPr>
          <p:nvPr>
            <p:ph idx="1"/>
          </p:nvPr>
        </p:nvSpPr>
        <p:spPr bwMode="auto">
          <a:xfrm>
            <a:off x="1261872" y="1940970"/>
            <a:ext cx="927779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Arial" panose="020B0604020202020204" pitchFamily="34" charset="0"/>
              </a:rPr>
              <a:t>Tailwind CSS provides a comprehensive color palette that includes: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Grayscale</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gray-100</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gray-200</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gray-300</a:t>
            </a:r>
            <a:r>
              <a:rPr kumimoji="0" lang="en-US" altLang="en-US" b="0" i="0" u="none" strike="noStrike" cap="none" normalizeH="0" baseline="0" dirty="0" smtClean="0">
                <a:ln>
                  <a:noFill/>
                </a:ln>
                <a:solidFill>
                  <a:schemeClr val="tx1"/>
                </a:solidFill>
                <a:effectLst/>
              </a:rPr>
              <a:t>, ..., </a:t>
            </a:r>
            <a:r>
              <a:rPr kumimoji="0" lang="en-US" altLang="en-US" b="0" i="0" u="none" strike="noStrike" cap="none" normalizeH="0" baseline="0" dirty="0" smtClean="0">
                <a:ln>
                  <a:noFill/>
                </a:ln>
                <a:solidFill>
                  <a:schemeClr val="tx1"/>
                </a:solidFill>
                <a:effectLst/>
                <a:latin typeface="Arial Unicode MS"/>
              </a:rPr>
              <a:t>gray-900</a:t>
            </a: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Primary Colors</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red-100</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blue-100</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green-100</a:t>
            </a:r>
            <a:r>
              <a:rPr kumimoji="0" lang="en-US" altLang="en-US" b="0" i="0" u="none" strike="noStrike" cap="none" normalizeH="0" baseline="0" dirty="0" smtClean="0">
                <a:ln>
                  <a:noFill/>
                </a:ln>
                <a:solidFill>
                  <a:schemeClr val="tx1"/>
                </a:solidFill>
                <a:effectLst/>
              </a:rPr>
              <a:t>, ..., </a:t>
            </a:r>
            <a:r>
              <a:rPr kumimoji="0" lang="en-US" altLang="en-US" b="0" i="0" u="none" strike="noStrike" cap="none" normalizeH="0" baseline="0" dirty="0" smtClean="0">
                <a:ln>
                  <a:noFill/>
                </a:ln>
                <a:solidFill>
                  <a:schemeClr val="tx1"/>
                </a:solidFill>
                <a:effectLst/>
                <a:latin typeface="Arial Unicode MS"/>
              </a:rPr>
              <a:t>yellow-100</a:t>
            </a:r>
            <a:endParaRPr kumimoji="0" lang="en-US" altLang="en-US"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endParaRPr kumimoji="0" lang="en-US" altLang="en-US"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Accent Colors</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purple-100</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pink-100</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teal-100</a:t>
            </a:r>
            <a:r>
              <a:rPr kumimoji="0" lang="en-US" altLang="en-US" b="0" i="0" u="none" strike="noStrike" cap="none" normalizeH="0" baseline="0" dirty="0" smtClean="0">
                <a:ln>
                  <a:noFill/>
                </a:ln>
                <a:solidFill>
                  <a:schemeClr val="tx1"/>
                </a:solidFill>
                <a:effectLst/>
              </a:rPr>
              <a:t>, etc.</a:t>
            </a:r>
          </a:p>
          <a:p>
            <a:pPr eaLnBrk="0" fontAlgn="base" hangingPunct="0">
              <a:lnSpc>
                <a:spcPct val="100000"/>
              </a:lnSpc>
              <a:spcBef>
                <a:spcPct val="0"/>
              </a:spcBef>
              <a:spcAft>
                <a:spcPct val="0"/>
              </a:spcAft>
              <a:buClrTx/>
              <a:buSzTx/>
            </a:pP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SzTx/>
              <a:buNone/>
            </a:pPr>
            <a:r>
              <a:rPr lang="en-US" altLang="en-US" dirty="0">
                <a:latin typeface="Arial" panose="020B0604020202020204" pitchFamily="34" charset="0"/>
              </a:rPr>
              <a:t>The colors are named with shades ranging from </a:t>
            </a:r>
            <a:r>
              <a:rPr lang="en-US" altLang="en-US" dirty="0">
                <a:latin typeface="Arial Unicode MS"/>
              </a:rPr>
              <a:t>100</a:t>
            </a:r>
            <a:r>
              <a:rPr lang="en-US" altLang="en-US" dirty="0"/>
              <a:t> (lightest) to </a:t>
            </a:r>
            <a:r>
              <a:rPr lang="en-US" altLang="en-US" dirty="0">
                <a:latin typeface="Arial Unicode MS"/>
              </a:rPr>
              <a:t>900</a:t>
            </a:r>
            <a:r>
              <a:rPr lang="en-US" altLang="en-US" dirty="0"/>
              <a:t> (darkest), allowing you to choose the exact shade you need. </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5655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Responsive Design</a:t>
            </a:r>
            <a:endParaRPr lang="en-IN" dirty="0"/>
          </a:p>
        </p:txBody>
      </p:sp>
      <p:sp>
        <p:nvSpPr>
          <p:cNvPr id="3" name="Content Placeholder 2"/>
          <p:cNvSpPr>
            <a:spLocks noGrp="1"/>
          </p:cNvSpPr>
          <p:nvPr>
            <p:ph idx="1"/>
          </p:nvPr>
        </p:nvSpPr>
        <p:spPr/>
        <p:txBody>
          <a:bodyPr>
            <a:normAutofit/>
          </a:bodyPr>
          <a:lstStyle/>
          <a:p>
            <a:pPr marL="0" lvl="0" indent="0" eaLnBrk="0" fontAlgn="base" hangingPunct="0">
              <a:lnSpc>
                <a:spcPct val="100000"/>
              </a:lnSpc>
              <a:spcBef>
                <a:spcPct val="0"/>
              </a:spcBef>
              <a:spcAft>
                <a:spcPct val="0"/>
              </a:spcAft>
              <a:buClrTx/>
              <a:buSzTx/>
              <a:buNone/>
            </a:pPr>
            <a:r>
              <a:rPr lang="en-US" altLang="en-US" dirty="0" smtClean="0">
                <a:latin typeface="Arial" panose="020B0604020202020204" pitchFamily="34" charset="0"/>
              </a:rPr>
              <a:t>Tailwind </a:t>
            </a:r>
            <a:r>
              <a:rPr lang="en-US" altLang="en-US" dirty="0">
                <a:latin typeface="Arial" panose="020B0604020202020204" pitchFamily="34" charset="0"/>
              </a:rPr>
              <a:t>also supports responsive design and variants via additional classes:</a:t>
            </a:r>
          </a:p>
          <a:p>
            <a:pPr eaLnBrk="0" fontAlgn="base" hangingPunct="0">
              <a:lnSpc>
                <a:spcPct val="100000"/>
              </a:lnSpc>
              <a:spcBef>
                <a:spcPct val="0"/>
              </a:spcBef>
              <a:spcAft>
                <a:spcPct val="0"/>
              </a:spcAft>
              <a:buClrTx/>
              <a:buSzTx/>
            </a:pPr>
            <a:r>
              <a:rPr lang="en-US" altLang="en-US" dirty="0">
                <a:latin typeface="Arial Unicode MS"/>
              </a:rPr>
              <a:t>md:bg-green-500</a:t>
            </a:r>
            <a:r>
              <a:rPr lang="en-US" altLang="en-US" dirty="0"/>
              <a:t>: Applies a green background color on medium-sized screens and larger.</a:t>
            </a: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r>
              <a:rPr lang="en-US" altLang="en-US" dirty="0">
                <a:latin typeface="Arial Unicode MS"/>
              </a:rPr>
              <a:t>hover:text-red-500</a:t>
            </a:r>
            <a:r>
              <a:rPr lang="en-US" altLang="en-US" dirty="0"/>
              <a:t>: Changes the text color to red on hover.</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dirty="0" smtClean="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b="1" dirty="0">
                <a:latin typeface="Arial" panose="020B0604020202020204" pitchFamily="34" charset="0"/>
              </a:rPr>
              <a:t>Responsive Design</a:t>
            </a:r>
          </a:p>
          <a:p>
            <a:pPr marL="0" lvl="0" indent="0" eaLnBrk="0" fontAlgn="base" hangingPunct="0">
              <a:lnSpc>
                <a:spcPct val="100000"/>
              </a:lnSpc>
              <a:spcBef>
                <a:spcPct val="0"/>
              </a:spcBef>
              <a:spcAft>
                <a:spcPct val="0"/>
              </a:spcAft>
              <a:buClrTx/>
              <a:buSzTx/>
              <a:buNone/>
            </a:pPr>
            <a:r>
              <a:rPr lang="en-US" altLang="en-US" dirty="0">
                <a:latin typeface="Arial" panose="020B0604020202020204" pitchFamily="34" charset="0"/>
              </a:rPr>
              <a:t>Tailwind CSS includes responsive variants for different screen sizes. Use prefix classes to apply styles at different breakpoints</a:t>
            </a:r>
            <a:r>
              <a:rPr lang="en-US" altLang="en-US" dirty="0" smtClean="0">
                <a:latin typeface="Arial" panose="020B0604020202020204" pitchFamily="34" charset="0"/>
              </a:rPr>
              <a:t>:</a:t>
            </a:r>
          </a:p>
          <a:p>
            <a:pPr marL="0" lvl="0" indent="0" eaLnBrk="0" fontAlgn="base" hangingPunct="0">
              <a:lnSpc>
                <a:spcPct val="100000"/>
              </a:lnSpc>
              <a:spcBef>
                <a:spcPct val="0"/>
              </a:spcBef>
              <a:spcAft>
                <a:spcPct val="0"/>
              </a:spcAft>
              <a:buClrTx/>
              <a:buSzTx/>
              <a:buNone/>
            </a:pP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r>
              <a:rPr lang="en-US" altLang="en-US" dirty="0" err="1">
                <a:latin typeface="Arial Unicode MS"/>
              </a:rPr>
              <a:t>sm</a:t>
            </a:r>
            <a:r>
              <a:rPr lang="en-US" altLang="en-US" dirty="0">
                <a:latin typeface="Arial Unicode MS"/>
              </a:rPr>
              <a:t>:</a:t>
            </a:r>
            <a:r>
              <a:rPr lang="en-US" altLang="en-US" dirty="0"/>
              <a:t> for small screens (min-width: 640px)</a:t>
            </a: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r>
              <a:rPr lang="en-US" altLang="en-US" dirty="0">
                <a:latin typeface="Arial Unicode MS"/>
              </a:rPr>
              <a:t>md:</a:t>
            </a:r>
            <a:r>
              <a:rPr lang="en-US" altLang="en-US" dirty="0"/>
              <a:t> for medium screens (min-width: 768px)</a:t>
            </a: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r>
              <a:rPr lang="en-US" altLang="en-US" dirty="0" err="1">
                <a:latin typeface="Arial Unicode MS"/>
              </a:rPr>
              <a:t>lg</a:t>
            </a:r>
            <a:r>
              <a:rPr lang="en-US" altLang="en-US" dirty="0">
                <a:latin typeface="Arial Unicode MS"/>
              </a:rPr>
              <a:t>:</a:t>
            </a:r>
            <a:r>
              <a:rPr lang="en-US" altLang="en-US" dirty="0"/>
              <a:t> for large screens (min-width: 1024px)</a:t>
            </a: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r>
              <a:rPr lang="en-US" altLang="en-US" dirty="0">
                <a:latin typeface="Arial Unicode MS"/>
              </a:rPr>
              <a:t>xl:</a:t>
            </a:r>
            <a:r>
              <a:rPr lang="en-US" altLang="en-US" dirty="0"/>
              <a:t> for extra-large screens (min-width: 1280px)</a:t>
            </a: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r>
              <a:rPr lang="en-US" altLang="en-US" dirty="0">
                <a:latin typeface="Arial Unicode MS"/>
              </a:rPr>
              <a:t>2xl:</a:t>
            </a:r>
            <a:r>
              <a:rPr lang="en-US" altLang="en-US" dirty="0"/>
              <a:t> for 2x extra-large screens (min-width: 1536px)</a:t>
            </a: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dirty="0">
              <a:latin typeface="Arial" panose="020B0604020202020204" pitchFamily="34" charset="0"/>
            </a:endParaRPr>
          </a:p>
        </p:txBody>
      </p:sp>
    </p:spTree>
    <p:extLst>
      <p:ext uri="{BB962C8B-B14F-4D97-AF65-F5344CB8AC3E}">
        <p14:creationId xmlns:p14="http://schemas.microsoft.com/office/powerpoint/2010/main" val="19672884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Tailwind CSS supports responsive variants and state variants (like hover, focus, etc.) for colors. </a:t>
            </a:r>
            <a:endParaRPr lang="en-US" dirty="0" smtClean="0"/>
          </a:p>
          <a:p>
            <a:endParaRPr lang="en-US" dirty="0"/>
          </a:p>
          <a:p>
            <a:pPr marL="0" indent="0">
              <a:buNone/>
            </a:pPr>
            <a:r>
              <a:rPr lang="en-US" dirty="0" smtClean="0"/>
              <a:t>&lt;</a:t>
            </a:r>
            <a:r>
              <a:rPr lang="en-US" dirty="0"/>
              <a:t>div class="bg-red-500 md:bg-blue-500 lg:bg-green-500 p-4"&gt;</a:t>
            </a:r>
          </a:p>
          <a:p>
            <a:pPr marL="0" indent="0">
              <a:buNone/>
            </a:pPr>
            <a:r>
              <a:rPr lang="en-US" dirty="0"/>
              <a:t>  Background color changes based on screen size.</a:t>
            </a:r>
          </a:p>
          <a:p>
            <a:pPr marL="0" indent="0">
              <a:buNone/>
            </a:pPr>
            <a:r>
              <a:rPr lang="en-US" dirty="0"/>
              <a:t>&lt;/div&gt;</a:t>
            </a:r>
            <a:endParaRPr lang="en-IN" dirty="0"/>
          </a:p>
        </p:txBody>
      </p:sp>
    </p:spTree>
    <p:extLst>
      <p:ext uri="{BB962C8B-B14F-4D97-AF65-F5344CB8AC3E}">
        <p14:creationId xmlns:p14="http://schemas.microsoft.com/office/powerpoint/2010/main" val="37258301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eaLnBrk="0" fontAlgn="base" hangingPunct="0">
              <a:lnSpc>
                <a:spcPct val="100000"/>
              </a:lnSpc>
              <a:spcAft>
                <a:spcPct val="0"/>
              </a:spcAft>
            </a:pPr>
            <a:r>
              <a:rPr lang="en-US" altLang="en-US" dirty="0">
                <a:latin typeface="Arial" panose="020B0604020202020204" pitchFamily="34" charset="0"/>
              </a:rPr>
              <a:t>Layout Utilities</a:t>
            </a:r>
          </a:p>
        </p:txBody>
      </p:sp>
      <p:sp>
        <p:nvSpPr>
          <p:cNvPr id="5" name="Rectangle 2"/>
          <p:cNvSpPr>
            <a:spLocks noGrp="1" noChangeArrowheads="1"/>
          </p:cNvSpPr>
          <p:nvPr>
            <p:ph idx="1"/>
          </p:nvPr>
        </p:nvSpPr>
        <p:spPr bwMode="auto">
          <a:xfrm>
            <a:off x="1261872" y="2265530"/>
            <a:ext cx="804419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lang="en-US" altLang="en-US" sz="2000" dirty="0" smtClean="0">
                <a:latin typeface="Arial" panose="020B0604020202020204" pitchFamily="34" charset="0"/>
              </a:rPr>
              <a:t>Container</a:t>
            </a:r>
            <a:r>
              <a:rPr lang="en-US" altLang="en-US" sz="2000" dirty="0">
                <a:latin typeface="Arial" panose="020B0604020202020204" pitchFamily="34" charset="0"/>
              </a:rPr>
              <a:t>: container</a:t>
            </a:r>
          </a:p>
          <a:p>
            <a:pPr marL="800100" lvl="1" indent="-342900" eaLnBrk="0" fontAlgn="base" hangingPunct="0">
              <a:lnSpc>
                <a:spcPct val="100000"/>
              </a:lnSpc>
              <a:spcBef>
                <a:spcPct val="0"/>
              </a:spcBef>
              <a:spcAft>
                <a:spcPct val="0"/>
              </a:spcAft>
              <a:buClrTx/>
            </a:pPr>
            <a:r>
              <a:rPr kumimoji="0" lang="en-US" altLang="en-US" sz="2000" i="0" u="none" strike="noStrike" cap="none" normalizeH="0" baseline="0" dirty="0" smtClean="0">
                <a:ln>
                  <a:noFill/>
                </a:ln>
                <a:solidFill>
                  <a:schemeClr val="tx1"/>
                </a:solidFill>
                <a:effectLst/>
                <a:latin typeface="Arial" panose="020B0604020202020204" pitchFamily="34" charset="0"/>
              </a:rPr>
              <a:t>Sets max-width and horizontal padding for responsive layouts.</a:t>
            </a:r>
          </a:p>
          <a:p>
            <a:pPr marL="800100" lvl="1" indent="-342900" eaLnBrk="0" fontAlgn="base" hangingPunct="0">
              <a:lnSpc>
                <a:spcPct val="100000"/>
              </a:lnSpc>
              <a:spcBef>
                <a:spcPct val="0"/>
              </a:spcBef>
              <a:spcAft>
                <a:spcPct val="0"/>
              </a:spcAft>
              <a:buClr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i="0" u="none" strike="noStrike" cap="none" normalizeH="0" baseline="0" dirty="0" smtClean="0">
                <a:ln>
                  <a:noFill/>
                </a:ln>
                <a:solidFill>
                  <a:schemeClr val="tx1"/>
                </a:solidFill>
                <a:effectLst/>
                <a:latin typeface="Arial" panose="020B0604020202020204" pitchFamily="34" charset="0"/>
              </a:rPr>
              <a:t>Box Sizing: </a:t>
            </a:r>
            <a:r>
              <a:rPr lang="en-US" altLang="en-US" sz="2000" dirty="0">
                <a:latin typeface="Arial" panose="020B0604020202020204" pitchFamily="34" charset="0"/>
              </a:rPr>
              <a:t>box-border, box-content</a:t>
            </a:r>
          </a:p>
          <a:p>
            <a:pPr marL="800100" lvl="1" indent="-342900" eaLnBrk="0" fontAlgn="base" hangingPunct="0">
              <a:lnSpc>
                <a:spcPct val="100000"/>
              </a:lnSpc>
              <a:spcBef>
                <a:spcPct val="0"/>
              </a:spcBef>
              <a:spcAft>
                <a:spcPct val="0"/>
              </a:spcAft>
              <a:buClrTx/>
            </a:pPr>
            <a:r>
              <a:rPr kumimoji="0" lang="en-US" altLang="en-US" sz="2000" i="0" u="none" strike="noStrike" cap="none" normalizeH="0" baseline="0" dirty="0" smtClean="0">
                <a:ln>
                  <a:noFill/>
                </a:ln>
                <a:solidFill>
                  <a:schemeClr val="tx1"/>
                </a:solidFill>
                <a:effectLst/>
                <a:latin typeface="Arial" panose="020B0604020202020204" pitchFamily="34" charset="0"/>
              </a:rPr>
              <a:t>Controls the box-sizing property.</a:t>
            </a: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i="0" u="none" strike="noStrike" cap="none" normalizeH="0" baseline="0" dirty="0" smtClean="0">
                <a:ln>
                  <a:noFill/>
                </a:ln>
                <a:solidFill>
                  <a:schemeClr val="tx1"/>
                </a:solidFill>
                <a:effectLst/>
                <a:latin typeface="Arial" panose="020B0604020202020204" pitchFamily="34" charset="0"/>
              </a:rPr>
              <a:t>Display: </a:t>
            </a:r>
            <a:r>
              <a:rPr lang="en-US" altLang="en-US" sz="2000" dirty="0">
                <a:latin typeface="Arial" panose="020B0604020202020204" pitchFamily="34" charset="0"/>
              </a:rPr>
              <a:t>block, inline, inline-block, flex, grid, hidden</a:t>
            </a:r>
          </a:p>
          <a:p>
            <a:pPr marL="800100" lvl="1" indent="-342900" eaLnBrk="0" fontAlgn="base" hangingPunct="0">
              <a:lnSpc>
                <a:spcPct val="100000"/>
              </a:lnSpc>
              <a:spcBef>
                <a:spcPct val="0"/>
              </a:spcBef>
              <a:spcAft>
                <a:spcPct val="0"/>
              </a:spcAft>
              <a:buClrTx/>
            </a:pPr>
            <a:r>
              <a:rPr kumimoji="0" lang="en-US" altLang="en-US" sz="2000" i="0" u="none" strike="noStrike" cap="none" normalizeH="0" baseline="0" dirty="0" smtClean="0">
                <a:ln>
                  <a:noFill/>
                </a:ln>
                <a:solidFill>
                  <a:schemeClr val="tx1"/>
                </a:solidFill>
                <a:effectLst/>
                <a:latin typeface="Arial" panose="020B0604020202020204" pitchFamily="34" charset="0"/>
              </a:rPr>
              <a:t>Controls the display property.</a:t>
            </a: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54192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Flexbox Utilities</a:t>
            </a:r>
          </a:p>
        </p:txBody>
      </p:sp>
      <p:sp>
        <p:nvSpPr>
          <p:cNvPr id="4" name="Rectangle 1"/>
          <p:cNvSpPr>
            <a:spLocks noGrp="1" noChangeArrowheads="1"/>
          </p:cNvSpPr>
          <p:nvPr>
            <p:ph idx="1"/>
          </p:nvPr>
        </p:nvSpPr>
        <p:spPr bwMode="auto">
          <a:xfrm>
            <a:off x="1261872" y="1342202"/>
            <a:ext cx="9410139"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i="0" u="none" strike="noStrike" cap="none" normalizeH="0" baseline="0" dirty="0" smtClean="0">
                <a:ln>
                  <a:noFill/>
                </a:ln>
                <a:solidFill>
                  <a:schemeClr val="tx1"/>
                </a:solidFill>
                <a:effectLst/>
                <a:latin typeface="Arial" panose="020B0604020202020204" pitchFamily="34" charset="0"/>
              </a:rPr>
              <a:t>Flex Direction: </a:t>
            </a:r>
            <a:r>
              <a:rPr kumimoji="0" lang="en-US" altLang="en-US" sz="2000" i="0" u="none" strike="noStrike" cap="none" normalizeH="0" baseline="0" dirty="0" smtClean="0">
                <a:ln>
                  <a:noFill/>
                </a:ln>
                <a:solidFill>
                  <a:schemeClr val="tx1"/>
                </a:solidFill>
                <a:effectLst/>
                <a:latin typeface="Arial Unicode MS"/>
              </a:rPr>
              <a:t>flex-row</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flex-row-reverse</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flex-col</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flex-col-reverse</a:t>
            </a:r>
            <a:endParaRPr kumimoji="0" lang="en-US" altLang="en-US" sz="2000" i="0" u="none" strike="noStrike" cap="none" normalizeH="0" baseline="0" dirty="0" smtClean="0">
              <a:ln>
                <a:noFill/>
              </a:ln>
              <a:solidFill>
                <a:schemeClr val="tx1"/>
              </a:solidFill>
              <a:effectLst/>
            </a:endParaRPr>
          </a:p>
          <a:p>
            <a:pPr marL="800100" lvl="1" indent="-342900" eaLnBrk="0" fontAlgn="base" hangingPunct="0">
              <a:lnSpc>
                <a:spcPct val="100000"/>
              </a:lnSpc>
              <a:spcBef>
                <a:spcPct val="0"/>
              </a:spcBef>
              <a:spcAft>
                <a:spcPct val="0"/>
              </a:spcAft>
              <a:buClrTx/>
            </a:pPr>
            <a:r>
              <a:rPr kumimoji="0" lang="en-US" altLang="en-US" sz="2000" i="0" u="none" strike="noStrike" cap="none" normalizeH="0" baseline="0" dirty="0" smtClean="0">
                <a:ln>
                  <a:noFill/>
                </a:ln>
                <a:solidFill>
                  <a:schemeClr val="tx1"/>
                </a:solidFill>
                <a:effectLst/>
                <a:latin typeface="Arial" panose="020B0604020202020204" pitchFamily="34" charset="0"/>
              </a:rPr>
              <a:t>Controls the direction of flex items.</a:t>
            </a: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i="0" u="none" strike="noStrike" cap="none" normalizeH="0" baseline="0" dirty="0" smtClean="0">
                <a:ln>
                  <a:noFill/>
                </a:ln>
                <a:solidFill>
                  <a:schemeClr val="tx1"/>
                </a:solidFill>
                <a:effectLst/>
                <a:latin typeface="Arial" panose="020B0604020202020204" pitchFamily="34" charset="0"/>
              </a:rPr>
              <a:t>Flex Wrap: </a:t>
            </a:r>
            <a:r>
              <a:rPr kumimoji="0" lang="en-US" altLang="en-US" sz="2000" i="0" u="none" strike="noStrike" cap="none" normalizeH="0" baseline="0" dirty="0" smtClean="0">
                <a:ln>
                  <a:noFill/>
                </a:ln>
                <a:solidFill>
                  <a:schemeClr val="tx1"/>
                </a:solidFill>
                <a:effectLst/>
                <a:latin typeface="Arial Unicode MS"/>
              </a:rPr>
              <a:t>flex-wrap</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flex-wrap-reverse</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flex-</a:t>
            </a:r>
            <a:r>
              <a:rPr kumimoji="0" lang="en-US" altLang="en-US" sz="2000" i="0" u="none" strike="noStrike" cap="none" normalizeH="0" baseline="0" dirty="0" err="1" smtClean="0">
                <a:ln>
                  <a:noFill/>
                </a:ln>
                <a:solidFill>
                  <a:schemeClr val="tx1"/>
                </a:solidFill>
                <a:effectLst/>
                <a:latin typeface="Arial Unicode MS"/>
              </a:rPr>
              <a:t>nowrap</a:t>
            </a:r>
            <a:endParaRPr kumimoji="0" lang="en-US" altLang="en-US" sz="2000" i="0" u="none" strike="noStrike" cap="none" normalizeH="0" baseline="0" dirty="0" smtClean="0">
              <a:ln>
                <a:noFill/>
              </a:ln>
              <a:solidFill>
                <a:schemeClr val="tx1"/>
              </a:solidFill>
              <a:effectLst/>
            </a:endParaRPr>
          </a:p>
          <a:p>
            <a:pPr marL="800100" lvl="1" indent="-342900" eaLnBrk="0" fontAlgn="base" hangingPunct="0">
              <a:lnSpc>
                <a:spcPct val="100000"/>
              </a:lnSpc>
              <a:spcBef>
                <a:spcPct val="0"/>
              </a:spcBef>
              <a:spcAft>
                <a:spcPct val="0"/>
              </a:spcAft>
              <a:buClrTx/>
            </a:pPr>
            <a:r>
              <a:rPr kumimoji="0" lang="en-US" altLang="en-US" sz="2000" i="0" u="none" strike="noStrike" cap="none" normalizeH="0" baseline="0" dirty="0" smtClean="0">
                <a:ln>
                  <a:noFill/>
                </a:ln>
                <a:solidFill>
                  <a:schemeClr val="tx1"/>
                </a:solidFill>
                <a:effectLst/>
                <a:latin typeface="Arial" panose="020B0604020202020204" pitchFamily="34" charset="0"/>
              </a:rPr>
              <a:t>Controls whether flex items wrap or not.</a:t>
            </a: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i="0" u="none" strike="noStrike" cap="none" normalizeH="0" baseline="0" dirty="0" smtClean="0">
                <a:ln>
                  <a:noFill/>
                </a:ln>
                <a:solidFill>
                  <a:schemeClr val="tx1"/>
                </a:solidFill>
                <a:effectLst/>
                <a:latin typeface="Arial" panose="020B0604020202020204" pitchFamily="34" charset="0"/>
              </a:rPr>
              <a:t>Align Items: </a:t>
            </a:r>
            <a:r>
              <a:rPr kumimoji="0" lang="en-US" altLang="en-US" sz="2000" i="0" u="none" strike="noStrike" cap="none" normalizeH="0" baseline="0" dirty="0" smtClean="0">
                <a:ln>
                  <a:noFill/>
                </a:ln>
                <a:solidFill>
                  <a:schemeClr val="tx1"/>
                </a:solidFill>
                <a:effectLst/>
                <a:latin typeface="Arial Unicode MS"/>
              </a:rPr>
              <a:t>items-start</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items-end</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items-center</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items-baseline</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items-stretch</a:t>
            </a:r>
            <a:endParaRPr kumimoji="0" lang="en-US" altLang="en-US" sz="2000" i="0" u="none" strike="noStrike" cap="none" normalizeH="0" baseline="0" dirty="0" smtClean="0">
              <a:ln>
                <a:noFill/>
              </a:ln>
              <a:solidFill>
                <a:schemeClr val="tx1"/>
              </a:solidFill>
              <a:effectLst/>
            </a:endParaRPr>
          </a:p>
          <a:p>
            <a:pPr marL="800100" lvl="1" indent="-342900" eaLnBrk="0" fontAlgn="base" hangingPunct="0">
              <a:lnSpc>
                <a:spcPct val="100000"/>
              </a:lnSpc>
              <a:spcBef>
                <a:spcPct val="0"/>
              </a:spcBef>
              <a:spcAft>
                <a:spcPct val="0"/>
              </a:spcAft>
              <a:buClrTx/>
            </a:pPr>
            <a:r>
              <a:rPr kumimoji="0" lang="en-US" altLang="en-US" sz="2000" i="0" u="none" strike="noStrike" cap="none" normalizeH="0" baseline="0" dirty="0" smtClean="0">
                <a:ln>
                  <a:noFill/>
                </a:ln>
                <a:solidFill>
                  <a:schemeClr val="tx1"/>
                </a:solidFill>
                <a:effectLst/>
                <a:latin typeface="Arial" panose="020B0604020202020204" pitchFamily="34" charset="0"/>
              </a:rPr>
              <a:t>Aligns flex items along the cross axis.</a:t>
            </a: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i="0" u="none" strike="noStrike" cap="none" normalizeH="0" baseline="0" dirty="0" smtClean="0">
                <a:ln>
                  <a:noFill/>
                </a:ln>
                <a:solidFill>
                  <a:schemeClr val="tx1"/>
                </a:solidFill>
                <a:effectLst/>
                <a:latin typeface="Arial" panose="020B0604020202020204" pitchFamily="34" charset="0"/>
              </a:rPr>
              <a:t>Justify Content: </a:t>
            </a:r>
            <a:r>
              <a:rPr kumimoji="0" lang="en-US" altLang="en-US" sz="2000" i="0" u="none" strike="noStrike" cap="none" normalizeH="0" baseline="0" dirty="0" smtClean="0">
                <a:ln>
                  <a:noFill/>
                </a:ln>
                <a:solidFill>
                  <a:schemeClr val="tx1"/>
                </a:solidFill>
                <a:effectLst/>
                <a:latin typeface="Arial Unicode MS"/>
              </a:rPr>
              <a:t>justify-start</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justify-end</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justify-center</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justify-between</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justify-around</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justify-evenly</a:t>
            </a:r>
            <a:endParaRPr kumimoji="0" lang="en-US" altLang="en-US" sz="2000" i="0" u="none" strike="noStrike" cap="none" normalizeH="0" baseline="0" dirty="0" smtClean="0">
              <a:ln>
                <a:noFill/>
              </a:ln>
              <a:solidFill>
                <a:schemeClr val="tx1"/>
              </a:solidFill>
              <a:effectLst/>
            </a:endParaRPr>
          </a:p>
          <a:p>
            <a:pPr marL="800100" lvl="1" indent="-342900" eaLnBrk="0" fontAlgn="base" hangingPunct="0">
              <a:lnSpc>
                <a:spcPct val="100000"/>
              </a:lnSpc>
              <a:spcBef>
                <a:spcPct val="0"/>
              </a:spcBef>
              <a:spcAft>
                <a:spcPct val="0"/>
              </a:spcAft>
              <a:buClrTx/>
            </a:pPr>
            <a:r>
              <a:rPr kumimoji="0" lang="en-US" altLang="en-US" sz="2000" i="0" u="none" strike="noStrike" cap="none" normalizeH="0" baseline="0" dirty="0" smtClean="0">
                <a:ln>
                  <a:noFill/>
                </a:ln>
                <a:solidFill>
                  <a:schemeClr val="tx1"/>
                </a:solidFill>
                <a:effectLst/>
                <a:latin typeface="Arial" panose="020B0604020202020204" pitchFamily="34" charset="0"/>
              </a:rPr>
              <a:t>Aligns flex items along the main axis.</a:t>
            </a: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i="0" u="none" strike="noStrike" cap="none" normalizeH="0" baseline="0" dirty="0" smtClean="0">
                <a:ln>
                  <a:noFill/>
                </a:ln>
                <a:solidFill>
                  <a:schemeClr val="tx1"/>
                </a:solidFill>
                <a:effectLst/>
                <a:latin typeface="Arial" panose="020B0604020202020204" pitchFamily="34" charset="0"/>
              </a:rPr>
              <a:t>Flex: </a:t>
            </a:r>
            <a:r>
              <a:rPr kumimoji="0" lang="en-US" altLang="en-US" sz="2000" i="0" u="none" strike="noStrike" cap="none" normalizeH="0" baseline="0" dirty="0" smtClean="0">
                <a:ln>
                  <a:noFill/>
                </a:ln>
                <a:solidFill>
                  <a:schemeClr val="tx1"/>
                </a:solidFill>
                <a:effectLst/>
                <a:latin typeface="Arial Unicode MS"/>
              </a:rPr>
              <a:t>flex-1</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flex-auto</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flex-initial</a:t>
            </a:r>
            <a:r>
              <a:rPr kumimoji="0" lang="en-US" altLang="en-US" sz="2000" i="0" u="none" strike="noStrike" cap="none" normalizeH="0" baseline="0" dirty="0" smtClean="0">
                <a:ln>
                  <a:noFill/>
                </a:ln>
                <a:solidFill>
                  <a:schemeClr val="tx1"/>
                </a:solidFill>
                <a:effectLst/>
              </a:rPr>
              <a:t>, </a:t>
            </a:r>
            <a:r>
              <a:rPr kumimoji="0" lang="en-US" altLang="en-US" sz="2000" i="0" u="none" strike="noStrike" cap="none" normalizeH="0" baseline="0" dirty="0" smtClean="0">
                <a:ln>
                  <a:noFill/>
                </a:ln>
                <a:solidFill>
                  <a:schemeClr val="tx1"/>
                </a:solidFill>
                <a:effectLst/>
                <a:latin typeface="Arial Unicode MS"/>
              </a:rPr>
              <a:t>flex-none</a:t>
            </a:r>
            <a:endParaRPr kumimoji="0" lang="en-US" altLang="en-US" sz="2000" i="0" u="none" strike="noStrike" cap="none" normalizeH="0" baseline="0" dirty="0" smtClean="0">
              <a:ln>
                <a:noFill/>
              </a:ln>
              <a:solidFill>
                <a:schemeClr val="tx1"/>
              </a:solidFill>
              <a:effectLst/>
            </a:endParaRPr>
          </a:p>
          <a:p>
            <a:pPr marL="800100" lvl="1" indent="-342900" eaLnBrk="0" fontAlgn="base" hangingPunct="0">
              <a:lnSpc>
                <a:spcPct val="100000"/>
              </a:lnSpc>
              <a:spcBef>
                <a:spcPct val="0"/>
              </a:spcBef>
              <a:spcAft>
                <a:spcPct val="0"/>
              </a:spcAft>
              <a:buClrTx/>
            </a:pPr>
            <a:r>
              <a:rPr kumimoji="0" lang="en-US" altLang="en-US" sz="2000" i="0" u="none" strike="noStrike" cap="none" normalizeH="0" baseline="0" dirty="0" smtClean="0">
                <a:ln>
                  <a:noFill/>
                </a:ln>
                <a:solidFill>
                  <a:schemeClr val="tx1"/>
                </a:solidFill>
                <a:effectLst/>
                <a:latin typeface="Arial" panose="020B0604020202020204" pitchFamily="34" charset="0"/>
              </a:rPr>
              <a:t>Controls how flex items grow and shrink.</a:t>
            </a:r>
          </a:p>
          <a:p>
            <a:pPr eaLnBrk="0" fontAlgn="base" hangingPunct="0">
              <a:lnSpc>
                <a:spcPct val="100000"/>
              </a:lnSpc>
              <a:spcBef>
                <a:spcPct val="0"/>
              </a:spcBef>
              <a:spcAft>
                <a:spcPct val="0"/>
              </a:spcAft>
              <a:buClrTx/>
              <a:buSzTx/>
            </a:pPr>
            <a:endParaRPr kumimoji="0" lang="en-US" altLang="en-US" sz="200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54684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Grid utilities</a:t>
            </a:r>
            <a:endParaRPr lang="en-IN" dirty="0"/>
          </a:p>
        </p:txBody>
      </p:sp>
      <p:sp>
        <p:nvSpPr>
          <p:cNvPr id="5" name="Rectangle 2"/>
          <p:cNvSpPr>
            <a:spLocks noGrp="1" noChangeArrowheads="1"/>
          </p:cNvSpPr>
          <p:nvPr>
            <p:ph idx="1"/>
          </p:nvPr>
        </p:nvSpPr>
        <p:spPr bwMode="auto">
          <a:xfrm>
            <a:off x="1261872" y="2111643"/>
            <a:ext cx="921970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Grid Template Columns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Unicode MS"/>
              </a:rPr>
              <a:t>grid-cols-1</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grid-cols-2</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grid-cols-3</a:t>
            </a:r>
            <a:r>
              <a:rPr kumimoji="0" lang="en-US" altLang="en-US" sz="2000" b="0" i="0" u="none" strike="noStrike" cap="none" normalizeH="0" baseline="0" dirty="0" smtClean="0">
                <a:ln>
                  <a:noFill/>
                </a:ln>
                <a:solidFill>
                  <a:schemeClr val="tx1"/>
                </a:solidFill>
                <a:effectLst/>
              </a:rPr>
              <a:t>, ..., </a:t>
            </a:r>
            <a:r>
              <a:rPr kumimoji="0" lang="en-US" altLang="en-US" sz="2000" b="0" i="0" u="none" strike="noStrike" cap="none" normalizeH="0" baseline="0" dirty="0" smtClean="0">
                <a:ln>
                  <a:noFill/>
                </a:ln>
                <a:solidFill>
                  <a:schemeClr val="tx1"/>
                </a:solidFill>
                <a:effectLst/>
                <a:latin typeface="Arial Unicode MS"/>
              </a:rPr>
              <a:t>grid-cols-{n}</a:t>
            </a:r>
            <a:endParaRPr kumimoji="0" lang="en-US" altLang="en-US" sz="2000"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r>
              <a:rPr kumimoji="0" lang="en-US" altLang="en-US" sz="2000" b="0" i="0" u="none" strike="noStrike" cap="none" normalizeH="0" baseline="0" dirty="0" smtClean="0">
                <a:ln>
                  <a:noFill/>
                </a:ln>
                <a:solidFill>
                  <a:schemeClr val="tx1"/>
                </a:solidFill>
                <a:effectLst/>
                <a:latin typeface="Arial" panose="020B0604020202020204" pitchFamily="34" charset="0"/>
              </a:rPr>
              <a:t>Defines the number of columns in a grid.</a:t>
            </a: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Grid Column Span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Unicode MS"/>
              </a:rPr>
              <a:t>col-span-1</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col-span-2</a:t>
            </a:r>
            <a:r>
              <a:rPr kumimoji="0" lang="en-US" altLang="en-US" sz="2000" b="0" i="0" u="none" strike="noStrike" cap="none" normalizeH="0" baseline="0" dirty="0" smtClean="0">
                <a:ln>
                  <a:noFill/>
                </a:ln>
                <a:solidFill>
                  <a:schemeClr val="tx1"/>
                </a:solidFill>
                <a:effectLst/>
              </a:rPr>
              <a:t>, ..., </a:t>
            </a:r>
            <a:r>
              <a:rPr kumimoji="0" lang="en-US" altLang="en-US" sz="2000" b="0" i="0" u="none" strike="noStrike" cap="none" normalizeH="0" baseline="0" dirty="0" smtClean="0">
                <a:ln>
                  <a:noFill/>
                </a:ln>
                <a:solidFill>
                  <a:schemeClr val="tx1"/>
                </a:solidFill>
                <a:effectLst/>
                <a:latin typeface="Arial Unicode MS"/>
              </a:rPr>
              <a:t>col-span-{n}</a:t>
            </a:r>
            <a:endParaRPr kumimoji="0" lang="en-US" altLang="en-US" sz="2000"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r>
              <a:rPr kumimoji="0" lang="en-US" altLang="en-US" sz="2000" b="0" i="0" u="none" strike="noStrike" cap="none" normalizeH="0" baseline="0" dirty="0" smtClean="0">
                <a:ln>
                  <a:noFill/>
                </a:ln>
                <a:solidFill>
                  <a:schemeClr val="tx1"/>
                </a:solidFill>
                <a:effectLst/>
                <a:latin typeface="Arial" panose="020B0604020202020204" pitchFamily="34" charset="0"/>
              </a:rPr>
              <a:t>Controls how many columns an element should span.</a:t>
            </a:r>
          </a:p>
          <a:p>
            <a:pPr eaLnBrk="0" fontAlgn="base" hangingPunct="0">
              <a:lnSpc>
                <a:spcPct val="100000"/>
              </a:lnSpc>
              <a:spcBef>
                <a:spcPct val="0"/>
              </a:spcBef>
              <a:spcAft>
                <a:spcPct val="0"/>
              </a:spcAft>
              <a:buClrTx/>
              <a:buSzTx/>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Grid Template Rows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Unicode MS"/>
              </a:rPr>
              <a:t>grid-rows-1</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grid-rows-2</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grid-rows-3</a:t>
            </a:r>
            <a:r>
              <a:rPr kumimoji="0" lang="en-US" altLang="en-US" sz="2000" b="0" i="0" u="none" strike="noStrike" cap="none" normalizeH="0" baseline="0" dirty="0" smtClean="0">
                <a:ln>
                  <a:noFill/>
                </a:ln>
                <a:solidFill>
                  <a:schemeClr val="tx1"/>
                </a:solidFill>
                <a:effectLst/>
              </a:rPr>
              <a:t>, ..., </a:t>
            </a:r>
            <a:r>
              <a:rPr kumimoji="0" lang="en-US" altLang="en-US" sz="2000" b="0" i="0" u="none" strike="noStrike" cap="none" normalizeH="0" baseline="0" dirty="0" smtClean="0">
                <a:ln>
                  <a:noFill/>
                </a:ln>
                <a:solidFill>
                  <a:schemeClr val="tx1"/>
                </a:solidFill>
                <a:effectLst/>
                <a:latin typeface="Arial Unicode MS"/>
              </a:rPr>
              <a:t>grid-rows-{n}</a:t>
            </a:r>
            <a:endParaRPr kumimoji="0" lang="en-US" altLang="en-US" sz="2000"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r>
              <a:rPr kumimoji="0" lang="en-US" altLang="en-US" sz="2000" b="0" i="0" u="none" strike="noStrike" cap="none" normalizeH="0" baseline="0" dirty="0" smtClean="0">
                <a:ln>
                  <a:noFill/>
                </a:ln>
                <a:solidFill>
                  <a:schemeClr val="tx1"/>
                </a:solidFill>
                <a:effectLst/>
                <a:latin typeface="Arial" panose="020B0604020202020204" pitchFamily="34" charset="0"/>
              </a:rPr>
              <a:t>Defines the number of rows in a grid.</a:t>
            </a:r>
          </a:p>
          <a:p>
            <a:pPr eaLnBrk="0" fontAlgn="base" hangingPunct="0">
              <a:lnSpc>
                <a:spcPct val="100000"/>
              </a:lnSpc>
              <a:spcBef>
                <a:spcPct val="0"/>
              </a:spcBef>
              <a:spcAft>
                <a:spcPct val="0"/>
              </a:spcAft>
              <a:buClrTx/>
              <a:buSzTx/>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Grid Row Span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smtClean="0">
                <a:ln>
                  <a:noFill/>
                </a:ln>
                <a:solidFill>
                  <a:schemeClr val="tx1"/>
                </a:solidFill>
                <a:effectLst/>
                <a:latin typeface="Arial Unicode MS"/>
              </a:rPr>
              <a:t>row-span-1</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smtClean="0">
                <a:ln>
                  <a:noFill/>
                </a:ln>
                <a:solidFill>
                  <a:schemeClr val="tx1"/>
                </a:solidFill>
                <a:effectLst/>
                <a:latin typeface="Arial Unicode MS"/>
              </a:rPr>
              <a:t>row-span-2</a:t>
            </a:r>
            <a:r>
              <a:rPr kumimoji="0" lang="en-US" altLang="en-US" sz="2000" b="0" i="0" u="none" strike="noStrike" cap="none" normalizeH="0" baseline="0" dirty="0" smtClean="0">
                <a:ln>
                  <a:noFill/>
                </a:ln>
                <a:solidFill>
                  <a:schemeClr val="tx1"/>
                </a:solidFill>
                <a:effectLst/>
              </a:rPr>
              <a:t>, ..., </a:t>
            </a:r>
            <a:r>
              <a:rPr kumimoji="0" lang="en-US" altLang="en-US" sz="2000" b="0" i="0" u="none" strike="noStrike" cap="none" normalizeH="0" baseline="0" dirty="0" smtClean="0">
                <a:ln>
                  <a:noFill/>
                </a:ln>
                <a:solidFill>
                  <a:schemeClr val="tx1"/>
                </a:solidFill>
                <a:effectLst/>
                <a:latin typeface="Arial Unicode MS"/>
              </a:rPr>
              <a:t>row-span-{n}</a:t>
            </a:r>
            <a:endParaRPr kumimoji="0" lang="en-US" altLang="en-US" sz="2000"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r>
              <a:rPr kumimoji="0" lang="en-US" altLang="en-US" sz="2000" b="0" i="0" u="none" strike="noStrike" cap="none" normalizeH="0" baseline="0" dirty="0" smtClean="0">
                <a:ln>
                  <a:noFill/>
                </a:ln>
                <a:solidFill>
                  <a:schemeClr val="tx1"/>
                </a:solidFill>
                <a:effectLst/>
                <a:latin typeface="Arial" panose="020B0604020202020204" pitchFamily="34" charset="0"/>
              </a:rPr>
              <a:t>Controls how many rows an element should span.</a:t>
            </a: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620831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Border utilities</a:t>
            </a:r>
            <a:endParaRPr lang="en-IN" dirty="0"/>
          </a:p>
        </p:txBody>
      </p:sp>
      <p:sp>
        <p:nvSpPr>
          <p:cNvPr id="4" name="Rectangle 1"/>
          <p:cNvSpPr>
            <a:spLocks noGrp="1" noChangeArrowheads="1"/>
          </p:cNvSpPr>
          <p:nvPr>
            <p:ph idx="1"/>
          </p:nvPr>
        </p:nvSpPr>
        <p:spPr bwMode="auto">
          <a:xfrm>
            <a:off x="1261872" y="2157812"/>
            <a:ext cx="969264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Border Width</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border</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border-0</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border-2</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border-4</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border-8</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Sets the border width.</a:t>
            </a: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Border Color</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border-{color}</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Sets the border color.</a:t>
            </a:r>
          </a:p>
          <a:p>
            <a:pPr eaLnBrk="0" fontAlgn="base" hangingPunct="0">
              <a:lnSpc>
                <a:spcPct val="100000"/>
              </a:lnSpc>
              <a:spcBef>
                <a:spcPct val="0"/>
              </a:spcBef>
              <a:spcAft>
                <a:spcPct val="0"/>
              </a:spcAft>
              <a:buClrTx/>
              <a:buSzTx/>
            </a:pPr>
            <a:endParaRPr kumimoji="0" lang="en-US" altLang="en-US"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Border Radius</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rounded</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rounded-</a:t>
            </a:r>
            <a:r>
              <a:rPr kumimoji="0" lang="en-US" altLang="en-US" b="0" i="0" u="none" strike="noStrike" cap="none" normalizeH="0" baseline="0" dirty="0" err="1" smtClean="0">
                <a:ln>
                  <a:noFill/>
                </a:ln>
                <a:solidFill>
                  <a:schemeClr val="tx1"/>
                </a:solidFill>
                <a:effectLst/>
                <a:latin typeface="Arial Unicode MS"/>
              </a:rPr>
              <a:t>sm</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rounded-md</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rounded-</a:t>
            </a:r>
            <a:r>
              <a:rPr kumimoji="0" lang="en-US" altLang="en-US" b="0" i="0" u="none" strike="noStrike" cap="none" normalizeH="0" baseline="0" dirty="0" err="1" smtClean="0">
                <a:ln>
                  <a:noFill/>
                </a:ln>
                <a:solidFill>
                  <a:schemeClr val="tx1"/>
                </a:solidFill>
                <a:effectLst/>
                <a:latin typeface="Arial Unicode MS"/>
              </a:rPr>
              <a:t>lg</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rounded-xl</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rounded-2xl</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rounded-full</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Sets the border radius.</a:t>
            </a:r>
          </a:p>
          <a:p>
            <a:pPr eaLnBrk="0" fontAlgn="base" hangingPunct="0">
              <a:lnSpc>
                <a:spcPct val="100000"/>
              </a:lnSpc>
              <a:spcBef>
                <a:spcPct val="0"/>
              </a:spcBef>
              <a:spcAft>
                <a:spcPct val="0"/>
              </a:spcAft>
              <a:buClrTx/>
              <a:buSzTx/>
            </a:pPr>
            <a:endParaRPr kumimoji="0" lang="en-US" altLang="en-US"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Border Style</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border-solid</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border-dashed</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border-dotted</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Sets the border style.</a:t>
            </a: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89402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Sizing utilities</a:t>
            </a:r>
            <a:endParaRPr lang="en-IN" dirty="0"/>
          </a:p>
        </p:txBody>
      </p:sp>
      <p:sp>
        <p:nvSpPr>
          <p:cNvPr id="4" name="Rectangle 1"/>
          <p:cNvSpPr>
            <a:spLocks noGrp="1" noChangeArrowheads="1"/>
          </p:cNvSpPr>
          <p:nvPr>
            <p:ph idx="1"/>
          </p:nvPr>
        </p:nvSpPr>
        <p:spPr bwMode="auto">
          <a:xfrm>
            <a:off x="1261872" y="2034699"/>
            <a:ext cx="7223131"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FontTx/>
              <a:buChar char="•"/>
            </a:pPr>
            <a:r>
              <a:rPr kumimoji="0" lang="en-US" altLang="en-US" sz="2000" b="1" i="0" u="none" strike="noStrike" cap="none" normalizeH="0" baseline="0" dirty="0" smtClean="0">
                <a:ln>
                  <a:noFill/>
                </a:ln>
                <a:solidFill>
                  <a:schemeClr val="tx1"/>
                </a:solidFill>
                <a:effectLst/>
                <a:latin typeface="Arial" panose="020B0604020202020204" pitchFamily="34" charset="0"/>
              </a:rPr>
              <a:t>Width</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width of an element.</a:t>
            </a:r>
          </a:p>
          <a:p>
            <a:pPr marL="274320" lvl="1" indent="0" eaLnBrk="0" fontAlgn="base" hangingPunct="0">
              <a:lnSpc>
                <a:spcPct val="100000"/>
              </a:lnSpc>
              <a:spcBef>
                <a:spcPct val="0"/>
              </a:spcBef>
              <a:spcAft>
                <a:spcPct val="0"/>
              </a:spcAft>
              <a:buClrTx/>
              <a:buFontTx/>
              <a:buChar char="•"/>
            </a:pPr>
            <a:r>
              <a:rPr kumimoji="0" lang="en-US" altLang="en-US" sz="1800" b="0" i="0" u="none" strike="noStrike" cap="none" normalizeH="0" baseline="0" dirty="0" smtClean="0">
                <a:ln>
                  <a:noFill/>
                </a:ln>
                <a:solidFill>
                  <a:schemeClr val="tx1"/>
                </a:solidFill>
                <a:effectLst/>
                <a:latin typeface="Arial Unicode MS"/>
              </a:rPr>
              <a:t>w-{size}</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w-auto</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w-full</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w-screen</a:t>
            </a:r>
          </a:p>
          <a:p>
            <a:pPr marL="274320" lvl="1" indent="0" eaLnBrk="0" fontAlgn="base" hangingPunct="0">
              <a:lnSpc>
                <a:spcPct val="100000"/>
              </a:lnSpc>
              <a:spcBef>
                <a:spcPct val="0"/>
              </a:spcBef>
              <a:spcAft>
                <a:spcPct val="0"/>
              </a:spcAft>
              <a:buClrTx/>
              <a:buFontTx/>
              <a:buChar char="•"/>
            </a:pPr>
            <a:r>
              <a:rPr lang="en-US" altLang="en-US" sz="1800" dirty="0" smtClean="0"/>
              <a:t>E.g</a:t>
            </a:r>
            <a:r>
              <a:rPr lang="en-US" altLang="en-US" sz="1800" dirty="0"/>
              <a:t>., </a:t>
            </a:r>
            <a:r>
              <a:rPr lang="en-US" altLang="en-US" sz="1800" dirty="0">
                <a:latin typeface="Arial Unicode MS"/>
              </a:rPr>
              <a:t>w-1/2</a:t>
            </a:r>
            <a:r>
              <a:rPr lang="en-US" altLang="en-US" sz="1800" dirty="0"/>
              <a:t> sets the width to 50% of the parent container.</a:t>
            </a:r>
            <a:r>
              <a:rPr lang="en-US" altLang="en-US" sz="1800"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SzTx/>
              <a:buFontTx/>
              <a:buChar char="•"/>
            </a:pPr>
            <a:r>
              <a:rPr kumimoji="0" lang="en-US" altLang="en-US" sz="2000" b="1" i="0" u="none" strike="noStrike" cap="none" normalizeH="0" baseline="0" dirty="0" smtClean="0">
                <a:ln>
                  <a:noFill/>
                </a:ln>
                <a:solidFill>
                  <a:schemeClr val="tx1"/>
                </a:solidFill>
                <a:effectLst/>
                <a:latin typeface="Arial" panose="020B0604020202020204" pitchFamily="34" charset="0"/>
              </a:rPr>
              <a:t>Height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height of an element.</a:t>
            </a:r>
          </a:p>
          <a:p>
            <a:pPr marL="274320" lvl="1" indent="0" eaLnBrk="0" fontAlgn="base" hangingPunct="0">
              <a:lnSpc>
                <a:spcPct val="100000"/>
              </a:lnSpc>
              <a:spcBef>
                <a:spcPct val="0"/>
              </a:spcBef>
              <a:spcAft>
                <a:spcPct val="0"/>
              </a:spcAft>
              <a:buClrTx/>
              <a:buFontTx/>
              <a:buChar char="•"/>
            </a:pPr>
            <a:r>
              <a:rPr kumimoji="0" lang="en-US" altLang="en-US" sz="1800" b="0" i="0" u="none" strike="noStrike" cap="none" normalizeH="0" baseline="0" dirty="0" smtClean="0">
                <a:ln>
                  <a:noFill/>
                </a:ln>
                <a:solidFill>
                  <a:schemeClr val="tx1"/>
                </a:solidFill>
                <a:effectLst/>
                <a:latin typeface="Arial Unicode MS"/>
              </a:rPr>
              <a:t>h-{size}</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h-auto</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h-full</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h-screen</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SzTx/>
              <a:buFontTx/>
              <a:buChar char="•"/>
            </a:pPr>
            <a:r>
              <a:rPr kumimoji="0" lang="en-US" altLang="en-US" sz="2000" b="1" i="0" u="none" strike="noStrike" cap="none" normalizeH="0" baseline="0" dirty="0" smtClean="0">
                <a:ln>
                  <a:noFill/>
                </a:ln>
                <a:solidFill>
                  <a:schemeClr val="tx1"/>
                </a:solidFill>
                <a:effectLst/>
                <a:latin typeface="Arial" panose="020B0604020202020204" pitchFamily="34" charset="0"/>
              </a:rPr>
              <a:t>Max Width</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maximum width of an element.</a:t>
            </a:r>
          </a:p>
          <a:p>
            <a:pPr marL="274320" lvl="1" indent="0" eaLnBrk="0" fontAlgn="base" hangingPunct="0">
              <a:lnSpc>
                <a:spcPct val="100000"/>
              </a:lnSpc>
              <a:spcBef>
                <a:spcPct val="0"/>
              </a:spcBef>
              <a:spcAft>
                <a:spcPct val="0"/>
              </a:spcAft>
              <a:buClrTx/>
              <a:buFontTx/>
              <a:buChar char="•"/>
            </a:pPr>
            <a:r>
              <a:rPr kumimoji="0" lang="en-US" altLang="en-US" sz="1800" b="0" i="0" u="none" strike="noStrike" cap="none" normalizeH="0" baseline="0" dirty="0" smtClean="0">
                <a:ln>
                  <a:noFill/>
                </a:ln>
                <a:solidFill>
                  <a:schemeClr val="tx1"/>
                </a:solidFill>
                <a:effectLst/>
                <a:latin typeface="Arial Unicode MS"/>
              </a:rPr>
              <a:t>max-w-</a:t>
            </a:r>
            <a:r>
              <a:rPr kumimoji="0" lang="en-US" altLang="en-US" sz="1800" b="0" i="0" u="none" strike="noStrike" cap="none" normalizeH="0" baseline="0" dirty="0" err="1" smtClean="0">
                <a:ln>
                  <a:noFill/>
                </a:ln>
                <a:solidFill>
                  <a:schemeClr val="tx1"/>
                </a:solidFill>
                <a:effectLst/>
                <a:latin typeface="Arial Unicode MS"/>
              </a:rPr>
              <a:t>xs</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max-w-</a:t>
            </a:r>
            <a:r>
              <a:rPr kumimoji="0" lang="en-US" altLang="en-US" sz="1800" b="0" i="0" u="none" strike="noStrike" cap="none" normalizeH="0" baseline="0" dirty="0" err="1" smtClean="0">
                <a:ln>
                  <a:noFill/>
                </a:ln>
                <a:solidFill>
                  <a:schemeClr val="tx1"/>
                </a:solidFill>
                <a:effectLst/>
                <a:latin typeface="Arial Unicode MS"/>
              </a:rPr>
              <a:t>sm</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max-w-md</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max-w-</a:t>
            </a:r>
            <a:r>
              <a:rPr kumimoji="0" lang="en-US" altLang="en-US" sz="1800" b="0" i="0" u="none" strike="noStrike" cap="none" normalizeH="0" baseline="0" dirty="0" err="1" smtClean="0">
                <a:ln>
                  <a:noFill/>
                </a:ln>
                <a:solidFill>
                  <a:schemeClr val="tx1"/>
                </a:solidFill>
                <a:effectLst/>
                <a:latin typeface="Arial Unicode MS"/>
              </a:rPr>
              <a:t>lg</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max-w-xl</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max-w-full</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SzTx/>
              <a:buFontTx/>
              <a:buChar char="•"/>
            </a:pPr>
            <a:r>
              <a:rPr kumimoji="0" lang="en-US" altLang="en-US" sz="2000" b="1" i="0" u="none" strike="noStrike" cap="none" normalizeH="0" baseline="0" dirty="0" smtClean="0">
                <a:ln>
                  <a:noFill/>
                </a:ln>
                <a:solidFill>
                  <a:schemeClr val="tx1"/>
                </a:solidFill>
                <a:effectLst/>
                <a:latin typeface="Arial" panose="020B0604020202020204" pitchFamily="34" charset="0"/>
              </a:rPr>
              <a:t>Max Height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maximum height of an element.</a:t>
            </a:r>
          </a:p>
          <a:p>
            <a:pPr marL="274320" lvl="1" indent="0" eaLnBrk="0" fontAlgn="base" hangingPunct="0">
              <a:lnSpc>
                <a:spcPct val="100000"/>
              </a:lnSpc>
              <a:spcBef>
                <a:spcPct val="0"/>
              </a:spcBef>
              <a:spcAft>
                <a:spcPct val="0"/>
              </a:spcAft>
              <a:buClrTx/>
              <a:buFontTx/>
              <a:buChar char="•"/>
            </a:pPr>
            <a:r>
              <a:rPr kumimoji="0" lang="en-US" altLang="en-US" sz="1800" b="0" i="0" u="none" strike="noStrike" cap="none" normalizeH="0" baseline="0" dirty="0" smtClean="0">
                <a:ln>
                  <a:noFill/>
                </a:ln>
                <a:solidFill>
                  <a:schemeClr val="tx1"/>
                </a:solidFill>
                <a:effectLst/>
                <a:latin typeface="Arial Unicode MS"/>
              </a:rPr>
              <a:t>max-h-screen</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max-h-full</a:t>
            </a: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19376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0"/>
            <a:ext cx="9692640" cy="1325562"/>
          </a:xfrm>
        </p:spPr>
        <p:txBody>
          <a:bodyPr/>
          <a:lstStyle/>
          <a:p>
            <a:r>
              <a:rPr lang="en-IN" dirty="0" smtClean="0"/>
              <a:t>Typography utilities</a:t>
            </a:r>
            <a:endParaRPr lang="en-IN" dirty="0"/>
          </a:p>
        </p:txBody>
      </p:sp>
      <p:sp>
        <p:nvSpPr>
          <p:cNvPr id="4" name="Rectangle 1"/>
          <p:cNvSpPr>
            <a:spLocks noGrp="1" noChangeArrowheads="1"/>
          </p:cNvSpPr>
          <p:nvPr>
            <p:ph idx="1"/>
          </p:nvPr>
        </p:nvSpPr>
        <p:spPr bwMode="auto">
          <a:xfrm>
            <a:off x="1261872" y="1588424"/>
            <a:ext cx="967444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Font Size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font size.</a:t>
            </a: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Unicode MS"/>
              </a:rPr>
              <a:t>text-</a:t>
            </a:r>
            <a:r>
              <a:rPr kumimoji="0" lang="en-US" altLang="en-US" sz="1800" b="0" i="0" u="none" strike="noStrike" cap="none" normalizeH="0" baseline="0" dirty="0" err="1" smtClean="0">
                <a:ln>
                  <a:noFill/>
                </a:ln>
                <a:solidFill>
                  <a:schemeClr val="tx1"/>
                </a:solidFill>
                <a:effectLst/>
                <a:latin typeface="Arial Unicode MS"/>
              </a:rPr>
              <a:t>xs</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text-</a:t>
            </a:r>
            <a:r>
              <a:rPr kumimoji="0" lang="en-US" altLang="en-US" sz="1800" b="0" i="0" u="none" strike="noStrike" cap="none" normalizeH="0" baseline="0" dirty="0" err="1" smtClean="0">
                <a:ln>
                  <a:noFill/>
                </a:ln>
                <a:solidFill>
                  <a:schemeClr val="tx1"/>
                </a:solidFill>
                <a:effectLst/>
                <a:latin typeface="Arial Unicode MS"/>
              </a:rPr>
              <a:t>sm</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text-base</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text-</a:t>
            </a:r>
            <a:r>
              <a:rPr kumimoji="0" lang="en-US" altLang="en-US" sz="1800" b="0" i="0" u="none" strike="noStrike" cap="none" normalizeH="0" baseline="0" dirty="0" err="1" smtClean="0">
                <a:ln>
                  <a:noFill/>
                </a:ln>
                <a:solidFill>
                  <a:schemeClr val="tx1"/>
                </a:solidFill>
                <a:effectLst/>
                <a:latin typeface="Arial Unicode MS"/>
              </a:rPr>
              <a:t>lg</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text-xl</a:t>
            </a:r>
            <a:r>
              <a:rPr kumimoji="0" lang="en-US" altLang="en-US" sz="1800" b="0" i="0" u="none" strike="noStrike" cap="none" normalizeH="0" baseline="0" dirty="0" smtClean="0">
                <a:ln>
                  <a:noFill/>
                </a:ln>
                <a:solidFill>
                  <a:schemeClr val="tx1"/>
                </a:solidFill>
                <a:effectLst/>
              </a:rPr>
              <a:t>, ..., </a:t>
            </a:r>
            <a:r>
              <a:rPr kumimoji="0" lang="en-US" altLang="en-US" sz="1800" b="0" i="0" u="none" strike="noStrike" cap="none" normalizeH="0" baseline="0" dirty="0" smtClean="0">
                <a:ln>
                  <a:noFill/>
                </a:ln>
                <a:solidFill>
                  <a:schemeClr val="tx1"/>
                </a:solidFill>
                <a:effectLst/>
                <a:latin typeface="Arial Unicode MS"/>
              </a:rPr>
              <a:t>text-9xl</a:t>
            </a:r>
            <a:endParaRPr kumimoji="0" lang="en-US" altLang="en-US" sz="1800"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Font Weight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font </a:t>
            </a:r>
            <a:r>
              <a:rPr lang="en-US" altLang="en-US" sz="2000" dirty="0" smtClean="0">
                <a:latin typeface="Arial" panose="020B0604020202020204" pitchFamily="34" charset="0"/>
              </a:rPr>
              <a:t>weight.</a:t>
            </a: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Unicode MS"/>
              </a:rPr>
              <a:t>font-thin</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font-</a:t>
            </a:r>
            <a:r>
              <a:rPr kumimoji="0" lang="en-US" altLang="en-US" sz="1800" b="0" i="0" u="none" strike="noStrike" cap="none" normalizeH="0" baseline="0" dirty="0" err="1" smtClean="0">
                <a:ln>
                  <a:noFill/>
                </a:ln>
                <a:solidFill>
                  <a:schemeClr val="tx1"/>
                </a:solidFill>
                <a:effectLst/>
                <a:latin typeface="Arial Unicode MS"/>
              </a:rPr>
              <a:t>extralight</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font-light</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font-normal</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font-medium</a:t>
            </a:r>
            <a:r>
              <a:rPr kumimoji="0" lang="en-US" altLang="en-US" sz="1800" b="0" i="0" u="none" strike="noStrike" cap="none" normalizeH="0" baseline="0" dirty="0" smtClean="0">
                <a:ln>
                  <a:noFill/>
                </a:ln>
                <a:solidFill>
                  <a:schemeClr val="tx1"/>
                </a:solidFill>
                <a:effectLst/>
              </a:rPr>
              <a:t>, </a:t>
            </a:r>
          </a:p>
          <a:p>
            <a:pPr lvl="1" eaLnBrk="0" fontAlgn="base" hangingPunct="0">
              <a:lnSpc>
                <a:spcPct val="100000"/>
              </a:lnSpc>
              <a:spcBef>
                <a:spcPct val="0"/>
              </a:spcBef>
              <a:spcAft>
                <a:spcPct val="0"/>
              </a:spcAft>
              <a:buClrTx/>
            </a:pPr>
            <a:r>
              <a:rPr lang="en-US" altLang="en-US" sz="1800" dirty="0">
                <a:solidFill>
                  <a:schemeClr val="tx1"/>
                </a:solidFill>
                <a:latin typeface="Arial Unicode MS"/>
              </a:rPr>
              <a:t>font-</a:t>
            </a:r>
            <a:r>
              <a:rPr lang="en-US" altLang="en-US" sz="1800" dirty="0" err="1">
                <a:solidFill>
                  <a:schemeClr val="tx1"/>
                </a:solidFill>
                <a:latin typeface="Arial Unicode MS"/>
              </a:rPr>
              <a:t>semibold</a:t>
            </a:r>
            <a:r>
              <a:rPr lang="en-US" altLang="en-US" sz="1800" dirty="0">
                <a:solidFill>
                  <a:schemeClr val="tx1"/>
                </a:solidFill>
                <a:latin typeface="Arial Unicode MS"/>
              </a:rPr>
              <a:t>, font-bold, font-extrabold, font-black</a:t>
            </a:r>
          </a:p>
          <a:p>
            <a:pPr eaLnBrk="0" fontAlgn="base" hangingPunct="0">
              <a:lnSpc>
                <a:spcPct val="100000"/>
              </a:lnSpc>
              <a:spcBef>
                <a:spcPct val="0"/>
              </a:spcBef>
              <a:spcAft>
                <a:spcPct val="0"/>
              </a:spcAft>
              <a:buClrTx/>
              <a:buSzTx/>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Line Height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line height. </a:t>
            </a:r>
            <a:endParaRPr lang="en-US" altLang="en-US" sz="2000" dirty="0" smtClean="0">
              <a:latin typeface="Arial" panose="020B0604020202020204" pitchFamily="34" charset="0"/>
            </a:endParaRP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Unicode MS"/>
              </a:rPr>
              <a:t>leading-none</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leading-tight</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leading-snug</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leading-normal</a:t>
            </a:r>
            <a:r>
              <a:rPr kumimoji="0" lang="en-US" altLang="en-US" sz="1800" b="0" i="0" u="none" strike="noStrike" cap="none" normalizeH="0" baseline="0" dirty="0" smtClean="0">
                <a:ln>
                  <a:noFill/>
                </a:ln>
                <a:solidFill>
                  <a:schemeClr val="tx1"/>
                </a:solidFill>
                <a:effectLst/>
              </a:rPr>
              <a:t>, </a:t>
            </a:r>
            <a:r>
              <a:rPr lang="en-US" altLang="en-US" sz="1800" dirty="0">
                <a:solidFill>
                  <a:schemeClr val="tx1"/>
                </a:solidFill>
                <a:latin typeface="Arial Unicode MS"/>
              </a:rPr>
              <a:t>leading-relaxed, leading-loose</a:t>
            </a:r>
          </a:p>
          <a:p>
            <a:pPr eaLnBrk="0" fontAlgn="base" hangingPunct="0">
              <a:lnSpc>
                <a:spcPct val="100000"/>
              </a:lnSpc>
              <a:spcBef>
                <a:spcPct val="0"/>
              </a:spcBef>
              <a:spcAft>
                <a:spcPct val="0"/>
              </a:spcAft>
              <a:buClrTx/>
              <a:buSzTx/>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Text Color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text color.</a:t>
            </a: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Unicode MS"/>
              </a:rPr>
              <a:t>text-{color}</a:t>
            </a:r>
            <a:endParaRPr kumimoji="0" lang="en-US" altLang="en-US" sz="1800"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Text Alignment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lang="en-US" altLang="en-US" sz="2000" dirty="0">
                <a:latin typeface="Arial" panose="020B0604020202020204" pitchFamily="34" charset="0"/>
              </a:rPr>
              <a:t>Sets the text </a:t>
            </a:r>
            <a:r>
              <a:rPr lang="en-US" altLang="en-US" sz="2000" dirty="0" smtClean="0">
                <a:latin typeface="Arial" panose="020B0604020202020204" pitchFamily="34" charset="0"/>
              </a:rPr>
              <a:t>alignment.</a:t>
            </a: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Unicode MS"/>
              </a:rPr>
              <a:t>text-left</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text-center</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text-right</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smtClean="0">
                <a:ln>
                  <a:noFill/>
                </a:ln>
                <a:solidFill>
                  <a:schemeClr val="tx1"/>
                </a:solidFill>
                <a:effectLst/>
                <a:latin typeface="Arial Unicode MS"/>
              </a:rPr>
              <a:t>text-justify</a:t>
            </a:r>
            <a:endParaRPr kumimoji="0" lang="en-US" altLang="en-US" sz="1800" b="0" i="0" u="none" strike="noStrike" cap="none" normalizeH="0" baseline="0" dirty="0" smtClean="0">
              <a:ln>
                <a:noFill/>
              </a:ln>
              <a:solidFill>
                <a:schemeClr val="tx1"/>
              </a:solidFill>
              <a:effectLst/>
            </a:endParaRP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15813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Background utilities</a:t>
            </a:r>
            <a:endParaRPr lang="en-IN" dirty="0"/>
          </a:p>
        </p:txBody>
      </p:sp>
      <p:sp>
        <p:nvSpPr>
          <p:cNvPr id="4" name="Rectangle 1"/>
          <p:cNvSpPr>
            <a:spLocks noGrp="1" noChangeArrowheads="1"/>
          </p:cNvSpPr>
          <p:nvPr>
            <p:ph idx="1"/>
          </p:nvPr>
        </p:nvSpPr>
        <p:spPr bwMode="auto">
          <a:xfrm>
            <a:off x="1261872" y="2111643"/>
            <a:ext cx="862864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Background Color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-{color}</a:t>
            </a:r>
            <a:endParaRPr kumimoji="0" lang="en-US" altLang="en-US" sz="2000"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panose="020B0604020202020204" pitchFamily="34" charset="0"/>
              </a:rPr>
              <a:t>Sets the background color.</a:t>
            </a: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Background Position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-top</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-center</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-bottom</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-left</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-right</a:t>
            </a:r>
            <a:endParaRPr kumimoji="0" lang="en-US" altLang="en-US" sz="2000"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panose="020B0604020202020204" pitchFamily="34" charset="0"/>
              </a:rPr>
              <a:t>Sets the position of the background image.</a:t>
            </a:r>
          </a:p>
          <a:p>
            <a:pPr eaLnBrk="0" fontAlgn="base" hangingPunct="0">
              <a:lnSpc>
                <a:spcPct val="100000"/>
              </a:lnSpc>
              <a:spcBef>
                <a:spcPct val="0"/>
              </a:spcBef>
              <a:spcAft>
                <a:spcPct val="0"/>
              </a:spcAft>
              <a:buClrTx/>
              <a:buSzTx/>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Background Size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-cover</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-contain</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-auto</a:t>
            </a:r>
            <a:endParaRPr kumimoji="0" lang="en-US" altLang="en-US" sz="2000"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panose="020B0604020202020204" pitchFamily="34" charset="0"/>
              </a:rPr>
              <a:t>Sets the size of the background image.</a:t>
            </a:r>
          </a:p>
          <a:p>
            <a:pPr eaLnBrk="0" fontAlgn="base" hangingPunct="0">
              <a:lnSpc>
                <a:spcPct val="100000"/>
              </a:lnSpc>
              <a:spcBef>
                <a:spcPct val="0"/>
              </a:spcBef>
              <a:spcAft>
                <a:spcPct val="0"/>
              </a:spcAft>
              <a:buClrTx/>
              <a:buSzTx/>
            </a:pP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Arial" panose="020B0604020202020204" pitchFamily="34" charset="0"/>
              </a:rPr>
              <a:t>Background Repeat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-repeat</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-no-repeat</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-repeat-x</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bg</a:t>
            </a:r>
            <a:r>
              <a:rPr kumimoji="0" lang="en-US" altLang="en-US" sz="2000" b="0" i="0" u="none" strike="noStrike" cap="none" normalizeH="0" baseline="0" dirty="0" smtClean="0">
                <a:ln>
                  <a:noFill/>
                </a:ln>
                <a:solidFill>
                  <a:schemeClr val="tx1"/>
                </a:solidFill>
                <a:effectLst/>
                <a:latin typeface="Arial Unicode MS"/>
              </a:rPr>
              <a:t>-repeat-y</a:t>
            </a:r>
            <a:endParaRPr kumimoji="0" lang="en-US" altLang="en-US" sz="2000"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sz="1800" b="0" i="0" u="none" strike="noStrike" cap="none" normalizeH="0" baseline="0" dirty="0" smtClean="0">
                <a:ln>
                  <a:noFill/>
                </a:ln>
                <a:solidFill>
                  <a:schemeClr val="tx1"/>
                </a:solidFill>
                <a:effectLst/>
                <a:latin typeface="Arial" panose="020B0604020202020204" pitchFamily="34" charset="0"/>
              </a:rPr>
              <a:t>Sets the repeat behavior of the background image.</a:t>
            </a:r>
          </a:p>
          <a:p>
            <a:pPr eaLnBrk="0" fontAlgn="base"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26483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Shadow utilities</a:t>
            </a:r>
            <a:endParaRPr lang="en-IN" dirty="0"/>
          </a:p>
        </p:txBody>
      </p:sp>
      <p:sp>
        <p:nvSpPr>
          <p:cNvPr id="4" name="Rectangle 1"/>
          <p:cNvSpPr>
            <a:spLocks noGrp="1" noChangeArrowheads="1"/>
          </p:cNvSpPr>
          <p:nvPr>
            <p:ph idx="1"/>
          </p:nvPr>
        </p:nvSpPr>
        <p:spPr bwMode="auto">
          <a:xfrm>
            <a:off x="1261872" y="2204503"/>
            <a:ext cx="926576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Box Shadow</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shadow-</a:t>
            </a:r>
            <a:r>
              <a:rPr kumimoji="0" lang="en-US" altLang="en-US" b="0" i="0" u="none" strike="noStrike" cap="none" normalizeH="0" baseline="0" dirty="0" err="1" smtClean="0">
                <a:ln>
                  <a:noFill/>
                </a:ln>
                <a:solidFill>
                  <a:schemeClr val="tx1"/>
                </a:solidFill>
                <a:effectLst/>
                <a:latin typeface="Arial Unicode MS"/>
              </a:rPr>
              <a:t>sm</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shadow</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shadow-md</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shadow-</a:t>
            </a:r>
            <a:r>
              <a:rPr kumimoji="0" lang="en-US" altLang="en-US" b="0" i="0" u="none" strike="noStrike" cap="none" normalizeH="0" baseline="0" dirty="0" err="1" smtClean="0">
                <a:ln>
                  <a:noFill/>
                </a:ln>
                <a:solidFill>
                  <a:schemeClr val="tx1"/>
                </a:solidFill>
                <a:effectLst/>
                <a:latin typeface="Arial Unicode MS"/>
              </a:rPr>
              <a:t>lg</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shadow-xl</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shadow-2xl</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shadow-inner</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shadow-outline</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Adds shadow effects to elements.</a:t>
            </a:r>
          </a:p>
          <a:p>
            <a:pPr eaLnBrk="0" fontAlgn="base" hangingPunct="0">
              <a:lnSpc>
                <a:spcPct val="100000"/>
              </a:lnSpc>
              <a:spcBef>
                <a:spcPct val="0"/>
              </a:spcBef>
              <a:spcAft>
                <a:spcPct val="0"/>
              </a:spcAft>
              <a:buClrTx/>
              <a:buSzTx/>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43009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Positioning utilities</a:t>
            </a:r>
            <a:endParaRPr lang="en-IN" dirty="0"/>
          </a:p>
        </p:txBody>
      </p:sp>
      <p:sp>
        <p:nvSpPr>
          <p:cNvPr id="5" name="Rectangle 2"/>
          <p:cNvSpPr>
            <a:spLocks noGrp="1" noChangeArrowheads="1"/>
          </p:cNvSpPr>
          <p:nvPr>
            <p:ph idx="1"/>
          </p:nvPr>
        </p:nvSpPr>
        <p:spPr bwMode="auto">
          <a:xfrm>
            <a:off x="1261872" y="2326797"/>
            <a:ext cx="756059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Position</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static</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relative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absolute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fixed</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sticky</a:t>
            </a:r>
            <a:endParaRPr kumimoji="0" lang="en-US" alt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Arial" panose="020B0604020202020204" pitchFamily="34" charset="0"/>
              </a:rPr>
              <a:t>Sets the positioning of an element.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Top/Right/Bottom/Left</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top-{size}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right-{size}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bottom-{size}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left-{size}</a:t>
            </a:r>
            <a:endParaRPr kumimoji="0" lang="en-US" alt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Arial" panose="020B0604020202020204" pitchFamily="34" charset="0"/>
              </a:rPr>
              <a:t>Sets the offset from the edges of the positioned container.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Z-Index</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z-{index}</a:t>
            </a:r>
            <a:endParaRPr kumimoji="0" lang="en-US" alt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smtClean="0">
                <a:ln>
                  <a:noFill/>
                </a:ln>
                <a:solidFill>
                  <a:schemeClr val="tx1"/>
                </a:solidFill>
                <a:effectLst/>
                <a:latin typeface="Arial" panose="020B0604020202020204" pitchFamily="34" charset="0"/>
              </a:rPr>
              <a:t>Controls the stacking order of elements.</a:t>
            </a:r>
          </a:p>
          <a:p>
            <a:pPr marL="0" indent="0" eaLnBrk="0" fontAlgn="base" hangingPunct="0">
              <a:lnSpc>
                <a:spcPct val="100000"/>
              </a:lnSpc>
              <a:spcBef>
                <a:spcPct val="0"/>
              </a:spcBef>
              <a:spcAft>
                <a:spcPct val="0"/>
              </a:spcAft>
              <a:buClrTx/>
              <a:buSzTx/>
              <a:buNone/>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03310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Transition and Animation Utilities</a:t>
            </a:r>
          </a:p>
        </p:txBody>
      </p:sp>
      <p:sp>
        <p:nvSpPr>
          <p:cNvPr id="4" name="Rectangle 1"/>
          <p:cNvSpPr>
            <a:spLocks noGrp="1" noChangeArrowheads="1"/>
          </p:cNvSpPr>
          <p:nvPr>
            <p:ph idx="1"/>
          </p:nvPr>
        </p:nvSpPr>
        <p:spPr bwMode="auto">
          <a:xfrm>
            <a:off x="1357122" y="2236332"/>
            <a:ext cx="922966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Transition Property</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transition-all</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transition-none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transition-colors</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transition-opacity</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transition-transform</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Sets which properties should transition.</a:t>
            </a: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Animation</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animate-spin</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animate-ping</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animate-pulse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animate-bounce</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Applies predefined animations to elements.</a:t>
            </a: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04136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Miscellaneous utilities</a:t>
            </a:r>
            <a:endParaRPr lang="en-IN" dirty="0"/>
          </a:p>
        </p:txBody>
      </p:sp>
      <p:sp>
        <p:nvSpPr>
          <p:cNvPr id="4" name="Rectangle 1"/>
          <p:cNvSpPr>
            <a:spLocks noGrp="1" noChangeArrowheads="1"/>
          </p:cNvSpPr>
          <p:nvPr>
            <p:ph idx="1"/>
          </p:nvPr>
        </p:nvSpPr>
        <p:spPr bwMode="auto">
          <a:xfrm>
            <a:off x="1404747" y="2048660"/>
            <a:ext cx="820096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Opacity</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opacity-{value}</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Controls the opacity of elements.</a:t>
            </a: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Visibility</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visible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invisible</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Controls the visibility of elements.</a:t>
            </a:r>
          </a:p>
          <a:p>
            <a:pPr eaLnBrk="0" fontAlgn="base" hangingPunct="0">
              <a:lnSpc>
                <a:spcPct val="100000"/>
              </a:lnSpc>
              <a:spcBef>
                <a:spcPct val="0"/>
              </a:spcBef>
              <a:spcAft>
                <a:spcPct val="0"/>
              </a:spcAft>
              <a:buClrTx/>
              <a:buSzTx/>
            </a:pPr>
            <a:endParaRPr kumimoji="0" lang="en-US" altLang="en-US"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Overflow</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overflow-auto</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overflow-hidden</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overflow-visible</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overflow-scroll</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Controls the overflow behavior of elements.</a:t>
            </a:r>
          </a:p>
          <a:p>
            <a:pPr eaLnBrk="0" fontAlgn="base" hangingPunct="0">
              <a:lnSpc>
                <a:spcPct val="100000"/>
              </a:lnSpc>
              <a:spcBef>
                <a:spcPct val="0"/>
              </a:spcBef>
              <a:spcAft>
                <a:spcPct val="0"/>
              </a:spcAft>
              <a:buClrTx/>
              <a:buSzTx/>
            </a:pPr>
            <a:endParaRPr kumimoji="0" lang="en-US" altLang="en-US"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b="1" i="0" u="none" strike="noStrike" cap="none" normalizeH="0" baseline="0" dirty="0" smtClean="0">
                <a:ln>
                  <a:noFill/>
                </a:ln>
                <a:solidFill>
                  <a:schemeClr val="tx1"/>
                </a:solidFill>
                <a:effectLst/>
                <a:latin typeface="Arial" panose="020B0604020202020204" pitchFamily="34" charset="0"/>
              </a:rPr>
              <a:t>Cursor</a:t>
            </a:r>
            <a:r>
              <a:rPr kumimoji="0" lang="en-US" altLang="en-US" b="0" i="0" u="none" strike="noStrike" cap="none" normalizeH="0" baseline="0" dirty="0" smtClean="0">
                <a:ln>
                  <a:noFill/>
                </a:ln>
                <a:solidFill>
                  <a:schemeClr val="tx1"/>
                </a:solidFill>
                <a:effectLst/>
                <a:latin typeface="Arial" panose="020B0604020202020204" pitchFamily="34" charset="0"/>
              </a:rPr>
              <a:t>: </a:t>
            </a:r>
            <a:r>
              <a:rPr kumimoji="0" lang="en-US" altLang="en-US" b="0" i="0" u="none" strike="noStrike" cap="none" normalizeH="0" baseline="0" dirty="0" smtClean="0">
                <a:ln>
                  <a:noFill/>
                </a:ln>
                <a:solidFill>
                  <a:schemeClr val="tx1"/>
                </a:solidFill>
                <a:effectLst/>
                <a:latin typeface="Arial Unicode MS"/>
              </a:rPr>
              <a:t>cursor-pointer</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cursor-default</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cursor-wait</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cursor-text</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smtClean="0">
                <a:ln>
                  <a:noFill/>
                </a:ln>
                <a:solidFill>
                  <a:schemeClr val="tx1"/>
                </a:solidFill>
                <a:effectLst/>
                <a:latin typeface="Arial Unicode MS"/>
              </a:rPr>
              <a:t>cursor-move</a:t>
            </a:r>
            <a:endParaRPr kumimoji="0" lang="en-US" altLang="en-US" b="0" i="0" u="none" strike="noStrike" cap="none" normalizeH="0" baseline="0" dirty="0" smtClean="0">
              <a:ln>
                <a:noFill/>
              </a:ln>
              <a:solidFill>
                <a:schemeClr val="tx1"/>
              </a:solidFill>
              <a:effectLst/>
            </a:endParaRPr>
          </a:p>
          <a:p>
            <a:pPr lvl="1" eaLnBrk="0" fontAlgn="base" hangingPunct="0">
              <a:lnSpc>
                <a:spcPct val="100000"/>
              </a:lnSpc>
              <a:spcBef>
                <a:spcPct val="0"/>
              </a:spcBef>
              <a:spcAft>
                <a:spcPct val="0"/>
              </a:spcAft>
              <a:buClrTx/>
            </a:pPr>
            <a:r>
              <a:rPr kumimoji="0" lang="en-US" altLang="en-US" b="0" i="0" u="none" strike="noStrike" cap="none" normalizeH="0" baseline="0" dirty="0" smtClean="0">
                <a:ln>
                  <a:noFill/>
                </a:ln>
                <a:solidFill>
                  <a:schemeClr val="tx1"/>
                </a:solidFill>
                <a:effectLst/>
                <a:latin typeface="Arial" panose="020B0604020202020204" pitchFamily="34" charset="0"/>
              </a:rPr>
              <a:t>Controls the cursor type on hover.</a:t>
            </a:r>
          </a:p>
          <a:p>
            <a:pPr eaLnBrk="0" fontAlgn="base" hangingPunct="0">
              <a:lnSpc>
                <a:spcPct val="100000"/>
              </a:lnSpc>
              <a:spcBef>
                <a:spcPct val="0"/>
              </a:spcBef>
              <a:spcAft>
                <a:spcPct val="0"/>
              </a:spcAft>
              <a:buClrTx/>
              <a:buSzTx/>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183230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Setting up</a:t>
            </a:r>
            <a:endParaRPr lang="en-IN" dirty="0"/>
          </a:p>
        </p:txBody>
      </p:sp>
      <p:sp>
        <p:nvSpPr>
          <p:cNvPr id="5" name="Text Placeholder 4"/>
          <p:cNvSpPr>
            <a:spLocks noGrp="1"/>
          </p:cNvSpPr>
          <p:nvPr>
            <p:ph type="body" idx="1"/>
          </p:nvPr>
        </p:nvSpPr>
        <p:spPr/>
        <p:txBody>
          <a:bodyPr/>
          <a:lstStyle/>
          <a:p>
            <a:endParaRPr lang="en-IN"/>
          </a:p>
        </p:txBody>
      </p:sp>
    </p:spTree>
    <p:extLst>
      <p:ext uri="{BB962C8B-B14F-4D97-AF65-F5344CB8AC3E}">
        <p14:creationId xmlns:p14="http://schemas.microsoft.com/office/powerpoint/2010/main" val="442287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Up Tailwind CSS</a:t>
            </a:r>
            <a:endParaRPr lang="en-IN" dirty="0"/>
          </a:p>
        </p:txBody>
      </p:sp>
      <p:sp>
        <p:nvSpPr>
          <p:cNvPr id="3" name="Content Placeholder 2"/>
          <p:cNvSpPr>
            <a:spLocks noGrp="1"/>
          </p:cNvSpPr>
          <p:nvPr>
            <p:ph idx="1"/>
          </p:nvPr>
        </p:nvSpPr>
        <p:spPr/>
        <p:txBody>
          <a:bodyPr/>
          <a:lstStyle/>
          <a:p>
            <a:endParaRPr lang="en-US" b="1" dirty="0"/>
          </a:p>
          <a:p>
            <a:r>
              <a:rPr lang="en-US" dirty="0"/>
              <a:t>Before you start writing Tailwind CSS, you need to set it up in your project. You can do this in a few different ways</a:t>
            </a:r>
            <a:r>
              <a:rPr lang="en-US" dirty="0" smtClean="0"/>
              <a:t>:</a:t>
            </a:r>
          </a:p>
          <a:p>
            <a:r>
              <a:rPr lang="en-IN" dirty="0">
                <a:hlinkClick r:id="rId2"/>
              </a:rPr>
              <a:t>Installation steps</a:t>
            </a:r>
            <a:endParaRPr lang="en-US" dirty="0"/>
          </a:p>
          <a:p>
            <a:r>
              <a:rPr lang="en-US" b="1" dirty="0"/>
              <a:t>Via </a:t>
            </a:r>
            <a:r>
              <a:rPr lang="en-US" b="1" dirty="0" smtClean="0"/>
              <a:t>Play CDN</a:t>
            </a:r>
            <a:r>
              <a:rPr lang="en-US" b="1" dirty="0"/>
              <a:t>:</a:t>
            </a:r>
          </a:p>
          <a:p>
            <a:pPr lvl="1"/>
            <a:r>
              <a:rPr lang="en-US" dirty="0"/>
              <a:t>For quick prototyping, you can include Tailwind CSS via a CDN in your HTML </a:t>
            </a:r>
            <a:r>
              <a:rPr lang="en-US" dirty="0" smtClean="0"/>
              <a:t>file</a:t>
            </a:r>
            <a:endParaRPr lang="en-US" dirty="0"/>
          </a:p>
          <a:p>
            <a:pPr lvl="1"/>
            <a:r>
              <a:rPr lang="en-US" dirty="0" smtClean="0"/>
              <a:t>No installation required, in-browser support</a:t>
            </a:r>
            <a:endParaRPr lang="en-US" dirty="0"/>
          </a:p>
          <a:p>
            <a:pPr lvl="1"/>
            <a:r>
              <a:rPr lang="en-US" dirty="0"/>
              <a:t>&lt;link </a:t>
            </a:r>
            <a:r>
              <a:rPr lang="en-US" dirty="0" err="1"/>
              <a:t>href</a:t>
            </a:r>
            <a:r>
              <a:rPr lang="en-US" dirty="0"/>
              <a:t>="https://cdn.jsdelivr.net/</a:t>
            </a:r>
            <a:r>
              <a:rPr lang="en-US" dirty="0" err="1"/>
              <a:t>npm</a:t>
            </a:r>
            <a:r>
              <a:rPr lang="en-US" dirty="0"/>
              <a:t>/tailwindcss@3.2.4/</a:t>
            </a:r>
            <a:r>
              <a:rPr lang="en-US" dirty="0" err="1"/>
              <a:t>dist</a:t>
            </a:r>
            <a:r>
              <a:rPr lang="en-US" dirty="0"/>
              <a:t>/tailwind.min.css" </a:t>
            </a:r>
            <a:r>
              <a:rPr lang="en-US" dirty="0" err="1"/>
              <a:t>rel</a:t>
            </a:r>
            <a:r>
              <a:rPr lang="en-US" dirty="0"/>
              <a:t>="stylesheet</a:t>
            </a:r>
            <a:r>
              <a:rPr lang="en-US" dirty="0" smtClean="0"/>
              <a:t>"&gt;</a:t>
            </a:r>
          </a:p>
          <a:p>
            <a:pPr lvl="1"/>
            <a:r>
              <a:rPr lang="en-US" dirty="0" smtClean="0"/>
              <a:t>Fine for development purpose on a smaller scale, </a:t>
            </a:r>
            <a:r>
              <a:rPr lang="en-US" dirty="0"/>
              <a:t>not the best choice for production</a:t>
            </a:r>
            <a:r>
              <a:rPr lang="en-US" dirty="0" smtClean="0"/>
              <a:t>.</a:t>
            </a:r>
          </a:p>
        </p:txBody>
      </p:sp>
    </p:spTree>
    <p:extLst>
      <p:ext uri="{BB962C8B-B14F-4D97-AF65-F5344CB8AC3E}">
        <p14:creationId xmlns:p14="http://schemas.microsoft.com/office/powerpoint/2010/main" val="31308367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Installation </a:t>
            </a:r>
            <a:endParaRPr lang="en-IN" dirty="0"/>
          </a:p>
        </p:txBody>
      </p:sp>
      <p:sp>
        <p:nvSpPr>
          <p:cNvPr id="3" name="Content Placeholder 2"/>
          <p:cNvSpPr>
            <a:spLocks noGrp="1"/>
          </p:cNvSpPr>
          <p:nvPr>
            <p:ph idx="1"/>
          </p:nvPr>
        </p:nvSpPr>
        <p:spPr/>
        <p:txBody>
          <a:bodyPr/>
          <a:lstStyle/>
          <a:p>
            <a:r>
              <a:rPr lang="en-US" dirty="0"/>
              <a:t>Tailwind CSS works by scanning all of your HTML files, JavaScript components, and any other templates for class names, generating the corresponding styles and then writing them to a static CSS file.</a:t>
            </a:r>
            <a:endParaRPr lang="en-IN" dirty="0"/>
          </a:p>
          <a:p>
            <a:endParaRPr lang="en-IN" dirty="0" smtClean="0"/>
          </a:p>
          <a:p>
            <a:endParaRPr lang="en-IN" dirty="0"/>
          </a:p>
          <a:p>
            <a:endParaRPr lang="en-IN" dirty="0" smtClean="0"/>
          </a:p>
          <a:p>
            <a:endParaRPr lang="en-IN" dirty="0"/>
          </a:p>
          <a:p>
            <a:endParaRPr lang="en-IN" dirty="0" smtClean="0"/>
          </a:p>
          <a:p>
            <a:r>
              <a:rPr lang="en-IN" dirty="0" smtClean="0">
                <a:hlinkClick r:id="rId2"/>
              </a:rPr>
              <a:t>Installation steps</a:t>
            </a:r>
            <a:endParaRPr lang="en-IN" dirty="0"/>
          </a:p>
        </p:txBody>
      </p:sp>
      <p:sp>
        <p:nvSpPr>
          <p:cNvPr id="4" name="Rectangle 3"/>
          <p:cNvSpPr/>
          <p:nvPr/>
        </p:nvSpPr>
        <p:spPr>
          <a:xfrm>
            <a:off x="4235116" y="3236495"/>
            <a:ext cx="1900989" cy="9865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Tailwind</a:t>
            </a:r>
            <a:endParaRPr lang="en-IN" dirty="0"/>
          </a:p>
        </p:txBody>
      </p:sp>
      <p:sp>
        <p:nvSpPr>
          <p:cNvPr id="5" name="Rectangle 4"/>
          <p:cNvSpPr/>
          <p:nvPr/>
        </p:nvSpPr>
        <p:spPr>
          <a:xfrm>
            <a:off x="6672232" y="3236494"/>
            <a:ext cx="1900989" cy="9865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CSS file (output)</a:t>
            </a:r>
            <a:endParaRPr lang="en-IN" dirty="0"/>
          </a:p>
        </p:txBody>
      </p:sp>
      <p:sp>
        <p:nvSpPr>
          <p:cNvPr id="6" name="Rectangle 5"/>
          <p:cNvSpPr/>
          <p:nvPr/>
        </p:nvSpPr>
        <p:spPr>
          <a:xfrm>
            <a:off x="1798000" y="3236494"/>
            <a:ext cx="1900989" cy="9865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CSS files </a:t>
            </a:r>
          </a:p>
          <a:p>
            <a:pPr algn="ctr"/>
            <a:r>
              <a:rPr lang="en-IN" dirty="0" smtClean="0"/>
              <a:t>(input)</a:t>
            </a:r>
            <a:endParaRPr lang="en-IN" dirty="0"/>
          </a:p>
        </p:txBody>
      </p:sp>
      <p:cxnSp>
        <p:nvCxnSpPr>
          <p:cNvPr id="8" name="Straight Arrow Connector 7"/>
          <p:cNvCxnSpPr>
            <a:stCxn id="6" idx="3"/>
            <a:endCxn id="4" idx="1"/>
          </p:cNvCxnSpPr>
          <p:nvPr/>
        </p:nvCxnSpPr>
        <p:spPr>
          <a:xfrm>
            <a:off x="3698989" y="3729789"/>
            <a:ext cx="5361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endCxn id="5" idx="1"/>
          </p:cNvCxnSpPr>
          <p:nvPr/>
        </p:nvCxnSpPr>
        <p:spPr>
          <a:xfrm>
            <a:off x="6136105" y="3729788"/>
            <a:ext cx="53612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99544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Installation steps</a:t>
            </a:r>
            <a:endParaRPr lang="en-IN" dirty="0"/>
          </a:p>
        </p:txBody>
      </p:sp>
      <p:sp>
        <p:nvSpPr>
          <p:cNvPr id="3" name="Content Placeholder 2"/>
          <p:cNvSpPr>
            <a:spLocks noGrp="1"/>
          </p:cNvSpPr>
          <p:nvPr>
            <p:ph idx="1"/>
          </p:nvPr>
        </p:nvSpPr>
        <p:spPr/>
        <p:txBody>
          <a:bodyPr>
            <a:normAutofit/>
          </a:bodyPr>
          <a:lstStyle/>
          <a:p>
            <a:r>
              <a:rPr lang="en-IN" dirty="0" smtClean="0"/>
              <a:t>Step 1: Install tailwind CSS via </a:t>
            </a:r>
            <a:r>
              <a:rPr lang="en-IN" dirty="0" err="1" smtClean="0"/>
              <a:t>npm</a:t>
            </a:r>
            <a:r>
              <a:rPr lang="en-IN" dirty="0" smtClean="0"/>
              <a:t> </a:t>
            </a:r>
          </a:p>
          <a:p>
            <a:pPr marL="457200" lvl="2">
              <a:lnSpc>
                <a:spcPct val="95000"/>
              </a:lnSpc>
              <a:spcBef>
                <a:spcPts val="1400"/>
              </a:spcBef>
              <a:spcAft>
                <a:spcPts val="200"/>
              </a:spcAft>
              <a:buSzPct val="80000"/>
              <a:buFont typeface="Arial" pitchFamily="34" charset="0"/>
              <a:buChar char="•"/>
            </a:pPr>
            <a:r>
              <a:rPr lang="en-IN" dirty="0" err="1"/>
              <a:t>npm</a:t>
            </a:r>
            <a:r>
              <a:rPr lang="en-IN" dirty="0"/>
              <a:t> install -D </a:t>
            </a:r>
            <a:r>
              <a:rPr lang="en-IN" dirty="0" err="1"/>
              <a:t>tailwindcss</a:t>
            </a:r>
            <a:endParaRPr lang="en-IN" dirty="0"/>
          </a:p>
          <a:p>
            <a:r>
              <a:rPr lang="en-IN" dirty="0" smtClean="0"/>
              <a:t>Step 2: Create your tailwind.config.js file</a:t>
            </a:r>
          </a:p>
          <a:p>
            <a:pPr lvl="1"/>
            <a:r>
              <a:rPr lang="en-IN" dirty="0" err="1" smtClean="0"/>
              <a:t>npx</a:t>
            </a:r>
            <a:r>
              <a:rPr lang="en-IN" dirty="0" smtClean="0"/>
              <a:t> </a:t>
            </a:r>
            <a:r>
              <a:rPr lang="en-IN" dirty="0" err="1"/>
              <a:t>tailwindcss</a:t>
            </a:r>
            <a:r>
              <a:rPr lang="en-IN" dirty="0"/>
              <a:t> </a:t>
            </a:r>
            <a:r>
              <a:rPr lang="en-IN" dirty="0" err="1"/>
              <a:t>init</a:t>
            </a:r>
            <a:endParaRPr lang="en-IN" dirty="0"/>
          </a:p>
          <a:p>
            <a:r>
              <a:rPr lang="en-IN" dirty="0" smtClean="0"/>
              <a:t>Step 3: Configure your template paths in tailwind.config.js file</a:t>
            </a:r>
          </a:p>
          <a:p>
            <a:pPr marL="548640" lvl="2" indent="0">
              <a:spcBef>
                <a:spcPts val="600"/>
              </a:spcBef>
              <a:spcAft>
                <a:spcPts val="600"/>
              </a:spcAft>
              <a:buNone/>
            </a:pPr>
            <a:endParaRPr lang="en-IN" dirty="0"/>
          </a:p>
        </p:txBody>
      </p:sp>
      <p:sp>
        <p:nvSpPr>
          <p:cNvPr id="4" name="TextBox 3"/>
          <p:cNvSpPr txBox="1"/>
          <p:nvPr/>
        </p:nvSpPr>
        <p:spPr>
          <a:xfrm>
            <a:off x="1620413" y="3850104"/>
            <a:ext cx="6127924" cy="2585323"/>
          </a:xfrm>
          <a:prstGeom prst="rect">
            <a:avLst/>
          </a:prstGeom>
          <a:noFill/>
        </p:spPr>
        <p:txBody>
          <a:bodyPr wrap="square" rtlCol="0">
            <a:spAutoFit/>
          </a:bodyPr>
          <a:lstStyle/>
          <a:p>
            <a:pPr marL="548640" lvl="2" indent="0">
              <a:buNone/>
            </a:pPr>
            <a:r>
              <a:rPr lang="en-IN" dirty="0">
                <a:solidFill>
                  <a:srgbClr val="6A9955"/>
                </a:solidFill>
                <a:latin typeface="Consolas" panose="020B0609020204030204" pitchFamily="49" charset="0"/>
              </a:rPr>
              <a:t>/** </a:t>
            </a:r>
            <a:r>
              <a:rPr lang="en-IN" dirty="0">
                <a:solidFill>
                  <a:srgbClr val="569CD6"/>
                </a:solidFill>
                <a:latin typeface="Consolas" panose="020B0609020204030204" pitchFamily="49" charset="0"/>
              </a:rPr>
              <a:t>@</a:t>
            </a:r>
            <a:r>
              <a:rPr lang="en-IN" dirty="0" smtClean="0">
                <a:solidFill>
                  <a:srgbClr val="569CD6"/>
                </a:solidFill>
                <a:latin typeface="Consolas" panose="020B0609020204030204" pitchFamily="49" charset="0"/>
              </a:rPr>
              <a:t>type </a:t>
            </a:r>
            <a:r>
              <a:rPr lang="en-IN" dirty="0" smtClean="0">
                <a:solidFill>
                  <a:srgbClr val="4EC9B0"/>
                </a:solidFill>
                <a:latin typeface="Consolas" panose="020B0609020204030204" pitchFamily="49" charset="0"/>
              </a:rPr>
              <a:t>{</a:t>
            </a:r>
            <a:r>
              <a:rPr lang="en-IN" dirty="0">
                <a:solidFill>
                  <a:srgbClr val="4EC9B0"/>
                </a:solidFill>
                <a:latin typeface="Consolas" panose="020B0609020204030204" pitchFamily="49" charset="0"/>
              </a:rPr>
              <a:t>import('</a:t>
            </a:r>
            <a:r>
              <a:rPr lang="en-IN" dirty="0" err="1">
                <a:solidFill>
                  <a:srgbClr val="4EC9B0"/>
                </a:solidFill>
                <a:latin typeface="Consolas" panose="020B0609020204030204" pitchFamily="49" charset="0"/>
              </a:rPr>
              <a:t>tailwindcss</a:t>
            </a:r>
            <a:r>
              <a:rPr lang="en-IN" dirty="0">
                <a:solidFill>
                  <a:srgbClr val="4EC9B0"/>
                </a:solidFill>
                <a:latin typeface="Consolas" panose="020B0609020204030204" pitchFamily="49" charset="0"/>
              </a:rPr>
              <a:t>').</a:t>
            </a:r>
            <a:r>
              <a:rPr lang="en-IN" dirty="0" err="1">
                <a:solidFill>
                  <a:srgbClr val="4EC9B0"/>
                </a:solidFill>
                <a:latin typeface="Consolas" panose="020B0609020204030204" pitchFamily="49" charset="0"/>
              </a:rPr>
              <a:t>Config</a:t>
            </a:r>
            <a:r>
              <a:rPr lang="en-IN" dirty="0">
                <a:solidFill>
                  <a:srgbClr val="4EC9B0"/>
                </a:solidFill>
                <a:latin typeface="Consolas" panose="020B0609020204030204" pitchFamily="49" charset="0"/>
              </a:rPr>
              <a:t>}</a:t>
            </a:r>
            <a:r>
              <a:rPr lang="en-IN" dirty="0">
                <a:solidFill>
                  <a:srgbClr val="6A9955"/>
                </a:solidFill>
                <a:latin typeface="Consolas" panose="020B0609020204030204" pitchFamily="49" charset="0"/>
              </a:rPr>
              <a:t> */</a:t>
            </a:r>
            <a:endParaRPr lang="en-IN" dirty="0">
              <a:solidFill>
                <a:srgbClr val="CCCCCC"/>
              </a:solidFill>
              <a:latin typeface="Consolas" panose="020B0609020204030204" pitchFamily="49" charset="0"/>
            </a:endParaRPr>
          </a:p>
          <a:p>
            <a:pPr marL="548640" lvl="2" indent="0">
              <a:buNone/>
            </a:pPr>
            <a:r>
              <a:rPr lang="en-IN" dirty="0">
                <a:solidFill>
                  <a:srgbClr val="4EC9B0"/>
                </a:solidFill>
                <a:latin typeface="Consolas" panose="020B0609020204030204" pitchFamily="49" charset="0"/>
              </a:rPr>
              <a:t>module</a:t>
            </a:r>
            <a:r>
              <a:rPr lang="en-IN" dirty="0">
                <a:solidFill>
                  <a:srgbClr val="CCCCCC"/>
                </a:solidFill>
                <a:latin typeface="Consolas" panose="020B0609020204030204" pitchFamily="49" charset="0"/>
              </a:rPr>
              <a:t>.</a:t>
            </a:r>
            <a:r>
              <a:rPr lang="en-IN" dirty="0">
                <a:solidFill>
                  <a:srgbClr val="4EC9B0"/>
                </a:solidFill>
                <a:latin typeface="Consolas" panose="020B0609020204030204" pitchFamily="49" charset="0"/>
              </a:rPr>
              <a:t>exports</a:t>
            </a:r>
            <a:r>
              <a:rPr lang="en-IN" dirty="0">
                <a:solidFill>
                  <a:srgbClr val="CCCCCC"/>
                </a:solidFill>
                <a:latin typeface="Consolas" panose="020B0609020204030204" pitchFamily="49" charset="0"/>
              </a:rPr>
              <a:t> </a:t>
            </a:r>
            <a:r>
              <a:rPr lang="en-IN" dirty="0">
                <a:solidFill>
                  <a:srgbClr val="D4D4D4"/>
                </a:solidFill>
                <a:latin typeface="Consolas" panose="020B0609020204030204" pitchFamily="49" charset="0"/>
              </a:rPr>
              <a:t>=</a:t>
            </a:r>
            <a:r>
              <a:rPr lang="en-IN" dirty="0">
                <a:solidFill>
                  <a:srgbClr val="CCCCCC"/>
                </a:solidFill>
                <a:latin typeface="Consolas" panose="020B0609020204030204" pitchFamily="49" charset="0"/>
              </a:rPr>
              <a:t> {</a:t>
            </a:r>
          </a:p>
          <a:p>
            <a:pPr marL="548640" lvl="2" indent="0">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content:</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src</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html,js</a:t>
            </a:r>
            <a:r>
              <a:rPr lang="en-IN" dirty="0">
                <a:solidFill>
                  <a:srgbClr val="CE9178"/>
                </a:solidFill>
                <a:latin typeface="Consolas" panose="020B0609020204030204" pitchFamily="49" charset="0"/>
              </a:rPr>
              <a:t>}"</a:t>
            </a:r>
            <a:r>
              <a:rPr lang="en-IN" dirty="0">
                <a:solidFill>
                  <a:srgbClr val="CCCCCC"/>
                </a:solidFill>
                <a:latin typeface="Consolas" panose="020B0609020204030204" pitchFamily="49" charset="0"/>
              </a:rPr>
              <a:t>],</a:t>
            </a:r>
          </a:p>
          <a:p>
            <a:pPr marL="548640" lvl="2" indent="0">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theme:</a:t>
            </a:r>
            <a:r>
              <a:rPr lang="en-IN" dirty="0">
                <a:solidFill>
                  <a:srgbClr val="CCCCCC"/>
                </a:solidFill>
                <a:latin typeface="Consolas" panose="020B0609020204030204" pitchFamily="49" charset="0"/>
              </a:rPr>
              <a:t> {</a:t>
            </a:r>
          </a:p>
          <a:p>
            <a:pPr marL="548640" lvl="2" indent="0">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extend:</a:t>
            </a:r>
            <a:r>
              <a:rPr lang="en-IN" dirty="0">
                <a:solidFill>
                  <a:srgbClr val="CCCCCC"/>
                </a:solidFill>
                <a:latin typeface="Consolas" panose="020B0609020204030204" pitchFamily="49" charset="0"/>
              </a:rPr>
              <a:t> {},</a:t>
            </a:r>
          </a:p>
          <a:p>
            <a:pPr marL="548640" lvl="2" indent="0">
              <a:buNone/>
            </a:pPr>
            <a:r>
              <a:rPr lang="en-IN" dirty="0">
                <a:solidFill>
                  <a:srgbClr val="CCCCCC"/>
                </a:solidFill>
                <a:latin typeface="Consolas" panose="020B0609020204030204" pitchFamily="49" charset="0"/>
              </a:rPr>
              <a:t>  },</a:t>
            </a:r>
          </a:p>
          <a:p>
            <a:pPr marL="548640" lvl="2" indent="0">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plugins:</a:t>
            </a:r>
            <a:r>
              <a:rPr lang="en-IN" dirty="0">
                <a:solidFill>
                  <a:srgbClr val="CCCCCC"/>
                </a:solidFill>
                <a:latin typeface="Consolas" panose="020B0609020204030204" pitchFamily="49" charset="0"/>
              </a:rPr>
              <a:t> [],</a:t>
            </a:r>
          </a:p>
          <a:p>
            <a:pPr marL="548640" lvl="2" indent="0">
              <a:buNone/>
            </a:pPr>
            <a:r>
              <a:rPr lang="en-IN" dirty="0">
                <a:solidFill>
                  <a:srgbClr val="CCCCCC"/>
                </a:solidFill>
                <a:latin typeface="Consolas" panose="020B0609020204030204" pitchFamily="49" charset="0"/>
              </a:rPr>
              <a:t>}</a:t>
            </a:r>
          </a:p>
          <a:p>
            <a:endParaRPr lang="en-IN" dirty="0"/>
          </a:p>
        </p:txBody>
      </p:sp>
    </p:spTree>
    <p:extLst>
      <p:ext uri="{BB962C8B-B14F-4D97-AF65-F5344CB8AC3E}">
        <p14:creationId xmlns:p14="http://schemas.microsoft.com/office/powerpoint/2010/main" val="6279007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Template paths </a:t>
            </a:r>
            <a:endParaRPr lang="en-IN" dirty="0"/>
          </a:p>
        </p:txBody>
      </p:sp>
      <p:sp>
        <p:nvSpPr>
          <p:cNvPr id="3" name="Content Placeholder 2"/>
          <p:cNvSpPr>
            <a:spLocks noGrp="1"/>
          </p:cNvSpPr>
          <p:nvPr>
            <p:ph idx="1"/>
          </p:nvPr>
        </p:nvSpPr>
        <p:spPr/>
        <p:txBody>
          <a:bodyPr>
            <a:normAutofit/>
          </a:bodyPr>
          <a:lstStyle/>
          <a:p>
            <a:r>
              <a:rPr lang="en-US" dirty="0" smtClean="0"/>
              <a:t>Tailwind </a:t>
            </a:r>
            <a:r>
              <a:rPr lang="en-US" dirty="0"/>
              <a:t>CSS generates utility classes based on the content it scans. By specifying template paths, you're telling Tailwind where to look for these utility class names in your project. </a:t>
            </a:r>
            <a:endParaRPr lang="en-US" dirty="0" smtClean="0"/>
          </a:p>
          <a:p>
            <a:r>
              <a:rPr lang="en-US" dirty="0" smtClean="0"/>
              <a:t>This </a:t>
            </a:r>
            <a:r>
              <a:rPr lang="en-US" dirty="0"/>
              <a:t>is important because Tailwind uses this information to:</a:t>
            </a:r>
          </a:p>
          <a:p>
            <a:pPr lvl="2"/>
            <a:endParaRPr lang="en-US" b="1" dirty="0" smtClean="0"/>
          </a:p>
          <a:p>
            <a:pPr lvl="2"/>
            <a:r>
              <a:rPr lang="en-US" b="1" dirty="0" smtClean="0"/>
              <a:t>Identify </a:t>
            </a:r>
            <a:r>
              <a:rPr lang="en-US" b="1" dirty="0"/>
              <a:t>Used Classes</a:t>
            </a:r>
            <a:r>
              <a:rPr lang="en-US" dirty="0"/>
              <a:t>: Tailwind scans the files specified in the template paths to identify which classes are being used</a:t>
            </a:r>
            <a:r>
              <a:rPr lang="en-US" dirty="0" smtClean="0"/>
              <a:t>.</a:t>
            </a:r>
          </a:p>
          <a:p>
            <a:pPr lvl="2"/>
            <a:endParaRPr lang="en-US" dirty="0"/>
          </a:p>
          <a:p>
            <a:pPr lvl="2"/>
            <a:r>
              <a:rPr lang="en-US" b="1" dirty="0" smtClean="0"/>
              <a:t>Remove Unused CSS</a:t>
            </a:r>
            <a:r>
              <a:rPr lang="en-US" dirty="0" smtClean="0"/>
              <a:t>: During the build process, Tailwind will only include the CSS for the classes that it finds in the specified paths. This results in a much smaller final CSS file compared to including all possible styles. (Purge mechanism)</a:t>
            </a:r>
          </a:p>
          <a:p>
            <a:pPr eaLnBrk="0" fontAlgn="base" hangingPunct="0">
              <a:lnSpc>
                <a:spcPct val="100000"/>
              </a:lnSpc>
              <a:spcBef>
                <a:spcPct val="0"/>
              </a:spcBef>
              <a:spcAft>
                <a:spcPct val="0"/>
              </a:spcAft>
              <a:buClrTx/>
              <a:buSzTx/>
            </a:pPr>
            <a:endParaRPr lang="en-US" altLang="en-US" dirty="0" smtClean="0"/>
          </a:p>
          <a:p>
            <a:pPr eaLnBrk="0" fontAlgn="base" hangingPunct="0">
              <a:lnSpc>
                <a:spcPct val="100000"/>
              </a:lnSpc>
              <a:spcBef>
                <a:spcPct val="0"/>
              </a:spcBef>
              <a:spcAft>
                <a:spcPct val="0"/>
              </a:spcAft>
              <a:buClrTx/>
              <a:buSzTx/>
            </a:pPr>
            <a:r>
              <a:rPr lang="en-US" altLang="en-US" dirty="0" smtClean="0"/>
              <a:t>You configure template paths in the tailwind.config.js file using the content property. Here’s a basic example:</a:t>
            </a:r>
          </a:p>
          <a:p>
            <a:pPr marL="0" lvl="0" indent="0" eaLnBrk="0" fontAlgn="base" hangingPunct="0">
              <a:lnSpc>
                <a:spcPct val="100000"/>
              </a:lnSpc>
              <a:spcBef>
                <a:spcPct val="0"/>
              </a:spcBef>
              <a:spcAft>
                <a:spcPct val="0"/>
              </a:spcAft>
              <a:buClrTx/>
              <a:buSzTx/>
              <a:buNone/>
            </a:pPr>
            <a:endParaRPr lang="en-US" altLang="en-US" sz="4800" dirty="0">
              <a:latin typeface="Arial" panose="020B0604020202020204" pitchFamily="34" charset="0"/>
            </a:endParaRPr>
          </a:p>
          <a:p>
            <a:endParaRPr lang="en-US" dirty="0" smtClean="0"/>
          </a:p>
        </p:txBody>
      </p:sp>
    </p:spTree>
    <p:extLst>
      <p:ext uri="{BB962C8B-B14F-4D97-AF65-F5344CB8AC3E}">
        <p14:creationId xmlns:p14="http://schemas.microsoft.com/office/powerpoint/2010/main" val="20181374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97531" y="2505545"/>
            <a:ext cx="5163904" cy="1774223"/>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p:cNvSpPr>
            <a:spLocks noGrp="1"/>
          </p:cNvSpPr>
          <p:nvPr>
            <p:ph idx="1"/>
          </p:nvPr>
        </p:nvSpPr>
        <p:spPr>
          <a:xfrm>
            <a:off x="1261872" y="1582153"/>
            <a:ext cx="8595360" cy="5329990"/>
          </a:xfrm>
        </p:spPr>
        <p:txBody>
          <a:bodyPr>
            <a:noAutofit/>
          </a:bodyPr>
          <a:lstStyle/>
          <a:p>
            <a:pPr marL="0" indent="0">
              <a:lnSpc>
                <a:spcPct val="170000"/>
              </a:lnSpc>
              <a:spcBef>
                <a:spcPts val="0"/>
              </a:spcBef>
              <a:spcAft>
                <a:spcPts val="0"/>
              </a:spcAft>
              <a:buNone/>
            </a:pPr>
            <a:r>
              <a:rPr lang="en-IN" b="1" dirty="0" smtClean="0">
                <a:solidFill>
                  <a:srgbClr val="6A9955"/>
                </a:solidFill>
                <a:latin typeface="Consolas" panose="020B0609020204030204" pitchFamily="49" charset="0"/>
              </a:rPr>
              <a:t>/** </a:t>
            </a:r>
            <a:r>
              <a:rPr lang="en-IN" b="1" dirty="0">
                <a:solidFill>
                  <a:srgbClr val="569CD6"/>
                </a:solidFill>
                <a:latin typeface="Consolas" panose="020B0609020204030204" pitchFamily="49" charset="0"/>
              </a:rPr>
              <a:t>@type</a:t>
            </a:r>
            <a:r>
              <a:rPr lang="en-IN" b="1" dirty="0">
                <a:solidFill>
                  <a:srgbClr val="6A9955"/>
                </a:solidFill>
                <a:latin typeface="Consolas" panose="020B0609020204030204" pitchFamily="49" charset="0"/>
              </a:rPr>
              <a:t> </a:t>
            </a:r>
            <a:r>
              <a:rPr lang="en-IN" b="1" dirty="0">
                <a:solidFill>
                  <a:srgbClr val="4EC9B0"/>
                </a:solidFill>
                <a:latin typeface="Consolas" panose="020B0609020204030204" pitchFamily="49" charset="0"/>
              </a:rPr>
              <a:t>{import('</a:t>
            </a:r>
            <a:r>
              <a:rPr lang="en-IN" b="1" dirty="0" err="1">
                <a:solidFill>
                  <a:srgbClr val="4EC9B0"/>
                </a:solidFill>
                <a:latin typeface="Consolas" panose="020B0609020204030204" pitchFamily="49" charset="0"/>
              </a:rPr>
              <a:t>tailwindcss</a:t>
            </a:r>
            <a:r>
              <a:rPr lang="en-IN" b="1" dirty="0">
                <a:solidFill>
                  <a:srgbClr val="4EC9B0"/>
                </a:solidFill>
                <a:latin typeface="Consolas" panose="020B0609020204030204" pitchFamily="49" charset="0"/>
              </a:rPr>
              <a:t>').</a:t>
            </a:r>
            <a:r>
              <a:rPr lang="en-IN" b="1" dirty="0" err="1">
                <a:solidFill>
                  <a:srgbClr val="4EC9B0"/>
                </a:solidFill>
                <a:latin typeface="Consolas" panose="020B0609020204030204" pitchFamily="49" charset="0"/>
              </a:rPr>
              <a:t>Config</a:t>
            </a:r>
            <a:r>
              <a:rPr lang="en-IN" b="1" dirty="0">
                <a:solidFill>
                  <a:srgbClr val="4EC9B0"/>
                </a:solidFill>
                <a:latin typeface="Consolas" panose="020B0609020204030204" pitchFamily="49" charset="0"/>
              </a:rPr>
              <a:t>}</a:t>
            </a:r>
            <a:r>
              <a:rPr lang="en-IN" b="1" dirty="0">
                <a:solidFill>
                  <a:srgbClr val="6A9955"/>
                </a:solidFill>
                <a:latin typeface="Consolas" panose="020B0609020204030204" pitchFamily="49" charset="0"/>
              </a:rPr>
              <a:t> */</a:t>
            </a:r>
            <a:endParaRPr lang="en-IN" b="1" dirty="0">
              <a:solidFill>
                <a:srgbClr val="CCCCCC"/>
              </a:solidFill>
              <a:latin typeface="Consolas" panose="020B0609020204030204" pitchFamily="49" charset="0"/>
            </a:endParaRPr>
          </a:p>
          <a:p>
            <a:pPr marL="0" indent="0">
              <a:lnSpc>
                <a:spcPct val="170000"/>
              </a:lnSpc>
              <a:spcBef>
                <a:spcPts val="0"/>
              </a:spcBef>
              <a:spcAft>
                <a:spcPts val="0"/>
              </a:spcAft>
              <a:buNone/>
            </a:pPr>
            <a:r>
              <a:rPr lang="en-IN" b="1" dirty="0">
                <a:solidFill>
                  <a:srgbClr val="4EC9B0"/>
                </a:solidFill>
                <a:latin typeface="Consolas" panose="020B0609020204030204" pitchFamily="49" charset="0"/>
              </a:rPr>
              <a:t>module</a:t>
            </a:r>
            <a:r>
              <a:rPr lang="en-IN" b="1" dirty="0">
                <a:solidFill>
                  <a:srgbClr val="CCCCCC"/>
                </a:solidFill>
                <a:latin typeface="Consolas" panose="020B0609020204030204" pitchFamily="49" charset="0"/>
              </a:rPr>
              <a:t>.</a:t>
            </a:r>
            <a:r>
              <a:rPr lang="en-IN" b="1" dirty="0">
                <a:solidFill>
                  <a:srgbClr val="4EC9B0"/>
                </a:solidFill>
                <a:latin typeface="Consolas" panose="020B0609020204030204" pitchFamily="49" charset="0"/>
              </a:rPr>
              <a:t>exports</a:t>
            </a:r>
            <a:r>
              <a:rPr lang="en-IN" b="1" dirty="0">
                <a:solidFill>
                  <a:srgbClr val="CCCCCC"/>
                </a:solidFill>
                <a:latin typeface="Consolas" panose="020B0609020204030204" pitchFamily="49" charset="0"/>
              </a:rPr>
              <a:t> </a:t>
            </a:r>
            <a:r>
              <a:rPr lang="en-IN" b="1" dirty="0">
                <a:solidFill>
                  <a:srgbClr val="D4D4D4"/>
                </a:solidFill>
                <a:latin typeface="Consolas" panose="020B0609020204030204" pitchFamily="49" charset="0"/>
              </a:rPr>
              <a:t>=</a:t>
            </a:r>
            <a:r>
              <a:rPr lang="en-IN" b="1" dirty="0">
                <a:solidFill>
                  <a:srgbClr val="CCCCCC"/>
                </a:solidFill>
                <a:latin typeface="Consolas" panose="020B0609020204030204" pitchFamily="49" charset="0"/>
              </a:rPr>
              <a:t> {</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t>
            </a:r>
            <a:r>
              <a:rPr lang="en-IN" b="1" dirty="0">
                <a:solidFill>
                  <a:srgbClr val="9CDCFE"/>
                </a:solidFill>
                <a:latin typeface="Consolas" panose="020B0609020204030204" pitchFamily="49" charset="0"/>
              </a:rPr>
              <a:t>content:</a:t>
            </a:r>
            <a:r>
              <a:rPr lang="en-IN" b="1" dirty="0">
                <a:solidFill>
                  <a:srgbClr val="CCCCCC"/>
                </a:solidFill>
                <a:latin typeface="Consolas" panose="020B0609020204030204" pitchFamily="49" charset="0"/>
              </a:rPr>
              <a:t> [</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t>
            </a:r>
            <a:r>
              <a:rPr lang="en-IN" b="1" dirty="0">
                <a:solidFill>
                  <a:srgbClr val="CE9178"/>
                </a:solidFill>
                <a:latin typeface="Consolas" panose="020B0609020204030204" pitchFamily="49" charset="0"/>
              </a:rPr>
              <a:t>"./index.html"</a:t>
            </a:r>
            <a:r>
              <a:rPr lang="en-IN" b="1" dirty="0">
                <a:solidFill>
                  <a:srgbClr val="CCCCCC"/>
                </a:solidFill>
                <a:latin typeface="Consolas" panose="020B0609020204030204" pitchFamily="49" charset="0"/>
              </a:rPr>
              <a:t>,</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t>
            </a:r>
            <a:r>
              <a:rPr lang="en-IN" b="1" dirty="0">
                <a:solidFill>
                  <a:srgbClr val="CE9178"/>
                </a:solidFill>
                <a:latin typeface="Consolas" panose="020B0609020204030204" pitchFamily="49" charset="0"/>
              </a:rPr>
              <a:t>"./</a:t>
            </a:r>
            <a:r>
              <a:rPr lang="en-IN" b="1" dirty="0" err="1">
                <a:solidFill>
                  <a:srgbClr val="CE9178"/>
                </a:solidFill>
                <a:latin typeface="Consolas" panose="020B0609020204030204" pitchFamily="49" charset="0"/>
              </a:rPr>
              <a:t>src</a:t>
            </a:r>
            <a:r>
              <a:rPr lang="en-IN" b="1" dirty="0">
                <a:solidFill>
                  <a:srgbClr val="CE9178"/>
                </a:solidFill>
                <a:latin typeface="Consolas" panose="020B0609020204030204" pitchFamily="49" charset="0"/>
              </a:rPr>
              <a:t>/**/*.{</a:t>
            </a:r>
            <a:r>
              <a:rPr lang="en-IN" b="1" dirty="0" err="1">
                <a:solidFill>
                  <a:srgbClr val="CE9178"/>
                </a:solidFill>
                <a:latin typeface="Consolas" panose="020B0609020204030204" pitchFamily="49" charset="0"/>
              </a:rPr>
              <a:t>js,ts,jsx,tsx</a:t>
            </a:r>
            <a:r>
              <a:rPr lang="en-IN" b="1" dirty="0">
                <a:solidFill>
                  <a:srgbClr val="CE9178"/>
                </a:solidFill>
                <a:latin typeface="Consolas" panose="020B0609020204030204" pitchFamily="49" charset="0"/>
              </a:rPr>
              <a:t>}"</a:t>
            </a:r>
            <a:r>
              <a:rPr lang="en-IN" b="1" dirty="0">
                <a:solidFill>
                  <a:srgbClr val="CCCCCC"/>
                </a:solidFill>
                <a:latin typeface="Consolas" panose="020B0609020204030204" pitchFamily="49" charset="0"/>
              </a:rPr>
              <a:t>,</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t>
            </a:r>
            <a:r>
              <a:rPr lang="en-IN" b="1" dirty="0">
                <a:solidFill>
                  <a:srgbClr val="9CDCFE"/>
                </a:solidFill>
                <a:latin typeface="Consolas" panose="020B0609020204030204" pitchFamily="49" charset="0"/>
              </a:rPr>
              <a:t>theme:</a:t>
            </a:r>
            <a:r>
              <a:rPr lang="en-IN" b="1" dirty="0">
                <a:solidFill>
                  <a:srgbClr val="CCCCCC"/>
                </a:solidFill>
                <a:latin typeface="Consolas" panose="020B0609020204030204" pitchFamily="49" charset="0"/>
              </a:rPr>
              <a:t> {</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t>
            </a:r>
            <a:r>
              <a:rPr lang="en-IN" b="1" dirty="0">
                <a:solidFill>
                  <a:srgbClr val="9CDCFE"/>
                </a:solidFill>
                <a:latin typeface="Consolas" panose="020B0609020204030204" pitchFamily="49" charset="0"/>
              </a:rPr>
              <a:t>extend:</a:t>
            </a:r>
            <a:r>
              <a:rPr lang="en-IN" b="1" dirty="0">
                <a:solidFill>
                  <a:srgbClr val="CCCCCC"/>
                </a:solidFill>
                <a:latin typeface="Consolas" panose="020B0609020204030204" pitchFamily="49" charset="0"/>
              </a:rPr>
              <a:t> </a:t>
            </a:r>
            <a:r>
              <a:rPr lang="en-IN" b="1" dirty="0" smtClean="0">
                <a:solidFill>
                  <a:srgbClr val="CCCCCC"/>
                </a:solidFill>
                <a:latin typeface="Consolas" panose="020B0609020204030204" pitchFamily="49" charset="0"/>
              </a:rPr>
              <a:t>{ },</a:t>
            </a:r>
            <a:endParaRPr lang="en-IN" b="1" dirty="0">
              <a:solidFill>
                <a:srgbClr val="CCCCCC"/>
              </a:solidFill>
              <a:latin typeface="Consolas" panose="020B0609020204030204" pitchFamily="49" charset="0"/>
            </a:endParaRP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t>
            </a:r>
            <a:r>
              <a:rPr lang="en-IN" b="1" dirty="0">
                <a:solidFill>
                  <a:srgbClr val="9CDCFE"/>
                </a:solidFill>
                <a:latin typeface="Consolas" panose="020B0609020204030204" pitchFamily="49" charset="0"/>
              </a:rPr>
              <a:t>plugins:</a:t>
            </a:r>
            <a:r>
              <a:rPr lang="en-IN" b="1" dirty="0">
                <a:solidFill>
                  <a:srgbClr val="CCCCCC"/>
                </a:solidFill>
                <a:latin typeface="Consolas" panose="020B0609020204030204" pitchFamily="49" charset="0"/>
              </a:rPr>
              <a:t> [],</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a:t>
            </a:r>
          </a:p>
          <a:p>
            <a:pPr marL="0" indent="0">
              <a:lnSpc>
                <a:spcPct val="170000"/>
              </a:lnSpc>
              <a:spcBef>
                <a:spcPts val="0"/>
              </a:spcBef>
              <a:spcAft>
                <a:spcPts val="0"/>
              </a:spcAft>
              <a:buNone/>
            </a:pPr>
            <a:r>
              <a:rPr lang="en-IN" b="1" dirty="0">
                <a:solidFill>
                  <a:srgbClr val="CCCCCC"/>
                </a:solidFill>
                <a:latin typeface="Consolas" panose="020B0609020204030204" pitchFamily="49" charset="0"/>
              </a:rPr>
              <a:t/>
            </a:r>
            <a:br>
              <a:rPr lang="en-IN" b="1" dirty="0">
                <a:solidFill>
                  <a:srgbClr val="CCCCCC"/>
                </a:solidFill>
                <a:latin typeface="Consolas" panose="020B0609020204030204" pitchFamily="49" charset="0"/>
              </a:rPr>
            </a:br>
            <a:endParaRPr lang="en-IN" b="1" dirty="0">
              <a:solidFill>
                <a:srgbClr val="CCCCCC"/>
              </a:solidFill>
              <a:latin typeface="Consolas" panose="020B0609020204030204" pitchFamily="49" charset="0"/>
            </a:endParaRPr>
          </a:p>
          <a:p>
            <a:pPr marL="0" indent="0">
              <a:lnSpc>
                <a:spcPct val="170000"/>
              </a:lnSpc>
              <a:spcBef>
                <a:spcPts val="0"/>
              </a:spcBef>
              <a:spcAft>
                <a:spcPts val="0"/>
              </a:spcAft>
              <a:buNone/>
            </a:pPr>
            <a:endParaRPr lang="en-IN" b="1" dirty="0"/>
          </a:p>
        </p:txBody>
      </p:sp>
      <p:sp>
        <p:nvSpPr>
          <p:cNvPr id="5" name="Title 1"/>
          <p:cNvSpPr>
            <a:spLocks noGrp="1"/>
          </p:cNvSpPr>
          <p:nvPr>
            <p:ph type="title"/>
          </p:nvPr>
        </p:nvSpPr>
        <p:spPr>
          <a:xfrm>
            <a:off x="1261872" y="-18047"/>
            <a:ext cx="9692640" cy="1325562"/>
          </a:xfrm>
        </p:spPr>
        <p:txBody>
          <a:bodyPr/>
          <a:lstStyle/>
          <a:p>
            <a:r>
              <a:rPr lang="en-IN" dirty="0" smtClean="0"/>
              <a:t>Content property in config.js</a:t>
            </a:r>
            <a:endParaRPr lang="en-IN" dirty="0"/>
          </a:p>
        </p:txBody>
      </p:sp>
    </p:spTree>
    <p:extLst>
      <p:ext uri="{BB962C8B-B14F-4D97-AF65-F5344CB8AC3E}">
        <p14:creationId xmlns:p14="http://schemas.microsoft.com/office/powerpoint/2010/main" val="25718602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Configuration file: tailwind.config.js</a:t>
            </a:r>
            <a:endParaRPr lang="en-IN" dirty="0"/>
          </a:p>
        </p:txBody>
      </p:sp>
      <p:sp>
        <p:nvSpPr>
          <p:cNvPr id="3" name="Content Placeholder 2"/>
          <p:cNvSpPr>
            <a:spLocks noGrp="1"/>
          </p:cNvSpPr>
          <p:nvPr>
            <p:ph idx="1"/>
          </p:nvPr>
        </p:nvSpPr>
        <p:spPr/>
        <p:txBody>
          <a:bodyPr/>
          <a:lstStyle/>
          <a:p>
            <a:pPr marL="0" indent="0">
              <a:buNone/>
            </a:pPr>
            <a:r>
              <a:rPr lang="en-US" altLang="en-US" dirty="0"/>
              <a:t>The tailwind.config.js file is the configuration file for Tailwind CSS, allowing you to customize various aspects of Tailwind’s behavior. Here’s a breakdown of the key components and sections you can find or include in this configuration file: </a:t>
            </a:r>
          </a:p>
          <a:p>
            <a:endParaRPr lang="en-IN" dirty="0"/>
          </a:p>
        </p:txBody>
      </p:sp>
      <p:sp>
        <p:nvSpPr>
          <p:cNvPr id="7" name="TextBox 6"/>
          <p:cNvSpPr txBox="1"/>
          <p:nvPr/>
        </p:nvSpPr>
        <p:spPr>
          <a:xfrm>
            <a:off x="1329369" y="3050381"/>
            <a:ext cx="8460366" cy="3416320"/>
          </a:xfrm>
          <a:prstGeom prst="rect">
            <a:avLst/>
          </a:prstGeom>
          <a:noFill/>
          <a:ln>
            <a:solidFill>
              <a:schemeClr val="tx1"/>
            </a:solidFill>
          </a:ln>
        </p:spPr>
        <p:txBody>
          <a:bodyPr wrap="square" rtlCol="0">
            <a:spAutoFit/>
          </a:bodyPr>
          <a:lstStyle/>
          <a:p>
            <a:r>
              <a:rPr lang="en-IN" dirty="0">
                <a:solidFill>
                  <a:srgbClr val="6A9955"/>
                </a:solidFill>
                <a:latin typeface="Consolas" panose="020B0609020204030204" pitchFamily="49" charset="0"/>
              </a:rPr>
              <a:t>// tailwind.config.js</a:t>
            </a:r>
            <a:endParaRPr lang="en-IN" dirty="0">
              <a:solidFill>
                <a:srgbClr val="CCCCCC"/>
              </a:solidFill>
              <a:latin typeface="Consolas" panose="020B0609020204030204" pitchFamily="49" charset="0"/>
            </a:endParaRPr>
          </a:p>
          <a:p>
            <a:r>
              <a:rPr lang="en-IN" dirty="0">
                <a:solidFill>
                  <a:srgbClr val="4EC9B0"/>
                </a:solidFill>
                <a:latin typeface="Consolas" panose="020B0609020204030204" pitchFamily="49" charset="0"/>
              </a:rPr>
              <a:t>module</a:t>
            </a:r>
            <a:r>
              <a:rPr lang="en-IN" dirty="0">
                <a:solidFill>
                  <a:srgbClr val="CCCCCC"/>
                </a:solidFill>
                <a:latin typeface="Consolas" panose="020B0609020204030204" pitchFamily="49" charset="0"/>
              </a:rPr>
              <a:t>.</a:t>
            </a:r>
            <a:r>
              <a:rPr lang="en-IN" dirty="0">
                <a:solidFill>
                  <a:srgbClr val="4EC9B0"/>
                </a:solidFill>
                <a:latin typeface="Consolas" panose="020B0609020204030204" pitchFamily="49" charset="0"/>
              </a:rPr>
              <a:t>exports</a:t>
            </a:r>
            <a:r>
              <a:rPr lang="en-IN" dirty="0">
                <a:solidFill>
                  <a:srgbClr val="CCCCCC"/>
                </a:solidFill>
                <a:latin typeface="Consolas" panose="020B0609020204030204" pitchFamily="49" charset="0"/>
              </a:rPr>
              <a:t> </a:t>
            </a:r>
            <a:r>
              <a:rPr lang="en-IN" dirty="0">
                <a:solidFill>
                  <a:srgbClr val="D4D4D4"/>
                </a:solidFill>
                <a:latin typeface="Consolas" panose="020B0609020204030204" pitchFamily="49" charset="0"/>
              </a:rPr>
              <a:t>=</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content:</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src</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js,jsx,ts,tsx</a:t>
            </a:r>
            <a:r>
              <a:rPr lang="en-IN" dirty="0">
                <a:solidFill>
                  <a:srgbClr val="CE9178"/>
                </a:solidFill>
                <a:latin typeface="Consolas" panose="020B0609020204030204" pitchFamily="49" charset="0"/>
              </a:rPr>
              <a:t>}'</a:t>
            </a:r>
            <a:r>
              <a:rPr lang="en-IN" dirty="0">
                <a:solidFill>
                  <a:srgbClr val="CCCCCC"/>
                </a:solidFill>
                <a:latin typeface="Consolas" panose="020B0609020204030204" pitchFamily="49" charset="0"/>
              </a:rPr>
              <a:t>, </a:t>
            </a:r>
            <a:r>
              <a:rPr lang="en-IN" dirty="0">
                <a:solidFill>
                  <a:srgbClr val="6A9955"/>
                </a:solidFill>
                <a:latin typeface="Consolas" panose="020B0609020204030204" pitchFamily="49" charset="0"/>
              </a:rPr>
              <a:t>// Specify where Tailwind should look for class names</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theme:</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extend:</a:t>
            </a:r>
            <a:r>
              <a:rPr lang="en-IN" dirty="0">
                <a:solidFill>
                  <a:srgbClr val="CCCCCC"/>
                </a:solidFill>
                <a:latin typeface="Consolas" panose="020B0609020204030204" pitchFamily="49" charset="0"/>
              </a:rPr>
              <a:t> {}, </a:t>
            </a:r>
            <a:r>
              <a:rPr lang="en-IN" dirty="0">
                <a:solidFill>
                  <a:srgbClr val="6A9955"/>
                </a:solidFill>
                <a:latin typeface="Consolas" panose="020B0609020204030204" pitchFamily="49" charset="0"/>
              </a:rPr>
              <a:t>// Extend or override the default theme</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plugins:</a:t>
            </a:r>
            <a:r>
              <a:rPr lang="en-IN" dirty="0">
                <a:solidFill>
                  <a:srgbClr val="CCCCCC"/>
                </a:solidFill>
                <a:latin typeface="Consolas" panose="020B0609020204030204" pitchFamily="49" charset="0"/>
              </a:rPr>
              <a:t> [], </a:t>
            </a:r>
            <a:r>
              <a:rPr lang="en-IN" dirty="0">
                <a:solidFill>
                  <a:srgbClr val="6A9955"/>
                </a:solidFill>
                <a:latin typeface="Consolas" panose="020B0609020204030204" pitchFamily="49" charset="0"/>
              </a:rPr>
              <a:t>// Add custom plugins or use third-party plugins</a:t>
            </a:r>
            <a:endParaRPr lang="en-IN" dirty="0">
              <a:solidFill>
                <a:srgbClr val="CCCCCC"/>
              </a:solidFill>
              <a:latin typeface="Consolas" panose="020B0609020204030204" pitchFamily="49" charset="0"/>
            </a:endParaRPr>
          </a:p>
          <a:p>
            <a:r>
              <a:rPr lang="en-IN" dirty="0" smtClean="0">
                <a:solidFill>
                  <a:srgbClr val="CCCCCC"/>
                </a:solidFill>
                <a:latin typeface="Consolas" panose="020B0609020204030204" pitchFamily="49" charset="0"/>
              </a:rPr>
              <a:t>}</a:t>
            </a:r>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0446012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Configuration file</a:t>
            </a:r>
            <a:endParaRPr lang="en-IN" dirty="0"/>
          </a:p>
        </p:txBody>
      </p:sp>
      <p:sp>
        <p:nvSpPr>
          <p:cNvPr id="3" name="Content Placeholder 2"/>
          <p:cNvSpPr>
            <a:spLocks noGrp="1"/>
          </p:cNvSpPr>
          <p:nvPr>
            <p:ph idx="1"/>
          </p:nvPr>
        </p:nvSpPr>
        <p:spPr/>
        <p:txBody>
          <a:bodyPr>
            <a:normAutofit/>
          </a:bodyPr>
          <a:lstStyle/>
          <a:p>
            <a:r>
              <a:rPr lang="en-IN" b="1" dirty="0" smtClean="0"/>
              <a:t>Content</a:t>
            </a:r>
            <a:r>
              <a:rPr lang="en-IN" dirty="0" smtClean="0"/>
              <a:t>: </a:t>
            </a:r>
            <a:r>
              <a:rPr lang="en-US" dirty="0"/>
              <a:t>This property specifies the paths to all of your template files where Tailwind CSS will look for class names. </a:t>
            </a:r>
            <a:endParaRPr lang="en-US" dirty="0" smtClean="0"/>
          </a:p>
          <a:p>
            <a:pPr lvl="1"/>
            <a:r>
              <a:rPr lang="en-US" dirty="0" smtClean="0"/>
              <a:t>It's </a:t>
            </a:r>
            <a:r>
              <a:rPr lang="en-US" dirty="0"/>
              <a:t>crucial for Tailwind's purge mechanism to work </a:t>
            </a:r>
            <a:r>
              <a:rPr lang="en-US" dirty="0" smtClean="0"/>
              <a:t>efficiently.</a:t>
            </a:r>
          </a:p>
          <a:p>
            <a:r>
              <a:rPr lang="en-US" b="1" dirty="0" smtClean="0"/>
              <a:t>Theme</a:t>
            </a:r>
            <a:r>
              <a:rPr lang="en-US" dirty="0"/>
              <a:t>: This section is used to </a:t>
            </a:r>
            <a:r>
              <a:rPr lang="en-US" dirty="0" smtClean="0"/>
              <a:t>add </a:t>
            </a:r>
            <a:r>
              <a:rPr lang="en-US" dirty="0"/>
              <a:t>or extend </a:t>
            </a:r>
            <a:r>
              <a:rPr lang="en-US" dirty="0" smtClean="0"/>
              <a:t>(customize) various </a:t>
            </a:r>
            <a:r>
              <a:rPr lang="en-US" dirty="0"/>
              <a:t>aspects of the </a:t>
            </a:r>
            <a:r>
              <a:rPr lang="en-US" dirty="0" smtClean="0"/>
              <a:t>default </a:t>
            </a:r>
            <a:r>
              <a:rPr lang="en-US" dirty="0"/>
              <a:t>Tailwind </a:t>
            </a:r>
            <a:r>
              <a:rPr lang="en-US" dirty="0" smtClean="0"/>
              <a:t>themes (utilities).</a:t>
            </a:r>
            <a:endParaRPr lang="en-US" b="1" dirty="0" smtClean="0">
              <a:latin typeface="Arial" panose="020B0604020202020204" pitchFamily="34" charset="0"/>
            </a:endParaRPr>
          </a:p>
          <a:p>
            <a:pPr lvl="1" eaLnBrk="0" fontAlgn="base" hangingPunct="0">
              <a:lnSpc>
                <a:spcPct val="100000"/>
              </a:lnSpc>
              <a:spcBef>
                <a:spcPct val="0"/>
              </a:spcBef>
              <a:spcAft>
                <a:spcPct val="0"/>
              </a:spcAft>
              <a:buClrTx/>
            </a:pPr>
            <a:r>
              <a:rPr lang="en-US" altLang="en-US" sz="1800" spc="10" dirty="0">
                <a:solidFill>
                  <a:schemeClr val="tx1"/>
                </a:solidFill>
              </a:rPr>
              <a:t>Custom Colors, custom Spacing, breakpoints</a:t>
            </a:r>
          </a:p>
          <a:p>
            <a:pPr lvl="1"/>
            <a:r>
              <a:rPr lang="en-IN" sz="1800" spc="10" dirty="0">
                <a:solidFill>
                  <a:schemeClr val="tx1"/>
                </a:solidFill>
              </a:rPr>
              <a:t>Extends: </a:t>
            </a:r>
            <a:r>
              <a:rPr lang="en-US" altLang="en-US" sz="1800" spc="10" dirty="0">
                <a:solidFill>
                  <a:schemeClr val="tx1"/>
                </a:solidFill>
              </a:rPr>
              <a:t>Within the theme section, extends is used to add new values to the default Tailwind configuration without overriding it. </a:t>
            </a:r>
          </a:p>
          <a:p>
            <a:r>
              <a:rPr lang="en-IN" sz="1600" b="1" dirty="0" smtClean="0">
                <a:latin typeface="Arial" panose="020B0604020202020204" pitchFamily="34" charset="0"/>
              </a:rPr>
              <a:t>Plugins</a:t>
            </a:r>
            <a:r>
              <a:rPr lang="en-IN" sz="1600" dirty="0" smtClean="0">
                <a:latin typeface="Arial" panose="020B0604020202020204" pitchFamily="34" charset="0"/>
              </a:rPr>
              <a:t>: </a:t>
            </a:r>
            <a:r>
              <a:rPr lang="en-US" dirty="0"/>
              <a:t>This section is where you can include custom plugins or third-party plugins to extend </a:t>
            </a:r>
            <a:r>
              <a:rPr lang="en-US" dirty="0" smtClean="0"/>
              <a:t>Tailwind’s </a:t>
            </a:r>
            <a:r>
              <a:rPr lang="en-US" dirty="0"/>
              <a:t>functionality</a:t>
            </a:r>
            <a:r>
              <a:rPr lang="en-US" dirty="0" smtClean="0"/>
              <a:t>.</a:t>
            </a:r>
          </a:p>
          <a:p>
            <a:r>
              <a:rPr lang="en-US" b="1" dirty="0" err="1" smtClean="0"/>
              <a:t>Safelist</a:t>
            </a:r>
            <a:r>
              <a:rPr lang="en-US" dirty="0"/>
              <a:t>: Specify classes to always include in the final CSS, even if they are not found in your template files. Ensure certain classes are not purged, which can be useful for dynamically generated content.</a:t>
            </a:r>
            <a:endParaRPr lang="en-IN" dirty="0"/>
          </a:p>
        </p:txBody>
      </p:sp>
      <p:sp>
        <p:nvSpPr>
          <p:cNvPr id="4"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27401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Customizing the theme:</a:t>
            </a:r>
            <a:br>
              <a:rPr lang="en-IN" dirty="0" smtClean="0"/>
            </a:br>
            <a:r>
              <a:rPr lang="en-IN" dirty="0" smtClean="0"/>
              <a:t>extend </a:t>
            </a:r>
            <a:r>
              <a:rPr lang="en-IN" dirty="0" err="1" smtClean="0"/>
              <a:t>colors</a:t>
            </a:r>
            <a:r>
              <a:rPr lang="en-IN" dirty="0" smtClean="0"/>
              <a:t>, fonts, spacing</a:t>
            </a:r>
            <a:endParaRPr lang="en-IN" dirty="0"/>
          </a:p>
        </p:txBody>
      </p:sp>
      <p:sp>
        <p:nvSpPr>
          <p:cNvPr id="3" name="Content Placeholder 2"/>
          <p:cNvSpPr>
            <a:spLocks noGrp="1"/>
          </p:cNvSpPr>
          <p:nvPr>
            <p:ph idx="1"/>
          </p:nvPr>
        </p:nvSpPr>
        <p:spPr>
          <a:xfrm>
            <a:off x="1261871" y="1828800"/>
            <a:ext cx="7420215" cy="4351337"/>
          </a:xfrm>
          <a:solidFill>
            <a:schemeClr val="tx1">
              <a:lumMod val="75000"/>
              <a:lumOff val="25000"/>
            </a:schemeClr>
          </a:solidFill>
        </p:spPr>
        <p:txBody>
          <a:bodyPr>
            <a:normAutofit lnSpcReduction="10000"/>
          </a:bodyPr>
          <a:lstStyle/>
          <a:p>
            <a:pPr marL="0" indent="0">
              <a:spcBef>
                <a:spcPts val="0"/>
              </a:spcBef>
              <a:spcAft>
                <a:spcPts val="0"/>
              </a:spcAft>
              <a:buNone/>
            </a:pPr>
            <a:r>
              <a:rPr lang="en-IN" dirty="0">
                <a:solidFill>
                  <a:srgbClr val="4EC9B0"/>
                </a:solidFill>
                <a:latin typeface="Consolas" panose="020B0609020204030204" pitchFamily="49" charset="0"/>
              </a:rPr>
              <a:t>module</a:t>
            </a:r>
            <a:r>
              <a:rPr lang="en-IN" dirty="0">
                <a:solidFill>
                  <a:srgbClr val="CCCCCC"/>
                </a:solidFill>
                <a:latin typeface="Consolas" panose="020B0609020204030204" pitchFamily="49" charset="0"/>
              </a:rPr>
              <a:t>.</a:t>
            </a:r>
            <a:r>
              <a:rPr lang="en-IN" dirty="0">
                <a:solidFill>
                  <a:srgbClr val="4EC9B0"/>
                </a:solidFill>
                <a:latin typeface="Consolas" panose="020B0609020204030204" pitchFamily="49" charset="0"/>
              </a:rPr>
              <a:t>exports</a:t>
            </a:r>
            <a:r>
              <a:rPr lang="en-IN" dirty="0">
                <a:solidFill>
                  <a:srgbClr val="CCCCCC"/>
                </a:solidFill>
                <a:latin typeface="Consolas" panose="020B0609020204030204" pitchFamily="49" charset="0"/>
              </a:rPr>
              <a:t> </a:t>
            </a:r>
            <a:r>
              <a:rPr lang="en-IN" dirty="0">
                <a:solidFill>
                  <a:srgbClr val="D4D4D4"/>
                </a:solidFill>
                <a:latin typeface="Consolas" panose="020B0609020204030204" pitchFamily="49" charset="0"/>
              </a:rPr>
              <a:t>=</a:t>
            </a: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theme:</a:t>
            </a: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extend:</a:t>
            </a: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r>
              <a:rPr lang="en-IN" dirty="0" err="1">
                <a:solidFill>
                  <a:srgbClr val="9CDCFE"/>
                </a:solidFill>
                <a:latin typeface="Consolas" panose="020B0609020204030204" pitchFamily="49" charset="0"/>
              </a:rPr>
              <a:t>colors</a:t>
            </a:r>
            <a:r>
              <a:rPr lang="en-IN" dirty="0">
                <a:solidFill>
                  <a:srgbClr val="9CDCFE"/>
                </a:solidFill>
                <a:latin typeface="Consolas" panose="020B0609020204030204" pitchFamily="49" charset="0"/>
              </a:rPr>
              <a:t>:</a:t>
            </a: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brand:</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"#1DA1F2"</a:t>
            </a:r>
            <a:r>
              <a:rPr lang="en-IN" dirty="0">
                <a:solidFill>
                  <a:srgbClr val="CCCCCC"/>
                </a:solidFill>
                <a:latin typeface="Consolas" panose="020B0609020204030204" pitchFamily="49" charset="0"/>
              </a:rPr>
              <a:t>,</a:t>
            </a:r>
          </a:p>
          <a:p>
            <a:pPr marL="0" indent="0">
              <a:spcBef>
                <a:spcPts val="0"/>
              </a:spcBef>
              <a:spcAft>
                <a:spcPts val="0"/>
              </a:spcAft>
              <a:buNone/>
            </a:pP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r>
              <a:rPr lang="en-IN" dirty="0" err="1">
                <a:solidFill>
                  <a:srgbClr val="9CDCFE"/>
                </a:solidFill>
                <a:latin typeface="Consolas" panose="020B0609020204030204" pitchFamily="49" charset="0"/>
              </a:rPr>
              <a:t>fontFamily</a:t>
            </a:r>
            <a:r>
              <a:rPr lang="en-IN" dirty="0">
                <a:solidFill>
                  <a:srgbClr val="9CDCFE"/>
                </a:solidFill>
                <a:latin typeface="Consolas" panose="020B0609020204030204" pitchFamily="49" charset="0"/>
              </a:rPr>
              <a:t>:</a:t>
            </a: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heading:</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"Poppins"</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"sans-serif"</a:t>
            </a:r>
            <a:r>
              <a:rPr lang="en-IN" dirty="0">
                <a:solidFill>
                  <a:srgbClr val="CCCCCC"/>
                </a:solidFill>
                <a:latin typeface="Consolas" panose="020B0609020204030204" pitchFamily="49" charset="0"/>
              </a:rPr>
              <a:t>],</a:t>
            </a:r>
          </a:p>
          <a:p>
            <a:pPr marL="0" indent="0">
              <a:spcBef>
                <a:spcPts val="0"/>
              </a:spcBef>
              <a:spcAft>
                <a:spcPts val="0"/>
              </a:spcAft>
              <a:buNone/>
            </a:pP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spacing:</a:t>
            </a: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r>
              <a:rPr lang="en-IN" dirty="0">
                <a:solidFill>
                  <a:srgbClr val="B5CEA8"/>
                </a:solidFill>
                <a:latin typeface="Consolas" panose="020B0609020204030204" pitchFamily="49" charset="0"/>
              </a:rPr>
              <a:t>72</a:t>
            </a:r>
            <a:r>
              <a:rPr lang="en-IN" dirty="0">
                <a:solidFill>
                  <a:srgbClr val="9CDCFE"/>
                </a:solidFill>
                <a:latin typeface="Consolas" panose="020B0609020204030204" pitchFamily="49" charset="0"/>
              </a:rPr>
              <a:t>:</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"18rem"</a:t>
            </a:r>
            <a:r>
              <a:rPr lang="en-IN" dirty="0">
                <a:solidFill>
                  <a:srgbClr val="CCCCCC"/>
                </a:solidFill>
                <a:latin typeface="Consolas" panose="020B0609020204030204" pitchFamily="49" charset="0"/>
              </a:rPr>
              <a:t>,</a:t>
            </a:r>
          </a:p>
          <a:p>
            <a:pPr marL="0" indent="0">
              <a:spcBef>
                <a:spcPts val="0"/>
              </a:spcBef>
              <a:spcAft>
                <a:spcPts val="0"/>
              </a:spcAft>
              <a:buNone/>
            </a:pPr>
            <a:r>
              <a:rPr lang="en-IN" dirty="0">
                <a:solidFill>
                  <a:srgbClr val="CCCCCC"/>
                </a:solidFill>
                <a:latin typeface="Consolas" panose="020B0609020204030204" pitchFamily="49" charset="0"/>
              </a:rPr>
              <a:t>            </a:t>
            </a:r>
            <a:r>
              <a:rPr lang="en-IN" dirty="0">
                <a:solidFill>
                  <a:srgbClr val="B5CEA8"/>
                </a:solidFill>
                <a:latin typeface="Consolas" panose="020B0609020204030204" pitchFamily="49" charset="0"/>
              </a:rPr>
              <a:t>84</a:t>
            </a:r>
            <a:r>
              <a:rPr lang="en-IN" dirty="0">
                <a:solidFill>
                  <a:srgbClr val="9CDCFE"/>
                </a:solidFill>
                <a:latin typeface="Consolas" panose="020B0609020204030204" pitchFamily="49" charset="0"/>
              </a:rPr>
              <a:t>:</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"21rem"</a:t>
            </a:r>
            <a:r>
              <a:rPr lang="en-IN" dirty="0">
                <a:solidFill>
                  <a:srgbClr val="CCCCCC"/>
                </a:solidFill>
                <a:latin typeface="Consolas" panose="020B0609020204030204" pitchFamily="49" charset="0"/>
              </a:rPr>
              <a:t>,</a:t>
            </a:r>
          </a:p>
          <a:p>
            <a:pPr marL="0" indent="0">
              <a:spcBef>
                <a:spcPts val="0"/>
              </a:spcBef>
              <a:spcAft>
                <a:spcPts val="0"/>
              </a:spcAft>
              <a:buNone/>
            </a:pP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    </a:t>
            </a:r>
          </a:p>
          <a:p>
            <a:pPr marL="0" indent="0">
              <a:spcBef>
                <a:spcPts val="0"/>
              </a:spcBef>
              <a:spcAft>
                <a:spcPts val="0"/>
              </a:spcAft>
              <a:buNone/>
            </a:pPr>
            <a:r>
              <a:rPr lang="en-IN" dirty="0">
                <a:solidFill>
                  <a:srgbClr val="CCCCCC"/>
                </a:solidFill>
                <a:latin typeface="Consolas" panose="020B0609020204030204" pitchFamily="49" charset="0"/>
              </a:rPr>
              <a:t>}</a:t>
            </a:r>
          </a:p>
          <a:p>
            <a:pPr marL="0" indent="0">
              <a:spcBef>
                <a:spcPts val="0"/>
              </a:spcBef>
              <a:spcAft>
                <a:spcPts val="0"/>
              </a:spcAft>
              <a:buNone/>
            </a:pPr>
            <a:endParaRPr lang="en-IN" dirty="0"/>
          </a:p>
        </p:txBody>
      </p:sp>
    </p:spTree>
    <p:extLst>
      <p:ext uri="{BB962C8B-B14F-4D97-AF65-F5344CB8AC3E}">
        <p14:creationId xmlns:p14="http://schemas.microsoft.com/office/powerpoint/2010/main" val="34250167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Plugins in </a:t>
            </a:r>
            <a:r>
              <a:rPr lang="en-IN" dirty="0" err="1" smtClean="0"/>
              <a:t>TailwindCSS</a:t>
            </a:r>
            <a:endParaRPr lang="en-IN" dirty="0"/>
          </a:p>
        </p:txBody>
      </p:sp>
      <p:sp>
        <p:nvSpPr>
          <p:cNvPr id="3" name="Content Placeholder 2"/>
          <p:cNvSpPr>
            <a:spLocks noGrp="1"/>
          </p:cNvSpPr>
          <p:nvPr>
            <p:ph idx="1"/>
          </p:nvPr>
        </p:nvSpPr>
        <p:spPr/>
        <p:txBody>
          <a:bodyPr/>
          <a:lstStyle/>
          <a:p>
            <a:r>
              <a:rPr lang="en-US" dirty="0"/>
              <a:t>A plugin in Tailwind CSS is an extension mechanism that lets you add new features, utilities, components, or variants beyond what Tailwind </a:t>
            </a:r>
            <a:r>
              <a:rPr lang="en-US" dirty="0" smtClean="0"/>
              <a:t>provides out of the box. </a:t>
            </a:r>
          </a:p>
          <a:p>
            <a:r>
              <a:rPr lang="en-US" dirty="0" smtClean="0"/>
              <a:t>Common use case: install and use a plugin</a:t>
            </a:r>
          </a:p>
          <a:p>
            <a:pPr lvl="1"/>
            <a:r>
              <a:rPr lang="en-US" dirty="0" err="1"/>
              <a:t>n</a:t>
            </a:r>
            <a:r>
              <a:rPr lang="en-US" dirty="0" err="1" smtClean="0"/>
              <a:t>pm</a:t>
            </a:r>
            <a:r>
              <a:rPr lang="en-US" dirty="0" smtClean="0"/>
              <a:t> install @</a:t>
            </a:r>
            <a:r>
              <a:rPr lang="en-US" dirty="0" err="1" smtClean="0"/>
              <a:t>tailwindcss</a:t>
            </a:r>
            <a:r>
              <a:rPr lang="en-US" dirty="0" smtClean="0"/>
              <a:t>/typography</a:t>
            </a:r>
          </a:p>
          <a:p>
            <a:r>
              <a:rPr lang="en-US" dirty="0" smtClean="0"/>
              <a:t>Tailwind.config.js</a:t>
            </a:r>
          </a:p>
          <a:p>
            <a:endParaRPr lang="en-IN" dirty="0"/>
          </a:p>
        </p:txBody>
      </p:sp>
      <p:sp>
        <p:nvSpPr>
          <p:cNvPr id="5" name="TextBox 4"/>
          <p:cNvSpPr txBox="1"/>
          <p:nvPr/>
        </p:nvSpPr>
        <p:spPr>
          <a:xfrm>
            <a:off x="1677594" y="4091232"/>
            <a:ext cx="4430598" cy="2585323"/>
          </a:xfrm>
          <a:prstGeom prst="rect">
            <a:avLst/>
          </a:prstGeom>
          <a:noFill/>
          <a:ln>
            <a:solidFill>
              <a:schemeClr val="tx1"/>
            </a:solidFill>
          </a:ln>
        </p:spPr>
        <p:txBody>
          <a:bodyPr wrap="square" rtlCol="0">
            <a:spAutoFit/>
          </a:bodyPr>
          <a:lstStyle/>
          <a:p>
            <a:r>
              <a:rPr lang="en-IN" dirty="0"/>
              <a:t>// tailwind.config.js</a:t>
            </a:r>
          </a:p>
          <a:p>
            <a:r>
              <a:rPr lang="en-IN" dirty="0"/>
              <a:t>module.exports = {</a:t>
            </a:r>
          </a:p>
          <a:p>
            <a:r>
              <a:rPr lang="en-IN" dirty="0"/>
              <a:t>  theme: {</a:t>
            </a:r>
          </a:p>
          <a:p>
            <a:r>
              <a:rPr lang="en-IN" dirty="0"/>
              <a:t>    extend: {},</a:t>
            </a:r>
          </a:p>
          <a:p>
            <a:r>
              <a:rPr lang="en-IN" dirty="0"/>
              <a:t>  },</a:t>
            </a:r>
          </a:p>
          <a:p>
            <a:r>
              <a:rPr lang="en-IN" dirty="0"/>
              <a:t>  plugins: [</a:t>
            </a:r>
          </a:p>
          <a:p>
            <a:r>
              <a:rPr lang="en-IN" dirty="0"/>
              <a:t>  </a:t>
            </a:r>
            <a:r>
              <a:rPr lang="en-IN" dirty="0" smtClean="0"/>
              <a:t> require</a:t>
            </a:r>
            <a:r>
              <a:rPr lang="en-IN" dirty="0"/>
              <a:t>('@</a:t>
            </a:r>
            <a:r>
              <a:rPr lang="en-IN" dirty="0" err="1"/>
              <a:t>tailwindcss</a:t>
            </a:r>
            <a:r>
              <a:rPr lang="en-IN" dirty="0"/>
              <a:t>/typography'),</a:t>
            </a:r>
          </a:p>
          <a:p>
            <a:r>
              <a:rPr lang="en-IN" dirty="0"/>
              <a:t>  ],</a:t>
            </a:r>
          </a:p>
          <a:p>
            <a:r>
              <a:rPr lang="en-IN" dirty="0"/>
              <a:t>}</a:t>
            </a:r>
          </a:p>
        </p:txBody>
      </p:sp>
      <p:sp>
        <p:nvSpPr>
          <p:cNvPr id="6" name="TextBox 5"/>
          <p:cNvSpPr txBox="1"/>
          <p:nvPr/>
        </p:nvSpPr>
        <p:spPr>
          <a:xfrm>
            <a:off x="6435302" y="4229731"/>
            <a:ext cx="3421930" cy="2308324"/>
          </a:xfrm>
          <a:prstGeom prst="rect">
            <a:avLst/>
          </a:prstGeom>
          <a:noFill/>
          <a:ln>
            <a:solidFill>
              <a:schemeClr val="tx1"/>
            </a:solidFill>
          </a:ln>
        </p:spPr>
        <p:txBody>
          <a:bodyPr wrap="square" rtlCol="0">
            <a:spAutoFit/>
          </a:bodyPr>
          <a:lstStyle/>
          <a:p>
            <a:r>
              <a:rPr lang="en-US" dirty="0" smtClean="0"/>
              <a:t>//HTML</a:t>
            </a:r>
          </a:p>
          <a:p>
            <a:r>
              <a:rPr lang="en-US" dirty="0" smtClean="0"/>
              <a:t>&lt;article </a:t>
            </a:r>
            <a:r>
              <a:rPr lang="en-US" dirty="0"/>
              <a:t>class="prose"&gt;</a:t>
            </a:r>
          </a:p>
          <a:p>
            <a:r>
              <a:rPr lang="en-US" dirty="0"/>
              <a:t>  &lt;h1&gt;Hello World&lt;/h1&gt;</a:t>
            </a:r>
          </a:p>
          <a:p>
            <a:r>
              <a:rPr lang="en-US" dirty="0"/>
              <a:t>  &lt;p&gt;This paragraph is styled by Tailwind Typography plugin</a:t>
            </a:r>
            <a:r>
              <a:rPr lang="en-US" dirty="0" smtClean="0"/>
              <a:t>.</a:t>
            </a:r>
          </a:p>
          <a:p>
            <a:r>
              <a:rPr lang="en-US" dirty="0" smtClean="0"/>
              <a:t>&lt;/</a:t>
            </a:r>
            <a:r>
              <a:rPr lang="en-US" dirty="0"/>
              <a:t>p&gt;</a:t>
            </a:r>
          </a:p>
          <a:p>
            <a:r>
              <a:rPr lang="en-US" dirty="0"/>
              <a:t>&lt;/article&gt;</a:t>
            </a:r>
            <a:endParaRPr lang="en-IN" dirty="0"/>
          </a:p>
        </p:txBody>
      </p:sp>
    </p:spTree>
    <p:extLst>
      <p:ext uri="{BB962C8B-B14F-4D97-AF65-F5344CB8AC3E}">
        <p14:creationId xmlns:p14="http://schemas.microsoft.com/office/powerpoint/2010/main" val="23445024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Config</a:t>
            </a:r>
            <a:r>
              <a:rPr lang="en-IN" dirty="0" smtClean="0"/>
              <a:t> file and usage</a:t>
            </a:r>
            <a:endParaRPr lang="en-IN" dirty="0"/>
          </a:p>
        </p:txBody>
      </p:sp>
      <p:sp>
        <p:nvSpPr>
          <p:cNvPr id="3" name="Content Placeholder 2"/>
          <p:cNvSpPr>
            <a:spLocks noGrp="1"/>
          </p:cNvSpPr>
          <p:nvPr>
            <p:ph idx="1"/>
          </p:nvPr>
        </p:nvSpPr>
        <p:spPr>
          <a:xfrm>
            <a:off x="667982" y="1772239"/>
            <a:ext cx="4422491" cy="4351337"/>
          </a:xfrm>
          <a:solidFill>
            <a:schemeClr val="tx1">
              <a:lumMod val="75000"/>
              <a:lumOff val="25000"/>
            </a:schemeClr>
          </a:solidFill>
        </p:spPr>
        <p:txBody>
          <a:bodyPr>
            <a:normAutofit fontScale="77500" lnSpcReduction="20000"/>
          </a:bodyPr>
          <a:lstStyle/>
          <a:p>
            <a:r>
              <a:rPr lang="en-IN" dirty="0">
                <a:solidFill>
                  <a:srgbClr val="4EC9B0"/>
                </a:solidFill>
                <a:latin typeface="Consolas" panose="020B0609020204030204" pitchFamily="49" charset="0"/>
              </a:rPr>
              <a:t>module</a:t>
            </a:r>
            <a:r>
              <a:rPr lang="en-IN" dirty="0">
                <a:solidFill>
                  <a:srgbClr val="CCCCCC"/>
                </a:solidFill>
                <a:latin typeface="Consolas" panose="020B0609020204030204" pitchFamily="49" charset="0"/>
              </a:rPr>
              <a:t>.</a:t>
            </a:r>
            <a:r>
              <a:rPr lang="en-IN" dirty="0">
                <a:solidFill>
                  <a:srgbClr val="4EC9B0"/>
                </a:solidFill>
                <a:latin typeface="Consolas" panose="020B0609020204030204" pitchFamily="49" charset="0"/>
              </a:rPr>
              <a:t>exports</a:t>
            </a:r>
            <a:r>
              <a:rPr lang="en-IN" dirty="0">
                <a:solidFill>
                  <a:srgbClr val="CCCCCC"/>
                </a:solidFill>
                <a:latin typeface="Consolas" panose="020B0609020204030204" pitchFamily="49" charset="0"/>
              </a:rPr>
              <a:t> </a:t>
            </a:r>
            <a:r>
              <a:rPr lang="en-IN" dirty="0">
                <a:solidFill>
                  <a:srgbClr val="D4D4D4"/>
                </a:solidFill>
                <a:latin typeface="Consolas" panose="020B0609020204030204" pitchFamily="49" charset="0"/>
              </a:rPr>
              <a:t>=</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theme:</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extend:</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plugins:</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DCDCAA"/>
                </a:solidFill>
                <a:latin typeface="Consolas" panose="020B0609020204030204" pitchFamily="49" charset="0"/>
              </a:rPr>
              <a:t>require</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tailwindcss</a:t>
            </a:r>
            <a:r>
              <a:rPr lang="en-IN" dirty="0">
                <a:solidFill>
                  <a:srgbClr val="CE9178"/>
                </a:solidFill>
                <a:latin typeface="Consolas" panose="020B0609020204030204" pitchFamily="49" charset="0"/>
              </a:rPr>
              <a:t>/typography'</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smtClean="0">
                <a:solidFill>
                  <a:srgbClr val="DCDCAA"/>
                </a:solidFill>
                <a:latin typeface="Consolas" panose="020B0609020204030204" pitchFamily="49" charset="0"/>
              </a:rPr>
              <a:t>require</a:t>
            </a:r>
            <a:r>
              <a:rPr lang="en-IN" dirty="0" smtClean="0">
                <a:solidFill>
                  <a:srgbClr val="CCCCCC"/>
                </a:solidFill>
                <a:latin typeface="Consolas" panose="020B0609020204030204" pitchFamily="49" charset="0"/>
              </a:rPr>
              <a:t>(</a:t>
            </a:r>
            <a:r>
              <a:rPr lang="en-IN" dirty="0" smtClean="0">
                <a:solidFill>
                  <a:srgbClr val="CE9178"/>
                </a:solidFill>
                <a:latin typeface="Consolas" panose="020B0609020204030204" pitchFamily="49" charset="0"/>
              </a:rPr>
              <a:t>'@</a:t>
            </a:r>
            <a:r>
              <a:rPr lang="en-IN" dirty="0" err="1" smtClean="0">
                <a:solidFill>
                  <a:srgbClr val="CE9178"/>
                </a:solidFill>
                <a:latin typeface="Consolas" panose="020B0609020204030204" pitchFamily="49" charset="0"/>
              </a:rPr>
              <a:t>tailwindcss</a:t>
            </a:r>
            <a:r>
              <a:rPr lang="en-IN" dirty="0" smtClean="0">
                <a:solidFill>
                  <a:srgbClr val="CE9178"/>
                </a:solidFill>
                <a:latin typeface="Consolas" panose="020B0609020204030204" pitchFamily="49" charset="0"/>
              </a:rPr>
              <a:t>/forms'</a:t>
            </a:r>
            <a:r>
              <a:rPr lang="en-IN" dirty="0" smtClean="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endParaRPr lang="en-IN" dirty="0">
              <a:solidFill>
                <a:srgbClr val="CCCCCC"/>
              </a:solidFill>
              <a:latin typeface="Consolas" panose="020B0609020204030204" pitchFamily="49" charset="0"/>
            </a:endParaRPr>
          </a:p>
          <a:p>
            <a:pPr marL="0" indent="0">
              <a:buNone/>
            </a:pPr>
            <a:endParaRPr lang="en-IN" dirty="0"/>
          </a:p>
        </p:txBody>
      </p:sp>
      <p:sp>
        <p:nvSpPr>
          <p:cNvPr id="4" name="TextBox 3"/>
          <p:cNvSpPr txBox="1"/>
          <p:nvPr/>
        </p:nvSpPr>
        <p:spPr>
          <a:xfrm>
            <a:off x="4637988" y="1234911"/>
            <a:ext cx="45719" cy="369332"/>
          </a:xfrm>
          <a:prstGeom prst="rect">
            <a:avLst/>
          </a:prstGeom>
          <a:noFill/>
        </p:spPr>
        <p:txBody>
          <a:bodyPr wrap="square" rtlCol="0">
            <a:spAutoFit/>
          </a:bodyPr>
          <a:lstStyle/>
          <a:p>
            <a:endParaRPr lang="en-IN" dirty="0"/>
          </a:p>
        </p:txBody>
      </p:sp>
      <p:sp>
        <p:nvSpPr>
          <p:cNvPr id="5" name="TextBox 4"/>
          <p:cNvSpPr txBox="1"/>
          <p:nvPr/>
        </p:nvSpPr>
        <p:spPr>
          <a:xfrm>
            <a:off x="5279011" y="1880809"/>
            <a:ext cx="5778630" cy="2862322"/>
          </a:xfrm>
          <a:prstGeom prst="rect">
            <a:avLst/>
          </a:prstGeom>
          <a:solidFill>
            <a:schemeClr val="tx1">
              <a:lumMod val="75000"/>
              <a:lumOff val="25000"/>
            </a:schemeClr>
          </a:solidFill>
        </p:spPr>
        <p:txBody>
          <a:bodyPr wrap="square" rtlCol="0">
            <a:spAutoFit/>
          </a:bodyPr>
          <a:lstStyle/>
          <a:p>
            <a:r>
              <a:rPr lang="en-IN" sz="1600" dirty="0">
                <a:solidFill>
                  <a:srgbClr val="808080"/>
                </a:solidFill>
                <a:latin typeface="Consolas" panose="020B0609020204030204" pitchFamily="49" charset="0"/>
              </a:rPr>
              <a:t>&lt;</a:t>
            </a:r>
            <a:r>
              <a:rPr lang="en-IN" sz="1600" dirty="0">
                <a:solidFill>
                  <a:srgbClr val="569CD6"/>
                </a:solidFill>
                <a:latin typeface="Consolas" panose="020B0609020204030204" pitchFamily="49" charset="0"/>
              </a:rPr>
              <a:t>article</a:t>
            </a:r>
            <a:r>
              <a:rPr lang="en-IN" sz="1600" dirty="0">
                <a:solidFill>
                  <a:srgbClr val="CCCCCC"/>
                </a:solidFill>
                <a:latin typeface="Consolas" panose="020B0609020204030204" pitchFamily="49" charset="0"/>
              </a:rPr>
              <a:t> </a:t>
            </a:r>
            <a:r>
              <a:rPr lang="en-IN" sz="1600" dirty="0">
                <a:solidFill>
                  <a:srgbClr val="9CDCFE"/>
                </a:solidFill>
                <a:latin typeface="Consolas" panose="020B0609020204030204" pitchFamily="49" charset="0"/>
              </a:rPr>
              <a:t>class</a:t>
            </a:r>
            <a:r>
              <a:rPr lang="en-IN" sz="1600" dirty="0">
                <a:solidFill>
                  <a:srgbClr val="CCCCCC"/>
                </a:solidFill>
                <a:latin typeface="Consolas" panose="020B0609020204030204" pitchFamily="49" charset="0"/>
              </a:rPr>
              <a:t>=</a:t>
            </a:r>
            <a:r>
              <a:rPr lang="en-IN" sz="1600" dirty="0">
                <a:solidFill>
                  <a:srgbClr val="CE9178"/>
                </a:solidFill>
                <a:latin typeface="Consolas" panose="020B0609020204030204" pitchFamily="49" charset="0"/>
              </a:rPr>
              <a:t>"prose </a:t>
            </a:r>
            <a:r>
              <a:rPr lang="en-IN" sz="1600" dirty="0" err="1">
                <a:solidFill>
                  <a:srgbClr val="CE9178"/>
                </a:solidFill>
                <a:latin typeface="Consolas" panose="020B0609020204030204" pitchFamily="49" charset="0"/>
              </a:rPr>
              <a:t>lg:prose-xl</a:t>
            </a:r>
            <a:r>
              <a:rPr lang="en-IN" sz="1600" dirty="0">
                <a:solidFill>
                  <a:srgbClr val="CE9178"/>
                </a:solidFill>
                <a:latin typeface="Consolas" panose="020B0609020204030204" pitchFamily="49" charset="0"/>
              </a:rPr>
              <a:t>"</a:t>
            </a:r>
            <a:r>
              <a:rPr lang="en-IN" sz="1600" dirty="0">
                <a:solidFill>
                  <a:srgbClr val="808080"/>
                </a:solidFill>
                <a:latin typeface="Consolas" panose="020B0609020204030204" pitchFamily="49" charset="0"/>
              </a:rPr>
              <a:t>&gt;</a:t>
            </a:r>
            <a:endParaRPr lang="en-IN" sz="1600" dirty="0">
              <a:solidFill>
                <a:srgbClr val="CCCCCC"/>
              </a:solidFill>
              <a:latin typeface="Consolas" panose="020B0609020204030204" pitchFamily="49" charset="0"/>
            </a:endParaRPr>
          </a:p>
          <a:p>
            <a:r>
              <a:rPr lang="en-IN" sz="1600" dirty="0">
                <a:solidFill>
                  <a:srgbClr val="CCCCCC"/>
                </a:solidFill>
                <a:latin typeface="Consolas" panose="020B0609020204030204" pitchFamily="49" charset="0"/>
              </a:rPr>
              <a:t>    </a:t>
            </a:r>
            <a:r>
              <a:rPr lang="en-IN" sz="1600" dirty="0">
                <a:solidFill>
                  <a:srgbClr val="808080"/>
                </a:solidFill>
                <a:latin typeface="Consolas" panose="020B0609020204030204" pitchFamily="49" charset="0"/>
              </a:rPr>
              <a:t>&lt;</a:t>
            </a:r>
            <a:r>
              <a:rPr lang="en-IN" sz="1600" dirty="0">
                <a:solidFill>
                  <a:srgbClr val="569CD6"/>
                </a:solidFill>
                <a:latin typeface="Consolas" panose="020B0609020204030204" pitchFamily="49" charset="0"/>
              </a:rPr>
              <a:t>h1</a:t>
            </a:r>
            <a:r>
              <a:rPr lang="en-IN" sz="1600" dirty="0">
                <a:solidFill>
                  <a:srgbClr val="808080"/>
                </a:solidFill>
                <a:latin typeface="Consolas" panose="020B0609020204030204" pitchFamily="49" charset="0"/>
              </a:rPr>
              <a:t>&gt;</a:t>
            </a:r>
            <a:r>
              <a:rPr lang="en-IN" sz="1600" dirty="0">
                <a:solidFill>
                  <a:srgbClr val="CCCCCC"/>
                </a:solidFill>
                <a:latin typeface="Consolas" panose="020B0609020204030204" pitchFamily="49" charset="0"/>
              </a:rPr>
              <a:t>Introducing Tailwind Typography</a:t>
            </a:r>
            <a:r>
              <a:rPr lang="en-IN" sz="1600" dirty="0">
                <a:solidFill>
                  <a:srgbClr val="808080"/>
                </a:solidFill>
                <a:latin typeface="Consolas" panose="020B0609020204030204" pitchFamily="49" charset="0"/>
              </a:rPr>
              <a:t>&lt;/</a:t>
            </a:r>
            <a:r>
              <a:rPr lang="en-IN" sz="1600" dirty="0">
                <a:solidFill>
                  <a:srgbClr val="569CD6"/>
                </a:solidFill>
                <a:latin typeface="Consolas" panose="020B0609020204030204" pitchFamily="49" charset="0"/>
              </a:rPr>
              <a:t>h1</a:t>
            </a:r>
            <a:r>
              <a:rPr lang="en-IN" sz="1600" dirty="0">
                <a:solidFill>
                  <a:srgbClr val="808080"/>
                </a:solidFill>
                <a:latin typeface="Consolas" panose="020B0609020204030204" pitchFamily="49" charset="0"/>
              </a:rPr>
              <a:t>&gt;</a:t>
            </a:r>
            <a:endParaRPr lang="en-IN" sz="1600" dirty="0">
              <a:solidFill>
                <a:srgbClr val="CCCCCC"/>
              </a:solidFill>
              <a:latin typeface="Consolas" panose="020B0609020204030204" pitchFamily="49" charset="0"/>
            </a:endParaRPr>
          </a:p>
          <a:p>
            <a:r>
              <a:rPr lang="en-IN" sz="1600" dirty="0">
                <a:solidFill>
                  <a:srgbClr val="CCCCCC"/>
                </a:solidFill>
                <a:latin typeface="Consolas" panose="020B0609020204030204" pitchFamily="49" charset="0"/>
              </a:rPr>
              <a:t>    </a:t>
            </a:r>
            <a:r>
              <a:rPr lang="en-IN" sz="1600" dirty="0">
                <a:solidFill>
                  <a:srgbClr val="808080"/>
                </a:solidFill>
                <a:latin typeface="Consolas" panose="020B0609020204030204" pitchFamily="49" charset="0"/>
              </a:rPr>
              <a:t>&lt;</a:t>
            </a:r>
            <a:r>
              <a:rPr lang="en-IN" sz="1600" dirty="0">
                <a:solidFill>
                  <a:srgbClr val="569CD6"/>
                </a:solidFill>
                <a:latin typeface="Consolas" panose="020B0609020204030204" pitchFamily="49" charset="0"/>
              </a:rPr>
              <a:t>p</a:t>
            </a:r>
            <a:r>
              <a:rPr lang="en-IN" sz="1600" dirty="0">
                <a:solidFill>
                  <a:srgbClr val="808080"/>
                </a:solidFill>
                <a:latin typeface="Consolas" panose="020B0609020204030204" pitchFamily="49" charset="0"/>
              </a:rPr>
              <a:t>&gt;</a:t>
            </a:r>
            <a:endParaRPr lang="en-IN" sz="1600" dirty="0">
              <a:solidFill>
                <a:srgbClr val="CCCCCC"/>
              </a:solidFill>
              <a:latin typeface="Consolas" panose="020B0609020204030204" pitchFamily="49" charset="0"/>
            </a:endParaRPr>
          </a:p>
          <a:p>
            <a:r>
              <a:rPr lang="en-IN" sz="1600" dirty="0">
                <a:solidFill>
                  <a:srgbClr val="CCCCCC"/>
                </a:solidFill>
                <a:latin typeface="Consolas" panose="020B0609020204030204" pitchFamily="49" charset="0"/>
              </a:rPr>
              <a:t>      This plugin makes your text look amazing without writing extra CSS.</a:t>
            </a:r>
          </a:p>
          <a:p>
            <a:r>
              <a:rPr lang="en-IN" sz="1600" dirty="0">
                <a:solidFill>
                  <a:srgbClr val="CCCCCC"/>
                </a:solidFill>
                <a:latin typeface="Consolas" panose="020B0609020204030204" pitchFamily="49" charset="0"/>
              </a:rPr>
              <a:t>    </a:t>
            </a:r>
            <a:r>
              <a:rPr lang="en-IN" sz="1600" dirty="0">
                <a:solidFill>
                  <a:srgbClr val="808080"/>
                </a:solidFill>
                <a:latin typeface="Consolas" panose="020B0609020204030204" pitchFamily="49" charset="0"/>
              </a:rPr>
              <a:t>&lt;/</a:t>
            </a:r>
            <a:r>
              <a:rPr lang="en-IN" sz="1600" dirty="0">
                <a:solidFill>
                  <a:srgbClr val="569CD6"/>
                </a:solidFill>
                <a:latin typeface="Consolas" panose="020B0609020204030204" pitchFamily="49" charset="0"/>
              </a:rPr>
              <a:t>p</a:t>
            </a:r>
            <a:r>
              <a:rPr lang="en-IN" sz="1600" dirty="0">
                <a:solidFill>
                  <a:srgbClr val="808080"/>
                </a:solidFill>
                <a:latin typeface="Consolas" panose="020B0609020204030204" pitchFamily="49" charset="0"/>
              </a:rPr>
              <a:t>&gt;</a:t>
            </a:r>
            <a:endParaRPr lang="en-IN" sz="1600" dirty="0">
              <a:solidFill>
                <a:srgbClr val="CCCCCC"/>
              </a:solidFill>
              <a:latin typeface="Consolas" panose="020B0609020204030204" pitchFamily="49" charset="0"/>
            </a:endParaRPr>
          </a:p>
          <a:p>
            <a:r>
              <a:rPr lang="en-IN" sz="1600" dirty="0">
                <a:solidFill>
                  <a:srgbClr val="CCCCCC"/>
                </a:solidFill>
                <a:latin typeface="Consolas" panose="020B0609020204030204" pitchFamily="49" charset="0"/>
              </a:rPr>
              <a:t>    </a:t>
            </a:r>
            <a:r>
              <a:rPr lang="en-IN" sz="1600" dirty="0">
                <a:solidFill>
                  <a:srgbClr val="808080"/>
                </a:solidFill>
                <a:latin typeface="Consolas" panose="020B0609020204030204" pitchFamily="49" charset="0"/>
              </a:rPr>
              <a:t>&lt;</a:t>
            </a:r>
            <a:r>
              <a:rPr lang="en-IN" sz="1600" dirty="0" err="1">
                <a:solidFill>
                  <a:srgbClr val="569CD6"/>
                </a:solidFill>
                <a:latin typeface="Consolas" panose="020B0609020204030204" pitchFamily="49" charset="0"/>
              </a:rPr>
              <a:t>blockquote</a:t>
            </a:r>
            <a:r>
              <a:rPr lang="en-IN" sz="1600" dirty="0">
                <a:solidFill>
                  <a:srgbClr val="808080"/>
                </a:solidFill>
                <a:latin typeface="Consolas" panose="020B0609020204030204" pitchFamily="49" charset="0"/>
              </a:rPr>
              <a:t>&gt;</a:t>
            </a:r>
            <a:endParaRPr lang="en-IN" sz="1600" dirty="0">
              <a:solidFill>
                <a:srgbClr val="CCCCCC"/>
              </a:solidFill>
              <a:latin typeface="Consolas" panose="020B0609020204030204" pitchFamily="49" charset="0"/>
            </a:endParaRPr>
          </a:p>
          <a:p>
            <a:r>
              <a:rPr lang="en-IN" sz="1600" dirty="0">
                <a:solidFill>
                  <a:srgbClr val="CCCCCC"/>
                </a:solidFill>
                <a:latin typeface="Consolas" panose="020B0609020204030204" pitchFamily="49" charset="0"/>
              </a:rPr>
              <a:t>      "Typography is the craft of endowing human language with a durable visual form."</a:t>
            </a:r>
          </a:p>
          <a:p>
            <a:r>
              <a:rPr lang="en-IN" sz="1600" dirty="0">
                <a:solidFill>
                  <a:srgbClr val="CCCCCC"/>
                </a:solidFill>
                <a:latin typeface="Consolas" panose="020B0609020204030204" pitchFamily="49" charset="0"/>
              </a:rPr>
              <a:t>    </a:t>
            </a:r>
            <a:r>
              <a:rPr lang="en-IN" sz="1600" dirty="0">
                <a:solidFill>
                  <a:srgbClr val="808080"/>
                </a:solidFill>
                <a:latin typeface="Consolas" panose="020B0609020204030204" pitchFamily="49" charset="0"/>
              </a:rPr>
              <a:t>&lt;/</a:t>
            </a:r>
            <a:r>
              <a:rPr lang="en-IN" sz="1600" dirty="0" err="1">
                <a:solidFill>
                  <a:srgbClr val="569CD6"/>
                </a:solidFill>
                <a:latin typeface="Consolas" panose="020B0609020204030204" pitchFamily="49" charset="0"/>
              </a:rPr>
              <a:t>blockquote</a:t>
            </a:r>
            <a:r>
              <a:rPr lang="en-IN" sz="1600" dirty="0">
                <a:solidFill>
                  <a:srgbClr val="808080"/>
                </a:solidFill>
                <a:latin typeface="Consolas" panose="020B0609020204030204" pitchFamily="49" charset="0"/>
              </a:rPr>
              <a:t>&gt;</a:t>
            </a:r>
            <a:endParaRPr lang="en-IN" sz="1600" dirty="0">
              <a:solidFill>
                <a:srgbClr val="CCCCCC"/>
              </a:solidFill>
              <a:latin typeface="Consolas" panose="020B0609020204030204" pitchFamily="49" charset="0"/>
            </a:endParaRPr>
          </a:p>
          <a:p>
            <a:r>
              <a:rPr lang="en-IN" sz="1600" dirty="0">
                <a:solidFill>
                  <a:srgbClr val="CCCCCC"/>
                </a:solidFill>
                <a:latin typeface="Consolas" panose="020B0609020204030204" pitchFamily="49" charset="0"/>
              </a:rPr>
              <a:t>  </a:t>
            </a:r>
            <a:r>
              <a:rPr lang="en-IN" sz="1600" dirty="0">
                <a:solidFill>
                  <a:srgbClr val="808080"/>
                </a:solidFill>
                <a:latin typeface="Consolas" panose="020B0609020204030204" pitchFamily="49" charset="0"/>
              </a:rPr>
              <a:t>&lt;/</a:t>
            </a:r>
            <a:r>
              <a:rPr lang="en-IN" sz="1600" dirty="0">
                <a:solidFill>
                  <a:srgbClr val="569CD6"/>
                </a:solidFill>
                <a:latin typeface="Consolas" panose="020B0609020204030204" pitchFamily="49" charset="0"/>
              </a:rPr>
              <a:t>article</a:t>
            </a:r>
            <a:r>
              <a:rPr lang="en-IN" sz="1600" dirty="0">
                <a:solidFill>
                  <a:srgbClr val="808080"/>
                </a:solidFill>
                <a:latin typeface="Consolas" panose="020B0609020204030204" pitchFamily="49" charset="0"/>
              </a:rPr>
              <a:t>&gt;</a:t>
            </a:r>
            <a:endParaRPr lang="en-IN" sz="1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98755157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Installation steps</a:t>
            </a:r>
            <a:endParaRPr lang="en-IN" dirty="0"/>
          </a:p>
        </p:txBody>
      </p:sp>
      <p:sp>
        <p:nvSpPr>
          <p:cNvPr id="3" name="Content Placeholder 2"/>
          <p:cNvSpPr>
            <a:spLocks noGrp="1"/>
          </p:cNvSpPr>
          <p:nvPr>
            <p:ph idx="1"/>
          </p:nvPr>
        </p:nvSpPr>
        <p:spPr/>
        <p:txBody>
          <a:bodyPr/>
          <a:lstStyle/>
          <a:p>
            <a:r>
              <a:rPr lang="en-IN" dirty="0" smtClean="0"/>
              <a:t>Step 4: Add Tailwind directives to your input CSS file</a:t>
            </a:r>
          </a:p>
          <a:p>
            <a:pPr marL="274320" lvl="1" indent="0">
              <a:buNone/>
            </a:pPr>
            <a:endParaRPr lang="fr-FR" dirty="0" smtClean="0"/>
          </a:p>
          <a:p>
            <a:pPr marL="274320" lvl="1" indent="0">
              <a:buNone/>
            </a:pPr>
            <a:endParaRPr lang="fr-FR" dirty="0"/>
          </a:p>
          <a:p>
            <a:pPr marL="274320" lvl="1" indent="0">
              <a:buNone/>
            </a:pPr>
            <a:endParaRPr lang="fr-FR" dirty="0" smtClean="0"/>
          </a:p>
          <a:p>
            <a:pPr marL="274320" lvl="1" indent="0">
              <a:buNone/>
            </a:pPr>
            <a:endParaRPr lang="fr-FR" dirty="0" smtClean="0"/>
          </a:p>
          <a:p>
            <a:endParaRPr lang="fr-FR" dirty="0" smtClean="0"/>
          </a:p>
          <a:p>
            <a:r>
              <a:rPr lang="fr-FR" dirty="0" err="1" smtClean="0"/>
              <a:t>Step</a:t>
            </a:r>
            <a:r>
              <a:rPr lang="fr-FR" dirty="0" smtClean="0"/>
              <a:t> 5: Start the </a:t>
            </a:r>
            <a:r>
              <a:rPr lang="fr-FR" dirty="0" err="1" smtClean="0"/>
              <a:t>Tailwind</a:t>
            </a:r>
            <a:r>
              <a:rPr lang="fr-FR" dirty="0" smtClean="0"/>
              <a:t> CLI </a:t>
            </a:r>
            <a:r>
              <a:rPr lang="fr-FR" dirty="0" err="1" smtClean="0"/>
              <a:t>build</a:t>
            </a:r>
            <a:r>
              <a:rPr lang="fr-FR" dirty="0" smtClean="0"/>
              <a:t> </a:t>
            </a:r>
            <a:r>
              <a:rPr lang="fr-FR" dirty="0" err="1" smtClean="0"/>
              <a:t>process</a:t>
            </a:r>
            <a:r>
              <a:rPr lang="fr-FR" dirty="0" smtClean="0"/>
              <a:t> </a:t>
            </a:r>
          </a:p>
          <a:p>
            <a:pPr lvl="1"/>
            <a:r>
              <a:rPr lang="fr-FR" dirty="0" err="1"/>
              <a:t>npx</a:t>
            </a:r>
            <a:r>
              <a:rPr lang="fr-FR" dirty="0"/>
              <a:t> </a:t>
            </a:r>
            <a:r>
              <a:rPr lang="fr-FR" dirty="0" err="1"/>
              <a:t>tailwindcss</a:t>
            </a:r>
            <a:r>
              <a:rPr lang="fr-FR" dirty="0"/>
              <a:t> -i ./</a:t>
            </a:r>
            <a:r>
              <a:rPr lang="fr-FR" dirty="0" err="1"/>
              <a:t>src</a:t>
            </a:r>
            <a:r>
              <a:rPr lang="fr-FR" dirty="0"/>
              <a:t>/input.css -o ./</a:t>
            </a:r>
            <a:r>
              <a:rPr lang="fr-FR" dirty="0" err="1"/>
              <a:t>src</a:t>
            </a:r>
            <a:r>
              <a:rPr lang="fr-FR" dirty="0"/>
              <a:t>/output.css --</a:t>
            </a:r>
            <a:r>
              <a:rPr lang="fr-FR" dirty="0" err="1"/>
              <a:t>watch</a:t>
            </a:r>
            <a:endParaRPr lang="fr-FR" dirty="0" smtClean="0"/>
          </a:p>
          <a:p>
            <a:pPr lvl="1"/>
            <a:r>
              <a:rPr lang="fr-FR" dirty="0" smtClean="0"/>
              <a:t>Scans </a:t>
            </a:r>
            <a:r>
              <a:rPr lang="fr-FR" dirty="0" err="1" smtClean="0"/>
              <a:t>template</a:t>
            </a:r>
            <a:r>
              <a:rPr lang="fr-FR" dirty="0" smtClean="0"/>
              <a:t> </a:t>
            </a:r>
            <a:r>
              <a:rPr lang="fr-FR" dirty="0" err="1" smtClean="0"/>
              <a:t>paths</a:t>
            </a:r>
            <a:r>
              <a:rPr lang="fr-FR" dirty="0" smtClean="0"/>
              <a:t> for classes and </a:t>
            </a:r>
            <a:r>
              <a:rPr lang="fr-FR" dirty="0" err="1" smtClean="0"/>
              <a:t>builds</a:t>
            </a:r>
            <a:r>
              <a:rPr lang="fr-FR" dirty="0" smtClean="0"/>
              <a:t> </a:t>
            </a:r>
            <a:r>
              <a:rPr lang="fr-FR" dirty="0" err="1" smtClean="0"/>
              <a:t>css</a:t>
            </a:r>
            <a:endParaRPr lang="fr-FR" dirty="0" smtClean="0"/>
          </a:p>
          <a:p>
            <a:r>
              <a:rPr lang="fr-FR" dirty="0" err="1" smtClean="0"/>
              <a:t>Step</a:t>
            </a:r>
            <a:r>
              <a:rPr lang="fr-FR" dirty="0" smtClean="0"/>
              <a:t> 6: Start </a:t>
            </a:r>
            <a:r>
              <a:rPr lang="fr-FR" dirty="0" err="1" smtClean="0"/>
              <a:t>using</a:t>
            </a:r>
            <a:r>
              <a:rPr lang="fr-FR" dirty="0" smtClean="0"/>
              <a:t> </a:t>
            </a:r>
            <a:r>
              <a:rPr lang="fr-FR" dirty="0" err="1" smtClean="0"/>
              <a:t>Tailwind</a:t>
            </a:r>
            <a:r>
              <a:rPr lang="fr-FR" dirty="0" smtClean="0"/>
              <a:t> in </a:t>
            </a:r>
            <a:r>
              <a:rPr lang="fr-FR" dirty="0" err="1" smtClean="0"/>
              <a:t>your</a:t>
            </a:r>
            <a:r>
              <a:rPr lang="fr-FR" dirty="0" smtClean="0"/>
              <a:t> HTML</a:t>
            </a:r>
          </a:p>
          <a:p>
            <a:pPr marL="457200" lvl="2">
              <a:lnSpc>
                <a:spcPct val="95000"/>
              </a:lnSpc>
              <a:spcBef>
                <a:spcPts val="1400"/>
              </a:spcBef>
              <a:spcAft>
                <a:spcPts val="200"/>
              </a:spcAft>
              <a:buSzPct val="80000"/>
              <a:buFont typeface="Arial" pitchFamily="34" charset="0"/>
              <a:buChar char="•"/>
            </a:pPr>
            <a:r>
              <a:rPr lang="fr-FR" dirty="0" err="1"/>
              <a:t>Add</a:t>
            </a:r>
            <a:r>
              <a:rPr lang="fr-FR" dirty="0"/>
              <a:t> </a:t>
            </a:r>
            <a:r>
              <a:rPr lang="fr-FR" dirty="0" err="1"/>
              <a:t>compiled</a:t>
            </a:r>
            <a:r>
              <a:rPr lang="fr-FR" dirty="0"/>
              <a:t> </a:t>
            </a:r>
            <a:r>
              <a:rPr lang="fr-FR" dirty="0" err="1"/>
              <a:t>css</a:t>
            </a:r>
            <a:r>
              <a:rPr lang="fr-FR" dirty="0"/>
              <a:t> file to &lt;</a:t>
            </a:r>
            <a:r>
              <a:rPr lang="fr-FR" dirty="0" err="1"/>
              <a:t>head</a:t>
            </a:r>
            <a:r>
              <a:rPr lang="fr-FR" dirty="0"/>
              <a:t>&gt;</a:t>
            </a:r>
            <a:endParaRPr lang="en-IN" dirty="0"/>
          </a:p>
          <a:p>
            <a:pPr marL="274320" lvl="1" indent="0">
              <a:buNone/>
            </a:pPr>
            <a:r>
              <a:rPr lang="en-US" dirty="0" smtClean="0"/>
              <a:t>     &lt;</a:t>
            </a:r>
            <a:r>
              <a:rPr lang="en-US" dirty="0"/>
              <a:t>link </a:t>
            </a:r>
            <a:r>
              <a:rPr lang="en-US" dirty="0" err="1"/>
              <a:t>href</a:t>
            </a:r>
            <a:r>
              <a:rPr lang="en-US" dirty="0"/>
              <a:t>="./output.css" </a:t>
            </a:r>
            <a:r>
              <a:rPr lang="en-US" dirty="0" err="1"/>
              <a:t>rel</a:t>
            </a:r>
            <a:r>
              <a:rPr lang="en-US" dirty="0"/>
              <a:t>="stylesheet</a:t>
            </a:r>
            <a:r>
              <a:rPr lang="en-US" dirty="0" smtClean="0"/>
              <a:t>"&gt;</a:t>
            </a:r>
            <a:endParaRPr lang="fr-FR" dirty="0" smtClean="0"/>
          </a:p>
        </p:txBody>
      </p:sp>
      <p:sp>
        <p:nvSpPr>
          <p:cNvPr id="4" name="TextBox 3"/>
          <p:cNvSpPr txBox="1"/>
          <p:nvPr/>
        </p:nvSpPr>
        <p:spPr>
          <a:xfrm>
            <a:off x="2912883" y="2250142"/>
            <a:ext cx="3365369" cy="1200329"/>
          </a:xfrm>
          <a:prstGeom prst="rect">
            <a:avLst/>
          </a:prstGeom>
          <a:solidFill>
            <a:schemeClr val="tx1">
              <a:lumMod val="75000"/>
              <a:lumOff val="25000"/>
            </a:schemeClr>
          </a:solidFill>
        </p:spPr>
        <p:txBody>
          <a:bodyPr wrap="square" rtlCol="0">
            <a:spAutoFit/>
          </a:bodyPr>
          <a:lstStyle/>
          <a:p>
            <a:r>
              <a:rPr lang="en-IN" dirty="0" smtClean="0">
                <a:solidFill>
                  <a:srgbClr val="C586C0"/>
                </a:solidFill>
                <a:latin typeface="Consolas" panose="020B0609020204030204" pitchFamily="49" charset="0"/>
              </a:rPr>
              <a:t>// input.css</a:t>
            </a:r>
          </a:p>
          <a:p>
            <a:r>
              <a:rPr lang="en-IN" dirty="0" smtClean="0">
                <a:solidFill>
                  <a:srgbClr val="C586C0"/>
                </a:solidFill>
                <a:latin typeface="Consolas" panose="020B0609020204030204" pitchFamily="49" charset="0"/>
              </a:rPr>
              <a:t>@tailwind</a:t>
            </a:r>
            <a:r>
              <a:rPr lang="en-IN" dirty="0" smtClean="0">
                <a:solidFill>
                  <a:srgbClr val="CCCCCC"/>
                </a:solidFill>
                <a:latin typeface="Consolas" panose="020B0609020204030204" pitchFamily="49" charset="0"/>
              </a:rPr>
              <a:t> </a:t>
            </a:r>
            <a:r>
              <a:rPr lang="en-IN" dirty="0">
                <a:solidFill>
                  <a:srgbClr val="CCCCCC"/>
                </a:solidFill>
                <a:latin typeface="Consolas" panose="020B0609020204030204" pitchFamily="49" charset="0"/>
              </a:rPr>
              <a:t>base;</a:t>
            </a:r>
          </a:p>
          <a:p>
            <a:r>
              <a:rPr lang="en-IN" dirty="0">
                <a:solidFill>
                  <a:srgbClr val="C586C0"/>
                </a:solidFill>
                <a:latin typeface="Consolas" panose="020B0609020204030204" pitchFamily="49" charset="0"/>
              </a:rPr>
              <a:t>@tailwind</a:t>
            </a:r>
            <a:r>
              <a:rPr lang="en-IN" dirty="0">
                <a:solidFill>
                  <a:srgbClr val="CCCCCC"/>
                </a:solidFill>
                <a:latin typeface="Consolas" panose="020B0609020204030204" pitchFamily="49" charset="0"/>
              </a:rPr>
              <a:t> components;</a:t>
            </a:r>
          </a:p>
          <a:p>
            <a:r>
              <a:rPr lang="en-IN" dirty="0">
                <a:solidFill>
                  <a:srgbClr val="C586C0"/>
                </a:solidFill>
                <a:latin typeface="Consolas" panose="020B0609020204030204" pitchFamily="49" charset="0"/>
              </a:rPr>
              <a:t>@tailwind</a:t>
            </a:r>
            <a:r>
              <a:rPr lang="en-IN" dirty="0">
                <a:solidFill>
                  <a:srgbClr val="CCCCCC"/>
                </a:solidFill>
                <a:latin typeface="Consolas" panose="020B0609020204030204" pitchFamily="49" charset="0"/>
              </a:rPr>
              <a:t> utilities</a:t>
            </a:r>
            <a:r>
              <a:rPr lang="en-IN" dirty="0" smtClean="0">
                <a:solidFill>
                  <a:srgbClr val="CCCCCC"/>
                </a:solidFill>
                <a:latin typeface="Consolas" panose="020B0609020204030204" pitchFamily="49" charset="0"/>
              </a:rPr>
              <a:t>;</a:t>
            </a: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684542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Tailwind directives</a:t>
            </a:r>
            <a:endParaRPr lang="en-IN" dirty="0"/>
          </a:p>
        </p:txBody>
      </p:sp>
      <p:sp>
        <p:nvSpPr>
          <p:cNvPr id="3" name="Content Placeholder 2"/>
          <p:cNvSpPr>
            <a:spLocks noGrp="1"/>
          </p:cNvSpPr>
          <p:nvPr>
            <p:ph idx="1"/>
          </p:nvPr>
        </p:nvSpPr>
        <p:spPr/>
        <p:txBody>
          <a:bodyPr>
            <a:normAutofit/>
          </a:bodyPr>
          <a:lstStyle/>
          <a:p>
            <a:r>
              <a:rPr lang="en-US" altLang="en-US" dirty="0" smtClean="0">
                <a:latin typeface="Arial" panose="020B0604020202020204" pitchFamily="34" charset="0"/>
              </a:rPr>
              <a:t>In </a:t>
            </a:r>
            <a:r>
              <a:rPr lang="en-US" altLang="en-US" dirty="0">
                <a:latin typeface="Arial" panose="020B0604020202020204" pitchFamily="34" charset="0"/>
              </a:rPr>
              <a:t>Tailwind CSS, directives are special commands that you include in your CSS files to generate utility classes and manage how Tailwind CSS should apply its styles. </a:t>
            </a:r>
            <a:endParaRPr lang="en-US" altLang="en-US" dirty="0" smtClean="0">
              <a:latin typeface="Arial" panose="020B0604020202020204" pitchFamily="34" charset="0"/>
            </a:endParaRPr>
          </a:p>
          <a:p>
            <a:r>
              <a:rPr lang="en-US" altLang="en-US" dirty="0" smtClean="0">
                <a:latin typeface="Arial" panose="020B0604020202020204" pitchFamily="34" charset="0"/>
              </a:rPr>
              <a:t>These </a:t>
            </a:r>
            <a:r>
              <a:rPr lang="en-US" altLang="en-US" dirty="0">
                <a:latin typeface="Arial" panose="020B0604020202020204" pitchFamily="34" charset="0"/>
              </a:rPr>
              <a:t>directives are processed by Tailwind to include the necessary styles in your final CSS </a:t>
            </a:r>
            <a:r>
              <a:rPr lang="en-US" altLang="en-US" dirty="0" smtClean="0">
                <a:latin typeface="Arial" panose="020B0604020202020204" pitchFamily="34" charset="0"/>
              </a:rPr>
              <a:t>output.</a:t>
            </a:r>
            <a:endParaRPr lang="en-US" altLang="en-US" sz="900" b="1" dirty="0">
              <a:latin typeface="Arial" panose="020B0604020202020204" pitchFamily="34" charset="0"/>
            </a:endParaRPr>
          </a:p>
          <a:p>
            <a:r>
              <a:rPr lang="en-US" altLang="en-US" dirty="0" smtClean="0">
                <a:latin typeface="Arial" panose="020B0604020202020204" pitchFamily="34" charset="0"/>
              </a:rPr>
              <a:t>Common </a:t>
            </a:r>
            <a:r>
              <a:rPr lang="en-US" altLang="en-US" dirty="0">
                <a:latin typeface="Arial" panose="020B0604020202020204" pitchFamily="34" charset="0"/>
              </a:rPr>
              <a:t>Tailwind CSS </a:t>
            </a:r>
            <a:r>
              <a:rPr lang="en-US" altLang="en-US" dirty="0" smtClean="0">
                <a:latin typeface="Arial" panose="020B0604020202020204" pitchFamily="34" charset="0"/>
              </a:rPr>
              <a:t>Directives</a:t>
            </a:r>
          </a:p>
          <a:p>
            <a:pPr lvl="1"/>
            <a:r>
              <a:rPr lang="en-US" altLang="en-US" dirty="0" smtClean="0">
                <a:latin typeface="Arial" panose="020B0604020202020204" pitchFamily="34" charset="0"/>
              </a:rPr>
              <a:t>@tailwind</a:t>
            </a:r>
          </a:p>
          <a:p>
            <a:pPr lvl="1"/>
            <a:r>
              <a:rPr lang="en-US" altLang="en-US" dirty="0">
                <a:latin typeface="Arial" panose="020B0604020202020204" pitchFamily="34" charset="0"/>
              </a:rPr>
              <a:t>@layer </a:t>
            </a:r>
            <a:endParaRPr lang="en-US" altLang="en-US" dirty="0" smtClean="0">
              <a:latin typeface="Arial" panose="020B0604020202020204" pitchFamily="34" charset="0"/>
            </a:endParaRPr>
          </a:p>
          <a:p>
            <a:pPr lvl="1"/>
            <a:r>
              <a:rPr lang="en-US" altLang="en-US" dirty="0" smtClean="0">
                <a:latin typeface="Arial" panose="020B0604020202020204" pitchFamily="34" charset="0"/>
              </a:rPr>
              <a:t>@apply</a:t>
            </a:r>
          </a:p>
          <a:p>
            <a:pPr lvl="1"/>
            <a:r>
              <a:rPr lang="en-US" altLang="en-US" dirty="0" smtClean="0">
                <a:latin typeface="Arial" panose="020B0604020202020204" pitchFamily="34" charset="0"/>
              </a:rPr>
              <a:t>@variants</a:t>
            </a:r>
          </a:p>
          <a:p>
            <a:pPr lvl="1"/>
            <a:r>
              <a:rPr lang="en-US" altLang="en-US" dirty="0" smtClean="0">
                <a:latin typeface="Arial" panose="020B0604020202020204" pitchFamily="34" charset="0"/>
              </a:rPr>
              <a:t>@screen</a:t>
            </a:r>
          </a:p>
          <a:p>
            <a:pPr lvl="1"/>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US" altLang="en-US" dirty="0">
              <a:latin typeface="Arial" panose="020B0604020202020204" pitchFamily="34" charset="0"/>
            </a:endParaRPr>
          </a:p>
          <a:p>
            <a:endParaRPr lang="en-IN" dirty="0" smtClean="0"/>
          </a:p>
          <a:p>
            <a:endParaRPr lang="en-IN" dirty="0"/>
          </a:p>
        </p:txBody>
      </p:sp>
    </p:spTree>
    <p:extLst>
      <p:ext uri="{BB962C8B-B14F-4D97-AF65-F5344CB8AC3E}">
        <p14:creationId xmlns:p14="http://schemas.microsoft.com/office/powerpoint/2010/main" val="16387649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@tailwind directive</a:t>
            </a:r>
            <a:endParaRPr lang="en-IN" dirty="0"/>
          </a:p>
        </p:txBody>
      </p:sp>
      <p:sp>
        <p:nvSpPr>
          <p:cNvPr id="3" name="Content Placeholder 2"/>
          <p:cNvSpPr>
            <a:spLocks noGrp="1"/>
          </p:cNvSpPr>
          <p:nvPr>
            <p:ph idx="1"/>
          </p:nvPr>
        </p:nvSpPr>
        <p:spPr/>
        <p:txBody>
          <a:bodyPr>
            <a:normAutofit/>
          </a:bodyPr>
          <a:lstStyle/>
          <a:p>
            <a:pPr eaLnBrk="0" fontAlgn="base" hangingPunct="0">
              <a:lnSpc>
                <a:spcPct val="100000"/>
              </a:lnSpc>
              <a:spcBef>
                <a:spcPct val="0"/>
              </a:spcBef>
              <a:spcAft>
                <a:spcPct val="0"/>
              </a:spcAft>
              <a:buClrTx/>
              <a:buSzTx/>
            </a:pPr>
            <a:r>
              <a:rPr lang="en-US" altLang="en-US" sz="1600" dirty="0">
                <a:latin typeface="Arial" panose="020B0604020202020204" pitchFamily="34" charset="0"/>
              </a:rPr>
              <a:t>@tailwind: This directive is used to include Tailwind’s base, components, and utilities styles into your CSS file. It tells Tailwind to generate and inject the corresponding styles into the output </a:t>
            </a:r>
            <a:r>
              <a:rPr lang="en-US" altLang="en-US" sz="1600" dirty="0" smtClean="0">
                <a:latin typeface="Arial" panose="020B0604020202020204" pitchFamily="34" charset="0"/>
              </a:rPr>
              <a:t>CSS.</a:t>
            </a:r>
            <a:endParaRPr lang="en-US" altLang="en-US" sz="1600" b="1" dirty="0" smtClean="0">
              <a:latin typeface="Arial Unicode MS"/>
            </a:endParaRPr>
          </a:p>
          <a:p>
            <a:pPr eaLnBrk="0" fontAlgn="base" hangingPunct="0">
              <a:lnSpc>
                <a:spcPct val="100000"/>
              </a:lnSpc>
              <a:spcBef>
                <a:spcPct val="0"/>
              </a:spcBef>
              <a:spcAft>
                <a:spcPct val="0"/>
              </a:spcAft>
              <a:buClrTx/>
              <a:buSzTx/>
            </a:pPr>
            <a:endParaRPr lang="en-US" altLang="en-US" sz="1600" b="1" dirty="0">
              <a:latin typeface="Arial Unicode MS"/>
            </a:endParaRPr>
          </a:p>
          <a:p>
            <a:pPr eaLnBrk="0" fontAlgn="base" hangingPunct="0">
              <a:lnSpc>
                <a:spcPct val="100000"/>
              </a:lnSpc>
              <a:spcBef>
                <a:spcPct val="0"/>
              </a:spcBef>
              <a:spcAft>
                <a:spcPct val="0"/>
              </a:spcAft>
              <a:buClrTx/>
              <a:buSzTx/>
            </a:pPr>
            <a:endParaRPr lang="en-US" altLang="en-US" sz="1600" b="1" dirty="0" smtClean="0">
              <a:latin typeface="Arial Unicode MS"/>
            </a:endParaRPr>
          </a:p>
          <a:p>
            <a:pPr eaLnBrk="0" fontAlgn="base" hangingPunct="0">
              <a:lnSpc>
                <a:spcPct val="100000"/>
              </a:lnSpc>
              <a:spcBef>
                <a:spcPct val="0"/>
              </a:spcBef>
              <a:spcAft>
                <a:spcPct val="0"/>
              </a:spcAft>
              <a:buClrTx/>
              <a:buSzTx/>
            </a:pPr>
            <a:r>
              <a:rPr lang="en-US" altLang="en-US" sz="1600" b="1" dirty="0" smtClean="0">
                <a:latin typeface="Arial Unicode MS"/>
              </a:rPr>
              <a:t>@</a:t>
            </a:r>
            <a:r>
              <a:rPr lang="en-US" altLang="en-US" sz="1600" b="1" dirty="0">
                <a:latin typeface="Arial Unicode MS"/>
              </a:rPr>
              <a:t>tailwind base;</a:t>
            </a:r>
            <a:r>
              <a:rPr lang="en-US" altLang="en-US" sz="1600" dirty="0"/>
              <a:t>: Includes Tailwind’s base styles, which include CSS resets and normalization styles</a:t>
            </a:r>
            <a:r>
              <a:rPr lang="en-US" altLang="en-US" sz="1600" dirty="0" smtClean="0"/>
              <a:t>.</a:t>
            </a:r>
          </a:p>
          <a:p>
            <a:pPr eaLnBrk="0" fontAlgn="base" hangingPunct="0">
              <a:lnSpc>
                <a:spcPct val="100000"/>
              </a:lnSpc>
              <a:spcBef>
                <a:spcPct val="0"/>
              </a:spcBef>
              <a:spcAft>
                <a:spcPct val="0"/>
              </a:spcAft>
              <a:buClrTx/>
              <a:buSzTx/>
            </a:pPr>
            <a:endParaRPr lang="en-US" altLang="en-US" sz="1600" dirty="0">
              <a:latin typeface="Arial" panose="020B0604020202020204" pitchFamily="34" charset="0"/>
            </a:endParaRPr>
          </a:p>
          <a:p>
            <a:pPr eaLnBrk="0" fontAlgn="base" hangingPunct="0">
              <a:lnSpc>
                <a:spcPct val="100000"/>
              </a:lnSpc>
              <a:spcBef>
                <a:spcPct val="0"/>
              </a:spcBef>
              <a:spcAft>
                <a:spcPct val="0"/>
              </a:spcAft>
              <a:buClrTx/>
              <a:buSzTx/>
            </a:pPr>
            <a:r>
              <a:rPr lang="en-US" altLang="en-US" sz="1600" b="1" dirty="0">
                <a:latin typeface="Arial Unicode MS"/>
              </a:rPr>
              <a:t>@tailwind components;</a:t>
            </a:r>
            <a:r>
              <a:rPr lang="en-US" altLang="en-US" sz="1600" dirty="0"/>
              <a:t>: Includes pre-designed component styles from Tailwind, such as buttons, forms, and cards, if you're using any Tailwind plugin that provides these components</a:t>
            </a:r>
            <a:r>
              <a:rPr lang="en-US" altLang="en-US" sz="1600" dirty="0" smtClean="0"/>
              <a:t>.</a:t>
            </a:r>
          </a:p>
          <a:p>
            <a:pPr eaLnBrk="0" fontAlgn="base" hangingPunct="0">
              <a:lnSpc>
                <a:spcPct val="100000"/>
              </a:lnSpc>
              <a:spcBef>
                <a:spcPct val="0"/>
              </a:spcBef>
              <a:spcAft>
                <a:spcPct val="0"/>
              </a:spcAft>
              <a:buClrTx/>
              <a:buSzTx/>
            </a:pPr>
            <a:endParaRPr lang="en-US" altLang="en-US" sz="1600" dirty="0">
              <a:latin typeface="Arial" panose="020B0604020202020204" pitchFamily="34" charset="0"/>
            </a:endParaRPr>
          </a:p>
          <a:p>
            <a:pPr eaLnBrk="0" fontAlgn="base" hangingPunct="0">
              <a:lnSpc>
                <a:spcPct val="100000"/>
              </a:lnSpc>
              <a:spcBef>
                <a:spcPct val="0"/>
              </a:spcBef>
              <a:spcAft>
                <a:spcPct val="0"/>
              </a:spcAft>
              <a:buClrTx/>
              <a:buSzTx/>
            </a:pPr>
            <a:r>
              <a:rPr lang="en-US" altLang="en-US" sz="1600" b="1" dirty="0">
                <a:latin typeface="Arial Unicode MS"/>
              </a:rPr>
              <a:t>@tailwind utilities;</a:t>
            </a:r>
            <a:r>
              <a:rPr lang="en-US" altLang="en-US" sz="1600" dirty="0"/>
              <a:t>: Includes the utility classes for spacing, typography, colors, and other CSS properties.</a:t>
            </a:r>
            <a:r>
              <a:rPr lang="en-US" altLang="en-US" sz="1600" dirty="0">
                <a:latin typeface="Arial" panose="020B0604020202020204" pitchFamily="34" charset="0"/>
              </a:rPr>
              <a:t> </a:t>
            </a:r>
          </a:p>
          <a:p>
            <a:endParaRPr lang="en-IN" sz="1600" dirty="0" smtClean="0"/>
          </a:p>
        </p:txBody>
      </p:sp>
    </p:spTree>
    <p:extLst>
      <p:ext uri="{BB962C8B-B14F-4D97-AF65-F5344CB8AC3E}">
        <p14:creationId xmlns:p14="http://schemas.microsoft.com/office/powerpoint/2010/main" val="92174664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Layers in Tailwind CSS</a:t>
            </a:r>
            <a:endParaRPr lang="en-IN" dirty="0"/>
          </a:p>
        </p:txBody>
      </p:sp>
      <p:sp>
        <p:nvSpPr>
          <p:cNvPr id="3" name="Content Placeholder 2"/>
          <p:cNvSpPr>
            <a:spLocks noGrp="1"/>
          </p:cNvSpPr>
          <p:nvPr>
            <p:ph idx="1"/>
          </p:nvPr>
        </p:nvSpPr>
        <p:spPr/>
        <p:txBody>
          <a:bodyPr>
            <a:normAutofit/>
          </a:bodyPr>
          <a:lstStyle/>
          <a:p>
            <a:r>
              <a:rPr lang="en-US" dirty="0"/>
              <a:t>Tailwind CSS has a layering system that helps organize and control the order in which CSS is </a:t>
            </a:r>
            <a:r>
              <a:rPr lang="en-US" dirty="0" smtClean="0"/>
              <a:t>applied - </a:t>
            </a:r>
            <a:r>
              <a:rPr lang="en-US" b="1" dirty="0" smtClean="0"/>
              <a:t> specificity</a:t>
            </a:r>
          </a:p>
          <a:p>
            <a:r>
              <a:rPr lang="en-IN" dirty="0"/>
              <a:t>Tailwind defines three main layers:</a:t>
            </a:r>
          </a:p>
          <a:p>
            <a:pPr lvl="1"/>
            <a:r>
              <a:rPr lang="en-US" dirty="0" smtClean="0"/>
              <a:t>Base → resets or base element styles </a:t>
            </a:r>
            <a:r>
              <a:rPr lang="en-US" dirty="0"/>
              <a:t>→</a:t>
            </a:r>
            <a:r>
              <a:rPr lang="en-US" dirty="0" smtClean="0"/>
              <a:t> </a:t>
            </a:r>
            <a:r>
              <a:rPr lang="en-US" dirty="0"/>
              <a:t>lowest specificity</a:t>
            </a:r>
          </a:p>
          <a:p>
            <a:pPr lvl="1"/>
            <a:r>
              <a:rPr lang="en-US" dirty="0"/>
              <a:t>Components → </a:t>
            </a:r>
            <a:r>
              <a:rPr lang="en-IN" dirty="0"/>
              <a:t>reusable custom classes </a:t>
            </a:r>
            <a:r>
              <a:rPr lang="en-US" dirty="0"/>
              <a:t>→ </a:t>
            </a:r>
            <a:r>
              <a:rPr lang="en-US" dirty="0" smtClean="0"/>
              <a:t> medium</a:t>
            </a:r>
            <a:endParaRPr lang="en-US" dirty="0"/>
          </a:p>
          <a:p>
            <a:pPr lvl="1"/>
            <a:r>
              <a:rPr lang="en-US" dirty="0"/>
              <a:t>Utilities → </a:t>
            </a:r>
            <a:r>
              <a:rPr lang="en-IN" dirty="0"/>
              <a:t>single-purpose classes, </a:t>
            </a:r>
            <a:r>
              <a:rPr lang="en-US" dirty="0"/>
              <a:t>→ </a:t>
            </a:r>
            <a:r>
              <a:rPr lang="en-US" dirty="0" smtClean="0"/>
              <a:t>highest </a:t>
            </a:r>
            <a:r>
              <a:rPr lang="en-US" dirty="0"/>
              <a:t>(can override others)</a:t>
            </a:r>
          </a:p>
          <a:p>
            <a:pPr marL="0" indent="0">
              <a:buNone/>
            </a:pPr>
            <a:r>
              <a:rPr lang="en-US" dirty="0"/>
              <a:t>Example conflict</a:t>
            </a:r>
            <a:r>
              <a:rPr lang="en-US" dirty="0" smtClean="0"/>
              <a:t>:</a:t>
            </a:r>
          </a:p>
          <a:p>
            <a:endParaRPr lang="en-US" dirty="0"/>
          </a:p>
          <a:p>
            <a:endParaRPr lang="en-US" dirty="0" smtClean="0"/>
          </a:p>
          <a:p>
            <a:r>
              <a:rPr lang="en-US" dirty="0" smtClean="0"/>
              <a:t>What will be background color of the button?</a:t>
            </a:r>
          </a:p>
          <a:p>
            <a:r>
              <a:rPr lang="en-US" dirty="0" smtClean="0"/>
              <a:t>Utilities override components, therefore, red</a:t>
            </a:r>
            <a:endParaRPr lang="en-US" dirty="0"/>
          </a:p>
          <a:p>
            <a:endParaRPr lang="en-IN" b="1" dirty="0"/>
          </a:p>
        </p:txBody>
      </p:sp>
      <p:sp>
        <p:nvSpPr>
          <p:cNvPr id="4" name="TextBox 3"/>
          <p:cNvSpPr txBox="1"/>
          <p:nvPr/>
        </p:nvSpPr>
        <p:spPr>
          <a:xfrm>
            <a:off x="1583703" y="4352529"/>
            <a:ext cx="3582186" cy="923330"/>
          </a:xfrm>
          <a:prstGeom prst="rect">
            <a:avLst/>
          </a:prstGeom>
          <a:noFill/>
          <a:ln>
            <a:solidFill>
              <a:schemeClr val="tx1"/>
            </a:solidFill>
          </a:ln>
        </p:spPr>
        <p:txBody>
          <a:bodyPr wrap="square" rtlCol="0">
            <a:spAutoFit/>
          </a:bodyPr>
          <a:lstStyle/>
          <a:p>
            <a:r>
              <a:rPr lang="en-US" dirty="0"/>
              <a:t>@layer components {</a:t>
            </a:r>
          </a:p>
          <a:p>
            <a:r>
              <a:rPr lang="en-US" dirty="0"/>
              <a:t>  .</a:t>
            </a:r>
            <a:r>
              <a:rPr lang="en-US" dirty="0" err="1"/>
              <a:t>btn</a:t>
            </a:r>
            <a:r>
              <a:rPr lang="en-US" dirty="0"/>
              <a:t> { background: green; }</a:t>
            </a:r>
          </a:p>
          <a:p>
            <a:r>
              <a:rPr lang="en-US" dirty="0" smtClean="0"/>
              <a:t>}</a:t>
            </a:r>
            <a:endParaRPr lang="en-US" dirty="0"/>
          </a:p>
        </p:txBody>
      </p:sp>
      <p:sp>
        <p:nvSpPr>
          <p:cNvPr id="5" name="TextBox 4"/>
          <p:cNvSpPr txBox="1"/>
          <p:nvPr/>
        </p:nvSpPr>
        <p:spPr>
          <a:xfrm>
            <a:off x="5559552" y="4491028"/>
            <a:ext cx="5203596" cy="646331"/>
          </a:xfrm>
          <a:prstGeom prst="rect">
            <a:avLst/>
          </a:prstGeom>
          <a:noFill/>
          <a:ln>
            <a:solidFill>
              <a:schemeClr val="tx1"/>
            </a:solidFill>
          </a:ln>
        </p:spPr>
        <p:txBody>
          <a:bodyPr wrap="square" rtlCol="0">
            <a:spAutoFit/>
          </a:bodyPr>
          <a:lstStyle/>
          <a:p>
            <a:r>
              <a:rPr lang="en-US" dirty="0"/>
              <a:t>&lt;button class="</a:t>
            </a:r>
            <a:r>
              <a:rPr lang="en-US" dirty="0" err="1"/>
              <a:t>btn</a:t>
            </a:r>
            <a:r>
              <a:rPr lang="en-US" dirty="0"/>
              <a:t> bg-red-500"&gt;Click&lt;/button&gt;</a:t>
            </a:r>
          </a:p>
          <a:p>
            <a:endParaRPr lang="en-IN" dirty="0"/>
          </a:p>
        </p:txBody>
      </p:sp>
    </p:spTree>
    <p:extLst>
      <p:ext uri="{BB962C8B-B14F-4D97-AF65-F5344CB8AC3E}">
        <p14:creationId xmlns:p14="http://schemas.microsoft.com/office/powerpoint/2010/main" val="191364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Base Layer (@tailwind base)</a:t>
            </a:r>
          </a:p>
        </p:txBody>
      </p:sp>
      <p:sp>
        <p:nvSpPr>
          <p:cNvPr id="3" name="Content Placeholder 2"/>
          <p:cNvSpPr>
            <a:spLocks noGrp="1"/>
          </p:cNvSpPr>
          <p:nvPr>
            <p:ph idx="1"/>
          </p:nvPr>
        </p:nvSpPr>
        <p:spPr/>
        <p:txBody>
          <a:bodyPr/>
          <a:lstStyle/>
          <a:p>
            <a:r>
              <a:rPr lang="en-IN" dirty="0" smtClean="0"/>
              <a:t>Includes </a:t>
            </a:r>
            <a:r>
              <a:rPr lang="en-IN" dirty="0"/>
              <a:t>Tailwind’s </a:t>
            </a:r>
            <a:r>
              <a:rPr lang="en-IN" dirty="0" err="1"/>
              <a:t>preflight</a:t>
            </a:r>
            <a:r>
              <a:rPr lang="en-IN" dirty="0"/>
              <a:t> (a modified version of normalize.css</a:t>
            </a:r>
            <a:r>
              <a:rPr lang="en-IN" dirty="0" smtClean="0"/>
              <a:t>).</a:t>
            </a:r>
          </a:p>
          <a:p>
            <a:r>
              <a:rPr lang="en-IN" dirty="0" smtClean="0"/>
              <a:t>Resets </a:t>
            </a:r>
            <a:r>
              <a:rPr lang="en-IN" dirty="0"/>
              <a:t>default browser styles (so things look consistent across browsers</a:t>
            </a:r>
            <a:r>
              <a:rPr lang="en-IN" dirty="0" smtClean="0"/>
              <a:t>).</a:t>
            </a:r>
          </a:p>
          <a:p>
            <a:r>
              <a:rPr lang="en-IN" dirty="0" smtClean="0"/>
              <a:t>Applies </a:t>
            </a:r>
            <a:r>
              <a:rPr lang="en-IN" dirty="0"/>
              <a:t>low-level base styles to HTML elements (like headings, lists, forms</a:t>
            </a:r>
            <a:r>
              <a:rPr lang="en-IN" dirty="0" smtClean="0"/>
              <a:t>).</a:t>
            </a:r>
          </a:p>
          <a:p>
            <a:r>
              <a:rPr lang="en-IN" dirty="0" smtClean="0"/>
              <a:t>Example</a:t>
            </a:r>
            <a:r>
              <a:rPr lang="en-IN" dirty="0"/>
              <a:t>:@tailwind base</a:t>
            </a:r>
            <a:r>
              <a:rPr lang="en-IN" dirty="0" smtClean="0"/>
              <a:t>;</a:t>
            </a:r>
          </a:p>
        </p:txBody>
      </p:sp>
      <p:sp>
        <p:nvSpPr>
          <p:cNvPr id="4" name="TextBox 3"/>
          <p:cNvSpPr txBox="1"/>
          <p:nvPr/>
        </p:nvSpPr>
        <p:spPr>
          <a:xfrm>
            <a:off x="1261872" y="4023322"/>
            <a:ext cx="3987538" cy="646331"/>
          </a:xfrm>
          <a:prstGeom prst="rect">
            <a:avLst/>
          </a:prstGeom>
          <a:noFill/>
          <a:ln>
            <a:solidFill>
              <a:schemeClr val="tx1"/>
            </a:solidFill>
          </a:ln>
        </p:spPr>
        <p:txBody>
          <a:bodyPr wrap="square" rtlCol="0">
            <a:spAutoFit/>
          </a:bodyPr>
          <a:lstStyle/>
          <a:p>
            <a:r>
              <a:rPr lang="en-IN" dirty="0" smtClean="0"/>
              <a:t>Input.css</a:t>
            </a:r>
          </a:p>
          <a:p>
            <a:r>
              <a:rPr lang="en-IN" dirty="0"/>
              <a:t>:@tailwind base</a:t>
            </a:r>
            <a:r>
              <a:rPr lang="en-IN" dirty="0" smtClean="0"/>
              <a:t> </a:t>
            </a:r>
            <a:endParaRPr lang="en-IN" dirty="0"/>
          </a:p>
        </p:txBody>
      </p:sp>
      <p:sp>
        <p:nvSpPr>
          <p:cNvPr id="5" name="TextBox 4"/>
          <p:cNvSpPr txBox="1"/>
          <p:nvPr/>
        </p:nvSpPr>
        <p:spPr>
          <a:xfrm>
            <a:off x="5440838" y="4004468"/>
            <a:ext cx="3987538" cy="2585323"/>
          </a:xfrm>
          <a:prstGeom prst="rect">
            <a:avLst/>
          </a:prstGeom>
          <a:noFill/>
          <a:ln>
            <a:solidFill>
              <a:schemeClr val="tx1"/>
            </a:solidFill>
          </a:ln>
        </p:spPr>
        <p:txBody>
          <a:bodyPr wrap="square" rtlCol="0">
            <a:spAutoFit/>
          </a:bodyPr>
          <a:lstStyle/>
          <a:p>
            <a:r>
              <a:rPr lang="en-IN" dirty="0" smtClean="0"/>
              <a:t>Output.css</a:t>
            </a:r>
          </a:p>
          <a:p>
            <a:r>
              <a:rPr lang="en-IN" dirty="0"/>
              <a:t>h1 </a:t>
            </a:r>
            <a:r>
              <a:rPr lang="en-IN" dirty="0" smtClean="0"/>
              <a:t>{  </a:t>
            </a:r>
          </a:p>
          <a:p>
            <a:r>
              <a:rPr lang="en-IN" dirty="0"/>
              <a:t> </a:t>
            </a:r>
            <a:r>
              <a:rPr lang="en-IN" dirty="0" smtClean="0"/>
              <a:t> font-size</a:t>
            </a:r>
            <a:r>
              <a:rPr lang="en-IN" dirty="0"/>
              <a:t>: 2em;  </a:t>
            </a:r>
            <a:endParaRPr lang="en-IN" dirty="0" smtClean="0"/>
          </a:p>
          <a:p>
            <a:r>
              <a:rPr lang="en-IN" dirty="0"/>
              <a:t> </a:t>
            </a:r>
            <a:r>
              <a:rPr lang="en-IN" dirty="0" smtClean="0"/>
              <a:t> font-weight</a:t>
            </a:r>
            <a:r>
              <a:rPr lang="en-IN" dirty="0"/>
              <a:t>: bold</a:t>
            </a:r>
            <a:r>
              <a:rPr lang="en-IN" dirty="0" smtClean="0"/>
              <a:t>;</a:t>
            </a:r>
          </a:p>
          <a:p>
            <a:r>
              <a:rPr lang="en-IN" dirty="0" smtClean="0"/>
              <a:t>}</a:t>
            </a:r>
          </a:p>
          <a:p>
            <a:r>
              <a:rPr lang="en-IN" dirty="0" smtClean="0"/>
              <a:t>a </a:t>
            </a:r>
            <a:r>
              <a:rPr lang="en-IN" dirty="0"/>
              <a:t>{  </a:t>
            </a:r>
            <a:endParaRPr lang="en-IN" dirty="0" smtClean="0"/>
          </a:p>
          <a:p>
            <a:r>
              <a:rPr lang="en-IN" dirty="0"/>
              <a:t> </a:t>
            </a:r>
            <a:r>
              <a:rPr lang="en-IN" dirty="0" smtClean="0"/>
              <a:t>  </a:t>
            </a:r>
            <a:r>
              <a:rPr lang="en-IN" dirty="0" err="1" smtClean="0"/>
              <a:t>color</a:t>
            </a:r>
            <a:r>
              <a:rPr lang="en-IN" dirty="0"/>
              <a:t>: inherit;  </a:t>
            </a:r>
            <a:endParaRPr lang="en-IN" dirty="0" smtClean="0"/>
          </a:p>
          <a:p>
            <a:r>
              <a:rPr lang="en-IN" dirty="0"/>
              <a:t> </a:t>
            </a:r>
            <a:r>
              <a:rPr lang="en-IN" dirty="0" smtClean="0"/>
              <a:t>  text-decoration</a:t>
            </a:r>
            <a:r>
              <a:rPr lang="en-IN" dirty="0"/>
              <a:t>: none</a:t>
            </a:r>
            <a:r>
              <a:rPr lang="en-IN" dirty="0" smtClean="0"/>
              <a:t>;</a:t>
            </a:r>
          </a:p>
          <a:p>
            <a:r>
              <a:rPr lang="en-IN" dirty="0" smtClean="0"/>
              <a:t>}</a:t>
            </a:r>
            <a:endParaRPr lang="en-IN" dirty="0"/>
          </a:p>
        </p:txBody>
      </p:sp>
    </p:spTree>
    <p:extLst>
      <p:ext uri="{BB962C8B-B14F-4D97-AF65-F5344CB8AC3E}">
        <p14:creationId xmlns:p14="http://schemas.microsoft.com/office/powerpoint/2010/main" val="30367793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Components Layer (@tailwind components)</a:t>
            </a:r>
          </a:p>
        </p:txBody>
      </p:sp>
      <p:sp>
        <p:nvSpPr>
          <p:cNvPr id="3" name="Content Placeholder 2"/>
          <p:cNvSpPr>
            <a:spLocks noGrp="1"/>
          </p:cNvSpPr>
          <p:nvPr>
            <p:ph idx="1"/>
          </p:nvPr>
        </p:nvSpPr>
        <p:spPr>
          <a:xfrm>
            <a:off x="1261872" y="1828800"/>
            <a:ext cx="8595360" cy="4920792"/>
          </a:xfrm>
        </p:spPr>
        <p:txBody>
          <a:bodyPr>
            <a:normAutofit/>
          </a:bodyPr>
          <a:lstStyle/>
          <a:p>
            <a:r>
              <a:rPr lang="en-US" dirty="0"/>
              <a:t>For custom component classes (like buttons, cards, </a:t>
            </a:r>
            <a:r>
              <a:rPr lang="en-US" dirty="0" err="1"/>
              <a:t>navbars</a:t>
            </a:r>
            <a:r>
              <a:rPr lang="en-US" dirty="0" smtClean="0"/>
              <a:t>).</a:t>
            </a:r>
          </a:p>
          <a:p>
            <a:r>
              <a:rPr lang="en-US" dirty="0" smtClean="0"/>
              <a:t>Tailwind </a:t>
            </a:r>
            <a:r>
              <a:rPr lang="en-US" dirty="0"/>
              <a:t>adds its prebuilt component classes (like container</a:t>
            </a:r>
            <a:r>
              <a:rPr lang="en-US" dirty="0" smtClean="0"/>
              <a:t>).</a:t>
            </a:r>
          </a:p>
          <a:p>
            <a:r>
              <a:rPr lang="en-US" dirty="0" smtClean="0"/>
              <a:t>You </a:t>
            </a:r>
            <a:r>
              <a:rPr lang="en-US" dirty="0"/>
              <a:t>can also add your own component styles here</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r>
              <a:rPr lang="en-US" dirty="0" smtClean="0"/>
              <a:t>This </a:t>
            </a:r>
            <a:r>
              <a:rPr lang="en-US" dirty="0"/>
              <a:t>creates a reusable .</a:t>
            </a:r>
            <a:r>
              <a:rPr lang="en-US" dirty="0" err="1"/>
              <a:t>btn</a:t>
            </a:r>
            <a:r>
              <a:rPr lang="en-US" dirty="0"/>
              <a:t> class you can use in your HTML. </a:t>
            </a:r>
          </a:p>
          <a:p>
            <a:endParaRPr lang="en-US" dirty="0"/>
          </a:p>
          <a:p>
            <a:endParaRPr lang="en-IN" dirty="0"/>
          </a:p>
        </p:txBody>
      </p:sp>
      <p:sp>
        <p:nvSpPr>
          <p:cNvPr id="4" name="TextBox 3"/>
          <p:cNvSpPr txBox="1"/>
          <p:nvPr/>
        </p:nvSpPr>
        <p:spPr>
          <a:xfrm>
            <a:off x="1687397" y="3148552"/>
            <a:ext cx="5825765" cy="2585323"/>
          </a:xfrm>
          <a:prstGeom prst="rect">
            <a:avLst/>
          </a:prstGeom>
          <a:noFill/>
          <a:ln>
            <a:solidFill>
              <a:schemeClr val="tx1"/>
            </a:solidFill>
          </a:ln>
        </p:spPr>
        <p:txBody>
          <a:bodyPr wrap="square" rtlCol="0">
            <a:spAutoFit/>
          </a:bodyPr>
          <a:lstStyle/>
          <a:p>
            <a:r>
              <a:rPr lang="en-IN" dirty="0" smtClean="0"/>
              <a:t>Input.css</a:t>
            </a:r>
          </a:p>
          <a:p>
            <a:endParaRPr lang="en-IN" dirty="0"/>
          </a:p>
          <a:p>
            <a:r>
              <a:rPr lang="en-US" dirty="0" smtClean="0"/>
              <a:t>@</a:t>
            </a:r>
            <a:r>
              <a:rPr lang="en-US" dirty="0"/>
              <a:t>tailwind components;</a:t>
            </a:r>
          </a:p>
          <a:p>
            <a:endParaRPr lang="en-US" dirty="0"/>
          </a:p>
          <a:p>
            <a:r>
              <a:rPr lang="en-US" dirty="0"/>
              <a:t>@layer components {</a:t>
            </a:r>
          </a:p>
          <a:p>
            <a:r>
              <a:rPr lang="en-US" dirty="0"/>
              <a:t>  .</a:t>
            </a:r>
            <a:r>
              <a:rPr lang="en-US" dirty="0" err="1"/>
              <a:t>btn</a:t>
            </a:r>
            <a:r>
              <a:rPr lang="en-US" dirty="0"/>
              <a:t> {</a:t>
            </a:r>
          </a:p>
          <a:p>
            <a:r>
              <a:rPr lang="en-US" dirty="0"/>
              <a:t>    @apply px-4 py-2 bg-blue-500 text-white rounded;</a:t>
            </a:r>
          </a:p>
          <a:p>
            <a:r>
              <a:rPr lang="en-US" dirty="0"/>
              <a:t>  }</a:t>
            </a:r>
          </a:p>
          <a:p>
            <a:r>
              <a:rPr lang="en-US" dirty="0" smtClean="0"/>
              <a:t>}</a:t>
            </a:r>
            <a:endParaRPr lang="en-US" dirty="0"/>
          </a:p>
        </p:txBody>
      </p:sp>
      <p:sp>
        <p:nvSpPr>
          <p:cNvPr id="6" name="TextBox 5"/>
          <p:cNvSpPr txBox="1"/>
          <p:nvPr/>
        </p:nvSpPr>
        <p:spPr>
          <a:xfrm>
            <a:off x="7692271" y="3148552"/>
            <a:ext cx="3478491" cy="1477328"/>
          </a:xfrm>
          <a:prstGeom prst="rect">
            <a:avLst/>
          </a:prstGeom>
          <a:noFill/>
          <a:ln>
            <a:solidFill>
              <a:schemeClr val="tx1"/>
            </a:solidFill>
          </a:ln>
        </p:spPr>
        <p:txBody>
          <a:bodyPr wrap="square" rtlCol="0">
            <a:spAutoFit/>
          </a:bodyPr>
          <a:lstStyle/>
          <a:p>
            <a:r>
              <a:rPr lang="en-IN" dirty="0" smtClean="0"/>
              <a:t>Output.css</a:t>
            </a:r>
          </a:p>
          <a:p>
            <a:endParaRPr lang="en-IN" dirty="0" smtClean="0"/>
          </a:p>
          <a:p>
            <a:r>
              <a:rPr lang="en-US" dirty="0"/>
              <a:t>&lt;button </a:t>
            </a:r>
            <a:r>
              <a:rPr lang="en-US" dirty="0" smtClean="0"/>
              <a:t>class=“</a:t>
            </a:r>
            <a:r>
              <a:rPr lang="en-US" dirty="0" err="1" smtClean="0"/>
              <a:t>btn</a:t>
            </a:r>
            <a:r>
              <a:rPr lang="en-US" dirty="0" smtClean="0"/>
              <a:t>”&gt; </a:t>
            </a:r>
          </a:p>
          <a:p>
            <a:r>
              <a:rPr lang="en-US" dirty="0" smtClean="0"/>
              <a:t>Click Me</a:t>
            </a:r>
          </a:p>
          <a:p>
            <a:r>
              <a:rPr lang="en-US" dirty="0" smtClean="0"/>
              <a:t>&lt;/</a:t>
            </a:r>
            <a:r>
              <a:rPr lang="en-US" dirty="0"/>
              <a:t>button&gt;</a:t>
            </a:r>
          </a:p>
        </p:txBody>
      </p:sp>
    </p:spTree>
    <p:extLst>
      <p:ext uri="{BB962C8B-B14F-4D97-AF65-F5344CB8AC3E}">
        <p14:creationId xmlns:p14="http://schemas.microsoft.com/office/powerpoint/2010/main" val="40505585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Utilities Layer (@tailwind utilities)</a:t>
            </a:r>
          </a:p>
        </p:txBody>
      </p:sp>
      <p:sp>
        <p:nvSpPr>
          <p:cNvPr id="3" name="Content Placeholder 2"/>
          <p:cNvSpPr>
            <a:spLocks noGrp="1"/>
          </p:cNvSpPr>
          <p:nvPr>
            <p:ph idx="1"/>
          </p:nvPr>
        </p:nvSpPr>
        <p:spPr/>
        <p:txBody>
          <a:bodyPr/>
          <a:lstStyle/>
          <a:p>
            <a:r>
              <a:rPr lang="en-US" dirty="0"/>
              <a:t>Includes all of Tailwind’s utility classes (p-4, flex, text-center, </a:t>
            </a:r>
            <a:r>
              <a:rPr lang="en-US" dirty="0" err="1"/>
              <a:t>etc</a:t>
            </a:r>
            <a:r>
              <a:rPr lang="en-US" dirty="0" smtClean="0"/>
              <a:t>).</a:t>
            </a:r>
          </a:p>
          <a:p>
            <a:r>
              <a:rPr lang="en-US" dirty="0" smtClean="0"/>
              <a:t>These </a:t>
            </a:r>
            <a:r>
              <a:rPr lang="en-US" dirty="0"/>
              <a:t>are the atomic classes you actually use in your HTML</a:t>
            </a:r>
            <a:r>
              <a:rPr lang="en-US" dirty="0" smtClean="0"/>
              <a:t>.</a:t>
            </a:r>
          </a:p>
          <a:p>
            <a:r>
              <a:rPr lang="en-US" dirty="0" smtClean="0"/>
              <a:t>Always </a:t>
            </a:r>
            <a:r>
              <a:rPr lang="en-US" dirty="0"/>
              <a:t>loaded last, so they can override base and component styles.</a:t>
            </a:r>
            <a:endParaRPr lang="en-IN" dirty="0"/>
          </a:p>
        </p:txBody>
      </p:sp>
      <p:sp>
        <p:nvSpPr>
          <p:cNvPr id="4" name="TextBox 3"/>
          <p:cNvSpPr txBox="1"/>
          <p:nvPr/>
        </p:nvSpPr>
        <p:spPr>
          <a:xfrm>
            <a:off x="1261872" y="4023322"/>
            <a:ext cx="2678532" cy="646331"/>
          </a:xfrm>
          <a:prstGeom prst="rect">
            <a:avLst/>
          </a:prstGeom>
          <a:noFill/>
          <a:ln>
            <a:solidFill>
              <a:schemeClr val="tx1"/>
            </a:solidFill>
          </a:ln>
        </p:spPr>
        <p:txBody>
          <a:bodyPr wrap="square" rtlCol="0">
            <a:spAutoFit/>
          </a:bodyPr>
          <a:lstStyle/>
          <a:p>
            <a:r>
              <a:rPr lang="en-IN" dirty="0" smtClean="0"/>
              <a:t>Input.css</a:t>
            </a:r>
          </a:p>
          <a:p>
            <a:r>
              <a:rPr lang="en-IN" dirty="0" smtClean="0"/>
              <a:t>@</a:t>
            </a:r>
            <a:r>
              <a:rPr lang="en-IN" dirty="0"/>
              <a:t>tailwind </a:t>
            </a:r>
            <a:r>
              <a:rPr lang="en-IN" dirty="0" smtClean="0"/>
              <a:t>utilities </a:t>
            </a:r>
            <a:endParaRPr lang="en-IN" dirty="0"/>
          </a:p>
        </p:txBody>
      </p:sp>
      <p:sp>
        <p:nvSpPr>
          <p:cNvPr id="5" name="TextBox 4"/>
          <p:cNvSpPr txBox="1"/>
          <p:nvPr/>
        </p:nvSpPr>
        <p:spPr>
          <a:xfrm>
            <a:off x="4251489" y="4004468"/>
            <a:ext cx="6815579" cy="1200329"/>
          </a:xfrm>
          <a:prstGeom prst="rect">
            <a:avLst/>
          </a:prstGeom>
          <a:noFill/>
          <a:ln>
            <a:solidFill>
              <a:schemeClr val="tx1"/>
            </a:solidFill>
          </a:ln>
        </p:spPr>
        <p:txBody>
          <a:bodyPr wrap="square" rtlCol="0">
            <a:spAutoFit/>
          </a:bodyPr>
          <a:lstStyle/>
          <a:p>
            <a:r>
              <a:rPr lang="en-IN" dirty="0" smtClean="0"/>
              <a:t>Output.css</a:t>
            </a:r>
          </a:p>
          <a:p>
            <a:r>
              <a:rPr lang="en-US" dirty="0"/>
              <a:t>&lt;button class="px-4 py-2 bg-blue-500 text-white rounded</a:t>
            </a:r>
            <a:r>
              <a:rPr lang="en-US" dirty="0" smtClean="0"/>
              <a:t>"&gt; Click Me</a:t>
            </a:r>
          </a:p>
          <a:p>
            <a:r>
              <a:rPr lang="en-US" dirty="0" smtClean="0"/>
              <a:t>&lt;/</a:t>
            </a:r>
            <a:r>
              <a:rPr lang="en-US" dirty="0"/>
              <a:t>button&gt;</a:t>
            </a:r>
          </a:p>
        </p:txBody>
      </p:sp>
    </p:spTree>
    <p:extLst>
      <p:ext uri="{BB962C8B-B14F-4D97-AF65-F5344CB8AC3E}">
        <p14:creationId xmlns:p14="http://schemas.microsoft.com/office/powerpoint/2010/main" val="29677634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CSS reset files </a:t>
            </a:r>
            <a:endParaRPr lang="en-IN" dirty="0"/>
          </a:p>
        </p:txBody>
      </p:sp>
      <p:sp>
        <p:nvSpPr>
          <p:cNvPr id="3" name="Content Placeholder 2"/>
          <p:cNvSpPr>
            <a:spLocks noGrp="1"/>
          </p:cNvSpPr>
          <p:nvPr>
            <p:ph idx="1"/>
          </p:nvPr>
        </p:nvSpPr>
        <p:spPr/>
        <p:txBody>
          <a:bodyPr/>
          <a:lstStyle/>
          <a:p>
            <a:r>
              <a:rPr lang="en-IN" dirty="0"/>
              <a:t>Browsers apply their own default styles (margins, paddings, fonts</a:t>
            </a:r>
            <a:r>
              <a:rPr lang="en-IN" dirty="0" smtClean="0"/>
              <a:t>).</a:t>
            </a:r>
          </a:p>
          <a:p>
            <a:r>
              <a:rPr lang="en-IN" dirty="0" smtClean="0"/>
              <a:t>This </a:t>
            </a:r>
            <a:r>
              <a:rPr lang="en-IN" dirty="0"/>
              <a:t>creates inconsistencies across Chrome, Firefox, Safari, etc</a:t>
            </a:r>
            <a:r>
              <a:rPr lang="en-IN" dirty="0" smtClean="0"/>
              <a:t>.</a:t>
            </a:r>
          </a:p>
          <a:p>
            <a:pPr lvl="1"/>
            <a:r>
              <a:rPr lang="en-IN" dirty="0" smtClean="0"/>
              <a:t>Example</a:t>
            </a:r>
            <a:r>
              <a:rPr lang="en-IN" dirty="0"/>
              <a:t>: &lt;h1&gt; looks different in each browser</a:t>
            </a:r>
            <a:r>
              <a:rPr lang="en-IN" dirty="0" smtClean="0"/>
              <a:t>.</a:t>
            </a:r>
          </a:p>
          <a:p>
            <a:r>
              <a:rPr lang="en-IN" dirty="0" smtClean="0"/>
              <a:t>CSS resets enable </a:t>
            </a:r>
            <a:r>
              <a:rPr lang="en-IN" dirty="0"/>
              <a:t>Cross-browser consistency</a:t>
            </a:r>
            <a:r>
              <a:rPr lang="en-IN" dirty="0" smtClean="0"/>
              <a:t>.</a:t>
            </a:r>
          </a:p>
          <a:p>
            <a:r>
              <a:rPr lang="en-IN" dirty="0" smtClean="0"/>
              <a:t>Example: reset.css and normalize.css </a:t>
            </a:r>
          </a:p>
          <a:p>
            <a:endParaRPr lang="en-IN" dirty="0"/>
          </a:p>
        </p:txBody>
      </p:sp>
    </p:spTree>
    <p:extLst>
      <p:ext uri="{BB962C8B-B14F-4D97-AF65-F5344CB8AC3E}">
        <p14:creationId xmlns:p14="http://schemas.microsoft.com/office/powerpoint/2010/main" val="266468263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Preflight</a:t>
            </a:r>
            <a:r>
              <a:rPr lang="en-IN" dirty="0" smtClean="0"/>
              <a:t> </a:t>
            </a:r>
            <a:endParaRPr lang="en-IN" dirty="0"/>
          </a:p>
        </p:txBody>
      </p:sp>
      <p:sp>
        <p:nvSpPr>
          <p:cNvPr id="3" name="Content Placeholder 2"/>
          <p:cNvSpPr>
            <a:spLocks noGrp="1"/>
          </p:cNvSpPr>
          <p:nvPr>
            <p:ph idx="1"/>
          </p:nvPr>
        </p:nvSpPr>
        <p:spPr/>
        <p:txBody>
          <a:bodyPr>
            <a:normAutofit/>
          </a:bodyPr>
          <a:lstStyle/>
          <a:p>
            <a:r>
              <a:rPr lang="en-US" dirty="0"/>
              <a:t>In Tailwind CSS, </a:t>
            </a:r>
            <a:r>
              <a:rPr lang="en-US" b="1" dirty="0"/>
              <a:t>Preflight is the name for its built-in base styles</a:t>
            </a:r>
            <a:r>
              <a:rPr lang="en-US" dirty="0" smtClean="0"/>
              <a:t>.</a:t>
            </a:r>
          </a:p>
          <a:p>
            <a:pPr lvl="1"/>
            <a:r>
              <a:rPr lang="en-US" dirty="0" smtClean="0"/>
              <a:t>It’s </a:t>
            </a:r>
            <a:r>
              <a:rPr lang="en-US" dirty="0"/>
              <a:t>essentially a modified version of Normalize.css, plus some additional opinionated resets that make it easier to </a:t>
            </a:r>
            <a:r>
              <a:rPr lang="en-US" b="1" dirty="0"/>
              <a:t>style elements consistently across browsers</a:t>
            </a:r>
            <a:r>
              <a:rPr lang="en-US" dirty="0" smtClean="0"/>
              <a:t>.</a:t>
            </a:r>
          </a:p>
          <a:p>
            <a:r>
              <a:rPr lang="en-IN" dirty="0"/>
              <a:t>When you include Tailwind in your project, </a:t>
            </a:r>
            <a:r>
              <a:rPr lang="en-IN" dirty="0" err="1"/>
              <a:t>Preflight</a:t>
            </a:r>
            <a:r>
              <a:rPr lang="en-IN" dirty="0"/>
              <a:t> is automatically applied unless you disable it. </a:t>
            </a:r>
            <a:endParaRPr lang="en-IN" dirty="0" smtClean="0"/>
          </a:p>
          <a:p>
            <a:r>
              <a:rPr lang="en-IN" dirty="0" smtClean="0"/>
              <a:t>Resets </a:t>
            </a:r>
            <a:r>
              <a:rPr lang="en-IN" dirty="0"/>
              <a:t>browser </a:t>
            </a:r>
            <a:r>
              <a:rPr lang="en-IN" dirty="0" smtClean="0"/>
              <a:t>inconsistencies</a:t>
            </a:r>
          </a:p>
          <a:p>
            <a:pPr lvl="1"/>
            <a:r>
              <a:rPr lang="en-IN" dirty="0" smtClean="0"/>
              <a:t>Removes </a:t>
            </a:r>
            <a:r>
              <a:rPr lang="en-IN" dirty="0"/>
              <a:t>default margins, paddings, and font sizes that browsers apply differently</a:t>
            </a:r>
            <a:r>
              <a:rPr lang="en-IN" dirty="0" smtClean="0"/>
              <a:t>.</a:t>
            </a:r>
          </a:p>
          <a:p>
            <a:pPr lvl="1"/>
            <a:r>
              <a:rPr lang="en-IN" dirty="0" smtClean="0"/>
              <a:t>Normalizes </a:t>
            </a:r>
            <a:r>
              <a:rPr lang="en-IN" dirty="0"/>
              <a:t>heading, paragraph, and list element styles</a:t>
            </a:r>
            <a:r>
              <a:rPr lang="en-IN" dirty="0" smtClean="0"/>
              <a:t>.</a:t>
            </a:r>
          </a:p>
          <a:p>
            <a:r>
              <a:rPr lang="en-IN" dirty="0" smtClean="0"/>
              <a:t>Enhances </a:t>
            </a:r>
            <a:r>
              <a:rPr lang="en-IN" dirty="0"/>
              <a:t>developer </a:t>
            </a:r>
            <a:r>
              <a:rPr lang="en-IN" dirty="0" smtClean="0"/>
              <a:t>control</a:t>
            </a:r>
          </a:p>
          <a:p>
            <a:pPr lvl="1"/>
            <a:r>
              <a:rPr lang="en-IN" dirty="0" smtClean="0"/>
              <a:t>Removes </a:t>
            </a:r>
            <a:r>
              <a:rPr lang="en-IN" dirty="0"/>
              <a:t>opinionated styles (e.g., buttons no longer have default borders/shadows</a:t>
            </a:r>
            <a:r>
              <a:rPr lang="en-IN" dirty="0" smtClean="0"/>
              <a:t>).</a:t>
            </a:r>
          </a:p>
          <a:p>
            <a:pPr lvl="1"/>
            <a:r>
              <a:rPr lang="en-IN" dirty="0" smtClean="0"/>
              <a:t>Makes </a:t>
            </a:r>
            <a:r>
              <a:rPr lang="en-IN" dirty="0"/>
              <a:t>sure everything is styled via Tailwind utilities, not browser defaults.</a:t>
            </a:r>
          </a:p>
        </p:txBody>
      </p:sp>
    </p:spTree>
    <p:extLst>
      <p:ext uri="{BB962C8B-B14F-4D97-AF65-F5344CB8AC3E}">
        <p14:creationId xmlns:p14="http://schemas.microsoft.com/office/powerpoint/2010/main" val="6782912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sp>
        <p:nvSpPr>
          <p:cNvPr id="6" name="Text Placeholder 5"/>
          <p:cNvSpPr>
            <a:spLocks noGrp="1"/>
          </p:cNvSpPr>
          <p:nvPr>
            <p:ph type="body" idx="1"/>
          </p:nvPr>
        </p:nvSpPr>
        <p:spPr/>
        <p:txBody>
          <a:bodyPr/>
          <a:lstStyle/>
          <a:p>
            <a:r>
              <a:rPr lang="en-IN" dirty="0" smtClean="0"/>
              <a:t>No </a:t>
            </a:r>
            <a:r>
              <a:rPr lang="en-IN" dirty="0" err="1" smtClean="0"/>
              <a:t>preflight</a:t>
            </a:r>
            <a:endParaRPr lang="en-IN" dirty="0"/>
          </a:p>
        </p:txBody>
      </p:sp>
      <p:sp>
        <p:nvSpPr>
          <p:cNvPr id="7" name="Content Placeholder 6"/>
          <p:cNvSpPr>
            <a:spLocks noGrp="1"/>
          </p:cNvSpPr>
          <p:nvPr>
            <p:ph sz="half" idx="2"/>
          </p:nvPr>
        </p:nvSpPr>
        <p:spPr>
          <a:xfrm>
            <a:off x="1261872" y="2507550"/>
            <a:ext cx="4480560" cy="2055023"/>
          </a:xfrm>
        </p:spPr>
        <p:txBody>
          <a:bodyPr/>
          <a:lstStyle/>
          <a:p>
            <a:r>
              <a:rPr lang="en-US" dirty="0"/>
              <a:t>&lt;h1&gt; is bold, large, with margin applied</a:t>
            </a:r>
            <a:r>
              <a:rPr lang="en-US" dirty="0" smtClean="0"/>
              <a:t>.</a:t>
            </a:r>
          </a:p>
          <a:p>
            <a:r>
              <a:rPr lang="en-US" dirty="0" smtClean="0"/>
              <a:t>&lt;</a:t>
            </a:r>
            <a:r>
              <a:rPr lang="en-US" dirty="0"/>
              <a:t>p&gt; has margin</a:t>
            </a:r>
            <a:r>
              <a:rPr lang="en-US" dirty="0" smtClean="0"/>
              <a:t>.</a:t>
            </a:r>
          </a:p>
          <a:p>
            <a:r>
              <a:rPr lang="en-US" dirty="0" smtClean="0"/>
              <a:t>&lt;</a:t>
            </a:r>
            <a:r>
              <a:rPr lang="en-US" dirty="0"/>
              <a:t>button&gt; has default border, padding, background (varies by browser).</a:t>
            </a:r>
            <a:endParaRPr lang="en-IN" dirty="0"/>
          </a:p>
        </p:txBody>
      </p:sp>
      <p:sp>
        <p:nvSpPr>
          <p:cNvPr id="8" name="Text Placeholder 7"/>
          <p:cNvSpPr>
            <a:spLocks noGrp="1"/>
          </p:cNvSpPr>
          <p:nvPr>
            <p:ph type="body" sz="quarter" idx="3"/>
          </p:nvPr>
        </p:nvSpPr>
        <p:spPr/>
        <p:txBody>
          <a:bodyPr/>
          <a:lstStyle/>
          <a:p>
            <a:r>
              <a:rPr lang="en-IN" dirty="0" smtClean="0"/>
              <a:t>With Tailwind </a:t>
            </a:r>
            <a:r>
              <a:rPr lang="en-IN" dirty="0" err="1" smtClean="0"/>
              <a:t>Preflight</a:t>
            </a:r>
            <a:r>
              <a:rPr lang="en-IN" dirty="0" smtClean="0"/>
              <a:t> </a:t>
            </a:r>
            <a:endParaRPr lang="en-IN" dirty="0"/>
          </a:p>
        </p:txBody>
      </p:sp>
      <p:sp>
        <p:nvSpPr>
          <p:cNvPr id="9" name="Content Placeholder 8"/>
          <p:cNvSpPr>
            <a:spLocks noGrp="1"/>
          </p:cNvSpPr>
          <p:nvPr>
            <p:ph sz="quarter" idx="4"/>
          </p:nvPr>
        </p:nvSpPr>
        <p:spPr>
          <a:xfrm>
            <a:off x="6126480" y="2507550"/>
            <a:ext cx="4480560" cy="2243560"/>
          </a:xfrm>
        </p:spPr>
        <p:txBody>
          <a:bodyPr/>
          <a:lstStyle/>
          <a:p>
            <a:r>
              <a:rPr lang="en-US" dirty="0"/>
              <a:t>&lt;h1&gt; is </a:t>
            </a:r>
            <a:r>
              <a:rPr lang="en-US" dirty="0" err="1"/>
              <a:t>unstyled</a:t>
            </a:r>
            <a:r>
              <a:rPr lang="en-US" dirty="0"/>
              <a:t> (same size as normal text, no margin</a:t>
            </a:r>
            <a:r>
              <a:rPr lang="en-US" dirty="0" smtClean="0"/>
              <a:t>).</a:t>
            </a:r>
          </a:p>
          <a:p>
            <a:r>
              <a:rPr lang="en-US" dirty="0" smtClean="0"/>
              <a:t>&lt;</a:t>
            </a:r>
            <a:r>
              <a:rPr lang="en-US" dirty="0"/>
              <a:t>p&gt; has no margin</a:t>
            </a:r>
            <a:r>
              <a:rPr lang="en-US" dirty="0" smtClean="0"/>
              <a:t>.</a:t>
            </a:r>
          </a:p>
          <a:p>
            <a:r>
              <a:rPr lang="en-US" dirty="0" smtClean="0"/>
              <a:t>&lt;</a:t>
            </a:r>
            <a:r>
              <a:rPr lang="en-US" dirty="0"/>
              <a:t>button&gt; looks like plain text with clickable behavior (no border/background).</a:t>
            </a:r>
            <a:endParaRPr lang="en-IN" dirty="0"/>
          </a:p>
        </p:txBody>
      </p:sp>
      <p:sp>
        <p:nvSpPr>
          <p:cNvPr id="4" name="TextBox 3"/>
          <p:cNvSpPr txBox="1"/>
          <p:nvPr/>
        </p:nvSpPr>
        <p:spPr>
          <a:xfrm>
            <a:off x="3902697" y="767992"/>
            <a:ext cx="3685880" cy="923330"/>
          </a:xfrm>
          <a:prstGeom prst="rect">
            <a:avLst/>
          </a:prstGeom>
          <a:noFill/>
        </p:spPr>
        <p:txBody>
          <a:bodyPr wrap="square" rtlCol="0">
            <a:spAutoFit/>
          </a:bodyPr>
          <a:lstStyle/>
          <a:p>
            <a:r>
              <a:rPr lang="en-US" dirty="0"/>
              <a:t>&lt;h1&gt;Hello World&lt;/h1&gt;</a:t>
            </a:r>
          </a:p>
          <a:p>
            <a:r>
              <a:rPr lang="en-US" dirty="0"/>
              <a:t>&lt;p&gt;This is a paragraph&lt;/p&gt;</a:t>
            </a:r>
          </a:p>
          <a:p>
            <a:r>
              <a:rPr lang="en-US" dirty="0"/>
              <a:t>&lt;button&gt;Click Me&lt;/button&gt;</a:t>
            </a:r>
            <a:endParaRPr lang="en-IN" dirty="0"/>
          </a:p>
        </p:txBody>
      </p:sp>
      <p:sp>
        <p:nvSpPr>
          <p:cNvPr id="10" name="TextBox 9"/>
          <p:cNvSpPr txBox="1"/>
          <p:nvPr/>
        </p:nvSpPr>
        <p:spPr>
          <a:xfrm>
            <a:off x="1381310" y="4751110"/>
            <a:ext cx="5264587" cy="1754326"/>
          </a:xfrm>
          <a:prstGeom prst="rect">
            <a:avLst/>
          </a:prstGeom>
          <a:noFill/>
          <a:ln>
            <a:solidFill>
              <a:schemeClr val="tx1"/>
            </a:solidFill>
          </a:ln>
        </p:spPr>
        <p:txBody>
          <a:bodyPr wrap="square" rtlCol="0">
            <a:spAutoFit/>
          </a:bodyPr>
          <a:lstStyle/>
          <a:p>
            <a:r>
              <a:rPr lang="en-IN" dirty="0" smtClean="0"/>
              <a:t>Disable </a:t>
            </a:r>
            <a:r>
              <a:rPr lang="en-IN" dirty="0" err="1" smtClean="0"/>
              <a:t>preflight</a:t>
            </a:r>
            <a:r>
              <a:rPr lang="en-IN" dirty="0" smtClean="0"/>
              <a:t> in tailwind.config.js</a:t>
            </a:r>
          </a:p>
          <a:p>
            <a:r>
              <a:rPr lang="en-IN" dirty="0"/>
              <a:t>module.exports = {</a:t>
            </a:r>
          </a:p>
          <a:p>
            <a:r>
              <a:rPr lang="en-IN" dirty="0"/>
              <a:t>  </a:t>
            </a:r>
            <a:r>
              <a:rPr lang="en-IN" dirty="0" err="1"/>
              <a:t>corePlugins</a:t>
            </a:r>
            <a:r>
              <a:rPr lang="en-IN" dirty="0"/>
              <a:t>: {</a:t>
            </a:r>
          </a:p>
          <a:p>
            <a:r>
              <a:rPr lang="en-IN" dirty="0"/>
              <a:t>    </a:t>
            </a:r>
            <a:r>
              <a:rPr lang="en-IN" dirty="0" err="1"/>
              <a:t>preflight</a:t>
            </a:r>
            <a:r>
              <a:rPr lang="en-IN" dirty="0"/>
              <a:t>: false,</a:t>
            </a:r>
          </a:p>
          <a:p>
            <a:r>
              <a:rPr lang="en-IN" dirty="0"/>
              <a:t>  },</a:t>
            </a:r>
          </a:p>
          <a:p>
            <a:r>
              <a:rPr lang="en-IN" dirty="0" smtClean="0"/>
              <a:t>}</a:t>
            </a:r>
            <a:endParaRPr lang="en-IN" dirty="0"/>
          </a:p>
        </p:txBody>
      </p:sp>
    </p:spTree>
    <p:extLst>
      <p:ext uri="{BB962C8B-B14F-4D97-AF65-F5344CB8AC3E}">
        <p14:creationId xmlns:p14="http://schemas.microsoft.com/office/powerpoint/2010/main" val="33169521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@apply directive</a:t>
            </a:r>
            <a:endParaRPr lang="en-IN" dirty="0"/>
          </a:p>
        </p:txBody>
      </p:sp>
      <p:sp>
        <p:nvSpPr>
          <p:cNvPr id="3" name="Content Placeholder 2"/>
          <p:cNvSpPr>
            <a:spLocks noGrp="1"/>
          </p:cNvSpPr>
          <p:nvPr>
            <p:ph idx="1"/>
          </p:nvPr>
        </p:nvSpPr>
        <p:spPr/>
        <p:txBody>
          <a:bodyPr/>
          <a:lstStyle/>
          <a:p>
            <a:r>
              <a:rPr lang="en-US" dirty="0" smtClean="0"/>
              <a:t>This </a:t>
            </a:r>
            <a:r>
              <a:rPr lang="en-US" dirty="0"/>
              <a:t>directive allows you to apply Tailwind utility classes directly within your custom CSS classes. It is useful for creating custom styles that still leverage Tailwind’s </a:t>
            </a:r>
            <a:r>
              <a:rPr lang="en-US" dirty="0" smtClean="0"/>
              <a:t>utility </a:t>
            </a:r>
            <a:r>
              <a:rPr lang="en-US" dirty="0"/>
              <a:t>classes</a:t>
            </a:r>
            <a:r>
              <a:rPr lang="en-US" dirty="0" smtClean="0"/>
              <a:t>.</a:t>
            </a:r>
          </a:p>
          <a:p>
            <a:endParaRPr lang="en-US" dirty="0"/>
          </a:p>
          <a:p>
            <a:pPr marL="0" indent="0">
              <a:buNone/>
            </a:pPr>
            <a:r>
              <a:rPr lang="en-US" dirty="0" smtClean="0">
                <a:solidFill>
                  <a:srgbClr val="CCCCCC"/>
                </a:solidFill>
                <a:latin typeface="Consolas" panose="020B0609020204030204" pitchFamily="49" charset="0"/>
              </a:rPr>
              <a:t>  </a:t>
            </a:r>
            <a:endParaRPr lang="en-IN" dirty="0"/>
          </a:p>
        </p:txBody>
      </p:sp>
      <p:sp>
        <p:nvSpPr>
          <p:cNvPr id="4" name="TextBox 3"/>
          <p:cNvSpPr txBox="1"/>
          <p:nvPr/>
        </p:nvSpPr>
        <p:spPr>
          <a:xfrm>
            <a:off x="1600294" y="2771480"/>
            <a:ext cx="7918516" cy="1200329"/>
          </a:xfrm>
          <a:prstGeom prst="rect">
            <a:avLst/>
          </a:prstGeom>
          <a:noFill/>
          <a:ln>
            <a:solidFill>
              <a:schemeClr val="tx1"/>
            </a:solidFill>
          </a:ln>
        </p:spPr>
        <p:txBody>
          <a:bodyPr wrap="square" rtlCol="0">
            <a:spAutoFit/>
          </a:bodyPr>
          <a:lstStyle/>
          <a:p>
            <a:r>
              <a:rPr lang="en-IN" dirty="0" smtClean="0"/>
              <a:t>//Input.css</a:t>
            </a:r>
          </a:p>
          <a:p>
            <a:r>
              <a:rPr lang="en-US" dirty="0">
                <a:solidFill>
                  <a:srgbClr val="CCCCCC"/>
                </a:solidFill>
                <a:latin typeface="Consolas" panose="020B0609020204030204" pitchFamily="49" charset="0"/>
              </a:rPr>
              <a:t>.</a:t>
            </a:r>
            <a:r>
              <a:rPr lang="en-US" dirty="0" err="1">
                <a:solidFill>
                  <a:srgbClr val="9CDCFE"/>
                </a:solidFill>
                <a:latin typeface="Consolas" panose="020B0609020204030204" pitchFamily="49" charset="0"/>
              </a:rPr>
              <a:t>btn</a:t>
            </a:r>
            <a:r>
              <a:rPr lang="en-US" dirty="0">
                <a:solidFill>
                  <a:srgbClr val="CCCCCC"/>
                </a:solidFill>
                <a:latin typeface="Consolas" panose="020B0609020204030204" pitchFamily="49" charset="0"/>
              </a:rPr>
              <a:t> {</a:t>
            </a:r>
          </a:p>
          <a:p>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apply</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px</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4</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py</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2</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bg</a:t>
            </a:r>
            <a:r>
              <a:rPr lang="en-US" dirty="0">
                <a:solidFill>
                  <a:srgbClr val="D4D4D4"/>
                </a:solidFill>
                <a:latin typeface="Consolas" panose="020B0609020204030204" pitchFamily="49" charset="0"/>
              </a:rPr>
              <a:t>-</a:t>
            </a:r>
            <a:r>
              <a:rPr lang="en-US" dirty="0">
                <a:solidFill>
                  <a:srgbClr val="9CDCFE"/>
                </a:solidFill>
                <a:latin typeface="Consolas" panose="020B0609020204030204" pitchFamily="49" charset="0"/>
              </a:rPr>
              <a:t>blue</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500</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text</a:t>
            </a:r>
            <a:r>
              <a:rPr lang="en-US" dirty="0">
                <a:solidFill>
                  <a:srgbClr val="D4D4D4"/>
                </a:solidFill>
                <a:latin typeface="Consolas" panose="020B0609020204030204" pitchFamily="49" charset="0"/>
              </a:rPr>
              <a:t>-</a:t>
            </a:r>
            <a:r>
              <a:rPr lang="en-US" dirty="0">
                <a:solidFill>
                  <a:srgbClr val="9CDCFE"/>
                </a:solidFill>
                <a:latin typeface="Consolas" panose="020B0609020204030204" pitchFamily="49" charset="0"/>
              </a:rPr>
              <a:t>white</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rounded</a:t>
            </a:r>
            <a:r>
              <a:rPr lang="en-US" dirty="0">
                <a:solidFill>
                  <a:srgbClr val="CCCCCC"/>
                </a:solidFill>
                <a:latin typeface="Consolas" panose="020B0609020204030204" pitchFamily="49" charset="0"/>
              </a:rPr>
              <a:t>;</a:t>
            </a:r>
          </a:p>
          <a:p>
            <a:r>
              <a:rPr lang="en-US" dirty="0">
                <a:solidFill>
                  <a:srgbClr val="CCCCCC"/>
                </a:solidFill>
                <a:latin typeface="Consolas" panose="020B0609020204030204" pitchFamily="49" charset="0"/>
              </a:rPr>
              <a:t>   </a:t>
            </a:r>
            <a:r>
              <a:rPr lang="en-US" dirty="0" smtClean="0">
                <a:solidFill>
                  <a:srgbClr val="CCCCCC"/>
                </a:solidFill>
                <a:latin typeface="Consolas" panose="020B0609020204030204" pitchFamily="49" charset="0"/>
              </a:rPr>
              <a:t>}</a:t>
            </a:r>
            <a:endParaRPr lang="en-IN" dirty="0" smtClean="0"/>
          </a:p>
        </p:txBody>
      </p:sp>
      <p:pic>
        <p:nvPicPr>
          <p:cNvPr id="6" name="Picture 5"/>
          <p:cNvPicPr>
            <a:picLocks noChangeAspect="1"/>
          </p:cNvPicPr>
          <p:nvPr/>
        </p:nvPicPr>
        <p:blipFill>
          <a:blip r:embed="rId2"/>
          <a:stretch>
            <a:fillRect/>
          </a:stretch>
        </p:blipFill>
        <p:spPr>
          <a:xfrm>
            <a:off x="1600294" y="3971809"/>
            <a:ext cx="6026460" cy="2724290"/>
          </a:xfrm>
          <a:prstGeom prst="rect">
            <a:avLst/>
          </a:prstGeom>
        </p:spPr>
      </p:pic>
    </p:spTree>
    <p:extLst>
      <p:ext uri="{BB962C8B-B14F-4D97-AF65-F5344CB8AC3E}">
        <p14:creationId xmlns:p14="http://schemas.microsoft.com/office/powerpoint/2010/main" val="400088982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@variants directive</a:t>
            </a:r>
            <a:endParaRPr lang="en-IN" dirty="0"/>
          </a:p>
        </p:txBody>
      </p:sp>
      <p:sp>
        <p:nvSpPr>
          <p:cNvPr id="3" name="Content Placeholder 2"/>
          <p:cNvSpPr>
            <a:spLocks noGrp="1"/>
          </p:cNvSpPr>
          <p:nvPr>
            <p:ph idx="1"/>
          </p:nvPr>
        </p:nvSpPr>
        <p:spPr/>
        <p:txBody>
          <a:bodyPr/>
          <a:lstStyle/>
          <a:p>
            <a:r>
              <a:rPr lang="en-US" dirty="0" smtClean="0"/>
              <a:t>This directive is used to create variants of your utilities based on different states or conditions. It's useful for customizing utility classes for different states like hover, focus, or responsive breakpoints.</a:t>
            </a:r>
          </a:p>
          <a:p>
            <a:pPr marL="0" indent="0">
              <a:buNone/>
            </a:pPr>
            <a:endParaRPr lang="en-US" dirty="0"/>
          </a:p>
          <a:p>
            <a:pPr marL="0" indent="0">
              <a:buNone/>
            </a:pPr>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CCCCCC"/>
                </a:solidFill>
                <a:latin typeface="Consolas" panose="020B0609020204030204" pitchFamily="49" charset="0"/>
              </a:rPr>
              <a:t> </a:t>
            </a:r>
            <a:r>
              <a:rPr lang="en-IN" dirty="0" smtClean="0">
                <a:solidFill>
                  <a:srgbClr val="CCCCCC"/>
                </a:solidFill>
                <a:latin typeface="Consolas" panose="020B0609020204030204" pitchFamily="49" charset="0"/>
              </a:rPr>
              <a:t> @</a:t>
            </a:r>
            <a:r>
              <a:rPr lang="en-IN" dirty="0" smtClean="0">
                <a:solidFill>
                  <a:srgbClr val="9CDCFE"/>
                </a:solidFill>
                <a:latin typeface="Consolas" panose="020B0609020204030204" pitchFamily="49" charset="0"/>
              </a:rPr>
              <a:t>variants</a:t>
            </a:r>
            <a:r>
              <a:rPr lang="en-IN" dirty="0" smtClean="0">
                <a:solidFill>
                  <a:srgbClr val="CCCCCC"/>
                </a:solidFill>
                <a:latin typeface="Consolas" panose="020B0609020204030204" pitchFamily="49" charset="0"/>
              </a:rPr>
              <a:t> </a:t>
            </a:r>
            <a:r>
              <a:rPr lang="en-IN" dirty="0">
                <a:solidFill>
                  <a:srgbClr val="9CDCFE"/>
                </a:solidFill>
                <a:latin typeface="Consolas" panose="020B0609020204030204" pitchFamily="49" charset="0"/>
              </a:rPr>
              <a:t>hover</a:t>
            </a:r>
            <a:r>
              <a:rPr lang="en-IN" dirty="0">
                <a:solidFill>
                  <a:srgbClr val="CCCCCC"/>
                </a:solidFill>
                <a:latin typeface="Consolas" panose="020B0609020204030204" pitchFamily="49" charset="0"/>
              </a:rPr>
              <a:t> {</a:t>
            </a:r>
          </a:p>
          <a:p>
            <a:pPr marL="0" indent="0">
              <a:buNone/>
            </a:pPr>
            <a:r>
              <a:rPr lang="en-IN" dirty="0">
                <a:solidFill>
                  <a:srgbClr val="CCCCCC"/>
                </a:solidFill>
                <a:latin typeface="Consolas" panose="020B0609020204030204" pitchFamily="49" charset="0"/>
              </a:rPr>
              <a:t>  </a:t>
            </a:r>
            <a:r>
              <a:rPr lang="en-IN" dirty="0" smtClean="0">
                <a:solidFill>
                  <a:srgbClr val="CCCCCC"/>
                </a:solidFill>
                <a:latin typeface="Consolas" panose="020B0609020204030204" pitchFamily="49" charset="0"/>
              </a:rPr>
              <a:t>  .</a:t>
            </a:r>
            <a:r>
              <a:rPr lang="en-IN" dirty="0" err="1">
                <a:solidFill>
                  <a:srgbClr val="9CDCFE"/>
                </a:solidFill>
                <a:latin typeface="Consolas" panose="020B0609020204030204" pitchFamily="49" charset="0"/>
              </a:rPr>
              <a:t>btn</a:t>
            </a:r>
            <a:r>
              <a:rPr lang="en-IN" dirty="0">
                <a:solidFill>
                  <a:srgbClr val="CCCCCC"/>
                </a:solidFill>
                <a:latin typeface="Consolas" panose="020B0609020204030204" pitchFamily="49" charset="0"/>
              </a:rPr>
              <a:t> {</a:t>
            </a:r>
          </a:p>
          <a:p>
            <a:pPr marL="0" indent="0">
              <a:buNone/>
            </a:pPr>
            <a:r>
              <a:rPr lang="en-IN" dirty="0">
                <a:solidFill>
                  <a:srgbClr val="CCCCCC"/>
                </a:solidFill>
                <a:latin typeface="Consolas" panose="020B0609020204030204" pitchFamily="49" charset="0"/>
              </a:rPr>
              <a:t>    </a:t>
            </a:r>
            <a:r>
              <a:rPr lang="en-IN" dirty="0" smtClean="0">
                <a:solidFill>
                  <a:srgbClr val="CCCCCC"/>
                </a:solidFill>
                <a:latin typeface="Consolas" panose="020B0609020204030204" pitchFamily="49" charset="0"/>
              </a:rPr>
              <a:t>    @</a:t>
            </a:r>
            <a:r>
              <a:rPr lang="en-IN" dirty="0">
                <a:solidFill>
                  <a:srgbClr val="9CDCFE"/>
                </a:solidFill>
                <a:latin typeface="Consolas" panose="020B0609020204030204" pitchFamily="49" charset="0"/>
              </a:rPr>
              <a:t>apply</a:t>
            </a: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bg</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blue</a:t>
            </a:r>
            <a:r>
              <a:rPr lang="en-IN" dirty="0">
                <a:solidFill>
                  <a:srgbClr val="D4D4D4"/>
                </a:solidFill>
                <a:latin typeface="Consolas" panose="020B0609020204030204" pitchFamily="49" charset="0"/>
              </a:rPr>
              <a:t>-</a:t>
            </a:r>
            <a:r>
              <a:rPr lang="en-IN" dirty="0">
                <a:solidFill>
                  <a:srgbClr val="B5CEA8"/>
                </a:solidFill>
                <a:latin typeface="Consolas" panose="020B0609020204030204" pitchFamily="49" charset="0"/>
              </a:rPr>
              <a:t>700</a:t>
            </a:r>
            <a:r>
              <a:rPr lang="en-IN" dirty="0">
                <a:solidFill>
                  <a:srgbClr val="CCCCCC"/>
                </a:solidFill>
                <a:latin typeface="Consolas" panose="020B0609020204030204" pitchFamily="49" charset="0"/>
              </a:rPr>
              <a:t>;</a:t>
            </a:r>
          </a:p>
          <a:p>
            <a:pPr marL="0" indent="0">
              <a:buNone/>
            </a:pPr>
            <a:r>
              <a:rPr lang="en-IN" dirty="0">
                <a:solidFill>
                  <a:srgbClr val="CCCCCC"/>
                </a:solidFill>
                <a:latin typeface="Consolas" panose="020B0609020204030204" pitchFamily="49" charset="0"/>
              </a:rPr>
              <a:t>  </a:t>
            </a:r>
            <a:r>
              <a:rPr lang="en-IN" dirty="0" smtClean="0">
                <a:solidFill>
                  <a:srgbClr val="CCCCCC"/>
                </a:solidFill>
                <a:latin typeface="Consolas" panose="020B0609020204030204" pitchFamily="49" charset="0"/>
              </a:rPr>
              <a:t>   }</a:t>
            </a:r>
            <a:endParaRPr lang="en-IN" dirty="0">
              <a:solidFill>
                <a:srgbClr val="CCCCCC"/>
              </a:solidFill>
              <a:latin typeface="Consolas" panose="020B0609020204030204" pitchFamily="49" charset="0"/>
            </a:endParaRPr>
          </a:p>
          <a:p>
            <a:pPr marL="0" indent="0">
              <a:buNone/>
            </a:pPr>
            <a:r>
              <a:rPr lang="en-IN" dirty="0" smtClean="0">
                <a:solidFill>
                  <a:srgbClr val="CCCCCC"/>
                </a:solidFill>
                <a:latin typeface="Consolas" panose="020B0609020204030204" pitchFamily="49" charset="0"/>
              </a:rPr>
              <a:t>  }</a:t>
            </a:r>
            <a:endParaRPr lang="en-IN" dirty="0">
              <a:solidFill>
                <a:srgbClr val="CCCCCC"/>
              </a:solidFill>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244496357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@screen directive</a:t>
            </a:r>
            <a:endParaRPr lang="en-IN" dirty="0"/>
          </a:p>
        </p:txBody>
      </p:sp>
      <p:sp>
        <p:nvSpPr>
          <p:cNvPr id="3" name="Content Placeholder 2"/>
          <p:cNvSpPr>
            <a:spLocks noGrp="1"/>
          </p:cNvSpPr>
          <p:nvPr>
            <p:ph idx="1"/>
          </p:nvPr>
        </p:nvSpPr>
        <p:spPr/>
        <p:txBody>
          <a:bodyPr/>
          <a:lstStyle/>
          <a:p>
            <a:r>
              <a:rPr lang="en-US" dirty="0"/>
              <a:t>This directive allows you to apply utility classes based on responsive breakpoints. It's used to target different screen sizes for responsive design</a:t>
            </a:r>
            <a:r>
              <a:rPr lang="en-US" dirty="0" smtClean="0"/>
              <a:t>.</a:t>
            </a:r>
            <a:endParaRPr lang="en-IN" dirty="0"/>
          </a:p>
          <a:p>
            <a:pPr marL="0" indent="0">
              <a:buNone/>
            </a:pPr>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CCCCCC"/>
                </a:solidFill>
                <a:latin typeface="Consolas" panose="020B0609020204030204" pitchFamily="49" charset="0"/>
              </a:rPr>
              <a:t>@</a:t>
            </a:r>
            <a:r>
              <a:rPr lang="en-IN" dirty="0">
                <a:solidFill>
                  <a:srgbClr val="9CDCFE"/>
                </a:solidFill>
                <a:latin typeface="Consolas" panose="020B0609020204030204" pitchFamily="49" charset="0"/>
              </a:rPr>
              <a:t>screen</a:t>
            </a: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md</a:t>
            </a:r>
            <a:r>
              <a:rPr lang="en-IN" dirty="0">
                <a:solidFill>
                  <a:srgbClr val="CCCCCC"/>
                </a:solidFill>
                <a:latin typeface="Consolas" panose="020B0609020204030204" pitchFamily="49" charset="0"/>
              </a:rPr>
              <a:t> {</a:t>
            </a:r>
          </a:p>
          <a:p>
            <a:pPr marL="0" indent="0">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container</a:t>
            </a:r>
            <a:r>
              <a:rPr lang="en-IN" dirty="0">
                <a:solidFill>
                  <a:srgbClr val="CCCCCC"/>
                </a:solidFill>
                <a:latin typeface="Consolas" panose="020B0609020204030204" pitchFamily="49" charset="0"/>
              </a:rPr>
              <a:t> {</a:t>
            </a:r>
          </a:p>
          <a:p>
            <a:pPr marL="0" indent="0">
              <a:buNone/>
            </a:pP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apply</a:t>
            </a: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mx</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auto</a:t>
            </a: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max</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w</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screen</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md</a:t>
            </a:r>
            <a:r>
              <a:rPr lang="en-IN" dirty="0">
                <a:solidFill>
                  <a:srgbClr val="CCCCCC"/>
                </a:solidFill>
                <a:latin typeface="Consolas" panose="020B0609020204030204" pitchFamily="49" charset="0"/>
              </a:rPr>
              <a:t>;</a:t>
            </a:r>
          </a:p>
          <a:p>
            <a:pPr marL="0" indent="0">
              <a:buNone/>
            </a:pPr>
            <a:r>
              <a:rPr lang="en-IN" dirty="0">
                <a:solidFill>
                  <a:srgbClr val="CCCCCC"/>
                </a:solidFill>
                <a:latin typeface="Consolas" panose="020B0609020204030204" pitchFamily="49" charset="0"/>
              </a:rPr>
              <a:t>  }</a:t>
            </a:r>
          </a:p>
          <a:p>
            <a:pPr marL="0" indent="0">
              <a:buNone/>
            </a:pPr>
            <a:r>
              <a:rPr lang="en-IN" dirty="0">
                <a:solidFill>
                  <a:srgbClr val="CCCCCC"/>
                </a:solidFill>
                <a:latin typeface="Consolas" panose="020B0609020204030204" pitchFamily="49" charset="0"/>
              </a:rPr>
              <a:t>}</a:t>
            </a:r>
          </a:p>
          <a:p>
            <a:r>
              <a:rPr lang="en-IN" dirty="0" smtClean="0"/>
              <a:t>For medium sized screens and up</a:t>
            </a:r>
            <a:endParaRPr lang="en-IN" dirty="0"/>
          </a:p>
        </p:txBody>
      </p:sp>
    </p:spTree>
    <p:extLst>
      <p:ext uri="{BB962C8B-B14F-4D97-AF65-F5344CB8AC3E}">
        <p14:creationId xmlns:p14="http://schemas.microsoft.com/office/powerpoint/2010/main" val="215818650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@layer directive</a:t>
            </a:r>
            <a:endParaRPr lang="en-IN" dirty="0"/>
          </a:p>
        </p:txBody>
      </p:sp>
      <p:sp>
        <p:nvSpPr>
          <p:cNvPr id="3" name="Content Placeholder 2"/>
          <p:cNvSpPr>
            <a:spLocks noGrp="1"/>
          </p:cNvSpPr>
          <p:nvPr>
            <p:ph idx="1"/>
          </p:nvPr>
        </p:nvSpPr>
        <p:spPr/>
        <p:txBody>
          <a:bodyPr>
            <a:normAutofit/>
          </a:bodyPr>
          <a:lstStyle/>
          <a:p>
            <a:pPr lvl="0"/>
            <a:r>
              <a:rPr lang="en-US" altLang="en-US" dirty="0" smtClean="0">
                <a:latin typeface="Arial" panose="020B0604020202020204" pitchFamily="34" charset="0"/>
              </a:rPr>
              <a:t>This </a:t>
            </a:r>
            <a:r>
              <a:rPr lang="en-US" altLang="en-US" dirty="0">
                <a:latin typeface="Arial" panose="020B0604020202020204" pitchFamily="34" charset="0"/>
              </a:rPr>
              <a:t>directive is used to define custom layers of styles in Tailwind. It allows you to add your own styles to Tailwind’s base, components, or utilities layers. </a:t>
            </a:r>
          </a:p>
          <a:p>
            <a:pPr marL="0" indent="0">
              <a:buNone/>
            </a:pPr>
            <a:endParaRPr lang="en-US" dirty="0" smtClean="0">
              <a:solidFill>
                <a:srgbClr val="CCCCCC"/>
              </a:solidFill>
              <a:latin typeface="Consolas" panose="020B0609020204030204" pitchFamily="49" charset="0"/>
            </a:endParaRPr>
          </a:p>
          <a:p>
            <a:pPr marL="0" indent="0">
              <a:buNone/>
            </a:pPr>
            <a:r>
              <a:rPr lang="en-US" dirty="0" smtClean="0">
                <a:solidFill>
                  <a:srgbClr val="CCCCCC"/>
                </a:solidFill>
                <a:latin typeface="Consolas" panose="020B0609020204030204" pitchFamily="49" charset="0"/>
              </a:rPr>
              <a:t>@</a:t>
            </a:r>
            <a:r>
              <a:rPr lang="en-US" dirty="0">
                <a:solidFill>
                  <a:srgbClr val="9CDCFE"/>
                </a:solidFill>
                <a:latin typeface="Consolas" panose="020B0609020204030204" pitchFamily="49" charset="0"/>
              </a:rPr>
              <a:t>layer</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components</a:t>
            </a:r>
            <a:r>
              <a:rPr lang="en-US" dirty="0">
                <a:solidFill>
                  <a:srgbClr val="CCCCCC"/>
                </a:solidFill>
                <a:latin typeface="Consolas" panose="020B0609020204030204" pitchFamily="49" charset="0"/>
              </a:rPr>
              <a:t> {</a:t>
            </a:r>
          </a:p>
          <a:p>
            <a:pPr marL="0" indent="0">
              <a:buNone/>
            </a:pPr>
            <a:r>
              <a:rPr lang="en-US" dirty="0">
                <a:solidFill>
                  <a:srgbClr val="CCCCCC"/>
                </a:solidFill>
                <a:latin typeface="Consolas" panose="020B0609020204030204" pitchFamily="49" charset="0"/>
              </a:rPr>
              <a:t>  .</a:t>
            </a:r>
            <a:r>
              <a:rPr lang="en-US" dirty="0" err="1">
                <a:solidFill>
                  <a:srgbClr val="9CDCFE"/>
                </a:solidFill>
                <a:latin typeface="Consolas" panose="020B0609020204030204" pitchFamily="49" charset="0"/>
              </a:rPr>
              <a:t>btn</a:t>
            </a:r>
            <a:r>
              <a:rPr lang="en-US" dirty="0">
                <a:solidFill>
                  <a:srgbClr val="CCCCCC"/>
                </a:solidFill>
                <a:latin typeface="Consolas" panose="020B0609020204030204" pitchFamily="49" charset="0"/>
              </a:rPr>
              <a:t> {</a:t>
            </a:r>
          </a:p>
          <a:p>
            <a:pPr marL="0" indent="0">
              <a:buNone/>
            </a:pP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apply</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px</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4</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py</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2</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bg</a:t>
            </a:r>
            <a:r>
              <a:rPr lang="en-US" dirty="0">
                <a:solidFill>
                  <a:srgbClr val="D4D4D4"/>
                </a:solidFill>
                <a:latin typeface="Consolas" panose="020B0609020204030204" pitchFamily="49" charset="0"/>
              </a:rPr>
              <a:t>-</a:t>
            </a:r>
            <a:r>
              <a:rPr lang="en-US" dirty="0">
                <a:solidFill>
                  <a:srgbClr val="9CDCFE"/>
                </a:solidFill>
                <a:latin typeface="Consolas" panose="020B0609020204030204" pitchFamily="49" charset="0"/>
              </a:rPr>
              <a:t>blue</a:t>
            </a:r>
            <a:r>
              <a:rPr lang="en-US" dirty="0">
                <a:solidFill>
                  <a:srgbClr val="D4D4D4"/>
                </a:solidFill>
                <a:latin typeface="Consolas" panose="020B0609020204030204" pitchFamily="49" charset="0"/>
              </a:rPr>
              <a:t>-</a:t>
            </a:r>
            <a:r>
              <a:rPr lang="en-US" dirty="0">
                <a:solidFill>
                  <a:srgbClr val="B5CEA8"/>
                </a:solidFill>
                <a:latin typeface="Consolas" panose="020B0609020204030204" pitchFamily="49" charset="0"/>
              </a:rPr>
              <a:t>500</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text</a:t>
            </a:r>
            <a:r>
              <a:rPr lang="en-US" dirty="0">
                <a:solidFill>
                  <a:srgbClr val="D4D4D4"/>
                </a:solidFill>
                <a:latin typeface="Consolas" panose="020B0609020204030204" pitchFamily="49" charset="0"/>
              </a:rPr>
              <a:t>-</a:t>
            </a:r>
            <a:r>
              <a:rPr lang="en-US" dirty="0">
                <a:solidFill>
                  <a:srgbClr val="9CDCFE"/>
                </a:solidFill>
                <a:latin typeface="Consolas" panose="020B0609020204030204" pitchFamily="49" charset="0"/>
              </a:rPr>
              <a:t>white</a:t>
            </a:r>
            <a:r>
              <a:rPr lang="en-US" dirty="0">
                <a:solidFill>
                  <a:srgbClr val="CCCCCC"/>
                </a:solidFill>
                <a:latin typeface="Consolas" panose="020B0609020204030204" pitchFamily="49" charset="0"/>
              </a:rPr>
              <a:t> </a:t>
            </a:r>
            <a:r>
              <a:rPr lang="en-US" dirty="0">
                <a:solidFill>
                  <a:srgbClr val="9CDCFE"/>
                </a:solidFill>
                <a:latin typeface="Consolas" panose="020B0609020204030204" pitchFamily="49" charset="0"/>
              </a:rPr>
              <a:t>rounded</a:t>
            </a:r>
            <a:r>
              <a:rPr lang="en-US" dirty="0">
                <a:solidFill>
                  <a:srgbClr val="CCCCCC"/>
                </a:solidFill>
                <a:latin typeface="Consolas" panose="020B0609020204030204" pitchFamily="49" charset="0"/>
              </a:rPr>
              <a:t>;</a:t>
            </a:r>
          </a:p>
          <a:p>
            <a:pPr marL="0" indent="0">
              <a:buNone/>
            </a:pPr>
            <a:r>
              <a:rPr lang="en-US" dirty="0">
                <a:solidFill>
                  <a:srgbClr val="CCCCCC"/>
                </a:solidFill>
                <a:latin typeface="Consolas" panose="020B0609020204030204" pitchFamily="49" charset="0"/>
              </a:rPr>
              <a:t>  }</a:t>
            </a:r>
          </a:p>
          <a:p>
            <a:pPr marL="0" indent="0">
              <a:buNone/>
            </a:pPr>
            <a:r>
              <a:rPr lang="en-US" dirty="0" smtClean="0">
                <a:solidFill>
                  <a:srgbClr val="CCCCCC"/>
                </a:solidFill>
                <a:latin typeface="Consolas" panose="020B0609020204030204" pitchFamily="49" charset="0"/>
              </a:rPr>
              <a:t>}</a:t>
            </a:r>
          </a:p>
          <a:p>
            <a:pPr marL="0" lvl="0" indent="0">
              <a:buNone/>
            </a:pPr>
            <a:r>
              <a:rPr lang="en-US" altLang="en-US" dirty="0">
                <a:latin typeface="Arial" panose="020B0604020202020204" pitchFamily="34" charset="0"/>
              </a:rPr>
              <a:t>In this case, @layer components adds a custom .</a:t>
            </a:r>
            <a:r>
              <a:rPr lang="en-US" altLang="en-US" dirty="0" err="1">
                <a:latin typeface="Arial" panose="020B0604020202020204" pitchFamily="34" charset="0"/>
              </a:rPr>
              <a:t>btn</a:t>
            </a:r>
            <a:r>
              <a:rPr lang="en-US" altLang="en-US" dirty="0">
                <a:latin typeface="Arial" panose="020B0604020202020204" pitchFamily="34" charset="0"/>
              </a:rPr>
              <a:t> class to the components layer, making it part of Tailwind’s component styles. </a:t>
            </a:r>
          </a:p>
          <a:p>
            <a:pPr marL="0" indent="0">
              <a:buNone/>
            </a:pPr>
            <a:endParaRPr lang="en-US" dirty="0" smtClean="0">
              <a:solidFill>
                <a:srgbClr val="CCCCCC"/>
              </a:solidFill>
              <a:latin typeface="Consolas" panose="020B0609020204030204" pitchFamily="49" charset="0"/>
            </a:endParaRPr>
          </a:p>
          <a:p>
            <a:pPr marL="0" indent="0">
              <a:buNone/>
            </a:pPr>
            <a:endParaRPr lang="en-US" dirty="0">
              <a:solidFill>
                <a:srgbClr val="CCCCCC"/>
              </a:solidFill>
              <a:latin typeface="Consolas" panose="020B0609020204030204" pitchFamily="49" charset="0"/>
            </a:endParaRPr>
          </a:p>
          <a:p>
            <a:pPr marL="0" indent="0">
              <a:buNone/>
            </a:pPr>
            <a:endParaRPr lang="en-US" dirty="0">
              <a:solidFill>
                <a:srgbClr val="CCCCCC"/>
              </a:solidFill>
              <a:latin typeface="Consolas" panose="020B0609020204030204" pitchFamily="49" charset="0"/>
            </a:endParaRPr>
          </a:p>
          <a:p>
            <a:pPr marL="0" indent="0">
              <a:buNone/>
            </a:pPr>
            <a:endParaRPr lang="en-IN" dirty="0" smtClean="0"/>
          </a:p>
        </p:txBody>
      </p:sp>
    </p:spTree>
    <p:extLst>
      <p:ext uri="{BB962C8B-B14F-4D97-AF65-F5344CB8AC3E}">
        <p14:creationId xmlns:p14="http://schemas.microsoft.com/office/powerpoint/2010/main" val="22335136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Customization</a:t>
            </a:r>
            <a:endParaRPr lang="en-IN" dirty="0"/>
          </a:p>
        </p:txBody>
      </p:sp>
      <p:sp>
        <p:nvSpPr>
          <p:cNvPr id="3" name="Content Placeholder 2"/>
          <p:cNvSpPr>
            <a:spLocks noGrp="1"/>
          </p:cNvSpPr>
          <p:nvPr>
            <p:ph idx="1"/>
          </p:nvPr>
        </p:nvSpPr>
        <p:spPr/>
        <p:txBody>
          <a:bodyPr>
            <a:normAutofit/>
          </a:bodyPr>
          <a:lstStyle/>
          <a:p>
            <a:pPr eaLnBrk="0" fontAlgn="base" hangingPunct="0">
              <a:lnSpc>
                <a:spcPct val="100000"/>
              </a:lnSpc>
              <a:spcBef>
                <a:spcPct val="0"/>
              </a:spcBef>
              <a:spcAft>
                <a:spcPct val="0"/>
              </a:spcAft>
              <a:buClrTx/>
              <a:buSzTx/>
            </a:pPr>
            <a:r>
              <a:rPr lang="en-US" altLang="en-US" dirty="0">
                <a:latin typeface="Arial" panose="020B0604020202020204" pitchFamily="34" charset="0"/>
              </a:rPr>
              <a:t>While Tailwind provides a comprehensive set of utility classes out of the box, you can customize the framework by modifying the </a:t>
            </a:r>
            <a:r>
              <a:rPr lang="en-US" altLang="en-US" dirty="0">
                <a:latin typeface="Arial Unicode MS"/>
              </a:rPr>
              <a:t>tailwind.config.js</a:t>
            </a:r>
            <a:r>
              <a:rPr lang="en-US" altLang="en-US" dirty="0"/>
              <a:t> </a:t>
            </a:r>
            <a:r>
              <a:rPr lang="en-US" altLang="en-US" dirty="0" smtClean="0"/>
              <a:t>file. </a:t>
            </a:r>
          </a:p>
          <a:p>
            <a:pPr eaLnBrk="0" fontAlgn="base" hangingPunct="0">
              <a:lnSpc>
                <a:spcPct val="100000"/>
              </a:lnSpc>
              <a:spcBef>
                <a:spcPct val="0"/>
              </a:spcBef>
              <a:spcAft>
                <a:spcPct val="0"/>
              </a:spcAft>
              <a:buClrTx/>
              <a:buSzTx/>
            </a:pPr>
            <a:endParaRPr lang="en-US" altLang="en-US" dirty="0"/>
          </a:p>
          <a:p>
            <a:pPr eaLnBrk="0" fontAlgn="base" hangingPunct="0">
              <a:lnSpc>
                <a:spcPct val="100000"/>
              </a:lnSpc>
              <a:spcBef>
                <a:spcPct val="0"/>
              </a:spcBef>
              <a:spcAft>
                <a:spcPct val="0"/>
              </a:spcAft>
              <a:buClrTx/>
              <a:buSzTx/>
            </a:pPr>
            <a:r>
              <a:rPr lang="en-US" altLang="en-US" dirty="0" smtClean="0"/>
              <a:t>Add custom colors, fonts, spacing, or components, utilities</a:t>
            </a:r>
            <a:r>
              <a:rPr lang="en-US" altLang="en-US" dirty="0"/>
              <a:t>, themes, or responsive breakpoints according to your needs. </a:t>
            </a:r>
            <a:endParaRPr lang="en-US" altLang="en-US" dirty="0">
              <a:latin typeface="Arial" panose="020B0604020202020204" pitchFamily="34" charset="0"/>
            </a:endParaRPr>
          </a:p>
        </p:txBody>
      </p:sp>
    </p:spTree>
    <p:extLst>
      <p:ext uri="{BB962C8B-B14F-4D97-AF65-F5344CB8AC3E}">
        <p14:creationId xmlns:p14="http://schemas.microsoft.com/office/powerpoint/2010/main" val="224584809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@apply directive</a:t>
            </a:r>
            <a:endParaRPr lang="en-IN" dirty="0"/>
          </a:p>
        </p:txBody>
      </p:sp>
      <p:sp>
        <p:nvSpPr>
          <p:cNvPr id="3" name="Content Placeholder 2"/>
          <p:cNvSpPr>
            <a:spLocks noGrp="1"/>
          </p:cNvSpPr>
          <p:nvPr>
            <p:ph idx="1"/>
          </p:nvPr>
        </p:nvSpPr>
        <p:spPr/>
        <p:txBody>
          <a:bodyPr>
            <a:normAutofit/>
          </a:bodyPr>
          <a:lstStyle/>
          <a:p>
            <a:r>
              <a:rPr lang="en-US" dirty="0"/>
              <a:t>The @apply directive in Tailwind CSS is a powerful feature that allows you to apply utility classes directly in your CSS files or within your component styles. </a:t>
            </a:r>
            <a:endParaRPr lang="en-US" dirty="0" smtClean="0"/>
          </a:p>
          <a:p>
            <a:r>
              <a:rPr lang="en-US" dirty="0" smtClean="0"/>
              <a:t>It’s </a:t>
            </a:r>
            <a:r>
              <a:rPr lang="en-US" dirty="0"/>
              <a:t>useful for when you want to create custom styles or apply multiple utility classes to a single CSS rule</a:t>
            </a:r>
            <a:r>
              <a:rPr lang="en-US" dirty="0" smtClean="0"/>
              <a:t>.</a:t>
            </a:r>
          </a:p>
          <a:p>
            <a:r>
              <a:rPr lang="en-US" dirty="0"/>
              <a:t>The @apply directive helps you to maintain a clean and manageable CSS codebase by allowing you to use Tailwind utility classes within your own custom CSS rules. </a:t>
            </a:r>
          </a:p>
          <a:p>
            <a:endParaRPr lang="en-US" dirty="0"/>
          </a:p>
          <a:p>
            <a:pPr marL="0" lvl="0" indent="0" eaLnBrk="0" fontAlgn="base" hangingPunct="0">
              <a:lnSpc>
                <a:spcPct val="100000"/>
              </a:lnSpc>
              <a:spcBef>
                <a:spcPct val="0"/>
              </a:spcBef>
              <a:spcAft>
                <a:spcPct val="0"/>
              </a:spcAft>
              <a:buClrTx/>
              <a:buSzTx/>
              <a:buNone/>
            </a:pPr>
            <a:endParaRPr lang="en-US" altLang="en-US" sz="2000" b="1" dirty="0">
              <a:latin typeface="Arial" panose="020B0604020202020204" pitchFamily="34" charset="0"/>
            </a:endParaRPr>
          </a:p>
        </p:txBody>
      </p:sp>
    </p:spTree>
    <p:extLst>
      <p:ext uri="{BB962C8B-B14F-4D97-AF65-F5344CB8AC3E}">
        <p14:creationId xmlns:p14="http://schemas.microsoft.com/office/powerpoint/2010/main" val="27174684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Drawbacks of Tailwind</a:t>
            </a:r>
            <a:endParaRPr lang="en-IN" dirty="0"/>
          </a:p>
        </p:txBody>
      </p:sp>
      <p:sp>
        <p:nvSpPr>
          <p:cNvPr id="3" name="Content Placeholder 2"/>
          <p:cNvSpPr>
            <a:spLocks noGrp="1"/>
          </p:cNvSpPr>
          <p:nvPr>
            <p:ph idx="1"/>
          </p:nvPr>
        </p:nvSpPr>
        <p:spPr/>
        <p:txBody>
          <a:bodyPr>
            <a:normAutofit/>
          </a:bodyPr>
          <a:lstStyle/>
          <a:p>
            <a:r>
              <a:rPr lang="en-IN" dirty="0" smtClean="0"/>
              <a:t>Too many classes</a:t>
            </a:r>
          </a:p>
          <a:p>
            <a:endParaRPr lang="en-IN" dirty="0" smtClean="0"/>
          </a:p>
          <a:p>
            <a:pPr eaLnBrk="0" fontAlgn="base" hangingPunct="0">
              <a:lnSpc>
                <a:spcPct val="100000"/>
              </a:lnSpc>
              <a:spcBef>
                <a:spcPct val="0"/>
              </a:spcBef>
              <a:spcAft>
                <a:spcPct val="0"/>
              </a:spcAft>
              <a:buClrTx/>
              <a:buSzTx/>
            </a:pPr>
            <a:r>
              <a:rPr lang="en-US" altLang="en-US" b="1" dirty="0">
                <a:latin typeface="Arial" panose="020B0604020202020204" pitchFamily="34" charset="0"/>
              </a:rPr>
              <a:t>HTML Bloat</a:t>
            </a:r>
            <a:r>
              <a:rPr lang="en-US" altLang="en-US" dirty="0">
                <a:latin typeface="Arial" panose="020B0604020202020204" pitchFamily="34" charset="0"/>
              </a:rPr>
              <a:t>: Your HTML files can become cluttered with numerous classes, which can be harder to read and maintain</a:t>
            </a:r>
            <a:r>
              <a:rPr lang="en-US" altLang="en-US" dirty="0" smtClean="0">
                <a:latin typeface="Arial" panose="020B0604020202020204" pitchFamily="34" charset="0"/>
              </a:rPr>
              <a:t>.</a:t>
            </a:r>
          </a:p>
          <a:p>
            <a:pPr eaLnBrk="0" fontAlgn="base" hangingPunct="0">
              <a:lnSpc>
                <a:spcPct val="100000"/>
              </a:lnSpc>
              <a:spcBef>
                <a:spcPct val="0"/>
              </a:spcBef>
              <a:spcAft>
                <a:spcPct val="0"/>
              </a:spcAft>
              <a:buClrTx/>
              <a:buSzTx/>
            </a:pPr>
            <a:endParaRPr lang="en-US" altLang="en-US" dirty="0">
              <a:latin typeface="Arial" panose="020B0604020202020204" pitchFamily="34" charset="0"/>
            </a:endParaRPr>
          </a:p>
          <a:p>
            <a:pPr eaLnBrk="0" fontAlgn="base" hangingPunct="0">
              <a:lnSpc>
                <a:spcPct val="100000"/>
              </a:lnSpc>
              <a:spcBef>
                <a:spcPct val="0"/>
              </a:spcBef>
              <a:spcAft>
                <a:spcPct val="0"/>
              </a:spcAft>
              <a:buClrTx/>
              <a:buSzTx/>
            </a:pPr>
            <a:r>
              <a:rPr lang="en-US" altLang="en-US" b="1" dirty="0">
                <a:latin typeface="Arial" panose="020B0604020202020204" pitchFamily="34" charset="0"/>
              </a:rPr>
              <a:t>Difficulty in Debugging</a:t>
            </a:r>
            <a:r>
              <a:rPr lang="en-US" altLang="en-US" dirty="0">
                <a:latin typeface="Arial" panose="020B0604020202020204" pitchFamily="34" charset="0"/>
              </a:rPr>
              <a:t>: Finding the source of specific styles or understanding the full styling of an element can be more challenging with many utility classes. </a:t>
            </a:r>
          </a:p>
          <a:p>
            <a:endParaRPr lang="en-IN" dirty="0" smtClean="0">
              <a:latin typeface="Arial" panose="020B0604020202020204" pitchFamily="34" charset="0"/>
            </a:endParaRPr>
          </a:p>
          <a:p>
            <a:pPr eaLnBrk="0" fontAlgn="base" hangingPunct="0">
              <a:lnSpc>
                <a:spcPct val="100000"/>
              </a:lnSpc>
              <a:spcBef>
                <a:spcPct val="0"/>
              </a:spcBef>
              <a:spcAft>
                <a:spcPct val="0"/>
              </a:spcAft>
              <a:buClrTx/>
              <a:buSzTx/>
            </a:pPr>
            <a:r>
              <a:rPr lang="en-US" altLang="en-US" b="1" dirty="0" smtClean="0">
                <a:latin typeface="Arial" panose="020B0604020202020204" pitchFamily="34" charset="0"/>
              </a:rPr>
              <a:t>Overriding Styles: </a:t>
            </a:r>
            <a:r>
              <a:rPr lang="en-US" altLang="en-US" dirty="0" smtClean="0">
                <a:latin typeface="Arial" panose="020B0604020202020204" pitchFamily="34" charset="0"/>
              </a:rPr>
              <a:t>Custom </a:t>
            </a:r>
            <a:r>
              <a:rPr lang="en-US" altLang="en-US" dirty="0">
                <a:latin typeface="Arial" panose="020B0604020202020204" pitchFamily="34" charset="0"/>
              </a:rPr>
              <a:t>designs might require adding extra classes or using </a:t>
            </a:r>
            <a:r>
              <a:rPr lang="en-US" altLang="en-US" dirty="0">
                <a:latin typeface="Arial Unicode MS"/>
              </a:rPr>
              <a:t>@apply</a:t>
            </a:r>
            <a:r>
              <a:rPr lang="en-US" altLang="en-US" dirty="0"/>
              <a:t> in your CSS, which can lead to additional complexity.</a:t>
            </a:r>
            <a:endParaRPr lang="en-US" altLang="en-US" dirty="0">
              <a:latin typeface="Arial" panose="020B0604020202020204" pitchFamily="34" charset="0"/>
            </a:endParaRPr>
          </a:p>
        </p:txBody>
      </p:sp>
    </p:spTree>
    <p:extLst>
      <p:ext uri="{BB962C8B-B14F-4D97-AF65-F5344CB8AC3E}">
        <p14:creationId xmlns:p14="http://schemas.microsoft.com/office/powerpoint/2010/main" val="254492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Best Practices</a:t>
            </a:r>
            <a:endParaRPr lang="en-IN" dirty="0"/>
          </a:p>
        </p:txBody>
      </p:sp>
      <p:sp>
        <p:nvSpPr>
          <p:cNvPr id="4" name="Rectangle 1"/>
          <p:cNvSpPr>
            <a:spLocks noGrp="1" noChangeArrowheads="1"/>
          </p:cNvSpPr>
          <p:nvPr>
            <p:ph idx="1"/>
          </p:nvPr>
        </p:nvSpPr>
        <p:spPr bwMode="auto">
          <a:xfrm>
            <a:off x="1261872" y="2393108"/>
            <a:ext cx="944623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Compose Classes</a:t>
            </a:r>
            <a:r>
              <a:rPr kumimoji="0" lang="en-US" altLang="en-US" sz="1800" b="0" i="0" u="none" strike="noStrike" cap="none" normalizeH="0" baseline="0" dirty="0" smtClean="0">
                <a:ln>
                  <a:noFill/>
                </a:ln>
                <a:solidFill>
                  <a:schemeClr val="tx1"/>
                </a:solidFill>
                <a:effectLst/>
                <a:latin typeface="Arial" panose="020B0604020202020204" pitchFamily="34" charset="0"/>
              </a:rPr>
              <a:t>: Combine multiple utility classes to achieve the desired design.</a:t>
            </a:r>
          </a:p>
          <a:p>
            <a:pPr eaLnBrk="0" fontAlgn="base" hangingPunct="0">
              <a:lnSpc>
                <a:spcPct val="100000"/>
              </a:lnSpc>
              <a:spcBef>
                <a:spcPct val="0"/>
              </a:spcBef>
              <a:spcAft>
                <a:spcPct val="0"/>
              </a:spcAft>
              <a:buClrTx/>
              <a:buSzTx/>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Use Responsive Utilities</a:t>
            </a:r>
            <a:r>
              <a:rPr kumimoji="0" lang="en-US" altLang="en-US" sz="1800" b="0" i="0" u="none" strike="noStrike" cap="none" normalizeH="0" baseline="0" dirty="0" smtClean="0">
                <a:ln>
                  <a:noFill/>
                </a:ln>
                <a:solidFill>
                  <a:schemeClr val="tx1"/>
                </a:solidFill>
                <a:effectLst/>
                <a:latin typeface="Arial" panose="020B0604020202020204" pitchFamily="34" charset="0"/>
              </a:rPr>
              <a:t>: Apply different styles for various screen sizes using responsive prefixes.</a:t>
            </a:r>
          </a:p>
          <a:p>
            <a:pPr eaLnBrk="0" fontAlgn="base" hangingPunct="0">
              <a:lnSpc>
                <a:spcPct val="100000"/>
              </a:lnSpc>
              <a:spcBef>
                <a:spcPct val="0"/>
              </a:spcBef>
              <a:spcAft>
                <a:spcPct val="0"/>
              </a:spcAft>
              <a:buClrTx/>
              <a:buSzTx/>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Customize as Needed</a:t>
            </a:r>
            <a:r>
              <a:rPr kumimoji="0" lang="en-US" altLang="en-US" sz="1800" b="0" i="0" u="none" strike="noStrike" cap="none" normalizeH="0" baseline="0" dirty="0" smtClean="0">
                <a:ln>
                  <a:noFill/>
                </a:ln>
                <a:solidFill>
                  <a:schemeClr val="tx1"/>
                </a:solidFill>
                <a:effectLst/>
                <a:latin typeface="Arial" panose="020B0604020202020204" pitchFamily="34" charset="0"/>
              </a:rPr>
              <a:t>: Tailwind is highly customizable; adjust the configuration to match your design requirements.</a:t>
            </a:r>
          </a:p>
          <a:p>
            <a:pPr eaLnBrk="0" fontAlgn="base" hangingPunct="0">
              <a:lnSpc>
                <a:spcPct val="100000"/>
              </a:lnSpc>
              <a:spcBef>
                <a:spcPct val="0"/>
              </a:spcBef>
              <a:spcAft>
                <a:spcPct val="0"/>
              </a:spcAft>
              <a:buClrTx/>
              <a:buSzTx/>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781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Dark mode</a:t>
            </a:r>
            <a:endParaRPr lang="en-IN" dirty="0"/>
          </a:p>
        </p:txBody>
      </p:sp>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smtClean="0"/>
          </a:p>
          <a:p>
            <a:r>
              <a:rPr lang="en-US" dirty="0" smtClean="0"/>
              <a:t>Great OS- support for dark </a:t>
            </a:r>
            <a:r>
              <a:rPr lang="en-US" dirty="0"/>
              <a:t>mode </a:t>
            </a:r>
            <a:r>
              <a:rPr lang="en-US" dirty="0" smtClean="0"/>
              <a:t>these days, becomes important to create a dark </a:t>
            </a:r>
            <a:r>
              <a:rPr lang="en-US" dirty="0"/>
              <a:t>version of </a:t>
            </a:r>
            <a:r>
              <a:rPr lang="en-US" dirty="0" smtClean="0"/>
              <a:t>the </a:t>
            </a:r>
            <a:r>
              <a:rPr lang="en-US" dirty="0"/>
              <a:t>website to go along with the default design.</a:t>
            </a:r>
          </a:p>
          <a:p>
            <a:r>
              <a:rPr lang="en-US" dirty="0" smtClean="0"/>
              <a:t>To </a:t>
            </a:r>
            <a:r>
              <a:rPr lang="en-US" dirty="0"/>
              <a:t>make this as easy as possible, Tailwind includes a dark variant that lets you style your site differently when dark mode is enabled:</a:t>
            </a:r>
            <a:endParaRPr lang="en-IN" dirty="0"/>
          </a:p>
        </p:txBody>
      </p:sp>
      <p:pic>
        <p:nvPicPr>
          <p:cNvPr id="4" name="Picture 3"/>
          <p:cNvPicPr>
            <a:picLocks noChangeAspect="1"/>
          </p:cNvPicPr>
          <p:nvPr/>
        </p:nvPicPr>
        <p:blipFill>
          <a:blip r:embed="rId2"/>
          <a:stretch>
            <a:fillRect/>
          </a:stretch>
        </p:blipFill>
        <p:spPr>
          <a:xfrm>
            <a:off x="3247101" y="1777366"/>
            <a:ext cx="5359572" cy="5080634"/>
          </a:xfrm>
          <a:prstGeom prst="rect">
            <a:avLst/>
          </a:prstGeom>
        </p:spPr>
      </p:pic>
      <p:pic>
        <p:nvPicPr>
          <p:cNvPr id="5" name="Picture 4"/>
          <p:cNvPicPr>
            <a:picLocks noChangeAspect="1"/>
          </p:cNvPicPr>
          <p:nvPr/>
        </p:nvPicPr>
        <p:blipFill>
          <a:blip r:embed="rId2"/>
          <a:stretch>
            <a:fillRect/>
          </a:stretch>
        </p:blipFill>
        <p:spPr>
          <a:xfrm>
            <a:off x="3247101" y="1828800"/>
            <a:ext cx="5359572" cy="5080634"/>
          </a:xfrm>
          <a:prstGeom prst="rect">
            <a:avLst/>
          </a:prstGeom>
        </p:spPr>
      </p:pic>
    </p:spTree>
    <p:extLst>
      <p:ext uri="{BB962C8B-B14F-4D97-AF65-F5344CB8AC3E}">
        <p14:creationId xmlns:p14="http://schemas.microsoft.com/office/powerpoint/2010/main" val="26551960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561415" y="3516200"/>
            <a:ext cx="10758689" cy="2897756"/>
          </a:xfrm>
          <a:prstGeom prst="rect">
            <a:avLst/>
          </a:prstGeom>
        </p:spPr>
      </p:pic>
      <p:pic>
        <p:nvPicPr>
          <p:cNvPr id="5" name="Picture 4"/>
          <p:cNvPicPr>
            <a:picLocks noChangeAspect="1"/>
          </p:cNvPicPr>
          <p:nvPr/>
        </p:nvPicPr>
        <p:blipFill>
          <a:blip r:embed="rId3"/>
          <a:stretch>
            <a:fillRect/>
          </a:stretch>
        </p:blipFill>
        <p:spPr>
          <a:xfrm>
            <a:off x="2879766" y="791851"/>
            <a:ext cx="5359572" cy="5080634"/>
          </a:xfrm>
          <a:prstGeom prst="rect">
            <a:avLst/>
          </a:prstGeom>
        </p:spPr>
      </p:pic>
    </p:spTree>
    <p:extLst>
      <p:ext uri="{BB962C8B-B14F-4D97-AF65-F5344CB8AC3E}">
        <p14:creationId xmlns:p14="http://schemas.microsoft.com/office/powerpoint/2010/main" val="29957041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Recommended class order using prettier-plugin-</a:t>
            </a:r>
            <a:r>
              <a:rPr lang="en-IN" dirty="0" err="1" smtClean="0"/>
              <a:t>tailwindcss</a:t>
            </a:r>
            <a:endParaRPr lang="en-IN" dirty="0"/>
          </a:p>
        </p:txBody>
      </p:sp>
      <p:sp>
        <p:nvSpPr>
          <p:cNvPr id="3" name="Content Placeholder 2"/>
          <p:cNvSpPr>
            <a:spLocks noGrp="1"/>
          </p:cNvSpPr>
          <p:nvPr>
            <p:ph idx="1"/>
          </p:nvPr>
        </p:nvSpPr>
        <p:spPr/>
        <p:txBody>
          <a:bodyPr/>
          <a:lstStyle/>
          <a:p>
            <a:r>
              <a:rPr lang="en-US" dirty="0"/>
              <a:t>This plugin scans your templates for class attributes containing Tailwind CSS classes, and then sorts those classes automatically following our recommended class order</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marL="0" indent="0">
              <a:buNone/>
            </a:pPr>
            <a:endParaRPr lang="en-IN" dirty="0"/>
          </a:p>
        </p:txBody>
      </p:sp>
      <p:sp>
        <p:nvSpPr>
          <p:cNvPr id="4" name="TextBox 3"/>
          <p:cNvSpPr txBox="1"/>
          <p:nvPr/>
        </p:nvSpPr>
        <p:spPr>
          <a:xfrm>
            <a:off x="1908833" y="2823109"/>
            <a:ext cx="7301437" cy="2362717"/>
          </a:xfrm>
          <a:prstGeom prst="rect">
            <a:avLst/>
          </a:prstGeom>
          <a:solidFill>
            <a:schemeClr val="tx1"/>
          </a:solidFill>
        </p:spPr>
        <p:txBody>
          <a:bodyPr wrap="square" rtlCol="0">
            <a:spAutoFit/>
          </a:bodyPr>
          <a:lstStyle/>
          <a:p>
            <a:r>
              <a:rPr lang="en-IN" dirty="0">
                <a:solidFill>
                  <a:srgbClr val="6A9955"/>
                </a:solidFill>
                <a:latin typeface="Consolas" panose="020B0609020204030204" pitchFamily="49" charset="0"/>
              </a:rPr>
              <a:t>&lt;!-- Before --&gt;</a:t>
            </a:r>
            <a:endParaRPr lang="en-IN" dirty="0">
              <a:solidFill>
                <a:srgbClr val="CCCCCC"/>
              </a:solidFill>
              <a:latin typeface="Consolas" panose="020B0609020204030204" pitchFamily="49" charset="0"/>
            </a:endParaRPr>
          </a:p>
          <a:p>
            <a:r>
              <a:rPr lang="en-IN" dirty="0">
                <a:solidFill>
                  <a:srgbClr val="808080"/>
                </a:solidFill>
                <a:latin typeface="Consolas" panose="020B0609020204030204" pitchFamily="49" charset="0"/>
              </a:rPr>
              <a:t>&lt;</a:t>
            </a:r>
            <a:r>
              <a:rPr lang="en-IN" dirty="0">
                <a:solidFill>
                  <a:srgbClr val="569CD6"/>
                </a:solidFill>
                <a:latin typeface="Consolas" panose="020B0609020204030204" pitchFamily="49" charset="0"/>
              </a:rPr>
              <a:t>button</a:t>
            </a: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class</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"text-white px-4 sm:px-8 py-2 sm:py-3 bg-sky-700 hover:bg-sky-800"</a:t>
            </a:r>
            <a:r>
              <a:rPr lang="en-IN" dirty="0">
                <a:solidFill>
                  <a:srgbClr val="808080"/>
                </a:solidFill>
                <a:latin typeface="Consolas" panose="020B0609020204030204" pitchFamily="49" charset="0"/>
              </a:rPr>
              <a:t>&gt;</a:t>
            </a:r>
            <a:r>
              <a:rPr lang="en-IN" dirty="0">
                <a:solidFill>
                  <a:srgbClr val="CCCCCC"/>
                </a:solidFill>
                <a:latin typeface="Consolas" panose="020B0609020204030204" pitchFamily="49" charset="0"/>
              </a:rPr>
              <a:t>...</a:t>
            </a:r>
            <a:r>
              <a:rPr lang="en-IN" dirty="0">
                <a:solidFill>
                  <a:srgbClr val="808080"/>
                </a:solidFill>
                <a:latin typeface="Consolas" panose="020B0609020204030204" pitchFamily="49" charset="0"/>
              </a:rPr>
              <a:t>&lt;/</a:t>
            </a:r>
            <a:r>
              <a:rPr lang="en-IN" dirty="0">
                <a:solidFill>
                  <a:srgbClr val="569CD6"/>
                </a:solidFill>
                <a:latin typeface="Consolas" panose="020B0609020204030204" pitchFamily="49" charset="0"/>
              </a:rPr>
              <a:t>button</a:t>
            </a:r>
            <a:r>
              <a:rPr lang="en-IN" dirty="0" smtClean="0">
                <a:solidFill>
                  <a:srgbClr val="808080"/>
                </a:solidFill>
                <a:latin typeface="Consolas" panose="020B0609020204030204" pitchFamily="49" charset="0"/>
              </a:rPr>
              <a:t>&gt;</a:t>
            </a:r>
          </a:p>
          <a:p>
            <a:endParaRPr lang="en-IN" dirty="0">
              <a:solidFill>
                <a:srgbClr val="808080"/>
              </a:solidFill>
              <a:latin typeface="Consolas" panose="020B0609020204030204" pitchFamily="49" charset="0"/>
            </a:endParaRPr>
          </a:p>
          <a:p>
            <a:endParaRPr lang="en-IN" dirty="0">
              <a:solidFill>
                <a:srgbClr val="CCCCCC"/>
              </a:solidFill>
              <a:latin typeface="Consolas" panose="020B0609020204030204" pitchFamily="49" charset="0"/>
            </a:endParaRPr>
          </a:p>
          <a:p>
            <a:r>
              <a:rPr lang="en-IN" dirty="0">
                <a:solidFill>
                  <a:srgbClr val="6A9955"/>
                </a:solidFill>
                <a:latin typeface="Consolas" panose="020B0609020204030204" pitchFamily="49" charset="0"/>
              </a:rPr>
              <a:t>&lt;!-- After --&gt;</a:t>
            </a:r>
            <a:endParaRPr lang="en-IN" dirty="0">
              <a:solidFill>
                <a:srgbClr val="CCCCCC"/>
              </a:solidFill>
              <a:latin typeface="Consolas" panose="020B0609020204030204" pitchFamily="49" charset="0"/>
            </a:endParaRPr>
          </a:p>
          <a:p>
            <a:r>
              <a:rPr lang="en-IN" dirty="0">
                <a:solidFill>
                  <a:srgbClr val="808080"/>
                </a:solidFill>
                <a:latin typeface="Consolas" panose="020B0609020204030204" pitchFamily="49" charset="0"/>
              </a:rPr>
              <a:t>&lt;</a:t>
            </a:r>
            <a:r>
              <a:rPr lang="en-IN" dirty="0">
                <a:solidFill>
                  <a:srgbClr val="569CD6"/>
                </a:solidFill>
                <a:latin typeface="Consolas" panose="020B0609020204030204" pitchFamily="49" charset="0"/>
              </a:rPr>
              <a:t>button</a:t>
            </a: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class</a:t>
            </a:r>
            <a:r>
              <a:rPr lang="en-IN" dirty="0">
                <a:solidFill>
                  <a:srgbClr val="CCCCCC"/>
                </a:solidFill>
                <a:latin typeface="Consolas" panose="020B0609020204030204" pitchFamily="49" charset="0"/>
              </a:rPr>
              <a:t>=</a:t>
            </a:r>
            <a:r>
              <a:rPr lang="en-IN" dirty="0">
                <a:solidFill>
                  <a:srgbClr val="CE9178"/>
                </a:solidFill>
                <a:latin typeface="Consolas" panose="020B0609020204030204" pitchFamily="49" charset="0"/>
              </a:rPr>
              <a:t>"bg-sky-700 px-4 py-2 text-white hover:bg-sky-800 sm:px-8 sm:py-3"</a:t>
            </a:r>
            <a:r>
              <a:rPr lang="en-IN" dirty="0">
                <a:solidFill>
                  <a:srgbClr val="808080"/>
                </a:solidFill>
                <a:latin typeface="Consolas" panose="020B0609020204030204" pitchFamily="49" charset="0"/>
              </a:rPr>
              <a:t>&gt;</a:t>
            </a:r>
            <a:r>
              <a:rPr lang="en-IN" dirty="0">
                <a:solidFill>
                  <a:srgbClr val="CCCCCC"/>
                </a:solidFill>
                <a:latin typeface="Consolas" panose="020B0609020204030204" pitchFamily="49" charset="0"/>
              </a:rPr>
              <a:t>...</a:t>
            </a:r>
            <a:r>
              <a:rPr lang="en-IN" dirty="0">
                <a:solidFill>
                  <a:srgbClr val="808080"/>
                </a:solidFill>
                <a:latin typeface="Consolas" panose="020B0609020204030204" pitchFamily="49" charset="0"/>
              </a:rPr>
              <a:t>&lt;/</a:t>
            </a:r>
            <a:r>
              <a:rPr lang="en-IN" dirty="0">
                <a:solidFill>
                  <a:srgbClr val="569CD6"/>
                </a:solidFill>
                <a:latin typeface="Consolas" panose="020B0609020204030204" pitchFamily="49" charset="0"/>
              </a:rPr>
              <a:t>button</a:t>
            </a:r>
            <a:r>
              <a:rPr lang="en-IN" dirty="0">
                <a:solidFill>
                  <a:srgbClr val="808080"/>
                </a:solidFill>
                <a:latin typeface="Consolas" panose="020B0609020204030204" pitchFamily="49" charset="0"/>
              </a:rPr>
              <a:t>&gt;</a:t>
            </a: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5059670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Recommended class order using prettier-plugin-</a:t>
            </a:r>
            <a:r>
              <a:rPr lang="en-IN" dirty="0" err="1"/>
              <a:t>tailwindcss</a:t>
            </a:r>
            <a:endParaRPr lang="en-IN" dirty="0"/>
          </a:p>
        </p:txBody>
      </p:sp>
      <p:sp>
        <p:nvSpPr>
          <p:cNvPr id="3" name="Content Placeholder 2"/>
          <p:cNvSpPr>
            <a:spLocks noGrp="1"/>
          </p:cNvSpPr>
          <p:nvPr>
            <p:ph idx="1"/>
          </p:nvPr>
        </p:nvSpPr>
        <p:spPr/>
        <p:txBody>
          <a:bodyPr/>
          <a:lstStyle/>
          <a:p>
            <a:r>
              <a:rPr lang="en-IN" dirty="0"/>
              <a:t>To get started, install prettier-plugin-</a:t>
            </a:r>
            <a:r>
              <a:rPr lang="en-IN" dirty="0" err="1"/>
              <a:t>tailwindcss</a:t>
            </a:r>
            <a:r>
              <a:rPr lang="en-IN" dirty="0"/>
              <a:t> as a </a:t>
            </a:r>
            <a:r>
              <a:rPr lang="en-IN" dirty="0" smtClean="0"/>
              <a:t>dev-dependency on </a:t>
            </a:r>
            <a:r>
              <a:rPr lang="en-IN" dirty="0" err="1" smtClean="0"/>
              <a:t>teminal</a:t>
            </a:r>
            <a:r>
              <a:rPr lang="en-IN" dirty="0" smtClean="0"/>
              <a:t>:</a:t>
            </a:r>
            <a:endParaRPr lang="en-IN" dirty="0"/>
          </a:p>
          <a:p>
            <a:pPr lvl="1"/>
            <a:r>
              <a:rPr lang="en-IN" dirty="0" err="1" smtClean="0"/>
              <a:t>npm</a:t>
            </a:r>
            <a:r>
              <a:rPr lang="en-IN" dirty="0" smtClean="0"/>
              <a:t> </a:t>
            </a:r>
            <a:r>
              <a:rPr lang="en-IN" dirty="0"/>
              <a:t>install -D prettier prettier-plugin-</a:t>
            </a:r>
            <a:r>
              <a:rPr lang="en-IN" dirty="0" err="1"/>
              <a:t>tailwindcss</a:t>
            </a:r>
            <a:endParaRPr lang="en-IN" dirty="0"/>
          </a:p>
          <a:p>
            <a:r>
              <a:rPr lang="en-IN" dirty="0"/>
              <a:t>Then add the plugin to your Prettier configuration file:</a:t>
            </a:r>
          </a:p>
          <a:p>
            <a:pPr marL="274320" lvl="1" indent="0">
              <a:buNone/>
            </a:pPr>
            <a:endParaRPr lang="en-IN" dirty="0" smtClean="0"/>
          </a:p>
          <a:p>
            <a:pPr marL="274320" lvl="1" indent="0">
              <a:buNone/>
            </a:pPr>
            <a:r>
              <a:rPr lang="en-IN" dirty="0" smtClean="0"/>
              <a:t>{</a:t>
            </a:r>
            <a:endParaRPr lang="en-IN" dirty="0"/>
          </a:p>
          <a:p>
            <a:pPr marL="274320" lvl="1" indent="0">
              <a:buNone/>
            </a:pPr>
            <a:r>
              <a:rPr lang="en-IN" dirty="0"/>
              <a:t>  "plugins": ["prettier-plugin-</a:t>
            </a:r>
            <a:r>
              <a:rPr lang="en-IN" dirty="0" err="1"/>
              <a:t>tailwindcss</a:t>
            </a:r>
            <a:r>
              <a:rPr lang="en-IN" dirty="0"/>
              <a:t>"]</a:t>
            </a:r>
          </a:p>
          <a:p>
            <a:pPr marL="274320" lvl="1" indent="0">
              <a:buNone/>
            </a:pPr>
            <a:r>
              <a:rPr lang="en-IN" dirty="0" smtClean="0"/>
              <a:t>}</a:t>
            </a:r>
          </a:p>
          <a:p>
            <a:pPr marL="274320" lvl="1" indent="0">
              <a:buNone/>
            </a:pPr>
            <a:endParaRPr lang="en-IN" dirty="0"/>
          </a:p>
          <a:p>
            <a:pPr lvl="1"/>
            <a:r>
              <a:rPr lang="en-US" dirty="0"/>
              <a:t>any classes in the base layer will be sorted first, followed by classes in the components layer, and then finally classes in the utilities layer</a:t>
            </a:r>
            <a:r>
              <a:rPr lang="en-US" dirty="0" smtClean="0"/>
              <a:t>.</a:t>
            </a:r>
          </a:p>
          <a:p>
            <a:pPr lvl="1"/>
            <a:r>
              <a:rPr lang="en-US" dirty="0"/>
              <a:t>any </a:t>
            </a:r>
            <a:r>
              <a:rPr lang="en-US" dirty="0" smtClean="0"/>
              <a:t>utility classes </a:t>
            </a:r>
            <a:r>
              <a:rPr lang="en-US" dirty="0"/>
              <a:t>that override other classes always appear later in the class list:</a:t>
            </a:r>
            <a:endParaRPr lang="en-IN" dirty="0"/>
          </a:p>
        </p:txBody>
      </p:sp>
    </p:spTree>
    <p:extLst>
      <p:ext uri="{BB962C8B-B14F-4D97-AF65-F5344CB8AC3E}">
        <p14:creationId xmlns:p14="http://schemas.microsoft.com/office/powerpoint/2010/main" val="21113622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to add a custom component?</a:t>
            </a:r>
            <a:endParaRPr lang="en-IN" dirty="0"/>
          </a:p>
        </p:txBody>
      </p:sp>
      <p:sp>
        <p:nvSpPr>
          <p:cNvPr id="3" name="Content Placeholder 2"/>
          <p:cNvSpPr>
            <a:spLocks noGrp="1"/>
          </p:cNvSpPr>
          <p:nvPr>
            <p:ph idx="1"/>
          </p:nvPr>
        </p:nvSpPr>
        <p:spPr/>
        <p:txBody>
          <a:bodyPr/>
          <a:lstStyle/>
          <a:p>
            <a:r>
              <a:rPr lang="en-US" dirty="0"/>
              <a:t>Use the @layer components directive in your CSS file</a:t>
            </a:r>
            <a:r>
              <a:rPr lang="en-US" dirty="0" smtClean="0"/>
              <a:t>.</a:t>
            </a:r>
          </a:p>
          <a:p>
            <a:r>
              <a:rPr lang="en-US" dirty="0" smtClean="0"/>
              <a:t>Combine </a:t>
            </a:r>
            <a:r>
              <a:rPr lang="en-US" dirty="0"/>
              <a:t>utilities with @apply to define reusable UI pieces.</a:t>
            </a:r>
            <a:endParaRPr lang="en-IN" dirty="0"/>
          </a:p>
        </p:txBody>
      </p:sp>
      <p:sp>
        <p:nvSpPr>
          <p:cNvPr id="4" name="TextBox 3"/>
          <p:cNvSpPr txBox="1"/>
          <p:nvPr/>
        </p:nvSpPr>
        <p:spPr>
          <a:xfrm>
            <a:off x="1767150" y="2667785"/>
            <a:ext cx="8342722" cy="3970318"/>
          </a:xfrm>
          <a:prstGeom prst="rect">
            <a:avLst/>
          </a:prstGeom>
          <a:solidFill>
            <a:schemeClr val="tx1"/>
          </a:solidFill>
        </p:spPr>
        <p:txBody>
          <a:bodyPr wrap="square" rtlCol="0">
            <a:spAutoFit/>
          </a:bodyPr>
          <a:lstStyle/>
          <a:p>
            <a:r>
              <a:rPr lang="en-IN" dirty="0" smtClean="0">
                <a:solidFill>
                  <a:srgbClr val="6A9955"/>
                </a:solidFill>
                <a:latin typeface="Consolas" panose="020B0609020204030204" pitchFamily="49" charset="0"/>
              </a:rPr>
              <a:t>/* </a:t>
            </a:r>
            <a:r>
              <a:rPr lang="en-IN" dirty="0" err="1">
                <a:solidFill>
                  <a:srgbClr val="6A9955"/>
                </a:solidFill>
                <a:latin typeface="Consolas" panose="020B0609020204030204" pitchFamily="49" charset="0"/>
              </a:rPr>
              <a:t>src</a:t>
            </a:r>
            <a:r>
              <a:rPr lang="en-IN" dirty="0">
                <a:solidFill>
                  <a:srgbClr val="6A9955"/>
                </a:solidFill>
                <a:latin typeface="Consolas" panose="020B0609020204030204" pitchFamily="49" charset="0"/>
              </a:rPr>
              <a:t>/index.css */</a:t>
            </a:r>
            <a:endParaRPr lang="en-IN" dirty="0">
              <a:solidFill>
                <a:srgbClr val="CCCCCC"/>
              </a:solidFill>
              <a:latin typeface="Consolas" panose="020B0609020204030204" pitchFamily="49" charset="0"/>
            </a:endParaRPr>
          </a:p>
          <a:p>
            <a:r>
              <a:rPr lang="en-IN" dirty="0">
                <a:solidFill>
                  <a:srgbClr val="C586C0"/>
                </a:solidFill>
                <a:latin typeface="Consolas" panose="020B0609020204030204" pitchFamily="49" charset="0"/>
              </a:rPr>
              <a:t>@import</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tailwindcss</a:t>
            </a:r>
            <a:r>
              <a:rPr lang="en-IN" dirty="0">
                <a:solidFill>
                  <a:srgbClr val="CE9178"/>
                </a:solidFill>
                <a:latin typeface="Consolas" panose="020B0609020204030204" pitchFamily="49" charset="0"/>
              </a:rPr>
              <a:t>"</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6A9955"/>
                </a:solidFill>
                <a:latin typeface="Consolas" panose="020B0609020204030204" pitchFamily="49" charset="0"/>
              </a:rPr>
              <a:t>/* Define a custom button component */</a:t>
            </a:r>
            <a:endParaRPr lang="en-IN" dirty="0">
              <a:solidFill>
                <a:srgbClr val="CCCCCC"/>
              </a:solidFill>
              <a:latin typeface="Consolas" panose="020B0609020204030204" pitchFamily="49" charset="0"/>
            </a:endParaRPr>
          </a:p>
          <a:p>
            <a:r>
              <a:rPr lang="en-IN" dirty="0">
                <a:solidFill>
                  <a:srgbClr val="C586C0"/>
                </a:solidFill>
                <a:latin typeface="Consolas" panose="020B0609020204030204" pitchFamily="49" charset="0"/>
              </a:rPr>
              <a:t>@component</a:t>
            </a:r>
            <a:r>
              <a:rPr lang="en-IN" dirty="0">
                <a:solidFill>
                  <a:srgbClr val="CCCCCC"/>
                </a:solidFill>
                <a:latin typeface="Consolas" panose="020B0609020204030204" pitchFamily="49" charset="0"/>
              </a:rPr>
              <a:t> </a:t>
            </a:r>
            <a:r>
              <a:rPr lang="en-IN" dirty="0" err="1">
                <a:solidFill>
                  <a:srgbClr val="CCCCCC"/>
                </a:solidFill>
                <a:latin typeface="Consolas" panose="020B0609020204030204" pitchFamily="49" charset="0"/>
              </a:rPr>
              <a:t>btn</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@apply</a:t>
            </a:r>
            <a:r>
              <a:rPr lang="en-IN" dirty="0">
                <a:solidFill>
                  <a:srgbClr val="CCCCCC"/>
                </a:solidFill>
                <a:latin typeface="Consolas" panose="020B0609020204030204" pitchFamily="49" charset="0"/>
              </a:rPr>
              <a:t> px-4 py-2 rounded-</a:t>
            </a:r>
            <a:r>
              <a:rPr lang="en-IN" dirty="0" err="1">
                <a:solidFill>
                  <a:srgbClr val="CCCCCC"/>
                </a:solidFill>
                <a:latin typeface="Consolas" panose="020B0609020204030204" pitchFamily="49" charset="0"/>
              </a:rPr>
              <a:t>lg</a:t>
            </a:r>
            <a:r>
              <a:rPr lang="en-IN" dirty="0">
                <a:solidFill>
                  <a:srgbClr val="CCCCCC"/>
                </a:solidFill>
                <a:latin typeface="Consolas" panose="020B0609020204030204" pitchFamily="49" charset="0"/>
              </a:rPr>
              <a:t> font-</a:t>
            </a:r>
            <a:r>
              <a:rPr lang="en-IN" dirty="0" err="1">
                <a:solidFill>
                  <a:srgbClr val="CCCCCC"/>
                </a:solidFill>
                <a:latin typeface="Consolas" panose="020B0609020204030204" pitchFamily="49" charset="0"/>
              </a:rPr>
              <a:t>semibold</a:t>
            </a:r>
            <a:r>
              <a:rPr lang="en-IN" dirty="0">
                <a:solidFill>
                  <a:srgbClr val="CCCCCC"/>
                </a:solidFill>
                <a:latin typeface="Consolas" panose="020B0609020204030204" pitchFamily="49" charset="0"/>
              </a:rPr>
              <a:t> text-white bg-blue-600 hover:bg-blue-700;</a:t>
            </a:r>
          </a:p>
          <a:p>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6A9955"/>
                </a:solidFill>
                <a:latin typeface="Consolas" panose="020B0609020204030204" pitchFamily="49" charset="0"/>
              </a:rPr>
              <a:t>/* Another custom component: card */</a:t>
            </a:r>
            <a:endParaRPr lang="en-IN" dirty="0">
              <a:solidFill>
                <a:srgbClr val="CCCCCC"/>
              </a:solidFill>
              <a:latin typeface="Consolas" panose="020B0609020204030204" pitchFamily="49" charset="0"/>
            </a:endParaRPr>
          </a:p>
          <a:p>
            <a:r>
              <a:rPr lang="en-IN" dirty="0">
                <a:solidFill>
                  <a:srgbClr val="C586C0"/>
                </a:solidFill>
                <a:latin typeface="Consolas" panose="020B0609020204030204" pitchFamily="49" charset="0"/>
              </a:rPr>
              <a:t>@component</a:t>
            </a:r>
            <a:r>
              <a:rPr lang="en-IN" dirty="0">
                <a:solidFill>
                  <a:srgbClr val="CCCCCC"/>
                </a:solidFill>
                <a:latin typeface="Consolas" panose="020B0609020204030204" pitchFamily="49" charset="0"/>
              </a:rPr>
              <a:t> card {</a:t>
            </a:r>
          </a:p>
          <a:p>
            <a:r>
              <a:rPr lang="en-IN" dirty="0">
                <a:solidFill>
                  <a:srgbClr val="CCCCCC"/>
                </a:solidFill>
                <a:latin typeface="Consolas" panose="020B0609020204030204" pitchFamily="49" charset="0"/>
              </a:rPr>
              <a:t>  </a:t>
            </a:r>
            <a:r>
              <a:rPr lang="en-IN" dirty="0">
                <a:solidFill>
                  <a:srgbClr val="C586C0"/>
                </a:solidFill>
                <a:latin typeface="Consolas" panose="020B0609020204030204" pitchFamily="49" charset="0"/>
              </a:rPr>
              <a:t>@apply</a:t>
            </a:r>
            <a:r>
              <a:rPr lang="en-IN" dirty="0">
                <a:solidFill>
                  <a:srgbClr val="CCCCCC"/>
                </a:solidFill>
                <a:latin typeface="Consolas" panose="020B0609020204030204" pitchFamily="49" charset="0"/>
              </a:rPr>
              <a:t> p-6 rounded-2xl shadow-md </a:t>
            </a:r>
            <a:r>
              <a:rPr lang="en-IN" dirty="0" err="1">
                <a:solidFill>
                  <a:srgbClr val="CCCCCC"/>
                </a:solidFill>
                <a:latin typeface="Consolas" panose="020B0609020204030204" pitchFamily="49" charset="0"/>
              </a:rPr>
              <a:t>bg</a:t>
            </a:r>
            <a:r>
              <a:rPr lang="en-IN" dirty="0">
                <a:solidFill>
                  <a:srgbClr val="CCCCCC"/>
                </a:solidFill>
                <a:latin typeface="Consolas" panose="020B0609020204030204" pitchFamily="49" charset="0"/>
              </a:rPr>
              <a:t>-white border border-gray-200;</a:t>
            </a:r>
          </a:p>
          <a:p>
            <a:r>
              <a:rPr lang="en-IN" dirty="0" smtClean="0">
                <a:solidFill>
                  <a:srgbClr val="CCCCCC"/>
                </a:solidFill>
                <a:latin typeface="Consolas" panose="020B0609020204030204" pitchFamily="49" charset="0"/>
              </a:rPr>
              <a:t>}</a:t>
            </a:r>
            <a:endParaRPr lang="en-IN"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41668466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to add a custom utility</a:t>
            </a:r>
            <a:endParaRPr lang="en-IN" dirty="0"/>
          </a:p>
        </p:txBody>
      </p:sp>
      <p:sp>
        <p:nvSpPr>
          <p:cNvPr id="3" name="Content Placeholder 2"/>
          <p:cNvSpPr>
            <a:spLocks noGrp="1"/>
          </p:cNvSpPr>
          <p:nvPr>
            <p:ph idx="1"/>
          </p:nvPr>
        </p:nvSpPr>
        <p:spPr/>
        <p:txBody>
          <a:bodyPr/>
          <a:lstStyle/>
          <a:p>
            <a:r>
              <a:rPr lang="en-IN" dirty="0" smtClean="0"/>
              <a:t>Using the @utility directive</a:t>
            </a:r>
            <a:endParaRPr lang="en-IN" dirty="0"/>
          </a:p>
        </p:txBody>
      </p:sp>
      <p:sp>
        <p:nvSpPr>
          <p:cNvPr id="4" name="TextBox 3"/>
          <p:cNvSpPr txBox="1"/>
          <p:nvPr/>
        </p:nvSpPr>
        <p:spPr>
          <a:xfrm>
            <a:off x="1630837" y="2624296"/>
            <a:ext cx="7400041" cy="3693319"/>
          </a:xfrm>
          <a:prstGeom prst="rect">
            <a:avLst/>
          </a:prstGeom>
          <a:solidFill>
            <a:schemeClr val="tx1"/>
          </a:solidFill>
        </p:spPr>
        <p:txBody>
          <a:bodyPr wrap="square" rtlCol="0">
            <a:spAutoFit/>
          </a:bodyPr>
          <a:lstStyle/>
          <a:p>
            <a:r>
              <a:rPr lang="en-IN" dirty="0">
                <a:solidFill>
                  <a:srgbClr val="6A9955"/>
                </a:solidFill>
                <a:latin typeface="Consolas" panose="020B0609020204030204" pitchFamily="49" charset="0"/>
              </a:rPr>
              <a:t>/* </a:t>
            </a:r>
            <a:r>
              <a:rPr lang="en-IN" dirty="0" err="1">
                <a:solidFill>
                  <a:srgbClr val="6A9955"/>
                </a:solidFill>
                <a:latin typeface="Consolas" panose="020B0609020204030204" pitchFamily="49" charset="0"/>
              </a:rPr>
              <a:t>src</a:t>
            </a:r>
            <a:r>
              <a:rPr lang="en-IN" dirty="0">
                <a:solidFill>
                  <a:srgbClr val="6A9955"/>
                </a:solidFill>
                <a:latin typeface="Consolas" panose="020B0609020204030204" pitchFamily="49" charset="0"/>
              </a:rPr>
              <a:t>/index.css or any CSS file included in your project */</a:t>
            </a:r>
            <a:endParaRPr lang="en-IN" dirty="0">
              <a:solidFill>
                <a:srgbClr val="CCCCCC"/>
              </a:solidFill>
              <a:latin typeface="Consolas" panose="020B0609020204030204" pitchFamily="49" charset="0"/>
            </a:endParaRPr>
          </a:p>
          <a:p>
            <a:r>
              <a:rPr lang="en-IN" dirty="0">
                <a:solidFill>
                  <a:srgbClr val="C586C0"/>
                </a:solidFill>
                <a:latin typeface="Consolas" panose="020B0609020204030204" pitchFamily="49" charset="0"/>
              </a:rPr>
              <a:t>@import</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tailwindcss</a:t>
            </a:r>
            <a:r>
              <a:rPr lang="en-IN" dirty="0">
                <a:solidFill>
                  <a:srgbClr val="CE9178"/>
                </a:solidFill>
                <a:latin typeface="Consolas" panose="020B0609020204030204" pitchFamily="49" charset="0"/>
              </a:rPr>
              <a:t>"</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C586C0"/>
                </a:solidFill>
                <a:latin typeface="Consolas" panose="020B0609020204030204" pitchFamily="49" charset="0"/>
              </a:rPr>
              <a:t>@utility</a:t>
            </a: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text-shadow</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text-shadow</a:t>
            </a:r>
            <a:r>
              <a:rPr lang="en-IN" dirty="0">
                <a:solidFill>
                  <a:srgbClr val="CCCCCC"/>
                </a:solidFill>
                <a:latin typeface="Consolas" panose="020B0609020204030204" pitchFamily="49" charset="0"/>
              </a:rPr>
              <a:t>: </a:t>
            </a:r>
            <a:r>
              <a:rPr lang="en-IN" dirty="0">
                <a:solidFill>
                  <a:srgbClr val="B5CEA8"/>
                </a:solidFill>
                <a:latin typeface="Consolas" panose="020B0609020204030204" pitchFamily="49" charset="0"/>
              </a:rPr>
              <a:t>2px</a:t>
            </a:r>
            <a:r>
              <a:rPr lang="en-IN" dirty="0">
                <a:solidFill>
                  <a:srgbClr val="CCCCCC"/>
                </a:solidFill>
                <a:latin typeface="Consolas" panose="020B0609020204030204" pitchFamily="49" charset="0"/>
              </a:rPr>
              <a:t> </a:t>
            </a:r>
            <a:r>
              <a:rPr lang="en-IN" dirty="0" err="1">
                <a:solidFill>
                  <a:srgbClr val="B5CEA8"/>
                </a:solidFill>
                <a:latin typeface="Consolas" panose="020B0609020204030204" pitchFamily="49" charset="0"/>
              </a:rPr>
              <a:t>2px</a:t>
            </a:r>
            <a:r>
              <a:rPr lang="en-IN" dirty="0">
                <a:solidFill>
                  <a:srgbClr val="CCCCCC"/>
                </a:solidFill>
                <a:latin typeface="Consolas" panose="020B0609020204030204" pitchFamily="49" charset="0"/>
              </a:rPr>
              <a:t> </a:t>
            </a:r>
            <a:r>
              <a:rPr lang="en-IN" dirty="0">
                <a:solidFill>
                  <a:srgbClr val="B5CEA8"/>
                </a:solidFill>
                <a:latin typeface="Consolas" panose="020B0609020204030204" pitchFamily="49" charset="0"/>
              </a:rPr>
              <a:t>4px</a:t>
            </a:r>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rgba</a:t>
            </a:r>
            <a:r>
              <a:rPr lang="en-IN" dirty="0">
                <a:solidFill>
                  <a:srgbClr val="CCCCCC"/>
                </a:solidFill>
                <a:latin typeface="Consolas" panose="020B0609020204030204" pitchFamily="49" charset="0"/>
              </a:rPr>
              <a:t>(</a:t>
            </a:r>
            <a:r>
              <a:rPr lang="en-IN" dirty="0">
                <a:solidFill>
                  <a:srgbClr val="B5CEA8"/>
                </a:solidFill>
                <a:latin typeface="Consolas" panose="020B0609020204030204" pitchFamily="49" charset="0"/>
              </a:rPr>
              <a:t>0</a:t>
            </a:r>
            <a:r>
              <a:rPr lang="en-IN" dirty="0">
                <a:solidFill>
                  <a:srgbClr val="CCCCCC"/>
                </a:solidFill>
                <a:latin typeface="Consolas" panose="020B0609020204030204" pitchFamily="49" charset="0"/>
              </a:rPr>
              <a:t>, </a:t>
            </a:r>
            <a:r>
              <a:rPr lang="en-IN" dirty="0">
                <a:solidFill>
                  <a:srgbClr val="B5CEA8"/>
                </a:solidFill>
                <a:latin typeface="Consolas" panose="020B0609020204030204" pitchFamily="49" charset="0"/>
              </a:rPr>
              <a:t>0</a:t>
            </a:r>
            <a:r>
              <a:rPr lang="en-IN" dirty="0">
                <a:solidFill>
                  <a:srgbClr val="CCCCCC"/>
                </a:solidFill>
                <a:latin typeface="Consolas" panose="020B0609020204030204" pitchFamily="49" charset="0"/>
              </a:rPr>
              <a:t>, </a:t>
            </a:r>
            <a:r>
              <a:rPr lang="en-IN" dirty="0">
                <a:solidFill>
                  <a:srgbClr val="B5CEA8"/>
                </a:solidFill>
                <a:latin typeface="Consolas" panose="020B0609020204030204" pitchFamily="49" charset="0"/>
              </a:rPr>
              <a:t>0</a:t>
            </a:r>
            <a:r>
              <a:rPr lang="en-IN" dirty="0">
                <a:solidFill>
                  <a:srgbClr val="CCCCCC"/>
                </a:solidFill>
                <a:latin typeface="Consolas" panose="020B0609020204030204" pitchFamily="49" charset="0"/>
              </a:rPr>
              <a:t>, </a:t>
            </a:r>
            <a:r>
              <a:rPr lang="en-IN" dirty="0">
                <a:solidFill>
                  <a:srgbClr val="B5CEA8"/>
                </a:solidFill>
                <a:latin typeface="Consolas" panose="020B0609020204030204" pitchFamily="49" charset="0"/>
              </a:rPr>
              <a:t>0.25</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C586C0"/>
                </a:solidFill>
                <a:latin typeface="Consolas" panose="020B0609020204030204" pitchFamily="49" charset="0"/>
              </a:rPr>
              <a:t>@utility</a:t>
            </a:r>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rotate-y-180</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transform</a:t>
            </a:r>
            <a:r>
              <a:rPr lang="en-IN" dirty="0">
                <a:solidFill>
                  <a:srgbClr val="CCCCCC"/>
                </a:solidFill>
                <a:latin typeface="Consolas" panose="020B0609020204030204" pitchFamily="49" charset="0"/>
              </a:rPr>
              <a:t>: </a:t>
            </a:r>
            <a:r>
              <a:rPr lang="en-IN" dirty="0" err="1">
                <a:solidFill>
                  <a:srgbClr val="DCDCAA"/>
                </a:solidFill>
                <a:latin typeface="Consolas" panose="020B0609020204030204" pitchFamily="49" charset="0"/>
              </a:rPr>
              <a:t>rotateY</a:t>
            </a:r>
            <a:r>
              <a:rPr lang="en-IN" dirty="0">
                <a:solidFill>
                  <a:srgbClr val="CCCCCC"/>
                </a:solidFill>
                <a:latin typeface="Consolas" panose="020B0609020204030204" pitchFamily="49" charset="0"/>
              </a:rPr>
              <a:t>(</a:t>
            </a:r>
            <a:r>
              <a:rPr lang="en-IN" dirty="0">
                <a:solidFill>
                  <a:srgbClr val="B5CEA8"/>
                </a:solidFill>
                <a:latin typeface="Consolas" panose="020B0609020204030204" pitchFamily="49" charset="0"/>
              </a:rPr>
              <a:t>180deg</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6748478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to use third party plugins</a:t>
            </a:r>
            <a:endParaRPr lang="en-IN" dirty="0"/>
          </a:p>
        </p:txBody>
      </p:sp>
      <p:sp>
        <p:nvSpPr>
          <p:cNvPr id="3" name="Content Placeholder 2"/>
          <p:cNvSpPr>
            <a:spLocks noGrp="1"/>
          </p:cNvSpPr>
          <p:nvPr>
            <p:ph idx="1"/>
          </p:nvPr>
        </p:nvSpPr>
        <p:spPr/>
        <p:txBody>
          <a:bodyPr/>
          <a:lstStyle/>
          <a:p>
            <a:r>
              <a:rPr lang="en-IN" dirty="0"/>
              <a:t>Install plugin: </a:t>
            </a:r>
            <a:r>
              <a:rPr lang="en-IN" dirty="0" err="1"/>
              <a:t>npm</a:t>
            </a:r>
            <a:r>
              <a:rPr lang="en-IN" dirty="0"/>
              <a:t> install @</a:t>
            </a:r>
            <a:r>
              <a:rPr lang="en-IN" dirty="0" err="1"/>
              <a:t>tailwindcss</a:t>
            </a:r>
            <a:r>
              <a:rPr lang="en-IN" dirty="0"/>
              <a:t>/forms</a:t>
            </a:r>
          </a:p>
          <a:p>
            <a:r>
              <a:rPr lang="en-IN" dirty="0" smtClean="0"/>
              <a:t>Add to the </a:t>
            </a:r>
            <a:r>
              <a:rPr lang="en-IN" dirty="0" err="1" smtClean="0"/>
              <a:t>config</a:t>
            </a:r>
            <a:r>
              <a:rPr lang="en-IN" dirty="0" smtClean="0"/>
              <a:t> file</a:t>
            </a:r>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smtClean="0"/>
          </a:p>
          <a:p>
            <a:endParaRPr lang="en-IN" dirty="0"/>
          </a:p>
        </p:txBody>
      </p:sp>
      <p:sp>
        <p:nvSpPr>
          <p:cNvPr id="4" name="TextBox 3"/>
          <p:cNvSpPr txBox="1"/>
          <p:nvPr/>
        </p:nvSpPr>
        <p:spPr>
          <a:xfrm>
            <a:off x="1357462" y="2995866"/>
            <a:ext cx="5147034" cy="3693319"/>
          </a:xfrm>
          <a:prstGeom prst="rect">
            <a:avLst/>
          </a:prstGeom>
          <a:solidFill>
            <a:schemeClr val="tx1"/>
          </a:solidFill>
          <a:ln>
            <a:solidFill>
              <a:schemeClr val="accent1"/>
            </a:solidFill>
          </a:ln>
        </p:spPr>
        <p:txBody>
          <a:bodyPr wrap="square" rtlCol="0">
            <a:spAutoFit/>
          </a:bodyPr>
          <a:lstStyle/>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CCCCCC"/>
                </a:solidFill>
                <a:latin typeface="Consolas" panose="020B0609020204030204" pitchFamily="49" charset="0"/>
              </a:rPr>
              <a:t>// tailwind</a:t>
            </a:r>
            <a:r>
              <a:rPr lang="en-IN" dirty="0">
                <a:solidFill>
                  <a:srgbClr val="D7BA7D"/>
                </a:solidFill>
                <a:latin typeface="Consolas" panose="020B0609020204030204" pitchFamily="49" charset="0"/>
              </a:rPr>
              <a:t>.config.js</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import forms from '@</a:t>
            </a:r>
            <a:r>
              <a:rPr lang="en-IN" dirty="0" err="1">
                <a:solidFill>
                  <a:srgbClr val="CCCCCC"/>
                </a:solidFill>
                <a:latin typeface="Consolas" panose="020B0609020204030204" pitchFamily="49" charset="0"/>
              </a:rPr>
              <a:t>tailwindcss</a:t>
            </a:r>
            <a:r>
              <a:rPr lang="en-IN" dirty="0">
                <a:solidFill>
                  <a:srgbClr val="CCCCCC"/>
                </a:solidFill>
                <a:latin typeface="Consolas" panose="020B0609020204030204" pitchFamily="49" charset="0"/>
              </a:rPr>
              <a:t>/forms'</a:t>
            </a: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CCCCCC"/>
                </a:solidFill>
                <a:latin typeface="Consolas" panose="020B0609020204030204" pitchFamily="49" charset="0"/>
              </a:rPr>
              <a:t>export default {</a:t>
            </a:r>
          </a:p>
          <a:p>
            <a:r>
              <a:rPr lang="en-IN" dirty="0">
                <a:solidFill>
                  <a:srgbClr val="CCCCCC"/>
                </a:solidFill>
                <a:latin typeface="Consolas" panose="020B0609020204030204" pitchFamily="49" charset="0"/>
              </a:rPr>
              <a:t>  </a:t>
            </a:r>
            <a:r>
              <a:rPr lang="en-IN" dirty="0">
                <a:solidFill>
                  <a:srgbClr val="9CDCFE"/>
                </a:solidFill>
                <a:latin typeface="Consolas" panose="020B0609020204030204" pitchFamily="49" charset="0"/>
              </a:rPr>
              <a:t>content</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src</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html,js,ts,jsx,tsx</a:t>
            </a:r>
            <a:r>
              <a:rPr lang="en-IN" dirty="0">
                <a:solidFill>
                  <a:srgbClr val="CE9178"/>
                </a:solidFill>
                <a:latin typeface="Consolas" panose="020B0609020204030204" pitchFamily="49" charset="0"/>
              </a:rPr>
              <a:t>}'</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'./public/**/*.html'</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plugins: [</a:t>
            </a:r>
          </a:p>
          <a:p>
            <a:r>
              <a:rPr lang="en-IN" dirty="0">
                <a:solidFill>
                  <a:srgbClr val="CCCCCC"/>
                </a:solidFill>
                <a:latin typeface="Consolas" panose="020B0609020204030204" pitchFamily="49" charset="0"/>
              </a:rPr>
              <a:t>    forms, //  third-party plugin</a:t>
            </a: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a:t>
            </a:r>
            <a:endParaRPr lang="en-IN" b="0" dirty="0">
              <a:solidFill>
                <a:srgbClr val="CCCCCC"/>
              </a:solidFill>
              <a:effectLst/>
              <a:latin typeface="Consolas" panose="020B0609020204030204" pitchFamily="49" charset="0"/>
            </a:endParaRPr>
          </a:p>
        </p:txBody>
      </p:sp>
      <p:sp>
        <p:nvSpPr>
          <p:cNvPr id="5" name="TextBox 4"/>
          <p:cNvSpPr txBox="1"/>
          <p:nvPr/>
        </p:nvSpPr>
        <p:spPr>
          <a:xfrm>
            <a:off x="6693032" y="3594814"/>
            <a:ext cx="4612849" cy="2585323"/>
          </a:xfrm>
          <a:prstGeom prst="rect">
            <a:avLst/>
          </a:prstGeom>
          <a:solidFill>
            <a:schemeClr val="tx1"/>
          </a:solidFill>
        </p:spPr>
        <p:txBody>
          <a:bodyPr wrap="square" rtlCol="0">
            <a:spAutoFit/>
          </a:bodyPr>
          <a:lstStyle/>
          <a:p>
            <a:r>
              <a:rPr lang="en-IN" dirty="0">
                <a:solidFill>
                  <a:srgbClr val="6A9955"/>
                </a:solidFill>
                <a:latin typeface="Consolas" panose="020B0609020204030204" pitchFamily="49" charset="0"/>
              </a:rPr>
              <a:t>/* </a:t>
            </a:r>
            <a:r>
              <a:rPr lang="en-IN" dirty="0" err="1">
                <a:solidFill>
                  <a:srgbClr val="6A9955"/>
                </a:solidFill>
                <a:latin typeface="Consolas" panose="020B0609020204030204" pitchFamily="49" charset="0"/>
              </a:rPr>
              <a:t>src</a:t>
            </a:r>
            <a:r>
              <a:rPr lang="en-IN" dirty="0">
                <a:solidFill>
                  <a:srgbClr val="6A9955"/>
                </a:solidFill>
                <a:latin typeface="Consolas" panose="020B0609020204030204" pitchFamily="49" charset="0"/>
              </a:rPr>
              <a:t>/index.css */</a:t>
            </a:r>
            <a:endParaRPr lang="en-IN" dirty="0">
              <a:solidFill>
                <a:srgbClr val="CCCCCC"/>
              </a:solidFill>
              <a:latin typeface="Consolas" panose="020B0609020204030204" pitchFamily="49" charset="0"/>
            </a:endParaRPr>
          </a:p>
          <a:p>
            <a:r>
              <a:rPr lang="en-IN" dirty="0">
                <a:solidFill>
                  <a:srgbClr val="C586C0"/>
                </a:solidFill>
                <a:latin typeface="Consolas" panose="020B0609020204030204" pitchFamily="49" charset="0"/>
              </a:rPr>
              <a:t>@import</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tailwindcss</a:t>
            </a:r>
            <a:r>
              <a:rPr lang="en-IN" dirty="0">
                <a:solidFill>
                  <a:srgbClr val="CE9178"/>
                </a:solidFill>
                <a:latin typeface="Consolas" panose="020B0609020204030204" pitchFamily="49" charset="0"/>
              </a:rPr>
              <a:t>"</a:t>
            </a:r>
            <a:r>
              <a:rPr lang="en-IN" dirty="0">
                <a:solidFill>
                  <a:srgbClr val="CCCCCC"/>
                </a:solidFill>
                <a:latin typeface="Consolas" panose="020B0609020204030204" pitchFamily="49" charset="0"/>
              </a:rPr>
              <a:t>;</a:t>
            </a:r>
          </a:p>
          <a:p>
            <a:r>
              <a:rPr lang="en-IN" dirty="0">
                <a:solidFill>
                  <a:srgbClr val="C586C0"/>
                </a:solidFill>
                <a:latin typeface="Consolas" panose="020B0609020204030204" pitchFamily="49" charset="0"/>
              </a:rPr>
              <a:t>@import</a:t>
            </a:r>
            <a:r>
              <a:rPr lang="en-IN" dirty="0">
                <a:solidFill>
                  <a:srgbClr val="CCCCCC"/>
                </a:solidFill>
                <a:latin typeface="Consolas" panose="020B0609020204030204" pitchFamily="49" charset="0"/>
              </a:rPr>
              <a:t> </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tailwindcss</a:t>
            </a:r>
            <a:r>
              <a:rPr lang="en-IN" dirty="0">
                <a:solidFill>
                  <a:srgbClr val="CE9178"/>
                </a:solidFill>
                <a:latin typeface="Consolas" panose="020B0609020204030204" pitchFamily="49" charset="0"/>
              </a:rPr>
              <a:t>/forms"</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C586C0"/>
                </a:solidFill>
                <a:latin typeface="Consolas" panose="020B0609020204030204" pitchFamily="49" charset="0"/>
              </a:rPr>
              <a:t>@</a:t>
            </a:r>
            <a:r>
              <a:rPr lang="en-IN" dirty="0" err="1">
                <a:solidFill>
                  <a:srgbClr val="C586C0"/>
                </a:solidFill>
                <a:latin typeface="Consolas" panose="020B0609020204030204" pitchFamily="49" charset="0"/>
              </a:rPr>
              <a:t>config</a:t>
            </a:r>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plugins: [</a:t>
            </a:r>
          </a:p>
          <a:p>
            <a:r>
              <a:rPr lang="en-IN" dirty="0">
                <a:solidFill>
                  <a:srgbClr val="CCCCCC"/>
                </a:solidFill>
                <a:latin typeface="Consolas" panose="020B0609020204030204" pitchFamily="49" charset="0"/>
              </a:rPr>
              <a:t>    require(</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tailwindcss</a:t>
            </a:r>
            <a:r>
              <a:rPr lang="en-IN" dirty="0">
                <a:solidFill>
                  <a:srgbClr val="CE9178"/>
                </a:solidFill>
                <a:latin typeface="Consolas" panose="020B0609020204030204" pitchFamily="49" charset="0"/>
              </a:rPr>
              <a:t>/forms'</a:t>
            </a:r>
            <a:r>
              <a:rPr lang="en-IN" dirty="0">
                <a:solidFill>
                  <a:srgbClr val="CCCCCC"/>
                </a:solidFill>
                <a:latin typeface="Consolas" panose="020B0609020204030204" pitchFamily="49" charset="0"/>
              </a:rPr>
              <a:t>),</a:t>
            </a:r>
          </a:p>
          <a:p>
            <a:r>
              <a:rPr lang="en-IN" dirty="0">
                <a:solidFill>
                  <a:srgbClr val="CCCCCC"/>
                </a:solidFill>
                <a:latin typeface="Consolas" panose="020B0609020204030204" pitchFamily="49" charset="0"/>
              </a:rPr>
              <a:t>  ];</a:t>
            </a:r>
          </a:p>
          <a:p>
            <a:r>
              <a:rPr lang="en-IN" dirty="0" smtClean="0">
                <a:solidFill>
                  <a:srgbClr val="CCCCCC"/>
                </a:solidFill>
                <a:latin typeface="Consolas" panose="020B0609020204030204" pitchFamily="49" charset="0"/>
              </a:rPr>
              <a:t>}</a:t>
            </a:r>
            <a:endParaRPr lang="en-IN"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33083851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Use in HTML</a:t>
            </a:r>
            <a:endParaRPr lang="en-IN" dirty="0"/>
          </a:p>
        </p:txBody>
      </p:sp>
      <p:sp>
        <p:nvSpPr>
          <p:cNvPr id="4" name="TextBox 3"/>
          <p:cNvSpPr txBox="1"/>
          <p:nvPr/>
        </p:nvSpPr>
        <p:spPr>
          <a:xfrm>
            <a:off x="1385741" y="2601798"/>
            <a:ext cx="8550111" cy="3693319"/>
          </a:xfrm>
          <a:prstGeom prst="rect">
            <a:avLst/>
          </a:prstGeom>
          <a:solidFill>
            <a:schemeClr val="tx1"/>
          </a:solidFill>
        </p:spPr>
        <p:txBody>
          <a:bodyPr wrap="square" rtlCol="0">
            <a:spAutoFit/>
          </a:bodyPr>
          <a:lstStyle/>
          <a:p>
            <a:r>
              <a:rPr lang="en-IN" dirty="0">
                <a:solidFill>
                  <a:srgbClr val="CCCCCC"/>
                </a:solidFill>
                <a:latin typeface="Consolas" panose="020B0609020204030204" pitchFamily="49" charset="0"/>
              </a:rPr>
              <a:t>&lt;</a:t>
            </a:r>
            <a:r>
              <a:rPr lang="en-IN" dirty="0">
                <a:solidFill>
                  <a:srgbClr val="D7BA7D"/>
                </a:solidFill>
                <a:latin typeface="Consolas" panose="020B0609020204030204" pitchFamily="49" charset="0"/>
              </a:rPr>
              <a:t>form</a:t>
            </a:r>
            <a:r>
              <a:rPr lang="en-IN" dirty="0">
                <a:solidFill>
                  <a:srgbClr val="CCCCCC"/>
                </a:solidFill>
                <a:latin typeface="Consolas" panose="020B0609020204030204" pitchFamily="49" charset="0"/>
              </a:rPr>
              <a:t> class="</a:t>
            </a:r>
            <a:r>
              <a:rPr lang="en-IN" dirty="0">
                <a:solidFill>
                  <a:srgbClr val="569CD6"/>
                </a:solidFill>
                <a:latin typeface="Consolas" panose="020B0609020204030204" pitchFamily="49" charset="0"/>
              </a:rPr>
              <a:t>space-y-4</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p-6</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bg-gray-50</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rounded-</a:t>
            </a:r>
            <a:r>
              <a:rPr lang="en-IN" dirty="0" err="1">
                <a:solidFill>
                  <a:srgbClr val="569CD6"/>
                </a:solidFill>
                <a:latin typeface="Consolas" panose="020B0609020204030204" pitchFamily="49" charset="0"/>
              </a:rPr>
              <a:t>lg</a:t>
            </a:r>
            <a:r>
              <a:rPr lang="en-IN" dirty="0">
                <a:solidFill>
                  <a:srgbClr val="CCCCCC"/>
                </a:solidFill>
                <a:latin typeface="Consolas" panose="020B0609020204030204" pitchFamily="49" charset="0"/>
              </a:rPr>
              <a:t>"</a:t>
            </a:r>
            <a:r>
              <a:rPr lang="en-IN" dirty="0">
                <a:solidFill>
                  <a:srgbClr val="D4D4D4"/>
                </a:solidFill>
                <a:latin typeface="Consolas" panose="020B0609020204030204" pitchFamily="49" charset="0"/>
              </a:rPr>
              <a:t>&gt;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&lt;</a:t>
            </a:r>
            <a:r>
              <a:rPr lang="en-IN" dirty="0">
                <a:solidFill>
                  <a:srgbClr val="D7BA7D"/>
                </a:solidFill>
                <a:latin typeface="Consolas" panose="020B0609020204030204" pitchFamily="49" charset="0"/>
              </a:rPr>
              <a:t>input</a:t>
            </a:r>
            <a:r>
              <a:rPr lang="en-IN" dirty="0">
                <a:solidFill>
                  <a:srgbClr val="CCCCCC"/>
                </a:solidFill>
                <a:latin typeface="Consolas" panose="020B0609020204030204" pitchFamily="49" charset="0"/>
              </a:rPr>
              <a:t> type="text" placeholder="Your name"</a:t>
            </a:r>
          </a:p>
          <a:p>
            <a:r>
              <a:rPr lang="en-IN" dirty="0">
                <a:solidFill>
                  <a:srgbClr val="CCCCCC"/>
                </a:solidFill>
                <a:latin typeface="Consolas" panose="020B0609020204030204" pitchFamily="49" charset="0"/>
              </a:rPr>
              <a:t>    class="block </a:t>
            </a:r>
            <a:r>
              <a:rPr lang="en-IN" dirty="0">
                <a:solidFill>
                  <a:srgbClr val="569CD6"/>
                </a:solidFill>
                <a:latin typeface="Consolas" panose="020B0609020204030204" pitchFamily="49" charset="0"/>
              </a:rPr>
              <a:t>w-full</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rounded-md</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border-gray-300</a:t>
            </a:r>
            <a:r>
              <a:rPr lang="en-IN" dirty="0">
                <a:solidFill>
                  <a:srgbClr val="CCCCCC"/>
                </a:solidFill>
                <a:latin typeface="Consolas" panose="020B0609020204030204" pitchFamily="49" charset="0"/>
              </a:rPr>
              <a:t> focus:</a:t>
            </a:r>
            <a:r>
              <a:rPr lang="en-IN" dirty="0">
                <a:solidFill>
                  <a:srgbClr val="569CD6"/>
                </a:solidFill>
                <a:latin typeface="Consolas" panose="020B0609020204030204" pitchFamily="49" charset="0"/>
              </a:rPr>
              <a:t>border-indigo-500</a:t>
            </a:r>
            <a:r>
              <a:rPr lang="en-IN" dirty="0">
                <a:solidFill>
                  <a:srgbClr val="CCCCCC"/>
                </a:solidFill>
                <a:latin typeface="Consolas" panose="020B0609020204030204" pitchFamily="49" charset="0"/>
              </a:rPr>
              <a:t> focus:</a:t>
            </a:r>
            <a:r>
              <a:rPr lang="en-IN" dirty="0">
                <a:solidFill>
                  <a:srgbClr val="569CD6"/>
                </a:solidFill>
                <a:latin typeface="Consolas" panose="020B0609020204030204" pitchFamily="49" charset="0"/>
              </a:rPr>
              <a:t>ring-indigo-500</a:t>
            </a:r>
            <a:r>
              <a:rPr lang="en-IN" dirty="0">
                <a:solidFill>
                  <a:srgbClr val="CCCCCC"/>
                </a:solidFill>
                <a:latin typeface="Consolas" panose="020B0609020204030204" pitchFamily="49" charset="0"/>
              </a:rPr>
              <a:t> </a:t>
            </a:r>
            <a:r>
              <a:rPr lang="en-IN" dirty="0" err="1">
                <a:solidFill>
                  <a:srgbClr val="CCCCCC"/>
                </a:solidFill>
                <a:latin typeface="Consolas" panose="020B0609020204030204" pitchFamily="49" charset="0"/>
              </a:rPr>
              <a:t>sm:</a:t>
            </a:r>
            <a:r>
              <a:rPr lang="en-IN" dirty="0" err="1">
                <a:solidFill>
                  <a:srgbClr val="569CD6"/>
                </a:solidFill>
                <a:latin typeface="Consolas" panose="020B0609020204030204" pitchFamily="49" charset="0"/>
              </a:rPr>
              <a:t>text-sm</a:t>
            </a:r>
            <a:r>
              <a:rPr lang="en-IN" dirty="0">
                <a:solidFill>
                  <a:srgbClr val="CCCCCC"/>
                </a:solidFill>
                <a:latin typeface="Consolas" panose="020B0609020204030204" pitchFamily="49" charset="0"/>
              </a:rPr>
              <a:t>"</a:t>
            </a:r>
            <a:r>
              <a:rPr lang="en-IN" dirty="0">
                <a:solidFill>
                  <a:srgbClr val="D4D4D4"/>
                </a:solidFill>
                <a:latin typeface="Consolas" panose="020B0609020204030204" pitchFamily="49" charset="0"/>
              </a:rPr>
              <a:t>&gt;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t>
            </a:r>
          </a:p>
          <a:p>
            <a:r>
              <a:rPr lang="en-IN" dirty="0">
                <a:solidFill>
                  <a:srgbClr val="CCCCCC"/>
                </a:solidFill>
                <a:latin typeface="Consolas" panose="020B0609020204030204" pitchFamily="49" charset="0"/>
              </a:rPr>
              <a:t>  &lt;</a:t>
            </a:r>
            <a:r>
              <a:rPr lang="en-IN" dirty="0">
                <a:solidFill>
                  <a:srgbClr val="D7BA7D"/>
                </a:solidFill>
                <a:latin typeface="Consolas" panose="020B0609020204030204" pitchFamily="49" charset="0"/>
              </a:rPr>
              <a:t>button</a:t>
            </a:r>
            <a:r>
              <a:rPr lang="en-IN" dirty="0">
                <a:solidFill>
                  <a:srgbClr val="CCCCCC"/>
                </a:solidFill>
                <a:latin typeface="Consolas" panose="020B0609020204030204" pitchFamily="49" charset="0"/>
              </a:rPr>
              <a:t> type="submit"</a:t>
            </a:r>
          </a:p>
          <a:p>
            <a:r>
              <a:rPr lang="en-IN" dirty="0">
                <a:solidFill>
                  <a:srgbClr val="CCCCCC"/>
                </a:solidFill>
                <a:latin typeface="Consolas" panose="020B0609020204030204" pitchFamily="49" charset="0"/>
              </a:rPr>
              <a:t>    class="</a:t>
            </a:r>
            <a:r>
              <a:rPr lang="en-IN" dirty="0">
                <a:solidFill>
                  <a:srgbClr val="569CD6"/>
                </a:solidFill>
                <a:latin typeface="Consolas" panose="020B0609020204030204" pitchFamily="49" charset="0"/>
              </a:rPr>
              <a:t>px-4</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py-2</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bg-indigo-600</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text-white</a:t>
            </a:r>
            <a:r>
              <a:rPr lang="en-IN" dirty="0">
                <a:solidFill>
                  <a:srgbClr val="CCCCCC"/>
                </a:solidFill>
                <a:latin typeface="Consolas" panose="020B0609020204030204" pitchFamily="49" charset="0"/>
              </a:rPr>
              <a:t> </a:t>
            </a:r>
            <a:r>
              <a:rPr lang="en-IN" dirty="0">
                <a:solidFill>
                  <a:srgbClr val="569CD6"/>
                </a:solidFill>
                <a:latin typeface="Consolas" panose="020B0609020204030204" pitchFamily="49" charset="0"/>
              </a:rPr>
              <a:t>rounded-md</a:t>
            </a:r>
            <a:r>
              <a:rPr lang="en-IN" dirty="0">
                <a:solidFill>
                  <a:srgbClr val="CCCCCC"/>
                </a:solidFill>
                <a:latin typeface="Consolas" panose="020B0609020204030204" pitchFamily="49" charset="0"/>
              </a:rPr>
              <a:t> hover:</a:t>
            </a:r>
            <a:r>
              <a:rPr lang="en-IN" dirty="0">
                <a:solidFill>
                  <a:srgbClr val="569CD6"/>
                </a:solidFill>
                <a:latin typeface="Consolas" panose="020B0609020204030204" pitchFamily="49" charset="0"/>
              </a:rPr>
              <a:t>bg-indigo-700</a:t>
            </a:r>
            <a:r>
              <a:rPr lang="en-IN" dirty="0">
                <a:solidFill>
                  <a:srgbClr val="CCCCCC"/>
                </a:solidFill>
                <a:latin typeface="Consolas" panose="020B0609020204030204" pitchFamily="49" charset="0"/>
              </a:rPr>
              <a:t>"</a:t>
            </a:r>
            <a:r>
              <a:rPr lang="en-IN" dirty="0">
                <a:solidFill>
                  <a:srgbClr val="D4D4D4"/>
                </a:solidFill>
                <a:latin typeface="Consolas" panose="020B0609020204030204" pitchFamily="49" charset="0"/>
              </a:rPr>
              <a:t>&gt;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Submit</a:t>
            </a:r>
          </a:p>
          <a:p>
            <a:r>
              <a:rPr lang="en-IN" dirty="0">
                <a:solidFill>
                  <a:srgbClr val="CCCCCC"/>
                </a:solidFill>
                <a:latin typeface="Consolas" panose="020B0609020204030204" pitchFamily="49" charset="0"/>
              </a:rPr>
              <a:t>  &lt;/</a:t>
            </a:r>
            <a:r>
              <a:rPr lang="en-IN" dirty="0">
                <a:solidFill>
                  <a:srgbClr val="D7BA7D"/>
                </a:solidFill>
                <a:latin typeface="Consolas" panose="020B0609020204030204" pitchFamily="49" charset="0"/>
              </a:rPr>
              <a:t>button</a:t>
            </a:r>
            <a:r>
              <a:rPr lang="en-IN" dirty="0">
                <a:solidFill>
                  <a:srgbClr val="D4D4D4"/>
                </a:solidFill>
                <a:latin typeface="Consolas" panose="020B0609020204030204" pitchFamily="49" charset="0"/>
              </a:rPr>
              <a:t>&gt;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&lt;/</a:t>
            </a:r>
            <a:r>
              <a:rPr lang="en-IN" dirty="0">
                <a:solidFill>
                  <a:srgbClr val="D7BA7D"/>
                </a:solidFill>
                <a:latin typeface="Consolas" panose="020B0609020204030204" pitchFamily="49" charset="0"/>
              </a:rPr>
              <a:t>form</a:t>
            </a:r>
            <a:r>
              <a:rPr lang="en-IN" dirty="0">
                <a:solidFill>
                  <a:srgbClr val="D4D4D4"/>
                </a:solidFill>
                <a:latin typeface="Consolas" panose="020B0609020204030204" pitchFamily="49" charset="0"/>
              </a:rPr>
              <a:t>&gt;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9422922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91028</TotalTime>
  <Words>3799</Words>
  <Application>Microsoft Office PowerPoint</Application>
  <PresentationFormat>Widescreen</PresentationFormat>
  <Paragraphs>682</Paragraphs>
  <Slides>61</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Arial</vt:lpstr>
      <vt:lpstr>Arial Unicode MS</vt:lpstr>
      <vt:lpstr>Calibri</vt:lpstr>
      <vt:lpstr>Century Schoolbook</vt:lpstr>
      <vt:lpstr>Consolas</vt:lpstr>
      <vt:lpstr>Wingdings 2</vt:lpstr>
      <vt:lpstr>View</vt:lpstr>
      <vt:lpstr>Tailwind CSS</vt:lpstr>
      <vt:lpstr>Motivation: framework</vt:lpstr>
      <vt:lpstr>Philosophy of Tailwind CSS</vt:lpstr>
      <vt:lpstr>Contradicts the guideline</vt:lpstr>
      <vt:lpstr>Other players in the market</vt:lpstr>
      <vt:lpstr>Example 1: styling requirement</vt:lpstr>
      <vt:lpstr>Traditional vs Tailwind CSS</vt:lpstr>
      <vt:lpstr>utility class</vt:lpstr>
      <vt:lpstr>Spacing utilities</vt:lpstr>
      <vt:lpstr>Spacing scale</vt:lpstr>
      <vt:lpstr>Color Palette</vt:lpstr>
      <vt:lpstr>Responsive Design</vt:lpstr>
      <vt:lpstr>PowerPoint Presentation</vt:lpstr>
      <vt:lpstr>Layout Utilities</vt:lpstr>
      <vt:lpstr>Flexbox Utilities</vt:lpstr>
      <vt:lpstr>Grid utilities</vt:lpstr>
      <vt:lpstr>Border utilities</vt:lpstr>
      <vt:lpstr>Sizing utilities</vt:lpstr>
      <vt:lpstr>Typography utilities</vt:lpstr>
      <vt:lpstr>Background utilities</vt:lpstr>
      <vt:lpstr>Shadow utilities</vt:lpstr>
      <vt:lpstr>Positioning utilities</vt:lpstr>
      <vt:lpstr>Transition and Animation Utilities</vt:lpstr>
      <vt:lpstr>Miscellaneous utilities</vt:lpstr>
      <vt:lpstr>Setting up</vt:lpstr>
      <vt:lpstr>Setting Up Tailwind CSS</vt:lpstr>
      <vt:lpstr>Installation </vt:lpstr>
      <vt:lpstr>Installation steps</vt:lpstr>
      <vt:lpstr>Template paths </vt:lpstr>
      <vt:lpstr>Content property in config.js</vt:lpstr>
      <vt:lpstr>Configuration file: tailwind.config.js</vt:lpstr>
      <vt:lpstr>Configuration file</vt:lpstr>
      <vt:lpstr>Customizing the theme: extend colors, fonts, spacing</vt:lpstr>
      <vt:lpstr>Plugins in TailwindCSS</vt:lpstr>
      <vt:lpstr>Config file and usage</vt:lpstr>
      <vt:lpstr>Installation steps</vt:lpstr>
      <vt:lpstr>Tailwind directives</vt:lpstr>
      <vt:lpstr>@tailwind directive</vt:lpstr>
      <vt:lpstr>Layers in Tailwind CSS</vt:lpstr>
      <vt:lpstr>Base Layer (@tailwind base)</vt:lpstr>
      <vt:lpstr>Components Layer (@tailwind components)</vt:lpstr>
      <vt:lpstr>Utilities Layer (@tailwind utilities)</vt:lpstr>
      <vt:lpstr>CSS reset files </vt:lpstr>
      <vt:lpstr>Preflight </vt:lpstr>
      <vt:lpstr>PowerPoint Presentation</vt:lpstr>
      <vt:lpstr>@apply directive</vt:lpstr>
      <vt:lpstr>@variants directive</vt:lpstr>
      <vt:lpstr>@screen directive</vt:lpstr>
      <vt:lpstr>@layer directive</vt:lpstr>
      <vt:lpstr>Customization</vt:lpstr>
      <vt:lpstr>@apply directive</vt:lpstr>
      <vt:lpstr>Drawbacks of Tailwind</vt:lpstr>
      <vt:lpstr>Best Practices</vt:lpstr>
      <vt:lpstr>Dark mode</vt:lpstr>
      <vt:lpstr>PowerPoint Presentation</vt:lpstr>
      <vt:lpstr>Recommended class order using prettier-plugin-tailwindcss</vt:lpstr>
      <vt:lpstr>Recommended class order using prettier-plugin-tailwindcss</vt:lpstr>
      <vt:lpstr>How to add a custom component?</vt:lpstr>
      <vt:lpstr>How to add a custom utility</vt:lpstr>
      <vt:lpstr>How to use third party plugins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development (IT629)</dc:title>
  <dc:creator>admin</dc:creator>
  <cp:lastModifiedBy>faculty</cp:lastModifiedBy>
  <cp:revision>388</cp:revision>
  <dcterms:created xsi:type="dcterms:W3CDTF">2019-12-13T05:28:11Z</dcterms:created>
  <dcterms:modified xsi:type="dcterms:W3CDTF">2026-08-26T15:00:48Z</dcterms:modified>
</cp:coreProperties>
</file>