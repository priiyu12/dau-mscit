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50"/>
  </p:notesMasterIdLst>
  <p:sldIdLst>
    <p:sldId id="295" r:id="rId2"/>
    <p:sldId id="537" r:id="rId3"/>
    <p:sldId id="592" r:id="rId4"/>
    <p:sldId id="547" r:id="rId5"/>
    <p:sldId id="548" r:id="rId6"/>
    <p:sldId id="539" r:id="rId7"/>
    <p:sldId id="549" r:id="rId8"/>
    <p:sldId id="540" r:id="rId9"/>
    <p:sldId id="541" r:id="rId10"/>
    <p:sldId id="542" r:id="rId11"/>
    <p:sldId id="544" r:id="rId12"/>
    <p:sldId id="582" r:id="rId13"/>
    <p:sldId id="545" r:id="rId14"/>
    <p:sldId id="543" r:id="rId15"/>
    <p:sldId id="551" r:id="rId16"/>
    <p:sldId id="552" r:id="rId17"/>
    <p:sldId id="553" r:id="rId18"/>
    <p:sldId id="554" r:id="rId19"/>
    <p:sldId id="555" r:id="rId20"/>
    <p:sldId id="556" r:id="rId21"/>
    <p:sldId id="557" r:id="rId22"/>
    <p:sldId id="558" r:id="rId23"/>
    <p:sldId id="559" r:id="rId24"/>
    <p:sldId id="560" r:id="rId25"/>
    <p:sldId id="561" r:id="rId26"/>
    <p:sldId id="562" r:id="rId27"/>
    <p:sldId id="584" r:id="rId28"/>
    <p:sldId id="585" r:id="rId29"/>
    <p:sldId id="565" r:id="rId30"/>
    <p:sldId id="566" r:id="rId31"/>
    <p:sldId id="567" r:id="rId32"/>
    <p:sldId id="586" r:id="rId33"/>
    <p:sldId id="570" r:id="rId34"/>
    <p:sldId id="571" r:id="rId35"/>
    <p:sldId id="573" r:id="rId36"/>
    <p:sldId id="574" r:id="rId37"/>
    <p:sldId id="575" r:id="rId38"/>
    <p:sldId id="576" r:id="rId39"/>
    <p:sldId id="577" r:id="rId40"/>
    <p:sldId id="578" r:id="rId41"/>
    <p:sldId id="587" r:id="rId42"/>
    <p:sldId id="588" r:id="rId43"/>
    <p:sldId id="589" r:id="rId44"/>
    <p:sldId id="590" r:id="rId45"/>
    <p:sldId id="591" r:id="rId46"/>
    <p:sldId id="593" r:id="rId47"/>
    <p:sldId id="594" r:id="rId48"/>
    <p:sldId id="59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2280" autoAdjust="0"/>
  </p:normalViewPr>
  <p:slideViewPr>
    <p:cSldViewPr snapToGrid="0">
      <p:cViewPr varScale="1">
        <p:scale>
          <a:sx n="68" d="100"/>
          <a:sy n="68" d="100"/>
        </p:scale>
        <p:origin x="54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3E91E2-F7BD-4FD6-9FE6-3EF0661FA4EC}"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DE99DF-D32B-494B-8AD6-958D85979CC8}" type="slidenum">
              <a:rPr lang="en-US" smtClean="0"/>
              <a:t>‹#›</a:t>
            </a:fld>
            <a:endParaRPr lang="en-US"/>
          </a:p>
        </p:txBody>
      </p:sp>
    </p:spTree>
    <p:extLst>
      <p:ext uri="{BB962C8B-B14F-4D97-AF65-F5344CB8AC3E}">
        <p14:creationId xmlns:p14="http://schemas.microsoft.com/office/powerpoint/2010/main" val="215937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534AE-FF52-4F0F-BC81-9FF93745055C}" type="slidenum">
              <a:rPr lang="en-US" smtClean="0"/>
              <a:t>1</a:t>
            </a:fld>
            <a:endParaRPr lang="en-US"/>
          </a:p>
        </p:txBody>
      </p:sp>
    </p:spTree>
    <p:extLst>
      <p:ext uri="{BB962C8B-B14F-4D97-AF65-F5344CB8AC3E}">
        <p14:creationId xmlns:p14="http://schemas.microsoft.com/office/powerpoint/2010/main" val="2067132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0EE7E-77DD-47E2-AF52-07A933C7C1E8}" type="slidenum">
              <a:rPr lang="en-US" smtClean="0"/>
              <a:t>6</a:t>
            </a:fld>
            <a:endParaRPr lang="en-US"/>
          </a:p>
        </p:txBody>
      </p:sp>
    </p:spTree>
    <p:extLst>
      <p:ext uri="{BB962C8B-B14F-4D97-AF65-F5344CB8AC3E}">
        <p14:creationId xmlns:p14="http://schemas.microsoft.com/office/powerpoint/2010/main" val="805895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We can use </a:t>
            </a:r>
            <a:r>
              <a:rPr lang="en-IN" sz="1200" b="1" i="0" u="none" strike="noStrike" kern="1200" baseline="0" dirty="0" smtClean="0">
                <a:solidFill>
                  <a:schemeClr val="tx1"/>
                </a:solidFill>
                <a:latin typeface="+mn-lt"/>
                <a:ea typeface="+mn-ea"/>
                <a:cs typeface="+mn-cs"/>
              </a:rPr>
              <a:t>:last-child </a:t>
            </a:r>
            <a:r>
              <a:rPr lang="en-IN" sz="1200" b="0" i="0" u="none" strike="noStrike" kern="1200" baseline="0" dirty="0" smtClean="0">
                <a:solidFill>
                  <a:schemeClr val="tx1"/>
                </a:solidFill>
                <a:latin typeface="+mn-lt"/>
                <a:ea typeface="+mn-ea"/>
                <a:cs typeface="+mn-cs"/>
              </a:rPr>
              <a:t>to remove the border from the last list item, like so:</a:t>
            </a:r>
          </a:p>
          <a:p>
            <a:r>
              <a:rPr lang="en-IN" sz="1200" b="1" i="0" u="none" strike="noStrike" kern="1200" baseline="0" dirty="0" err="1" smtClean="0">
                <a:solidFill>
                  <a:schemeClr val="tx1"/>
                </a:solidFill>
                <a:latin typeface="+mn-lt"/>
                <a:ea typeface="+mn-ea"/>
                <a:cs typeface="+mn-cs"/>
              </a:rPr>
              <a:t>nav</a:t>
            </a:r>
            <a:r>
              <a:rPr lang="en-IN" sz="1200" b="1" i="0" u="none" strike="noStrike" kern="1200" baseline="0" dirty="0" smtClean="0">
                <a:solidFill>
                  <a:schemeClr val="tx1"/>
                </a:solidFill>
                <a:latin typeface="+mn-lt"/>
                <a:ea typeface="+mn-ea"/>
                <a:cs typeface="+mn-cs"/>
              </a:rPr>
              <a:t> </a:t>
            </a:r>
            <a:r>
              <a:rPr lang="en-IN" sz="1200" b="1" i="0" u="none" strike="noStrike" kern="1200" baseline="0" dirty="0" err="1" smtClean="0">
                <a:solidFill>
                  <a:schemeClr val="tx1"/>
                </a:solidFill>
                <a:latin typeface="+mn-lt"/>
                <a:ea typeface="+mn-ea"/>
                <a:cs typeface="+mn-cs"/>
              </a:rPr>
              <a:t>li:last-child</a:t>
            </a:r>
            <a:r>
              <a:rPr lang="en-IN" sz="1200" b="1" i="0" u="none" strike="noStrike" kern="1200" baseline="0" dirty="0" smtClean="0">
                <a:solidFill>
                  <a:schemeClr val="tx1"/>
                </a:solidFill>
                <a:latin typeface="+mn-lt"/>
                <a:ea typeface="+mn-ea"/>
                <a:cs typeface="+mn-cs"/>
              </a:rPr>
              <a:t> {</a:t>
            </a:r>
          </a:p>
          <a:p>
            <a:r>
              <a:rPr lang="en-IN" sz="1200" b="1" i="0" u="none" strike="noStrike" kern="1200" baseline="0" dirty="0" smtClean="0">
                <a:solidFill>
                  <a:schemeClr val="tx1"/>
                </a:solidFill>
                <a:latin typeface="+mn-lt"/>
                <a:ea typeface="+mn-ea"/>
                <a:cs typeface="+mn-cs"/>
              </a:rPr>
              <a:t>border-right:0;</a:t>
            </a:r>
          </a:p>
          <a:p>
            <a:r>
              <a:rPr lang="en-IN" sz="1200" b="1" i="0" u="none" strike="noStrike" kern="1200" baseline="0" dirty="0" smtClean="0">
                <a:solidFill>
                  <a:schemeClr val="tx1"/>
                </a:solidFill>
                <a:latin typeface="+mn-lt"/>
                <a:ea typeface="+mn-ea"/>
                <a:cs typeface="+mn-cs"/>
              </a:rPr>
              <a:t>}</a:t>
            </a:r>
          </a:p>
          <a:p>
            <a:endParaRPr lang="en-IN" sz="1200" b="1" i="0" u="none" strike="noStrike" kern="1200" baseline="0" dirty="0" smtClean="0">
              <a:solidFill>
                <a:schemeClr val="tx1"/>
              </a:solidFill>
              <a:latin typeface="+mn-lt"/>
              <a:ea typeface="+mn-ea"/>
              <a:cs typeface="+mn-cs"/>
            </a:endParaRPr>
          </a:p>
          <a:p>
            <a:r>
              <a:rPr lang="en-IN" sz="1200" b="1" i="0" u="none" strike="noStrike" kern="1200" baseline="0" dirty="0" smtClean="0">
                <a:solidFill>
                  <a:schemeClr val="tx1"/>
                </a:solidFill>
                <a:latin typeface="+mn-lt"/>
                <a:ea typeface="+mn-ea"/>
                <a:cs typeface="+mn-cs"/>
              </a:rPr>
              <a:t>a[</a:t>
            </a:r>
            <a:r>
              <a:rPr lang="en-IN" sz="1200" b="1" i="0" u="none" strike="noStrike" kern="1200" baseline="0" dirty="0" err="1" smtClean="0">
                <a:solidFill>
                  <a:schemeClr val="tx1"/>
                </a:solidFill>
                <a:latin typeface="+mn-lt"/>
                <a:ea typeface="+mn-ea"/>
                <a:cs typeface="+mn-cs"/>
              </a:rPr>
              <a:t>href</a:t>
            </a:r>
            <a:r>
              <a:rPr lang="en-IN" sz="1200" b="1" i="0" u="none" strike="noStrike" kern="1200" baseline="0" dirty="0" smtClean="0">
                <a:solidFill>
                  <a:schemeClr val="tx1"/>
                </a:solidFill>
                <a:latin typeface="+mn-lt"/>
                <a:ea typeface="+mn-ea"/>
                <a:cs typeface="+mn-cs"/>
              </a:rPr>
              <a:t>="#top"]::after {</a:t>
            </a:r>
          </a:p>
          <a:p>
            <a:r>
              <a:rPr lang="en-IN" sz="1200" b="1" i="0" u="none" strike="noStrike" kern="1200" baseline="0" dirty="0" smtClean="0">
                <a:solidFill>
                  <a:schemeClr val="tx1"/>
                </a:solidFill>
                <a:latin typeface="+mn-lt"/>
                <a:ea typeface="+mn-ea"/>
                <a:cs typeface="+mn-cs"/>
              </a:rPr>
              <a:t>content:" \2191";</a:t>
            </a:r>
          </a:p>
          <a:p>
            <a:r>
              <a:rPr lang="en-IN" sz="1200" b="1" i="0" u="none" strike="noStrike" kern="1200" baseline="0" dirty="0" smtClean="0">
                <a:solidFill>
                  <a:schemeClr val="tx1"/>
                </a:solidFill>
                <a:latin typeface="+mn-lt"/>
                <a:ea typeface="+mn-ea"/>
                <a:cs typeface="+mn-cs"/>
              </a:rPr>
              <a:t>}</a:t>
            </a:r>
            <a:endParaRPr lang="en-IN" dirty="0" smtClean="0"/>
          </a:p>
          <a:p>
            <a:endParaRPr lang="en-US" dirty="0"/>
          </a:p>
        </p:txBody>
      </p:sp>
      <p:sp>
        <p:nvSpPr>
          <p:cNvPr id="4" name="Slide Number Placeholder 3"/>
          <p:cNvSpPr>
            <a:spLocks noGrp="1"/>
          </p:cNvSpPr>
          <p:nvPr>
            <p:ph type="sldNum" sz="quarter" idx="10"/>
          </p:nvPr>
        </p:nvSpPr>
        <p:spPr/>
        <p:txBody>
          <a:bodyPr/>
          <a:lstStyle/>
          <a:p>
            <a:fld id="{AAF0EE7E-77DD-47E2-AF52-07A933C7C1E8}" type="slidenum">
              <a:rPr lang="en-US" smtClean="0"/>
              <a:t>11</a:t>
            </a:fld>
            <a:endParaRPr lang="en-US"/>
          </a:p>
        </p:txBody>
      </p:sp>
    </p:spTree>
    <p:extLst>
      <p:ext uri="{BB962C8B-B14F-4D97-AF65-F5344CB8AC3E}">
        <p14:creationId xmlns:p14="http://schemas.microsoft.com/office/powerpoint/2010/main" val="3255323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AF0EE7E-77DD-47E2-AF52-07A933C7C1E8}" type="slidenum">
              <a:rPr lang="en-US" smtClean="0"/>
              <a:t>20</a:t>
            </a:fld>
            <a:endParaRPr lang="en-US"/>
          </a:p>
        </p:txBody>
      </p:sp>
    </p:spTree>
    <p:extLst>
      <p:ext uri="{BB962C8B-B14F-4D97-AF65-F5344CB8AC3E}">
        <p14:creationId xmlns:p14="http://schemas.microsoft.com/office/powerpoint/2010/main" val="655435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a:solidFill>
                  <a:schemeClr val="tx1"/>
                </a:solidFill>
                <a:latin typeface="+mn-lt"/>
                <a:ea typeface="+mn-ea"/>
                <a:cs typeface="+mn-cs"/>
              </a:rPr>
              <a:t>!important </a:t>
            </a:r>
            <a:r>
              <a:rPr lang="en-IN" sz="1200" b="0" i="0" u="none" strike="noStrike" kern="1200" baseline="0" dirty="0">
                <a:solidFill>
                  <a:schemeClr val="tx1"/>
                </a:solidFill>
                <a:latin typeface="+mn-lt"/>
                <a:ea typeface="+mn-ea"/>
                <a:cs typeface="+mn-cs"/>
              </a:rPr>
              <a:t>was created as a method to allow users with specific accessibility needs to override author styles. For example, it can be used to increase the font size or increase the contrast. Because of this, the </a:t>
            </a:r>
            <a:r>
              <a:rPr lang="en-IN" sz="1200" b="1" i="0" u="none" strike="noStrike" kern="1200" baseline="0" dirty="0">
                <a:solidFill>
                  <a:schemeClr val="tx1"/>
                </a:solidFill>
                <a:latin typeface="+mn-lt"/>
                <a:ea typeface="+mn-ea"/>
                <a:cs typeface="+mn-cs"/>
              </a:rPr>
              <a:t>!important </a:t>
            </a:r>
            <a:r>
              <a:rPr lang="en-IN" sz="1200" b="0" i="0" u="none" strike="noStrike" kern="1200" baseline="0" dirty="0">
                <a:solidFill>
                  <a:schemeClr val="tx1"/>
                </a:solidFill>
                <a:latin typeface="+mn-lt"/>
                <a:ea typeface="+mn-ea"/>
                <a:cs typeface="+mn-cs"/>
              </a:rPr>
              <a:t>flag should never be found in author style sheets</a:t>
            </a:r>
            <a:endParaRPr lang="en-IN" dirty="0"/>
          </a:p>
        </p:txBody>
      </p:sp>
      <p:sp>
        <p:nvSpPr>
          <p:cNvPr id="4" name="Slide Number Placeholder 3"/>
          <p:cNvSpPr>
            <a:spLocks noGrp="1"/>
          </p:cNvSpPr>
          <p:nvPr>
            <p:ph type="sldNum" sz="quarter" idx="10"/>
          </p:nvPr>
        </p:nvSpPr>
        <p:spPr/>
        <p:txBody>
          <a:bodyPr/>
          <a:lstStyle/>
          <a:p>
            <a:fld id="{ACA5903D-7A26-47D8-8543-E9DF4293CD07}" type="slidenum">
              <a:rPr lang="en-IN" smtClean="0"/>
              <a:t>36</a:t>
            </a:fld>
            <a:endParaRPr lang="en-IN"/>
          </a:p>
        </p:txBody>
      </p:sp>
    </p:spTree>
    <p:extLst>
      <p:ext uri="{BB962C8B-B14F-4D97-AF65-F5344CB8AC3E}">
        <p14:creationId xmlns:p14="http://schemas.microsoft.com/office/powerpoint/2010/main" val="1640519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CA5903D-7A26-47D8-8543-E9DF4293CD07}" type="slidenum">
              <a:rPr lang="en-IN" smtClean="0"/>
              <a:t>39</a:t>
            </a:fld>
            <a:endParaRPr lang="en-IN"/>
          </a:p>
        </p:txBody>
      </p:sp>
    </p:spTree>
    <p:extLst>
      <p:ext uri="{BB962C8B-B14F-4D97-AF65-F5344CB8AC3E}">
        <p14:creationId xmlns:p14="http://schemas.microsoft.com/office/powerpoint/2010/main" val="2609540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2406873-C4C4-409F-B774-0200072D81BD}" type="datetimeFigureOut">
              <a:rPr lang="en-US" smtClean="0"/>
              <a:t>8/19/2026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AD83DBD-A642-4633-B082-2C4E03817EF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75508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929293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2406873-C4C4-409F-B774-0200072D81BD}"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50083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2406873-C4C4-409F-B774-0200072D81BD}"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761212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2406873-C4C4-409F-B774-0200072D81BD}"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1133230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2406873-C4C4-409F-B774-0200072D81BD}"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66293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406873-C4C4-409F-B774-0200072D81BD}"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906666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406873-C4C4-409F-B774-0200072D81BD}"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581337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2406873-C4C4-409F-B774-0200072D81BD}"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2839337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50519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2406873-C4C4-409F-B774-0200072D81BD}"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83DBD-A642-4633-B082-2C4E03817EFE}" type="slidenum">
              <a:rPr lang="en-US" smtClean="0"/>
              <a:t>‹#›</a:t>
            </a:fld>
            <a:endParaRPr lang="en-US"/>
          </a:p>
        </p:txBody>
      </p:sp>
    </p:spTree>
    <p:extLst>
      <p:ext uri="{BB962C8B-B14F-4D97-AF65-F5344CB8AC3E}">
        <p14:creationId xmlns:p14="http://schemas.microsoft.com/office/powerpoint/2010/main" val="3429417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2406873-C4C4-409F-B774-0200072D81BD}" type="datetimeFigureOut">
              <a:rPr lang="en-US" smtClean="0"/>
              <a:t>8/19/2026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AD83DBD-A642-4633-B082-2C4E03817EFE}" type="slidenum">
              <a:rPr lang="en-US" smtClean="0"/>
              <a:t>‹#›</a:t>
            </a:fld>
            <a:endParaRPr lang="en-US"/>
          </a:p>
        </p:txBody>
      </p:sp>
    </p:spTree>
    <p:extLst>
      <p:ext uri="{BB962C8B-B14F-4D97-AF65-F5344CB8AC3E}">
        <p14:creationId xmlns:p14="http://schemas.microsoft.com/office/powerpoint/2010/main" val="157852214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css-tricks.com/complete-guide-css-grid-layou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flukeout.github.io/"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codepen.io/sbhilare/pen/rNaXMb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codepen.io/sbhilare/pen/ExaqNxE"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codepen.io/sbhilare/pen/MWYNbe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schema.org/"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5764" y="994264"/>
            <a:ext cx="10172687" cy="2677648"/>
          </a:xfrm>
        </p:spPr>
        <p:txBody>
          <a:bodyPr>
            <a:normAutofit/>
          </a:bodyPr>
          <a:lstStyle/>
          <a:p>
            <a:r>
              <a:rPr lang="en-US" dirty="0" smtClean="0"/>
              <a:t>Lecture 3: </a:t>
            </a:r>
            <a:br>
              <a:rPr lang="en-US" dirty="0" smtClean="0"/>
            </a:br>
            <a:r>
              <a:rPr lang="en-US" dirty="0" smtClean="0"/>
              <a:t>HTML5 and CSS3</a:t>
            </a:r>
            <a:endParaRPr lang="en-US" dirty="0"/>
          </a:p>
        </p:txBody>
      </p:sp>
      <p:sp>
        <p:nvSpPr>
          <p:cNvPr id="3" name="Subtitle 2"/>
          <p:cNvSpPr>
            <a:spLocks noGrp="1"/>
          </p:cNvSpPr>
          <p:nvPr>
            <p:ph type="subTitle" idx="1"/>
          </p:nvPr>
        </p:nvSpPr>
        <p:spPr/>
        <p:txBody>
          <a:bodyPr/>
          <a:lstStyle/>
          <a:p>
            <a:r>
              <a:rPr lang="en-US" dirty="0" smtClean="0"/>
              <a:t>Dr. </a:t>
            </a:r>
            <a:r>
              <a:rPr lang="en-US" dirty="0" err="1" smtClean="0"/>
              <a:t>Shruti</a:t>
            </a:r>
            <a:r>
              <a:rPr lang="en-US" dirty="0" smtClean="0"/>
              <a:t> </a:t>
            </a:r>
            <a:r>
              <a:rPr lang="en-US" dirty="0" err="1"/>
              <a:t>B</a:t>
            </a:r>
            <a:r>
              <a:rPr lang="en-US" dirty="0" err="1" smtClean="0"/>
              <a:t>hilare</a:t>
            </a:r>
            <a:endParaRPr lang="en-US" dirty="0"/>
          </a:p>
        </p:txBody>
      </p:sp>
    </p:spTree>
    <p:extLst>
      <p:ext uri="{BB962C8B-B14F-4D97-AF65-F5344CB8AC3E}">
        <p14:creationId xmlns:p14="http://schemas.microsoft.com/office/powerpoint/2010/main" val="21170011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CSS Selectors</a:t>
            </a:r>
            <a:endParaRPr lang="en-IN" dirty="0"/>
          </a:p>
        </p:txBody>
      </p:sp>
      <p:sp>
        <p:nvSpPr>
          <p:cNvPr id="5" name="Text Placeholder 4"/>
          <p:cNvSpPr>
            <a:spLocks noGrp="1"/>
          </p:cNvSpPr>
          <p:nvPr>
            <p:ph type="body" idx="1"/>
          </p:nvPr>
        </p:nvSpPr>
        <p:spPr/>
        <p:txBody>
          <a:bodyPr/>
          <a:lstStyle/>
          <a:p>
            <a:endParaRPr lang="en-IN"/>
          </a:p>
        </p:txBody>
      </p:sp>
    </p:spTree>
    <p:extLst>
      <p:ext uri="{BB962C8B-B14F-4D97-AF65-F5344CB8AC3E}">
        <p14:creationId xmlns:p14="http://schemas.microsoft.com/office/powerpoint/2010/main" val="10351091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CSS Grid box </a:t>
            </a:r>
            <a:endParaRPr lang="en-IN" dirty="0"/>
          </a:p>
        </p:txBody>
      </p:sp>
      <p:sp>
        <p:nvSpPr>
          <p:cNvPr id="3" name="Content Placeholder 2"/>
          <p:cNvSpPr>
            <a:spLocks noGrp="1"/>
          </p:cNvSpPr>
          <p:nvPr>
            <p:ph idx="1"/>
          </p:nvPr>
        </p:nvSpPr>
        <p:spPr/>
        <p:txBody>
          <a:bodyPr/>
          <a:lstStyle/>
          <a:p>
            <a:r>
              <a:rPr lang="en-US" dirty="0"/>
              <a:t>CSS Grid Layout (aka “Grid” or “CSS Grid”), is a two-dimensional grid-based layout system that, compared to any web layout system of the past, completely changes the way we design user interfaces. </a:t>
            </a:r>
            <a:endParaRPr lang="en-US" dirty="0" smtClean="0"/>
          </a:p>
          <a:p>
            <a:r>
              <a:rPr lang="en-US" dirty="0"/>
              <a:t>CSS Flexbox is also a very great layout tool, but its one-directional flow has different use cases </a:t>
            </a:r>
            <a:endParaRPr lang="en-US" dirty="0" smtClean="0"/>
          </a:p>
          <a:p>
            <a:r>
              <a:rPr lang="en-US" dirty="0"/>
              <a:t>They can stretch and shrink, they can center things, they can re-order things, they can align things</a:t>
            </a:r>
            <a:endParaRPr lang="en-IN" dirty="0" smtClean="0">
              <a:hlinkClick r:id="rId2"/>
            </a:endParaRPr>
          </a:p>
          <a:p>
            <a:endParaRPr lang="en-IN" dirty="0">
              <a:hlinkClick r:id="rId2"/>
            </a:endParaRPr>
          </a:p>
          <a:p>
            <a:endParaRPr lang="en-IN" dirty="0" smtClean="0">
              <a:hlinkClick r:id="rId2"/>
            </a:endParaRPr>
          </a:p>
          <a:p>
            <a:r>
              <a:rPr lang="en-IN" dirty="0" smtClean="0">
                <a:hlinkClick r:id="rId2"/>
              </a:rPr>
              <a:t>https</a:t>
            </a:r>
            <a:r>
              <a:rPr lang="en-IN" dirty="0">
                <a:hlinkClick r:id="rId2"/>
              </a:rPr>
              <a:t>://css-tricks.com/complete-guide-css-grid-layout/</a:t>
            </a:r>
            <a:endParaRPr lang="en-IN" dirty="0"/>
          </a:p>
        </p:txBody>
      </p:sp>
    </p:spTree>
    <p:extLst>
      <p:ext uri="{BB962C8B-B14F-4D97-AF65-F5344CB8AC3E}">
        <p14:creationId xmlns:p14="http://schemas.microsoft.com/office/powerpoint/2010/main" val="1551680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0" u="none" strike="noStrike" baseline="0" dirty="0" smtClean="0">
                <a:solidFill>
                  <a:srgbClr val="434343"/>
                </a:solidFill>
                <a:latin typeface="Calibri-Bold"/>
              </a:rPr>
              <a:t>CSS</a:t>
            </a:r>
            <a:r>
              <a:rPr lang="en-US" dirty="0">
                <a:solidFill>
                  <a:srgbClr val="434343"/>
                </a:solidFill>
                <a:latin typeface="Calibri" panose="020F0502020204030204" pitchFamily="34" charset="0"/>
              </a:rPr>
              <a:t> </a:t>
            </a:r>
            <a:r>
              <a:rPr lang="en-US" dirty="0" smtClean="0">
                <a:solidFill>
                  <a:srgbClr val="434343"/>
                </a:solidFill>
                <a:latin typeface="Calibri" panose="020F0502020204030204" pitchFamily="34" charset="0"/>
              </a:rPr>
              <a:t>rules</a:t>
            </a:r>
            <a:endParaRPr lang="en-US" b="0" i="0" u="none" strike="noStrike" baseline="0" dirty="0" smtClean="0">
              <a:solidFill>
                <a:srgbClr val="000000"/>
              </a:solidFill>
              <a:latin typeface="Montserrat-Regular"/>
            </a:endParaRPr>
          </a:p>
        </p:txBody>
      </p:sp>
      <p:sp>
        <p:nvSpPr>
          <p:cNvPr id="3" name="Content Placeholder 2"/>
          <p:cNvSpPr>
            <a:spLocks noGrp="1"/>
          </p:cNvSpPr>
          <p:nvPr>
            <p:ph idx="1"/>
          </p:nvPr>
        </p:nvSpPr>
        <p:spPr/>
        <p:txBody>
          <a:bodyPr>
            <a:normAutofit/>
          </a:bodyPr>
          <a:lstStyle/>
          <a:p>
            <a:r>
              <a:rPr lang="en-US" sz="2400" b="0" i="0" u="none" strike="noStrike" baseline="0" dirty="0" smtClean="0">
                <a:solidFill>
                  <a:srgbClr val="434343"/>
                </a:solidFill>
                <a:latin typeface="Calibri" panose="020F0502020204030204" pitchFamily="34" charset="0"/>
              </a:rPr>
              <a:t>Composed of CSS </a:t>
            </a:r>
            <a:r>
              <a:rPr lang="en-US" sz="2400" b="1" i="0" u="none" strike="noStrike" baseline="0" dirty="0" smtClean="0">
                <a:solidFill>
                  <a:srgbClr val="434343"/>
                </a:solidFill>
                <a:latin typeface="Calibri-Bold"/>
              </a:rPr>
              <a:t>rules</a:t>
            </a:r>
            <a:r>
              <a:rPr lang="en-US" sz="2400" b="0" i="0" u="none" strike="noStrike" baseline="0" dirty="0" smtClean="0">
                <a:solidFill>
                  <a:srgbClr val="434343"/>
                </a:solidFill>
                <a:latin typeface="Calibri" panose="020F0502020204030204" pitchFamily="34" charset="0"/>
              </a:rPr>
              <a:t>, which define sets of styles in declaration block</a:t>
            </a:r>
            <a:r>
              <a:rPr lang="en-US" sz="2400" b="0" i="0" u="none" strike="noStrike" dirty="0" smtClean="0">
                <a:solidFill>
                  <a:srgbClr val="434343"/>
                </a:solidFill>
                <a:latin typeface="Calibri" panose="020F0502020204030204" pitchFamily="34" charset="0"/>
              </a:rPr>
              <a:t> or CSS </a:t>
            </a:r>
            <a:r>
              <a:rPr lang="en-US" sz="2400" b="0" i="0" u="none" strike="noStrike" dirty="0" err="1" smtClean="0">
                <a:solidFill>
                  <a:srgbClr val="434343"/>
                </a:solidFill>
                <a:latin typeface="Calibri" panose="020F0502020204030204" pitchFamily="34" charset="0"/>
              </a:rPr>
              <a:t>ruleset</a:t>
            </a:r>
            <a:endParaRPr lang="en-US" sz="2400" b="0" i="0" u="none" strike="noStrike" baseline="0" dirty="0" smtClean="0">
              <a:solidFill>
                <a:srgbClr val="434343"/>
              </a:solidFill>
              <a:latin typeface="Calibri" panose="020F0502020204030204" pitchFamily="34" charset="0"/>
            </a:endParaRPr>
          </a:p>
          <a:p>
            <a:endParaRPr lang="en-US" sz="2400" b="0" i="0" u="none" strike="noStrike" baseline="0" dirty="0" smtClean="0">
              <a:solidFill>
                <a:srgbClr val="434343"/>
              </a:solidFill>
              <a:latin typeface="Calibri" panose="020F0502020204030204" pitchFamily="34" charset="0"/>
            </a:endParaRPr>
          </a:p>
          <a:p>
            <a:pPr marL="914400" lvl="2" indent="0">
              <a:buNone/>
            </a:pPr>
            <a:r>
              <a:rPr lang="en-US" sz="2400" b="1" i="1" u="none" strike="noStrike" baseline="0" dirty="0" smtClean="0">
                <a:solidFill>
                  <a:srgbClr val="1368F2"/>
                </a:solidFill>
                <a:latin typeface="Consolas-BoldItalic"/>
              </a:rPr>
              <a:t>selector </a:t>
            </a:r>
            <a:r>
              <a:rPr lang="en-US" sz="2400" b="0" i="0" u="none" strike="noStrike" baseline="0" dirty="0" smtClean="0">
                <a:solidFill>
                  <a:srgbClr val="000000"/>
                </a:solidFill>
                <a:latin typeface="Consolas" panose="020B0609020204030204" pitchFamily="49" charset="0"/>
              </a:rPr>
              <a:t>{</a:t>
            </a:r>
          </a:p>
          <a:p>
            <a:pPr marL="914400" lvl="2" indent="0">
              <a:buNone/>
            </a:pPr>
            <a:r>
              <a:rPr lang="en-US" sz="2400" b="1" i="1" u="none" strike="noStrike" baseline="0" dirty="0" smtClean="0">
                <a:solidFill>
                  <a:srgbClr val="009A25"/>
                </a:solidFill>
                <a:latin typeface="Consolas-BoldItalic"/>
              </a:rPr>
              <a:t>     property</a:t>
            </a:r>
            <a:r>
              <a:rPr lang="en-US" sz="2400" b="0" i="0" u="none" strike="noStrike" baseline="0" dirty="0" smtClean="0">
                <a:solidFill>
                  <a:srgbClr val="000000"/>
                </a:solidFill>
                <a:latin typeface="Consolas" panose="020B0609020204030204" pitchFamily="49" charset="0"/>
              </a:rPr>
              <a:t>: </a:t>
            </a:r>
            <a:r>
              <a:rPr lang="en-US" sz="2400" b="1" i="1" u="none" strike="noStrike" baseline="0" dirty="0" smtClean="0">
                <a:solidFill>
                  <a:srgbClr val="595959"/>
                </a:solidFill>
                <a:latin typeface="Consolas-BoldItalic"/>
              </a:rPr>
              <a:t>value</a:t>
            </a:r>
            <a:r>
              <a:rPr lang="en-US" sz="2400" b="0" i="0" u="none" strike="noStrike" baseline="0" dirty="0" smtClean="0">
                <a:solidFill>
                  <a:srgbClr val="000000"/>
                </a:solidFill>
                <a:latin typeface="Consolas" panose="020B0609020204030204" pitchFamily="49" charset="0"/>
              </a:rPr>
              <a:t>;</a:t>
            </a:r>
          </a:p>
          <a:p>
            <a:pPr marL="914400" lvl="2" indent="0">
              <a:buNone/>
            </a:pPr>
            <a:r>
              <a:rPr lang="en-US" sz="2400" b="0" i="0" u="none" strike="noStrike" baseline="0" dirty="0" smtClean="0">
                <a:solidFill>
                  <a:srgbClr val="000000"/>
                </a:solidFill>
                <a:latin typeface="Consolas" panose="020B0609020204030204" pitchFamily="49" charset="0"/>
              </a:rPr>
              <a:t>}</a:t>
            </a:r>
            <a:endParaRPr lang="en-US" sz="2400" dirty="0"/>
          </a:p>
        </p:txBody>
      </p:sp>
      <p:pic>
        <p:nvPicPr>
          <p:cNvPr id="7" name="Picture 6">
            <a:extLst>
              <a:ext uri="{FF2B5EF4-FFF2-40B4-BE49-F238E27FC236}">
                <a16:creationId xmlns:a16="http://schemas.microsoft.com/office/drawing/2014/main" id="{F0CED259-FC36-4B8E-A7CA-8FDC17EC1CC7}"/>
              </a:ext>
            </a:extLst>
          </p:cNvPr>
          <p:cNvPicPr>
            <a:picLocks noChangeAspect="1"/>
          </p:cNvPicPr>
          <p:nvPr/>
        </p:nvPicPr>
        <p:blipFill>
          <a:blip r:embed="rId2"/>
          <a:stretch>
            <a:fillRect/>
          </a:stretch>
        </p:blipFill>
        <p:spPr>
          <a:xfrm>
            <a:off x="1330817" y="4986338"/>
            <a:ext cx="5438775" cy="1190625"/>
          </a:xfrm>
          <a:prstGeom prst="rect">
            <a:avLst/>
          </a:prstGeom>
        </p:spPr>
      </p:pic>
    </p:spTree>
    <p:extLst>
      <p:ext uri="{BB962C8B-B14F-4D97-AF65-F5344CB8AC3E}">
        <p14:creationId xmlns:p14="http://schemas.microsoft.com/office/powerpoint/2010/main" val="321145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82B0B-9C17-4E5A-AFCC-032B90AB0D35}"/>
              </a:ext>
            </a:extLst>
          </p:cNvPr>
          <p:cNvSpPr>
            <a:spLocks noGrp="1"/>
          </p:cNvSpPr>
          <p:nvPr>
            <p:ph type="title"/>
          </p:nvPr>
        </p:nvSpPr>
        <p:spPr/>
        <p:txBody>
          <a:bodyPr/>
          <a:lstStyle/>
          <a:p>
            <a:r>
              <a:rPr lang="en-US" altLang="en-US" cap="none" dirty="0" smtClean="0">
                <a:solidFill>
                  <a:srgbClr val="000000"/>
                </a:solidFill>
                <a:cs typeface="Segoe UI" panose="020B0502040204020203" pitchFamily="34" charset="0"/>
              </a:rPr>
              <a:t>Where do the CSS rules go?</a:t>
            </a:r>
            <a:endParaRPr lang="en-US" dirty="0"/>
          </a:p>
        </p:txBody>
      </p:sp>
      <p:sp>
        <p:nvSpPr>
          <p:cNvPr id="3" name="Content Placeholder 2">
            <a:extLst>
              <a:ext uri="{FF2B5EF4-FFF2-40B4-BE49-F238E27FC236}">
                <a16:creationId xmlns:a16="http://schemas.microsoft.com/office/drawing/2014/main" id="{B932CDDD-DDA2-4E96-B178-E1D4D865217B}"/>
              </a:ext>
            </a:extLst>
          </p:cNvPr>
          <p:cNvSpPr>
            <a:spLocks noGrp="1"/>
          </p:cNvSpPr>
          <p:nvPr>
            <p:ph idx="1"/>
          </p:nvPr>
        </p:nvSpPr>
        <p:spPr>
          <a:xfrm>
            <a:off x="1261872" y="1828800"/>
            <a:ext cx="8595360" cy="4788816"/>
          </a:xfrm>
        </p:spPr>
        <p:txBody>
          <a:bodyPr>
            <a:normAutofit fontScale="92500" lnSpcReduction="10000"/>
          </a:bodyPr>
          <a:lstStyle/>
          <a:p>
            <a:pPr marL="0" indent="0" eaLnBrk="0" fontAlgn="base" hangingPunct="0">
              <a:lnSpc>
                <a:spcPct val="100000"/>
              </a:lnSpc>
              <a:spcBef>
                <a:spcPct val="0"/>
              </a:spcBef>
              <a:spcAft>
                <a:spcPct val="0"/>
              </a:spcAft>
              <a:buNone/>
            </a:pPr>
            <a:r>
              <a:rPr lang="en-US" altLang="en-US" sz="2400" dirty="0" smtClean="0">
                <a:solidFill>
                  <a:srgbClr val="000000"/>
                </a:solidFill>
              </a:rPr>
              <a:t>CSS </a:t>
            </a:r>
            <a:r>
              <a:rPr lang="en-US" altLang="en-US" sz="2400" dirty="0">
                <a:solidFill>
                  <a:srgbClr val="000000"/>
                </a:solidFill>
              </a:rPr>
              <a:t>can be added to HTML elements in 3 ways</a:t>
            </a:r>
            <a:r>
              <a:rPr lang="en-US" altLang="en-US" sz="2400" dirty="0" smtClean="0">
                <a:solidFill>
                  <a:srgbClr val="000000"/>
                </a:solidFill>
              </a:rPr>
              <a:t>:</a:t>
            </a:r>
          </a:p>
          <a:p>
            <a:pPr eaLnBrk="0" fontAlgn="base" hangingPunct="0">
              <a:lnSpc>
                <a:spcPct val="100000"/>
              </a:lnSpc>
              <a:spcBef>
                <a:spcPct val="0"/>
              </a:spcBef>
              <a:spcAft>
                <a:spcPct val="0"/>
              </a:spcAft>
            </a:pPr>
            <a:endParaRPr lang="en-US" altLang="en-US" sz="2400" dirty="0"/>
          </a:p>
          <a:p>
            <a:endParaRPr lang="en-US" sz="2400" dirty="0" smtClean="0"/>
          </a:p>
          <a:p>
            <a:pPr marL="0" lvl="0" indent="0" eaLnBrk="0" fontAlgn="base" hangingPunct="0">
              <a:lnSpc>
                <a:spcPct val="100000"/>
              </a:lnSpc>
              <a:spcBef>
                <a:spcPct val="0"/>
              </a:spcBef>
              <a:spcAft>
                <a:spcPct val="0"/>
              </a:spcAft>
              <a:buClrTx/>
              <a:buSzTx/>
              <a:buNone/>
            </a:pPr>
            <a:endParaRPr lang="en-US" altLang="en-US" sz="2400" dirty="0" smtClean="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smtClean="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smtClean="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smtClean="0">
              <a:solidFill>
                <a:srgbClr val="000000"/>
              </a:solidFill>
            </a:endParaRPr>
          </a:p>
          <a:p>
            <a:pPr marL="0" lvl="0" indent="0" eaLnBrk="0" fontAlgn="base" hangingPunct="0">
              <a:lnSpc>
                <a:spcPct val="100000"/>
              </a:lnSpc>
              <a:spcBef>
                <a:spcPct val="0"/>
              </a:spcBef>
              <a:spcAft>
                <a:spcPct val="0"/>
              </a:spcAft>
              <a:buClrTx/>
              <a:buSzTx/>
              <a:buNone/>
            </a:pPr>
            <a:endParaRPr lang="en-US" altLang="en-US" sz="2400" dirty="0" smtClean="0">
              <a:solidFill>
                <a:srgbClr val="000000"/>
              </a:solidFill>
            </a:endParaRPr>
          </a:p>
          <a:p>
            <a:pPr eaLnBrk="0" fontAlgn="base" hangingPunct="0">
              <a:lnSpc>
                <a:spcPct val="100000"/>
              </a:lnSpc>
              <a:spcBef>
                <a:spcPct val="0"/>
              </a:spcBef>
              <a:spcAft>
                <a:spcPct val="0"/>
              </a:spcAft>
            </a:pPr>
            <a:endParaRPr lang="en-US" altLang="en-US" sz="2400" dirty="0" smtClean="0">
              <a:solidFill>
                <a:srgbClr val="000000"/>
              </a:solidFill>
            </a:endParaRPr>
          </a:p>
          <a:p>
            <a:pPr eaLnBrk="0" fontAlgn="base" hangingPunct="0">
              <a:lnSpc>
                <a:spcPct val="100000"/>
              </a:lnSpc>
              <a:spcBef>
                <a:spcPct val="0"/>
              </a:spcBef>
              <a:spcAft>
                <a:spcPct val="0"/>
              </a:spcAft>
            </a:pPr>
            <a:r>
              <a:rPr lang="en-US" altLang="en-US" sz="2400" dirty="0" smtClean="0">
                <a:solidFill>
                  <a:srgbClr val="000000"/>
                </a:solidFill>
              </a:rPr>
              <a:t>The </a:t>
            </a:r>
            <a:r>
              <a:rPr lang="en-US" altLang="en-US" sz="2400" dirty="0">
                <a:solidFill>
                  <a:srgbClr val="000000"/>
                </a:solidFill>
              </a:rPr>
              <a:t>most common </a:t>
            </a:r>
            <a:r>
              <a:rPr lang="en-US" altLang="en-US" sz="2400" dirty="0" smtClean="0">
                <a:solidFill>
                  <a:srgbClr val="000000"/>
                </a:solidFill>
              </a:rPr>
              <a:t>and professional way </a:t>
            </a:r>
            <a:r>
              <a:rPr lang="en-US" altLang="en-US" sz="2400" dirty="0">
                <a:solidFill>
                  <a:srgbClr val="000000"/>
                </a:solidFill>
              </a:rPr>
              <a:t>to add CSS, is to keep the styles in separate CSS files. </a:t>
            </a:r>
            <a:endParaRPr lang="en-US" altLang="en-US" sz="2400" dirty="0"/>
          </a:p>
          <a:p>
            <a:endParaRPr lang="en-US" dirty="0"/>
          </a:p>
        </p:txBody>
      </p:sp>
      <p:sp>
        <p:nvSpPr>
          <p:cNvPr id="4" name="TextBox 3"/>
          <p:cNvSpPr txBox="1"/>
          <p:nvPr/>
        </p:nvSpPr>
        <p:spPr>
          <a:xfrm>
            <a:off x="1268185" y="2293135"/>
            <a:ext cx="5585102" cy="3693319"/>
          </a:xfrm>
          <a:prstGeom prst="rect">
            <a:avLst/>
          </a:prstGeom>
          <a:noFill/>
        </p:spPr>
        <p:txBody>
          <a:bodyPr wrap="square" rtlCol="0">
            <a:spAutoFit/>
          </a:bodyPr>
          <a:lstStyle/>
          <a:p>
            <a:r>
              <a:rPr lang="en-US" dirty="0"/>
              <a:t>&lt;head&gt;</a:t>
            </a:r>
            <a:br>
              <a:rPr lang="en-US" dirty="0"/>
            </a:br>
            <a:r>
              <a:rPr lang="en-US" dirty="0" smtClean="0"/>
              <a:t>    </a:t>
            </a:r>
            <a:r>
              <a:rPr lang="en-US" dirty="0" smtClean="0">
                <a:solidFill>
                  <a:srgbClr val="FF0000"/>
                </a:solidFill>
              </a:rPr>
              <a:t>&lt;</a:t>
            </a:r>
            <a:r>
              <a:rPr lang="en-US" dirty="0">
                <a:solidFill>
                  <a:srgbClr val="FF0000"/>
                </a:solidFill>
              </a:rPr>
              <a:t>link </a:t>
            </a:r>
            <a:r>
              <a:rPr lang="en-US" dirty="0" err="1">
                <a:solidFill>
                  <a:srgbClr val="FF0000"/>
                </a:solidFill>
              </a:rPr>
              <a:t>rel</a:t>
            </a:r>
            <a:r>
              <a:rPr lang="en-US" dirty="0">
                <a:solidFill>
                  <a:srgbClr val="FF0000"/>
                </a:solidFill>
              </a:rPr>
              <a:t>="stylesheet" type="text/</a:t>
            </a:r>
            <a:r>
              <a:rPr lang="en-US" dirty="0" err="1">
                <a:solidFill>
                  <a:srgbClr val="FF0000"/>
                </a:solidFill>
              </a:rPr>
              <a:t>css</a:t>
            </a:r>
            <a:r>
              <a:rPr lang="en-US" dirty="0">
                <a:solidFill>
                  <a:srgbClr val="FF0000"/>
                </a:solidFill>
              </a:rPr>
              <a:t>" </a:t>
            </a:r>
            <a:r>
              <a:rPr lang="en-US" dirty="0" err="1">
                <a:solidFill>
                  <a:srgbClr val="FF0000"/>
                </a:solidFill>
              </a:rPr>
              <a:t>href</a:t>
            </a:r>
            <a:r>
              <a:rPr lang="en-US" dirty="0">
                <a:solidFill>
                  <a:srgbClr val="FF0000"/>
                </a:solidFill>
              </a:rPr>
              <a:t>="myStyles.css" /&gt;</a:t>
            </a:r>
            <a:br>
              <a:rPr lang="en-US" dirty="0">
                <a:solidFill>
                  <a:srgbClr val="FF0000"/>
                </a:solidFill>
              </a:rPr>
            </a:br>
            <a:r>
              <a:rPr lang="en-US" dirty="0" smtClean="0">
                <a:solidFill>
                  <a:srgbClr val="FF0000"/>
                </a:solidFill>
              </a:rPr>
              <a:t>    </a:t>
            </a:r>
            <a:r>
              <a:rPr lang="en-US" dirty="0" smtClean="0"/>
              <a:t>&lt;style&gt;</a:t>
            </a:r>
            <a:r>
              <a:rPr lang="en-US" dirty="0"/>
              <a:t/>
            </a:r>
            <a:br>
              <a:rPr lang="en-US" dirty="0"/>
            </a:br>
            <a:r>
              <a:rPr lang="en-US" dirty="0" smtClean="0"/>
              <a:t>        body </a:t>
            </a:r>
            <a:r>
              <a:rPr lang="en-US" dirty="0"/>
              <a:t>{</a:t>
            </a:r>
            <a:br>
              <a:rPr lang="en-US" dirty="0"/>
            </a:br>
            <a:r>
              <a:rPr lang="en-US" dirty="0" smtClean="0"/>
              <a:t>             </a:t>
            </a:r>
            <a:r>
              <a:rPr lang="en-US" dirty="0" smtClean="0">
                <a:solidFill>
                  <a:srgbClr val="FF0000"/>
                </a:solidFill>
              </a:rPr>
              <a:t>font-family</a:t>
            </a:r>
            <a:r>
              <a:rPr lang="en-US" dirty="0">
                <a:solidFill>
                  <a:srgbClr val="FF0000"/>
                </a:solidFill>
              </a:rPr>
              <a:t>:</a:t>
            </a:r>
            <a:r>
              <a:rPr lang="en-US" dirty="0"/>
              <a:t> Tahoma, Arial, sans-serif;</a:t>
            </a:r>
            <a:br>
              <a:rPr lang="en-US" dirty="0"/>
            </a:br>
            <a:r>
              <a:rPr lang="en-US" dirty="0" smtClean="0"/>
              <a:t>                  }</a:t>
            </a:r>
            <a:r>
              <a:rPr lang="en-US" dirty="0"/>
              <a:t/>
            </a:r>
            <a:br>
              <a:rPr lang="en-US" dirty="0"/>
            </a:br>
            <a:r>
              <a:rPr lang="en-US" dirty="0" smtClean="0"/>
              <a:t>    &lt;/</a:t>
            </a:r>
            <a:r>
              <a:rPr lang="en-US" dirty="0"/>
              <a:t>style&gt;</a:t>
            </a:r>
            <a:br>
              <a:rPr lang="en-US" dirty="0"/>
            </a:br>
            <a:r>
              <a:rPr lang="en-US" dirty="0"/>
              <a:t>&lt;/head&gt;</a:t>
            </a:r>
            <a:br>
              <a:rPr lang="en-US" dirty="0"/>
            </a:br>
            <a:r>
              <a:rPr lang="en-US" dirty="0"/>
              <a:t>&lt;body&gt;</a:t>
            </a:r>
            <a:br>
              <a:rPr lang="en-US" dirty="0"/>
            </a:br>
            <a:r>
              <a:rPr lang="en-US" dirty="0" smtClean="0"/>
              <a:t>      &lt;</a:t>
            </a:r>
            <a:r>
              <a:rPr lang="en-US" dirty="0"/>
              <a:t>div </a:t>
            </a:r>
            <a:r>
              <a:rPr lang="en-US" dirty="0">
                <a:solidFill>
                  <a:srgbClr val="FF0000"/>
                </a:solidFill>
              </a:rPr>
              <a:t>style="padding:2px; ... "</a:t>
            </a:r>
            <a:r>
              <a:rPr lang="en-US" dirty="0"/>
              <a:t>&gt;</a:t>
            </a:r>
            <a:br>
              <a:rPr lang="en-US" dirty="0"/>
            </a:br>
            <a:r>
              <a:rPr lang="en-US" dirty="0" smtClean="0"/>
              <a:t>&lt;/</a:t>
            </a:r>
            <a:r>
              <a:rPr lang="en-US" dirty="0"/>
              <a:t>body&gt; </a:t>
            </a:r>
            <a:br>
              <a:rPr lang="en-US" dirty="0"/>
            </a:br>
            <a:endParaRPr lang="en-US" dirty="0"/>
          </a:p>
        </p:txBody>
      </p:sp>
      <p:sp>
        <p:nvSpPr>
          <p:cNvPr id="5" name="TextBox 4"/>
          <p:cNvSpPr txBox="1"/>
          <p:nvPr/>
        </p:nvSpPr>
        <p:spPr>
          <a:xfrm>
            <a:off x="7476672" y="2155144"/>
            <a:ext cx="3292928" cy="646331"/>
          </a:xfrm>
          <a:prstGeom prst="rect">
            <a:avLst/>
          </a:prstGeom>
          <a:noFill/>
          <a:ln>
            <a:solidFill>
              <a:schemeClr val="tx1"/>
            </a:solidFill>
          </a:ln>
        </p:spPr>
        <p:txBody>
          <a:bodyPr wrap="square" rtlCol="0">
            <a:spAutoFit/>
          </a:bodyPr>
          <a:lstStyle/>
          <a:p>
            <a:r>
              <a:rPr lang="en-US" dirty="0" smtClean="0"/>
              <a:t>External-separate style sheet</a:t>
            </a:r>
            <a:endParaRPr lang="en-US" dirty="0"/>
          </a:p>
        </p:txBody>
      </p:sp>
      <p:sp>
        <p:nvSpPr>
          <p:cNvPr id="6" name="TextBox 5"/>
          <p:cNvSpPr txBox="1"/>
          <p:nvPr/>
        </p:nvSpPr>
        <p:spPr>
          <a:xfrm>
            <a:off x="5314043" y="4366995"/>
            <a:ext cx="3162299" cy="646331"/>
          </a:xfrm>
          <a:prstGeom prst="rect">
            <a:avLst/>
          </a:prstGeom>
          <a:noFill/>
          <a:ln>
            <a:solidFill>
              <a:schemeClr val="tx1"/>
            </a:solidFill>
          </a:ln>
        </p:spPr>
        <p:txBody>
          <a:bodyPr wrap="square" rtlCol="0">
            <a:spAutoFit/>
          </a:bodyPr>
          <a:lstStyle/>
          <a:p>
            <a:r>
              <a:rPr lang="en-US" dirty="0" smtClean="0"/>
              <a:t>Inline- element-specific, using style attribute</a:t>
            </a:r>
            <a:endParaRPr lang="en-US" dirty="0"/>
          </a:p>
        </p:txBody>
      </p:sp>
      <p:sp>
        <p:nvSpPr>
          <p:cNvPr id="7" name="TextBox 6"/>
          <p:cNvSpPr txBox="1"/>
          <p:nvPr/>
        </p:nvSpPr>
        <p:spPr>
          <a:xfrm>
            <a:off x="7476672" y="3276442"/>
            <a:ext cx="3292928" cy="646331"/>
          </a:xfrm>
          <a:prstGeom prst="rect">
            <a:avLst/>
          </a:prstGeom>
          <a:noFill/>
          <a:ln>
            <a:solidFill>
              <a:schemeClr val="tx1"/>
            </a:solidFill>
          </a:ln>
        </p:spPr>
        <p:txBody>
          <a:bodyPr wrap="square" rtlCol="0">
            <a:spAutoFit/>
          </a:bodyPr>
          <a:lstStyle/>
          <a:p>
            <a:r>
              <a:rPr lang="en-US" dirty="0" smtClean="0"/>
              <a:t>Internal-page specific, using &lt;style&gt;</a:t>
            </a:r>
            <a:endParaRPr lang="en-US" dirty="0"/>
          </a:p>
        </p:txBody>
      </p:sp>
      <p:cxnSp>
        <p:nvCxnSpPr>
          <p:cNvPr id="9" name="Straight Arrow Connector 8"/>
          <p:cNvCxnSpPr/>
          <p:nvPr/>
        </p:nvCxnSpPr>
        <p:spPr>
          <a:xfrm flipH="1">
            <a:off x="5979886" y="2293134"/>
            <a:ext cx="1496785" cy="3339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4833257" y="3599607"/>
            <a:ext cx="2643414" cy="77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4034971" y="4682449"/>
            <a:ext cx="1279072" cy="2313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129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01254"/>
            <a:ext cx="10515600" cy="5199797"/>
          </a:xfrm>
        </p:spPr>
        <p:txBody>
          <a:bodyPr>
            <a:normAutofit/>
          </a:bodyPr>
          <a:lstStyle/>
          <a:p>
            <a:pPr marL="0" indent="0">
              <a:buNone/>
            </a:pPr>
            <a:endParaRPr lang="en-US" b="0" i="0" u="none" strike="noStrike" baseline="0" dirty="0" smtClean="0">
              <a:solidFill>
                <a:srgbClr val="000000"/>
              </a:solidFill>
              <a:latin typeface="Calibri" panose="020F0502020204030204" pitchFamily="34" charset="0"/>
            </a:endParaRPr>
          </a:p>
          <a:p>
            <a:endParaRPr lang="en-US" b="1" dirty="0">
              <a:solidFill>
                <a:srgbClr val="000000"/>
              </a:solidFill>
              <a:latin typeface="Consolas-Bold"/>
            </a:endParaRPr>
          </a:p>
          <a:p>
            <a:endParaRPr lang="en-US" b="1" i="0" u="none" strike="noStrike" baseline="0" dirty="0" smtClean="0">
              <a:solidFill>
                <a:srgbClr val="000000"/>
              </a:solidFill>
              <a:latin typeface="Consolas-Bold"/>
            </a:endParaRPr>
          </a:p>
          <a:p>
            <a:endParaRPr lang="en-US" b="1" dirty="0">
              <a:solidFill>
                <a:srgbClr val="000000"/>
              </a:solidFill>
              <a:latin typeface="Consolas-Bold"/>
            </a:endParaRPr>
          </a:p>
          <a:p>
            <a:endParaRPr lang="en-US" b="1" i="0" u="none" strike="noStrike" baseline="0" dirty="0" smtClean="0">
              <a:solidFill>
                <a:srgbClr val="000000"/>
              </a:solidFill>
              <a:latin typeface="Consolas-Bold"/>
            </a:endParaRP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027553020"/>
              </p:ext>
            </p:extLst>
          </p:nvPr>
        </p:nvGraphicFramePr>
        <p:xfrm>
          <a:off x="1256961" y="365125"/>
          <a:ext cx="9496897" cy="5982588"/>
        </p:xfrm>
        <a:graphic>
          <a:graphicData uri="http://schemas.openxmlformats.org/drawingml/2006/table">
            <a:tbl>
              <a:tblPr firstRow="1" bandRow="1">
                <a:tableStyleId>{7E9639D4-E3E2-4D34-9284-5A2195B3D0D7}</a:tableStyleId>
              </a:tblPr>
              <a:tblGrid>
                <a:gridCol w="3675647">
                  <a:extLst>
                    <a:ext uri="{9D8B030D-6E8A-4147-A177-3AD203B41FA5}">
                      <a16:colId xmlns:a16="http://schemas.microsoft.com/office/drawing/2014/main" val="20000"/>
                    </a:ext>
                  </a:extLst>
                </a:gridCol>
                <a:gridCol w="1920679">
                  <a:extLst>
                    <a:ext uri="{9D8B030D-6E8A-4147-A177-3AD203B41FA5}">
                      <a16:colId xmlns:a16="http://schemas.microsoft.com/office/drawing/2014/main" val="20001"/>
                    </a:ext>
                  </a:extLst>
                </a:gridCol>
                <a:gridCol w="3900571">
                  <a:extLst>
                    <a:ext uri="{9D8B030D-6E8A-4147-A177-3AD203B41FA5}">
                      <a16:colId xmlns:a16="http://schemas.microsoft.com/office/drawing/2014/main" val="20002"/>
                    </a:ext>
                  </a:extLst>
                </a:gridCol>
              </a:tblGrid>
              <a:tr h="346911">
                <a:tc>
                  <a:txBody>
                    <a:bodyPr/>
                    <a:lstStyle/>
                    <a:p>
                      <a:r>
                        <a:rPr lang="en-US" dirty="0" smtClean="0"/>
                        <a:t>Selector type</a:t>
                      </a:r>
                      <a:endParaRPr lang="en-US" dirty="0"/>
                    </a:p>
                  </a:txBody>
                  <a:tcPr/>
                </a:tc>
                <a:tc>
                  <a:txBody>
                    <a:bodyPr/>
                    <a:lstStyle/>
                    <a:p>
                      <a:r>
                        <a:rPr lang="en-US" dirty="0" smtClean="0"/>
                        <a:t>Notations</a:t>
                      </a:r>
                      <a:endParaRPr lang="en-US" dirty="0"/>
                    </a:p>
                  </a:txBody>
                  <a:tcPr/>
                </a:tc>
                <a:tc>
                  <a:txBody>
                    <a:bodyPr/>
                    <a:lstStyle/>
                    <a:p>
                      <a:r>
                        <a:rPr lang="en-US" dirty="0" smtClean="0"/>
                        <a:t>Description</a:t>
                      </a:r>
                      <a:endParaRPr lang="en-US" dirty="0"/>
                    </a:p>
                  </a:txBody>
                  <a:tcPr/>
                </a:tc>
                <a:extLst>
                  <a:ext uri="{0D108BD9-81ED-4DB2-BD59-A6C34878D82A}">
                    <a16:rowId xmlns:a16="http://schemas.microsoft.com/office/drawing/2014/main" val="10000"/>
                  </a:ext>
                </a:extLst>
              </a:tr>
              <a:tr h="60709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u="none" strike="noStrike" baseline="0" dirty="0" smtClean="0">
                          <a:solidFill>
                            <a:srgbClr val="000000"/>
                          </a:solidFill>
                          <a:latin typeface="Calibri" panose="020F0502020204030204" pitchFamily="34" charset="0"/>
                        </a:rPr>
                        <a:t>Element selector</a:t>
                      </a:r>
                    </a:p>
                    <a:p>
                      <a:endParaRPr lang="en-US" dirty="0"/>
                    </a:p>
                  </a:txBody>
                  <a:tcPr/>
                </a:tc>
                <a:tc>
                  <a:txBody>
                    <a:bodyPr/>
                    <a:lstStyle/>
                    <a:p>
                      <a:r>
                        <a:rPr lang="en-US" b="1" i="0" u="none" strike="noStrike" baseline="0" dirty="0" smtClean="0">
                          <a:solidFill>
                            <a:srgbClr val="000000"/>
                          </a:solidFill>
                          <a:latin typeface="Consolas-Bold"/>
                        </a:rPr>
                        <a:t>p</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u="none" strike="noStrike" baseline="0" dirty="0" smtClean="0">
                          <a:solidFill>
                            <a:srgbClr val="000000"/>
                          </a:solidFill>
                          <a:latin typeface="Calibri" panose="020F0502020204030204" pitchFamily="34" charset="0"/>
                        </a:rPr>
                        <a:t>All </a:t>
                      </a:r>
                      <a:r>
                        <a:rPr lang="en-US" b="1" i="0" u="none" strike="noStrike" baseline="0" dirty="0" smtClean="0">
                          <a:solidFill>
                            <a:srgbClr val="000000"/>
                          </a:solidFill>
                          <a:latin typeface="Consolas-Bold"/>
                        </a:rPr>
                        <a:t>&lt;p&gt; </a:t>
                      </a:r>
                      <a:r>
                        <a:rPr lang="en-US" b="0" i="0" u="none" strike="noStrike" baseline="0" dirty="0" smtClean="0">
                          <a:solidFill>
                            <a:srgbClr val="000000"/>
                          </a:solidFill>
                          <a:latin typeface="Calibri" panose="020F0502020204030204" pitchFamily="34" charset="0"/>
                        </a:rPr>
                        <a:t>elements</a:t>
                      </a:r>
                    </a:p>
                    <a:p>
                      <a:endParaRPr lang="en-US" dirty="0"/>
                    </a:p>
                  </a:txBody>
                  <a:tcPr/>
                </a:tc>
                <a:extLst>
                  <a:ext uri="{0D108BD9-81ED-4DB2-BD59-A6C34878D82A}">
                    <a16:rowId xmlns:a16="http://schemas.microsoft.com/office/drawing/2014/main" val="10001"/>
                  </a:ext>
                </a:extLst>
              </a:tr>
              <a:tr h="608664">
                <a:tc>
                  <a:txBody>
                    <a:bodyPr/>
                    <a:lstStyle/>
                    <a:p>
                      <a:r>
                        <a:rPr lang="en-US" b="0" i="0" u="none" strike="noStrike" baseline="0" dirty="0" smtClean="0">
                          <a:solidFill>
                            <a:srgbClr val="000000"/>
                          </a:solidFill>
                          <a:latin typeface="Calibri-Bold"/>
                        </a:rPr>
                        <a:t>ID selector</a:t>
                      </a:r>
                      <a:endParaRPr lang="en-US" b="0" dirty="0"/>
                    </a:p>
                  </a:txBody>
                  <a:tcPr/>
                </a:tc>
                <a:tc>
                  <a:txBody>
                    <a:bodyPr/>
                    <a:lstStyle/>
                    <a:p>
                      <a:r>
                        <a:rPr lang="en-US" b="1" i="0" u="none" strike="noStrike" baseline="0" dirty="0" smtClean="0">
                          <a:solidFill>
                            <a:srgbClr val="000000"/>
                          </a:solidFill>
                          <a:latin typeface="Consolas-Bold"/>
                        </a:rPr>
                        <a:t>#</a:t>
                      </a:r>
                      <a:r>
                        <a:rPr lang="en-US" b="1" i="0" u="none" strike="noStrike" baseline="0" dirty="0" err="1" smtClean="0">
                          <a:solidFill>
                            <a:srgbClr val="000000"/>
                          </a:solidFill>
                          <a:latin typeface="Consolas-Bold"/>
                        </a:rPr>
                        <a:t>abc</a:t>
                      </a:r>
                      <a:r>
                        <a:rPr lang="en-US" b="1" i="0" u="none" strike="noStrike" baseline="0" dirty="0" smtClean="0">
                          <a:solidFill>
                            <a:srgbClr val="000000"/>
                          </a:solidFill>
                          <a:latin typeface="Consolas-Bold"/>
                        </a:rPr>
                        <a:t>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u="none" strike="noStrike" baseline="0" dirty="0" smtClean="0">
                          <a:solidFill>
                            <a:srgbClr val="000000"/>
                          </a:solidFill>
                          <a:latin typeface="Calibri" panose="020F0502020204030204" pitchFamily="34" charset="0"/>
                        </a:rPr>
                        <a:t>element with </a:t>
                      </a:r>
                      <a:r>
                        <a:rPr lang="en-US" b="1" i="0" u="none" strike="noStrike" baseline="0" dirty="0" smtClean="0">
                          <a:solidFill>
                            <a:srgbClr val="000000"/>
                          </a:solidFill>
                          <a:latin typeface="Consolas-Bold"/>
                        </a:rPr>
                        <a:t>id="</a:t>
                      </a:r>
                      <a:r>
                        <a:rPr lang="en-US" b="1" i="0" u="none" strike="noStrike" baseline="0" dirty="0" err="1" smtClean="0">
                          <a:solidFill>
                            <a:srgbClr val="000000"/>
                          </a:solidFill>
                          <a:latin typeface="Consolas-Bold"/>
                        </a:rPr>
                        <a:t>abc</a:t>
                      </a:r>
                      <a:r>
                        <a:rPr lang="en-US" b="1" i="0" u="none" strike="noStrike" baseline="0" dirty="0" smtClean="0">
                          <a:solidFill>
                            <a:srgbClr val="000000"/>
                          </a:solidFill>
                          <a:latin typeface="Consolas-Bold"/>
                        </a:rPr>
                        <a:t>"</a:t>
                      </a:r>
                    </a:p>
                  </a:txBody>
                  <a:tcPr/>
                </a:tc>
                <a:extLst>
                  <a:ext uri="{0D108BD9-81ED-4DB2-BD59-A6C34878D82A}">
                    <a16:rowId xmlns:a16="http://schemas.microsoft.com/office/drawing/2014/main" val="10002"/>
                  </a:ext>
                </a:extLst>
              </a:tr>
              <a:tr h="721002">
                <a:tc>
                  <a:txBody>
                    <a:bodyPr/>
                    <a:lstStyle/>
                    <a:p>
                      <a:r>
                        <a:rPr lang="en-US" b="0" i="0" u="none" strike="noStrike" baseline="0" dirty="0" smtClean="0">
                          <a:solidFill>
                            <a:srgbClr val="000000"/>
                          </a:solidFill>
                          <a:latin typeface="Calibri-Bold"/>
                        </a:rPr>
                        <a:t>Class selector</a:t>
                      </a:r>
                      <a:endParaRPr lang="en-US" b="0" dirty="0"/>
                    </a:p>
                  </a:txBody>
                  <a:tcPr/>
                </a:tc>
                <a:tc>
                  <a:txBody>
                    <a:bodyPr/>
                    <a:lstStyle/>
                    <a:p>
                      <a:r>
                        <a:rPr lang="en-US" b="1" i="0" u="none" strike="noStrike" baseline="0" dirty="0" smtClean="0">
                          <a:solidFill>
                            <a:srgbClr val="000000"/>
                          </a:solidFill>
                          <a:latin typeface="Consolas-Bold"/>
                        </a:rPr>
                        <a:t>.</a:t>
                      </a:r>
                      <a:r>
                        <a:rPr lang="en-US" b="1" i="0" u="none" strike="noStrike" baseline="0" dirty="0" err="1" smtClean="0">
                          <a:solidFill>
                            <a:srgbClr val="000000"/>
                          </a:solidFill>
                          <a:latin typeface="Consolas-Bold"/>
                        </a:rPr>
                        <a:t>abc</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i="0" u="none" strike="noStrike" baseline="0" dirty="0" smtClean="0">
                          <a:solidFill>
                            <a:srgbClr val="000000"/>
                          </a:solidFill>
                          <a:latin typeface="Calibri" panose="020F0502020204030204" pitchFamily="34" charset="0"/>
                        </a:rPr>
                        <a:t>elements with </a:t>
                      </a:r>
                      <a:r>
                        <a:rPr lang="en-US" b="1" i="0" u="none" strike="noStrike" baseline="0" dirty="0" smtClean="0">
                          <a:solidFill>
                            <a:srgbClr val="000000"/>
                          </a:solidFill>
                          <a:latin typeface="Consolas-Bold"/>
                        </a:rPr>
                        <a:t>class="</a:t>
                      </a:r>
                      <a:r>
                        <a:rPr lang="en-US" b="1" i="0" u="none" strike="noStrike" baseline="0" dirty="0" err="1" smtClean="0">
                          <a:solidFill>
                            <a:srgbClr val="000000"/>
                          </a:solidFill>
                          <a:latin typeface="Consolas-Bold"/>
                        </a:rPr>
                        <a:t>abc</a:t>
                      </a:r>
                      <a:r>
                        <a:rPr lang="en-US" b="1" i="0" u="none" strike="noStrike" baseline="0" dirty="0" smtClean="0">
                          <a:solidFill>
                            <a:srgbClr val="000000"/>
                          </a:solidFill>
                          <a:latin typeface="Consolas-Bold"/>
                        </a:rPr>
                        <a:t>"</a:t>
                      </a:r>
                      <a:endParaRPr lang="en-US" dirty="0"/>
                    </a:p>
                  </a:txBody>
                  <a:tcPr/>
                </a:tc>
                <a:extLst>
                  <a:ext uri="{0D108BD9-81ED-4DB2-BD59-A6C34878D82A}">
                    <a16:rowId xmlns:a16="http://schemas.microsoft.com/office/drawing/2014/main" val="10003"/>
                  </a:ext>
                </a:extLst>
              </a:tr>
              <a:tr h="1647829">
                <a:tc>
                  <a:txBody>
                    <a:bodyPr/>
                    <a:lstStyle/>
                    <a:p>
                      <a:r>
                        <a:rPr lang="en-US" b="0" dirty="0" err="1" smtClean="0"/>
                        <a:t>Combinators</a:t>
                      </a:r>
                      <a:endParaRPr lang="en-US" b="0" dirty="0" smtClean="0"/>
                    </a:p>
                    <a:p>
                      <a:r>
                        <a:rPr lang="en-US" b="0" dirty="0" smtClean="0"/>
                        <a:t>Adjacent</a:t>
                      </a:r>
                      <a:r>
                        <a:rPr lang="en-US" b="0" baseline="0" dirty="0" smtClean="0"/>
                        <a:t> sibling </a:t>
                      </a:r>
                      <a:r>
                        <a:rPr lang="en-US" b="0" baseline="0" dirty="0" err="1" smtClean="0"/>
                        <a:t>combnator</a:t>
                      </a:r>
                      <a:endParaRPr lang="en-US" b="0" dirty="0" smtClean="0"/>
                    </a:p>
                    <a:p>
                      <a:r>
                        <a:rPr lang="en-US" b="0" dirty="0" smtClean="0"/>
                        <a:t>General sibling </a:t>
                      </a:r>
                      <a:r>
                        <a:rPr lang="en-US" b="0" dirty="0" err="1" smtClean="0"/>
                        <a:t>combinator</a:t>
                      </a:r>
                      <a:endParaRPr lang="en-US" b="0" dirty="0" smtClean="0"/>
                    </a:p>
                    <a:p>
                      <a:r>
                        <a:rPr lang="en-US" b="0" dirty="0" smtClean="0"/>
                        <a:t>Child </a:t>
                      </a:r>
                      <a:r>
                        <a:rPr lang="en-US" b="0" dirty="0" err="1" smtClean="0"/>
                        <a:t>combinator</a:t>
                      </a:r>
                      <a:endParaRPr lang="en-US" b="0" dirty="0" smtClean="0"/>
                    </a:p>
                    <a:p>
                      <a:endParaRPr lang="en-US" b="0" dirty="0" smtClean="0"/>
                    </a:p>
                    <a:p>
                      <a:r>
                        <a:rPr lang="en-US" b="0" dirty="0" smtClean="0"/>
                        <a:t>Descendant combinatory</a:t>
                      </a:r>
                      <a:endParaRPr lang="en-US" b="0" dirty="0"/>
                    </a:p>
                  </a:txBody>
                  <a:tcPr/>
                </a:tc>
                <a:tc>
                  <a:txBody>
                    <a:bodyPr/>
                    <a:lstStyle/>
                    <a:p>
                      <a:pPr marL="0" algn="l" defTabSz="914400" rtl="0" eaLnBrk="1" latinLnBrk="0" hangingPunct="1"/>
                      <a:endParaRPr lang="en-US" sz="1800" b="1" i="0" u="none" strike="noStrike" kern="1200" baseline="0" dirty="0" smtClean="0">
                        <a:solidFill>
                          <a:srgbClr val="000000"/>
                        </a:solidFill>
                        <a:latin typeface="Consolas-Bold"/>
                        <a:ea typeface="+mn-ea"/>
                        <a:cs typeface="+mn-cs"/>
                      </a:endParaRPr>
                    </a:p>
                    <a:p>
                      <a:pPr marL="0" algn="l" defTabSz="914400" rtl="0" eaLnBrk="1" latinLnBrk="0" hangingPunct="1"/>
                      <a:r>
                        <a:rPr lang="en-US" sz="1800" b="1" i="0" u="none" strike="noStrike" kern="1200" baseline="0" dirty="0" smtClean="0">
                          <a:solidFill>
                            <a:srgbClr val="000000"/>
                          </a:solidFill>
                          <a:latin typeface="Consolas-Bold"/>
                          <a:ea typeface="+mn-ea"/>
                          <a:cs typeface="+mn-cs"/>
                        </a:rPr>
                        <a:t>A+B</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A ~B </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A&gt; B</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A,B</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A B</a:t>
                      </a:r>
                      <a:endParaRPr lang="en-US" sz="1800" b="1" i="0" u="none" strike="noStrike" kern="1200" baseline="0" dirty="0">
                        <a:solidFill>
                          <a:srgbClr val="000000"/>
                        </a:solidFill>
                        <a:latin typeface="Consolas-Bold"/>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Elements</a:t>
                      </a:r>
                      <a:r>
                        <a:rPr lang="en-US" baseline="0" dirty="0" smtClean="0"/>
                        <a:t> </a:t>
                      </a:r>
                      <a:r>
                        <a:rPr lang="en-US" dirty="0" smtClean="0"/>
                        <a:t>B</a:t>
                      </a:r>
                      <a:r>
                        <a:rPr lang="en-US" baseline="0" dirty="0" smtClean="0"/>
                        <a:t> direct sibling of A</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General sibling of A</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Direct child of A</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A and B</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Type B descendant(s) of A</a:t>
                      </a:r>
                    </a:p>
                  </a:txBody>
                  <a:tcPr/>
                </a:tc>
                <a:extLst>
                  <a:ext uri="{0D108BD9-81ED-4DB2-BD59-A6C34878D82A}">
                    <a16:rowId xmlns:a16="http://schemas.microsoft.com/office/drawing/2014/main" val="10004"/>
                  </a:ext>
                </a:extLst>
              </a:tr>
              <a:tr h="1127462">
                <a:tc>
                  <a:txBody>
                    <a:bodyPr/>
                    <a:lstStyle/>
                    <a:p>
                      <a:r>
                        <a:rPr lang="en-US" b="0" dirty="0" smtClean="0"/>
                        <a:t>pseudo</a:t>
                      </a:r>
                      <a:r>
                        <a:rPr lang="en-US" b="0" baseline="0" dirty="0" smtClean="0"/>
                        <a:t> classes</a:t>
                      </a:r>
                      <a:endParaRPr lang="en-US" b="0" dirty="0"/>
                    </a:p>
                  </a:txBody>
                  <a:tcPr/>
                </a:tc>
                <a:tc>
                  <a:txBody>
                    <a:bodyPr/>
                    <a:lstStyle/>
                    <a:p>
                      <a:pPr marL="0" algn="l" defTabSz="914400" rtl="0" eaLnBrk="1" latinLnBrk="0" hangingPunct="1"/>
                      <a:r>
                        <a:rPr lang="en-US" sz="1800" b="1" i="0" u="none" strike="noStrike" kern="1200" baseline="0" dirty="0" smtClean="0">
                          <a:solidFill>
                            <a:srgbClr val="000000"/>
                          </a:solidFill>
                          <a:latin typeface="Consolas-Bold"/>
                          <a:ea typeface="+mn-ea"/>
                          <a:cs typeface="+mn-cs"/>
                        </a:rPr>
                        <a:t>:only-child</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:nth-child</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:first-child</a:t>
                      </a:r>
                    </a:p>
                    <a:p>
                      <a:pPr marL="0" algn="l" defTabSz="914400" rtl="0" eaLnBrk="1" latinLnBrk="0" hangingPunct="1"/>
                      <a:r>
                        <a:rPr lang="en-US" sz="1800" b="1" i="0" u="none" strike="noStrike" kern="1200" baseline="0" dirty="0" smtClean="0">
                          <a:solidFill>
                            <a:srgbClr val="000000"/>
                          </a:solidFill>
                          <a:latin typeface="Consolas-Bold"/>
                          <a:ea typeface="+mn-ea"/>
                          <a:cs typeface="+mn-cs"/>
                        </a:rPr>
                        <a:t>:last-child</a:t>
                      </a:r>
                      <a:endParaRPr lang="en-US" sz="1800" b="1" i="0" u="none" strike="noStrike" kern="1200" baseline="0" dirty="0">
                        <a:solidFill>
                          <a:srgbClr val="000000"/>
                        </a:solidFill>
                        <a:latin typeface="Consolas-Bold"/>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05"/>
                  </a:ext>
                </a:extLst>
              </a:tr>
              <a:tr h="721002">
                <a:tc>
                  <a:txBody>
                    <a:bodyPr/>
                    <a:lstStyle/>
                    <a:p>
                      <a:r>
                        <a:rPr lang="en-US" b="0" dirty="0" smtClean="0"/>
                        <a:t>pseudo elements</a:t>
                      </a:r>
                      <a:endParaRPr lang="en-US" b="0" dirty="0"/>
                    </a:p>
                  </a:txBody>
                  <a:tcPr/>
                </a:tc>
                <a:tc>
                  <a:txBody>
                    <a:bodyPr/>
                    <a:lstStyle/>
                    <a:p>
                      <a:r>
                        <a:rPr lang="en-US" dirty="0" smtClean="0"/>
                        <a:t>:first-line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51470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Selector </a:t>
            </a:r>
            <a:r>
              <a:rPr lang="en-US" dirty="0" smtClean="0"/>
              <a:t>examples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05014703"/>
              </p:ext>
            </p:extLst>
          </p:nvPr>
        </p:nvGraphicFramePr>
        <p:xfrm>
          <a:off x="1001973" y="1690688"/>
          <a:ext cx="9801145" cy="4425423"/>
        </p:xfrm>
        <a:graphic>
          <a:graphicData uri="http://schemas.openxmlformats.org/drawingml/2006/table">
            <a:tbl>
              <a:tblPr firstRow="1" bandRow="1">
                <a:tableStyleId>{073A0DAA-6AF3-43AB-8588-CEC1D06C72B9}</a:tableStyleId>
              </a:tblPr>
              <a:tblGrid>
                <a:gridCol w="2449756">
                  <a:extLst>
                    <a:ext uri="{9D8B030D-6E8A-4147-A177-3AD203B41FA5}">
                      <a16:colId xmlns:a16="http://schemas.microsoft.com/office/drawing/2014/main" val="20000"/>
                    </a:ext>
                  </a:extLst>
                </a:gridCol>
                <a:gridCol w="7351389">
                  <a:extLst>
                    <a:ext uri="{9D8B030D-6E8A-4147-A177-3AD203B41FA5}">
                      <a16:colId xmlns:a16="http://schemas.microsoft.com/office/drawing/2014/main" val="20001"/>
                    </a:ext>
                  </a:extLst>
                </a:gridCol>
              </a:tblGrid>
              <a:tr h="370840">
                <a:tc>
                  <a:txBody>
                    <a:bodyPr/>
                    <a:lstStyle/>
                    <a:p>
                      <a:r>
                        <a:rPr lang="en-US" sz="2400" u="none" strike="noStrike" kern="1200" baseline="0" dirty="0" smtClean="0"/>
                        <a:t>Selector example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strike="noStrike" kern="1200" baseline="0" dirty="0" smtClean="0"/>
                        <a:t>Meaning</a:t>
                      </a:r>
                    </a:p>
                    <a:p>
                      <a:endParaRPr lang="en-US" sz="2400" dirty="0"/>
                    </a:p>
                  </a:txBody>
                  <a:tcPr/>
                </a:tc>
                <a:extLst>
                  <a:ext uri="{0D108BD9-81ED-4DB2-BD59-A6C34878D82A}">
                    <a16:rowId xmlns:a16="http://schemas.microsoft.com/office/drawing/2014/main" val="10000"/>
                  </a:ext>
                </a:extLst>
              </a:tr>
              <a:tr h="493503">
                <a:tc>
                  <a:txBody>
                    <a:bodyPr/>
                    <a:lstStyle/>
                    <a:p>
                      <a:r>
                        <a:rPr lang="en-US" sz="2400" u="none" strike="noStrike" kern="1200" baseline="0" dirty="0" smtClean="0"/>
                        <a:t>p</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u="none" strike="noStrike" kern="1200" baseline="0" dirty="0" smtClean="0"/>
                        <a:t>All &lt;p&gt; elements</a:t>
                      </a:r>
                    </a:p>
                  </a:txBody>
                  <a:tcPr/>
                </a:tc>
                <a:extLst>
                  <a:ext uri="{0D108BD9-81ED-4DB2-BD59-A6C34878D82A}">
                    <a16:rowId xmlns:a16="http://schemas.microsoft.com/office/drawing/2014/main" val="10001"/>
                  </a:ext>
                </a:extLst>
              </a:tr>
              <a:tr h="370840">
                <a:tc>
                  <a:txBody>
                    <a:bodyPr/>
                    <a:lstStyle/>
                    <a:p>
                      <a:r>
                        <a:rPr lang="en-US" sz="2400" u="none" strike="noStrike" kern="1200" baseline="0" dirty="0" smtClean="0"/>
                        <a:t>.</a:t>
                      </a:r>
                      <a:r>
                        <a:rPr lang="en-US" sz="2400" u="none" strike="noStrike" kern="1200" baseline="0" dirty="0" err="1" smtClean="0"/>
                        <a:t>abc</a:t>
                      </a:r>
                      <a:endParaRPr lang="en-US" sz="2400" dirty="0"/>
                    </a:p>
                  </a:txBody>
                  <a:tcPr/>
                </a:tc>
                <a:tc>
                  <a:txBody>
                    <a:bodyPr/>
                    <a:lstStyle/>
                    <a:p>
                      <a:r>
                        <a:rPr lang="en-US" sz="2400" u="none" strike="noStrike" kern="1200" baseline="0" dirty="0" smtClean="0"/>
                        <a:t>All elements with the </a:t>
                      </a:r>
                      <a:r>
                        <a:rPr lang="en-US" sz="2400" u="none" strike="noStrike" kern="1200" baseline="0" dirty="0" err="1" smtClean="0"/>
                        <a:t>abc</a:t>
                      </a:r>
                      <a:r>
                        <a:rPr lang="en-US" sz="2400" u="none" strike="noStrike" kern="1200" baseline="0" dirty="0" smtClean="0"/>
                        <a:t> class, i.e. </a:t>
                      </a:r>
                      <a:endParaRPr lang="en-US" sz="2400" dirty="0"/>
                    </a:p>
                  </a:txBody>
                  <a:tcPr/>
                </a:tc>
                <a:extLst>
                  <a:ext uri="{0D108BD9-81ED-4DB2-BD59-A6C34878D82A}">
                    <a16:rowId xmlns:a16="http://schemas.microsoft.com/office/drawing/2014/main" val="10002"/>
                  </a:ext>
                </a:extLst>
              </a:tr>
              <a:tr h="370840">
                <a:tc>
                  <a:txBody>
                    <a:bodyPr/>
                    <a:lstStyle/>
                    <a:p>
                      <a:r>
                        <a:rPr lang="en-US" sz="2400" u="none" strike="noStrike" kern="1200" baseline="0" dirty="0" smtClean="0"/>
                        <a:t>#</a:t>
                      </a:r>
                      <a:r>
                        <a:rPr lang="en-US" sz="2400" u="none" strike="noStrike" kern="1200" baseline="0" dirty="0" err="1" smtClean="0"/>
                        <a:t>abc</a:t>
                      </a:r>
                      <a:endParaRPr lang="en-US" sz="2400" dirty="0"/>
                    </a:p>
                  </a:txBody>
                  <a:tcPr/>
                </a:tc>
                <a:tc>
                  <a:txBody>
                    <a:bodyPr/>
                    <a:lstStyle/>
                    <a:p>
                      <a:r>
                        <a:rPr lang="en-US" sz="2400" u="none" strike="noStrike" kern="1200" baseline="0" dirty="0" smtClean="0"/>
                        <a:t>Element with the </a:t>
                      </a:r>
                      <a:r>
                        <a:rPr lang="en-US" sz="2400" u="none" strike="noStrike" kern="1200" baseline="0" dirty="0" err="1" smtClean="0"/>
                        <a:t>abc</a:t>
                      </a:r>
                      <a:r>
                        <a:rPr lang="en-US" sz="2400" u="none" strike="noStrike" kern="1200" baseline="0" dirty="0" smtClean="0"/>
                        <a:t> id, i.e. id="</a:t>
                      </a:r>
                      <a:r>
                        <a:rPr lang="en-US" sz="2400" u="none" strike="noStrike" kern="1200" baseline="0" dirty="0" err="1" smtClean="0"/>
                        <a:t>abc</a:t>
                      </a:r>
                      <a:r>
                        <a:rPr lang="en-US" sz="2400" u="none" strike="noStrike" kern="1200" baseline="0" dirty="0" smtClean="0"/>
                        <a:t>"</a:t>
                      </a:r>
                    </a:p>
                  </a:txBody>
                  <a:tcPr/>
                </a:tc>
                <a:extLst>
                  <a:ext uri="{0D108BD9-81ED-4DB2-BD59-A6C34878D82A}">
                    <a16:rowId xmlns:a16="http://schemas.microsoft.com/office/drawing/2014/main" val="10003"/>
                  </a:ext>
                </a:extLst>
              </a:tr>
              <a:tr h="370840">
                <a:tc>
                  <a:txBody>
                    <a:bodyPr/>
                    <a:lstStyle/>
                    <a:p>
                      <a:r>
                        <a:rPr lang="en-US" sz="2400" u="none" strike="noStrike" kern="1200" baseline="0" dirty="0" err="1" smtClean="0"/>
                        <a:t>p.abc</a:t>
                      </a:r>
                      <a:endParaRPr lang="en-US" sz="2400" dirty="0"/>
                    </a:p>
                  </a:txBody>
                  <a:tcPr/>
                </a:tc>
                <a:tc>
                  <a:txBody>
                    <a:bodyPr/>
                    <a:lstStyle/>
                    <a:p>
                      <a:r>
                        <a:rPr lang="en-US" sz="2400" u="none" strike="noStrike" kern="1200" baseline="0" dirty="0" smtClean="0"/>
                        <a:t>&lt;p&gt; elements with </a:t>
                      </a:r>
                      <a:r>
                        <a:rPr lang="en-US" sz="2400" u="none" strike="noStrike" kern="1200" baseline="0" dirty="0" err="1" smtClean="0"/>
                        <a:t>abc</a:t>
                      </a:r>
                      <a:r>
                        <a:rPr lang="en-US" sz="2400" u="none" strike="noStrike" kern="1200" baseline="0" dirty="0" smtClean="0"/>
                        <a:t> class</a:t>
                      </a:r>
                    </a:p>
                  </a:txBody>
                  <a:tcPr/>
                </a:tc>
                <a:extLst>
                  <a:ext uri="{0D108BD9-81ED-4DB2-BD59-A6C34878D82A}">
                    <a16:rowId xmlns:a16="http://schemas.microsoft.com/office/drawing/2014/main" val="10004"/>
                  </a:ext>
                </a:extLst>
              </a:tr>
              <a:tr h="370840">
                <a:tc>
                  <a:txBody>
                    <a:bodyPr/>
                    <a:lstStyle/>
                    <a:p>
                      <a:r>
                        <a:rPr lang="en-US" sz="2400" u="none" strike="noStrike" kern="1200" baseline="0" dirty="0" err="1" smtClean="0"/>
                        <a:t>p#abc</a:t>
                      </a:r>
                      <a:endParaRPr lang="en-US" sz="2400" dirty="0"/>
                    </a:p>
                  </a:txBody>
                  <a:tcPr/>
                </a:tc>
                <a:tc>
                  <a:txBody>
                    <a:bodyPr/>
                    <a:lstStyle/>
                    <a:p>
                      <a:r>
                        <a:rPr lang="en-US" sz="2400" u="none" strike="noStrike" kern="1200" baseline="0" dirty="0" smtClean="0"/>
                        <a:t>&lt;p&gt; element with </a:t>
                      </a:r>
                      <a:r>
                        <a:rPr lang="en-US" sz="2400" u="none" strike="noStrike" kern="1200" baseline="0" dirty="0" err="1" smtClean="0"/>
                        <a:t>abc</a:t>
                      </a:r>
                      <a:r>
                        <a:rPr lang="en-US" sz="2400" u="none" strike="noStrike" kern="1200" baseline="0" dirty="0" smtClean="0"/>
                        <a:t> id (p is redundant)</a:t>
                      </a:r>
                    </a:p>
                  </a:txBody>
                  <a:tcPr/>
                </a:tc>
                <a:extLst>
                  <a:ext uri="{0D108BD9-81ED-4DB2-BD59-A6C34878D82A}">
                    <a16:rowId xmlns:a16="http://schemas.microsoft.com/office/drawing/2014/main" val="10005"/>
                  </a:ext>
                </a:extLst>
              </a:tr>
              <a:tr h="370840">
                <a:tc>
                  <a:txBody>
                    <a:bodyPr/>
                    <a:lstStyle/>
                    <a:p>
                      <a:r>
                        <a:rPr lang="en-US" sz="2400" u="none" strike="noStrike" kern="1200" baseline="0" dirty="0" smtClean="0"/>
                        <a:t>div strong</a:t>
                      </a:r>
                      <a:endParaRPr lang="en-US" sz="2400" dirty="0"/>
                    </a:p>
                  </a:txBody>
                  <a:tcPr/>
                </a:tc>
                <a:tc>
                  <a:txBody>
                    <a:bodyPr/>
                    <a:lstStyle/>
                    <a:p>
                      <a:r>
                        <a:rPr lang="en-US" sz="2400" u="none" strike="noStrike" kern="1200" baseline="0" dirty="0" smtClean="0"/>
                        <a:t>&lt;strong&gt; elements that are descendants of a &lt;div&gt;</a:t>
                      </a:r>
                    </a:p>
                  </a:txBody>
                  <a:tcPr/>
                </a:tc>
                <a:extLst>
                  <a:ext uri="{0D108BD9-81ED-4DB2-BD59-A6C34878D82A}">
                    <a16:rowId xmlns:a16="http://schemas.microsoft.com/office/drawing/2014/main" val="10006"/>
                  </a:ext>
                </a:extLst>
              </a:tr>
              <a:tr h="370840">
                <a:tc>
                  <a:txBody>
                    <a:bodyPr/>
                    <a:lstStyle/>
                    <a:p>
                      <a:r>
                        <a:rPr lang="en-US" sz="2400" u="none" strike="noStrike" kern="1200" baseline="0" dirty="0" smtClean="0"/>
                        <a:t>h2, div</a:t>
                      </a:r>
                    </a:p>
                    <a:p>
                      <a:endParaRPr lang="en-US" sz="2400" dirty="0"/>
                    </a:p>
                  </a:txBody>
                  <a:tcPr/>
                </a:tc>
                <a:tc>
                  <a:txBody>
                    <a:bodyPr/>
                    <a:lstStyle/>
                    <a:p>
                      <a:r>
                        <a:rPr lang="en-US" sz="2400" u="none" strike="noStrike" kern="1200" baseline="0" dirty="0" smtClean="0"/>
                        <a:t>&lt;h2&gt; elements and &lt;div&gt;s</a:t>
                      </a:r>
                    </a:p>
                  </a:txBody>
                  <a:tcPr/>
                </a:tc>
                <a:extLst>
                  <a:ext uri="{0D108BD9-81ED-4DB2-BD59-A6C34878D82A}">
                    <a16:rowId xmlns:a16="http://schemas.microsoft.com/office/drawing/2014/main" val="10007"/>
                  </a:ext>
                </a:extLst>
              </a:tr>
            </a:tbl>
          </a:graphicData>
        </a:graphic>
      </p:graphicFrame>
      <p:sp>
        <p:nvSpPr>
          <p:cNvPr id="3" name="Rectangle 2"/>
          <p:cNvSpPr/>
          <p:nvPr/>
        </p:nvSpPr>
        <p:spPr>
          <a:xfrm>
            <a:off x="1823482" y="6257991"/>
            <a:ext cx="2223942" cy="369332"/>
          </a:xfrm>
          <a:prstGeom prst="rect">
            <a:avLst/>
          </a:prstGeom>
        </p:spPr>
        <p:txBody>
          <a:bodyPr wrap="none">
            <a:spAutoFit/>
          </a:bodyPr>
          <a:lstStyle/>
          <a:p>
            <a:r>
              <a:rPr lang="en-US" dirty="0" smtClean="0">
                <a:hlinkClick r:id="rId2"/>
              </a:rPr>
              <a:t>CSS Selectors practice</a:t>
            </a:r>
            <a:endParaRPr lang="en-US" dirty="0"/>
          </a:p>
        </p:txBody>
      </p:sp>
    </p:spTree>
    <p:extLst>
      <p:ext uri="{BB962C8B-B14F-4D97-AF65-F5344CB8AC3E}">
        <p14:creationId xmlns:p14="http://schemas.microsoft.com/office/powerpoint/2010/main" val="15523285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i="0" u="none" strike="noStrike" baseline="0" dirty="0" smtClean="0">
                <a:solidFill>
                  <a:srgbClr val="000000"/>
                </a:solidFill>
                <a:latin typeface="Montserrat-Regular"/>
              </a:rPr>
              <a:t>Grouping selectors (</a:t>
            </a:r>
            <a:r>
              <a:rPr lang="en-US" sz="4000" i="0" u="none" strike="noStrike" baseline="0" dirty="0" smtClean="0">
                <a:solidFill>
                  <a:srgbClr val="000000"/>
                </a:solidFill>
                <a:latin typeface="Calibri-Bold"/>
              </a:rPr>
              <a:t>2 Common bugs)</a:t>
            </a:r>
            <a:endParaRPr lang="en-US" sz="4000" i="0" u="none" strike="noStrike" baseline="0" dirty="0" smtClean="0">
              <a:solidFill>
                <a:srgbClr val="000000"/>
              </a:solidFill>
              <a:latin typeface="Montserrat-Regular"/>
            </a:endParaRPr>
          </a:p>
        </p:txBody>
      </p:sp>
      <p:sp>
        <p:nvSpPr>
          <p:cNvPr id="3" name="Content Placeholder 2"/>
          <p:cNvSpPr>
            <a:spLocks noGrp="1"/>
          </p:cNvSpPr>
          <p:nvPr>
            <p:ph idx="1"/>
          </p:nvPr>
        </p:nvSpPr>
        <p:spPr/>
        <p:txBody>
          <a:bodyPr/>
          <a:lstStyle/>
          <a:p>
            <a:pPr marL="182880" lvl="1">
              <a:lnSpc>
                <a:spcPct val="95000"/>
              </a:lnSpc>
              <a:spcBef>
                <a:spcPts val="1400"/>
              </a:spcBef>
              <a:spcAft>
                <a:spcPts val="200"/>
              </a:spcAft>
              <a:buSzPct val="80000"/>
              <a:buFont typeface="Arial" pitchFamily="34" charset="0"/>
              <a:buChar char="•"/>
            </a:pPr>
            <a:r>
              <a:rPr lang="en-US" dirty="0" err="1">
                <a:solidFill>
                  <a:srgbClr val="000000"/>
                </a:solidFill>
                <a:latin typeface="Consolas" panose="020B0609020204030204" pitchFamily="49" charset="0"/>
              </a:rPr>
              <a:t>p.abc</a:t>
            </a:r>
            <a:r>
              <a:rPr lang="en-US" dirty="0">
                <a:solidFill>
                  <a:srgbClr val="000000"/>
                </a:solidFill>
                <a:latin typeface="Consolas" panose="020B0609020204030204" pitchFamily="49" charset="0"/>
              </a:rPr>
              <a:t> </a:t>
            </a:r>
            <a:r>
              <a:rPr lang="en-US" b="1" dirty="0">
                <a:solidFill>
                  <a:srgbClr val="0000FF"/>
                </a:solidFill>
                <a:latin typeface="Calibri-Bold"/>
              </a:rPr>
              <a:t>vs</a:t>
            </a:r>
            <a:r>
              <a:rPr lang="en-US" dirty="0" smtClean="0">
                <a:solidFill>
                  <a:srgbClr val="000000"/>
                </a:solidFill>
                <a:latin typeface="Consolas" panose="020B0609020204030204" pitchFamily="49" charset="0"/>
              </a:rPr>
              <a:t> </a:t>
            </a:r>
            <a:r>
              <a:rPr lang="en-US" dirty="0">
                <a:solidFill>
                  <a:srgbClr val="000000"/>
                </a:solidFill>
                <a:latin typeface="Consolas" panose="020B0609020204030204" pitchFamily="49" charset="0"/>
              </a:rPr>
              <a:t>p .</a:t>
            </a:r>
            <a:r>
              <a:rPr lang="en-US" dirty="0" err="1">
                <a:solidFill>
                  <a:srgbClr val="000000"/>
                </a:solidFill>
                <a:latin typeface="Consolas" panose="020B0609020204030204" pitchFamily="49" charset="0"/>
              </a:rPr>
              <a:t>abc</a:t>
            </a:r>
            <a:endParaRPr lang="en-US" dirty="0">
              <a:solidFill>
                <a:srgbClr val="000000"/>
              </a:solidFill>
              <a:latin typeface="Consolas" panose="020B0609020204030204" pitchFamily="49" charset="0"/>
            </a:endParaRPr>
          </a:p>
          <a:p>
            <a:pPr marL="182880" lvl="1">
              <a:lnSpc>
                <a:spcPct val="95000"/>
              </a:lnSpc>
              <a:spcBef>
                <a:spcPts val="1400"/>
              </a:spcBef>
              <a:spcAft>
                <a:spcPts val="200"/>
              </a:spcAft>
              <a:buSzPct val="80000"/>
              <a:buFont typeface="Arial" pitchFamily="34" charset="0"/>
              <a:buChar char="•"/>
            </a:pPr>
            <a:r>
              <a:rPr lang="en-US" dirty="0">
                <a:solidFill>
                  <a:srgbClr val="000000"/>
                </a:solidFill>
                <a:latin typeface="Consolas" panose="020B0609020204030204" pitchFamily="49" charset="0"/>
              </a:rPr>
              <a:t>A &lt;p&gt; element with the </a:t>
            </a:r>
            <a:r>
              <a:rPr lang="en-US" dirty="0" err="1">
                <a:solidFill>
                  <a:srgbClr val="000000"/>
                </a:solidFill>
                <a:latin typeface="Consolas" panose="020B0609020204030204" pitchFamily="49" charset="0"/>
              </a:rPr>
              <a:t>abc</a:t>
            </a:r>
            <a:r>
              <a:rPr lang="en-US" dirty="0">
                <a:solidFill>
                  <a:srgbClr val="000000"/>
                </a:solidFill>
                <a:latin typeface="Consolas" panose="020B0609020204030204" pitchFamily="49" charset="0"/>
              </a:rPr>
              <a:t> class vs An element with the </a:t>
            </a:r>
            <a:r>
              <a:rPr lang="en-US" dirty="0" err="1">
                <a:solidFill>
                  <a:srgbClr val="000000"/>
                </a:solidFill>
                <a:latin typeface="Consolas" panose="020B0609020204030204" pitchFamily="49" charset="0"/>
              </a:rPr>
              <a:t>abc</a:t>
            </a:r>
            <a:r>
              <a:rPr lang="en-US" dirty="0">
                <a:solidFill>
                  <a:srgbClr val="000000"/>
                </a:solidFill>
                <a:latin typeface="Consolas" panose="020B0609020204030204" pitchFamily="49" charset="0"/>
              </a:rPr>
              <a:t> class that descends from &lt;p&gt;</a:t>
            </a:r>
          </a:p>
          <a:p>
            <a:endParaRPr lang="en-US" sz="2400" b="0" i="0" u="none" strike="noStrike" baseline="0" dirty="0" smtClean="0">
              <a:solidFill>
                <a:srgbClr val="434343"/>
              </a:solidFill>
              <a:latin typeface="Calibri" panose="020F0502020204030204" pitchFamily="34" charset="0"/>
            </a:endParaRPr>
          </a:p>
          <a:p>
            <a:pPr marL="182880" lvl="1">
              <a:lnSpc>
                <a:spcPct val="95000"/>
              </a:lnSpc>
              <a:spcBef>
                <a:spcPts val="1400"/>
              </a:spcBef>
              <a:spcAft>
                <a:spcPts val="200"/>
              </a:spcAft>
              <a:buSzPct val="80000"/>
              <a:buFont typeface="Arial" pitchFamily="34" charset="0"/>
              <a:buChar char="•"/>
            </a:pPr>
            <a:r>
              <a:rPr lang="en-US" dirty="0">
                <a:solidFill>
                  <a:srgbClr val="000000"/>
                </a:solidFill>
                <a:latin typeface="Consolas" panose="020B0609020204030204" pitchFamily="49" charset="0"/>
              </a:rPr>
              <a:t>p .</a:t>
            </a:r>
            <a:r>
              <a:rPr lang="en-US" dirty="0" err="1">
                <a:solidFill>
                  <a:srgbClr val="000000"/>
                </a:solidFill>
                <a:latin typeface="Consolas" panose="020B0609020204030204" pitchFamily="49" charset="0"/>
              </a:rPr>
              <a:t>abc</a:t>
            </a:r>
            <a:r>
              <a:rPr lang="en-US" dirty="0">
                <a:solidFill>
                  <a:srgbClr val="000000"/>
                </a:solidFill>
                <a:latin typeface="Consolas" panose="020B0609020204030204" pitchFamily="49" charset="0"/>
              </a:rPr>
              <a:t> </a:t>
            </a:r>
            <a:r>
              <a:rPr lang="en-US" b="1" dirty="0">
                <a:solidFill>
                  <a:srgbClr val="0000FF"/>
                </a:solidFill>
                <a:latin typeface="Calibri-Bold"/>
              </a:rPr>
              <a:t>vs </a:t>
            </a:r>
            <a:r>
              <a:rPr lang="en-US" dirty="0">
                <a:solidFill>
                  <a:srgbClr val="000000"/>
                </a:solidFill>
                <a:latin typeface="Consolas" panose="020B0609020204030204" pitchFamily="49" charset="0"/>
              </a:rPr>
              <a:t>p, .</a:t>
            </a:r>
            <a:r>
              <a:rPr lang="en-US" dirty="0" err="1">
                <a:solidFill>
                  <a:srgbClr val="000000"/>
                </a:solidFill>
                <a:latin typeface="Consolas" panose="020B0609020204030204" pitchFamily="49" charset="0"/>
              </a:rPr>
              <a:t>abc</a:t>
            </a:r>
            <a:endParaRPr lang="en-US" dirty="0">
              <a:solidFill>
                <a:srgbClr val="000000"/>
              </a:solidFill>
              <a:latin typeface="Consolas" panose="020B0609020204030204" pitchFamily="49" charset="0"/>
            </a:endParaRPr>
          </a:p>
          <a:p>
            <a:pPr marL="182880" lvl="1">
              <a:lnSpc>
                <a:spcPct val="95000"/>
              </a:lnSpc>
              <a:spcBef>
                <a:spcPts val="1400"/>
              </a:spcBef>
              <a:spcAft>
                <a:spcPts val="200"/>
              </a:spcAft>
              <a:buSzPct val="80000"/>
              <a:buFont typeface="Arial" pitchFamily="34" charset="0"/>
              <a:buChar char="•"/>
            </a:pPr>
            <a:r>
              <a:rPr lang="en-US" dirty="0">
                <a:solidFill>
                  <a:srgbClr val="000000"/>
                </a:solidFill>
                <a:latin typeface="Consolas" panose="020B0609020204030204" pitchFamily="49" charset="0"/>
              </a:rPr>
              <a:t>An element with the </a:t>
            </a:r>
            <a:r>
              <a:rPr lang="en-US" dirty="0" err="1">
                <a:solidFill>
                  <a:srgbClr val="000000"/>
                </a:solidFill>
                <a:latin typeface="Consolas" panose="020B0609020204030204" pitchFamily="49" charset="0"/>
              </a:rPr>
              <a:t>abc</a:t>
            </a:r>
            <a:r>
              <a:rPr lang="en-US" dirty="0">
                <a:solidFill>
                  <a:srgbClr val="000000"/>
                </a:solidFill>
                <a:latin typeface="Consolas" panose="020B0609020204030204" pitchFamily="49" charset="0"/>
              </a:rPr>
              <a:t> class that descends from &lt;p&gt; vs All &lt;p&gt; elements and all elements with the </a:t>
            </a:r>
            <a:r>
              <a:rPr lang="en-US" dirty="0" err="1">
                <a:solidFill>
                  <a:srgbClr val="000000"/>
                </a:solidFill>
                <a:latin typeface="Consolas" panose="020B0609020204030204" pitchFamily="49" charset="0"/>
              </a:rPr>
              <a:t>abc</a:t>
            </a:r>
            <a:r>
              <a:rPr lang="en-US" dirty="0">
                <a:solidFill>
                  <a:srgbClr val="000000"/>
                </a:solidFill>
                <a:latin typeface="Consolas" panose="020B0609020204030204" pitchFamily="49" charset="0"/>
              </a:rPr>
              <a:t> class</a:t>
            </a:r>
          </a:p>
          <a:p>
            <a:endParaRPr lang="en-US" b="1" i="0" u="none" strike="noStrike" baseline="0" dirty="0" smtClean="0">
              <a:solidFill>
                <a:srgbClr val="000000"/>
              </a:solidFill>
              <a:latin typeface="Calibri-Bold"/>
            </a:endParaRPr>
          </a:p>
          <a:p>
            <a:endParaRPr lang="en-US" dirty="0"/>
          </a:p>
        </p:txBody>
      </p:sp>
    </p:spTree>
    <p:extLst>
      <p:ext uri="{BB962C8B-B14F-4D97-AF65-F5344CB8AC3E}">
        <p14:creationId xmlns:p14="http://schemas.microsoft.com/office/powerpoint/2010/main" val="356110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Combining selectors</a:t>
            </a:r>
            <a:endParaRPr lang="en-US" dirty="0"/>
          </a:p>
        </p:txBody>
      </p:sp>
      <p:sp>
        <p:nvSpPr>
          <p:cNvPr id="3" name="Content Placeholder 2"/>
          <p:cNvSpPr>
            <a:spLocks noGrp="1"/>
          </p:cNvSpPr>
          <p:nvPr>
            <p:ph idx="1"/>
          </p:nvPr>
        </p:nvSpPr>
        <p:spPr>
          <a:xfrm>
            <a:off x="838200" y="1880217"/>
            <a:ext cx="10515600" cy="4351338"/>
          </a:xfrm>
        </p:spPr>
        <p:txBody>
          <a:bodyPr>
            <a:normAutofit/>
          </a:bodyPr>
          <a:lstStyle/>
          <a:p>
            <a:pPr marL="0" indent="0">
              <a:buNone/>
            </a:pPr>
            <a:r>
              <a:rPr lang="en-US" dirty="0" smtClean="0"/>
              <a:t>#</a:t>
            </a:r>
            <a:r>
              <a:rPr lang="en-US" dirty="0"/>
              <a:t>main </a:t>
            </a:r>
            <a:r>
              <a:rPr lang="en-US" dirty="0" err="1"/>
              <a:t>li.important</a:t>
            </a:r>
            <a:r>
              <a:rPr lang="en-US" dirty="0"/>
              <a:t> strong {</a:t>
            </a:r>
          </a:p>
          <a:p>
            <a:pPr marL="0" indent="0">
              <a:buNone/>
            </a:pPr>
            <a:r>
              <a:rPr lang="en-US" dirty="0"/>
              <a:t>color: red;</a:t>
            </a:r>
          </a:p>
          <a:p>
            <a:pPr marL="0" indent="0">
              <a:buNone/>
            </a:pPr>
            <a:r>
              <a:rPr lang="en-US" dirty="0"/>
              <a:t>}</a:t>
            </a:r>
          </a:p>
          <a:p>
            <a:pPr marL="0" indent="0">
              <a:buNone/>
            </a:pPr>
            <a:r>
              <a:rPr lang="en-US" b="1" dirty="0"/>
              <a:t>Q: </a:t>
            </a:r>
            <a:r>
              <a:rPr lang="en-US" b="1" dirty="0" smtClean="0"/>
              <a:t>What does this select?</a:t>
            </a:r>
          </a:p>
          <a:p>
            <a:pPr marL="0" indent="0">
              <a:buNone/>
            </a:pPr>
            <a:r>
              <a:rPr lang="en-US" b="1" dirty="0" smtClean="0"/>
              <a:t>A</a:t>
            </a:r>
            <a:r>
              <a:rPr lang="en-US" b="1" dirty="0"/>
              <a:t>: Read from right to left:</a:t>
            </a:r>
          </a:p>
          <a:p>
            <a:pPr marL="0" indent="0">
              <a:buNone/>
            </a:pPr>
            <a:r>
              <a:rPr lang="en-US" dirty="0" smtClean="0"/>
              <a:t>&lt;</a:t>
            </a:r>
            <a:r>
              <a:rPr lang="en-US" dirty="0"/>
              <a:t>strong&gt; tags that are children of &lt;li&gt; tags that have </a:t>
            </a:r>
            <a:r>
              <a:rPr lang="en-US" dirty="0" smtClean="0"/>
              <a:t>an "</a:t>
            </a:r>
            <a:r>
              <a:rPr lang="en-US" dirty="0"/>
              <a:t>important" class that are children of the element with </a:t>
            </a:r>
            <a:r>
              <a:rPr lang="en-US" dirty="0" smtClean="0"/>
              <a:t>the "</a:t>
            </a:r>
            <a:r>
              <a:rPr lang="en-US" dirty="0"/>
              <a:t>main" id.</a:t>
            </a:r>
          </a:p>
        </p:txBody>
      </p:sp>
    </p:spTree>
    <p:extLst>
      <p:ext uri="{BB962C8B-B14F-4D97-AF65-F5344CB8AC3E}">
        <p14:creationId xmlns:p14="http://schemas.microsoft.com/office/powerpoint/2010/main" val="263291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IN" dirty="0" err="1" smtClean="0"/>
              <a:t>Combinators</a:t>
            </a:r>
            <a:endParaRPr lang="en-IN" dirty="0"/>
          </a:p>
        </p:txBody>
      </p:sp>
      <p:sp>
        <p:nvSpPr>
          <p:cNvPr id="3" name="Content Placeholder 2"/>
          <p:cNvSpPr>
            <a:spLocks noGrp="1"/>
          </p:cNvSpPr>
          <p:nvPr>
            <p:ph idx="1"/>
          </p:nvPr>
        </p:nvSpPr>
        <p:spPr/>
        <p:txBody>
          <a:bodyPr>
            <a:normAutofit/>
          </a:bodyPr>
          <a:lstStyle/>
          <a:p>
            <a:r>
              <a:rPr lang="en-IN" dirty="0"/>
              <a:t>Descendant </a:t>
            </a:r>
            <a:r>
              <a:rPr lang="en-IN" dirty="0" err="1"/>
              <a:t>combinator</a:t>
            </a:r>
            <a:r>
              <a:rPr lang="en-IN" dirty="0"/>
              <a:t> (space separated)</a:t>
            </a:r>
          </a:p>
          <a:p>
            <a:pPr lvl="1">
              <a:buFontTx/>
              <a:buChar char="-"/>
            </a:pPr>
            <a:r>
              <a:rPr lang="en-IN" dirty="0"/>
              <a:t>target all instances of single element type that lie within another. </a:t>
            </a:r>
            <a:r>
              <a:rPr lang="en-IN" dirty="0" err="1"/>
              <a:t>eg</a:t>
            </a:r>
            <a:r>
              <a:rPr lang="en-IN" dirty="0"/>
              <a:t>.</a:t>
            </a:r>
          </a:p>
          <a:p>
            <a:pPr lvl="1">
              <a:buFontTx/>
              <a:buChar char="-"/>
            </a:pPr>
            <a:r>
              <a:rPr lang="en-IN" dirty="0"/>
              <a:t>article p {…}</a:t>
            </a:r>
          </a:p>
          <a:p>
            <a:r>
              <a:rPr lang="en-IN" dirty="0"/>
              <a:t>Child </a:t>
            </a:r>
            <a:r>
              <a:rPr lang="en-IN" dirty="0" err="1"/>
              <a:t>combinator</a:t>
            </a:r>
            <a:r>
              <a:rPr lang="en-IN" dirty="0"/>
              <a:t> (use &gt; operator)</a:t>
            </a:r>
          </a:p>
          <a:p>
            <a:pPr lvl="1"/>
            <a:r>
              <a:rPr lang="en-IN" dirty="0"/>
              <a:t>target immediate child of parent</a:t>
            </a:r>
          </a:p>
          <a:p>
            <a:pPr lvl="1"/>
            <a:r>
              <a:rPr lang="en-IN" dirty="0"/>
              <a:t>article &gt; p {…}</a:t>
            </a:r>
          </a:p>
          <a:p>
            <a:r>
              <a:rPr lang="en-IN" dirty="0"/>
              <a:t>Adjacent sibling (use + operator)</a:t>
            </a:r>
          </a:p>
          <a:p>
            <a:pPr lvl="1"/>
            <a:r>
              <a:rPr lang="en-IN" dirty="0"/>
              <a:t>next to each other and having common parent </a:t>
            </a:r>
          </a:p>
          <a:p>
            <a:pPr lvl="1"/>
            <a:r>
              <a:rPr lang="en-IN" dirty="0"/>
              <a:t>h2 + p {..}</a:t>
            </a:r>
          </a:p>
          <a:p>
            <a:r>
              <a:rPr lang="en-IN" dirty="0"/>
              <a:t>General sibling </a:t>
            </a:r>
            <a:r>
              <a:rPr lang="en-IN" dirty="0" err="1"/>
              <a:t>combinator</a:t>
            </a:r>
            <a:r>
              <a:rPr lang="en-IN" dirty="0"/>
              <a:t> (use ~ operator)</a:t>
            </a:r>
          </a:p>
          <a:p>
            <a:pPr lvl="1"/>
            <a:r>
              <a:rPr lang="en-IN" dirty="0"/>
              <a:t>having same parent (need not to be next to each other)</a:t>
            </a:r>
          </a:p>
          <a:p>
            <a:pPr lvl="1"/>
            <a:r>
              <a:rPr lang="en-IN" dirty="0"/>
              <a:t>h2 ~ </a:t>
            </a:r>
            <a:r>
              <a:rPr lang="en-IN" dirty="0" err="1"/>
              <a:t>ul</a:t>
            </a:r>
            <a:r>
              <a:rPr lang="en-IN" dirty="0"/>
              <a:t> {…}</a:t>
            </a:r>
          </a:p>
        </p:txBody>
      </p:sp>
    </p:spTree>
    <p:extLst>
      <p:ext uri="{BB962C8B-B14F-4D97-AF65-F5344CB8AC3E}">
        <p14:creationId xmlns:p14="http://schemas.microsoft.com/office/powerpoint/2010/main" val="38354680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a:t>
            </a:r>
            <a:r>
              <a:rPr lang="en-IN" dirty="0" smtClean="0"/>
              <a:t>seudo-classes and elements</a:t>
            </a:r>
            <a:endParaRPr lang="en-IN" dirty="0"/>
          </a:p>
        </p:txBody>
      </p:sp>
      <p:sp>
        <p:nvSpPr>
          <p:cNvPr id="3" name="Content Placeholder 2"/>
          <p:cNvSpPr>
            <a:spLocks noGrp="1"/>
          </p:cNvSpPr>
          <p:nvPr>
            <p:ph idx="1"/>
          </p:nvPr>
        </p:nvSpPr>
        <p:spPr/>
        <p:txBody>
          <a:bodyPr>
            <a:normAutofit/>
          </a:bodyPr>
          <a:lstStyle/>
          <a:p>
            <a:r>
              <a:rPr lang="en-IN" dirty="0" smtClean="0"/>
              <a:t>Pseudo-classes</a:t>
            </a:r>
          </a:p>
          <a:p>
            <a:pPr lvl="1"/>
            <a:r>
              <a:rPr lang="en-IN" dirty="0" smtClean="0"/>
              <a:t>:first-child, :last-child, :nth-child, :</a:t>
            </a:r>
            <a:r>
              <a:rPr lang="en-IN" dirty="0"/>
              <a:t>nth-last-child, :only-child</a:t>
            </a:r>
          </a:p>
          <a:p>
            <a:pPr lvl="1"/>
            <a:r>
              <a:rPr lang="en-IN" dirty="0"/>
              <a:t>:</a:t>
            </a:r>
            <a:r>
              <a:rPr lang="en-IN" dirty="0" smtClean="0"/>
              <a:t>first-of-type, </a:t>
            </a:r>
            <a:r>
              <a:rPr lang="en-IN" dirty="0" err="1" smtClean="0"/>
              <a:t>div#introduction</a:t>
            </a:r>
            <a:r>
              <a:rPr lang="en-IN" dirty="0" smtClean="0"/>
              <a:t> </a:t>
            </a:r>
            <a:r>
              <a:rPr lang="en-IN" dirty="0"/>
              <a:t>p:first-of-type::first-letter { }</a:t>
            </a:r>
          </a:p>
          <a:p>
            <a:pPr lvl="1"/>
            <a:r>
              <a:rPr lang="en-IN" dirty="0"/>
              <a:t>:</a:t>
            </a:r>
            <a:r>
              <a:rPr lang="en-IN" dirty="0" smtClean="0"/>
              <a:t>last-of-type</a:t>
            </a:r>
          </a:p>
          <a:p>
            <a:pPr lvl="1"/>
            <a:r>
              <a:rPr lang="en-IN" dirty="0" smtClean="0"/>
              <a:t>:disabled</a:t>
            </a:r>
            <a:r>
              <a:rPr lang="en-IN" dirty="0"/>
              <a:t>, :enabled, :checked	</a:t>
            </a:r>
            <a:endParaRPr lang="en-US" dirty="0"/>
          </a:p>
          <a:p>
            <a:pPr lvl="1"/>
            <a:endParaRPr lang="en-IN" dirty="0"/>
          </a:p>
          <a:p>
            <a:endParaRPr lang="en-IN" dirty="0" smtClean="0"/>
          </a:p>
          <a:p>
            <a:r>
              <a:rPr lang="en-IN" dirty="0" smtClean="0"/>
              <a:t>Pseudo </a:t>
            </a:r>
            <a:r>
              <a:rPr lang="en-IN" dirty="0"/>
              <a:t>elements:</a:t>
            </a:r>
          </a:p>
          <a:p>
            <a:pPr lvl="1"/>
            <a:r>
              <a:rPr lang="en-IN" dirty="0"/>
              <a:t>::first-letter, ::first-line, ::before, ::</a:t>
            </a:r>
            <a:r>
              <a:rPr lang="en-IN" dirty="0" smtClean="0"/>
              <a:t>after</a:t>
            </a:r>
          </a:p>
          <a:p>
            <a:pPr marL="457200" lvl="1" indent="0">
              <a:buNone/>
            </a:pPr>
            <a:r>
              <a:rPr lang="en-IN" dirty="0" smtClean="0"/>
              <a:t>E.g. </a:t>
            </a:r>
            <a:r>
              <a:rPr lang="en-IN" dirty="0" err="1" smtClean="0"/>
              <a:t>div#introduction</a:t>
            </a:r>
            <a:r>
              <a:rPr lang="en-IN" dirty="0" smtClean="0"/>
              <a:t> </a:t>
            </a:r>
            <a:r>
              <a:rPr lang="en-IN" dirty="0"/>
              <a:t>p:first-child </a:t>
            </a:r>
            <a:r>
              <a:rPr lang="en-IN" dirty="0" smtClean="0"/>
              <a:t>{…}</a:t>
            </a:r>
            <a:endParaRPr lang="en-IN" dirty="0"/>
          </a:p>
          <a:p>
            <a:pPr lvl="1"/>
            <a:endParaRPr lang="en-IN" dirty="0"/>
          </a:p>
          <a:p>
            <a:endParaRPr lang="en-IN" dirty="0"/>
          </a:p>
        </p:txBody>
      </p:sp>
    </p:spTree>
    <p:extLst>
      <p:ext uri="{BB962C8B-B14F-4D97-AF65-F5344CB8AC3E}">
        <p14:creationId xmlns:p14="http://schemas.microsoft.com/office/powerpoint/2010/main" val="307263576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Pseudo-classes and pseudo-elements</a:t>
            </a:r>
            <a:endParaRPr lang="en-IN" dirty="0"/>
          </a:p>
        </p:txBody>
      </p:sp>
      <p:sp>
        <p:nvSpPr>
          <p:cNvPr id="3" name="Content Placeholder 2"/>
          <p:cNvSpPr>
            <a:spLocks noGrp="1"/>
          </p:cNvSpPr>
          <p:nvPr>
            <p:ph idx="1"/>
          </p:nvPr>
        </p:nvSpPr>
        <p:spPr/>
        <p:txBody>
          <a:bodyPr>
            <a:normAutofit/>
          </a:bodyPr>
          <a:lstStyle/>
          <a:p>
            <a:r>
              <a:rPr lang="en-IN" dirty="0" smtClean="0"/>
              <a:t>What is the difference?</a:t>
            </a:r>
          </a:p>
          <a:p>
            <a:r>
              <a:rPr lang="en-US" dirty="0"/>
              <a:t>Purpose:</a:t>
            </a:r>
          </a:p>
          <a:p>
            <a:pPr lvl="1"/>
            <a:r>
              <a:rPr lang="en-US" dirty="0"/>
              <a:t>Pseudo-Classes: Apply styles based on an element's state or position in the document (e.g., :hover, :focus, :nth-child).</a:t>
            </a:r>
          </a:p>
          <a:p>
            <a:pPr lvl="1"/>
            <a:r>
              <a:rPr lang="en-US" dirty="0"/>
              <a:t>Pseudo-Elements: Apply styles to specific parts of an element or add content before or after an element’s content (e.g., ::before, ::after, ::first-line).</a:t>
            </a:r>
          </a:p>
          <a:p>
            <a:r>
              <a:rPr lang="en-US" dirty="0"/>
              <a:t>Syntax:</a:t>
            </a:r>
          </a:p>
          <a:p>
            <a:pPr lvl="1"/>
            <a:r>
              <a:rPr lang="en-US" dirty="0"/>
              <a:t>Pseudo-Classes: Use a single colon (:) (e.g., :hover).</a:t>
            </a:r>
          </a:p>
          <a:p>
            <a:pPr lvl="1"/>
            <a:r>
              <a:rPr lang="en-US" dirty="0"/>
              <a:t>Pseudo-Elements: Use double colons (::) (e.g., ::before, ::after).</a:t>
            </a:r>
          </a:p>
          <a:p>
            <a:r>
              <a:rPr lang="en-US" dirty="0"/>
              <a:t>Application:</a:t>
            </a:r>
          </a:p>
          <a:p>
            <a:pPr lvl="1"/>
            <a:r>
              <a:rPr lang="en-US" dirty="0"/>
              <a:t>Pseudo-Classes: Used for styling based on the user’s interaction or the element’s position.</a:t>
            </a:r>
          </a:p>
          <a:p>
            <a:pPr lvl="1"/>
            <a:r>
              <a:rPr lang="en-US" dirty="0"/>
              <a:t>Pseudo-Elements: Used for styling parts of an element or inserting content.</a:t>
            </a:r>
          </a:p>
          <a:p>
            <a:endParaRPr lang="en-US" dirty="0"/>
          </a:p>
          <a:p>
            <a:endParaRPr lang="en-IN" dirty="0"/>
          </a:p>
        </p:txBody>
      </p:sp>
    </p:spTree>
    <p:extLst>
      <p:ext uri="{BB962C8B-B14F-4D97-AF65-F5344CB8AC3E}">
        <p14:creationId xmlns:p14="http://schemas.microsoft.com/office/powerpoint/2010/main" val="333327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0788" y="39119"/>
            <a:ext cx="9692640" cy="1325562"/>
          </a:xfrm>
        </p:spPr>
        <p:txBody>
          <a:bodyPr/>
          <a:lstStyle/>
          <a:p>
            <a:r>
              <a:rPr lang="en-US" dirty="0" smtClean="0"/>
              <a:t>CSS pseudo-classes</a:t>
            </a:r>
            <a:endParaRPr lang="en-US" dirty="0"/>
          </a:p>
        </p:txBody>
      </p:sp>
      <p:sp>
        <p:nvSpPr>
          <p:cNvPr id="3" name="Content Placeholder 2"/>
          <p:cNvSpPr>
            <a:spLocks noGrp="1"/>
          </p:cNvSpPr>
          <p:nvPr>
            <p:ph idx="1"/>
          </p:nvPr>
        </p:nvSpPr>
        <p:spPr>
          <a:xfrm>
            <a:off x="838200" y="1402545"/>
            <a:ext cx="10515600" cy="4351338"/>
          </a:xfrm>
        </p:spPr>
        <p:txBody>
          <a:bodyPr/>
          <a:lstStyle/>
          <a:p>
            <a:r>
              <a:rPr lang="en-US" dirty="0"/>
              <a:t>Link-related CSS</a:t>
            </a:r>
          </a:p>
          <a:p>
            <a:r>
              <a:rPr lang="en-US" dirty="0" smtClean="0"/>
              <a:t>How </a:t>
            </a:r>
            <a:r>
              <a:rPr lang="en-US" dirty="0"/>
              <a:t>do we style </a:t>
            </a:r>
            <a:r>
              <a:rPr lang="en-US" b="1" dirty="0"/>
              <a:t>visited </a:t>
            </a:r>
            <a:r>
              <a:rPr lang="en-US" dirty="0"/>
              <a:t>links differently from </a:t>
            </a:r>
            <a:r>
              <a:rPr lang="en-US" b="1" dirty="0"/>
              <a:t>unvisited</a:t>
            </a:r>
            <a:r>
              <a:rPr lang="en-US" dirty="0" smtClean="0"/>
              <a:t>?</a:t>
            </a:r>
          </a:p>
          <a:p>
            <a:r>
              <a:rPr lang="en-US" b="1" dirty="0"/>
              <a:t>pseudo-classes</a:t>
            </a:r>
            <a:r>
              <a:rPr lang="en-US" dirty="0"/>
              <a:t>: special keywords you can append </a:t>
            </a:r>
            <a:r>
              <a:rPr lang="en-US" dirty="0" smtClean="0"/>
              <a:t>to selectors</a:t>
            </a:r>
            <a:r>
              <a:rPr lang="en-US" dirty="0"/>
              <a:t>, specifying a </a:t>
            </a:r>
            <a:r>
              <a:rPr lang="en-US" i="1" dirty="0"/>
              <a:t>state </a:t>
            </a:r>
            <a:r>
              <a:rPr lang="en-US" dirty="0"/>
              <a:t>or </a:t>
            </a:r>
            <a:r>
              <a:rPr lang="en-US" i="1" dirty="0"/>
              <a:t>property </a:t>
            </a:r>
            <a:r>
              <a:rPr lang="en-US" dirty="0"/>
              <a:t>of the selector</a:t>
            </a:r>
          </a:p>
        </p:txBody>
      </p:sp>
      <p:pic>
        <p:nvPicPr>
          <p:cNvPr id="4" name="Picture 3"/>
          <p:cNvPicPr>
            <a:picLocks noChangeAspect="1"/>
          </p:cNvPicPr>
          <p:nvPr/>
        </p:nvPicPr>
        <p:blipFill>
          <a:blip r:embed="rId2"/>
          <a:stretch>
            <a:fillRect/>
          </a:stretch>
        </p:blipFill>
        <p:spPr>
          <a:xfrm>
            <a:off x="2049020" y="3102673"/>
            <a:ext cx="7496175" cy="2914650"/>
          </a:xfrm>
          <a:prstGeom prst="rect">
            <a:avLst/>
          </a:prstGeom>
        </p:spPr>
      </p:pic>
    </p:spTree>
    <p:extLst>
      <p:ext uri="{BB962C8B-B14F-4D97-AF65-F5344CB8AC3E}">
        <p14:creationId xmlns:p14="http://schemas.microsoft.com/office/powerpoint/2010/main" val="5955231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More selectors</a:t>
            </a:r>
            <a:endParaRPr lang="en-IN" dirty="0"/>
          </a:p>
        </p:txBody>
      </p:sp>
      <p:sp>
        <p:nvSpPr>
          <p:cNvPr id="3" name="Content Placeholder 2"/>
          <p:cNvSpPr>
            <a:spLocks noGrp="1"/>
          </p:cNvSpPr>
          <p:nvPr>
            <p:ph idx="1"/>
          </p:nvPr>
        </p:nvSpPr>
        <p:spPr/>
        <p:txBody>
          <a:bodyPr/>
          <a:lstStyle/>
          <a:p>
            <a:pPr marL="457200" lvl="1" indent="0">
              <a:buNone/>
            </a:pPr>
            <a:r>
              <a:rPr lang="en-IN" dirty="0"/>
              <a:t>Attribute and substring selectors</a:t>
            </a:r>
            <a:endParaRPr lang="en-IN" dirty="0" smtClean="0"/>
          </a:p>
          <a:p>
            <a:pPr lvl="1"/>
            <a:r>
              <a:rPr lang="en-IN" dirty="0" smtClean="0"/>
              <a:t>style </a:t>
            </a:r>
            <a:r>
              <a:rPr lang="en-IN" dirty="0"/>
              <a:t>an element if a given attribute exists</a:t>
            </a:r>
          </a:p>
          <a:p>
            <a:pPr lvl="1"/>
            <a:r>
              <a:rPr lang="en-IN" dirty="0"/>
              <a:t>selector[attribute]</a:t>
            </a:r>
          </a:p>
          <a:p>
            <a:pPr lvl="1"/>
            <a:endParaRPr lang="en-IN" dirty="0"/>
          </a:p>
          <a:p>
            <a:pPr marL="0" indent="0">
              <a:buNone/>
            </a:pPr>
            <a:r>
              <a:rPr lang="en-IN" dirty="0" smtClean="0"/>
              <a:t>	input[required</a:t>
            </a:r>
            <a:r>
              <a:rPr lang="en-IN" dirty="0"/>
              <a:t>] {….}</a:t>
            </a:r>
          </a:p>
          <a:p>
            <a:pPr marL="0" indent="0">
              <a:buNone/>
            </a:pPr>
            <a:r>
              <a:rPr lang="en-IN" dirty="0" smtClean="0"/>
              <a:t>	input[type</a:t>
            </a:r>
            <a:r>
              <a:rPr lang="en-IN" dirty="0"/>
              <a:t>=“checkbox”] { …. }</a:t>
            </a:r>
          </a:p>
          <a:p>
            <a:pPr marL="0" indent="0">
              <a:buNone/>
            </a:pPr>
            <a:endParaRPr lang="en-IN" dirty="0" smtClean="0"/>
          </a:p>
          <a:p>
            <a:pPr marL="0" indent="0">
              <a:buNone/>
            </a:pPr>
            <a:endParaRPr lang="en-IN" dirty="0"/>
          </a:p>
          <a:p>
            <a:pPr marL="0" indent="0">
              <a:buNone/>
            </a:pPr>
            <a:endParaRPr lang="en-IN" dirty="0"/>
          </a:p>
          <a:p>
            <a:endParaRPr lang="en-IN" dirty="0"/>
          </a:p>
          <a:p>
            <a:endParaRPr lang="en-US" dirty="0"/>
          </a:p>
        </p:txBody>
      </p:sp>
    </p:spTree>
    <p:extLst>
      <p:ext uri="{BB962C8B-B14F-4D97-AF65-F5344CB8AC3E}">
        <p14:creationId xmlns:p14="http://schemas.microsoft.com/office/powerpoint/2010/main" val="23055765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endParaRPr lang="en-US" sz="3600" dirty="0" smtClean="0"/>
          </a:p>
          <a:p>
            <a:pPr marL="0" indent="0" algn="ctr">
              <a:buNone/>
            </a:pPr>
            <a:endParaRPr lang="en-US" sz="3600" dirty="0" smtClean="0"/>
          </a:p>
          <a:p>
            <a:pPr marL="0" indent="0" algn="ctr">
              <a:buNone/>
            </a:pPr>
            <a:r>
              <a:rPr lang="en-US" sz="3600" dirty="0" smtClean="0"/>
              <a:t>Relative font sizes: percent </a:t>
            </a:r>
            <a:r>
              <a:rPr lang="en-US" sz="3600" dirty="0" err="1" smtClean="0"/>
              <a:t>em</a:t>
            </a:r>
            <a:r>
              <a:rPr lang="en-US" sz="3600" dirty="0" smtClean="0"/>
              <a:t>, rem</a:t>
            </a:r>
            <a:endParaRPr lang="en-US" sz="3600" dirty="0"/>
          </a:p>
        </p:txBody>
      </p:sp>
    </p:spTree>
    <p:extLst>
      <p:ext uri="{BB962C8B-B14F-4D97-AF65-F5344CB8AC3E}">
        <p14:creationId xmlns:p14="http://schemas.microsoft.com/office/powerpoint/2010/main" val="16114133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distance units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92561629"/>
              </p:ext>
            </p:extLst>
          </p:nvPr>
        </p:nvGraphicFramePr>
        <p:xfrm>
          <a:off x="2763252" y="2475776"/>
          <a:ext cx="5080000" cy="3708400"/>
        </p:xfrm>
        <a:graphic>
          <a:graphicData uri="http://schemas.openxmlformats.org/drawingml/2006/table">
            <a:tbl>
              <a:tblPr firstRow="1" bandRow="1">
                <a:tableStyleId>{5C22544A-7EE6-4342-B048-85BDC9FD1C3A}</a:tableStyleId>
              </a:tblPr>
              <a:tblGrid>
                <a:gridCol w="928914">
                  <a:extLst>
                    <a:ext uri="{9D8B030D-6E8A-4147-A177-3AD203B41FA5}">
                      <a16:colId xmlns:a16="http://schemas.microsoft.com/office/drawing/2014/main" val="20000"/>
                    </a:ext>
                  </a:extLst>
                </a:gridCol>
                <a:gridCol w="4151086">
                  <a:extLst>
                    <a:ext uri="{9D8B030D-6E8A-4147-A177-3AD203B41FA5}">
                      <a16:colId xmlns:a16="http://schemas.microsoft.com/office/drawing/2014/main" val="20001"/>
                    </a:ext>
                  </a:extLst>
                </a:gridCol>
              </a:tblGrid>
              <a:tr h="370840">
                <a:tc gridSpan="2">
                  <a:txBody>
                    <a:bodyPr/>
                    <a:lstStyle/>
                    <a:p>
                      <a:pPr algn="ctr"/>
                      <a:r>
                        <a:rPr lang="en-US" sz="1800" b="0" i="0" dirty="0">
                          <a:solidFill>
                            <a:srgbClr val="000000"/>
                          </a:solidFill>
                          <a:effectLst/>
                          <a:latin typeface="ArialMT"/>
                        </a:rPr>
                        <a:t>Absolute</a:t>
                      </a:r>
                      <a:endParaRPr lang="en-US" dirty="0">
                        <a:effectLst/>
                      </a:endParaRPr>
                    </a:p>
                  </a:txBody>
                  <a:tcPr anchor="ctr"/>
                </a:tc>
                <a:tc hMerge="1">
                  <a:txBody>
                    <a:bodyPr/>
                    <a:lstStyle/>
                    <a:p>
                      <a:endParaRPr lang="en-US"/>
                    </a:p>
                  </a:txBody>
                  <a:tcPr/>
                </a:tc>
                <a:extLst>
                  <a:ext uri="{0D108BD9-81ED-4DB2-BD59-A6C34878D82A}">
                    <a16:rowId xmlns:a16="http://schemas.microsoft.com/office/drawing/2014/main" val="10000"/>
                  </a:ext>
                </a:extLst>
              </a:tr>
              <a:tr h="370840">
                <a:tc>
                  <a:txBody>
                    <a:bodyPr/>
                    <a:lstStyle/>
                    <a:p>
                      <a:r>
                        <a:rPr lang="en-US" sz="1600" b="0" i="0" dirty="0">
                          <a:solidFill>
                            <a:srgbClr val="000000"/>
                          </a:solidFill>
                          <a:effectLst/>
                          <a:latin typeface="ArialMT"/>
                        </a:rPr>
                        <a:t>2px </a:t>
                      </a:r>
                      <a:endParaRPr lang="en-US" dirty="0">
                        <a:effectLst/>
                      </a:endParaRPr>
                    </a:p>
                  </a:txBody>
                  <a:tcPr anchor="ctr"/>
                </a:tc>
                <a:tc>
                  <a:txBody>
                    <a:bodyPr/>
                    <a:lstStyle/>
                    <a:p>
                      <a:r>
                        <a:rPr lang="en-US" sz="1600" b="0" i="0" dirty="0">
                          <a:solidFill>
                            <a:srgbClr val="000000"/>
                          </a:solidFill>
                          <a:effectLst/>
                          <a:latin typeface="ArialMT"/>
                        </a:rPr>
                        <a:t>pixels</a:t>
                      </a:r>
                      <a:endParaRPr lang="en-US" dirty="0">
                        <a:effectLst/>
                      </a:endParaRPr>
                    </a:p>
                  </a:txBody>
                  <a:tcPr anchor="ctr"/>
                </a:tc>
                <a:extLst>
                  <a:ext uri="{0D108BD9-81ED-4DB2-BD59-A6C34878D82A}">
                    <a16:rowId xmlns:a16="http://schemas.microsoft.com/office/drawing/2014/main" val="10001"/>
                  </a:ext>
                </a:extLst>
              </a:tr>
              <a:tr h="370840">
                <a:tc>
                  <a:txBody>
                    <a:bodyPr/>
                    <a:lstStyle/>
                    <a:p>
                      <a:r>
                        <a:rPr lang="en-US" sz="1600" b="0" i="0" dirty="0">
                          <a:solidFill>
                            <a:srgbClr val="000000"/>
                          </a:solidFill>
                          <a:effectLst/>
                          <a:latin typeface="ArialMT"/>
                        </a:rPr>
                        <a:t>1mm </a:t>
                      </a:r>
                      <a:endParaRPr lang="en-US" dirty="0">
                        <a:effectLst/>
                      </a:endParaRPr>
                    </a:p>
                  </a:txBody>
                  <a:tcPr anchor="ctr"/>
                </a:tc>
                <a:tc>
                  <a:txBody>
                    <a:bodyPr/>
                    <a:lstStyle/>
                    <a:p>
                      <a:r>
                        <a:rPr lang="en-US" sz="1600" b="0" i="0" dirty="0">
                          <a:solidFill>
                            <a:srgbClr val="000000"/>
                          </a:solidFill>
                          <a:effectLst/>
                          <a:latin typeface="ArialMT"/>
                        </a:rPr>
                        <a:t>millimeters</a:t>
                      </a:r>
                      <a:endParaRPr lang="en-US" dirty="0">
                        <a:effectLst/>
                      </a:endParaRPr>
                    </a:p>
                  </a:txBody>
                  <a:tcPr anchor="ctr"/>
                </a:tc>
                <a:extLst>
                  <a:ext uri="{0D108BD9-81ED-4DB2-BD59-A6C34878D82A}">
                    <a16:rowId xmlns:a16="http://schemas.microsoft.com/office/drawing/2014/main" val="10002"/>
                  </a:ext>
                </a:extLst>
              </a:tr>
              <a:tr h="370840">
                <a:tc>
                  <a:txBody>
                    <a:bodyPr/>
                    <a:lstStyle/>
                    <a:p>
                      <a:r>
                        <a:rPr lang="en-US" sz="1600" b="0" i="0" dirty="0">
                          <a:solidFill>
                            <a:srgbClr val="000000"/>
                          </a:solidFill>
                          <a:effectLst/>
                          <a:latin typeface="ArialMT"/>
                        </a:rPr>
                        <a:t>2cm </a:t>
                      </a:r>
                      <a:endParaRPr lang="en-US" dirty="0">
                        <a:effectLst/>
                      </a:endParaRPr>
                    </a:p>
                  </a:txBody>
                  <a:tcPr anchor="ctr"/>
                </a:tc>
                <a:tc>
                  <a:txBody>
                    <a:bodyPr/>
                    <a:lstStyle/>
                    <a:p>
                      <a:r>
                        <a:rPr lang="en-US" sz="1600" b="0" i="0" dirty="0">
                          <a:solidFill>
                            <a:srgbClr val="000000"/>
                          </a:solidFill>
                          <a:effectLst/>
                          <a:latin typeface="ArialMT"/>
                        </a:rPr>
                        <a:t>centimeters</a:t>
                      </a:r>
                      <a:endParaRPr lang="en-US" dirty="0">
                        <a:effectLst/>
                      </a:endParaRPr>
                    </a:p>
                  </a:txBody>
                  <a:tcPr anchor="ctr"/>
                </a:tc>
                <a:extLst>
                  <a:ext uri="{0D108BD9-81ED-4DB2-BD59-A6C34878D82A}">
                    <a16:rowId xmlns:a16="http://schemas.microsoft.com/office/drawing/2014/main" val="10003"/>
                  </a:ext>
                </a:extLst>
              </a:tr>
              <a:tr h="370840">
                <a:tc>
                  <a:txBody>
                    <a:bodyPr/>
                    <a:lstStyle/>
                    <a:p>
                      <a:r>
                        <a:rPr lang="en-US" sz="1600" b="0" i="0" dirty="0">
                          <a:solidFill>
                            <a:srgbClr val="000000"/>
                          </a:solidFill>
                          <a:effectLst/>
                          <a:latin typeface="ArialMT"/>
                        </a:rPr>
                        <a:t>0.2in </a:t>
                      </a:r>
                      <a:endParaRPr lang="en-US" dirty="0">
                        <a:effectLst/>
                      </a:endParaRPr>
                    </a:p>
                  </a:txBody>
                  <a:tcPr anchor="ctr"/>
                </a:tc>
                <a:tc>
                  <a:txBody>
                    <a:bodyPr/>
                    <a:lstStyle/>
                    <a:p>
                      <a:r>
                        <a:rPr lang="en-US" sz="1600" b="0" i="0" dirty="0">
                          <a:solidFill>
                            <a:srgbClr val="000000"/>
                          </a:solidFill>
                          <a:effectLst/>
                          <a:latin typeface="ArialMT"/>
                        </a:rPr>
                        <a:t>inches</a:t>
                      </a:r>
                      <a:endParaRPr lang="en-US" dirty="0">
                        <a:effectLst/>
                      </a:endParaRPr>
                    </a:p>
                  </a:txBody>
                  <a:tcPr anchor="ctr"/>
                </a:tc>
                <a:extLst>
                  <a:ext uri="{0D108BD9-81ED-4DB2-BD59-A6C34878D82A}">
                    <a16:rowId xmlns:a16="http://schemas.microsoft.com/office/drawing/2014/main" val="10004"/>
                  </a:ext>
                </a:extLst>
              </a:tr>
              <a:tr h="370840">
                <a:tc>
                  <a:txBody>
                    <a:bodyPr/>
                    <a:lstStyle/>
                    <a:p>
                      <a:r>
                        <a:rPr lang="en-US" sz="1600" b="0" i="0">
                          <a:solidFill>
                            <a:srgbClr val="000000"/>
                          </a:solidFill>
                          <a:effectLst/>
                          <a:latin typeface="ArialMT"/>
                        </a:rPr>
                        <a:t>3pt </a:t>
                      </a:r>
                      <a:endParaRPr lang="en-US">
                        <a:effectLst/>
                      </a:endParaRPr>
                    </a:p>
                  </a:txBody>
                  <a:tcPr anchor="ctr"/>
                </a:tc>
                <a:tc>
                  <a:txBody>
                    <a:bodyPr/>
                    <a:lstStyle/>
                    <a:p>
                      <a:r>
                        <a:rPr lang="en-US" sz="1600" b="0" i="0" dirty="0">
                          <a:solidFill>
                            <a:srgbClr val="000000"/>
                          </a:solidFill>
                          <a:effectLst/>
                          <a:latin typeface="ArialMT"/>
                        </a:rPr>
                        <a:t>printer point 1/72 inch</a:t>
                      </a:r>
                      <a:endParaRPr lang="en-US" dirty="0">
                        <a:effectLst/>
                      </a:endParaRPr>
                    </a:p>
                  </a:txBody>
                  <a:tcPr anchor="ctr"/>
                </a:tc>
                <a:extLst>
                  <a:ext uri="{0D108BD9-81ED-4DB2-BD59-A6C34878D82A}">
                    <a16:rowId xmlns:a16="http://schemas.microsoft.com/office/drawing/2014/main" val="10005"/>
                  </a:ext>
                </a:extLst>
              </a:tr>
              <a:tr h="370840">
                <a:tc gridSpan="2">
                  <a:txBody>
                    <a:bodyPr/>
                    <a:lstStyle/>
                    <a:p>
                      <a:pPr algn="ctr"/>
                      <a:r>
                        <a:rPr lang="en-US" sz="1800" b="0" i="0" dirty="0">
                          <a:solidFill>
                            <a:srgbClr val="000000"/>
                          </a:solidFill>
                          <a:effectLst/>
                          <a:latin typeface="ArialMT"/>
                        </a:rPr>
                        <a:t>Relative</a:t>
                      </a:r>
                      <a:endParaRPr lang="en-US" dirty="0">
                        <a:effectLst/>
                      </a:endParaRPr>
                    </a:p>
                  </a:txBody>
                  <a:tcPr anchor="ctr">
                    <a:solidFill>
                      <a:schemeClr val="accent1"/>
                    </a:solidFill>
                  </a:tcPr>
                </a:tc>
                <a:tc hMerge="1">
                  <a:txBody>
                    <a:bodyPr/>
                    <a:lstStyle/>
                    <a:p>
                      <a:endParaRPr lang="en-US"/>
                    </a:p>
                  </a:txBody>
                  <a:tcPr/>
                </a:tc>
                <a:extLst>
                  <a:ext uri="{0D108BD9-81ED-4DB2-BD59-A6C34878D82A}">
                    <a16:rowId xmlns:a16="http://schemas.microsoft.com/office/drawing/2014/main" val="10006"/>
                  </a:ext>
                </a:extLst>
              </a:tr>
              <a:tr h="370840">
                <a:tc>
                  <a:txBody>
                    <a:bodyPr/>
                    <a:lstStyle/>
                    <a:p>
                      <a:r>
                        <a:rPr lang="en-US" sz="1600" b="0" i="0">
                          <a:solidFill>
                            <a:srgbClr val="000000"/>
                          </a:solidFill>
                          <a:effectLst/>
                          <a:latin typeface="ArialMT"/>
                        </a:rPr>
                        <a:t>2em </a:t>
                      </a:r>
                      <a:endParaRPr lang="en-US">
                        <a:effectLst/>
                      </a:endParaRPr>
                    </a:p>
                  </a:txBody>
                  <a:tcPr anchor="ctr"/>
                </a:tc>
                <a:tc>
                  <a:txBody>
                    <a:bodyPr/>
                    <a:lstStyle/>
                    <a:p>
                      <a:r>
                        <a:rPr lang="en-US" sz="1600" b="0" i="0" dirty="0">
                          <a:solidFill>
                            <a:srgbClr val="000000"/>
                          </a:solidFill>
                          <a:effectLst/>
                          <a:latin typeface="ArialMT"/>
                        </a:rPr>
                        <a:t>2 times the element’s current font size</a:t>
                      </a:r>
                      <a:endParaRPr lang="en-US" dirty="0">
                        <a:effectLst/>
                      </a:endParaRPr>
                    </a:p>
                  </a:txBody>
                  <a:tcPr anchor="ctr"/>
                </a:tc>
                <a:extLst>
                  <a:ext uri="{0D108BD9-81ED-4DB2-BD59-A6C34878D82A}">
                    <a16:rowId xmlns:a16="http://schemas.microsoft.com/office/drawing/2014/main" val="10007"/>
                  </a:ext>
                </a:extLst>
              </a:tr>
              <a:tr h="370840">
                <a:tc>
                  <a:txBody>
                    <a:bodyPr/>
                    <a:lstStyle/>
                    <a:p>
                      <a:r>
                        <a:rPr lang="en-US" sz="1600" b="0" i="0">
                          <a:solidFill>
                            <a:srgbClr val="000000"/>
                          </a:solidFill>
                          <a:effectLst/>
                          <a:latin typeface="ArialMT"/>
                        </a:rPr>
                        <a:t>2rem </a:t>
                      </a:r>
                      <a:endParaRPr lang="en-US">
                        <a:effectLst/>
                      </a:endParaRPr>
                    </a:p>
                  </a:txBody>
                  <a:tcPr anchor="ctr"/>
                </a:tc>
                <a:tc>
                  <a:txBody>
                    <a:bodyPr/>
                    <a:lstStyle/>
                    <a:p>
                      <a:r>
                        <a:rPr lang="en-US" sz="1600" b="0" i="0" dirty="0">
                          <a:solidFill>
                            <a:srgbClr val="000000"/>
                          </a:solidFill>
                          <a:effectLst/>
                          <a:latin typeface="ArialMT"/>
                        </a:rPr>
                        <a:t>2</a:t>
                      </a:r>
                      <a:r>
                        <a:rPr lang="en-US" sz="1600" b="0" i="0" dirty="0" smtClean="0">
                          <a:solidFill>
                            <a:srgbClr val="000000"/>
                          </a:solidFill>
                          <a:effectLst/>
                          <a:latin typeface="ArialMT"/>
                        </a:rPr>
                        <a:t> </a:t>
                      </a:r>
                      <a:r>
                        <a:rPr lang="en-US" sz="1600" b="0" i="0" dirty="0">
                          <a:solidFill>
                            <a:srgbClr val="000000"/>
                          </a:solidFill>
                          <a:effectLst/>
                          <a:latin typeface="ArialMT"/>
                        </a:rPr>
                        <a:t>times the root element’s current font size</a:t>
                      </a:r>
                      <a:endParaRPr lang="en-US" dirty="0">
                        <a:effectLst/>
                      </a:endParaRPr>
                    </a:p>
                  </a:txBody>
                  <a:tcPr anchor="ctr"/>
                </a:tc>
                <a:extLst>
                  <a:ext uri="{0D108BD9-81ED-4DB2-BD59-A6C34878D82A}">
                    <a16:rowId xmlns:a16="http://schemas.microsoft.com/office/drawing/2014/main" val="10008"/>
                  </a:ext>
                </a:extLst>
              </a:tr>
              <a:tr h="370840">
                <a:tc>
                  <a:txBody>
                    <a:bodyPr/>
                    <a:lstStyle/>
                    <a:p>
                      <a:r>
                        <a:rPr lang="en-US" dirty="0" smtClean="0"/>
                        <a:t>40%</a:t>
                      </a:r>
                      <a:endParaRPr lang="en-US" dirty="0"/>
                    </a:p>
                  </a:txBody>
                  <a:tcPr/>
                </a:tc>
                <a:tc>
                  <a:txBody>
                    <a:bodyPr/>
                    <a:lstStyle/>
                    <a:p>
                      <a:r>
                        <a:rPr lang="en-US" dirty="0" smtClean="0"/>
                        <a:t>40% of the parent element’s size</a:t>
                      </a:r>
                      <a:endParaRPr lang="en-US" dirty="0"/>
                    </a:p>
                  </a:txBody>
                  <a:tcPr/>
                </a:tc>
                <a:extLst>
                  <a:ext uri="{0D108BD9-81ED-4DB2-BD59-A6C34878D82A}">
                    <a16:rowId xmlns:a16="http://schemas.microsoft.com/office/drawing/2014/main" val="10009"/>
                  </a:ext>
                </a:extLst>
              </a:tr>
            </a:tbl>
          </a:graphicData>
        </a:graphic>
      </p:graphicFrame>
      <p:sp>
        <p:nvSpPr>
          <p:cNvPr id="3" name="TextBox 2"/>
          <p:cNvSpPr txBox="1"/>
          <p:nvPr/>
        </p:nvSpPr>
        <p:spPr>
          <a:xfrm>
            <a:off x="1385740" y="1970202"/>
            <a:ext cx="7984503" cy="369332"/>
          </a:xfrm>
          <a:prstGeom prst="rect">
            <a:avLst/>
          </a:prstGeom>
          <a:noFill/>
        </p:spPr>
        <p:txBody>
          <a:bodyPr wrap="square" rtlCol="0">
            <a:spAutoFit/>
          </a:bodyPr>
          <a:lstStyle/>
          <a:p>
            <a:r>
              <a:rPr lang="en-IN" dirty="0" smtClean="0"/>
              <a:t>How to specify distance units or font sizes in CSS?</a:t>
            </a:r>
            <a:endParaRPr lang="en-IN" dirty="0"/>
          </a:p>
        </p:txBody>
      </p:sp>
    </p:spTree>
    <p:extLst>
      <p:ext uri="{BB962C8B-B14F-4D97-AF65-F5344CB8AC3E}">
        <p14:creationId xmlns:p14="http://schemas.microsoft.com/office/powerpoint/2010/main" val="143873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Relative units</a:t>
            </a:r>
            <a:endParaRPr lang="en-US" dirty="0"/>
          </a:p>
        </p:txBody>
      </p:sp>
      <p:sp>
        <p:nvSpPr>
          <p:cNvPr id="3" name="Content Placeholder 2"/>
          <p:cNvSpPr>
            <a:spLocks noGrp="1"/>
          </p:cNvSpPr>
          <p:nvPr>
            <p:ph idx="1"/>
          </p:nvPr>
        </p:nvSpPr>
        <p:spPr/>
        <p:txBody>
          <a:bodyPr/>
          <a:lstStyle/>
          <a:p>
            <a:r>
              <a:rPr lang="en-US" dirty="0"/>
              <a:t>Whenever possible, it's best to use </a:t>
            </a:r>
            <a:r>
              <a:rPr lang="en-US" b="1" dirty="0"/>
              <a:t>relative units </a:t>
            </a:r>
            <a:r>
              <a:rPr lang="en-US" dirty="0"/>
              <a:t>(</a:t>
            </a:r>
            <a:r>
              <a:rPr lang="en-US" dirty="0" smtClean="0"/>
              <a:t>like percentage</a:t>
            </a:r>
            <a:r>
              <a:rPr lang="en-US" dirty="0"/>
              <a:t>) instead of absolute units (like </a:t>
            </a:r>
            <a:r>
              <a:rPr lang="en-US" dirty="0" err="1"/>
              <a:t>px</a:t>
            </a:r>
            <a:r>
              <a:rPr lang="en-US" dirty="0"/>
              <a:t>).</a:t>
            </a:r>
          </a:p>
          <a:p>
            <a:r>
              <a:rPr lang="en-US" b="1" dirty="0"/>
              <a:t>Advantages:</a:t>
            </a:r>
          </a:p>
          <a:p>
            <a:pPr lvl="1"/>
            <a:r>
              <a:rPr lang="en-US" dirty="0" smtClean="0"/>
              <a:t>More </a:t>
            </a:r>
            <a:r>
              <a:rPr lang="en-US" dirty="0"/>
              <a:t>likely to work on different screen sizes</a:t>
            </a:r>
          </a:p>
          <a:p>
            <a:pPr lvl="1"/>
            <a:r>
              <a:rPr lang="en-US" dirty="0" smtClean="0"/>
              <a:t>Easier </a:t>
            </a:r>
            <a:r>
              <a:rPr lang="en-US" dirty="0"/>
              <a:t>to reason about; </a:t>
            </a:r>
            <a:r>
              <a:rPr lang="en-US" dirty="0" smtClean="0"/>
              <a:t>fewer </a:t>
            </a:r>
            <a:r>
              <a:rPr lang="en-US" dirty="0"/>
              <a:t>magic numbers</a:t>
            </a:r>
          </a:p>
          <a:p>
            <a:pPr marL="0" indent="0">
              <a:buNone/>
            </a:pPr>
            <a:r>
              <a:rPr lang="en-US" dirty="0" smtClean="0"/>
              <a:t>	10</a:t>
            </a:r>
            <a:r>
              <a:rPr lang="en-US" dirty="0"/>
              <a:t>% / 80% / 10% </a:t>
            </a:r>
            <a:r>
              <a:rPr lang="en-US" dirty="0" err="1"/>
              <a:t>vs</a:t>
            </a:r>
            <a:r>
              <a:rPr lang="en-US" dirty="0"/>
              <a:t> 122px / 926px / 122px</a:t>
            </a:r>
          </a:p>
          <a:p>
            <a:endParaRPr lang="en-US" b="1" dirty="0" smtClean="0"/>
          </a:p>
        </p:txBody>
      </p:sp>
    </p:spTree>
    <p:extLst>
      <p:ext uri="{BB962C8B-B14F-4D97-AF65-F5344CB8AC3E}">
        <p14:creationId xmlns:p14="http://schemas.microsoft.com/office/powerpoint/2010/main" val="170867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815"/>
            <a:ext cx="10515600" cy="1325563"/>
          </a:xfrm>
        </p:spPr>
        <p:txBody>
          <a:bodyPr>
            <a:normAutofit/>
          </a:bodyPr>
          <a:lstStyle/>
          <a:p>
            <a:r>
              <a:rPr lang="en-US" dirty="0"/>
              <a:t/>
            </a:r>
            <a:br>
              <a:rPr lang="en-US" dirty="0"/>
            </a:br>
            <a:endParaRPr lang="en-US" dirty="0"/>
          </a:p>
        </p:txBody>
      </p:sp>
      <p:sp>
        <p:nvSpPr>
          <p:cNvPr id="3" name="Content Placeholder 2"/>
          <p:cNvSpPr>
            <a:spLocks noGrp="1"/>
          </p:cNvSpPr>
          <p:nvPr>
            <p:ph idx="1"/>
          </p:nvPr>
        </p:nvSpPr>
        <p:spPr>
          <a:xfrm>
            <a:off x="838200" y="987664"/>
            <a:ext cx="10515600" cy="4351338"/>
          </a:xfrm>
        </p:spPr>
        <p:txBody>
          <a:bodyPr/>
          <a:lstStyle/>
          <a:p>
            <a:r>
              <a:rPr lang="en-US" dirty="0">
                <a:solidFill>
                  <a:srgbClr val="434343"/>
                </a:solidFill>
                <a:latin typeface="Calibri" panose="020F0502020204030204" pitchFamily="34" charset="0"/>
              </a:rPr>
              <a:t>Percent </a:t>
            </a:r>
            <a:r>
              <a:rPr lang="en-US" dirty="0" smtClean="0">
                <a:solidFill>
                  <a:srgbClr val="434343"/>
                </a:solidFill>
                <a:latin typeface="Calibri" panose="020F0502020204030204" pitchFamily="34" charset="0"/>
              </a:rPr>
              <a:t>is </a:t>
            </a:r>
            <a:r>
              <a:rPr lang="en-US" dirty="0">
                <a:solidFill>
                  <a:srgbClr val="434343"/>
                </a:solidFill>
                <a:latin typeface="Calibri" panose="020F0502020204030204" pitchFamily="34" charset="0"/>
              </a:rPr>
              <a:t>relative to the </a:t>
            </a:r>
            <a:r>
              <a:rPr lang="en-US" dirty="0" smtClean="0">
                <a:solidFill>
                  <a:srgbClr val="434343"/>
                </a:solidFill>
                <a:latin typeface="Calibri" panose="020F0502020204030204" pitchFamily="34" charset="0"/>
              </a:rPr>
              <a:t>parent</a:t>
            </a:r>
            <a:endParaRPr lang="en-US" dirty="0"/>
          </a:p>
          <a:p>
            <a:endParaRPr lang="en-US" dirty="0"/>
          </a:p>
        </p:txBody>
      </p:sp>
      <p:pic>
        <p:nvPicPr>
          <p:cNvPr id="4" name="Picture 3"/>
          <p:cNvPicPr>
            <a:picLocks noChangeAspect="1"/>
          </p:cNvPicPr>
          <p:nvPr/>
        </p:nvPicPr>
        <p:blipFill>
          <a:blip r:embed="rId2"/>
          <a:stretch>
            <a:fillRect/>
          </a:stretch>
        </p:blipFill>
        <p:spPr>
          <a:xfrm>
            <a:off x="974677" y="2288465"/>
            <a:ext cx="2814462" cy="4111835"/>
          </a:xfrm>
          <a:prstGeom prst="rect">
            <a:avLst/>
          </a:prstGeom>
        </p:spPr>
      </p:pic>
      <p:pic>
        <p:nvPicPr>
          <p:cNvPr id="5" name="Picture 4"/>
          <p:cNvPicPr>
            <a:picLocks noChangeAspect="1"/>
          </p:cNvPicPr>
          <p:nvPr/>
        </p:nvPicPr>
        <p:blipFill>
          <a:blip r:embed="rId3"/>
          <a:stretch>
            <a:fillRect/>
          </a:stretch>
        </p:blipFill>
        <p:spPr>
          <a:xfrm>
            <a:off x="6924320" y="3134707"/>
            <a:ext cx="4048125" cy="2419350"/>
          </a:xfrm>
          <a:prstGeom prst="rect">
            <a:avLst/>
          </a:prstGeom>
        </p:spPr>
      </p:pic>
      <p:sp>
        <p:nvSpPr>
          <p:cNvPr id="6" name="Rectangle 5"/>
          <p:cNvSpPr/>
          <p:nvPr/>
        </p:nvSpPr>
        <p:spPr>
          <a:xfrm>
            <a:off x="3719692" y="6155366"/>
            <a:ext cx="6170856" cy="523220"/>
          </a:xfrm>
          <a:prstGeom prst="rect">
            <a:avLst/>
          </a:prstGeom>
        </p:spPr>
        <p:txBody>
          <a:bodyPr wrap="none">
            <a:spAutoFit/>
          </a:bodyPr>
          <a:lstStyle/>
          <a:p>
            <a:r>
              <a:rPr lang="en-US" sz="2000" dirty="0">
                <a:hlinkClick r:id="rId4"/>
              </a:rPr>
              <a:t>https://</a:t>
            </a:r>
            <a:r>
              <a:rPr lang="en-US" sz="2800" dirty="0">
                <a:hlinkClick r:id="rId4"/>
              </a:rPr>
              <a:t>codepen.io/sbhilare/pen/rNaXMbG</a:t>
            </a:r>
            <a:endParaRPr lang="en-US" sz="2000" dirty="0"/>
          </a:p>
        </p:txBody>
      </p:sp>
      <p:sp>
        <p:nvSpPr>
          <p:cNvPr id="8" name="Rectangle 7"/>
          <p:cNvSpPr/>
          <p:nvPr/>
        </p:nvSpPr>
        <p:spPr>
          <a:xfrm>
            <a:off x="3425518" y="4427396"/>
            <a:ext cx="3117447" cy="923330"/>
          </a:xfrm>
          <a:prstGeom prst="rect">
            <a:avLst/>
          </a:prstGeom>
        </p:spPr>
        <p:txBody>
          <a:bodyPr wrap="square">
            <a:spAutoFit/>
          </a:bodyPr>
          <a:lstStyle/>
          <a:p>
            <a:r>
              <a:rPr lang="en-US" dirty="0">
                <a:latin typeface="Consolas" panose="020B0609020204030204" pitchFamily="49" charset="0"/>
              </a:rPr>
              <a:t>p </a:t>
            </a:r>
            <a:r>
              <a:rPr lang="en-US" dirty="0">
                <a:latin typeface="Calibri" panose="020F0502020204030204" pitchFamily="34" charset="0"/>
              </a:rPr>
              <a:t>is 75% of its parent, which</a:t>
            </a:r>
          </a:p>
          <a:p>
            <a:r>
              <a:rPr lang="en-US" dirty="0">
                <a:latin typeface="Calibri" panose="020F0502020204030204" pitchFamily="34" charset="0"/>
              </a:rPr>
              <a:t>is 200% of 30px.</a:t>
            </a:r>
          </a:p>
          <a:p>
            <a:r>
              <a:rPr lang="en-US" dirty="0">
                <a:latin typeface="Consolas" panose="020B0609020204030204" pitchFamily="49" charset="0"/>
              </a:rPr>
              <a:t>p</a:t>
            </a:r>
            <a:r>
              <a:rPr lang="en-US" dirty="0">
                <a:latin typeface="Calibri" panose="020F0502020204030204" pitchFamily="34" charset="0"/>
              </a:rPr>
              <a:t>'s size: .75*2*30 = 45px</a:t>
            </a:r>
            <a:endParaRPr lang="en-US" dirty="0"/>
          </a:p>
        </p:txBody>
      </p:sp>
      <p:sp>
        <p:nvSpPr>
          <p:cNvPr id="9" name="Oval 8"/>
          <p:cNvSpPr/>
          <p:nvPr/>
        </p:nvSpPr>
        <p:spPr>
          <a:xfrm>
            <a:off x="593322" y="5339003"/>
            <a:ext cx="2745015" cy="104719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5759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Relative font sizes: </a:t>
            </a:r>
            <a:r>
              <a:rPr lang="en-US" dirty="0" err="1" smtClean="0"/>
              <a:t>em</a:t>
            </a:r>
            <a:endParaRPr lang="en-US" dirty="0"/>
          </a:p>
        </p:txBody>
      </p:sp>
      <p:sp>
        <p:nvSpPr>
          <p:cNvPr id="3" name="Content Placeholder 2"/>
          <p:cNvSpPr>
            <a:spLocks noGrp="1"/>
          </p:cNvSpPr>
          <p:nvPr>
            <p:ph idx="1"/>
          </p:nvPr>
        </p:nvSpPr>
        <p:spPr/>
        <p:txBody>
          <a:bodyPr/>
          <a:lstStyle/>
          <a:p>
            <a:r>
              <a:rPr lang="en-US" dirty="0"/>
              <a:t>But instead of percentages, relative font sizes are </a:t>
            </a:r>
            <a:r>
              <a:rPr lang="en-US" dirty="0" smtClean="0"/>
              <a:t>usually defined </a:t>
            </a:r>
            <a:r>
              <a:rPr lang="en-US" dirty="0"/>
              <a:t>in terms of </a:t>
            </a:r>
            <a:r>
              <a:rPr lang="en-US" dirty="0" err="1"/>
              <a:t>em</a:t>
            </a:r>
            <a:r>
              <a:rPr lang="en-US" dirty="0"/>
              <a:t>:</a:t>
            </a:r>
            <a:br>
              <a:rPr lang="en-US" dirty="0"/>
            </a:br>
            <a:r>
              <a:rPr lang="en-US" dirty="0"/>
              <a:t>- </a:t>
            </a:r>
            <a:r>
              <a:rPr lang="en-US" dirty="0" err="1"/>
              <a:t>em</a:t>
            </a:r>
            <a:r>
              <a:rPr lang="en-US" dirty="0"/>
              <a:t> </a:t>
            </a:r>
            <a:r>
              <a:rPr lang="en-US" dirty="0" smtClean="0"/>
              <a:t>represents </a:t>
            </a:r>
            <a:r>
              <a:rPr lang="en-US" dirty="0"/>
              <a:t>the calculated font-size of the element</a:t>
            </a:r>
            <a:br>
              <a:rPr lang="en-US" dirty="0"/>
            </a:br>
            <a:r>
              <a:rPr lang="en-US" dirty="0"/>
              <a:t>- 1em = the inherited font size</a:t>
            </a:r>
            <a:br>
              <a:rPr lang="en-US" dirty="0"/>
            </a:br>
            <a:r>
              <a:rPr lang="en-US" dirty="0"/>
              <a:t>- 2em = 2 times the inherited font </a:t>
            </a:r>
            <a:r>
              <a:rPr lang="en-US" dirty="0" smtClean="0"/>
              <a:t>size</a:t>
            </a:r>
          </a:p>
          <a:p>
            <a:endParaRPr lang="en-US" dirty="0"/>
          </a:p>
          <a:p>
            <a:r>
              <a:rPr lang="en-US" b="1" dirty="0" smtClean="0"/>
              <a:t>In </a:t>
            </a:r>
            <a:r>
              <a:rPr lang="en-US" b="1" dirty="0"/>
              <a:t>other words,</a:t>
            </a:r>
            <a:br>
              <a:rPr lang="en-US" b="1" dirty="0"/>
            </a:br>
            <a:r>
              <a:rPr lang="en-US" b="1" dirty="0"/>
              <a:t>font-size: 1em; is the same as font-size: 100%;</a:t>
            </a:r>
            <a:endParaRPr lang="en-US" dirty="0"/>
          </a:p>
        </p:txBody>
      </p:sp>
    </p:spTree>
    <p:extLst>
      <p:ext uri="{BB962C8B-B14F-4D97-AF65-F5344CB8AC3E}">
        <p14:creationId xmlns:p14="http://schemas.microsoft.com/office/powerpoint/2010/main" val="38976437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Calibri" panose="020F0502020204030204" pitchFamily="34" charset="0"/>
              </a:rPr>
              <a:t/>
            </a:r>
            <a:br>
              <a:rPr lang="en-US" dirty="0">
                <a:latin typeface="Calibri" panose="020F0502020204030204" pitchFamily="34" charset="0"/>
              </a:rPr>
            </a:br>
            <a:r>
              <a:rPr lang="en-US" dirty="0" smtClean="0">
                <a:latin typeface="Calibri" panose="020F0502020204030204" pitchFamily="34" charset="0"/>
              </a:rPr>
              <a:t>What is the size of </a:t>
            </a:r>
            <a:r>
              <a:rPr lang="en-US" dirty="0">
                <a:latin typeface="Consolas" panose="020B0609020204030204" pitchFamily="49" charset="0"/>
              </a:rPr>
              <a:t>&lt;strong</a:t>
            </a:r>
            <a:r>
              <a:rPr lang="en-US" dirty="0" smtClean="0">
                <a:latin typeface="Consolas" panose="020B0609020204030204" pitchFamily="49" charset="0"/>
              </a:rPr>
              <a:t>&gt;? </a:t>
            </a:r>
            <a:r>
              <a:rPr lang="en-US" dirty="0">
                <a:latin typeface="Calibri" panose="020F0502020204030204" pitchFamily="34" charset="0"/>
              </a:rPr>
              <a:t>120px </a:t>
            </a:r>
            <a:r>
              <a:rPr lang="en-US" dirty="0" smtClean="0">
                <a:latin typeface="Calibri" panose="020F0502020204030204" pitchFamily="34" charset="0"/>
              </a:rPr>
              <a:t>or 60px</a:t>
            </a:r>
            <a:r>
              <a:rPr lang="en-US" dirty="0">
                <a:latin typeface="Calibri" panose="020F0502020204030204" pitchFamily="34" charset="0"/>
              </a:rPr>
              <a:t>?</a:t>
            </a:r>
            <a:r>
              <a:rPr lang="en-US" dirty="0"/>
              <a:t/>
            </a:r>
            <a:br>
              <a:rPr lang="en-US" dirty="0"/>
            </a:br>
            <a:endParaRPr lang="en-US" dirty="0"/>
          </a:p>
        </p:txBody>
      </p:sp>
      <p:sp>
        <p:nvSpPr>
          <p:cNvPr id="3" name="Content Placeholder 2"/>
          <p:cNvSpPr>
            <a:spLocks noGrp="1"/>
          </p:cNvSpPr>
          <p:nvPr>
            <p:ph idx="1"/>
          </p:nvPr>
        </p:nvSpPr>
        <p:spPr>
          <a:xfrm>
            <a:off x="838200" y="1825624"/>
            <a:ext cx="10515600" cy="4930017"/>
          </a:xfrm>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In </a:t>
            </a:r>
            <a:r>
              <a:rPr lang="en-US" dirty="0"/>
              <a:t>the Chrome Inspector, we see the default </a:t>
            </a:r>
            <a:r>
              <a:rPr lang="en-US" dirty="0" smtClean="0"/>
              <a:t>browser font-size </a:t>
            </a:r>
            <a:r>
              <a:rPr lang="en-US" dirty="0"/>
              <a:t>for h1 is 2em. So it's 30*2*2 = 120px.</a:t>
            </a:r>
          </a:p>
        </p:txBody>
      </p:sp>
      <p:pic>
        <p:nvPicPr>
          <p:cNvPr id="4" name="Picture 3"/>
          <p:cNvPicPr>
            <a:picLocks noChangeAspect="1"/>
          </p:cNvPicPr>
          <p:nvPr/>
        </p:nvPicPr>
        <p:blipFill>
          <a:blip r:embed="rId3"/>
          <a:stretch>
            <a:fillRect/>
          </a:stretch>
        </p:blipFill>
        <p:spPr>
          <a:xfrm>
            <a:off x="0" y="1404085"/>
            <a:ext cx="2828925" cy="3857625"/>
          </a:xfrm>
          <a:prstGeom prst="rect">
            <a:avLst/>
          </a:prstGeom>
        </p:spPr>
      </p:pic>
      <p:pic>
        <p:nvPicPr>
          <p:cNvPr id="5" name="Picture 4"/>
          <p:cNvPicPr>
            <a:picLocks noChangeAspect="1"/>
          </p:cNvPicPr>
          <p:nvPr/>
        </p:nvPicPr>
        <p:blipFill>
          <a:blip r:embed="rId4"/>
          <a:stretch>
            <a:fillRect/>
          </a:stretch>
        </p:blipFill>
        <p:spPr>
          <a:xfrm>
            <a:off x="2906344" y="1404085"/>
            <a:ext cx="4410075" cy="3057525"/>
          </a:xfrm>
          <a:prstGeom prst="rect">
            <a:avLst/>
          </a:prstGeom>
        </p:spPr>
      </p:pic>
      <p:pic>
        <p:nvPicPr>
          <p:cNvPr id="7" name="Picture 6"/>
          <p:cNvPicPr>
            <a:picLocks noChangeAspect="1"/>
          </p:cNvPicPr>
          <p:nvPr/>
        </p:nvPicPr>
        <p:blipFill>
          <a:blip r:embed="rId5"/>
          <a:stretch>
            <a:fillRect/>
          </a:stretch>
        </p:blipFill>
        <p:spPr>
          <a:xfrm>
            <a:off x="7393839" y="1404085"/>
            <a:ext cx="3888200" cy="1995408"/>
          </a:xfrm>
          <a:prstGeom prst="rect">
            <a:avLst/>
          </a:prstGeom>
        </p:spPr>
      </p:pic>
      <p:sp>
        <p:nvSpPr>
          <p:cNvPr id="8" name="Rectangle 7"/>
          <p:cNvSpPr/>
          <p:nvPr/>
        </p:nvSpPr>
        <p:spPr>
          <a:xfrm>
            <a:off x="4160510" y="4815957"/>
            <a:ext cx="6294544" cy="523220"/>
          </a:xfrm>
          <a:prstGeom prst="rect">
            <a:avLst/>
          </a:prstGeom>
        </p:spPr>
        <p:txBody>
          <a:bodyPr wrap="none">
            <a:spAutoFit/>
          </a:bodyPr>
          <a:lstStyle/>
          <a:p>
            <a:r>
              <a:rPr lang="en-US" sz="2800" dirty="0">
                <a:hlinkClick r:id="rId6"/>
              </a:rPr>
              <a:t>https://codepen.io/sbhilare/pen/ExaqNxE</a:t>
            </a:r>
            <a:endParaRPr lang="en-US" sz="2800" dirty="0"/>
          </a:p>
        </p:txBody>
      </p:sp>
    </p:spTree>
    <p:extLst>
      <p:ext uri="{BB962C8B-B14F-4D97-AF65-F5344CB8AC3E}">
        <p14:creationId xmlns:p14="http://schemas.microsoft.com/office/powerpoint/2010/main" val="1513955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font sizes: </a:t>
            </a:r>
            <a:r>
              <a:rPr lang="en-US" b="1" dirty="0"/>
              <a:t>rem</a:t>
            </a:r>
          </a:p>
        </p:txBody>
      </p:sp>
      <p:sp>
        <p:nvSpPr>
          <p:cNvPr id="3" name="Content Placeholder 2"/>
          <p:cNvSpPr>
            <a:spLocks noGrp="1"/>
          </p:cNvSpPr>
          <p:nvPr>
            <p:ph idx="1"/>
          </p:nvPr>
        </p:nvSpPr>
        <p:spPr/>
        <p:txBody>
          <a:bodyPr/>
          <a:lstStyle/>
          <a:p>
            <a:r>
              <a:rPr lang="en-US" dirty="0" smtClean="0"/>
              <a:t>If </a:t>
            </a:r>
            <a:r>
              <a:rPr lang="en-US" dirty="0"/>
              <a:t>you </a:t>
            </a:r>
            <a:r>
              <a:rPr lang="en-US" b="1" dirty="0"/>
              <a:t>do not </a:t>
            </a:r>
            <a:r>
              <a:rPr lang="en-US" dirty="0"/>
              <a:t>want your relative font sizes to </a:t>
            </a:r>
            <a:r>
              <a:rPr lang="en-US" dirty="0" smtClean="0"/>
              <a:t>compound through </a:t>
            </a:r>
            <a:r>
              <a:rPr lang="en-US" dirty="0"/>
              <a:t>inheritance, use rem:</a:t>
            </a:r>
          </a:p>
          <a:p>
            <a:r>
              <a:rPr lang="en-US" dirty="0" smtClean="0"/>
              <a:t>rem </a:t>
            </a:r>
            <a:r>
              <a:rPr lang="en-US" dirty="0"/>
              <a:t>represents the font-size of the </a:t>
            </a:r>
            <a:r>
              <a:rPr lang="en-US" b="1" dirty="0">
                <a:solidFill>
                  <a:srgbClr val="FF0000"/>
                </a:solidFill>
              </a:rPr>
              <a:t>r</a:t>
            </a:r>
            <a:r>
              <a:rPr lang="en-US" dirty="0">
                <a:solidFill>
                  <a:srgbClr val="FF0000"/>
                </a:solidFill>
              </a:rPr>
              <a:t>oot</a:t>
            </a:r>
            <a:r>
              <a:rPr lang="en-US" dirty="0"/>
              <a:t> </a:t>
            </a:r>
            <a:r>
              <a:rPr lang="en-US" dirty="0">
                <a:solidFill>
                  <a:srgbClr val="FF0000"/>
                </a:solidFill>
              </a:rPr>
              <a:t>element</a:t>
            </a:r>
          </a:p>
          <a:p>
            <a:r>
              <a:rPr lang="en-US" dirty="0" smtClean="0"/>
              <a:t>1rem </a:t>
            </a:r>
            <a:r>
              <a:rPr lang="en-US" dirty="0"/>
              <a:t>= the root (html tag) font size</a:t>
            </a:r>
          </a:p>
          <a:p>
            <a:r>
              <a:rPr lang="en-US" dirty="0" smtClean="0"/>
              <a:t>2rem </a:t>
            </a:r>
            <a:r>
              <a:rPr lang="en-US" dirty="0"/>
              <a:t>= 2 times root font size</a:t>
            </a:r>
          </a:p>
        </p:txBody>
      </p:sp>
    </p:spTree>
    <p:extLst>
      <p:ext uri="{BB962C8B-B14F-4D97-AF65-F5344CB8AC3E}">
        <p14:creationId xmlns:p14="http://schemas.microsoft.com/office/powerpoint/2010/main" val="8487544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4"/>
            <a:ext cx="10515600" cy="5032375"/>
          </a:xfrm>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r>
              <a:rPr lang="en-US" dirty="0" smtClean="0"/>
              <a:t>font-size </a:t>
            </a:r>
            <a:r>
              <a:rPr lang="en-US" dirty="0"/>
              <a:t>is set on </a:t>
            </a:r>
            <a:r>
              <a:rPr lang="en-US" dirty="0" smtClean="0"/>
              <a:t>the html </a:t>
            </a:r>
            <a:r>
              <a:rPr lang="en-US" dirty="0"/>
              <a:t>element, not body (</a:t>
            </a:r>
            <a:r>
              <a:rPr lang="en-US" dirty="0" smtClean="0"/>
              <a:t>or any </a:t>
            </a:r>
            <a:r>
              <a:rPr lang="en-US" dirty="0"/>
              <a:t>other tag)</a:t>
            </a:r>
          </a:p>
        </p:txBody>
      </p:sp>
      <p:pic>
        <p:nvPicPr>
          <p:cNvPr id="4" name="Picture 3"/>
          <p:cNvPicPr>
            <a:picLocks noChangeAspect="1"/>
          </p:cNvPicPr>
          <p:nvPr/>
        </p:nvPicPr>
        <p:blipFill>
          <a:blip r:embed="rId2"/>
          <a:stretch>
            <a:fillRect/>
          </a:stretch>
        </p:blipFill>
        <p:spPr>
          <a:xfrm>
            <a:off x="2079720" y="1027906"/>
            <a:ext cx="2924175" cy="4495800"/>
          </a:xfrm>
          <a:prstGeom prst="rect">
            <a:avLst/>
          </a:prstGeom>
        </p:spPr>
      </p:pic>
      <p:pic>
        <p:nvPicPr>
          <p:cNvPr id="5" name="Picture 4"/>
          <p:cNvPicPr>
            <a:picLocks noChangeAspect="1"/>
          </p:cNvPicPr>
          <p:nvPr/>
        </p:nvPicPr>
        <p:blipFill>
          <a:blip r:embed="rId3"/>
          <a:stretch>
            <a:fillRect/>
          </a:stretch>
        </p:blipFill>
        <p:spPr>
          <a:xfrm>
            <a:off x="5713436" y="1690688"/>
            <a:ext cx="4286250" cy="2543175"/>
          </a:xfrm>
          <a:prstGeom prst="rect">
            <a:avLst/>
          </a:prstGeom>
        </p:spPr>
      </p:pic>
      <p:sp>
        <p:nvSpPr>
          <p:cNvPr id="6" name="Oval 5"/>
          <p:cNvSpPr/>
          <p:nvPr/>
        </p:nvSpPr>
        <p:spPr>
          <a:xfrm>
            <a:off x="1619961" y="2628205"/>
            <a:ext cx="2745015" cy="1047196"/>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4859449" y="5190094"/>
            <a:ext cx="5701112" cy="461665"/>
          </a:xfrm>
          <a:prstGeom prst="rect">
            <a:avLst/>
          </a:prstGeom>
        </p:spPr>
        <p:txBody>
          <a:bodyPr wrap="none">
            <a:spAutoFit/>
          </a:bodyPr>
          <a:lstStyle/>
          <a:p>
            <a:r>
              <a:rPr lang="en-US" sz="2400" dirty="0">
                <a:hlinkClick r:id="rId4"/>
              </a:rPr>
              <a:t>https://codepen.io/sbhilare/pen/MWYNbeE</a:t>
            </a:r>
            <a:endParaRPr lang="en-US" sz="2400" dirty="0"/>
          </a:p>
        </p:txBody>
      </p:sp>
    </p:spTree>
    <p:extLst>
      <p:ext uri="{BB962C8B-B14F-4D97-AF65-F5344CB8AC3E}">
        <p14:creationId xmlns:p14="http://schemas.microsoft.com/office/powerpoint/2010/main" val="130166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Relative font conclusions</a:t>
            </a:r>
          </a:p>
        </p:txBody>
      </p:sp>
      <p:sp>
        <p:nvSpPr>
          <p:cNvPr id="3" name="Content Placeholder 2"/>
          <p:cNvSpPr>
            <a:spLocks noGrp="1"/>
          </p:cNvSpPr>
          <p:nvPr>
            <p:ph idx="1"/>
          </p:nvPr>
        </p:nvSpPr>
        <p:spPr/>
        <p:txBody>
          <a:bodyPr>
            <a:normAutofit/>
          </a:bodyPr>
          <a:lstStyle/>
          <a:p>
            <a:r>
              <a:rPr lang="en-US" dirty="0" smtClean="0"/>
              <a:t>Use </a:t>
            </a:r>
            <a:r>
              <a:rPr lang="en-US" dirty="0"/>
              <a:t>relative fonts for the same purpose as using </a:t>
            </a:r>
            <a:r>
              <a:rPr lang="en-US" dirty="0" smtClean="0"/>
              <a:t>relative heights </a:t>
            </a:r>
            <a:r>
              <a:rPr lang="en-US" dirty="0"/>
              <a:t>and widths:</a:t>
            </a:r>
          </a:p>
          <a:p>
            <a:r>
              <a:rPr lang="en-US" dirty="0" smtClean="0"/>
              <a:t>Prefer </a:t>
            </a:r>
            <a:r>
              <a:rPr lang="en-US" dirty="0" err="1"/>
              <a:t>em</a:t>
            </a:r>
            <a:r>
              <a:rPr lang="en-US" dirty="0"/>
              <a:t> and rem over </a:t>
            </a:r>
            <a:r>
              <a:rPr lang="en-US" dirty="0" smtClean="0"/>
              <a:t>percentages </a:t>
            </a:r>
          </a:p>
          <a:p>
            <a:pPr lvl="1"/>
            <a:r>
              <a:rPr lang="en-US" dirty="0" smtClean="0"/>
              <a:t>Not for any deep reason, but </a:t>
            </a:r>
            <a:r>
              <a:rPr lang="en-US" dirty="0" err="1" smtClean="0"/>
              <a:t>em</a:t>
            </a:r>
            <a:r>
              <a:rPr lang="en-US" dirty="0" smtClean="0"/>
              <a:t> is meant for font so it's semantically cleaner</a:t>
            </a:r>
            <a:endParaRPr lang="en-US" dirty="0"/>
          </a:p>
          <a:p>
            <a:r>
              <a:rPr lang="en-US" dirty="0" smtClean="0"/>
              <a:t>Use </a:t>
            </a:r>
            <a:r>
              <a:rPr lang="en-US" dirty="0"/>
              <a:t>rem to avoid compounding sizes</a:t>
            </a:r>
          </a:p>
          <a:p>
            <a:r>
              <a:rPr lang="en-US" dirty="0" smtClean="0"/>
              <a:t>In </a:t>
            </a:r>
            <a:r>
              <a:rPr lang="en-US" dirty="0"/>
              <a:t>addition to font-size, consider </a:t>
            </a:r>
            <a:r>
              <a:rPr lang="en-US" dirty="0" err="1"/>
              <a:t>em</a:t>
            </a:r>
            <a:r>
              <a:rPr lang="en-US" dirty="0"/>
              <a:t>/rem for:</a:t>
            </a:r>
          </a:p>
          <a:p>
            <a:pPr lvl="1"/>
            <a:r>
              <a:rPr lang="en-US" dirty="0" smtClean="0"/>
              <a:t>line-height</a:t>
            </a:r>
            <a:endParaRPr lang="en-US" dirty="0"/>
          </a:p>
          <a:p>
            <a:pPr lvl="1"/>
            <a:r>
              <a:rPr lang="en-US" dirty="0" smtClean="0"/>
              <a:t>margin-top</a:t>
            </a:r>
            <a:endParaRPr lang="en-US" dirty="0"/>
          </a:p>
          <a:p>
            <a:pPr lvl="1"/>
            <a:r>
              <a:rPr lang="en-US" dirty="0" smtClean="0"/>
              <a:t>margin-bottom</a:t>
            </a:r>
            <a:endParaRPr lang="en-US" dirty="0"/>
          </a:p>
        </p:txBody>
      </p:sp>
    </p:spTree>
    <p:extLst>
      <p:ext uri="{BB962C8B-B14F-4D97-AF65-F5344CB8AC3E}">
        <p14:creationId xmlns:p14="http://schemas.microsoft.com/office/powerpoint/2010/main" val="8663272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pPr marL="0" indent="0" algn="ctr">
              <a:buNone/>
            </a:pPr>
            <a:r>
              <a:rPr lang="en-US" sz="3600" dirty="0" smtClean="0"/>
              <a:t>Responsive Web Design</a:t>
            </a:r>
            <a:endParaRPr lang="en-US" sz="3600" dirty="0"/>
          </a:p>
        </p:txBody>
      </p:sp>
    </p:spTree>
    <p:extLst>
      <p:ext uri="{BB962C8B-B14F-4D97-AF65-F5344CB8AC3E}">
        <p14:creationId xmlns:p14="http://schemas.microsoft.com/office/powerpoint/2010/main" val="388157785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t>
            </a:r>
            <a:r>
              <a:rPr lang="en-US" dirty="0"/>
              <a:t>esponsive Web </a:t>
            </a:r>
            <a:r>
              <a:rPr lang="en-US" dirty="0" smtClean="0"/>
              <a:t>Design: motivation</a:t>
            </a:r>
            <a:endParaRPr lang="en-US" dirty="0"/>
          </a:p>
        </p:txBody>
      </p:sp>
      <p:sp>
        <p:nvSpPr>
          <p:cNvPr id="3" name="Content Placeholder 2"/>
          <p:cNvSpPr>
            <a:spLocks noGrp="1"/>
          </p:cNvSpPr>
          <p:nvPr>
            <p:ph idx="1"/>
          </p:nvPr>
        </p:nvSpPr>
        <p:spPr/>
        <p:txBody>
          <a:bodyPr>
            <a:normAutofit/>
          </a:bodyPr>
          <a:lstStyle/>
          <a:p>
            <a:r>
              <a:rPr lang="en-US" dirty="0" smtClean="0"/>
              <a:t>We </a:t>
            </a:r>
            <a:r>
              <a:rPr lang="en-US" dirty="0"/>
              <a:t>want to write our CSS in a way that can look nice in a wide range of screen sizes:</a:t>
            </a:r>
          </a:p>
          <a:p>
            <a:pPr lvl="1"/>
            <a:r>
              <a:rPr lang="en-US" dirty="0"/>
              <a:t>27" desktop monitor</a:t>
            </a:r>
          </a:p>
          <a:p>
            <a:pPr lvl="1"/>
            <a:r>
              <a:rPr lang="en-US" dirty="0" smtClean="0"/>
              <a:t>laptops</a:t>
            </a:r>
            <a:endParaRPr lang="en-US" dirty="0"/>
          </a:p>
          <a:p>
            <a:pPr lvl="1"/>
            <a:r>
              <a:rPr lang="en-US" dirty="0" smtClean="0"/>
              <a:t>Tablets</a:t>
            </a:r>
          </a:p>
          <a:p>
            <a:pPr lvl="1"/>
            <a:r>
              <a:rPr lang="en-US" dirty="0" smtClean="0"/>
              <a:t>Smartphones of varying sizes</a:t>
            </a:r>
          </a:p>
          <a:p>
            <a:r>
              <a:rPr lang="en-US" dirty="0"/>
              <a:t>Responsive web design responds to the needs of the users and the devices they're using. </a:t>
            </a:r>
          </a:p>
          <a:p>
            <a:pPr lvl="1"/>
            <a:r>
              <a:rPr lang="en-US" dirty="0"/>
              <a:t>The layout changes based on the size and capabilities of the device. </a:t>
            </a:r>
          </a:p>
          <a:p>
            <a:pPr lvl="1"/>
            <a:r>
              <a:rPr lang="en-US" dirty="0"/>
              <a:t>For example, on a phone users would see content shown in a single column view; a tablet might show the same content in two columns.</a:t>
            </a:r>
          </a:p>
          <a:p>
            <a:pPr marL="0" indent="0">
              <a:buNone/>
            </a:pPr>
            <a:endParaRPr lang="en-US" dirty="0" smtClean="0"/>
          </a:p>
        </p:txBody>
      </p:sp>
    </p:spTree>
    <p:extLst>
      <p:ext uri="{BB962C8B-B14F-4D97-AF65-F5344CB8AC3E}">
        <p14:creationId xmlns:p14="http://schemas.microsoft.com/office/powerpoint/2010/main" val="23868514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 </a:t>
            </a:r>
            <a:r>
              <a:rPr lang="en-US" dirty="0"/>
              <a:t>web </a:t>
            </a:r>
            <a:r>
              <a:rPr lang="en-US" dirty="0" smtClean="0"/>
              <a:t>design</a:t>
            </a:r>
            <a:endParaRPr lang="en-US" dirty="0"/>
          </a:p>
        </p:txBody>
      </p:sp>
      <p:sp>
        <p:nvSpPr>
          <p:cNvPr id="3" name="Content Placeholder 2"/>
          <p:cNvSpPr>
            <a:spLocks noGrp="1"/>
          </p:cNvSpPr>
          <p:nvPr>
            <p:ph idx="1"/>
          </p:nvPr>
        </p:nvSpPr>
        <p:spPr/>
        <p:txBody>
          <a:bodyPr>
            <a:normAutofit/>
          </a:bodyPr>
          <a:lstStyle/>
          <a:p>
            <a:r>
              <a:rPr lang="en-US" dirty="0" smtClean="0"/>
              <a:t>Responsive </a:t>
            </a:r>
            <a:r>
              <a:rPr lang="en-US" dirty="0"/>
              <a:t>web design can be achieved using</a:t>
            </a:r>
          </a:p>
          <a:p>
            <a:pPr lvl="1"/>
            <a:r>
              <a:rPr lang="en-US" dirty="0" smtClean="0"/>
              <a:t>Meta viewport </a:t>
            </a:r>
            <a:r>
              <a:rPr lang="en-US" dirty="0"/>
              <a:t>tag and </a:t>
            </a:r>
          </a:p>
          <a:p>
            <a:pPr lvl="1"/>
            <a:r>
              <a:rPr lang="en-US" dirty="0"/>
              <a:t>CSS media </a:t>
            </a:r>
            <a:r>
              <a:rPr lang="en-US" dirty="0" smtClean="0"/>
              <a:t>queries</a:t>
            </a:r>
          </a:p>
          <a:p>
            <a:pPr lvl="1"/>
            <a:r>
              <a:rPr lang="en-US" dirty="0" smtClean="0"/>
              <a:t>Flexible layouts</a:t>
            </a:r>
            <a:endParaRPr lang="en-US" dirty="0"/>
          </a:p>
        </p:txBody>
      </p:sp>
    </p:spTree>
    <p:extLst>
      <p:ext uri="{BB962C8B-B14F-4D97-AF65-F5344CB8AC3E}">
        <p14:creationId xmlns:p14="http://schemas.microsoft.com/office/powerpoint/2010/main" val="275417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Meta viewport tag</a:t>
            </a:r>
            <a:endParaRPr lang="en-IN" dirty="0"/>
          </a:p>
        </p:txBody>
      </p:sp>
      <p:sp>
        <p:nvSpPr>
          <p:cNvPr id="3" name="Content Placeholder 2"/>
          <p:cNvSpPr>
            <a:spLocks noGrp="1"/>
          </p:cNvSpPr>
          <p:nvPr>
            <p:ph idx="1"/>
          </p:nvPr>
        </p:nvSpPr>
        <p:spPr/>
        <p:txBody>
          <a:bodyPr/>
          <a:lstStyle/>
          <a:p>
            <a:pPr lvl="0"/>
            <a:r>
              <a:rPr lang="en-US" altLang="en-US" dirty="0">
                <a:latin typeface="Arial" panose="020B0604020202020204" pitchFamily="34" charset="0"/>
              </a:rPr>
              <a:t>Why Use &lt;meta name="viewport"&gt;? </a:t>
            </a:r>
            <a:endParaRPr lang="en-US" altLang="en-US" dirty="0" smtClean="0">
              <a:latin typeface="Arial" panose="020B0604020202020204" pitchFamily="34" charset="0"/>
            </a:endParaRPr>
          </a:p>
          <a:p>
            <a:pPr lvl="0"/>
            <a:endParaRPr lang="en-US" altLang="en-US" dirty="0">
              <a:latin typeface="Arial" panose="020B0604020202020204" pitchFamily="34" charset="0"/>
            </a:endParaRPr>
          </a:p>
          <a:p>
            <a:endParaRPr lang="en-IN" dirty="0"/>
          </a:p>
        </p:txBody>
      </p:sp>
      <p:pic>
        <p:nvPicPr>
          <p:cNvPr id="4" name="Content Placeholder 3">
            <a:extLst>
              <a:ext uri="{FF2B5EF4-FFF2-40B4-BE49-F238E27FC236}">
                <a16:creationId xmlns:a16="http://schemas.microsoft.com/office/drawing/2014/main" id="{F0A25C41-0A3A-4DA8-B47A-89069D16A8E3}"/>
              </a:ext>
            </a:extLst>
          </p:cNvPr>
          <p:cNvPicPr>
            <a:picLocks noChangeAspect="1"/>
          </p:cNvPicPr>
          <p:nvPr/>
        </p:nvPicPr>
        <p:blipFill>
          <a:blip r:embed="rId2"/>
          <a:stretch>
            <a:fillRect/>
          </a:stretch>
        </p:blipFill>
        <p:spPr>
          <a:xfrm>
            <a:off x="2370637" y="2599141"/>
            <a:ext cx="6377829" cy="4354406"/>
          </a:xfrm>
          <a:prstGeom prst="rect">
            <a:avLst/>
          </a:prstGeom>
        </p:spPr>
      </p:pic>
    </p:spTree>
    <p:extLst>
      <p:ext uri="{BB962C8B-B14F-4D97-AF65-F5344CB8AC3E}">
        <p14:creationId xmlns:p14="http://schemas.microsoft.com/office/powerpoint/2010/main" val="3874277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 viewport tag</a:t>
            </a:r>
          </a:p>
        </p:txBody>
      </p:sp>
      <p:sp>
        <p:nvSpPr>
          <p:cNvPr id="3" name="Content Placeholder 2"/>
          <p:cNvSpPr>
            <a:spLocks noGrp="1"/>
          </p:cNvSpPr>
          <p:nvPr>
            <p:ph idx="1"/>
          </p:nvPr>
        </p:nvSpPr>
        <p:spPr/>
        <p:txBody>
          <a:bodyPr>
            <a:normAutofit/>
          </a:bodyPr>
          <a:lstStyle/>
          <a:p>
            <a:r>
              <a:rPr lang="en-US" sz="2000" dirty="0" smtClean="0"/>
              <a:t>To create mobile-optimized websites, use this tag</a:t>
            </a:r>
          </a:p>
          <a:p>
            <a:pPr lvl="1"/>
            <a:r>
              <a:rPr lang="en-US" sz="1800" dirty="0" smtClean="0"/>
              <a:t>If not used, phone browser renders the webpage for larger “</a:t>
            </a:r>
            <a:r>
              <a:rPr lang="en-US" sz="1800" dirty="0" smtClean="0">
                <a:solidFill>
                  <a:srgbClr val="FF0000"/>
                </a:solidFill>
              </a:rPr>
              <a:t>virtual” viewport</a:t>
            </a:r>
            <a:r>
              <a:rPr lang="en-US" sz="1800" dirty="0" smtClean="0"/>
              <a:t> (desktop width ~1000 </a:t>
            </a:r>
            <a:r>
              <a:rPr lang="en-US" sz="1800" dirty="0" err="1" smtClean="0"/>
              <a:t>px</a:t>
            </a:r>
            <a:r>
              <a:rPr lang="en-US" sz="1800" dirty="0" smtClean="0"/>
              <a:t>) and </a:t>
            </a:r>
            <a:r>
              <a:rPr lang="en-US" sz="1800" dirty="0"/>
              <a:t>zooming </a:t>
            </a:r>
            <a:r>
              <a:rPr lang="en-US" sz="1800" dirty="0" smtClean="0"/>
              <a:t>out</a:t>
            </a:r>
            <a:endParaRPr lang="en-US" sz="1800" dirty="0"/>
          </a:p>
          <a:p>
            <a:r>
              <a:rPr lang="en-US" sz="2000" dirty="0" smtClean="0"/>
              <a:t>Included in &lt;</a:t>
            </a:r>
            <a:r>
              <a:rPr lang="en-US" sz="2000" dirty="0"/>
              <a:t>head&gt; section of your HTML. </a:t>
            </a:r>
          </a:p>
          <a:p>
            <a:pPr lvl="1"/>
            <a:r>
              <a:rPr lang="en-US" sz="1800" dirty="0" smtClean="0">
                <a:solidFill>
                  <a:srgbClr val="434343"/>
                </a:solidFill>
                <a:latin typeface="Consolas" panose="020B0609020204030204" pitchFamily="49" charset="0"/>
              </a:rPr>
              <a:t>&lt;</a:t>
            </a:r>
            <a:r>
              <a:rPr lang="en-US" sz="1800" dirty="0">
                <a:solidFill>
                  <a:srgbClr val="434343"/>
                </a:solidFill>
                <a:latin typeface="Consolas" panose="020B0609020204030204" pitchFamily="49" charset="0"/>
              </a:rPr>
              <a:t>meta </a:t>
            </a:r>
            <a:r>
              <a:rPr lang="en-US" sz="1800" b="1" dirty="0">
                <a:solidFill>
                  <a:srgbClr val="0000FF"/>
                </a:solidFill>
                <a:latin typeface="Consolas-Bold"/>
              </a:rPr>
              <a:t>name="</a:t>
            </a:r>
            <a:r>
              <a:rPr lang="en-US" sz="1800" b="1" dirty="0" smtClean="0">
                <a:solidFill>
                  <a:srgbClr val="0000FF"/>
                </a:solidFill>
                <a:latin typeface="Consolas-Bold"/>
              </a:rPr>
              <a:t>viewport" </a:t>
            </a:r>
            <a:r>
              <a:rPr lang="en-US" sz="1800" b="1" dirty="0" smtClean="0">
                <a:solidFill>
                  <a:srgbClr val="9A00FF"/>
                </a:solidFill>
                <a:latin typeface="Consolas-Bold"/>
              </a:rPr>
              <a:t>content="width=device-width, initial-scale=1"</a:t>
            </a:r>
            <a:r>
              <a:rPr lang="en-US" sz="1800" dirty="0" smtClean="0">
                <a:solidFill>
                  <a:srgbClr val="434343"/>
                </a:solidFill>
                <a:latin typeface="Consolas" panose="020B0609020204030204" pitchFamily="49" charset="0"/>
              </a:rPr>
              <a:t>&gt;</a:t>
            </a:r>
          </a:p>
          <a:p>
            <a:pPr lvl="1"/>
            <a:r>
              <a:rPr lang="en-US" sz="1600" b="1" dirty="0" smtClean="0">
                <a:solidFill>
                  <a:srgbClr val="0000FF"/>
                </a:solidFill>
                <a:latin typeface="Consolas-Bold"/>
              </a:rPr>
              <a:t>name=viewport</a:t>
            </a:r>
            <a:r>
              <a:rPr lang="en-US" sz="1600" dirty="0">
                <a:solidFill>
                  <a:srgbClr val="434343"/>
                </a:solidFill>
                <a:latin typeface="Calibri" panose="020F0502020204030204" pitchFamily="34" charset="0"/>
              </a:rPr>
              <a:t>: "Browser, I am going to tell you how </a:t>
            </a:r>
            <a:r>
              <a:rPr lang="en-US" sz="1600" dirty="0" smtClean="0">
                <a:solidFill>
                  <a:srgbClr val="434343"/>
                </a:solidFill>
                <a:latin typeface="Calibri" panose="020F0502020204030204" pitchFamily="34" charset="0"/>
              </a:rPr>
              <a:t>I want </a:t>
            </a:r>
            <a:r>
              <a:rPr lang="en-US" sz="1600" dirty="0">
                <a:solidFill>
                  <a:srgbClr val="434343"/>
                </a:solidFill>
                <a:latin typeface="Calibri" panose="020F0502020204030204" pitchFamily="34" charset="0"/>
              </a:rPr>
              <a:t>the viewport to look</a:t>
            </a:r>
            <a:r>
              <a:rPr lang="en-US" sz="1600" dirty="0" smtClean="0">
                <a:solidFill>
                  <a:srgbClr val="434343"/>
                </a:solidFill>
                <a:latin typeface="Calibri" panose="020F0502020204030204" pitchFamily="34" charset="0"/>
              </a:rPr>
              <a:t>."</a:t>
            </a:r>
            <a:endParaRPr lang="en-US" sz="1600" b="1" dirty="0" smtClean="0">
              <a:solidFill>
                <a:srgbClr val="9A00FF"/>
              </a:solidFill>
              <a:latin typeface="Consolas-Bold"/>
            </a:endParaRPr>
          </a:p>
          <a:p>
            <a:pPr lvl="1"/>
            <a:r>
              <a:rPr lang="en-US" sz="1600" b="1" dirty="0" smtClean="0">
                <a:solidFill>
                  <a:srgbClr val="9A00FF"/>
                </a:solidFill>
                <a:latin typeface="Consolas-Bold"/>
              </a:rPr>
              <a:t>width=device-width</a:t>
            </a:r>
            <a:r>
              <a:rPr lang="en-US" sz="1600" dirty="0">
                <a:solidFill>
                  <a:srgbClr val="434343"/>
                </a:solidFill>
                <a:latin typeface="Calibri" panose="020F0502020204030204" pitchFamily="34" charset="0"/>
              </a:rPr>
              <a:t>: "The viewport's width </a:t>
            </a:r>
            <a:r>
              <a:rPr lang="en-US" sz="1600" dirty="0" smtClean="0">
                <a:solidFill>
                  <a:srgbClr val="434343"/>
                </a:solidFill>
                <a:latin typeface="Calibri" panose="020F0502020204030204" pitchFamily="34" charset="0"/>
              </a:rPr>
              <a:t>should always </a:t>
            </a:r>
            <a:r>
              <a:rPr lang="en-US" sz="1600" dirty="0">
                <a:solidFill>
                  <a:srgbClr val="434343"/>
                </a:solidFill>
                <a:latin typeface="Calibri" panose="020F0502020204030204" pitchFamily="34" charset="0"/>
              </a:rPr>
              <a:t>start at the device's width." (i.e., </a:t>
            </a:r>
            <a:r>
              <a:rPr lang="en-US" sz="1600" dirty="0" smtClean="0">
                <a:solidFill>
                  <a:srgbClr val="434343"/>
                </a:solidFill>
                <a:latin typeface="Calibri" panose="020F0502020204030204" pitchFamily="34" charset="0"/>
              </a:rPr>
              <a:t>no virtual viewport)</a:t>
            </a:r>
            <a:endParaRPr lang="en-US" sz="1600" b="1" dirty="0" smtClean="0">
              <a:solidFill>
                <a:srgbClr val="9A00FF"/>
              </a:solidFill>
              <a:latin typeface="Consolas-Bold"/>
            </a:endParaRPr>
          </a:p>
          <a:p>
            <a:pPr lvl="1"/>
            <a:r>
              <a:rPr lang="en-US" sz="1600" b="1" dirty="0" smtClean="0">
                <a:solidFill>
                  <a:srgbClr val="9A00FF"/>
                </a:solidFill>
                <a:latin typeface="Consolas-Bold"/>
              </a:rPr>
              <a:t>initial-scale=1</a:t>
            </a:r>
            <a:r>
              <a:rPr lang="en-US" sz="1600" dirty="0">
                <a:solidFill>
                  <a:srgbClr val="434343"/>
                </a:solidFill>
                <a:latin typeface="Calibri" panose="020F0502020204030204" pitchFamily="34" charset="0"/>
              </a:rPr>
              <a:t>: "Start at zoom level of 100</a:t>
            </a:r>
            <a:r>
              <a:rPr lang="en-US" sz="1600" dirty="0" smtClean="0">
                <a:solidFill>
                  <a:srgbClr val="434343"/>
                </a:solidFill>
                <a:latin typeface="Calibri" panose="020F0502020204030204" pitchFamily="34" charset="0"/>
              </a:rPr>
              <a:t>%."</a:t>
            </a:r>
            <a:endParaRPr lang="en-US" sz="1600" b="1" dirty="0" smtClean="0"/>
          </a:p>
          <a:p>
            <a:r>
              <a:rPr lang="en-US" sz="2200" b="1" dirty="0"/>
              <a:t>You should </a:t>
            </a:r>
            <a:r>
              <a:rPr lang="en-US" sz="2200" b="1" dirty="0" smtClean="0"/>
              <a:t>always </a:t>
            </a:r>
            <a:r>
              <a:rPr lang="en-US" sz="2200" b="1" dirty="0"/>
              <a:t>include this tag in your HTML</a:t>
            </a:r>
            <a:r>
              <a:rPr lang="en-US" sz="2200" b="1" dirty="0" smtClean="0"/>
              <a:t>.</a:t>
            </a:r>
          </a:p>
          <a:p>
            <a:pPr lvl="1"/>
            <a:endParaRPr lang="en-US" sz="1500" dirty="0"/>
          </a:p>
        </p:txBody>
      </p:sp>
    </p:spTree>
    <p:extLst>
      <p:ext uri="{BB962C8B-B14F-4D97-AF65-F5344CB8AC3E}">
        <p14:creationId xmlns:p14="http://schemas.microsoft.com/office/powerpoint/2010/main" val="82563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a:t>
            </a:r>
          </a:p>
        </p:txBody>
      </p:sp>
      <p:sp>
        <p:nvSpPr>
          <p:cNvPr id="3" name="Content Placeholder 2"/>
          <p:cNvSpPr>
            <a:spLocks noGrp="1"/>
          </p:cNvSpPr>
          <p:nvPr>
            <p:ph idx="1"/>
          </p:nvPr>
        </p:nvSpPr>
        <p:spPr/>
        <p:txBody>
          <a:bodyPr>
            <a:normAutofit fontScale="85000" lnSpcReduction="10000"/>
          </a:bodyPr>
          <a:lstStyle/>
          <a:p>
            <a:pPr eaLnBrk="0" fontAlgn="base" hangingPunct="0">
              <a:lnSpc>
                <a:spcPct val="100000"/>
              </a:lnSpc>
              <a:spcBef>
                <a:spcPct val="0"/>
              </a:spcBef>
              <a:spcAft>
                <a:spcPct val="0"/>
              </a:spcAft>
            </a:pPr>
            <a:r>
              <a:rPr lang="en-US" sz="1800" dirty="0"/>
              <a:t>a popular technique for conditional rendering based on the characteristics of the device:</a:t>
            </a:r>
          </a:p>
          <a:p>
            <a:pPr eaLnBrk="0" fontAlgn="base" hangingPunct="0">
              <a:lnSpc>
                <a:spcPct val="100000"/>
              </a:lnSpc>
              <a:spcBef>
                <a:spcPct val="0"/>
              </a:spcBef>
              <a:spcAft>
                <a:spcPct val="0"/>
              </a:spcAft>
            </a:pPr>
            <a:endParaRPr lang="en-US" sz="1800" dirty="0"/>
          </a:p>
          <a:p>
            <a:pPr eaLnBrk="0" fontAlgn="base" hangingPunct="0">
              <a:lnSpc>
                <a:spcPct val="100000"/>
              </a:lnSpc>
              <a:spcBef>
                <a:spcPct val="0"/>
              </a:spcBef>
              <a:spcAft>
                <a:spcPct val="0"/>
              </a:spcAft>
            </a:pPr>
            <a:r>
              <a:rPr lang="en-US" sz="1800" b="1" dirty="0" err="1"/>
              <a:t>mediatype</a:t>
            </a:r>
            <a:r>
              <a:rPr lang="en-US" sz="1800" dirty="0"/>
              <a:t>: Styles can be specified for certain media types only such as for printed documents or for screen readers </a:t>
            </a:r>
            <a:endParaRPr lang="en-US" sz="1800" dirty="0" smtClean="0"/>
          </a:p>
          <a:p>
            <a:pPr lvl="1" eaLnBrk="0" fontAlgn="base" hangingPunct="0">
              <a:lnSpc>
                <a:spcPct val="110000"/>
              </a:lnSpc>
              <a:spcBef>
                <a:spcPct val="0"/>
              </a:spcBef>
              <a:spcAft>
                <a:spcPct val="0"/>
              </a:spcAft>
            </a:pPr>
            <a:r>
              <a:rPr lang="en-US" sz="1800" dirty="0">
                <a:solidFill>
                  <a:srgbClr val="333333"/>
                </a:solidFill>
              </a:rPr>
              <a:t>All: Suitable for all devices.</a:t>
            </a:r>
          </a:p>
          <a:p>
            <a:pPr lvl="1" eaLnBrk="0" fontAlgn="base" hangingPunct="0">
              <a:lnSpc>
                <a:spcPct val="110000"/>
              </a:lnSpc>
              <a:spcBef>
                <a:spcPct val="0"/>
              </a:spcBef>
              <a:spcAft>
                <a:spcPct val="0"/>
              </a:spcAft>
            </a:pPr>
            <a:r>
              <a:rPr lang="en-US" sz="1800" dirty="0">
                <a:solidFill>
                  <a:srgbClr val="333333"/>
                </a:solidFill>
              </a:rPr>
              <a:t>Print: Intended for paged material and documents viewed on a screen in print preview mode.</a:t>
            </a:r>
          </a:p>
          <a:p>
            <a:pPr lvl="1" eaLnBrk="0" fontAlgn="base" hangingPunct="0">
              <a:lnSpc>
                <a:spcPct val="110000"/>
              </a:lnSpc>
              <a:spcBef>
                <a:spcPct val="0"/>
              </a:spcBef>
              <a:spcAft>
                <a:spcPct val="0"/>
              </a:spcAft>
            </a:pPr>
            <a:r>
              <a:rPr lang="en-US" sz="1800" dirty="0">
                <a:solidFill>
                  <a:srgbClr val="333333"/>
                </a:solidFill>
              </a:rPr>
              <a:t>Screen: Intended primarily for screens.</a:t>
            </a:r>
          </a:p>
          <a:p>
            <a:pPr lvl="1" eaLnBrk="0" fontAlgn="base" hangingPunct="0">
              <a:lnSpc>
                <a:spcPct val="110000"/>
              </a:lnSpc>
              <a:spcBef>
                <a:spcPct val="0"/>
              </a:spcBef>
              <a:spcAft>
                <a:spcPct val="0"/>
              </a:spcAft>
            </a:pPr>
            <a:r>
              <a:rPr lang="en-US" sz="1800" dirty="0">
                <a:solidFill>
                  <a:srgbClr val="333333"/>
                </a:solidFill>
              </a:rPr>
              <a:t>Speech: Intended for speech synthesizers.</a:t>
            </a:r>
          </a:p>
          <a:p>
            <a:pPr eaLnBrk="0" fontAlgn="base" hangingPunct="0">
              <a:lnSpc>
                <a:spcPct val="100000"/>
              </a:lnSpc>
              <a:spcBef>
                <a:spcPct val="0"/>
              </a:spcBef>
              <a:spcAft>
                <a:spcPct val="0"/>
              </a:spcAft>
            </a:pPr>
            <a:endParaRPr lang="en-US" sz="1800" dirty="0"/>
          </a:p>
          <a:p>
            <a:pPr eaLnBrk="0" fontAlgn="base" hangingPunct="0">
              <a:lnSpc>
                <a:spcPct val="100000"/>
              </a:lnSpc>
              <a:spcBef>
                <a:spcPct val="0"/>
              </a:spcBef>
              <a:spcAft>
                <a:spcPct val="0"/>
              </a:spcAft>
            </a:pPr>
            <a:r>
              <a:rPr lang="en-US" sz="1800" b="1" dirty="0" err="1"/>
              <a:t>m</a:t>
            </a:r>
            <a:r>
              <a:rPr lang="en-US" sz="1800" b="1" dirty="0" err="1" smtClean="0"/>
              <a:t>ediafeature</a:t>
            </a:r>
            <a:r>
              <a:rPr lang="en-US" sz="1800" dirty="0" smtClean="0"/>
              <a:t>: </a:t>
            </a:r>
            <a:r>
              <a:rPr lang="en-US" sz="1800" dirty="0"/>
              <a:t>test for a specific feature of the user agent or display device. </a:t>
            </a:r>
          </a:p>
          <a:p>
            <a:pPr lvl="1" eaLnBrk="0" fontAlgn="base" hangingPunct="0">
              <a:lnSpc>
                <a:spcPct val="100000"/>
              </a:lnSpc>
              <a:spcBef>
                <a:spcPct val="0"/>
              </a:spcBef>
              <a:spcAft>
                <a:spcPct val="0"/>
              </a:spcAft>
            </a:pPr>
            <a:r>
              <a:rPr lang="en-US" sz="1800" dirty="0" smtClean="0">
                <a:solidFill>
                  <a:srgbClr val="333333"/>
                </a:solidFill>
              </a:rPr>
              <a:t>Width </a:t>
            </a:r>
            <a:r>
              <a:rPr lang="en-US" sz="1800" dirty="0">
                <a:solidFill>
                  <a:srgbClr val="333333"/>
                </a:solidFill>
              </a:rPr>
              <a:t>and height: width, height, min-width, max-width, min-height, max-height</a:t>
            </a:r>
          </a:p>
          <a:p>
            <a:pPr lvl="1" eaLnBrk="0" fontAlgn="base" hangingPunct="0">
              <a:lnSpc>
                <a:spcPct val="100000"/>
              </a:lnSpc>
              <a:spcBef>
                <a:spcPct val="0"/>
              </a:spcBef>
              <a:spcAft>
                <a:spcPct val="0"/>
              </a:spcAft>
            </a:pPr>
            <a:r>
              <a:rPr lang="en-US" sz="1800" dirty="0">
                <a:solidFill>
                  <a:srgbClr val="333333"/>
                </a:solidFill>
              </a:rPr>
              <a:t>Orientation: landscape | </a:t>
            </a:r>
            <a:r>
              <a:rPr lang="en-US" sz="1800" dirty="0" smtClean="0">
                <a:solidFill>
                  <a:srgbClr val="333333"/>
                </a:solidFill>
              </a:rPr>
              <a:t>portrait</a:t>
            </a:r>
          </a:p>
          <a:p>
            <a:pPr lvl="1" eaLnBrk="0" fontAlgn="base" hangingPunct="0">
              <a:lnSpc>
                <a:spcPct val="100000"/>
              </a:lnSpc>
              <a:spcBef>
                <a:spcPct val="0"/>
              </a:spcBef>
              <a:spcAft>
                <a:spcPct val="0"/>
              </a:spcAft>
            </a:pPr>
            <a:r>
              <a:rPr lang="en-US" sz="1800" dirty="0"/>
              <a:t>Resolution</a:t>
            </a:r>
          </a:p>
          <a:p>
            <a:pPr lvl="1" eaLnBrk="0" fontAlgn="base" hangingPunct="0">
              <a:lnSpc>
                <a:spcPct val="100000"/>
              </a:lnSpc>
              <a:spcBef>
                <a:spcPct val="0"/>
              </a:spcBef>
              <a:spcAft>
                <a:spcPct val="0"/>
              </a:spcAft>
            </a:pPr>
            <a:endParaRPr lang="en-US" sz="1800" dirty="0">
              <a:solidFill>
                <a:srgbClr val="333333"/>
              </a:solidFill>
            </a:endParaRPr>
          </a:p>
          <a:p>
            <a:pPr marL="514350" lvl="1" eaLnBrk="0" fontAlgn="base" hangingPunct="0">
              <a:lnSpc>
                <a:spcPct val="100000"/>
              </a:lnSpc>
              <a:spcBef>
                <a:spcPct val="0"/>
              </a:spcBef>
              <a:spcAft>
                <a:spcPct val="0"/>
              </a:spcAft>
            </a:pPr>
            <a:endParaRPr lang="en-US" sz="1800" dirty="0"/>
          </a:p>
          <a:p>
            <a:pPr lvl="1" eaLnBrk="0" fontAlgn="base" hangingPunct="0">
              <a:lnSpc>
                <a:spcPct val="100000"/>
              </a:lnSpc>
              <a:spcBef>
                <a:spcPct val="0"/>
              </a:spcBef>
              <a:spcAft>
                <a:spcPct val="0"/>
              </a:spcAft>
            </a:pPr>
            <a:r>
              <a:rPr lang="en-US" sz="1800" dirty="0" smtClean="0"/>
              <a:t>For </a:t>
            </a:r>
            <a:r>
              <a:rPr lang="en-US" sz="1800" dirty="0"/>
              <a:t>example, you can apply styles to only those screens that are greater, or smaller, than a certain width</a:t>
            </a:r>
          </a:p>
          <a:p>
            <a:endParaRPr lang="en-US" sz="1800" dirty="0"/>
          </a:p>
        </p:txBody>
      </p:sp>
    </p:spTree>
    <p:extLst>
      <p:ext uri="{BB962C8B-B14F-4D97-AF65-F5344CB8AC3E}">
        <p14:creationId xmlns:p14="http://schemas.microsoft.com/office/powerpoint/2010/main" val="299190319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queries</a:t>
            </a:r>
          </a:p>
        </p:txBody>
      </p:sp>
      <p:sp>
        <p:nvSpPr>
          <p:cNvPr id="3" name="Content Placeholder 2"/>
          <p:cNvSpPr>
            <a:spLocks noGrp="1"/>
          </p:cNvSpPr>
          <p:nvPr>
            <p:ph idx="1"/>
          </p:nvPr>
        </p:nvSpPr>
        <p:spPr>
          <a:xfrm>
            <a:off x="1311767" y="2020956"/>
            <a:ext cx="10515600" cy="2496237"/>
          </a:xfrm>
        </p:spPr>
        <p:txBody>
          <a:bodyPr>
            <a:normAutofit fontScale="85000" lnSpcReduction="20000"/>
          </a:bodyPr>
          <a:lstStyle/>
          <a:p>
            <a:endParaRPr lang="en-US" dirty="0" smtClean="0">
              <a:solidFill>
                <a:srgbClr val="A52A2A"/>
              </a:solidFill>
              <a:latin typeface="Consolas" panose="020B0609020204030204" pitchFamily="49" charset="0"/>
            </a:endParaRPr>
          </a:p>
          <a:p>
            <a:endParaRPr lang="en-US" dirty="0">
              <a:solidFill>
                <a:srgbClr val="A52A2A"/>
              </a:solidFill>
              <a:latin typeface="Consolas" panose="020B0609020204030204" pitchFamily="49" charset="0"/>
            </a:endParaRPr>
          </a:p>
          <a:p>
            <a:pPr marL="0" indent="0">
              <a:buNone/>
            </a:pPr>
            <a:r>
              <a:rPr lang="en-US" sz="2600" i="1" dirty="0">
                <a:solidFill>
                  <a:srgbClr val="FF0000"/>
                </a:solidFill>
                <a:latin typeface="Consolas" panose="020B0609020204030204" pitchFamily="49" charset="0"/>
              </a:rPr>
              <a:t>@media </a:t>
            </a:r>
            <a:r>
              <a:rPr lang="en-US" sz="2600" dirty="0" err="1">
                <a:solidFill>
                  <a:srgbClr val="A52A2A"/>
                </a:solidFill>
                <a:latin typeface="Consolas" panose="020B0609020204030204" pitchFamily="49" charset="0"/>
              </a:rPr>
              <a:t>not|only</a:t>
            </a:r>
            <a:r>
              <a:rPr lang="en-US" sz="2600" dirty="0">
                <a:solidFill>
                  <a:srgbClr val="A52A2A"/>
                </a:solidFill>
                <a:latin typeface="Consolas" panose="020B0609020204030204" pitchFamily="49" charset="0"/>
              </a:rPr>
              <a:t> </a:t>
            </a:r>
            <a:r>
              <a:rPr lang="en-US" sz="2600" i="1" dirty="0" err="1">
                <a:solidFill>
                  <a:srgbClr val="A52A2A"/>
                </a:solidFill>
                <a:latin typeface="Consolas" panose="020B0609020204030204" pitchFamily="49" charset="0"/>
              </a:rPr>
              <a:t>mediatype</a:t>
            </a:r>
            <a:r>
              <a:rPr lang="en-US" sz="2600" i="1" dirty="0">
                <a:solidFill>
                  <a:srgbClr val="A52A2A"/>
                </a:solidFill>
                <a:latin typeface="Consolas" panose="020B0609020204030204" pitchFamily="49" charset="0"/>
              </a:rPr>
              <a:t> </a:t>
            </a:r>
            <a:r>
              <a:rPr lang="en-US" sz="2600" dirty="0">
                <a:solidFill>
                  <a:srgbClr val="A52A2A"/>
                </a:solidFill>
                <a:latin typeface="Consolas" panose="020B0609020204030204" pitchFamily="49" charset="0"/>
              </a:rPr>
              <a:t>and</a:t>
            </a:r>
            <a:r>
              <a:rPr lang="en-US" sz="2600" i="1" dirty="0">
                <a:solidFill>
                  <a:srgbClr val="A52A2A"/>
                </a:solidFill>
                <a:latin typeface="Consolas" panose="020B0609020204030204" pitchFamily="49" charset="0"/>
              </a:rPr>
              <a:t> (</a:t>
            </a:r>
            <a:r>
              <a:rPr lang="en-US" sz="2600" i="1" dirty="0" err="1">
                <a:solidFill>
                  <a:srgbClr val="A52A2A"/>
                </a:solidFill>
                <a:latin typeface="Consolas" panose="020B0609020204030204" pitchFamily="49" charset="0"/>
              </a:rPr>
              <a:t>mediafeature</a:t>
            </a:r>
            <a:r>
              <a:rPr lang="en-US" sz="2600" i="1" dirty="0">
                <a:solidFill>
                  <a:srgbClr val="A52A2A"/>
                </a:solidFill>
                <a:latin typeface="Consolas" panose="020B0609020204030204" pitchFamily="49" charset="0"/>
              </a:rPr>
              <a:t> </a:t>
            </a:r>
            <a:r>
              <a:rPr lang="en-US" sz="2600" dirty="0" err="1">
                <a:solidFill>
                  <a:srgbClr val="A52A2A"/>
                </a:solidFill>
                <a:latin typeface="Consolas" panose="020B0609020204030204" pitchFamily="49" charset="0"/>
              </a:rPr>
              <a:t>and|or|not</a:t>
            </a:r>
            <a:r>
              <a:rPr lang="en-US" sz="2600" i="1" dirty="0">
                <a:solidFill>
                  <a:srgbClr val="A52A2A"/>
                </a:solidFill>
                <a:latin typeface="Consolas" panose="020B0609020204030204" pitchFamily="49" charset="0"/>
              </a:rPr>
              <a:t> </a:t>
            </a:r>
            <a:r>
              <a:rPr lang="en-US" sz="2600" i="1" dirty="0" err="1">
                <a:solidFill>
                  <a:srgbClr val="A52A2A"/>
                </a:solidFill>
                <a:latin typeface="Consolas" panose="020B0609020204030204" pitchFamily="49" charset="0"/>
              </a:rPr>
              <a:t>mediafeature</a:t>
            </a:r>
            <a:r>
              <a:rPr lang="en-US" sz="2600" i="1" dirty="0">
                <a:solidFill>
                  <a:srgbClr val="A52A2A"/>
                </a:solidFill>
                <a:latin typeface="Consolas" panose="020B0609020204030204" pitchFamily="49" charset="0"/>
              </a:rPr>
              <a:t>)</a:t>
            </a:r>
            <a:r>
              <a:rPr lang="en-US" sz="2600" dirty="0">
                <a:solidFill>
                  <a:srgbClr val="A52A2A"/>
                </a:solidFill>
                <a:latin typeface="Consolas" panose="020B0609020204030204" pitchFamily="49" charset="0"/>
              </a:rPr>
              <a:t> </a:t>
            </a:r>
            <a:endParaRPr lang="en-US" sz="2600" dirty="0" smtClean="0">
              <a:solidFill>
                <a:srgbClr val="A52A2A"/>
              </a:solidFill>
              <a:latin typeface="Consolas" panose="020B0609020204030204" pitchFamily="49" charset="0"/>
            </a:endParaRPr>
          </a:p>
          <a:p>
            <a:pPr marL="0" indent="0">
              <a:buNone/>
            </a:pPr>
            <a:r>
              <a:rPr lang="en-US" sz="2600" dirty="0" smtClean="0">
                <a:solidFill>
                  <a:srgbClr val="000000"/>
                </a:solidFill>
                <a:latin typeface="Consolas" panose="020B0609020204030204" pitchFamily="49" charset="0"/>
              </a:rPr>
              <a:t>{</a:t>
            </a:r>
            <a:r>
              <a:rPr lang="en-US" sz="2600" i="1" dirty="0">
                <a:solidFill>
                  <a:srgbClr val="FF0000"/>
                </a:solidFill>
                <a:latin typeface="Consolas" panose="020B0609020204030204" pitchFamily="49" charset="0"/>
              </a:rPr>
              <a:t/>
            </a:r>
            <a:br>
              <a:rPr lang="en-US" sz="2600" i="1" dirty="0">
                <a:solidFill>
                  <a:srgbClr val="FF0000"/>
                </a:solidFill>
                <a:latin typeface="Consolas" panose="020B0609020204030204" pitchFamily="49" charset="0"/>
              </a:rPr>
            </a:br>
            <a:r>
              <a:rPr lang="en-US" sz="2600" i="1" dirty="0">
                <a:solidFill>
                  <a:srgbClr val="FF0000"/>
                </a:solidFill>
                <a:latin typeface="Consolas" panose="020B0609020204030204" pitchFamily="49" charset="0"/>
              </a:rPr>
              <a:t>  CSS-Code;</a:t>
            </a:r>
            <a:br>
              <a:rPr lang="en-US" sz="2600" i="1" dirty="0">
                <a:solidFill>
                  <a:srgbClr val="FF0000"/>
                </a:solidFill>
                <a:latin typeface="Consolas" panose="020B0609020204030204" pitchFamily="49" charset="0"/>
              </a:rPr>
            </a:br>
            <a:r>
              <a:rPr lang="en-US" sz="2600" dirty="0" smtClean="0">
                <a:solidFill>
                  <a:srgbClr val="000000"/>
                </a:solidFill>
                <a:latin typeface="Consolas" panose="020B0609020204030204" pitchFamily="49" charset="0"/>
              </a:rPr>
              <a:t>}</a:t>
            </a:r>
          </a:p>
          <a:p>
            <a:pPr marL="0" indent="0">
              <a:buNone/>
            </a:pPr>
            <a:endParaRPr lang="en-US" sz="2600" dirty="0">
              <a:solidFill>
                <a:srgbClr val="000000"/>
              </a:solidFill>
              <a:latin typeface="Consolas" panose="020B0609020204030204" pitchFamily="49" charset="0"/>
            </a:endParaRPr>
          </a:p>
          <a:p>
            <a:pPr marL="0" indent="0">
              <a:buNone/>
            </a:pPr>
            <a:endParaRPr lang="en-US" sz="2600" dirty="0" smtClean="0">
              <a:solidFill>
                <a:srgbClr val="000000"/>
              </a:solidFill>
              <a:latin typeface="Consolas" panose="020B0609020204030204" pitchFamily="49" charset="0"/>
            </a:endParaRPr>
          </a:p>
          <a:p>
            <a:pPr marL="0" indent="0">
              <a:buNone/>
            </a:pPr>
            <a:endParaRPr lang="en-US" sz="2600" dirty="0">
              <a:solidFill>
                <a:srgbClr val="000000"/>
              </a:solidFill>
              <a:latin typeface="Consolas" panose="020B0609020204030204" pitchFamily="49" charset="0"/>
            </a:endParaRPr>
          </a:p>
          <a:p>
            <a:pPr marL="0" indent="0">
              <a:buNone/>
            </a:pPr>
            <a:endParaRPr lang="en-US" sz="2600" dirty="0" smtClean="0">
              <a:solidFill>
                <a:srgbClr val="A52A2A"/>
              </a:solidFill>
              <a:latin typeface="Consolas" panose="020B0609020204030204" pitchFamily="49" charset="0"/>
            </a:endParaRPr>
          </a:p>
          <a:p>
            <a:pPr lvl="1"/>
            <a:endParaRPr lang="en-US" sz="2600" b="1" dirty="0">
              <a:latin typeface="+mj-lt"/>
            </a:endParaRPr>
          </a:p>
          <a:p>
            <a:pPr lvl="1"/>
            <a:endParaRPr lang="en-US" sz="2600" b="1" dirty="0" smtClean="0">
              <a:latin typeface="+mj-lt"/>
            </a:endParaRPr>
          </a:p>
          <a:p>
            <a:pPr lvl="1"/>
            <a:endParaRPr lang="en-US" sz="2600" b="1" dirty="0">
              <a:latin typeface="+mj-lt"/>
            </a:endParaRPr>
          </a:p>
          <a:p>
            <a:pPr lvl="1"/>
            <a:endParaRPr lang="en-US" sz="2600" dirty="0">
              <a:latin typeface="+mj-lt"/>
            </a:endParaRPr>
          </a:p>
        </p:txBody>
      </p:sp>
      <p:sp>
        <p:nvSpPr>
          <p:cNvPr id="7" name="TextBox 6"/>
          <p:cNvSpPr txBox="1"/>
          <p:nvPr/>
        </p:nvSpPr>
        <p:spPr>
          <a:xfrm>
            <a:off x="2708493" y="1991329"/>
            <a:ext cx="4623515" cy="646331"/>
          </a:xfrm>
          <a:prstGeom prst="rect">
            <a:avLst/>
          </a:prstGeom>
          <a:noFill/>
        </p:spPr>
        <p:txBody>
          <a:bodyPr wrap="square" rtlCol="0">
            <a:spAutoFit/>
          </a:bodyPr>
          <a:lstStyle/>
          <a:p>
            <a:pPr marL="0" lvl="1"/>
            <a:r>
              <a:rPr lang="en-US" dirty="0" smtClean="0"/>
              <a:t>inverts </a:t>
            </a:r>
            <a:r>
              <a:rPr lang="en-US" dirty="0"/>
              <a:t>the meaning of an entire media query.</a:t>
            </a:r>
          </a:p>
          <a:p>
            <a:endParaRPr lang="en-US" dirty="0"/>
          </a:p>
        </p:txBody>
      </p:sp>
      <p:cxnSp>
        <p:nvCxnSpPr>
          <p:cNvPr id="9" name="Straight Arrow Connector 8"/>
          <p:cNvCxnSpPr/>
          <p:nvPr/>
        </p:nvCxnSpPr>
        <p:spPr>
          <a:xfrm>
            <a:off x="2593350" y="3416670"/>
            <a:ext cx="544121" cy="2514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3430583" y="3501676"/>
            <a:ext cx="8494488" cy="861774"/>
          </a:xfrm>
          <a:prstGeom prst="rect">
            <a:avLst/>
          </a:prstGeom>
          <a:noFill/>
        </p:spPr>
        <p:txBody>
          <a:bodyPr wrap="square" rtlCol="0">
            <a:spAutoFit/>
          </a:bodyPr>
          <a:lstStyle/>
          <a:p>
            <a:pPr marL="0" lvl="1"/>
            <a:r>
              <a:rPr lang="en-US" dirty="0" smtClean="0"/>
              <a:t>prevents </a:t>
            </a:r>
            <a:r>
              <a:rPr lang="en-US" dirty="0"/>
              <a:t>older browsers that do not support </a:t>
            </a:r>
            <a:r>
              <a:rPr lang="en-US" dirty="0" smtClean="0"/>
              <a:t>media queries with media </a:t>
            </a:r>
            <a:r>
              <a:rPr lang="en-US" dirty="0"/>
              <a:t>features from applying the specified styles. It has no effect on modern browsers.</a:t>
            </a:r>
          </a:p>
          <a:p>
            <a:endParaRPr lang="en-US" sz="1200" dirty="0"/>
          </a:p>
        </p:txBody>
      </p:sp>
      <p:sp>
        <p:nvSpPr>
          <p:cNvPr id="11" name="TextBox 10"/>
          <p:cNvSpPr txBox="1"/>
          <p:nvPr/>
        </p:nvSpPr>
        <p:spPr>
          <a:xfrm>
            <a:off x="5186320" y="2413411"/>
            <a:ext cx="5825439" cy="646331"/>
          </a:xfrm>
          <a:prstGeom prst="rect">
            <a:avLst/>
          </a:prstGeom>
          <a:noFill/>
        </p:spPr>
        <p:txBody>
          <a:bodyPr wrap="square" rtlCol="0">
            <a:spAutoFit/>
          </a:bodyPr>
          <a:lstStyle/>
          <a:p>
            <a:pPr marL="0" lvl="1"/>
            <a:r>
              <a:rPr lang="en-US" dirty="0" smtClean="0"/>
              <a:t>combines </a:t>
            </a:r>
            <a:r>
              <a:rPr lang="en-US" dirty="0"/>
              <a:t>a media feature with a media type or other media features</a:t>
            </a:r>
            <a:r>
              <a:rPr lang="en-US" dirty="0" smtClean="0"/>
              <a:t>.</a:t>
            </a:r>
            <a:endParaRPr lang="en-US" dirty="0"/>
          </a:p>
        </p:txBody>
      </p:sp>
      <p:cxnSp>
        <p:nvCxnSpPr>
          <p:cNvPr id="13" name="Straight Arrow Connector 12"/>
          <p:cNvCxnSpPr>
            <a:endCxn id="11" idx="1"/>
          </p:cNvCxnSpPr>
          <p:nvPr/>
        </p:nvCxnSpPr>
        <p:spPr>
          <a:xfrm flipV="1">
            <a:off x="4544582" y="2736577"/>
            <a:ext cx="641738" cy="4220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311767" y="1976281"/>
            <a:ext cx="1468191" cy="369332"/>
          </a:xfrm>
          <a:prstGeom prst="rect">
            <a:avLst/>
          </a:prstGeom>
          <a:noFill/>
        </p:spPr>
        <p:txBody>
          <a:bodyPr wrap="square" rtlCol="0">
            <a:spAutoFit/>
          </a:bodyPr>
          <a:lstStyle/>
          <a:p>
            <a:r>
              <a:rPr lang="en-US" dirty="0" smtClean="0"/>
              <a:t>@media rule</a:t>
            </a:r>
            <a:endParaRPr lang="en-US" dirty="0"/>
          </a:p>
        </p:txBody>
      </p:sp>
      <p:sp>
        <p:nvSpPr>
          <p:cNvPr id="20" name="TextBox 19"/>
          <p:cNvSpPr txBox="1"/>
          <p:nvPr/>
        </p:nvSpPr>
        <p:spPr>
          <a:xfrm>
            <a:off x="838200" y="4426432"/>
            <a:ext cx="5466641" cy="2031325"/>
          </a:xfrm>
          <a:prstGeom prst="rect">
            <a:avLst/>
          </a:prstGeom>
          <a:noFill/>
        </p:spPr>
        <p:txBody>
          <a:bodyPr wrap="square" rtlCol="0">
            <a:spAutoFit/>
          </a:bodyPr>
          <a:lstStyle/>
          <a:p>
            <a:pPr lvl="1" eaLnBrk="0" fontAlgn="base" hangingPunct="0">
              <a:spcBef>
                <a:spcPct val="0"/>
              </a:spcBef>
              <a:spcAft>
                <a:spcPct val="0"/>
              </a:spcAft>
            </a:pPr>
            <a:r>
              <a:rPr lang="en-US" dirty="0" err="1" smtClean="0">
                <a:solidFill>
                  <a:srgbClr val="333333"/>
                </a:solidFill>
                <a:cs typeface="Arial" panose="020B0604020202020204" pitchFamily="34" charset="0"/>
              </a:rPr>
              <a:t>Mediatype</a:t>
            </a:r>
            <a:endParaRPr lang="en-US" dirty="0">
              <a:solidFill>
                <a:srgbClr val="333333"/>
              </a:solidFill>
              <a:cs typeface="Arial" panose="020B0604020202020204" pitchFamily="34" charset="0"/>
            </a:endParaRPr>
          </a:p>
          <a:p>
            <a:pPr lvl="1" eaLnBrk="0" fontAlgn="base" hangingPunct="0">
              <a:spcBef>
                <a:spcPct val="0"/>
              </a:spcBef>
              <a:spcAft>
                <a:spcPct val="0"/>
              </a:spcAft>
              <a:buFontTx/>
              <a:buChar char="•"/>
            </a:pPr>
            <a:r>
              <a:rPr lang="en-US" dirty="0" smtClean="0">
                <a:solidFill>
                  <a:srgbClr val="333333"/>
                </a:solidFill>
                <a:cs typeface="Arial" panose="020B0604020202020204" pitchFamily="34" charset="0"/>
              </a:rPr>
              <a:t>All</a:t>
            </a:r>
            <a:r>
              <a:rPr lang="en-US" dirty="0">
                <a:solidFill>
                  <a:srgbClr val="333333"/>
                </a:solidFill>
                <a:cs typeface="Arial" panose="020B0604020202020204" pitchFamily="34" charset="0"/>
              </a:rPr>
              <a:t>: </a:t>
            </a:r>
            <a:r>
              <a:rPr lang="en-US" dirty="0"/>
              <a:t>Suitable for all devices.</a:t>
            </a:r>
            <a:endParaRPr lang="en-US" sz="2800" dirty="0">
              <a:solidFill>
                <a:srgbClr val="333333"/>
              </a:solidFill>
              <a:cs typeface="Arial" panose="020B0604020202020204" pitchFamily="34" charset="0"/>
            </a:endParaRPr>
          </a:p>
          <a:p>
            <a:pPr lvl="1" eaLnBrk="0" fontAlgn="base" hangingPunct="0">
              <a:spcBef>
                <a:spcPct val="0"/>
              </a:spcBef>
              <a:spcAft>
                <a:spcPct val="0"/>
              </a:spcAft>
              <a:buFontTx/>
              <a:buChar char="•"/>
            </a:pPr>
            <a:r>
              <a:rPr lang="en-US" dirty="0">
                <a:solidFill>
                  <a:srgbClr val="333333"/>
                </a:solidFill>
                <a:cs typeface="Arial" panose="020B0604020202020204" pitchFamily="34" charset="0"/>
              </a:rPr>
              <a:t>Print: </a:t>
            </a:r>
            <a:r>
              <a:rPr lang="en-US" dirty="0" smtClean="0"/>
              <a:t>Intended for paged </a:t>
            </a:r>
            <a:r>
              <a:rPr lang="en-US" dirty="0"/>
              <a:t>material and documents viewed on a screen in print preview mode.</a:t>
            </a:r>
            <a:endParaRPr lang="en-US" sz="2800" dirty="0">
              <a:solidFill>
                <a:srgbClr val="333333"/>
              </a:solidFill>
              <a:cs typeface="Arial" panose="020B0604020202020204" pitchFamily="34" charset="0"/>
            </a:endParaRPr>
          </a:p>
          <a:p>
            <a:pPr lvl="1" eaLnBrk="0" fontAlgn="base" hangingPunct="0">
              <a:spcBef>
                <a:spcPct val="0"/>
              </a:spcBef>
              <a:spcAft>
                <a:spcPct val="0"/>
              </a:spcAft>
              <a:buFontTx/>
              <a:buChar char="•"/>
            </a:pPr>
            <a:r>
              <a:rPr lang="en-US" dirty="0">
                <a:solidFill>
                  <a:srgbClr val="333333"/>
                </a:solidFill>
                <a:cs typeface="Arial" panose="020B0604020202020204" pitchFamily="34" charset="0"/>
              </a:rPr>
              <a:t>Screen: </a:t>
            </a:r>
            <a:r>
              <a:rPr lang="en-US" dirty="0"/>
              <a:t>Intended primarily for screens.</a:t>
            </a:r>
            <a:endParaRPr lang="en-US" sz="2800" dirty="0">
              <a:solidFill>
                <a:srgbClr val="333333"/>
              </a:solidFill>
              <a:cs typeface="Arial" panose="020B0604020202020204" pitchFamily="34" charset="0"/>
            </a:endParaRPr>
          </a:p>
          <a:p>
            <a:pPr lvl="1" eaLnBrk="0" fontAlgn="base" hangingPunct="0">
              <a:spcBef>
                <a:spcPct val="0"/>
              </a:spcBef>
              <a:spcAft>
                <a:spcPct val="0"/>
              </a:spcAft>
              <a:buFontTx/>
              <a:buChar char="•"/>
            </a:pPr>
            <a:r>
              <a:rPr lang="en-US" dirty="0">
                <a:solidFill>
                  <a:srgbClr val="333333"/>
                </a:solidFill>
                <a:cs typeface="Arial" panose="020B0604020202020204" pitchFamily="34" charset="0"/>
              </a:rPr>
              <a:t>Speech: </a:t>
            </a:r>
            <a:r>
              <a:rPr lang="en-US" dirty="0"/>
              <a:t>Intended for speech synthesizers.</a:t>
            </a:r>
            <a:endParaRPr lang="en-US" sz="2800" dirty="0">
              <a:solidFill>
                <a:srgbClr val="333333"/>
              </a:solidFill>
              <a:cs typeface="Arial" panose="020B0604020202020204" pitchFamily="34" charset="0"/>
            </a:endParaRPr>
          </a:p>
          <a:p>
            <a:endParaRPr lang="en-US" dirty="0"/>
          </a:p>
        </p:txBody>
      </p:sp>
      <p:sp>
        <p:nvSpPr>
          <p:cNvPr id="21" name="TextBox 20"/>
          <p:cNvSpPr txBox="1"/>
          <p:nvPr/>
        </p:nvSpPr>
        <p:spPr>
          <a:xfrm>
            <a:off x="5957340" y="4478032"/>
            <a:ext cx="6343594" cy="1754326"/>
          </a:xfrm>
          <a:prstGeom prst="rect">
            <a:avLst/>
          </a:prstGeom>
          <a:noFill/>
        </p:spPr>
        <p:txBody>
          <a:bodyPr wrap="square" rtlCol="0">
            <a:spAutoFit/>
          </a:bodyPr>
          <a:lstStyle/>
          <a:p>
            <a:pPr eaLnBrk="0" fontAlgn="base" hangingPunct="0">
              <a:lnSpc>
                <a:spcPct val="100000"/>
              </a:lnSpc>
              <a:spcBef>
                <a:spcPct val="0"/>
              </a:spcBef>
              <a:spcAft>
                <a:spcPct val="0"/>
              </a:spcAft>
            </a:pPr>
            <a:r>
              <a:rPr lang="en-US" dirty="0" err="1"/>
              <a:t>Mediafeatures</a:t>
            </a:r>
            <a:r>
              <a:rPr lang="en-US" dirty="0"/>
              <a:t>: test for a specific feature of the user agent or display device. </a:t>
            </a:r>
          </a:p>
          <a:p>
            <a:pPr marL="742950" lvl="1" indent="-285750" eaLnBrk="0" fontAlgn="base" hangingPunct="0">
              <a:lnSpc>
                <a:spcPct val="100000"/>
              </a:lnSpc>
              <a:spcBef>
                <a:spcPct val="0"/>
              </a:spcBef>
              <a:spcAft>
                <a:spcPct val="0"/>
              </a:spcAft>
              <a:buFont typeface="Arial" panose="020B0604020202020204" pitchFamily="34" charset="0"/>
              <a:buChar char="•"/>
            </a:pPr>
            <a:r>
              <a:rPr lang="en-US" dirty="0" smtClean="0">
                <a:solidFill>
                  <a:srgbClr val="333333"/>
                </a:solidFill>
              </a:rPr>
              <a:t>Width </a:t>
            </a:r>
            <a:r>
              <a:rPr lang="en-US" dirty="0">
                <a:solidFill>
                  <a:srgbClr val="333333"/>
                </a:solidFill>
              </a:rPr>
              <a:t>and height: width, height, min-width, max-width, min-height, max-height</a:t>
            </a:r>
          </a:p>
          <a:p>
            <a:pPr marL="742950" lvl="1" indent="-285750" eaLnBrk="0" fontAlgn="base" hangingPunct="0">
              <a:lnSpc>
                <a:spcPct val="100000"/>
              </a:lnSpc>
              <a:spcBef>
                <a:spcPct val="0"/>
              </a:spcBef>
              <a:spcAft>
                <a:spcPct val="0"/>
              </a:spcAft>
              <a:buFont typeface="Arial" panose="020B0604020202020204" pitchFamily="34" charset="0"/>
              <a:buChar char="•"/>
            </a:pPr>
            <a:r>
              <a:rPr lang="en-US" dirty="0">
                <a:solidFill>
                  <a:srgbClr val="333333"/>
                </a:solidFill>
              </a:rPr>
              <a:t>Orientation: landscape | </a:t>
            </a:r>
            <a:r>
              <a:rPr lang="en-US" dirty="0" smtClean="0">
                <a:solidFill>
                  <a:srgbClr val="333333"/>
                </a:solidFill>
              </a:rPr>
              <a:t>portrait</a:t>
            </a:r>
          </a:p>
          <a:p>
            <a:pPr marL="742950" lvl="1" indent="-285750" eaLnBrk="0" fontAlgn="base" hangingPunct="0">
              <a:lnSpc>
                <a:spcPct val="100000"/>
              </a:lnSpc>
              <a:spcBef>
                <a:spcPct val="0"/>
              </a:spcBef>
              <a:spcAft>
                <a:spcPct val="0"/>
              </a:spcAft>
              <a:buFont typeface="Arial" panose="020B0604020202020204" pitchFamily="34" charset="0"/>
              <a:buChar char="•"/>
            </a:pPr>
            <a:r>
              <a:rPr lang="en-US" dirty="0" smtClean="0">
                <a:solidFill>
                  <a:srgbClr val="333333"/>
                </a:solidFill>
              </a:rPr>
              <a:t>Resolution</a:t>
            </a:r>
            <a:endParaRPr lang="en-US" dirty="0">
              <a:solidFill>
                <a:srgbClr val="333333"/>
              </a:solidFill>
            </a:endParaRPr>
          </a:p>
        </p:txBody>
      </p:sp>
      <p:cxnSp>
        <p:nvCxnSpPr>
          <p:cNvPr id="23" name="Straight Arrow Connector 22"/>
          <p:cNvCxnSpPr/>
          <p:nvPr/>
        </p:nvCxnSpPr>
        <p:spPr>
          <a:xfrm flipH="1" flipV="1">
            <a:off x="1745677" y="2318081"/>
            <a:ext cx="7458" cy="3562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311767" y="6200234"/>
            <a:ext cx="12323298" cy="646331"/>
          </a:xfrm>
          <a:prstGeom prst="rect">
            <a:avLst/>
          </a:prstGeom>
          <a:noFill/>
        </p:spPr>
        <p:txBody>
          <a:bodyPr wrap="square" rtlCol="0">
            <a:spAutoFit/>
          </a:bodyPr>
          <a:lstStyle/>
          <a:p>
            <a:pPr marL="0" lvl="1"/>
            <a:r>
              <a:rPr lang="en-US" dirty="0"/>
              <a:t>They are all optional. However, if you use not or only, you must also specify a media type.</a:t>
            </a:r>
          </a:p>
          <a:p>
            <a:endParaRPr lang="en-US" dirty="0"/>
          </a:p>
        </p:txBody>
      </p:sp>
      <p:cxnSp>
        <p:nvCxnSpPr>
          <p:cNvPr id="34" name="Straight Arrow Connector 33"/>
          <p:cNvCxnSpPr/>
          <p:nvPr/>
        </p:nvCxnSpPr>
        <p:spPr>
          <a:xfrm flipV="1">
            <a:off x="1745677" y="2314494"/>
            <a:ext cx="1391794" cy="935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897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10" grpId="0"/>
      <p:bldP spid="11" grpId="0"/>
      <p:bldP spid="19" grpId="0"/>
      <p:bldP spid="20" grpId="0"/>
      <p:bldP spid="21" grpId="0"/>
      <p:bldP spid="2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Mobile-first approach to web development</a:t>
            </a:r>
            <a:endParaRPr lang="en-US" dirty="0"/>
          </a:p>
        </p:txBody>
      </p:sp>
      <p:sp>
        <p:nvSpPr>
          <p:cNvPr id="3" name="Content Placeholder 2"/>
          <p:cNvSpPr>
            <a:spLocks noGrp="1"/>
          </p:cNvSpPr>
          <p:nvPr>
            <p:ph idx="1"/>
          </p:nvPr>
        </p:nvSpPr>
        <p:spPr/>
        <p:txBody>
          <a:bodyPr>
            <a:normAutofit/>
          </a:bodyPr>
          <a:lstStyle/>
          <a:p>
            <a:r>
              <a:rPr lang="en-US" sz="1800" dirty="0"/>
              <a:t>Mobile First approach </a:t>
            </a:r>
            <a:endParaRPr lang="en-US" sz="1800" dirty="0" smtClean="0"/>
          </a:p>
          <a:p>
            <a:pPr lvl="1"/>
            <a:r>
              <a:rPr lang="en-US" dirty="0" smtClean="0"/>
              <a:t>Base styles: smaller screens </a:t>
            </a:r>
          </a:p>
          <a:p>
            <a:pPr lvl="1"/>
            <a:r>
              <a:rPr lang="en-US" dirty="0" smtClean="0"/>
              <a:t>Media queries: Larger screens</a:t>
            </a:r>
          </a:p>
          <a:p>
            <a:r>
              <a:rPr lang="en-US" sz="1800" dirty="0" smtClean="0"/>
              <a:t>Reason: mobiles </a:t>
            </a:r>
            <a:r>
              <a:rPr lang="en-US" sz="1800" dirty="0"/>
              <a:t>generally have less memory, processing power and bandwidth than other devices</a:t>
            </a:r>
          </a:p>
          <a:p>
            <a:r>
              <a:rPr lang="en-US" sz="1800" dirty="0" smtClean="0"/>
              <a:t>Use </a:t>
            </a:r>
            <a:r>
              <a:rPr lang="en-US" sz="1800" dirty="0"/>
              <a:t>min-width in media-queries</a:t>
            </a:r>
          </a:p>
        </p:txBody>
      </p:sp>
    </p:spTree>
    <p:extLst>
      <p:ext uri="{BB962C8B-B14F-4D97-AF65-F5344CB8AC3E}">
        <p14:creationId xmlns:p14="http://schemas.microsoft.com/office/powerpoint/2010/main" val="37277763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breakpoints for media-queries</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55953" y="1806136"/>
            <a:ext cx="4476516" cy="4632372"/>
          </a:xfrm>
        </p:spPr>
      </p:pic>
    </p:spTree>
    <p:extLst>
      <p:ext uri="{BB962C8B-B14F-4D97-AF65-F5344CB8AC3E}">
        <p14:creationId xmlns:p14="http://schemas.microsoft.com/office/powerpoint/2010/main" val="837989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257" y="946150"/>
            <a:ext cx="10515600" cy="1325563"/>
          </a:xfrm>
        </p:spPr>
        <p:txBody>
          <a:bodyPr/>
          <a:lstStyle/>
          <a:p>
            <a:r>
              <a:rPr lang="en-US" dirty="0"/>
              <a:t>Chrome device mode</a:t>
            </a:r>
          </a:p>
        </p:txBody>
      </p:sp>
      <p:sp>
        <p:nvSpPr>
          <p:cNvPr id="3" name="Content Placeholder 2"/>
          <p:cNvSpPr>
            <a:spLocks noGrp="1"/>
          </p:cNvSpPr>
          <p:nvPr>
            <p:ph idx="1"/>
          </p:nvPr>
        </p:nvSpPr>
        <p:spPr>
          <a:xfrm>
            <a:off x="797257" y="2406650"/>
            <a:ext cx="10515600" cy="4351338"/>
          </a:xfrm>
        </p:spPr>
        <p:txBody>
          <a:bodyPr/>
          <a:lstStyle/>
          <a:p>
            <a:endParaRPr lang="en-US" dirty="0"/>
          </a:p>
        </p:txBody>
      </p:sp>
      <p:pic>
        <p:nvPicPr>
          <p:cNvPr id="4" name="Picture 3"/>
          <p:cNvPicPr>
            <a:picLocks noChangeAspect="1"/>
          </p:cNvPicPr>
          <p:nvPr/>
        </p:nvPicPr>
        <p:blipFill>
          <a:blip r:embed="rId2"/>
          <a:stretch>
            <a:fillRect/>
          </a:stretch>
        </p:blipFill>
        <p:spPr>
          <a:xfrm>
            <a:off x="635332" y="1162050"/>
            <a:ext cx="10839450" cy="5695950"/>
          </a:xfrm>
          <a:prstGeom prst="rect">
            <a:avLst/>
          </a:prstGeom>
        </p:spPr>
      </p:pic>
      <p:sp>
        <p:nvSpPr>
          <p:cNvPr id="5" name="Oval 4"/>
          <p:cNvSpPr/>
          <p:nvPr/>
        </p:nvSpPr>
        <p:spPr>
          <a:xfrm>
            <a:off x="7001302" y="946150"/>
            <a:ext cx="655092" cy="61751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419367" y="341194"/>
            <a:ext cx="8911988" cy="523220"/>
          </a:xfrm>
          <a:prstGeom prst="rect">
            <a:avLst/>
          </a:prstGeom>
          <a:noFill/>
        </p:spPr>
        <p:txBody>
          <a:bodyPr wrap="square" rtlCol="0">
            <a:spAutoFit/>
          </a:bodyPr>
          <a:lstStyle/>
          <a:p>
            <a:pPr algn="ctr"/>
            <a:r>
              <a:rPr lang="en-US" sz="2800" dirty="0" smtClean="0"/>
              <a:t>Chrome device mode for inspecting mobile layouts</a:t>
            </a:r>
            <a:endParaRPr lang="en-US" sz="2800" dirty="0"/>
          </a:p>
        </p:txBody>
      </p:sp>
    </p:spTree>
    <p:extLst>
      <p:ext uri="{BB962C8B-B14F-4D97-AF65-F5344CB8AC3E}">
        <p14:creationId xmlns:p14="http://schemas.microsoft.com/office/powerpoint/2010/main" val="12666986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Responsive Images</a:t>
            </a:r>
          </a:p>
        </p:txBody>
      </p:sp>
      <p:sp>
        <p:nvSpPr>
          <p:cNvPr id="3" name="Content Placeholder 2"/>
          <p:cNvSpPr>
            <a:spLocks noGrp="1"/>
          </p:cNvSpPr>
          <p:nvPr>
            <p:ph idx="1"/>
          </p:nvPr>
        </p:nvSpPr>
        <p:spPr/>
        <p:txBody>
          <a:bodyPr>
            <a:normAutofit fontScale="85000" lnSpcReduction="20000"/>
          </a:bodyPr>
          <a:lstStyle/>
          <a:p>
            <a:pPr marL="0" lvl="0" indent="0" eaLnBrk="0" fontAlgn="base" hangingPunct="0">
              <a:lnSpc>
                <a:spcPct val="100000"/>
              </a:lnSpc>
              <a:spcBef>
                <a:spcPct val="0"/>
              </a:spcBef>
              <a:spcAft>
                <a:spcPct val="0"/>
              </a:spcAft>
              <a:buNone/>
            </a:pPr>
            <a:r>
              <a:rPr lang="en-US" sz="2400" dirty="0">
                <a:solidFill>
                  <a:srgbClr val="000000"/>
                </a:solidFill>
                <a:latin typeface="Segoe UI" panose="020B0502040204020203" pitchFamily="34" charset="0"/>
                <a:cs typeface="Segoe UI" panose="020B0502040204020203" pitchFamily="34" charset="0"/>
              </a:rPr>
              <a:t>Using The width </a:t>
            </a:r>
            <a:r>
              <a:rPr lang="en-US" sz="2400" dirty="0" smtClean="0">
                <a:solidFill>
                  <a:srgbClr val="000000"/>
                </a:solidFill>
                <a:latin typeface="Segoe UI" panose="020B0502040204020203" pitchFamily="34" charset="0"/>
                <a:cs typeface="Segoe UI" panose="020B0502040204020203" pitchFamily="34" charset="0"/>
              </a:rPr>
              <a:t>Property</a:t>
            </a:r>
          </a:p>
          <a:p>
            <a:pPr marL="0" lvl="0" indent="0" eaLnBrk="0" fontAlgn="base" hangingPunct="0">
              <a:lnSpc>
                <a:spcPct val="100000"/>
              </a:lnSpc>
              <a:spcBef>
                <a:spcPct val="0"/>
              </a:spcBef>
              <a:spcAft>
                <a:spcPct val="0"/>
              </a:spcAft>
              <a:buNone/>
            </a:pPr>
            <a:endParaRPr lang="en-US" sz="2400" dirty="0">
              <a:solidFill>
                <a:srgbClr val="000000"/>
              </a:solidFill>
              <a:latin typeface="Segoe UI" panose="020B0502040204020203" pitchFamily="34" charset="0"/>
              <a:cs typeface="Segoe UI" panose="020B0502040204020203" pitchFamily="34" charset="0"/>
            </a:endParaRPr>
          </a:p>
          <a:p>
            <a:pPr marL="0" lvl="0" indent="0" eaLnBrk="0" fontAlgn="base" hangingPunct="0">
              <a:lnSpc>
                <a:spcPct val="100000"/>
              </a:lnSpc>
              <a:spcBef>
                <a:spcPct val="0"/>
              </a:spcBef>
              <a:spcAft>
                <a:spcPct val="0"/>
              </a:spcAft>
              <a:buNone/>
            </a:pPr>
            <a:r>
              <a:rPr lang="en-US" sz="1700" dirty="0">
                <a:solidFill>
                  <a:srgbClr val="000000"/>
                </a:solidFill>
                <a:latin typeface="Verdana" panose="020B0604030504040204" pitchFamily="34" charset="0"/>
              </a:rPr>
              <a:t>If the width property is set to a percentage and the height is set to "auto", the image will be responsive and </a:t>
            </a:r>
            <a:r>
              <a:rPr lang="en-US" sz="1700" b="1" dirty="0">
                <a:solidFill>
                  <a:srgbClr val="000000"/>
                </a:solidFill>
                <a:latin typeface="Verdana" panose="020B0604030504040204" pitchFamily="34" charset="0"/>
              </a:rPr>
              <a:t>scale up and down</a:t>
            </a:r>
            <a:r>
              <a:rPr lang="en-US" sz="1700" dirty="0" smtClean="0">
                <a:solidFill>
                  <a:srgbClr val="000000"/>
                </a:solidFill>
                <a:latin typeface="Verdana" panose="020B0604030504040204" pitchFamily="34" charset="0"/>
              </a:rPr>
              <a:t>:</a:t>
            </a:r>
          </a:p>
          <a:p>
            <a:pPr marL="0" lvl="0" indent="0" eaLnBrk="0" fontAlgn="base" hangingPunct="0">
              <a:lnSpc>
                <a:spcPct val="100000"/>
              </a:lnSpc>
              <a:spcBef>
                <a:spcPct val="0"/>
              </a:spcBef>
              <a:spcAft>
                <a:spcPct val="0"/>
              </a:spcAft>
              <a:buNone/>
            </a:pPr>
            <a:endParaRPr lang="en-US" sz="1400" dirty="0">
              <a:solidFill>
                <a:srgbClr val="000000"/>
              </a:solidFill>
              <a:latin typeface="Verdana" panose="020B0604030504040204" pitchFamily="34" charset="0"/>
            </a:endParaRPr>
          </a:p>
          <a:p>
            <a:pPr marL="0" lvl="0" indent="0" eaLnBrk="0" fontAlgn="base" hangingPunct="0">
              <a:lnSpc>
                <a:spcPct val="100000"/>
              </a:lnSpc>
              <a:spcBef>
                <a:spcPct val="0"/>
              </a:spcBef>
              <a:spcAft>
                <a:spcPct val="0"/>
              </a:spcAft>
              <a:buNone/>
            </a:pPr>
            <a:r>
              <a:rPr lang="en-US" sz="2400" dirty="0" err="1"/>
              <a:t>img</a:t>
            </a:r>
            <a:r>
              <a:rPr lang="en-US" sz="2400" dirty="0"/>
              <a:t> {</a:t>
            </a:r>
            <a:br>
              <a:rPr lang="en-US" sz="2400" dirty="0"/>
            </a:br>
            <a:r>
              <a:rPr lang="en-US" sz="2400" dirty="0"/>
              <a:t>  width: 100%;</a:t>
            </a:r>
            <a:br>
              <a:rPr lang="en-US" sz="2400" dirty="0"/>
            </a:br>
            <a:r>
              <a:rPr lang="en-US" sz="2400" dirty="0"/>
              <a:t>  height: auto;</a:t>
            </a:r>
            <a:br>
              <a:rPr lang="en-US" sz="2400" dirty="0"/>
            </a:br>
            <a:r>
              <a:rPr lang="en-US" sz="2400" dirty="0" smtClean="0"/>
              <a:t>}</a:t>
            </a:r>
          </a:p>
          <a:p>
            <a:pPr marL="0" lvl="0" indent="0" eaLnBrk="0" fontAlgn="base" hangingPunct="0">
              <a:lnSpc>
                <a:spcPct val="100000"/>
              </a:lnSpc>
              <a:spcBef>
                <a:spcPct val="0"/>
              </a:spcBef>
              <a:spcAft>
                <a:spcPct val="0"/>
              </a:spcAft>
              <a:buNone/>
            </a:pPr>
            <a:endParaRPr lang="en-US" sz="2400" dirty="0">
              <a:latin typeface="Arial" panose="020B0604020202020204" pitchFamily="34" charset="0"/>
            </a:endParaRPr>
          </a:p>
          <a:p>
            <a:pPr marL="0" indent="0" eaLnBrk="0" fontAlgn="base" hangingPunct="0">
              <a:lnSpc>
                <a:spcPct val="110000"/>
              </a:lnSpc>
              <a:spcBef>
                <a:spcPct val="0"/>
              </a:spcBef>
              <a:spcAft>
                <a:spcPct val="0"/>
              </a:spcAft>
              <a:buNone/>
            </a:pPr>
            <a:r>
              <a:rPr lang="en-US" sz="2400" dirty="0">
                <a:solidFill>
                  <a:srgbClr val="000000"/>
                </a:solidFill>
                <a:latin typeface="Segoe UI" panose="020B0502040204020203" pitchFamily="34" charset="0"/>
                <a:cs typeface="Segoe UI" panose="020B0502040204020203" pitchFamily="34" charset="0"/>
              </a:rPr>
              <a:t>Using The max-width </a:t>
            </a:r>
            <a:r>
              <a:rPr lang="en-US" sz="2400" dirty="0" smtClean="0">
                <a:solidFill>
                  <a:srgbClr val="000000"/>
                </a:solidFill>
                <a:latin typeface="Segoe UI" panose="020B0502040204020203" pitchFamily="34" charset="0"/>
                <a:cs typeface="Segoe UI" panose="020B0502040204020203" pitchFamily="34" charset="0"/>
              </a:rPr>
              <a:t>Property</a:t>
            </a:r>
          </a:p>
          <a:p>
            <a:pPr marL="0" indent="0" eaLnBrk="0" fontAlgn="base" hangingPunct="0">
              <a:lnSpc>
                <a:spcPct val="110000"/>
              </a:lnSpc>
              <a:spcBef>
                <a:spcPct val="0"/>
              </a:spcBef>
              <a:spcAft>
                <a:spcPct val="0"/>
              </a:spcAft>
              <a:buNone/>
            </a:pPr>
            <a:endParaRPr lang="en-US" sz="2400" dirty="0">
              <a:solidFill>
                <a:srgbClr val="000000"/>
              </a:solidFill>
              <a:latin typeface="Segoe UI" panose="020B0502040204020203" pitchFamily="34" charset="0"/>
              <a:cs typeface="Segoe UI" panose="020B0502040204020203" pitchFamily="34" charset="0"/>
            </a:endParaRPr>
          </a:p>
          <a:p>
            <a:pPr marL="0" lvl="0" indent="0" eaLnBrk="0" fontAlgn="base" hangingPunct="0">
              <a:lnSpc>
                <a:spcPct val="100000"/>
              </a:lnSpc>
              <a:spcBef>
                <a:spcPct val="0"/>
              </a:spcBef>
              <a:spcAft>
                <a:spcPct val="0"/>
              </a:spcAft>
              <a:buNone/>
            </a:pPr>
            <a:r>
              <a:rPr lang="en-US" sz="1700" dirty="0">
                <a:solidFill>
                  <a:srgbClr val="000000"/>
                </a:solidFill>
                <a:latin typeface="Verdana" panose="020B0604030504040204" pitchFamily="34" charset="0"/>
              </a:rPr>
              <a:t>If the max-width property is set to 100%, the image will </a:t>
            </a:r>
            <a:r>
              <a:rPr lang="en-US" sz="1700" b="1" dirty="0" smtClean="0">
                <a:solidFill>
                  <a:srgbClr val="000000"/>
                </a:solidFill>
                <a:latin typeface="Verdana" panose="020B0604030504040204" pitchFamily="34" charset="0"/>
              </a:rPr>
              <a:t>only scale </a:t>
            </a:r>
            <a:r>
              <a:rPr lang="en-US" sz="1700" b="1" dirty="0">
                <a:solidFill>
                  <a:srgbClr val="000000"/>
                </a:solidFill>
                <a:latin typeface="Verdana" panose="020B0604030504040204" pitchFamily="34" charset="0"/>
              </a:rPr>
              <a:t>down</a:t>
            </a:r>
            <a:r>
              <a:rPr lang="en-US" sz="1700" dirty="0">
                <a:solidFill>
                  <a:srgbClr val="000000"/>
                </a:solidFill>
                <a:latin typeface="Verdana" panose="020B0604030504040204" pitchFamily="34" charset="0"/>
              </a:rPr>
              <a:t> if it has to, but never scale up to be larger than its original size:</a:t>
            </a:r>
          </a:p>
          <a:p>
            <a:pPr marL="0" lvl="0" indent="0" eaLnBrk="0" fontAlgn="base" hangingPunct="0">
              <a:lnSpc>
                <a:spcPct val="100000"/>
              </a:lnSpc>
              <a:spcBef>
                <a:spcPct val="0"/>
              </a:spcBef>
              <a:spcAft>
                <a:spcPct val="0"/>
              </a:spcAft>
              <a:buNone/>
            </a:pPr>
            <a:r>
              <a:rPr lang="en-US" sz="2400" dirty="0" err="1"/>
              <a:t>img</a:t>
            </a:r>
            <a:r>
              <a:rPr lang="en-US" sz="2400" dirty="0"/>
              <a:t> {</a:t>
            </a:r>
            <a:br>
              <a:rPr lang="en-US" sz="2400" dirty="0"/>
            </a:br>
            <a:r>
              <a:rPr lang="en-US" sz="2400" dirty="0"/>
              <a:t>  max-width: 100%;</a:t>
            </a:r>
            <a:br>
              <a:rPr lang="en-US" sz="2400" dirty="0"/>
            </a:br>
            <a:r>
              <a:rPr lang="en-US" sz="2400" dirty="0"/>
              <a:t>  height: auto;</a:t>
            </a:r>
            <a:br>
              <a:rPr lang="en-US" sz="2400" dirty="0"/>
            </a:br>
            <a:r>
              <a:rPr lang="en-US" sz="2400" dirty="0"/>
              <a:t>}</a:t>
            </a:r>
            <a:endParaRPr lang="en-US" sz="2400" dirty="0">
              <a:latin typeface="Arial" panose="020B0604020202020204" pitchFamily="34" charset="0"/>
            </a:endParaRPr>
          </a:p>
        </p:txBody>
      </p:sp>
      <p:sp>
        <p:nvSpPr>
          <p:cNvPr id="4" name="Rectangle 1"/>
          <p:cNvSpPr>
            <a:spLocks noChangeArrowheads="1"/>
          </p:cNvSpPr>
          <p:nvPr/>
        </p:nvSpPr>
        <p:spPr bwMode="auto">
          <a:xfrm>
            <a:off x="0" y="360"/>
            <a:ext cx="65" cy="4564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88872"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276115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Responsive design summary</a:t>
            </a:r>
            <a:endParaRPr lang="en-US" dirty="0"/>
          </a:p>
        </p:txBody>
      </p:sp>
      <p:sp>
        <p:nvSpPr>
          <p:cNvPr id="3" name="Content Placeholder 2"/>
          <p:cNvSpPr>
            <a:spLocks noGrp="1"/>
          </p:cNvSpPr>
          <p:nvPr>
            <p:ph idx="1"/>
          </p:nvPr>
        </p:nvSpPr>
        <p:spPr/>
        <p:txBody>
          <a:bodyPr>
            <a:normAutofit/>
          </a:bodyPr>
          <a:lstStyle/>
          <a:p>
            <a:r>
              <a:rPr lang="en-US" dirty="0"/>
              <a:t>Always add the </a:t>
            </a:r>
            <a:r>
              <a:rPr lang="en-US" b="1" dirty="0"/>
              <a:t>meta viewport tag</a:t>
            </a:r>
          </a:p>
          <a:p>
            <a:r>
              <a:rPr lang="en-US" dirty="0" smtClean="0"/>
              <a:t>Use </a:t>
            </a:r>
            <a:r>
              <a:rPr lang="en-US" b="1" dirty="0"/>
              <a:t>@media queries </a:t>
            </a:r>
            <a:r>
              <a:rPr lang="en-US" dirty="0"/>
              <a:t>to add styles for devices </a:t>
            </a:r>
            <a:r>
              <a:rPr lang="en-US" dirty="0" smtClean="0"/>
              <a:t>with certain </a:t>
            </a:r>
            <a:r>
              <a:rPr lang="en-US" dirty="0"/>
              <a:t>characteristics, such as screen </a:t>
            </a:r>
            <a:r>
              <a:rPr lang="en-US" dirty="0" smtClean="0"/>
              <a:t>width</a:t>
            </a:r>
          </a:p>
          <a:p>
            <a:r>
              <a:rPr lang="en-US" dirty="0" smtClean="0"/>
              <a:t>Use flexible layouts such as </a:t>
            </a:r>
            <a:r>
              <a:rPr lang="en-US" dirty="0" err="1" smtClean="0"/>
              <a:t>flexbox</a:t>
            </a:r>
            <a:r>
              <a:rPr lang="en-US" dirty="0" smtClean="0"/>
              <a:t> and </a:t>
            </a:r>
            <a:r>
              <a:rPr lang="en-US" dirty="0" err="1" smtClean="0"/>
              <a:t>gridbox</a:t>
            </a:r>
            <a:endParaRPr lang="en-US" dirty="0"/>
          </a:p>
          <a:p>
            <a:r>
              <a:rPr lang="en-US" dirty="0" smtClean="0"/>
              <a:t>Use </a:t>
            </a:r>
            <a:r>
              <a:rPr lang="en-US" dirty="0"/>
              <a:t>the </a:t>
            </a:r>
            <a:r>
              <a:rPr lang="en-US" b="1" dirty="0"/>
              <a:t>Chrome Device Mode </a:t>
            </a:r>
            <a:r>
              <a:rPr lang="en-US" dirty="0"/>
              <a:t>to simulate </a:t>
            </a:r>
            <a:r>
              <a:rPr lang="en-US" dirty="0" smtClean="0"/>
              <a:t>mobile rendering </a:t>
            </a:r>
            <a:r>
              <a:rPr lang="en-US" dirty="0"/>
              <a:t>on desktop</a:t>
            </a:r>
          </a:p>
          <a:p>
            <a:r>
              <a:rPr lang="en-US" dirty="0" smtClean="0"/>
              <a:t>For </a:t>
            </a:r>
            <a:r>
              <a:rPr lang="en-US" dirty="0"/>
              <a:t>height and width, prefer percentages</a:t>
            </a:r>
          </a:p>
          <a:p>
            <a:r>
              <a:rPr lang="en-US" dirty="0" smtClean="0"/>
              <a:t>For </a:t>
            </a:r>
            <a:r>
              <a:rPr lang="en-US" dirty="0"/>
              <a:t>fonts, prefer </a:t>
            </a:r>
            <a:r>
              <a:rPr lang="en-US" dirty="0" err="1"/>
              <a:t>em</a:t>
            </a:r>
            <a:r>
              <a:rPr lang="en-US" dirty="0"/>
              <a:t> and </a:t>
            </a:r>
            <a:r>
              <a:rPr lang="en-US" dirty="0" smtClean="0"/>
              <a:t>rem, </a:t>
            </a:r>
            <a:r>
              <a:rPr lang="en-US" dirty="0" err="1" smtClean="0"/>
              <a:t>vh</a:t>
            </a:r>
            <a:r>
              <a:rPr lang="en-US" dirty="0" smtClean="0"/>
              <a:t> and </a:t>
            </a:r>
            <a:r>
              <a:rPr lang="en-US" dirty="0" err="1" smtClean="0"/>
              <a:t>vw</a:t>
            </a:r>
            <a:endParaRPr lang="en-US" dirty="0" smtClean="0"/>
          </a:p>
          <a:p>
            <a:r>
              <a:rPr lang="en-US" dirty="0" smtClean="0"/>
              <a:t>For images, use max-width property</a:t>
            </a:r>
            <a:endParaRPr lang="en-US" dirty="0"/>
          </a:p>
        </p:txBody>
      </p:sp>
    </p:spTree>
    <p:extLst>
      <p:ext uri="{BB962C8B-B14F-4D97-AF65-F5344CB8AC3E}">
        <p14:creationId xmlns:p14="http://schemas.microsoft.com/office/powerpoint/2010/main" val="28906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2638"/>
            <a:ext cx="9692640" cy="1325562"/>
          </a:xfrm>
        </p:spPr>
        <p:txBody>
          <a:bodyPr/>
          <a:lstStyle/>
          <a:p>
            <a:r>
              <a:rPr lang="en-IN" dirty="0"/>
              <a:t>Cascade, Specificity and Inheritance</a:t>
            </a:r>
          </a:p>
        </p:txBody>
      </p:sp>
      <p:sp>
        <p:nvSpPr>
          <p:cNvPr id="3" name="Content Placeholder 2"/>
          <p:cNvSpPr>
            <a:spLocks noGrp="1"/>
          </p:cNvSpPr>
          <p:nvPr>
            <p:ph idx="1"/>
          </p:nvPr>
        </p:nvSpPr>
        <p:spPr>
          <a:xfrm>
            <a:off x="838200" y="1837348"/>
            <a:ext cx="10515600" cy="4351338"/>
          </a:xfrm>
        </p:spPr>
        <p:txBody>
          <a:bodyPr>
            <a:normAutofit/>
          </a:bodyPr>
          <a:lstStyle/>
          <a:p>
            <a:r>
              <a:rPr lang="en-US" dirty="0"/>
              <a:t>most fundamental concepts of CSS </a:t>
            </a:r>
            <a:r>
              <a:rPr lang="en-US" dirty="0" smtClean="0"/>
              <a:t>which </a:t>
            </a:r>
            <a:r>
              <a:rPr lang="en-US" dirty="0"/>
              <a:t>control how CSS is applied to HTML and how conflicts are resolved.</a:t>
            </a:r>
            <a:endParaRPr lang="en-US" dirty="0" smtClean="0"/>
          </a:p>
          <a:p>
            <a:pPr lvl="1"/>
            <a:r>
              <a:rPr lang="en-US" dirty="0" smtClean="0"/>
              <a:t>cascade</a:t>
            </a:r>
            <a:r>
              <a:rPr lang="en-US" dirty="0"/>
              <a:t>, </a:t>
            </a:r>
            <a:endParaRPr lang="en-US" dirty="0" smtClean="0"/>
          </a:p>
          <a:p>
            <a:pPr lvl="1"/>
            <a:r>
              <a:rPr lang="en-US" dirty="0" smtClean="0"/>
              <a:t>specificity</a:t>
            </a:r>
            <a:r>
              <a:rPr lang="en-US" dirty="0"/>
              <a:t>, and </a:t>
            </a:r>
            <a:endParaRPr lang="en-US" dirty="0" smtClean="0"/>
          </a:p>
          <a:p>
            <a:pPr lvl="1"/>
            <a:r>
              <a:rPr lang="en-US" dirty="0" smtClean="0"/>
              <a:t>inheritance</a:t>
            </a:r>
          </a:p>
        </p:txBody>
      </p:sp>
    </p:spTree>
    <p:extLst>
      <p:ext uri="{BB962C8B-B14F-4D97-AF65-F5344CB8AC3E}">
        <p14:creationId xmlns:p14="http://schemas.microsoft.com/office/powerpoint/2010/main" val="45879316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Cascade</a:t>
            </a:r>
            <a:endParaRPr lang="en-US" dirty="0"/>
          </a:p>
        </p:txBody>
      </p:sp>
      <p:sp>
        <p:nvSpPr>
          <p:cNvPr id="3" name="Content Placeholder 2"/>
          <p:cNvSpPr>
            <a:spLocks noGrp="1"/>
          </p:cNvSpPr>
          <p:nvPr>
            <p:ph idx="1"/>
          </p:nvPr>
        </p:nvSpPr>
        <p:spPr>
          <a:xfrm>
            <a:off x="838200" y="1387475"/>
            <a:ext cx="10515600" cy="4351338"/>
          </a:xfrm>
        </p:spPr>
        <p:txBody>
          <a:bodyPr/>
          <a:lstStyle/>
          <a:p>
            <a:r>
              <a:rPr lang="en-US" dirty="0" smtClean="0"/>
              <a:t>The </a:t>
            </a:r>
            <a:r>
              <a:rPr lang="en-US" dirty="0"/>
              <a:t>order of CSS rules matter; when two rules apply that have equal specificity the one that comes last in the CSS is the one that will be used.</a:t>
            </a:r>
          </a:p>
        </p:txBody>
      </p:sp>
      <p:pic>
        <p:nvPicPr>
          <p:cNvPr id="4" name="Picture 3"/>
          <p:cNvPicPr>
            <a:picLocks noChangeAspect="1"/>
          </p:cNvPicPr>
          <p:nvPr/>
        </p:nvPicPr>
        <p:blipFill>
          <a:blip r:embed="rId2"/>
          <a:stretch>
            <a:fillRect/>
          </a:stretch>
        </p:blipFill>
        <p:spPr>
          <a:xfrm>
            <a:off x="1089596" y="2665223"/>
            <a:ext cx="7886081" cy="2624138"/>
          </a:xfrm>
          <a:prstGeom prst="rect">
            <a:avLst/>
          </a:prstGeom>
        </p:spPr>
      </p:pic>
      <p:pic>
        <p:nvPicPr>
          <p:cNvPr id="5" name="Picture 4"/>
          <p:cNvPicPr>
            <a:picLocks noChangeAspect="1"/>
          </p:cNvPicPr>
          <p:nvPr/>
        </p:nvPicPr>
        <p:blipFill>
          <a:blip r:embed="rId3"/>
          <a:stretch>
            <a:fillRect/>
          </a:stretch>
        </p:blipFill>
        <p:spPr>
          <a:xfrm>
            <a:off x="1089596" y="5451285"/>
            <a:ext cx="6430320" cy="1216849"/>
          </a:xfrm>
          <a:prstGeom prst="rect">
            <a:avLst/>
          </a:prstGeom>
        </p:spPr>
      </p:pic>
    </p:spTree>
    <p:extLst>
      <p:ext uri="{BB962C8B-B14F-4D97-AF65-F5344CB8AC3E}">
        <p14:creationId xmlns:p14="http://schemas.microsoft.com/office/powerpoint/2010/main" val="7210684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Specificity of CSS rules</a:t>
            </a:r>
            <a:endParaRPr lang="en-US" dirty="0"/>
          </a:p>
        </p:txBody>
      </p:sp>
      <p:sp>
        <p:nvSpPr>
          <p:cNvPr id="3" name="Content Placeholder 2"/>
          <p:cNvSpPr>
            <a:spLocks noGrp="1"/>
          </p:cNvSpPr>
          <p:nvPr>
            <p:ph idx="1"/>
          </p:nvPr>
        </p:nvSpPr>
        <p:spPr/>
        <p:txBody>
          <a:bodyPr>
            <a:normAutofit lnSpcReduction="10000"/>
          </a:bodyPr>
          <a:lstStyle/>
          <a:p>
            <a:r>
              <a:rPr lang="en-IN" dirty="0" smtClean="0"/>
              <a:t>Specificity </a:t>
            </a:r>
            <a:r>
              <a:rPr lang="en-IN" dirty="0"/>
              <a:t>comes into play when two or more style rules apply to the same element and set the same property, with the same importance, in the same position in the cascade. In this case, the rule with the highest specificity is the winner</a:t>
            </a:r>
          </a:p>
          <a:p>
            <a:r>
              <a:rPr lang="en-IN" dirty="0"/>
              <a:t>Four levels of specificity:</a:t>
            </a:r>
          </a:p>
          <a:p>
            <a:pPr lvl="1"/>
            <a:r>
              <a:rPr lang="en-IN" dirty="0"/>
              <a:t>a = inline style (weight = 1000)</a:t>
            </a:r>
          </a:p>
          <a:p>
            <a:pPr lvl="1"/>
            <a:r>
              <a:rPr lang="en-IN" dirty="0"/>
              <a:t>b = the total number of ID selectors (weight = 100)</a:t>
            </a:r>
          </a:p>
          <a:p>
            <a:pPr lvl="1"/>
            <a:r>
              <a:rPr lang="en-IN" dirty="0"/>
              <a:t>c = the number of class and attribute selectors and pseudo-classes in the selector (weight = 10)</a:t>
            </a:r>
          </a:p>
          <a:p>
            <a:pPr lvl="1"/>
            <a:r>
              <a:rPr lang="en-IN" dirty="0"/>
              <a:t>d = the number of type selectors and pseudo-elements in the selector (weight = 1</a:t>
            </a:r>
            <a:r>
              <a:rPr lang="en-IN" dirty="0" smtClean="0"/>
              <a:t>)</a:t>
            </a:r>
          </a:p>
          <a:p>
            <a:pPr eaLnBrk="0" fontAlgn="base" hangingPunct="0">
              <a:lnSpc>
                <a:spcPct val="100000"/>
              </a:lnSpc>
              <a:spcBef>
                <a:spcPct val="0"/>
              </a:spcBef>
              <a:spcAft>
                <a:spcPct val="0"/>
              </a:spcAft>
            </a:pPr>
            <a:endParaRPr lang="en-US" dirty="0" smtClean="0">
              <a:solidFill>
                <a:srgbClr val="333333"/>
              </a:solidFill>
              <a:latin typeface="Arial" panose="020B0604020202020204" pitchFamily="34" charset="0"/>
              <a:cs typeface="Arial" panose="020B0604020202020204" pitchFamily="34" charset="0"/>
            </a:endParaRPr>
          </a:p>
          <a:p>
            <a:pPr eaLnBrk="0" fontAlgn="base" hangingPunct="0">
              <a:lnSpc>
                <a:spcPct val="100000"/>
              </a:lnSpc>
              <a:spcBef>
                <a:spcPct val="0"/>
              </a:spcBef>
              <a:spcAft>
                <a:spcPct val="0"/>
              </a:spcAft>
            </a:pPr>
            <a:r>
              <a:rPr lang="en-US" dirty="0" smtClean="0">
                <a:solidFill>
                  <a:srgbClr val="333333"/>
                </a:solidFill>
                <a:latin typeface="Arial" panose="020B0604020202020204" pitchFamily="34" charset="0"/>
                <a:cs typeface="Arial" panose="020B0604020202020204" pitchFamily="34" charset="0"/>
              </a:rPr>
              <a:t>!important</a:t>
            </a:r>
          </a:p>
          <a:p>
            <a:pPr lvl="1" eaLnBrk="0" fontAlgn="base" hangingPunct="0">
              <a:lnSpc>
                <a:spcPct val="100000"/>
              </a:lnSpc>
              <a:spcBef>
                <a:spcPct val="0"/>
              </a:spcBef>
              <a:spcAft>
                <a:spcPct val="0"/>
              </a:spcAft>
            </a:pPr>
            <a:r>
              <a:rPr lang="en-US" dirty="0" smtClean="0">
                <a:solidFill>
                  <a:srgbClr val="333333"/>
                </a:solidFill>
                <a:latin typeface="Arial" panose="020B0604020202020204" pitchFamily="34" charset="0"/>
                <a:cs typeface="Arial" panose="020B0604020202020204" pitchFamily="34" charset="0"/>
              </a:rPr>
              <a:t>CSS </a:t>
            </a:r>
            <a:r>
              <a:rPr lang="en-US" dirty="0">
                <a:solidFill>
                  <a:srgbClr val="333333"/>
                </a:solidFill>
                <a:latin typeface="Arial" panose="020B0604020202020204" pitchFamily="34" charset="0"/>
                <a:cs typeface="Arial" panose="020B0604020202020204" pitchFamily="34" charset="0"/>
              </a:rPr>
              <a:t>to overrule all specificity calculations, </a:t>
            </a:r>
          </a:p>
          <a:p>
            <a:pPr lvl="1" eaLnBrk="0" fontAlgn="base" hangingPunct="0">
              <a:lnSpc>
                <a:spcPct val="100000"/>
              </a:lnSpc>
              <a:spcBef>
                <a:spcPct val="0"/>
              </a:spcBef>
              <a:spcAft>
                <a:spcPct val="0"/>
              </a:spcAft>
            </a:pPr>
            <a:r>
              <a:rPr lang="en-US" dirty="0">
                <a:solidFill>
                  <a:srgbClr val="333333"/>
                </a:solidFill>
                <a:latin typeface="Arial" panose="020B0604020202020204" pitchFamily="34" charset="0"/>
                <a:cs typeface="Arial" panose="020B0604020202020204" pitchFamily="34" charset="0"/>
              </a:rPr>
              <a:t>however you should be very careful with using it. </a:t>
            </a:r>
          </a:p>
          <a:p>
            <a:pPr lvl="1" eaLnBrk="0" fontAlgn="base" hangingPunct="0">
              <a:lnSpc>
                <a:spcPct val="100000"/>
              </a:lnSpc>
              <a:spcBef>
                <a:spcPct val="0"/>
              </a:spcBef>
              <a:spcAft>
                <a:spcPct val="0"/>
              </a:spcAft>
            </a:pPr>
            <a:r>
              <a:rPr lang="en-US" dirty="0">
                <a:solidFill>
                  <a:srgbClr val="333333"/>
                </a:solidFill>
                <a:latin typeface="Arial" panose="020B0604020202020204" pitchFamily="34" charset="0"/>
                <a:cs typeface="Arial" panose="020B0604020202020204" pitchFamily="34" charset="0"/>
              </a:rPr>
              <a:t>This is used to make a particular property and value the most specific thing, thus overriding the normal rules of the cascade.</a:t>
            </a:r>
            <a:endParaRPr lang="en-US" sz="2000" dirty="0"/>
          </a:p>
          <a:p>
            <a:endParaRPr lang="en-US" dirty="0"/>
          </a:p>
          <a:p>
            <a:endParaRPr lang="en-IN" dirty="0"/>
          </a:p>
        </p:txBody>
      </p:sp>
    </p:spTree>
    <p:extLst>
      <p:ext uri="{BB962C8B-B14F-4D97-AF65-F5344CB8AC3E}">
        <p14:creationId xmlns:p14="http://schemas.microsoft.com/office/powerpoint/2010/main" val="9844324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71475" y="561975"/>
            <a:ext cx="10980649" cy="5499460"/>
          </a:xfrm>
          <a:prstGeom prst="rect">
            <a:avLst/>
          </a:prstGeom>
        </p:spPr>
      </p:pic>
    </p:spTree>
    <p:extLst>
      <p:ext uri="{BB962C8B-B14F-4D97-AF65-F5344CB8AC3E}">
        <p14:creationId xmlns:p14="http://schemas.microsoft.com/office/powerpoint/2010/main" val="38744962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316" y="-36701"/>
            <a:ext cx="10515600" cy="1325563"/>
          </a:xfrm>
        </p:spPr>
        <p:txBody>
          <a:bodyPr/>
          <a:lstStyle/>
          <a:p>
            <a:r>
              <a:rPr lang="en-US" dirty="0"/>
              <a:t>Inheritance</a:t>
            </a:r>
          </a:p>
        </p:txBody>
      </p:sp>
      <p:sp>
        <p:nvSpPr>
          <p:cNvPr id="3" name="Content Placeholder 2"/>
          <p:cNvSpPr>
            <a:spLocks noGrp="1"/>
          </p:cNvSpPr>
          <p:nvPr>
            <p:ph idx="1"/>
          </p:nvPr>
        </p:nvSpPr>
        <p:spPr>
          <a:xfrm>
            <a:off x="838200" y="1348581"/>
            <a:ext cx="11058134" cy="4916369"/>
          </a:xfrm>
        </p:spPr>
        <p:txBody>
          <a:bodyPr>
            <a:normAutofit/>
          </a:bodyPr>
          <a:lstStyle/>
          <a:p>
            <a:r>
              <a:rPr lang="en-US" sz="2400" dirty="0" smtClean="0">
                <a:solidFill>
                  <a:srgbClr val="FF0000"/>
                </a:solidFill>
              </a:rPr>
              <a:t>Most</a:t>
            </a:r>
            <a:r>
              <a:rPr lang="en-US" sz="2400" dirty="0" smtClean="0"/>
              <a:t> CSS </a:t>
            </a:r>
            <a:r>
              <a:rPr lang="en-US" sz="2400" dirty="0"/>
              <a:t>styles are inherited from parent </a:t>
            </a:r>
            <a:r>
              <a:rPr lang="en-US" sz="2400" dirty="0" smtClean="0"/>
              <a:t>to child</a:t>
            </a:r>
          </a:p>
          <a:p>
            <a:pPr lvl="1"/>
            <a:r>
              <a:rPr lang="en-US" sz="2200" dirty="0" smtClean="0"/>
              <a:t>Generally, </a:t>
            </a:r>
            <a:r>
              <a:rPr lang="en-US" sz="2200" dirty="0"/>
              <a:t>text-related properties are inherited and layout-related properties are not</a:t>
            </a:r>
            <a:r>
              <a:rPr lang="en-US" sz="2200" dirty="0" smtClean="0"/>
              <a:t>.</a:t>
            </a:r>
          </a:p>
          <a:p>
            <a:pPr lvl="2" eaLnBrk="0" fontAlgn="base" hangingPunct="0">
              <a:lnSpc>
                <a:spcPct val="100000"/>
              </a:lnSpc>
              <a:spcBef>
                <a:spcPct val="0"/>
              </a:spcBef>
              <a:spcAft>
                <a:spcPct val="0"/>
              </a:spcAft>
            </a:pPr>
            <a:r>
              <a:rPr lang="en-US" sz="2200" dirty="0">
                <a:solidFill>
                  <a:srgbClr val="333333"/>
                </a:solidFill>
                <a:latin typeface="Calibri "/>
                <a:cs typeface="Arial" panose="020B0604020202020204" pitchFamily="34" charset="0"/>
              </a:rPr>
              <a:t>Inherited properties: color and font-family on an element</a:t>
            </a:r>
          </a:p>
          <a:p>
            <a:pPr lvl="2" eaLnBrk="0" fontAlgn="base" hangingPunct="0">
              <a:lnSpc>
                <a:spcPct val="100000"/>
              </a:lnSpc>
              <a:spcBef>
                <a:spcPct val="0"/>
              </a:spcBef>
              <a:spcAft>
                <a:spcPct val="0"/>
              </a:spcAft>
            </a:pPr>
            <a:r>
              <a:rPr lang="en-US" sz="2200" dirty="0">
                <a:solidFill>
                  <a:srgbClr val="333333"/>
                </a:solidFill>
                <a:latin typeface="Calibri "/>
                <a:cs typeface="Arial" panose="020B0604020202020204" pitchFamily="34" charset="0"/>
              </a:rPr>
              <a:t>Not inherited properties: width, </a:t>
            </a:r>
            <a:r>
              <a:rPr lang="en-US" sz="2200" dirty="0">
                <a:latin typeface="Calibri "/>
              </a:rPr>
              <a:t>margins, padding, and borders do not inherit.</a:t>
            </a:r>
          </a:p>
          <a:p>
            <a:pPr lvl="1"/>
            <a:endParaRPr lang="en-US" sz="2200" dirty="0"/>
          </a:p>
          <a:p>
            <a:r>
              <a:rPr lang="en-US" sz="2400" dirty="0" smtClean="0"/>
              <a:t>You </a:t>
            </a:r>
            <a:r>
              <a:rPr lang="en-US" sz="2400" dirty="0"/>
              <a:t>can override this style via specificity:</a:t>
            </a:r>
          </a:p>
          <a:p>
            <a:pPr marL="0" indent="0">
              <a:buNone/>
            </a:pPr>
            <a:r>
              <a:rPr lang="en-US" dirty="0" smtClean="0"/>
              <a:t>	</a:t>
            </a:r>
          </a:p>
        </p:txBody>
      </p:sp>
    </p:spTree>
    <p:extLst>
      <p:ext uri="{BB962C8B-B14F-4D97-AF65-F5344CB8AC3E}">
        <p14:creationId xmlns:p14="http://schemas.microsoft.com/office/powerpoint/2010/main" val="206470583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SEO</a:t>
            </a:r>
            <a:endParaRPr lang="en-IN" dirty="0"/>
          </a:p>
        </p:txBody>
      </p:sp>
      <p:sp>
        <p:nvSpPr>
          <p:cNvPr id="3" name="Content Placeholder 2"/>
          <p:cNvSpPr>
            <a:spLocks noGrp="1"/>
          </p:cNvSpPr>
          <p:nvPr>
            <p:ph idx="1"/>
          </p:nvPr>
        </p:nvSpPr>
        <p:spPr/>
        <p:txBody>
          <a:bodyPr/>
          <a:lstStyle/>
          <a:p>
            <a:r>
              <a:rPr lang="en-IN" dirty="0" smtClean="0"/>
              <a:t>What is SEO? </a:t>
            </a:r>
          </a:p>
          <a:p>
            <a:r>
              <a:rPr lang="en-IN" dirty="0" smtClean="0"/>
              <a:t>Stands for search engine optimization</a:t>
            </a:r>
          </a:p>
          <a:p>
            <a:r>
              <a:rPr lang="en-US" dirty="0"/>
              <a:t>It’s a set of practices and techniques designed to improve a website’s visibility in search engine results pages (SERPs). </a:t>
            </a:r>
            <a:endParaRPr lang="en-US" dirty="0" smtClean="0"/>
          </a:p>
          <a:p>
            <a:pPr lvl="1"/>
            <a:r>
              <a:rPr lang="en-US" dirty="0" smtClean="0"/>
              <a:t>The </a:t>
            </a:r>
            <a:r>
              <a:rPr lang="en-US" dirty="0"/>
              <a:t>goal is to increase organic (non-paid) traffic to the site by making it more appealing to search engines like Google, Bing, and Yahoo</a:t>
            </a:r>
            <a:r>
              <a:rPr lang="en-US" dirty="0" smtClean="0"/>
              <a:t>.</a:t>
            </a:r>
          </a:p>
          <a:p>
            <a:pPr lvl="1"/>
            <a:r>
              <a:rPr lang="en-US" dirty="0" smtClean="0"/>
              <a:t>Decreasing the bounce rate</a:t>
            </a:r>
          </a:p>
          <a:p>
            <a:pPr lvl="2"/>
            <a:r>
              <a:rPr lang="en-US" dirty="0"/>
              <a:t>Bounce Rate:  defined as the percentage of visitors that leave a webpage without taking an action, such as clicking on a link, filling out a form, or making a purchase.</a:t>
            </a:r>
            <a:endParaRPr lang="en-IN" dirty="0"/>
          </a:p>
          <a:p>
            <a:pPr lvl="2"/>
            <a:endParaRPr lang="en-IN" dirty="0"/>
          </a:p>
        </p:txBody>
      </p:sp>
    </p:spTree>
    <p:extLst>
      <p:ext uri="{BB962C8B-B14F-4D97-AF65-F5344CB8AC3E}">
        <p14:creationId xmlns:p14="http://schemas.microsoft.com/office/powerpoint/2010/main" val="4280408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806" y="0"/>
            <a:ext cx="9692640" cy="1325562"/>
          </a:xfrm>
        </p:spPr>
        <p:txBody>
          <a:bodyPr/>
          <a:lstStyle/>
          <a:p>
            <a:r>
              <a:rPr lang="en-US" dirty="0" smtClean="0"/>
              <a:t>Vocabularies</a:t>
            </a:r>
            <a:endParaRPr lang="en-US" dirty="0"/>
          </a:p>
        </p:txBody>
      </p:sp>
      <p:sp>
        <p:nvSpPr>
          <p:cNvPr id="3" name="Content Placeholder 2"/>
          <p:cNvSpPr>
            <a:spLocks noGrp="1"/>
          </p:cNvSpPr>
          <p:nvPr>
            <p:ph idx="1"/>
          </p:nvPr>
        </p:nvSpPr>
        <p:spPr>
          <a:xfrm>
            <a:off x="1160272" y="1727200"/>
            <a:ext cx="8595360" cy="4893733"/>
          </a:xfrm>
        </p:spPr>
        <p:txBody>
          <a:bodyPr>
            <a:normAutofit/>
          </a:bodyPr>
          <a:lstStyle/>
          <a:p>
            <a:pPr marL="182880" lvl="1">
              <a:lnSpc>
                <a:spcPct val="95000"/>
              </a:lnSpc>
              <a:spcBef>
                <a:spcPts val="1400"/>
              </a:spcBef>
              <a:spcAft>
                <a:spcPts val="200"/>
              </a:spcAft>
              <a:buSzPct val="80000"/>
              <a:buFont typeface="Arial" pitchFamily="34" charset="0"/>
              <a:buChar char="•"/>
            </a:pPr>
            <a:r>
              <a:rPr lang="en-US" dirty="0" smtClean="0"/>
              <a:t>Collaborative </a:t>
            </a:r>
            <a:r>
              <a:rPr lang="en-US" dirty="0"/>
              <a:t>community </a:t>
            </a:r>
            <a:r>
              <a:rPr lang="en-US" dirty="0" smtClean="0"/>
              <a:t>activity: mission to create, maintain, and promote schemas for structured data on the Internet, on web pages.</a:t>
            </a:r>
          </a:p>
          <a:p>
            <a:pPr lvl="1"/>
            <a:r>
              <a:rPr lang="en-US" dirty="0" smtClean="0"/>
              <a:t>Example: Schema.org, FOAF vocabulary, Dublin core</a:t>
            </a:r>
          </a:p>
          <a:p>
            <a:r>
              <a:rPr lang="en-US" dirty="0" smtClean="0">
                <a:hlinkClick r:id="rId2"/>
              </a:rPr>
              <a:t>Schema.org </a:t>
            </a:r>
            <a:r>
              <a:rPr lang="en-US" dirty="0" smtClean="0"/>
              <a:t>vocabulary</a:t>
            </a:r>
          </a:p>
          <a:p>
            <a:pPr lvl="1"/>
            <a:r>
              <a:rPr lang="en-US" dirty="0" smtClean="0"/>
              <a:t>collection </a:t>
            </a:r>
            <a:r>
              <a:rPr lang="en-US" dirty="0"/>
              <a:t>of schemas</a:t>
            </a:r>
            <a:r>
              <a:rPr lang="en-US" dirty="0" smtClean="0"/>
              <a:t>.</a:t>
            </a:r>
          </a:p>
          <a:p>
            <a:pPr lvl="1"/>
            <a:r>
              <a:rPr lang="en-US" dirty="0" smtClean="0"/>
              <a:t>founded </a:t>
            </a:r>
            <a:r>
              <a:rPr lang="en-US" dirty="0"/>
              <a:t>by Google, Microsoft, Yahoo and </a:t>
            </a:r>
            <a:r>
              <a:rPr lang="en-US" dirty="0" err="1"/>
              <a:t>Yandex</a:t>
            </a:r>
            <a:r>
              <a:rPr lang="en-US" dirty="0"/>
              <a:t>, </a:t>
            </a:r>
          </a:p>
          <a:p>
            <a:pPr lvl="1"/>
            <a:r>
              <a:rPr lang="en-US" dirty="0" smtClean="0"/>
              <a:t>can </a:t>
            </a:r>
            <a:r>
              <a:rPr lang="en-US" dirty="0"/>
              <a:t>be used with many different encodings, including </a:t>
            </a:r>
            <a:r>
              <a:rPr lang="en-US" dirty="0" err="1"/>
              <a:t>RDFa</a:t>
            </a:r>
            <a:r>
              <a:rPr lang="en-US" dirty="0"/>
              <a:t>, </a:t>
            </a:r>
            <a:r>
              <a:rPr lang="en-US" dirty="0" err="1"/>
              <a:t>Microdata</a:t>
            </a:r>
            <a:r>
              <a:rPr lang="en-US" dirty="0"/>
              <a:t> and JSON-LD. </a:t>
            </a:r>
            <a:endParaRPr lang="en-US" dirty="0" smtClean="0"/>
          </a:p>
          <a:p>
            <a:pPr lvl="1"/>
            <a:r>
              <a:rPr lang="en-US" dirty="0" smtClean="0">
                <a:solidFill>
                  <a:srgbClr val="C00000"/>
                </a:solidFill>
              </a:rPr>
              <a:t>These </a:t>
            </a:r>
            <a:r>
              <a:rPr lang="en-US" dirty="0">
                <a:solidFill>
                  <a:srgbClr val="C00000"/>
                </a:solidFill>
              </a:rPr>
              <a:t>vocabularies cover entities, relationships between entities and actions</a:t>
            </a:r>
          </a:p>
          <a:p>
            <a:pPr lvl="1"/>
            <a:r>
              <a:rPr lang="en-IN" dirty="0" smtClean="0"/>
              <a:t>semantic </a:t>
            </a:r>
            <a:r>
              <a:rPr lang="en-IN" dirty="0"/>
              <a:t>information in </a:t>
            </a:r>
            <a:r>
              <a:rPr lang="en-IN" dirty="0" smtClean="0"/>
              <a:t>the </a:t>
            </a:r>
            <a:r>
              <a:rPr lang="en-IN" dirty="0"/>
              <a:t>content </a:t>
            </a:r>
            <a:r>
              <a:rPr lang="en-IN" dirty="0" smtClean="0"/>
              <a:t>can be conveyed in </a:t>
            </a:r>
            <a:r>
              <a:rPr lang="en-IN" dirty="0"/>
              <a:t>a way </a:t>
            </a:r>
            <a:r>
              <a:rPr lang="en-IN" dirty="0" smtClean="0"/>
              <a:t>search </a:t>
            </a:r>
            <a:r>
              <a:rPr lang="en-IN" dirty="0"/>
              <a:t>engines can understand</a:t>
            </a:r>
          </a:p>
          <a:p>
            <a:pPr lvl="1"/>
            <a:r>
              <a:rPr lang="en-IN" dirty="0"/>
              <a:t>Structured data testing tool/ Rich results </a:t>
            </a:r>
            <a:r>
              <a:rPr lang="en-IN" dirty="0" smtClean="0"/>
              <a:t>test available</a:t>
            </a:r>
            <a:endParaRPr lang="en-IN" dirty="0"/>
          </a:p>
          <a:p>
            <a:pPr marL="0" indent="0">
              <a:buNone/>
            </a:pPr>
            <a:endParaRPr lang="en-US" dirty="0"/>
          </a:p>
          <a:p>
            <a:pPr lvl="1"/>
            <a:endParaRPr lang="en-US" dirty="0" smtClean="0"/>
          </a:p>
          <a:p>
            <a:endParaRPr lang="en-US" dirty="0"/>
          </a:p>
        </p:txBody>
      </p:sp>
    </p:spTree>
    <p:extLst>
      <p:ext uri="{BB962C8B-B14F-4D97-AF65-F5344CB8AC3E}">
        <p14:creationId xmlns:p14="http://schemas.microsoft.com/office/powerpoint/2010/main" val="24704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220" y="192505"/>
            <a:ext cx="9692640" cy="1325562"/>
          </a:xfrm>
        </p:spPr>
        <p:txBody>
          <a:bodyPr/>
          <a:lstStyle/>
          <a:p>
            <a:r>
              <a:rPr lang="en-US" dirty="0" smtClean="0"/>
              <a:t>JSON for linking data (JSON-LD)</a:t>
            </a:r>
            <a:endParaRPr lang="en-US" dirty="0"/>
          </a:p>
        </p:txBody>
      </p:sp>
      <p:sp>
        <p:nvSpPr>
          <p:cNvPr id="4" name="Rectangle 1"/>
          <p:cNvSpPr>
            <a:spLocks noGrp="1" noChangeArrowheads="1"/>
          </p:cNvSpPr>
          <p:nvPr>
            <p:ph idx="1"/>
          </p:nvPr>
        </p:nvSpPr>
        <p:spPr bwMode="auto">
          <a:xfrm>
            <a:off x="490220" y="1873749"/>
            <a:ext cx="10591800" cy="407034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00000"/>
              </a:lnSpc>
            </a:pPr>
            <a:r>
              <a:rPr kumimoji="0" lang="en-US" sz="1800" b="0" i="0" u="none" strike="noStrike" cap="none" normalizeH="0" baseline="0" dirty="0" smtClean="0">
                <a:ln>
                  <a:noFill/>
                </a:ln>
                <a:solidFill>
                  <a:srgbClr val="1A1A1A"/>
                </a:solidFill>
                <a:effectLst/>
                <a:latin typeface="mr-eaves-xl-modern"/>
              </a:rPr>
              <a:t>Based on </a:t>
            </a:r>
            <a:r>
              <a:rPr kumimoji="0" lang="en-US" sz="1800" b="0" i="0" u="none" strike="noStrike" cap="none" normalizeH="0" baseline="0" dirty="0" err="1" smtClean="0">
                <a:ln>
                  <a:noFill/>
                </a:ln>
                <a:solidFill>
                  <a:srgbClr val="1A1A1A"/>
                </a:solidFill>
                <a:effectLst/>
                <a:latin typeface="mr-eaves-xl-modern"/>
              </a:rPr>
              <a:t>Javascript</a:t>
            </a:r>
            <a:r>
              <a:rPr kumimoji="0" lang="en-US" sz="1800" b="0" i="0" u="none" strike="noStrike" cap="none" normalizeH="0" baseline="0" dirty="0" smtClean="0">
                <a:ln>
                  <a:noFill/>
                </a:ln>
                <a:solidFill>
                  <a:srgbClr val="1A1A1A"/>
                </a:solidFill>
                <a:effectLst/>
                <a:latin typeface="mr-eaves-xl-modern"/>
              </a:rPr>
              <a:t> object notation</a:t>
            </a:r>
            <a:r>
              <a:rPr kumimoji="0" lang="en-US" sz="1800" b="0" i="0" u="none" strike="noStrike" cap="none" normalizeH="0" dirty="0" smtClean="0">
                <a:ln>
                  <a:noFill/>
                </a:ln>
                <a:solidFill>
                  <a:srgbClr val="1A1A1A"/>
                </a:solidFill>
                <a:effectLst/>
                <a:latin typeface="mr-eaves-xl-modern"/>
              </a:rPr>
              <a:t> (JSON)</a:t>
            </a:r>
          </a:p>
          <a:p>
            <a:pPr>
              <a:lnSpc>
                <a:spcPct val="100000"/>
              </a:lnSpc>
            </a:pPr>
            <a:endParaRPr kumimoji="0" lang="en-US" sz="1800" b="0" i="0" u="none" strike="noStrike" cap="none" normalizeH="0" dirty="0" smtClean="0">
              <a:ln>
                <a:noFill/>
              </a:ln>
              <a:solidFill>
                <a:srgbClr val="1A1A1A"/>
              </a:solidFill>
              <a:effectLst/>
              <a:latin typeface="mr-eaves-xl-modern"/>
            </a:endParaRPr>
          </a:p>
          <a:p>
            <a:pPr>
              <a:lnSpc>
                <a:spcPct val="100000"/>
              </a:lnSpc>
            </a:pPr>
            <a:r>
              <a:rPr kumimoji="0" lang="en-US" sz="1800" b="0" i="0" u="none" strike="noStrike" cap="none" normalizeH="0" baseline="0" dirty="0" smtClean="0">
                <a:ln>
                  <a:noFill/>
                </a:ln>
                <a:solidFill>
                  <a:srgbClr val="1A1A1A"/>
                </a:solidFill>
                <a:effectLst/>
                <a:latin typeface="mr-eaves-xl-modern"/>
              </a:rPr>
              <a:t>JSON-LD is a scripting language that allows publishers to communicate important information to search engines.</a:t>
            </a:r>
            <a:endParaRPr kumimoji="0" lang="en-US" sz="1100" b="0" i="0" u="none" strike="noStrike" cap="none" normalizeH="0" baseline="0" dirty="0" smtClean="0">
              <a:ln>
                <a:noFill/>
              </a:ln>
              <a:solidFill>
                <a:schemeClr val="tx1"/>
              </a:solidFill>
              <a:effectLst/>
            </a:endParaRPr>
          </a:p>
          <a:p>
            <a:pPr>
              <a:lnSpc>
                <a:spcPct val="100000"/>
              </a:lnSpc>
            </a:pPr>
            <a:endParaRPr kumimoji="0" lang="en-US" sz="1800" b="1" i="0" u="none" strike="noStrike" cap="none" normalizeH="0" baseline="0" dirty="0" smtClean="0">
              <a:ln>
                <a:noFill/>
              </a:ln>
              <a:solidFill>
                <a:srgbClr val="1A1A1A"/>
              </a:solidFill>
              <a:effectLst/>
              <a:latin typeface="mr-eaves-xl-modern"/>
            </a:endParaRPr>
          </a:p>
          <a:p>
            <a:pPr>
              <a:lnSpc>
                <a:spcPct val="100000"/>
              </a:lnSpc>
            </a:pPr>
            <a:r>
              <a:rPr kumimoji="0" lang="en-US" sz="1800" b="0" i="0" u="none" strike="noStrike" cap="none" normalizeH="0" baseline="0" dirty="0" smtClean="0">
                <a:ln>
                  <a:noFill/>
                </a:ln>
                <a:solidFill>
                  <a:schemeClr val="tx1"/>
                </a:solidFill>
                <a:effectLst/>
                <a:latin typeface="Arial" panose="020B0604020202020204" pitchFamily="34" charset="0"/>
              </a:rPr>
              <a:t>Data is messy and disconnected. JSON-LD organizes and connects it, creating a better Web.</a:t>
            </a:r>
          </a:p>
          <a:p>
            <a:pPr>
              <a:lnSpc>
                <a:spcPct val="100000"/>
              </a:lnSpc>
            </a:pPr>
            <a:endParaRPr kumimoji="0" lang="en-US" sz="1800" b="0" i="0" u="none" strike="noStrike" cap="none" normalizeH="0" baseline="0" dirty="0" smtClean="0">
              <a:ln>
                <a:noFill/>
              </a:ln>
              <a:solidFill>
                <a:schemeClr val="tx1"/>
              </a:solidFill>
              <a:effectLst/>
              <a:latin typeface="Arial" panose="020B0604020202020204" pitchFamily="34" charset="0"/>
            </a:endParaRPr>
          </a:p>
          <a:p>
            <a:pPr>
              <a:lnSpc>
                <a:spcPct val="100000"/>
              </a:lnSpc>
            </a:pPr>
            <a:r>
              <a:rPr kumimoji="0" lang="en-US" sz="1800" b="0" i="0" u="none" strike="noStrike" cap="none" normalizeH="0" baseline="0" dirty="0" smtClean="0">
                <a:ln>
                  <a:noFill/>
                </a:ln>
                <a:solidFill>
                  <a:schemeClr val="tx1"/>
                </a:solidFill>
                <a:effectLst/>
                <a:latin typeface="Arial" panose="020B0604020202020204" pitchFamily="34" charset="0"/>
              </a:rPr>
              <a:t>It is a way to create a network of standards-based, machine-readable data across Web sites.</a:t>
            </a:r>
          </a:p>
          <a:p>
            <a:pPr>
              <a:lnSpc>
                <a:spcPct val="100000"/>
              </a:lnSpc>
            </a:pPr>
            <a:endParaRPr kumimoji="0" lang="en-US" sz="1100" b="0" i="0" u="none" strike="noStrike" cap="none" normalizeH="0" baseline="0" dirty="0" smtClean="0">
              <a:ln>
                <a:noFill/>
              </a:ln>
              <a:solidFill>
                <a:schemeClr val="tx1"/>
              </a:solidFill>
              <a:effectLst/>
            </a:endParaRPr>
          </a:p>
          <a:p>
            <a:pPr eaLnBrk="1" hangingPunct="1"/>
            <a:r>
              <a:rPr lang="en-US" sz="1800" b="1" dirty="0" smtClean="0"/>
              <a:t>JSON </a:t>
            </a:r>
            <a:r>
              <a:rPr lang="en-US" sz="1800" b="1" dirty="0"/>
              <a:t>injects metadata in the head section</a:t>
            </a:r>
            <a:r>
              <a:rPr lang="en-US" sz="1800" b="1" dirty="0" smtClean="0"/>
              <a:t>. </a:t>
            </a:r>
            <a:r>
              <a:rPr lang="en-US" sz="1800" dirty="0" smtClean="0"/>
              <a:t>This </a:t>
            </a:r>
            <a:r>
              <a:rPr lang="en-US" sz="1800" dirty="0"/>
              <a:t>is used as a data block added as a script element. No need to tweak actual HTML data.</a:t>
            </a:r>
            <a:br>
              <a:rPr lang="en-US" sz="1800" dirty="0"/>
            </a:br>
            <a:endParaRPr lang="en-US" sz="1800" dirty="0"/>
          </a:p>
          <a:p>
            <a:pPr eaLnBrk="1" hangingPunct="1"/>
            <a:r>
              <a:rPr lang="en-US" sz="1800" dirty="0" smtClean="0"/>
              <a:t>Loads </a:t>
            </a:r>
            <a:r>
              <a:rPr lang="en-US" sz="1800" dirty="0"/>
              <a:t>faster, better indexing in search </a:t>
            </a:r>
            <a:r>
              <a:rPr lang="en-US" sz="1800" dirty="0" smtClean="0"/>
              <a:t>engines</a:t>
            </a:r>
            <a:r>
              <a:rPr lang="en-US" sz="1800" dirty="0"/>
              <a:t/>
            </a:r>
            <a:br>
              <a:rPr lang="en-US" sz="1800" dirty="0"/>
            </a:br>
            <a:endParaRPr lang="en-US" sz="1800" dirty="0"/>
          </a:p>
          <a:p>
            <a:pPr>
              <a:lnSpc>
                <a:spcPct val="100000"/>
              </a:lnSpc>
            </a:pPr>
            <a:r>
              <a:rPr kumimoji="0" lang="en-US" sz="1800" b="0" i="0" u="none" strike="noStrike" cap="none" normalizeH="0" baseline="0" dirty="0" smtClean="0">
                <a:ln>
                  <a:noFill/>
                </a:ln>
                <a:solidFill>
                  <a:schemeClr val="tx1"/>
                </a:solidFill>
                <a:effectLst/>
                <a:latin typeface="Arial" panose="020B0604020202020204" pitchFamily="34" charset="0"/>
              </a:rPr>
              <a:t>It is the choice of </a:t>
            </a:r>
            <a:r>
              <a:rPr lang="en-US" sz="1800" dirty="0" smtClean="0"/>
              <a:t>search engines like </a:t>
            </a:r>
            <a:r>
              <a:rPr kumimoji="0" lang="en-US" sz="1800" b="0" i="0" u="none" strike="noStrike" cap="none" normalizeH="0" baseline="0" dirty="0" smtClean="0">
                <a:ln>
                  <a:noFill/>
                </a:ln>
                <a:solidFill>
                  <a:schemeClr val="tx1"/>
                </a:solidFill>
                <a:effectLst/>
                <a:latin typeface="Arial" panose="020B0604020202020204" pitchFamily="34" charset="0"/>
              </a:rPr>
              <a:t>Google and Yahoo</a:t>
            </a:r>
          </a:p>
        </p:txBody>
      </p:sp>
    </p:spTree>
    <p:extLst>
      <p:ext uri="{BB962C8B-B14F-4D97-AF65-F5344CB8AC3E}">
        <p14:creationId xmlns:p14="http://schemas.microsoft.com/office/powerpoint/2010/main" val="321873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06" y="-422955"/>
            <a:ext cx="9692640" cy="1325562"/>
          </a:xfrm>
        </p:spPr>
        <p:txBody>
          <a:bodyPr>
            <a:normAutofit/>
          </a:bodyPr>
          <a:lstStyle/>
          <a:p>
            <a:r>
              <a:rPr lang="en-US" dirty="0" smtClean="0"/>
              <a:t>Example</a:t>
            </a:r>
            <a:endParaRPr lang="en-US" dirty="0"/>
          </a:p>
        </p:txBody>
      </p:sp>
      <p:sp>
        <p:nvSpPr>
          <p:cNvPr id="3" name="Content Placeholder 2"/>
          <p:cNvSpPr>
            <a:spLocks noGrp="1"/>
          </p:cNvSpPr>
          <p:nvPr>
            <p:ph idx="1"/>
          </p:nvPr>
        </p:nvSpPr>
        <p:spPr>
          <a:xfrm>
            <a:off x="186606" y="836549"/>
            <a:ext cx="7551927" cy="2443436"/>
          </a:xfrm>
          <a:ln>
            <a:solidFill>
              <a:schemeClr val="tx1"/>
            </a:solidFill>
          </a:ln>
        </p:spPr>
        <p:txBody>
          <a:bodyPr>
            <a:noAutofit/>
          </a:bodyPr>
          <a:lstStyle/>
          <a:p>
            <a:pPr marL="0" indent="0">
              <a:buNone/>
            </a:pPr>
            <a:r>
              <a:rPr lang="en-US" sz="1400" dirty="0">
                <a:solidFill>
                  <a:srgbClr val="000000"/>
                </a:solidFill>
                <a:latin typeface="Consolas" panose="020B0609020204030204" pitchFamily="49" charset="0"/>
              </a:rPr>
              <a:t>     </a:t>
            </a:r>
            <a:r>
              <a:rPr lang="en-US" sz="1400" dirty="0" smtClean="0">
                <a:solidFill>
                  <a:srgbClr val="800000"/>
                </a:solidFill>
                <a:latin typeface="Consolas" panose="020B0609020204030204" pitchFamily="49" charset="0"/>
              </a:rPr>
              <a:t>&lt;div&gt;</a:t>
            </a:r>
            <a:endParaRPr lang="en-US" sz="1400" dirty="0" smtClean="0">
              <a:solidFill>
                <a:srgbClr val="000000"/>
              </a:solidFill>
              <a:latin typeface="Consolas" panose="020B0609020204030204" pitchFamily="49" charset="0"/>
            </a:endParaRP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&lt;h1&gt;</a:t>
            </a:r>
            <a:r>
              <a:rPr lang="en-US" sz="1400" dirty="0">
                <a:solidFill>
                  <a:srgbClr val="000000"/>
                </a:solidFill>
                <a:latin typeface="Consolas" panose="020B0609020204030204" pitchFamily="49" charset="0"/>
              </a:rPr>
              <a:t> Avatar </a:t>
            </a:r>
            <a:r>
              <a:rPr lang="en-US" sz="1400" dirty="0">
                <a:solidFill>
                  <a:srgbClr val="800000"/>
                </a:solidFill>
                <a:latin typeface="Consolas" panose="020B0609020204030204" pitchFamily="49" charset="0"/>
              </a:rPr>
              <a:t>&lt;/h1&gt;</a:t>
            </a:r>
            <a:endParaRPr lang="en-US" sz="1400" dirty="0">
              <a:solidFill>
                <a:srgbClr val="000000"/>
              </a:solidFill>
              <a:latin typeface="Consolas" panose="020B0609020204030204" pitchFamily="49" charset="0"/>
            </a:endParaRP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&lt;div&gt;</a:t>
            </a:r>
            <a:endParaRPr lang="en-US" sz="1400" dirty="0">
              <a:solidFill>
                <a:srgbClr val="000000"/>
              </a:solidFill>
              <a:latin typeface="Consolas" panose="020B0609020204030204" pitchFamily="49" charset="0"/>
            </a:endParaRP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Director: James Cameron (born August 16, 1954)</a:t>
            </a: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&lt;/div&gt;</a:t>
            </a:r>
            <a:endParaRPr lang="en-US" sz="1400" dirty="0">
              <a:solidFill>
                <a:srgbClr val="000000"/>
              </a:solidFill>
              <a:latin typeface="Consolas" panose="020B0609020204030204" pitchFamily="49" charset="0"/>
            </a:endParaRP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&lt;span&gt;</a:t>
            </a:r>
            <a:r>
              <a:rPr lang="en-US" sz="1400" dirty="0">
                <a:solidFill>
                  <a:srgbClr val="000000"/>
                </a:solidFill>
                <a:latin typeface="Consolas" panose="020B0609020204030204" pitchFamily="49" charset="0"/>
              </a:rPr>
              <a:t>Science fiction</a:t>
            </a:r>
            <a:r>
              <a:rPr lang="en-US" sz="1400" dirty="0">
                <a:solidFill>
                  <a:srgbClr val="800000"/>
                </a:solidFill>
                <a:latin typeface="Consolas" panose="020B0609020204030204" pitchFamily="49" charset="0"/>
              </a:rPr>
              <a:t>&lt;/span&gt;</a:t>
            </a:r>
            <a:endParaRPr lang="en-US" sz="1400" dirty="0">
              <a:solidFill>
                <a:srgbClr val="000000"/>
              </a:solidFill>
              <a:latin typeface="Consolas" panose="020B0609020204030204" pitchFamily="49" charset="0"/>
            </a:endParaRPr>
          </a:p>
          <a:p>
            <a:pPr marL="0" indent="0">
              <a:lnSpc>
                <a:spcPct val="15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&lt;a</a:t>
            </a:r>
            <a:r>
              <a:rPr lang="en-US" sz="1400" dirty="0">
                <a:solidFill>
                  <a:srgbClr val="000000"/>
                </a:solidFill>
                <a:latin typeface="Consolas" panose="020B0609020204030204" pitchFamily="49" charset="0"/>
              </a:rPr>
              <a:t> </a:t>
            </a:r>
            <a:r>
              <a:rPr lang="en-US" sz="1400" dirty="0" err="1">
                <a:solidFill>
                  <a:srgbClr val="FF0000"/>
                </a:solidFill>
                <a:latin typeface="Consolas" panose="020B0609020204030204" pitchFamily="49" charset="0"/>
              </a:rPr>
              <a:t>href</a:t>
            </a:r>
            <a:r>
              <a:rPr lang="en-US" sz="1400" dirty="0">
                <a:solidFill>
                  <a:srgbClr val="000000"/>
                </a:solidFill>
                <a:latin typeface="Consolas" panose="020B0609020204030204" pitchFamily="49" charset="0"/>
              </a:rPr>
              <a:t>=</a:t>
            </a:r>
            <a:r>
              <a:rPr lang="en-US" sz="1400" dirty="0">
                <a:solidFill>
                  <a:srgbClr val="0000FF"/>
                </a:solidFill>
                <a:latin typeface="Consolas" panose="020B0609020204030204" pitchFamily="49" charset="0"/>
              </a:rPr>
              <a:t>"../movies/avatar-theatrical-trailer.html"</a:t>
            </a:r>
            <a:r>
              <a:rPr lang="en-US" sz="1400" dirty="0">
                <a:solidFill>
                  <a:srgbClr val="800000"/>
                </a:solidFill>
                <a:latin typeface="Consolas" panose="020B0609020204030204" pitchFamily="49" charset="0"/>
              </a:rPr>
              <a:t>&gt;</a:t>
            </a:r>
            <a:r>
              <a:rPr lang="en-US" sz="1400" dirty="0">
                <a:solidFill>
                  <a:srgbClr val="000000"/>
                </a:solidFill>
                <a:latin typeface="Consolas" panose="020B0609020204030204" pitchFamily="49" charset="0"/>
              </a:rPr>
              <a:t>Trailer</a:t>
            </a:r>
            <a:r>
              <a:rPr lang="en-US" sz="1400" dirty="0">
                <a:solidFill>
                  <a:srgbClr val="800000"/>
                </a:solidFill>
                <a:latin typeface="Consolas" panose="020B0609020204030204" pitchFamily="49" charset="0"/>
              </a:rPr>
              <a:t>&lt;/a&gt;</a:t>
            </a:r>
            <a:endParaRPr lang="en-US" sz="1400" dirty="0">
              <a:solidFill>
                <a:srgbClr val="000000"/>
              </a:solidFill>
              <a:latin typeface="Consolas" panose="020B0609020204030204" pitchFamily="49" charset="0"/>
            </a:endParaRPr>
          </a:p>
          <a:p>
            <a:pPr marL="0" indent="0">
              <a:lnSpc>
                <a:spcPct val="100000"/>
              </a:lnSpc>
              <a:spcBef>
                <a:spcPts val="0"/>
              </a:spcBef>
              <a:spcAft>
                <a:spcPts val="0"/>
              </a:spcAft>
              <a:buNone/>
            </a:pPr>
            <a:r>
              <a:rPr lang="en-US" sz="1400" dirty="0">
                <a:solidFill>
                  <a:srgbClr val="000000"/>
                </a:solidFill>
                <a:latin typeface="Consolas" panose="020B0609020204030204" pitchFamily="49" charset="0"/>
              </a:rPr>
              <a:t>    </a:t>
            </a:r>
            <a:r>
              <a:rPr lang="en-US" sz="1400" dirty="0">
                <a:solidFill>
                  <a:srgbClr val="800000"/>
                </a:solidFill>
                <a:latin typeface="Consolas" panose="020B0609020204030204" pitchFamily="49" charset="0"/>
              </a:rPr>
              <a:t>&lt;/div&gt;</a:t>
            </a:r>
            <a:r>
              <a:rPr lang="en-US" sz="1400" dirty="0">
                <a:solidFill>
                  <a:srgbClr val="000000"/>
                </a:solidFill>
                <a:latin typeface="Consolas" panose="020B0609020204030204" pitchFamily="49" charset="0"/>
              </a:rPr>
              <a:t> </a:t>
            </a:r>
            <a:br>
              <a:rPr lang="en-US" sz="1400" dirty="0">
                <a:solidFill>
                  <a:srgbClr val="000000"/>
                </a:solidFill>
                <a:latin typeface="Consolas" panose="020B0609020204030204" pitchFamily="49" charset="0"/>
              </a:rPr>
            </a:br>
            <a:r>
              <a:rPr lang="en-US" dirty="0">
                <a:solidFill>
                  <a:srgbClr val="000000"/>
                </a:solidFill>
                <a:latin typeface="Consolas" panose="020B0609020204030204" pitchFamily="49" charset="0"/>
              </a:rPr>
              <a:t>   </a:t>
            </a:r>
            <a:endParaRPr lang="en-US" dirty="0" smtClean="0">
              <a:solidFill>
                <a:srgbClr val="000000"/>
              </a:solidFill>
              <a:latin typeface="Consolas" panose="020B0609020204030204" pitchFamily="49" charset="0"/>
            </a:endParaRPr>
          </a:p>
          <a:p>
            <a:pPr marL="0" lvl="0" indent="0">
              <a:lnSpc>
                <a:spcPct val="150000"/>
              </a:lnSpc>
              <a:spcBef>
                <a:spcPts val="0"/>
              </a:spcBef>
              <a:spcAft>
                <a:spcPts val="0"/>
              </a:spcAft>
              <a:buClr>
                <a:srgbClr val="6F6F74"/>
              </a:buClr>
              <a:buNone/>
            </a:pPr>
            <a:endParaRPr lang="en-US" dirty="0">
              <a:solidFill>
                <a:srgbClr val="000000"/>
              </a:solidFill>
            </a:endParaRPr>
          </a:p>
          <a:p>
            <a:pPr marL="0" indent="0">
              <a:buNone/>
            </a:pPr>
            <a:endParaRPr lang="en-US" sz="1400" dirty="0" smtClean="0"/>
          </a:p>
        </p:txBody>
      </p:sp>
      <p:sp>
        <p:nvSpPr>
          <p:cNvPr id="6" name="TextBox 5"/>
          <p:cNvSpPr txBox="1"/>
          <p:nvPr/>
        </p:nvSpPr>
        <p:spPr>
          <a:xfrm>
            <a:off x="7898385" y="1874499"/>
            <a:ext cx="1980861" cy="923330"/>
          </a:xfrm>
          <a:prstGeom prst="rect">
            <a:avLst/>
          </a:prstGeom>
          <a:noFill/>
        </p:spPr>
        <p:txBody>
          <a:bodyPr wrap="square" rtlCol="0">
            <a:spAutoFit/>
          </a:bodyPr>
          <a:lstStyle/>
          <a:p>
            <a:r>
              <a:rPr lang="en-US" dirty="0" smtClean="0"/>
              <a:t>Without semantic markup</a:t>
            </a:r>
            <a:endParaRPr lang="en-US" dirty="0"/>
          </a:p>
        </p:txBody>
      </p:sp>
      <p:sp>
        <p:nvSpPr>
          <p:cNvPr id="7" name="TextBox 6"/>
          <p:cNvSpPr txBox="1"/>
          <p:nvPr/>
        </p:nvSpPr>
        <p:spPr>
          <a:xfrm>
            <a:off x="7898385" y="5185399"/>
            <a:ext cx="1426464" cy="369332"/>
          </a:xfrm>
          <a:prstGeom prst="rect">
            <a:avLst/>
          </a:prstGeom>
          <a:noFill/>
        </p:spPr>
        <p:txBody>
          <a:bodyPr wrap="square" rtlCol="0">
            <a:spAutoFit/>
          </a:bodyPr>
          <a:lstStyle/>
          <a:p>
            <a:r>
              <a:rPr lang="en-US" dirty="0" smtClean="0"/>
              <a:t>JSON-LD</a:t>
            </a:r>
            <a:endParaRPr lang="en-US" dirty="0"/>
          </a:p>
        </p:txBody>
      </p:sp>
      <p:sp>
        <p:nvSpPr>
          <p:cNvPr id="9" name="TextBox 8"/>
          <p:cNvSpPr txBox="1"/>
          <p:nvPr/>
        </p:nvSpPr>
        <p:spPr>
          <a:xfrm>
            <a:off x="186606" y="3431073"/>
            <a:ext cx="7551927" cy="3539430"/>
          </a:xfrm>
          <a:prstGeom prst="rect">
            <a:avLst/>
          </a:prstGeom>
          <a:noFill/>
          <a:ln>
            <a:solidFill>
              <a:schemeClr val="tx1"/>
            </a:solidFill>
          </a:ln>
        </p:spPr>
        <p:txBody>
          <a:bodyPr wrap="square" rtlCol="0">
            <a:spAutoFit/>
          </a:bodyPr>
          <a:lstStyle/>
          <a:p>
            <a:r>
              <a:rPr lang="en-US" sz="1600" dirty="0" smtClean="0">
                <a:solidFill>
                  <a:srgbClr val="000000"/>
                </a:solidFill>
                <a:latin typeface="Consolas" panose="020B0609020204030204" pitchFamily="49" charset="0"/>
              </a:rPr>
              <a:t>    </a:t>
            </a:r>
            <a:r>
              <a:rPr lang="en-US" sz="1600" dirty="0">
                <a:solidFill>
                  <a:srgbClr val="800000"/>
                </a:solidFill>
                <a:latin typeface="Consolas" panose="020B0609020204030204" pitchFamily="49" charset="0"/>
              </a:rPr>
              <a:t>&lt;script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type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"application/</a:t>
            </a:r>
            <a:r>
              <a:rPr lang="en-US" sz="1600" dirty="0" err="1">
                <a:solidFill>
                  <a:srgbClr val="0000FF"/>
                </a:solidFill>
                <a:latin typeface="Consolas" panose="020B0609020204030204" pitchFamily="49" charset="0"/>
              </a:rPr>
              <a:t>ld+json</a:t>
            </a:r>
            <a:r>
              <a:rPr lang="en-US" sz="1600" dirty="0">
                <a:solidFill>
                  <a:srgbClr val="0000FF"/>
                </a:solidFill>
                <a:latin typeface="Consolas" panose="020B0609020204030204" pitchFamily="49" charset="0"/>
              </a:rPr>
              <a:t>"</a:t>
            </a:r>
            <a:r>
              <a:rPr lang="en-US" sz="1600" dirty="0">
                <a:solidFill>
                  <a:srgbClr val="800000"/>
                </a:solidFill>
                <a:latin typeface="Consolas" panose="020B0609020204030204" pitchFamily="49" charset="0"/>
              </a:rPr>
              <a:t>&gt;</a:t>
            </a:r>
            <a:endParaRPr lang="en-US" sz="1600" dirty="0">
              <a:solidFill>
                <a:srgbClr val="000000"/>
              </a:solidFill>
              <a:latin typeface="Consolas" panose="020B0609020204030204" pitchFamily="49" charset="0"/>
            </a:endParaRPr>
          </a:p>
          <a:p>
            <a:pPr lvl="0">
              <a:buClr>
                <a:srgbClr val="6F6F74"/>
              </a:buClr>
            </a:pP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context":"http</a:t>
            </a:r>
            <a:r>
              <a:rPr lang="en-US" sz="1600" dirty="0">
                <a:solidFill>
                  <a:srgbClr val="000000"/>
                </a:solidFill>
                <a:latin typeface="Consolas" panose="020B0609020204030204" pitchFamily="49" charset="0"/>
              </a:rPr>
              <a:t>://schema.org/",</a:t>
            </a:r>
          </a:p>
          <a:p>
            <a:pPr lvl="0">
              <a:buClr>
                <a:srgbClr val="6F6F74"/>
              </a:buClr>
            </a:pPr>
            <a:r>
              <a:rPr lang="en-US" sz="1600" dirty="0">
                <a:solidFill>
                  <a:srgbClr val="000000"/>
                </a:solidFill>
                <a:latin typeface="Consolas" panose="020B0609020204030204" pitchFamily="49" charset="0"/>
              </a:rPr>
              <a:t>        "@type": "Movie",</a:t>
            </a:r>
          </a:p>
          <a:p>
            <a:pPr lvl="0">
              <a:buClr>
                <a:srgbClr val="6F6F74"/>
              </a:buClr>
            </a:pPr>
            <a:r>
              <a:rPr lang="en-US" sz="1600" dirty="0">
                <a:solidFill>
                  <a:srgbClr val="000000"/>
                </a:solidFill>
                <a:latin typeface="Consolas" panose="020B0609020204030204" pitchFamily="49" charset="0"/>
              </a:rPr>
              <a:t>        "name": "Avatar", </a:t>
            </a:r>
          </a:p>
          <a:p>
            <a:pPr lvl="0">
              <a:buClr>
                <a:srgbClr val="6F6F74"/>
              </a:buClr>
            </a:pPr>
            <a:r>
              <a:rPr lang="en-US" sz="1600" dirty="0">
                <a:solidFill>
                  <a:srgbClr val="000000"/>
                </a:solidFill>
                <a:latin typeface="Consolas" panose="020B0609020204030204" pitchFamily="49" charset="0"/>
              </a:rPr>
              <a:t>        "director": </a:t>
            </a:r>
          </a:p>
          <a:p>
            <a:pPr lvl="0">
              <a:buClr>
                <a:srgbClr val="6F6F74"/>
              </a:buClr>
            </a:pPr>
            <a:r>
              <a:rPr lang="en-US" sz="1600" dirty="0">
                <a:solidFill>
                  <a:srgbClr val="000000"/>
                </a:solidFill>
                <a:latin typeface="Consolas" panose="020B0609020204030204" pitchFamily="49" charset="0"/>
              </a:rPr>
              <a:t>        {   "@type": "Person", </a:t>
            </a:r>
          </a:p>
          <a:p>
            <a:pPr lvl="0">
              <a:buClr>
                <a:srgbClr val="6F6F74"/>
              </a:buClr>
            </a:pPr>
            <a:r>
              <a:rPr lang="en-US" sz="1600" dirty="0">
                <a:solidFill>
                  <a:srgbClr val="000000"/>
                </a:solidFill>
                <a:latin typeface="Consolas" panose="020B0609020204030204" pitchFamily="49" charset="0"/>
              </a:rPr>
              <a:t>            "name": "James Cameron", </a:t>
            </a:r>
          </a:p>
          <a:p>
            <a:pPr lvl="0">
              <a:buClr>
                <a:srgbClr val="6F6F74"/>
              </a:buClr>
            </a:pP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birthDate</a:t>
            </a:r>
            <a:r>
              <a:rPr lang="en-US" sz="1600" dirty="0">
                <a:solidFill>
                  <a:srgbClr val="000000"/>
                </a:solidFill>
                <a:latin typeface="Consolas" panose="020B0609020204030204" pitchFamily="49" charset="0"/>
              </a:rPr>
              <a:t>": "1954-08-16"</a:t>
            </a:r>
          </a:p>
          <a:p>
            <a:pPr lvl="0">
              <a:buClr>
                <a:srgbClr val="6F6F74"/>
              </a:buClr>
            </a:pPr>
            <a:r>
              <a:rPr lang="en-US" sz="1600" dirty="0">
                <a:solidFill>
                  <a:srgbClr val="000000"/>
                </a:solidFill>
                <a:latin typeface="Consolas" panose="020B0609020204030204" pitchFamily="49" charset="0"/>
              </a:rPr>
              <a:t>        },</a:t>
            </a:r>
          </a:p>
          <a:p>
            <a:pPr lvl="0">
              <a:buClr>
                <a:srgbClr val="6F6F74"/>
              </a:buClr>
            </a:pPr>
            <a:r>
              <a:rPr lang="en-US" sz="1600" dirty="0">
                <a:solidFill>
                  <a:srgbClr val="000000"/>
                </a:solidFill>
                <a:latin typeface="Consolas" panose="020B0609020204030204" pitchFamily="49" charset="0"/>
              </a:rPr>
              <a:t>        "genre": "Science fiction", </a:t>
            </a:r>
          </a:p>
          <a:p>
            <a:pPr lvl="0">
              <a:buClr>
                <a:srgbClr val="6F6F74"/>
              </a:buClr>
            </a:pPr>
            <a:r>
              <a:rPr lang="en-US" sz="1600" dirty="0">
                <a:solidFill>
                  <a:srgbClr val="000000"/>
                </a:solidFill>
                <a:latin typeface="Consolas" panose="020B0609020204030204" pitchFamily="49" charset="0"/>
              </a:rPr>
              <a:t>        "trailer": "../movies/avatar-theatrical-trailer.html"</a:t>
            </a:r>
          </a:p>
          <a:p>
            <a:pPr lvl="0">
              <a:buClr>
                <a:srgbClr val="6F6F74"/>
              </a:buClr>
            </a:pPr>
            <a:r>
              <a:rPr lang="en-US" sz="1600" dirty="0">
                <a:solidFill>
                  <a:srgbClr val="000000"/>
                </a:solidFill>
                <a:latin typeface="Consolas" panose="020B0609020204030204" pitchFamily="49" charset="0"/>
              </a:rPr>
              <a:t>    }   </a:t>
            </a:r>
          </a:p>
          <a:p>
            <a:pPr lvl="0">
              <a:buClr>
                <a:srgbClr val="6F6F74"/>
              </a:buClr>
            </a:pPr>
            <a:r>
              <a:rPr lang="en-US" sz="1600" dirty="0">
                <a:solidFill>
                  <a:srgbClr val="000000"/>
                </a:solidFill>
                <a:latin typeface="Consolas" panose="020B0609020204030204" pitchFamily="49" charset="0"/>
              </a:rPr>
              <a:t>    </a:t>
            </a:r>
            <a:r>
              <a:rPr lang="en-US" sz="1600" dirty="0">
                <a:solidFill>
                  <a:srgbClr val="800000"/>
                </a:solidFill>
                <a:latin typeface="Consolas" panose="020B0609020204030204" pitchFamily="49" charset="0"/>
              </a:rPr>
              <a:t>&lt;/script&gt;</a:t>
            </a:r>
            <a:endParaRPr lang="en-US" sz="1600" dirty="0">
              <a:solidFill>
                <a:srgbClr val="000000"/>
              </a:solidFill>
              <a:latin typeface="Consolas" panose="020B0609020204030204" pitchFamily="49" charset="0"/>
            </a:endParaRPr>
          </a:p>
          <a:p>
            <a:endParaRPr lang="en-US" sz="1600" dirty="0"/>
          </a:p>
        </p:txBody>
      </p:sp>
    </p:spTree>
    <p:extLst>
      <p:ext uri="{BB962C8B-B14F-4D97-AF65-F5344CB8AC3E}">
        <p14:creationId xmlns:p14="http://schemas.microsoft.com/office/powerpoint/2010/main" val="3621428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7" end="7"/>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xEl>
                                              <p:pRg st="11" end="1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9">
                                            <p:txEl>
                                              <p:pRg st="10" end="1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xEl>
                                              <p:pRg st="11" end="11"/>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581" y="-300720"/>
            <a:ext cx="9692640" cy="1325562"/>
          </a:xfrm>
        </p:spPr>
        <p:txBody>
          <a:bodyPr/>
          <a:lstStyle/>
          <a:p>
            <a:r>
              <a:rPr lang="en-US" dirty="0" smtClean="0"/>
              <a:t>Example</a:t>
            </a:r>
            <a:endParaRPr lang="en-US" dirty="0"/>
          </a:p>
        </p:txBody>
      </p:sp>
      <p:sp>
        <p:nvSpPr>
          <p:cNvPr id="3" name="Content Placeholder 2"/>
          <p:cNvSpPr>
            <a:spLocks noGrp="1"/>
          </p:cNvSpPr>
          <p:nvPr>
            <p:ph idx="1"/>
          </p:nvPr>
        </p:nvSpPr>
        <p:spPr>
          <a:xfrm>
            <a:off x="677922" y="1264822"/>
            <a:ext cx="8595360" cy="1731523"/>
          </a:xfrm>
          <a:ln>
            <a:solidFill>
              <a:schemeClr val="tx1"/>
            </a:solidFill>
          </a:ln>
        </p:spPr>
        <p:txBody>
          <a:bodyPr/>
          <a:lstStyle/>
          <a:p>
            <a:pPr marL="0" indent="0">
              <a:buNone/>
            </a:pPr>
            <a:r>
              <a:rPr lang="en-US" dirty="0" smtClean="0"/>
              <a:t>&lt;div&gt; </a:t>
            </a:r>
          </a:p>
          <a:p>
            <a:pPr marL="0" indent="0">
              <a:buNone/>
            </a:pPr>
            <a:r>
              <a:rPr lang="en-US" dirty="0" smtClean="0"/>
              <a:t>George</a:t>
            </a:r>
            <a:r>
              <a:rPr lang="en-US" dirty="0"/>
              <a:t> Bush, the 41st President of the United States is the father of George W. Bush</a:t>
            </a:r>
            <a:r>
              <a:rPr lang="en-US" dirty="0" smtClean="0"/>
              <a:t>, the</a:t>
            </a:r>
            <a:r>
              <a:rPr lang="en-US" dirty="0"/>
              <a:t> 43rd President of the United States</a:t>
            </a:r>
            <a:r>
              <a:rPr lang="en-US" dirty="0" smtClean="0"/>
              <a:t>. </a:t>
            </a:r>
          </a:p>
          <a:p>
            <a:pPr marL="0" indent="0">
              <a:buNone/>
            </a:pPr>
            <a:r>
              <a:rPr lang="en-US" dirty="0" smtClean="0"/>
              <a:t>&lt;/div&gt;</a:t>
            </a:r>
            <a:endParaRPr lang="en-US" dirty="0"/>
          </a:p>
          <a:p>
            <a:pPr marL="0" indent="0">
              <a:buNone/>
            </a:pPr>
            <a:endParaRPr lang="en-US" dirty="0"/>
          </a:p>
        </p:txBody>
      </p:sp>
      <p:sp>
        <p:nvSpPr>
          <p:cNvPr id="4" name="TextBox 3"/>
          <p:cNvSpPr txBox="1"/>
          <p:nvPr/>
        </p:nvSpPr>
        <p:spPr>
          <a:xfrm>
            <a:off x="628990" y="3129403"/>
            <a:ext cx="9321822" cy="3572260"/>
          </a:xfrm>
          <a:prstGeom prst="rect">
            <a:avLst/>
          </a:prstGeom>
          <a:noFill/>
          <a:ln>
            <a:solidFill>
              <a:schemeClr val="tx1"/>
            </a:solidFill>
          </a:ln>
        </p:spPr>
        <p:txBody>
          <a:bodyPr wrap="square" rtlCol="0">
            <a:spAutoFit/>
          </a:bodyPr>
          <a:lstStyle/>
          <a:p>
            <a:pPr lvl="0">
              <a:lnSpc>
                <a:spcPct val="95000"/>
              </a:lnSpc>
              <a:spcBef>
                <a:spcPts val="1400"/>
              </a:spcBef>
              <a:spcAft>
                <a:spcPts val="200"/>
              </a:spcAft>
              <a:buClr>
                <a:srgbClr val="6F6F74"/>
              </a:buClr>
              <a:buSzPct val="80000"/>
            </a:pPr>
            <a:r>
              <a:rPr lang="en-US" sz="1600" b="1" spc="10" dirty="0">
                <a:solidFill>
                  <a:srgbClr val="515484"/>
                </a:solidFill>
                <a:latin typeface="Courier"/>
              </a:rPr>
              <a:t>&lt;script</a:t>
            </a:r>
            <a:r>
              <a:rPr lang="en-US" sz="1600" b="1" spc="10" dirty="0">
                <a:solidFill>
                  <a:srgbClr val="444444"/>
                </a:solidFill>
                <a:latin typeface="Courier"/>
              </a:rPr>
              <a:t> </a:t>
            </a:r>
            <a:r>
              <a:rPr lang="en-US" sz="1600" b="1" spc="10" dirty="0">
                <a:solidFill>
                  <a:srgbClr val="314B17"/>
                </a:solidFill>
                <a:latin typeface="Courier"/>
              </a:rPr>
              <a:t>type</a:t>
            </a:r>
            <a:r>
              <a:rPr lang="en-US" sz="1600" b="1" spc="10" dirty="0">
                <a:solidFill>
                  <a:srgbClr val="666600"/>
                </a:solidFill>
                <a:latin typeface="Courier"/>
              </a:rPr>
              <a:t>=</a:t>
            </a:r>
            <a:r>
              <a:rPr lang="en-US" sz="1600" b="1" spc="10" dirty="0">
                <a:solidFill>
                  <a:srgbClr val="314B17"/>
                </a:solidFill>
                <a:latin typeface="Courier"/>
              </a:rPr>
              <a:t>"application/</a:t>
            </a:r>
            <a:r>
              <a:rPr lang="en-US" sz="1600" b="1" spc="10" dirty="0" err="1">
                <a:solidFill>
                  <a:srgbClr val="314B17"/>
                </a:solidFill>
                <a:latin typeface="Courier"/>
              </a:rPr>
              <a:t>ld+json</a:t>
            </a:r>
            <a:r>
              <a:rPr lang="en-US" sz="1600" b="1" spc="10" dirty="0">
                <a:solidFill>
                  <a:srgbClr val="314B17"/>
                </a:solidFill>
                <a:latin typeface="Courier"/>
              </a:rPr>
              <a:t>"</a:t>
            </a:r>
            <a:r>
              <a:rPr lang="en-US" sz="1600" b="1" spc="10" dirty="0">
                <a:solidFill>
                  <a:srgbClr val="515484"/>
                </a:solidFill>
                <a:latin typeface="Courier"/>
              </a:rPr>
              <a:t>&gt;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"@context"</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"http://schema.org"</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"@type"</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"Person"</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"name"</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"George Bush"</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a:t>
            </a:r>
            <a:r>
              <a:rPr lang="en-US" sz="1600" b="1" spc="10" dirty="0" err="1">
                <a:solidFill>
                  <a:srgbClr val="008800"/>
                </a:solidFill>
                <a:latin typeface="Courier"/>
              </a:rPr>
              <a:t>disambiguatingDescription</a:t>
            </a:r>
            <a:r>
              <a:rPr lang="en-US" sz="1600" b="1" spc="10" dirty="0">
                <a:solidFill>
                  <a:srgbClr val="008800"/>
                </a:solidFill>
                <a:latin typeface="Courier"/>
              </a:rPr>
              <a:t>"</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"41st President of the United States"</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"children"</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"@type"</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"Person"</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"name"</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"George W. Bush"</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008800"/>
                </a:solidFill>
                <a:latin typeface="Courier"/>
              </a:rPr>
              <a:t>"</a:t>
            </a:r>
            <a:r>
              <a:rPr lang="en-US" sz="1600" b="1" spc="10" dirty="0" err="1">
                <a:solidFill>
                  <a:srgbClr val="008800"/>
                </a:solidFill>
                <a:latin typeface="Courier"/>
              </a:rPr>
              <a:t>disambiguatingDescription</a:t>
            </a:r>
            <a:r>
              <a:rPr lang="en-US" sz="1600" b="1" spc="10" dirty="0">
                <a:solidFill>
                  <a:srgbClr val="008800"/>
                </a:solidFill>
                <a:latin typeface="Courier"/>
              </a:rPr>
              <a:t>"</a:t>
            </a:r>
            <a:r>
              <a:rPr lang="en-US" sz="1600" b="1" spc="10" dirty="0">
                <a:solidFill>
                  <a:srgbClr val="666600"/>
                </a:solidFill>
                <a:latin typeface="Courier"/>
              </a:rPr>
              <a:t>:</a:t>
            </a:r>
            <a:r>
              <a:rPr lang="en-US" sz="1600" b="1" spc="10" dirty="0">
                <a:solidFill>
                  <a:srgbClr val="444444"/>
                </a:solidFill>
                <a:latin typeface="Courier"/>
              </a:rPr>
              <a:t> </a:t>
            </a:r>
            <a:r>
              <a:rPr lang="en-US" sz="1600" b="1" spc="10" dirty="0">
                <a:solidFill>
                  <a:srgbClr val="008800"/>
                </a:solidFill>
                <a:latin typeface="Courier"/>
              </a:rPr>
              <a:t>"43rd President of the United States"</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444444"/>
                </a:solidFill>
                <a:latin typeface="Courier"/>
              </a:rPr>
              <a:t>  </a:t>
            </a: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666600"/>
                </a:solidFill>
                <a:latin typeface="Courier"/>
              </a:rPr>
              <a:t>}</a:t>
            </a:r>
            <a:r>
              <a:rPr lang="en-US" sz="1600" b="1" spc="10" dirty="0">
                <a:solidFill>
                  <a:srgbClr val="3A4956"/>
                </a:solidFill>
                <a:latin typeface="Courier"/>
              </a:rPr>
              <a:t/>
            </a:r>
            <a:br>
              <a:rPr lang="en-US" sz="1600" b="1" spc="10" dirty="0">
                <a:solidFill>
                  <a:srgbClr val="3A4956"/>
                </a:solidFill>
                <a:latin typeface="Courier"/>
              </a:rPr>
            </a:br>
            <a:r>
              <a:rPr lang="en-US" sz="1600" b="1" spc="10" dirty="0">
                <a:solidFill>
                  <a:srgbClr val="515484"/>
                </a:solidFill>
                <a:latin typeface="Courier"/>
              </a:rPr>
              <a:t>&lt;/script&gt;</a:t>
            </a:r>
            <a:endParaRPr lang="en-US" sz="1600" b="1" spc="10" dirty="0">
              <a:solidFill>
                <a:srgbClr val="3A4956"/>
              </a:solidFill>
              <a:latin typeface="Courier"/>
            </a:endParaRPr>
          </a:p>
          <a:p>
            <a:pPr lvl="0">
              <a:lnSpc>
                <a:spcPct val="95000"/>
              </a:lnSpc>
              <a:spcBef>
                <a:spcPts val="1400"/>
              </a:spcBef>
              <a:spcAft>
                <a:spcPts val="200"/>
              </a:spcAft>
              <a:buClr>
                <a:srgbClr val="6F6F74"/>
              </a:buClr>
              <a:buSzPct val="80000"/>
            </a:pPr>
            <a:endParaRPr lang="en-US" sz="1600" b="1" spc="10" dirty="0">
              <a:solidFill>
                <a:srgbClr val="000000"/>
              </a:solidFill>
            </a:endParaRPr>
          </a:p>
        </p:txBody>
      </p:sp>
      <p:sp>
        <p:nvSpPr>
          <p:cNvPr id="5" name="TextBox 4"/>
          <p:cNvSpPr txBox="1"/>
          <p:nvPr/>
        </p:nvSpPr>
        <p:spPr>
          <a:xfrm>
            <a:off x="9964081" y="1848256"/>
            <a:ext cx="1980861" cy="923330"/>
          </a:xfrm>
          <a:prstGeom prst="rect">
            <a:avLst/>
          </a:prstGeom>
          <a:noFill/>
        </p:spPr>
        <p:txBody>
          <a:bodyPr wrap="square" rtlCol="0">
            <a:spAutoFit/>
          </a:bodyPr>
          <a:lstStyle/>
          <a:p>
            <a:r>
              <a:rPr lang="en-US" dirty="0" smtClean="0"/>
              <a:t>Without semantic markup</a:t>
            </a:r>
            <a:endParaRPr lang="en-US" dirty="0"/>
          </a:p>
        </p:txBody>
      </p:sp>
      <p:sp>
        <p:nvSpPr>
          <p:cNvPr id="6" name="TextBox 5"/>
          <p:cNvSpPr txBox="1"/>
          <p:nvPr/>
        </p:nvSpPr>
        <p:spPr>
          <a:xfrm>
            <a:off x="10136221" y="5069674"/>
            <a:ext cx="1426464" cy="369332"/>
          </a:xfrm>
          <a:prstGeom prst="rect">
            <a:avLst/>
          </a:prstGeom>
          <a:noFill/>
        </p:spPr>
        <p:txBody>
          <a:bodyPr wrap="square" rtlCol="0">
            <a:spAutoFit/>
          </a:bodyPr>
          <a:lstStyle/>
          <a:p>
            <a:r>
              <a:rPr lang="en-US" smtClean="0"/>
              <a:t>JSON-LD</a:t>
            </a:r>
            <a:endParaRPr lang="en-US" dirty="0"/>
          </a:p>
        </p:txBody>
      </p:sp>
    </p:spTree>
    <p:extLst>
      <p:ext uri="{BB962C8B-B14F-4D97-AF65-F5344CB8AC3E}">
        <p14:creationId xmlns:p14="http://schemas.microsoft.com/office/powerpoint/2010/main" val="2820683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Themes </a:t>
            </a:r>
            <a:endParaRPr lang="en-IN" dirty="0"/>
          </a:p>
        </p:txBody>
      </p:sp>
      <p:sp>
        <p:nvSpPr>
          <p:cNvPr id="3" name="Content Placeholder 2"/>
          <p:cNvSpPr>
            <a:spLocks noGrp="1"/>
          </p:cNvSpPr>
          <p:nvPr>
            <p:ph idx="1"/>
          </p:nvPr>
        </p:nvSpPr>
        <p:spPr/>
        <p:txBody>
          <a:bodyPr/>
          <a:lstStyle/>
          <a:p>
            <a:r>
              <a:rPr lang="en-US" dirty="0"/>
              <a:t>A </a:t>
            </a:r>
            <a:r>
              <a:rPr lang="en-US" b="1" dirty="0"/>
              <a:t>theme</a:t>
            </a:r>
            <a:r>
              <a:rPr lang="en-US" dirty="0"/>
              <a:t> defines a collection of visual design choices:</a:t>
            </a:r>
          </a:p>
          <a:p>
            <a:pPr lvl="1"/>
            <a:r>
              <a:rPr lang="en-US" dirty="0"/>
              <a:t>Colors </a:t>
            </a:r>
          </a:p>
          <a:p>
            <a:pPr lvl="1"/>
            <a:r>
              <a:rPr lang="en-US" dirty="0"/>
              <a:t>Backgrounds </a:t>
            </a:r>
          </a:p>
          <a:p>
            <a:pPr lvl="1"/>
            <a:r>
              <a:rPr lang="en-US" dirty="0"/>
              <a:t>Borders </a:t>
            </a:r>
          </a:p>
          <a:p>
            <a:pPr lvl="1"/>
            <a:r>
              <a:rPr lang="en-US" dirty="0"/>
              <a:t>Shadows </a:t>
            </a:r>
          </a:p>
          <a:p>
            <a:pPr lvl="1"/>
            <a:r>
              <a:rPr lang="en-US" dirty="0" smtClean="0"/>
              <a:t>Typography</a:t>
            </a:r>
          </a:p>
          <a:p>
            <a:r>
              <a:rPr lang="en-US" dirty="0" smtClean="0"/>
              <a:t>Based on color: </a:t>
            </a:r>
          </a:p>
          <a:p>
            <a:pPr lvl="1"/>
            <a:r>
              <a:rPr lang="en-US" dirty="0" smtClean="0"/>
              <a:t>Light </a:t>
            </a:r>
            <a:r>
              <a:rPr lang="en-US" dirty="0"/>
              <a:t>theme: predominantly light backgrounds and dark </a:t>
            </a:r>
            <a:r>
              <a:rPr lang="en-US" dirty="0" smtClean="0"/>
              <a:t>text</a:t>
            </a:r>
          </a:p>
          <a:p>
            <a:pPr lvl="1"/>
            <a:r>
              <a:rPr lang="en-US" dirty="0" smtClean="0"/>
              <a:t>Dark </a:t>
            </a:r>
            <a:r>
              <a:rPr lang="en-US" dirty="0"/>
              <a:t>theme: predominantly dark backgrounds and light text</a:t>
            </a:r>
          </a:p>
        </p:txBody>
      </p:sp>
    </p:spTree>
    <p:extLst>
      <p:ext uri="{BB962C8B-B14F-4D97-AF65-F5344CB8AC3E}">
        <p14:creationId xmlns:p14="http://schemas.microsoft.com/office/powerpoint/2010/main" val="3558529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Light and dark modes</a:t>
            </a:r>
            <a:endParaRPr lang="en-IN" dirty="0"/>
          </a:p>
        </p:txBody>
      </p:sp>
      <p:sp>
        <p:nvSpPr>
          <p:cNvPr id="5" name="Content Placeholder 4"/>
          <p:cNvSpPr>
            <a:spLocks noGrp="1"/>
          </p:cNvSpPr>
          <p:nvPr>
            <p:ph sz="half" idx="1"/>
          </p:nvPr>
        </p:nvSpPr>
        <p:spPr/>
        <p:txBody>
          <a:bodyPr/>
          <a:lstStyle/>
          <a:p>
            <a:endParaRPr lang="en-IN" dirty="0"/>
          </a:p>
        </p:txBody>
      </p:sp>
      <p:sp>
        <p:nvSpPr>
          <p:cNvPr id="6" name="Content Placeholder 5"/>
          <p:cNvSpPr>
            <a:spLocks noGrp="1"/>
          </p:cNvSpPr>
          <p:nvPr>
            <p:ph sz="half" idx="2"/>
          </p:nvPr>
        </p:nvSpPr>
        <p:spPr/>
        <p:txBody>
          <a:bodyPr/>
          <a:lstStyle/>
          <a:p>
            <a:endParaRPr lang="en-IN"/>
          </a:p>
        </p:txBody>
      </p:sp>
      <p:sp>
        <p:nvSpPr>
          <p:cNvPr id="7" name="TextBox 6"/>
          <p:cNvSpPr txBox="1"/>
          <p:nvPr/>
        </p:nvSpPr>
        <p:spPr>
          <a:xfrm>
            <a:off x="1249146" y="1819374"/>
            <a:ext cx="4506012" cy="4524315"/>
          </a:xfrm>
          <a:prstGeom prst="rect">
            <a:avLst/>
          </a:prstGeom>
          <a:solidFill>
            <a:schemeClr val="tx2"/>
          </a:solidFill>
          <a:ln>
            <a:solidFill>
              <a:schemeClr val="tx1"/>
            </a:solidFill>
          </a:ln>
        </p:spPr>
        <p:txBody>
          <a:bodyPr wrap="square" rtlCol="0">
            <a:spAutoFit/>
          </a:bodyPr>
          <a:lstStyle/>
          <a:p>
            <a:r>
              <a:rPr lang="en-IN" dirty="0">
                <a:solidFill>
                  <a:srgbClr val="D7BA7D"/>
                </a:solidFill>
                <a:latin typeface="Consolas" panose="020B0609020204030204" pitchFamily="49" charset="0"/>
              </a:rPr>
              <a:t>:root</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bg-color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a:t>
            </a:r>
            <a:r>
              <a:rPr lang="en-IN" dirty="0" err="1">
                <a:solidFill>
                  <a:srgbClr val="CE9178"/>
                </a:solidFill>
                <a:latin typeface="Consolas" panose="020B0609020204030204" pitchFamily="49" charset="0"/>
              </a:rPr>
              <a:t>ffffff</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--text-</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#1f2937</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--card-</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#f3f4f6</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--primary-</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#2563eb</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7BA7D"/>
                </a:solidFill>
                <a:latin typeface="Consolas" panose="020B0609020204030204" pitchFamily="49" charset="0"/>
              </a:rPr>
              <a:t>body</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background</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bg-color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--text-</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D7BA7D"/>
                </a:solidFill>
                <a:latin typeface="Consolas" panose="020B0609020204030204" pitchFamily="49" charset="0"/>
              </a:rPr>
              <a:t>.card</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background</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--card-</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b="0" dirty="0">
              <a:solidFill>
                <a:srgbClr val="CCCCCC"/>
              </a:solidFill>
              <a:effectLst/>
              <a:latin typeface="Consolas" panose="020B0609020204030204" pitchFamily="49" charset="0"/>
            </a:endParaRPr>
          </a:p>
        </p:txBody>
      </p:sp>
      <p:sp>
        <p:nvSpPr>
          <p:cNvPr id="8" name="TextBox 7"/>
          <p:cNvSpPr txBox="1"/>
          <p:nvPr/>
        </p:nvSpPr>
        <p:spPr>
          <a:xfrm>
            <a:off x="6101028" y="1828800"/>
            <a:ext cx="4506012" cy="4524315"/>
          </a:xfrm>
          <a:prstGeom prst="rect">
            <a:avLst/>
          </a:prstGeom>
          <a:solidFill>
            <a:schemeClr val="tx2"/>
          </a:solidFill>
          <a:ln>
            <a:solidFill>
              <a:schemeClr val="tx1"/>
            </a:solidFill>
          </a:ln>
        </p:spPr>
        <p:txBody>
          <a:bodyPr wrap="square" rtlCol="0">
            <a:spAutoFit/>
          </a:bodyPr>
          <a:lstStyle/>
          <a:p>
            <a:r>
              <a:rPr lang="en-IN" dirty="0">
                <a:solidFill>
                  <a:srgbClr val="D7BA7D"/>
                </a:solidFill>
                <a:latin typeface="Consolas" panose="020B0609020204030204" pitchFamily="49" charset="0"/>
              </a:rPr>
              <a:t>:root</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bg-color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#111827</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--text-</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#f9fafb</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--card-</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#1f2937</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--primary-</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a:solidFill>
                  <a:srgbClr val="CE9178"/>
                </a:solidFill>
                <a:latin typeface="Consolas" panose="020B0609020204030204" pitchFamily="49" charset="0"/>
              </a:rPr>
              <a:t>#60a5fa</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7BA7D"/>
                </a:solidFill>
                <a:latin typeface="Consolas" panose="020B0609020204030204" pitchFamily="49" charset="0"/>
              </a:rPr>
              <a:t>body</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background</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a:t>
            </a:r>
            <a:r>
              <a:rPr lang="en-IN" dirty="0" err="1">
                <a:solidFill>
                  <a:srgbClr val="9CDCFE"/>
                </a:solidFill>
                <a:latin typeface="Consolas" panose="020B0609020204030204" pitchFamily="49" charset="0"/>
              </a:rPr>
              <a:t>bg-color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--text-</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r>
              <a:rPr lang="en-IN" dirty="0">
                <a:solidFill>
                  <a:srgbClr val="D7BA7D"/>
                </a:solidFill>
                <a:latin typeface="Consolas" panose="020B0609020204030204" pitchFamily="49" charset="0"/>
              </a:rPr>
              <a:t>.card</a:t>
            </a:r>
            <a:r>
              <a:rPr lang="en-IN" dirty="0">
                <a:solidFill>
                  <a:srgbClr val="D4D4D4"/>
                </a:solidFill>
                <a:latin typeface="Consolas" panose="020B0609020204030204" pitchFamily="49" charset="0"/>
              </a:rPr>
              <a:t> {</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    </a:t>
            </a:r>
            <a:r>
              <a:rPr lang="en-IN" dirty="0">
                <a:solidFill>
                  <a:srgbClr val="9CDCFE"/>
                </a:solidFill>
                <a:latin typeface="Consolas" panose="020B0609020204030204" pitchFamily="49" charset="0"/>
              </a:rPr>
              <a:t>background</a:t>
            </a:r>
            <a:r>
              <a:rPr lang="en-IN" dirty="0">
                <a:solidFill>
                  <a:srgbClr val="D4D4D4"/>
                </a:solidFill>
                <a:latin typeface="Consolas" panose="020B0609020204030204" pitchFamily="49" charset="0"/>
              </a:rPr>
              <a:t>: </a:t>
            </a:r>
            <a:r>
              <a:rPr lang="en-IN" dirty="0" err="1">
                <a:solidFill>
                  <a:srgbClr val="DCDCAA"/>
                </a:solidFill>
                <a:latin typeface="Consolas" panose="020B0609020204030204" pitchFamily="49" charset="0"/>
              </a:rPr>
              <a:t>var</a:t>
            </a:r>
            <a:r>
              <a:rPr lang="en-IN" dirty="0">
                <a:solidFill>
                  <a:srgbClr val="D4D4D4"/>
                </a:solidFill>
                <a:latin typeface="Consolas" panose="020B0609020204030204" pitchFamily="49" charset="0"/>
              </a:rPr>
              <a:t>(</a:t>
            </a:r>
            <a:r>
              <a:rPr lang="en-IN" dirty="0">
                <a:solidFill>
                  <a:srgbClr val="9CDCFE"/>
                </a:solidFill>
                <a:latin typeface="Consolas" panose="020B0609020204030204" pitchFamily="49" charset="0"/>
              </a:rPr>
              <a:t>--card-</a:t>
            </a:r>
            <a:r>
              <a:rPr lang="en-IN" dirty="0" err="1">
                <a:solidFill>
                  <a:srgbClr val="9CDCFE"/>
                </a:solidFill>
                <a:latin typeface="Consolas" panose="020B0609020204030204" pitchFamily="49" charset="0"/>
              </a:rPr>
              <a:t>color</a:t>
            </a:r>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D4D4D4"/>
                </a:solidFill>
                <a:latin typeface="Consolas" panose="020B0609020204030204" pitchFamily="49" charset="0"/>
              </a:rPr>
              <a:t>}</a:t>
            </a:r>
            <a:endParaRPr lang="en-IN" dirty="0">
              <a:solidFill>
                <a:srgbClr val="CCCCCC"/>
              </a:solidFill>
              <a:latin typeface="Consolas" panose="020B0609020204030204" pitchFamily="49" charset="0"/>
            </a:endParaRPr>
          </a:p>
          <a:p>
            <a:r>
              <a:rPr lang="en-IN" dirty="0">
                <a:solidFill>
                  <a:srgbClr val="CCCCCC"/>
                </a:solidFill>
                <a:latin typeface="Consolas" panose="020B0609020204030204" pitchFamily="49" charset="0"/>
              </a:rPr>
              <a:t/>
            </a:r>
            <a:br>
              <a:rPr lang="en-IN" dirty="0">
                <a:solidFill>
                  <a:srgbClr val="CCCCCC"/>
                </a:solidFill>
                <a:latin typeface="Consolas" panose="020B0609020204030204" pitchFamily="49" charset="0"/>
              </a:rPr>
            </a:br>
            <a:endParaRPr lang="en-IN"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3423493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smtClean="0"/>
              <a:t>Changing user’s theme preference</a:t>
            </a:r>
            <a:endParaRPr lang="en-IN" dirty="0"/>
          </a:p>
        </p:txBody>
      </p:sp>
      <p:sp>
        <p:nvSpPr>
          <p:cNvPr id="6" name="Content Placeholder 5"/>
          <p:cNvSpPr>
            <a:spLocks noGrp="1"/>
          </p:cNvSpPr>
          <p:nvPr>
            <p:ph idx="1"/>
          </p:nvPr>
        </p:nvSpPr>
        <p:spPr/>
        <p:txBody>
          <a:bodyPr/>
          <a:lstStyle/>
          <a:p>
            <a:r>
              <a:rPr lang="en-IN" dirty="0" smtClean="0"/>
              <a:t>Programmatically – JS </a:t>
            </a:r>
          </a:p>
          <a:p>
            <a:r>
              <a:rPr lang="en-IN" dirty="0" smtClean="0"/>
              <a:t>User setting – browser preferences</a:t>
            </a:r>
          </a:p>
          <a:p>
            <a:endParaRPr lang="en-IN" dirty="0"/>
          </a:p>
        </p:txBody>
      </p:sp>
      <p:sp>
        <p:nvSpPr>
          <p:cNvPr id="7" name="TextBox 6"/>
          <p:cNvSpPr txBox="1"/>
          <p:nvPr/>
        </p:nvSpPr>
        <p:spPr>
          <a:xfrm>
            <a:off x="1395167" y="2903456"/>
            <a:ext cx="4949072" cy="3139321"/>
          </a:xfrm>
          <a:prstGeom prst="rect">
            <a:avLst/>
          </a:prstGeom>
          <a:solidFill>
            <a:schemeClr val="tx2"/>
          </a:solidFill>
        </p:spPr>
        <p:txBody>
          <a:bodyPr wrap="square" rtlCol="0">
            <a:spAutoFit/>
          </a:bodyPr>
          <a:lstStyle/>
          <a:p>
            <a:r>
              <a:rPr lang="en-US" dirty="0" smtClean="0">
                <a:solidFill>
                  <a:srgbClr val="D7BA7D"/>
                </a:solidFill>
                <a:latin typeface="Consolas" panose="020B0609020204030204" pitchFamily="49" charset="0"/>
              </a:rPr>
              <a:t>:</a:t>
            </a:r>
            <a:r>
              <a:rPr lang="en-US" dirty="0">
                <a:solidFill>
                  <a:srgbClr val="D7BA7D"/>
                </a:solidFill>
                <a:latin typeface="Consolas" panose="020B0609020204030204" pitchFamily="49" charset="0"/>
              </a:rPr>
              <a:t>root</a:t>
            </a:r>
            <a:r>
              <a:rPr lang="en-US" dirty="0">
                <a:solidFill>
                  <a:srgbClr val="D4D4D4"/>
                </a:solidFill>
                <a:latin typeface="Consolas" panose="020B0609020204030204" pitchFamily="49" charset="0"/>
              </a:rPr>
              <a:t> {</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9CDCFE"/>
                </a:solidFill>
                <a:latin typeface="Consolas" panose="020B0609020204030204" pitchFamily="49" charset="0"/>
              </a:rPr>
              <a:t>--</a:t>
            </a:r>
            <a:r>
              <a:rPr lang="en-US" dirty="0" err="1">
                <a:solidFill>
                  <a:srgbClr val="9CDCFE"/>
                </a:solidFill>
                <a:latin typeface="Consolas" panose="020B0609020204030204" pitchFamily="49" charset="0"/>
              </a:rPr>
              <a:t>bg</a:t>
            </a:r>
            <a:r>
              <a:rPr lang="en-US" dirty="0">
                <a:solidFill>
                  <a:srgbClr val="9CDCFE"/>
                </a:solidFill>
                <a:latin typeface="Consolas" panose="020B0609020204030204" pitchFamily="49" charset="0"/>
              </a:rPr>
              <a:t>-color</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white</a:t>
            </a:r>
            <a:r>
              <a:rPr lang="en-US" dirty="0">
                <a:solidFill>
                  <a:srgbClr val="D4D4D4"/>
                </a:solidFill>
                <a:latin typeface="Consolas" panose="020B0609020204030204" pitchFamily="49" charset="0"/>
              </a:rPr>
              <a:t>;</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9CDCFE"/>
                </a:solidFill>
                <a:latin typeface="Consolas" panose="020B0609020204030204" pitchFamily="49" charset="0"/>
              </a:rPr>
              <a:t>--text-color</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#1f2937</a:t>
            </a:r>
            <a:r>
              <a:rPr lang="en-US" dirty="0">
                <a:solidFill>
                  <a:srgbClr val="D4D4D4"/>
                </a:solidFill>
                <a:latin typeface="Consolas" panose="020B0609020204030204" pitchFamily="49" charset="0"/>
              </a:rPr>
              <a:t>;</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a:t>
            </a:r>
            <a:endParaRPr lang="en-US" dirty="0">
              <a:solidFill>
                <a:srgbClr val="CCCCCC"/>
              </a:solidFill>
              <a:latin typeface="Consolas" panose="020B0609020204030204" pitchFamily="49" charset="0"/>
            </a:endParaRPr>
          </a:p>
          <a:p>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C586C0"/>
                </a:solidFill>
                <a:latin typeface="Consolas" panose="020B0609020204030204" pitchFamily="49" charset="0"/>
              </a:rPr>
              <a:t>@media</a:t>
            </a:r>
            <a:r>
              <a:rPr lang="en-US" dirty="0">
                <a:solidFill>
                  <a:srgbClr val="D4D4D4"/>
                </a:solidFill>
                <a:latin typeface="Consolas" panose="020B0609020204030204" pitchFamily="49" charset="0"/>
              </a:rPr>
              <a:t> (prefers-color-scheme: dark) {</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D7BA7D"/>
                </a:solidFill>
                <a:latin typeface="Consolas" panose="020B0609020204030204" pitchFamily="49" charset="0"/>
              </a:rPr>
              <a:t>:root</a:t>
            </a:r>
            <a:r>
              <a:rPr lang="en-US" dirty="0">
                <a:solidFill>
                  <a:srgbClr val="D4D4D4"/>
                </a:solidFill>
                <a:latin typeface="Consolas" panose="020B0609020204030204" pitchFamily="49" charset="0"/>
              </a:rPr>
              <a:t> {</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9CDCFE"/>
                </a:solidFill>
                <a:latin typeface="Consolas" panose="020B0609020204030204" pitchFamily="49" charset="0"/>
              </a:rPr>
              <a:t>--</a:t>
            </a:r>
            <a:r>
              <a:rPr lang="en-US" dirty="0" err="1">
                <a:solidFill>
                  <a:srgbClr val="9CDCFE"/>
                </a:solidFill>
                <a:latin typeface="Consolas" panose="020B0609020204030204" pitchFamily="49" charset="0"/>
              </a:rPr>
              <a:t>bg</a:t>
            </a:r>
            <a:r>
              <a:rPr lang="en-US" dirty="0">
                <a:solidFill>
                  <a:srgbClr val="9CDCFE"/>
                </a:solidFill>
                <a:latin typeface="Consolas" panose="020B0609020204030204" pitchFamily="49" charset="0"/>
              </a:rPr>
              <a:t>-color</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#111827</a:t>
            </a:r>
            <a:r>
              <a:rPr lang="en-US" dirty="0">
                <a:solidFill>
                  <a:srgbClr val="D4D4D4"/>
                </a:solidFill>
                <a:latin typeface="Consolas" panose="020B0609020204030204" pitchFamily="49" charset="0"/>
              </a:rPr>
              <a:t>;</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a:solidFill>
                  <a:srgbClr val="9CDCFE"/>
                </a:solidFill>
                <a:latin typeface="Consolas" panose="020B0609020204030204" pitchFamily="49" charset="0"/>
              </a:rPr>
              <a:t>--text-color</a:t>
            </a:r>
            <a:r>
              <a:rPr lang="en-US" dirty="0">
                <a:solidFill>
                  <a:srgbClr val="D4D4D4"/>
                </a:solidFill>
                <a:latin typeface="Consolas" panose="020B0609020204030204" pitchFamily="49" charset="0"/>
              </a:rPr>
              <a:t>: </a:t>
            </a:r>
            <a:r>
              <a:rPr lang="en-US" dirty="0">
                <a:solidFill>
                  <a:srgbClr val="CE9178"/>
                </a:solidFill>
                <a:latin typeface="Consolas" panose="020B0609020204030204" pitchFamily="49" charset="0"/>
              </a:rPr>
              <a:t>#f9fafb</a:t>
            </a:r>
            <a:r>
              <a:rPr lang="en-US" dirty="0">
                <a:solidFill>
                  <a:srgbClr val="D4D4D4"/>
                </a:solidFill>
                <a:latin typeface="Consolas" panose="020B0609020204030204" pitchFamily="49" charset="0"/>
              </a:rPr>
              <a:t>;</a:t>
            </a:r>
            <a:endParaRPr lang="en-US" dirty="0">
              <a:solidFill>
                <a:srgbClr val="CCCCCC"/>
              </a:solidFill>
              <a:latin typeface="Consolas" panose="020B0609020204030204" pitchFamily="49" charset="0"/>
            </a:endParaRPr>
          </a:p>
          <a:p>
            <a:r>
              <a:rPr lang="en-US" dirty="0">
                <a:solidFill>
                  <a:srgbClr val="D4D4D4"/>
                </a:solidFill>
                <a:latin typeface="Consolas" panose="020B0609020204030204" pitchFamily="49" charset="0"/>
              </a:rPr>
              <a:t>    </a:t>
            </a:r>
            <a:r>
              <a:rPr lang="en-US" dirty="0" smtClean="0">
                <a:solidFill>
                  <a:srgbClr val="D4D4D4"/>
                </a:solidFill>
                <a:latin typeface="Consolas" panose="020B0609020204030204" pitchFamily="49" charset="0"/>
              </a:rPr>
              <a:t>}</a:t>
            </a:r>
            <a:r>
              <a:rPr lang="en-US" dirty="0">
                <a:solidFill>
                  <a:srgbClr val="CCCCCC"/>
                </a:solidFill>
                <a:latin typeface="Consolas" panose="020B0609020204030204" pitchFamily="49" charset="0"/>
              </a:rPr>
              <a:t/>
            </a:r>
            <a:br>
              <a:rPr lang="en-US" dirty="0">
                <a:solidFill>
                  <a:srgbClr val="CCCCCC"/>
                </a:solidFill>
                <a:latin typeface="Consolas" panose="020B0609020204030204" pitchFamily="49" charset="0"/>
              </a:rPr>
            </a:br>
            <a:r>
              <a:rPr lang="en-US" dirty="0">
                <a:solidFill>
                  <a:srgbClr val="D4D4D4"/>
                </a:solidFill>
                <a:latin typeface="Consolas" panose="020B0609020204030204" pitchFamily="49" charset="0"/>
              </a:rPr>
              <a:t>}</a:t>
            </a:r>
            <a:endParaRPr lang="en-US"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411830013"/>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58035</TotalTime>
  <Words>2360</Words>
  <Application>Microsoft Office PowerPoint</Application>
  <PresentationFormat>Widescreen</PresentationFormat>
  <Paragraphs>481</Paragraphs>
  <Slides>48</Slides>
  <Notes>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48</vt:i4>
      </vt:variant>
    </vt:vector>
  </HeadingPairs>
  <TitlesOfParts>
    <vt:vector size="64" baseType="lpstr">
      <vt:lpstr>Arial</vt:lpstr>
      <vt:lpstr>ArialMT</vt:lpstr>
      <vt:lpstr>Calibri</vt:lpstr>
      <vt:lpstr>Calibri </vt:lpstr>
      <vt:lpstr>Calibri-Bold</vt:lpstr>
      <vt:lpstr>Century Schoolbook</vt:lpstr>
      <vt:lpstr>Consolas</vt:lpstr>
      <vt:lpstr>Consolas-Bold</vt:lpstr>
      <vt:lpstr>Consolas-BoldItalic</vt:lpstr>
      <vt:lpstr>Courier</vt:lpstr>
      <vt:lpstr>Montserrat-Regular</vt:lpstr>
      <vt:lpstr>mr-eaves-xl-modern</vt:lpstr>
      <vt:lpstr>Segoe UI</vt:lpstr>
      <vt:lpstr>Verdana</vt:lpstr>
      <vt:lpstr>Wingdings 2</vt:lpstr>
      <vt:lpstr>View</vt:lpstr>
      <vt:lpstr>Lecture 3:  HTML5 and CSS3</vt:lpstr>
      <vt:lpstr>CSS Selectors</vt:lpstr>
      <vt:lpstr>CSS Grid box </vt:lpstr>
      <vt:lpstr>CSS rules</vt:lpstr>
      <vt:lpstr>Where do the CSS rules go?</vt:lpstr>
      <vt:lpstr>PowerPoint Presentation</vt:lpstr>
      <vt:lpstr>Selector examples</vt:lpstr>
      <vt:lpstr>Grouping selectors (2 Common bugs)</vt:lpstr>
      <vt:lpstr>Combining selectors</vt:lpstr>
      <vt:lpstr>Combinators</vt:lpstr>
      <vt:lpstr>Pseudo-classes and elements</vt:lpstr>
      <vt:lpstr>Pseudo-classes and pseudo-elements</vt:lpstr>
      <vt:lpstr>CSS pseudo-classes</vt:lpstr>
      <vt:lpstr>More selectors</vt:lpstr>
      <vt:lpstr>PowerPoint Presentation</vt:lpstr>
      <vt:lpstr>CSS distance units</vt:lpstr>
      <vt:lpstr>Relative units</vt:lpstr>
      <vt:lpstr> </vt:lpstr>
      <vt:lpstr>Relative font sizes: em</vt:lpstr>
      <vt:lpstr> What is the size of &lt;strong&gt;? 120px or 60px? </vt:lpstr>
      <vt:lpstr>Relative font sizes: rem</vt:lpstr>
      <vt:lpstr>PowerPoint Presentation</vt:lpstr>
      <vt:lpstr>Relative font conclusions</vt:lpstr>
      <vt:lpstr>PowerPoint Presentation</vt:lpstr>
      <vt:lpstr>Responsive Web Design: motivation</vt:lpstr>
      <vt:lpstr>Responsive web design</vt:lpstr>
      <vt:lpstr>Meta viewport tag</vt:lpstr>
      <vt:lpstr>Meta viewport tag</vt:lpstr>
      <vt:lpstr>Media queries</vt:lpstr>
      <vt:lpstr>Media queries</vt:lpstr>
      <vt:lpstr>Mobile-first approach to web development</vt:lpstr>
      <vt:lpstr>Typical breakpoints for media-queries</vt:lpstr>
      <vt:lpstr>Chrome device mode</vt:lpstr>
      <vt:lpstr>Responsive Images</vt:lpstr>
      <vt:lpstr>Responsive design summary</vt:lpstr>
      <vt:lpstr>Cascade, Specificity and Inheritance</vt:lpstr>
      <vt:lpstr>Cascade</vt:lpstr>
      <vt:lpstr>Specificity of CSS rules</vt:lpstr>
      <vt:lpstr>PowerPoint Presentation</vt:lpstr>
      <vt:lpstr>Inheritance</vt:lpstr>
      <vt:lpstr>SEO</vt:lpstr>
      <vt:lpstr>Vocabularies</vt:lpstr>
      <vt:lpstr>JSON for linking data (JSON-LD)</vt:lpstr>
      <vt:lpstr>Example</vt:lpstr>
      <vt:lpstr>Example</vt:lpstr>
      <vt:lpstr>Themes </vt:lpstr>
      <vt:lpstr>Light and dark modes</vt:lpstr>
      <vt:lpstr>Changing user’s theme preference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development (IT629)</dc:title>
  <dc:creator>admin</dc:creator>
  <cp:lastModifiedBy>faculty</cp:lastModifiedBy>
  <cp:revision>286</cp:revision>
  <dcterms:created xsi:type="dcterms:W3CDTF">2019-12-13T05:28:11Z</dcterms:created>
  <dcterms:modified xsi:type="dcterms:W3CDTF">2026-08-20T09:54:52Z</dcterms:modified>
</cp:coreProperties>
</file>