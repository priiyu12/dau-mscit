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C93F6F-614C-4773-AF83-52E1BB6771D3}">
  <a:tblStyle styleId="{27C93F6F-614C-4773-AF83-52E1BB6771D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a1b81242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a1b81242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27a75a24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27a75a24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27a75a24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327a75a24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27a75a24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27a75a24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27a75a24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327a75a24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bbb00e60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3bbb00e60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bbb00e60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3bbb00e60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37b943e5bd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37b943e5b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3bbb00e60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3bbb00e60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3bbb00e60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3bbb00e60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3bbb00e600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3bbb00e600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3bbb00e60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3bbb00e60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3bbb00e600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3bbb00e600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3bbb00e600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3bbb00e600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2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1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2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6.gif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image" Target="../media/image1.png"/><Relationship Id="rId7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4667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Structural Design Patterns: Adapter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IT560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Creational</a:t>
            </a:r>
            <a:r>
              <a:rPr lang="en" sz="2320"/>
              <a:t> Design Pattern : Object creation is just the first step</a:t>
            </a:r>
            <a:endParaRPr i="1" sz="2320"/>
          </a:p>
        </p:txBody>
      </p:sp>
      <p:sp>
        <p:nvSpPr>
          <p:cNvPr id="115" name="Google Shape;11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help in </a:t>
            </a:r>
            <a:r>
              <a:rPr b="1" i="1" lang="en"/>
              <a:t>structuring</a:t>
            </a:r>
            <a:r>
              <a:rPr b="1" lang="en"/>
              <a:t> </a:t>
            </a:r>
            <a:r>
              <a:rPr b="1" lang="en">
                <a:solidFill>
                  <a:srgbClr val="FF0000"/>
                </a:solidFill>
              </a:rPr>
              <a:t>relationships</a:t>
            </a:r>
            <a:r>
              <a:rPr b="1" lang="en"/>
              <a:t> between objects  </a:t>
            </a:r>
            <a:r>
              <a:rPr lang="en">
                <a:highlight>
                  <a:srgbClr val="FFFF00"/>
                </a:highlight>
              </a:rPr>
              <a:t>to form larger more </a:t>
            </a:r>
            <a:r>
              <a:rPr lang="en">
                <a:highlight>
                  <a:srgbClr val="FFFF00"/>
                </a:highlight>
              </a:rPr>
              <a:t>complex</a:t>
            </a:r>
            <a:r>
              <a:rPr lang="en">
                <a:highlight>
                  <a:srgbClr val="FFFF00"/>
                </a:highlight>
              </a:rPr>
              <a:t> objects</a:t>
            </a:r>
            <a:endParaRPr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help in avoiding </a:t>
            </a:r>
            <a:r>
              <a:rPr lang="en">
                <a:highlight>
                  <a:srgbClr val="F4CCCC"/>
                </a:highlight>
              </a:rPr>
              <a:t>tightly coupled objects</a:t>
            </a:r>
            <a:r>
              <a:rPr lang="en"/>
              <a:t> (just takes care of tightly coupled client-server relationships)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help much in </a:t>
            </a:r>
            <a:r>
              <a:rPr lang="en">
                <a:highlight>
                  <a:srgbClr val="F4CCCC"/>
                </a:highlight>
              </a:rPr>
              <a:t>object code duplication</a:t>
            </a:r>
            <a:r>
              <a:rPr lang="en"/>
              <a:t> (just focuses on reducing construction code duplication)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3" name="Google Shape;123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Structural</a:t>
            </a:r>
            <a:r>
              <a:rPr lang="en" sz="2320"/>
              <a:t> Design Pattern: A game of </a:t>
            </a:r>
            <a:r>
              <a:rPr lang="en" sz="2320">
                <a:highlight>
                  <a:srgbClr val="FFFF00"/>
                </a:highlight>
              </a:rPr>
              <a:t>lego</a:t>
            </a:r>
            <a:endParaRPr i="1" sz="2320">
              <a:highlight>
                <a:srgbClr val="FFFF00"/>
              </a:highlight>
            </a:endParaRPr>
          </a:p>
        </p:txBody>
      </p:sp>
      <p:sp>
        <p:nvSpPr>
          <p:cNvPr id="127" name="Google Shape;12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art of how to make </a:t>
            </a:r>
            <a:r>
              <a:rPr i="1" lang="en" sz="2000" u="sng">
                <a:solidFill>
                  <a:srgbClr val="FF0000"/>
                </a:solidFill>
                <a:highlight>
                  <a:srgbClr val="FFFF00"/>
                </a:highlight>
              </a:rPr>
              <a:t>complex</a:t>
            </a:r>
            <a:r>
              <a:rPr lang="en" sz="2000">
                <a:solidFill>
                  <a:srgbClr val="FF0000"/>
                </a:solidFill>
                <a:highlight>
                  <a:srgbClr val="FFFF00"/>
                </a:highlight>
              </a:rPr>
              <a:t>,</a:t>
            </a:r>
            <a:r>
              <a:rPr i="1" lang="en" sz="2000" u="sng">
                <a:solidFill>
                  <a:srgbClr val="FF0000"/>
                </a:solidFill>
                <a:highlight>
                  <a:srgbClr val="FFFF00"/>
                </a:highlight>
              </a:rPr>
              <a:t> larger</a:t>
            </a:r>
            <a:r>
              <a:rPr lang="en" sz="2000">
                <a:highlight>
                  <a:srgbClr val="FFFF00"/>
                </a:highlight>
              </a:rPr>
              <a:t> objects</a:t>
            </a:r>
            <a:endParaRPr b="1" sz="2000"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Requires perfect “</a:t>
            </a:r>
            <a:r>
              <a:rPr i="1" lang="en" sz="2000">
                <a:solidFill>
                  <a:srgbClr val="FF0000"/>
                </a:solidFill>
              </a:rPr>
              <a:t>fitting</a:t>
            </a:r>
            <a:r>
              <a:rPr lang="en" sz="2000"/>
              <a:t>” of the components (</a:t>
            </a:r>
            <a:r>
              <a:rPr lang="en" sz="2000" u="sng">
                <a:solidFill>
                  <a:srgbClr val="FF0000"/>
                </a:solidFill>
              </a:rPr>
              <a:t>smaller objects</a:t>
            </a:r>
            <a:r>
              <a:rPr lang="en" sz="2000"/>
              <a:t>) - </a:t>
            </a:r>
            <a:r>
              <a:rPr lang="en" sz="2000"/>
              <a:t>component relationship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Requires </a:t>
            </a:r>
            <a:r>
              <a:rPr i="1" lang="en" sz="2000">
                <a:solidFill>
                  <a:srgbClr val="FF0000"/>
                </a:solidFill>
              </a:rPr>
              <a:t>solving incompatibility</a:t>
            </a:r>
            <a:r>
              <a:rPr lang="en" sz="2000"/>
              <a:t> between components</a:t>
            </a:r>
            <a:endParaRPr sz="2000"/>
          </a:p>
        </p:txBody>
      </p:sp>
      <p:pic>
        <p:nvPicPr>
          <p:cNvPr descr="a red and orange robot is flying in the air on a white background (Provided by Tenor)" id="128" name="Google Shape;128;p27"/>
          <p:cNvPicPr preferRelativeResize="0"/>
          <p:nvPr/>
        </p:nvPicPr>
        <p:blipFill rotWithShape="1">
          <a:blip r:embed="rId4">
            <a:alphaModFix/>
          </a:blip>
          <a:srcRect b="-6660" l="0" r="0" t="6660"/>
          <a:stretch/>
        </p:blipFill>
        <p:spPr>
          <a:xfrm>
            <a:off x="5954200" y="29551"/>
            <a:ext cx="2420900" cy="2289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5" name="Google Shape;135;p2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6" name="Google Shape;136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8" name="Google Shape;13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Adapter</a:t>
            </a:r>
            <a:r>
              <a:rPr lang="en" sz="2320"/>
              <a:t> Design Pattern : Making objects compatible</a:t>
            </a:r>
            <a:endParaRPr i="1" sz="2320"/>
          </a:p>
        </p:txBody>
      </p:sp>
      <p:pic>
        <p:nvPicPr>
          <p:cNvPr id="140" name="Google Shape;140;p28"/>
          <p:cNvPicPr preferRelativeResize="0"/>
          <p:nvPr/>
        </p:nvPicPr>
        <p:blipFill rotWithShape="1">
          <a:blip r:embed="rId4">
            <a:alphaModFix/>
          </a:blip>
          <a:srcRect b="0" l="0" r="0" t="21580"/>
          <a:stretch/>
        </p:blipFill>
        <p:spPr>
          <a:xfrm>
            <a:off x="762000" y="1250250"/>
            <a:ext cx="7485451" cy="2935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41" name="Google Shape;141;p28"/>
          <p:cNvGrpSpPr/>
          <p:nvPr/>
        </p:nvGrpSpPr>
        <p:grpSpPr>
          <a:xfrm>
            <a:off x="6202725" y="111750"/>
            <a:ext cx="2442231" cy="1149475"/>
            <a:chOff x="6202725" y="111750"/>
            <a:chExt cx="2442231" cy="1149475"/>
          </a:xfrm>
        </p:grpSpPr>
        <p:cxnSp>
          <p:nvCxnSpPr>
            <p:cNvPr id="142" name="Google Shape;142;p28"/>
            <p:cNvCxnSpPr/>
            <p:nvPr/>
          </p:nvCxnSpPr>
          <p:spPr>
            <a:xfrm flipH="1" rot="10800000">
              <a:off x="6202725" y="873625"/>
              <a:ext cx="1397400" cy="3876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descr="a red and orange robot is flying in the air on a white background (Provided by Tenor)" id="143" name="Google Shape;143;p28"/>
            <p:cNvPicPr preferRelativeResize="0"/>
            <p:nvPr/>
          </p:nvPicPr>
          <p:blipFill rotWithShape="1">
            <a:blip r:embed="rId5">
              <a:alphaModFix/>
            </a:blip>
            <a:srcRect b="-6660" l="0" r="0" t="6660"/>
            <a:stretch/>
          </p:blipFill>
          <p:spPr>
            <a:xfrm>
              <a:off x="7600125" y="111750"/>
              <a:ext cx="1044831" cy="9881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50" name="Google Shape;150;p2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51" name="Google Shape;151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3" name="Google Shape;1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Adapter Design Pattern : Making objects compatible</a:t>
            </a:r>
            <a:endParaRPr i="1" sz="2320"/>
          </a:p>
        </p:txBody>
      </p:sp>
      <p:pic>
        <p:nvPicPr>
          <p:cNvPr id="155" name="Google Shape;155;p29"/>
          <p:cNvPicPr preferRelativeResize="0"/>
          <p:nvPr/>
        </p:nvPicPr>
        <p:blipFill rotWithShape="1">
          <a:blip r:embed="rId4">
            <a:alphaModFix/>
          </a:blip>
          <a:srcRect b="0" l="0" r="0" t="27834"/>
          <a:stretch/>
        </p:blipFill>
        <p:spPr>
          <a:xfrm>
            <a:off x="963200" y="1343400"/>
            <a:ext cx="7000416" cy="288672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56" name="Google Shape;156;p29"/>
          <p:cNvGrpSpPr/>
          <p:nvPr/>
        </p:nvGrpSpPr>
        <p:grpSpPr>
          <a:xfrm>
            <a:off x="6659925" y="187950"/>
            <a:ext cx="2442231" cy="1149475"/>
            <a:chOff x="6202725" y="111750"/>
            <a:chExt cx="2442231" cy="1149475"/>
          </a:xfrm>
        </p:grpSpPr>
        <p:cxnSp>
          <p:nvCxnSpPr>
            <p:cNvPr id="157" name="Google Shape;157;p29"/>
            <p:cNvCxnSpPr/>
            <p:nvPr/>
          </p:nvCxnSpPr>
          <p:spPr>
            <a:xfrm flipH="1" rot="10800000">
              <a:off x="6202725" y="873625"/>
              <a:ext cx="1397400" cy="3876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descr="a red and orange robot is flying in the air on a white background (Provided by Tenor)" id="158" name="Google Shape;158;p29"/>
            <p:cNvPicPr preferRelativeResize="0"/>
            <p:nvPr/>
          </p:nvPicPr>
          <p:blipFill rotWithShape="1">
            <a:blip r:embed="rId5">
              <a:alphaModFix/>
            </a:blip>
            <a:srcRect b="-6660" l="0" r="0" t="6660"/>
            <a:stretch/>
          </p:blipFill>
          <p:spPr>
            <a:xfrm>
              <a:off x="7600125" y="111750"/>
              <a:ext cx="1044831" cy="9881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5" name="Google Shape;165;p3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6" name="Google Shape;166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8" name="Google Shape;16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Client incompatible with newly introduced Class</a:t>
            </a:r>
            <a:endParaRPr i="1" sz="2320"/>
          </a:p>
        </p:txBody>
      </p:sp>
      <p:pic>
        <p:nvPicPr>
          <p:cNvPr id="170" name="Google Shape;170;p30"/>
          <p:cNvPicPr preferRelativeResize="0"/>
          <p:nvPr/>
        </p:nvPicPr>
        <p:blipFill rotWithShape="1">
          <a:blip r:embed="rId4">
            <a:alphaModFix/>
          </a:blip>
          <a:srcRect b="38510" l="0" r="0" t="0"/>
          <a:stretch/>
        </p:blipFill>
        <p:spPr>
          <a:xfrm>
            <a:off x="152400" y="789125"/>
            <a:ext cx="4459600" cy="301579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71" name="Google Shape;171;p30"/>
          <p:cNvCxnSpPr/>
          <p:nvPr/>
        </p:nvCxnSpPr>
        <p:spPr>
          <a:xfrm flipH="1" rot="10800000">
            <a:off x="1906900" y="3127325"/>
            <a:ext cx="1990800" cy="1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1600" y="1073225"/>
            <a:ext cx="4682675" cy="8832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3" name="Google Shape;173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64851" y="2186001"/>
            <a:ext cx="3828625" cy="19338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74" name="Google Shape;174;p30"/>
          <p:cNvCxnSpPr/>
          <p:nvPr/>
        </p:nvCxnSpPr>
        <p:spPr>
          <a:xfrm>
            <a:off x="5116825" y="4023350"/>
            <a:ext cx="2219400" cy="19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1" name="Google Shape;181;p3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2" name="Google Shape;182;p3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Adapter Design Pattern : Making objects compatible</a:t>
            </a:r>
            <a:endParaRPr i="1" sz="2320"/>
          </a:p>
        </p:txBody>
      </p:sp>
      <p:pic>
        <p:nvPicPr>
          <p:cNvPr id="186" name="Google Shape;186;p31"/>
          <p:cNvPicPr preferRelativeResize="0"/>
          <p:nvPr/>
        </p:nvPicPr>
        <p:blipFill rotWithShape="1">
          <a:blip r:embed="rId4">
            <a:alphaModFix/>
          </a:blip>
          <a:srcRect b="38510" l="0" r="0" t="0"/>
          <a:stretch/>
        </p:blipFill>
        <p:spPr>
          <a:xfrm>
            <a:off x="152400" y="789125"/>
            <a:ext cx="4459600" cy="301579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87" name="Google Shape;187;p31"/>
          <p:cNvCxnSpPr/>
          <p:nvPr/>
        </p:nvCxnSpPr>
        <p:spPr>
          <a:xfrm flipH="1" rot="10800000">
            <a:off x="1906900" y="3127325"/>
            <a:ext cx="1990800" cy="1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8" name="Google Shape;18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5575" y="1131030"/>
            <a:ext cx="4955575" cy="2006494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6" name="Google Shape;196;p3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" name="Google Shape;1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Adapter Design Pattern : Making objects compatible</a:t>
            </a:r>
            <a:endParaRPr i="1" sz="2320"/>
          </a:p>
        </p:txBody>
      </p:sp>
      <p:pic>
        <p:nvPicPr>
          <p:cNvPr id="200" name="Google Shape;200;p32"/>
          <p:cNvPicPr preferRelativeResize="0"/>
          <p:nvPr/>
        </p:nvPicPr>
        <p:blipFill rotWithShape="1">
          <a:blip r:embed="rId4">
            <a:alphaModFix/>
          </a:blip>
          <a:srcRect b="38510" l="0" r="0" t="0"/>
          <a:stretch/>
        </p:blipFill>
        <p:spPr>
          <a:xfrm>
            <a:off x="152400" y="789125"/>
            <a:ext cx="4459600" cy="301579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01" name="Google Shape;201;p32"/>
          <p:cNvCxnSpPr/>
          <p:nvPr/>
        </p:nvCxnSpPr>
        <p:spPr>
          <a:xfrm flipH="1" rot="10800000">
            <a:off x="1906900" y="3127325"/>
            <a:ext cx="1990800" cy="1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2" name="Google Shape;20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9375" y="673825"/>
            <a:ext cx="4576524" cy="1853024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3" name="Google Shape;203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5588" y="2481276"/>
            <a:ext cx="3828626" cy="19338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4" name="Google Shape;204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06573" y="2513127"/>
            <a:ext cx="4197475" cy="1889211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5" name="Google Shape;205;p32"/>
          <p:cNvPicPr preferRelativeResize="0"/>
          <p:nvPr/>
        </p:nvPicPr>
        <p:blipFill rotWithShape="1">
          <a:blip r:embed="rId8">
            <a:alphaModFix/>
          </a:blip>
          <a:srcRect b="24483" l="39723" r="12178" t="43755"/>
          <a:stretch/>
        </p:blipFill>
        <p:spPr>
          <a:xfrm>
            <a:off x="7012300" y="3287300"/>
            <a:ext cx="1192145" cy="3936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6" name="Google Shape;206;p32"/>
          <p:cNvPicPr preferRelativeResize="0"/>
          <p:nvPr/>
        </p:nvPicPr>
        <p:blipFill rotWithShape="1">
          <a:blip r:embed="rId8">
            <a:alphaModFix/>
          </a:blip>
          <a:srcRect b="24483" l="39723" r="40918" t="43755"/>
          <a:stretch/>
        </p:blipFill>
        <p:spPr>
          <a:xfrm>
            <a:off x="6237975" y="1562442"/>
            <a:ext cx="515250" cy="422684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red cross on a white background that looks like a starfish (Provided by Tenor)" id="207" name="Google Shape;207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65565" y="2846065"/>
            <a:ext cx="515261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2"/>
          <p:cNvPicPr preferRelativeResize="0"/>
          <p:nvPr/>
        </p:nvPicPr>
        <p:blipFill rotWithShape="1">
          <a:blip r:embed="rId8">
            <a:alphaModFix/>
          </a:blip>
          <a:srcRect b="24610" l="12315" r="13626" t="44011"/>
          <a:stretch/>
        </p:blipFill>
        <p:spPr>
          <a:xfrm>
            <a:off x="7453619" y="4034519"/>
            <a:ext cx="1521851" cy="3224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3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15" name="Google Shape;215;p33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16" name="Google Shape;216;p33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8" name="Google Shape;21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3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Adapter: Key Takeaways</a:t>
            </a:r>
            <a:endParaRPr i="1" sz="2300"/>
          </a:p>
        </p:txBody>
      </p:sp>
      <p:graphicFrame>
        <p:nvGraphicFramePr>
          <p:cNvPr id="220" name="Google Shape;220;p33"/>
          <p:cNvGraphicFramePr/>
          <p:nvPr/>
        </p:nvGraphicFramePr>
        <p:xfrm>
          <a:off x="685800" y="8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{27C93F6F-614C-4773-AF83-52E1BB6771D3}</a:tableStyleId>
              </a:tblPr>
              <a:tblGrid>
                <a:gridCol w="1552575"/>
                <a:gridCol w="61245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Advantage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Interface Compatibility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Allows </a:t>
                      </a:r>
                      <a:r>
                        <a:rPr lang="en">
                          <a:highlight>
                            <a:srgbClr val="D9EAD3"/>
                          </a:highlight>
                        </a:rPr>
                        <a:t>disparate interfaces to work together</a:t>
                      </a:r>
                      <a:r>
                        <a:rPr lang="en"/>
                        <a:t> without modifying existing code.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Reusability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Enables the </a:t>
                      </a:r>
                      <a:r>
                        <a:rPr lang="en">
                          <a:highlight>
                            <a:srgbClr val="D9EAD3"/>
                          </a:highlight>
                        </a:rPr>
                        <a:t>reuse of legacy or third-party classes</a:t>
                      </a:r>
                      <a:r>
                        <a:rPr lang="en"/>
                        <a:t> by adapting them to a required interface.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Decoupling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D9EAD3"/>
                          </a:highlight>
                        </a:rPr>
                        <a:t>Reduces direct dependencies</a:t>
                      </a:r>
                      <a:r>
                        <a:rPr lang="en"/>
                        <a:t> between components, making them easier to maintain and extend.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Flexibility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Simplifies integration of new components or systems, even if their interfaces differ.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Scalability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Facilitates system growth by allowing components to be added or replaced with minimal disruption.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725" y="3342350"/>
            <a:ext cx="3434875" cy="99192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6" name="Google Shape;226;p34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4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8" name="Google Shape;228;p34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1" name="Google Shape;23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Adapter Design Pattern : New adapter for each adaptee</a:t>
            </a:r>
            <a:endParaRPr i="1" sz="2320"/>
          </a:p>
        </p:txBody>
      </p:sp>
      <p:pic>
        <p:nvPicPr>
          <p:cNvPr id="233" name="Google Shape;233;p34"/>
          <p:cNvPicPr preferRelativeResize="0"/>
          <p:nvPr/>
        </p:nvPicPr>
        <p:blipFill rotWithShape="1">
          <a:blip r:embed="rId5">
            <a:alphaModFix/>
          </a:blip>
          <a:srcRect b="38510" l="0" r="0" t="0"/>
          <a:stretch/>
        </p:blipFill>
        <p:spPr>
          <a:xfrm>
            <a:off x="152400" y="636725"/>
            <a:ext cx="3745300" cy="253275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34" name="Google Shape;234;p34"/>
          <p:cNvCxnSpPr/>
          <p:nvPr/>
        </p:nvCxnSpPr>
        <p:spPr>
          <a:xfrm flipH="1" rot="10800000">
            <a:off x="992500" y="3985175"/>
            <a:ext cx="933600" cy="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5" name="Google Shape;235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98925" y="721450"/>
            <a:ext cx="4273525" cy="1730343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0" y="2604193"/>
            <a:ext cx="3353260" cy="1761882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5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43" name="Google Shape;243;p35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44" name="Google Shape;244;p35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6" name="Google Shape;24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5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Can we do better? </a:t>
            </a:r>
            <a:endParaRPr sz="31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725" y="3342350"/>
            <a:ext cx="3434875" cy="99192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3" name="Google Shape;253;p3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55" name="Google Shape;255;p3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56" name="Google Shape;256;p3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8" name="Google Shape;2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Adapter Design Pattern : Generic adapter for all adaptee</a:t>
            </a:r>
            <a:endParaRPr i="1" sz="2320"/>
          </a:p>
        </p:txBody>
      </p:sp>
      <p:pic>
        <p:nvPicPr>
          <p:cNvPr id="260" name="Google Shape;260;p36"/>
          <p:cNvPicPr preferRelativeResize="0"/>
          <p:nvPr/>
        </p:nvPicPr>
        <p:blipFill rotWithShape="1">
          <a:blip r:embed="rId5">
            <a:alphaModFix/>
          </a:blip>
          <a:srcRect b="38510" l="0" r="0" t="0"/>
          <a:stretch/>
        </p:blipFill>
        <p:spPr>
          <a:xfrm>
            <a:off x="152400" y="636725"/>
            <a:ext cx="3745300" cy="253275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61" name="Google Shape;261;p36"/>
          <p:cNvCxnSpPr/>
          <p:nvPr/>
        </p:nvCxnSpPr>
        <p:spPr>
          <a:xfrm flipH="1" rot="10800000">
            <a:off x="992500" y="3985175"/>
            <a:ext cx="933600" cy="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2" name="Google Shape;262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1175" y="617951"/>
            <a:ext cx="4695101" cy="16821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63" name="Google Shape;263;p36"/>
          <p:cNvCxnSpPr/>
          <p:nvPr/>
        </p:nvCxnSpPr>
        <p:spPr>
          <a:xfrm>
            <a:off x="4914900" y="1954525"/>
            <a:ext cx="2811900" cy="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4" name="Google Shape;264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36425" y="2213075"/>
            <a:ext cx="3702773" cy="2182212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71" name="Google Shape;271;p3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72" name="Google Shape;272;p3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4" name="Google Shape;27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Adapter Design Pattern : Let’s go C++!!</a:t>
            </a:r>
            <a:endParaRPr i="1" sz="2320"/>
          </a:p>
        </p:txBody>
      </p:sp>
      <p:pic>
        <p:nvPicPr>
          <p:cNvPr id="276" name="Google Shape;27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125" y="722450"/>
            <a:ext cx="4429959" cy="35769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7" name="Google Shape;27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8650" y="650075"/>
            <a:ext cx="3845355" cy="3721692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8" name="Google Shape;278;p37"/>
          <p:cNvPicPr preferRelativeResize="0"/>
          <p:nvPr/>
        </p:nvPicPr>
        <p:blipFill rotWithShape="1">
          <a:blip r:embed="rId6">
            <a:alphaModFix/>
          </a:blip>
          <a:srcRect b="24483" l="39723" r="12178" t="43755"/>
          <a:stretch/>
        </p:blipFill>
        <p:spPr>
          <a:xfrm>
            <a:off x="7621900" y="3258725"/>
            <a:ext cx="852313" cy="2814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9" name="Google Shape;279;p37"/>
          <p:cNvPicPr preferRelativeResize="0"/>
          <p:nvPr/>
        </p:nvPicPr>
        <p:blipFill rotWithShape="1">
          <a:blip r:embed="rId6">
            <a:alphaModFix/>
          </a:blip>
          <a:srcRect b="24483" l="39723" r="40918" t="43755"/>
          <a:stretch/>
        </p:blipFill>
        <p:spPr>
          <a:xfrm>
            <a:off x="8219175" y="2400649"/>
            <a:ext cx="406076" cy="333116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0" name="Google Shape;280;p37"/>
          <p:cNvSpPr/>
          <p:nvPr/>
        </p:nvSpPr>
        <p:spPr>
          <a:xfrm>
            <a:off x="5154925" y="1594475"/>
            <a:ext cx="3470400" cy="513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5250" y="1570875"/>
            <a:ext cx="4915050" cy="1837906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82" name="Google Shape;282;p37"/>
          <p:cNvCxnSpPr/>
          <p:nvPr/>
        </p:nvCxnSpPr>
        <p:spPr>
          <a:xfrm>
            <a:off x="2535550" y="2496675"/>
            <a:ext cx="590700" cy="12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3" name="Google Shape;283;p37"/>
          <p:cNvPicPr preferRelativeResize="0"/>
          <p:nvPr/>
        </p:nvPicPr>
        <p:blipFill rotWithShape="1">
          <a:blip r:embed="rId6">
            <a:alphaModFix/>
          </a:blip>
          <a:srcRect b="24610" l="12315" r="13626" t="44011"/>
          <a:stretch/>
        </p:blipFill>
        <p:spPr>
          <a:xfrm>
            <a:off x="2643494" y="2974419"/>
            <a:ext cx="1521850" cy="3224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90" name="Google Shape;290;p3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91" name="Google Shape;291;p3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3" name="Google Shape;29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8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Is adapting always good</a:t>
            </a:r>
            <a:r>
              <a:rPr lang="en" sz="3120"/>
              <a:t>?</a:t>
            </a:r>
            <a:endParaRPr sz="31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01" name="Google Shape;301;p3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02" name="Google Shape;302;p3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4" name="Google Shape;30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9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Adapter: Cautionary comments</a:t>
            </a:r>
            <a:endParaRPr i="1" sz="2300"/>
          </a:p>
        </p:txBody>
      </p:sp>
      <p:graphicFrame>
        <p:nvGraphicFramePr>
          <p:cNvPr id="306" name="Google Shape;306;p39"/>
          <p:cNvGraphicFramePr/>
          <p:nvPr/>
        </p:nvGraphicFramePr>
        <p:xfrm>
          <a:off x="762000" y="106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{27C93F6F-614C-4773-AF83-52E1BB6771D3}</a:tableStyleId>
              </a:tblPr>
              <a:tblGrid>
                <a:gridCol w="1438275"/>
                <a:gridCol w="62007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Increased Complexity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Adds </a:t>
                      </a:r>
                      <a:r>
                        <a:rPr lang="en">
                          <a:highlight>
                            <a:srgbClr val="FCE5CD"/>
                          </a:highlight>
                        </a:rPr>
                        <a:t>extra layers</a:t>
                      </a:r>
                      <a:r>
                        <a:rPr lang="en"/>
                        <a:t> of abstraction that </a:t>
                      </a:r>
                      <a:r>
                        <a:rPr i="1" lang="en" u="sng">
                          <a:solidFill>
                            <a:srgbClr val="FF0000"/>
                          </a:solidFill>
                        </a:rPr>
                        <a:t>may</a:t>
                      </a:r>
                      <a:r>
                        <a:rPr lang="en"/>
                        <a:t> complicate system understanding.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Maintenance Overhead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Additional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adapter code must be maintained</a:t>
                      </a:r>
                      <a:r>
                        <a:rPr lang="en"/>
                        <a:t>, especially if underlying </a:t>
                      </a:r>
                      <a:r>
                        <a:rPr i="1" lang="en">
                          <a:solidFill>
                            <a:srgbClr val="FF0000"/>
                          </a:solidFill>
                        </a:rPr>
                        <a:t>interfaces change</a:t>
                      </a:r>
                      <a:endParaRPr i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Masking Design Issues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hide underlying design flaws</a:t>
                      </a:r>
                      <a:r>
                        <a:rPr lang="en"/>
                        <a:t> by </a:t>
                      </a:r>
                      <a:r>
                        <a:rPr lang="en">
                          <a:highlight>
                            <a:srgbClr val="FFFF00"/>
                          </a:highlight>
                        </a:rPr>
                        <a:t>serving as a quick fix</a:t>
                      </a:r>
                      <a:r>
                        <a:rPr lang="en"/>
                        <a:t> rather than addressing core issues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Complex Testing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More layers (client, adapter, adaptee) mean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additional testing</a:t>
                      </a:r>
                      <a:r>
                        <a:rPr lang="en"/>
                        <a:t> is required to ensure proper integration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07" name="Google Shape;30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5875" y="-36550"/>
            <a:ext cx="1331338" cy="95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