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7F8642-DA68-4F2A-B729-7C7D5879AADE}">
  <a:tblStyle styleId="{C77F8642-DA68-4F2A-B729-7C7D5879AA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4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cb171926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cb171926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cb171926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cb171926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cb17192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cb17192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cb171926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cb17192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cb171926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cb171926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cb171926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cb171926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cb171926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cb171926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cb171926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cb171926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cb171926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cb171926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cb171926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3cb171926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cc8b7c7b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3cc8b7c7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3cc8b7c7b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3cc8b7c7b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14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Structural Design Patterns: Facade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IT620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</a:t>
            </a:r>
            <a:r>
              <a:rPr lang="en" sz="2320"/>
              <a:t>Design Pattern : Compatibility with </a:t>
            </a:r>
            <a:r>
              <a:rPr i="1" lang="en" sz="2320">
                <a:solidFill>
                  <a:srgbClr val="FF0000"/>
                </a:solidFill>
                <a:highlight>
                  <a:srgbClr val="FFFF00"/>
                </a:highlight>
              </a:rPr>
              <a:t>single</a:t>
            </a:r>
            <a:r>
              <a:rPr lang="en" sz="2320"/>
              <a:t> interface</a:t>
            </a:r>
            <a:endParaRPr sz="2320"/>
          </a:p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11700" y="1990675"/>
            <a:ext cx="8520600" cy="22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having a </a:t>
            </a:r>
            <a:r>
              <a:rPr b="1" lang="en" u="sng"/>
              <a:t>unified</a:t>
            </a:r>
            <a:r>
              <a:rPr lang="en"/>
              <a:t> </a:t>
            </a:r>
            <a:r>
              <a:rPr lang="en"/>
              <a:t>interface</a:t>
            </a:r>
            <a:r>
              <a:rPr b="1" i="1" lang="en"/>
              <a:t> </a:t>
            </a:r>
            <a:r>
              <a:rPr lang="en"/>
              <a:t>to a </a:t>
            </a:r>
            <a:r>
              <a:rPr b="1" i="1" lang="en"/>
              <a:t>complex (</a:t>
            </a:r>
            <a:r>
              <a:rPr b="1" i="1" lang="en" u="sng">
                <a:highlight>
                  <a:srgbClr val="F4CCCC"/>
                </a:highlight>
              </a:rPr>
              <a:t>multi</a:t>
            </a:r>
            <a:r>
              <a:rPr b="1" i="1" lang="en"/>
              <a:t>) sub-system </a:t>
            </a:r>
            <a:r>
              <a:rPr lang="en"/>
              <a:t>(with</a:t>
            </a:r>
            <a:r>
              <a:rPr b="1" i="1" lang="en"/>
              <a:t> multiple </a:t>
            </a:r>
            <a:r>
              <a:rPr b="1" i="1" lang="en" u="sng"/>
              <a:t>operations</a:t>
            </a:r>
            <a:r>
              <a:rPr lang="en"/>
              <a:t>)</a:t>
            </a:r>
            <a:endParaRPr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</a:t>
            </a:r>
            <a:r>
              <a:rPr b="1" lang="en" u="sng"/>
              <a:t>coordination</a:t>
            </a:r>
            <a:r>
              <a:rPr b="1" lang="en"/>
              <a:t> </a:t>
            </a:r>
            <a:r>
              <a:rPr lang="en"/>
              <a:t>within the complex sub-system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decouple client with a complex sub-system</a:t>
            </a:r>
            <a:endParaRPr/>
          </a:p>
        </p:txBody>
      </p:sp>
      <p:grpSp>
        <p:nvGrpSpPr>
          <p:cNvPr id="116" name="Google Shape;116;p26"/>
          <p:cNvGrpSpPr/>
          <p:nvPr/>
        </p:nvGrpSpPr>
        <p:grpSpPr>
          <a:xfrm>
            <a:off x="3505450" y="1017993"/>
            <a:ext cx="3595750" cy="932400"/>
            <a:chOff x="3505450" y="1017993"/>
            <a:chExt cx="3595750" cy="932400"/>
          </a:xfrm>
        </p:grpSpPr>
        <p:pic>
          <p:nvPicPr>
            <p:cNvPr id="117" name="Google Shape;11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05450" y="1017993"/>
              <a:ext cx="1491850" cy="93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26"/>
            <p:cNvSpPr txBox="1"/>
            <p:nvPr/>
          </p:nvSpPr>
          <p:spPr>
            <a:xfrm>
              <a:off x="5140100" y="1255741"/>
              <a:ext cx="19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Car vs. Rail track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is a Facade?</a:t>
            </a:r>
            <a:endParaRPr sz="2320"/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8650" y="1123150"/>
            <a:ext cx="5260106" cy="3287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7"/>
          <p:cNvGrpSpPr/>
          <p:nvPr/>
        </p:nvGrpSpPr>
        <p:grpSpPr>
          <a:xfrm>
            <a:off x="6555000" y="1660475"/>
            <a:ext cx="2616300" cy="461700"/>
            <a:chOff x="6555000" y="1660475"/>
            <a:chExt cx="2616300" cy="461700"/>
          </a:xfrm>
        </p:grpSpPr>
        <p:sp>
          <p:nvSpPr>
            <p:cNvPr id="132" name="Google Shape;132;p27"/>
            <p:cNvSpPr txBox="1"/>
            <p:nvPr/>
          </p:nvSpPr>
          <p:spPr>
            <a:xfrm>
              <a:off x="7365300" y="1660475"/>
              <a:ext cx="180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Hidden!!</a:t>
              </a:r>
              <a:endParaRPr i="1" sz="1800">
                <a:solidFill>
                  <a:srgbClr val="FF0000"/>
                </a:solidFill>
              </a:endParaRPr>
            </a:p>
          </p:txBody>
        </p:sp>
        <p:cxnSp>
          <p:nvCxnSpPr>
            <p:cNvPr id="133" name="Google Shape;133;p27"/>
            <p:cNvCxnSpPr>
              <a:endCxn id="132" idx="1"/>
            </p:cNvCxnSpPr>
            <p:nvPr/>
          </p:nvCxnSpPr>
          <p:spPr>
            <a:xfrm>
              <a:off x="6555000" y="1848425"/>
              <a:ext cx="810300" cy="4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4" name="Google Shape;134;p27"/>
          <p:cNvGrpSpPr/>
          <p:nvPr/>
        </p:nvGrpSpPr>
        <p:grpSpPr>
          <a:xfrm>
            <a:off x="6954300" y="3569125"/>
            <a:ext cx="2064600" cy="461700"/>
            <a:chOff x="6954300" y="3569125"/>
            <a:chExt cx="2064600" cy="461700"/>
          </a:xfrm>
        </p:grpSpPr>
        <p:cxnSp>
          <p:nvCxnSpPr>
            <p:cNvPr id="135" name="Google Shape;135;p27"/>
            <p:cNvCxnSpPr/>
            <p:nvPr/>
          </p:nvCxnSpPr>
          <p:spPr>
            <a:xfrm>
              <a:off x="6954300" y="3786000"/>
              <a:ext cx="434400" cy="11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" name="Google Shape;136;p27"/>
            <p:cNvSpPr txBox="1"/>
            <p:nvPr/>
          </p:nvSpPr>
          <p:spPr>
            <a:xfrm>
              <a:off x="7377300" y="3569125"/>
              <a:ext cx="164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FF"/>
                  </a:solidFill>
                </a:rPr>
                <a:t>Client Objects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sp>
        <p:nvSpPr>
          <p:cNvPr id="137" name="Google Shape;137;p27"/>
          <p:cNvSpPr/>
          <p:nvPr/>
        </p:nvSpPr>
        <p:spPr>
          <a:xfrm>
            <a:off x="3396125" y="2893499"/>
            <a:ext cx="2207700" cy="86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27"/>
          <p:cNvGrpSpPr/>
          <p:nvPr/>
        </p:nvGrpSpPr>
        <p:grpSpPr>
          <a:xfrm>
            <a:off x="5603825" y="3052443"/>
            <a:ext cx="3532296" cy="461700"/>
            <a:chOff x="5603825" y="3052443"/>
            <a:chExt cx="3532296" cy="461700"/>
          </a:xfrm>
        </p:grpSpPr>
        <p:cxnSp>
          <p:nvCxnSpPr>
            <p:cNvPr id="139" name="Google Shape;139;p27"/>
            <p:cNvCxnSpPr>
              <a:stCxn id="137" idx="3"/>
            </p:cNvCxnSpPr>
            <p:nvPr/>
          </p:nvCxnSpPr>
          <p:spPr>
            <a:xfrm flipH="1" rot="10800000">
              <a:off x="5603825" y="3304649"/>
              <a:ext cx="1679400" cy="2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" name="Google Shape;140;p27"/>
            <p:cNvSpPr txBox="1"/>
            <p:nvPr/>
          </p:nvSpPr>
          <p:spPr>
            <a:xfrm>
              <a:off x="7341821" y="3052443"/>
              <a:ext cx="179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88038"/>
                  </a:solidFill>
                </a:rPr>
                <a:t>Facade!!</a:t>
              </a:r>
              <a:endParaRPr sz="18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050" y="1463700"/>
            <a:ext cx="6250200" cy="242354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 concrete example: </a:t>
            </a:r>
            <a:r>
              <a:rPr i="1" lang="en" sz="2320"/>
              <a:t>Ordering over the phone</a:t>
            </a:r>
            <a:endParaRPr i="1" sz="2320"/>
          </a:p>
        </p:txBody>
      </p:sp>
      <p:grpSp>
        <p:nvGrpSpPr>
          <p:cNvPr id="153" name="Google Shape;153;p28"/>
          <p:cNvGrpSpPr/>
          <p:nvPr/>
        </p:nvGrpSpPr>
        <p:grpSpPr>
          <a:xfrm>
            <a:off x="7012200" y="1660475"/>
            <a:ext cx="2616300" cy="461700"/>
            <a:chOff x="7012200" y="1660475"/>
            <a:chExt cx="2616300" cy="461700"/>
          </a:xfrm>
        </p:grpSpPr>
        <p:sp>
          <p:nvSpPr>
            <p:cNvPr id="154" name="Google Shape;154;p28"/>
            <p:cNvSpPr txBox="1"/>
            <p:nvPr/>
          </p:nvSpPr>
          <p:spPr>
            <a:xfrm>
              <a:off x="7822500" y="1660475"/>
              <a:ext cx="180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Hidden!!</a:t>
              </a:r>
              <a:endParaRPr i="1" sz="1800">
                <a:solidFill>
                  <a:srgbClr val="FF0000"/>
                </a:solidFill>
              </a:endParaRPr>
            </a:p>
          </p:txBody>
        </p:sp>
        <p:cxnSp>
          <p:nvCxnSpPr>
            <p:cNvPr id="155" name="Google Shape;155;p28"/>
            <p:cNvCxnSpPr>
              <a:endCxn id="154" idx="1"/>
            </p:cNvCxnSpPr>
            <p:nvPr/>
          </p:nvCxnSpPr>
          <p:spPr>
            <a:xfrm>
              <a:off x="7012200" y="1848425"/>
              <a:ext cx="810300" cy="4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6" name="Google Shape;156;p28"/>
          <p:cNvGrpSpPr/>
          <p:nvPr/>
        </p:nvGrpSpPr>
        <p:grpSpPr>
          <a:xfrm>
            <a:off x="1176900" y="3504150"/>
            <a:ext cx="1641600" cy="844800"/>
            <a:chOff x="1176900" y="3504150"/>
            <a:chExt cx="1641600" cy="844800"/>
          </a:xfrm>
        </p:grpSpPr>
        <p:cxnSp>
          <p:nvCxnSpPr>
            <p:cNvPr id="157" name="Google Shape;157;p28"/>
            <p:cNvCxnSpPr>
              <a:endCxn id="158" idx="0"/>
            </p:cNvCxnSpPr>
            <p:nvPr/>
          </p:nvCxnSpPr>
          <p:spPr>
            <a:xfrm>
              <a:off x="1388100" y="3504150"/>
              <a:ext cx="609600" cy="38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28"/>
            <p:cNvSpPr txBox="1"/>
            <p:nvPr/>
          </p:nvSpPr>
          <p:spPr>
            <a:xfrm>
              <a:off x="1176900" y="3887250"/>
              <a:ext cx="164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FF"/>
                  </a:solidFill>
                </a:rPr>
                <a:t>Client Object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159" name="Google Shape;159;p28"/>
          <p:cNvGrpSpPr/>
          <p:nvPr/>
        </p:nvGrpSpPr>
        <p:grpSpPr>
          <a:xfrm>
            <a:off x="3090800" y="950418"/>
            <a:ext cx="2370483" cy="909707"/>
            <a:chOff x="3090800" y="950418"/>
            <a:chExt cx="2370483" cy="909707"/>
          </a:xfrm>
        </p:grpSpPr>
        <p:cxnSp>
          <p:nvCxnSpPr>
            <p:cNvPr id="160" name="Google Shape;160;p28"/>
            <p:cNvCxnSpPr/>
            <p:nvPr/>
          </p:nvCxnSpPr>
          <p:spPr>
            <a:xfrm flipH="1" rot="10800000">
              <a:off x="3090800" y="1402025"/>
              <a:ext cx="880800" cy="45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" name="Google Shape;161;p28"/>
            <p:cNvSpPr txBox="1"/>
            <p:nvPr/>
          </p:nvSpPr>
          <p:spPr>
            <a:xfrm>
              <a:off x="3666983" y="950418"/>
              <a:ext cx="179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88038"/>
                  </a:solidFill>
                </a:rPr>
                <a:t>Facade!!</a:t>
              </a:r>
              <a:endParaRPr sz="18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Key Takeaways: Facade</a:t>
            </a:r>
            <a:endParaRPr sz="2320"/>
          </a:p>
        </p:txBody>
      </p:sp>
      <p:graphicFrame>
        <p:nvGraphicFramePr>
          <p:cNvPr id="173" name="Google Shape;173;p29"/>
          <p:cNvGraphicFramePr/>
          <p:nvPr/>
        </p:nvGraphicFramePr>
        <p:xfrm>
          <a:off x="7620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{C77F8642-DA68-4F2A-B729-7C7D5879AADE}</a:tableStyleId>
              </a:tblPr>
              <a:tblGrid>
                <a:gridCol w="1181100"/>
                <a:gridCol w="65055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Aspect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Description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Purpose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Simplifies interaction with complex subsystems by providing a unified interface.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Benefits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Decouples clients from subsystem details, hides complexity, and makes the system easier to use.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Usage Example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An order processing system that integrates inventory checks, payment processing, and shipping.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Client Interaction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The client calls a single method (e.g.,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process_order()</a:t>
                      </a:r>
                      <a:r>
                        <a:rPr lang="en" sz="1500"/>
                        <a:t>) on the facade, instead of multiple subsystem calls.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900" y="108525"/>
            <a:ext cx="1554945" cy="11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Takeaways: Facade (vs. Adapter)</a:t>
            </a:r>
            <a:endParaRPr sz="2320"/>
          </a:p>
        </p:txBody>
      </p:sp>
      <p:graphicFrame>
        <p:nvGraphicFramePr>
          <p:cNvPr id="186" name="Google Shape;186;p30"/>
          <p:cNvGraphicFramePr/>
          <p:nvPr/>
        </p:nvGraphicFramePr>
        <p:xfrm>
          <a:off x="252413" y="129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{C77F8642-DA68-4F2A-B729-7C7D5879AADE}</a:tableStyleId>
              </a:tblPr>
              <a:tblGrid>
                <a:gridCol w="1777725"/>
                <a:gridCol w="6884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Feature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Differences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Subsystem Coordination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highlight>
                            <a:srgbClr val="D9EAD3"/>
                          </a:highlight>
                        </a:rPr>
                        <a:t>Orchestrates</a:t>
                      </a:r>
                      <a:r>
                        <a:rPr lang="en" sz="1300"/>
                        <a:t> interactions between 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multiple classes or subsystems</a:t>
                      </a:r>
                      <a:endParaRPr sz="1300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4CCCC"/>
                          </a:highlight>
                        </a:rPr>
                        <a:t>Vs. Only wraps a single interface</a:t>
                      </a:r>
                      <a:endParaRPr sz="13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Unified High-Level Abstraction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Comprehensive,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simplified</a:t>
                      </a:r>
                      <a:r>
                        <a:rPr lang="en" sz="1300"/>
                        <a:t> interface to a </a:t>
                      </a:r>
                      <a:r>
                        <a:rPr i="1" lang="en" sz="1300" u="sng">
                          <a:highlight>
                            <a:srgbClr val="FFFF00"/>
                          </a:highlight>
                        </a:rPr>
                        <a:t>complex system</a:t>
                      </a:r>
                      <a:r>
                        <a:rPr lang="en" sz="1300"/>
                        <a:t>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hiding the internal complexity</a:t>
                      </a:r>
                      <a:r>
                        <a:rPr lang="en" sz="1300"/>
                        <a:t>. 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Vs. </a:t>
                      </a:r>
                      <a:r>
                        <a:rPr lang="en" sz="1300">
                          <a:highlight>
                            <a:srgbClr val="F4CCCC"/>
                          </a:highlight>
                        </a:rPr>
                        <a:t>Does not consolidate multiple operations into one cohesive interface.</a:t>
                      </a:r>
                      <a:endParaRPr sz="13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Decoupling from Complex Subsystems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Decouples the client</a:t>
                      </a:r>
                      <a:r>
                        <a:rPr lang="en" sz="1300"/>
                        <a:t> from an </a:t>
                      </a:r>
                      <a:r>
                        <a:rPr i="1" lang="en" sz="1300" u="sng">
                          <a:highlight>
                            <a:srgbClr val="FFFF00"/>
                          </a:highlight>
                        </a:rPr>
                        <a:t>entire set</a:t>
                      </a:r>
                      <a:r>
                        <a:rPr lang="en" sz="1300"/>
                        <a:t> of interrelated subsystems. 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Vs. Solely focused on making one incompatible interface work with another.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Toy example of creating </a:t>
            </a:r>
            <a:r>
              <a:rPr lang="en" sz="2320">
                <a:highlight>
                  <a:srgbClr val="FFFF00"/>
                </a:highlight>
              </a:rPr>
              <a:t>sub-systems</a:t>
            </a:r>
            <a:r>
              <a:rPr lang="en" sz="2320"/>
              <a:t> out of similar classes</a:t>
            </a:r>
            <a:endParaRPr sz="2320"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634713"/>
            <a:ext cx="2491884" cy="398088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1225" y="636725"/>
            <a:ext cx="2491875" cy="184630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6225" y="2152963"/>
            <a:ext cx="2536000" cy="19284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5900" y="3475175"/>
            <a:ext cx="2491875" cy="93079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Don’t want Facade? Going to give client a lot of headache!!</a:t>
            </a:r>
            <a:endParaRPr sz="2320"/>
          </a:p>
        </p:txBody>
      </p:sp>
      <p:pic>
        <p:nvPicPr>
          <p:cNvPr id="213" name="Google Shape;213;p32"/>
          <p:cNvPicPr preferRelativeResize="0"/>
          <p:nvPr/>
        </p:nvPicPr>
        <p:blipFill rotWithShape="1">
          <a:blip r:embed="rId4">
            <a:alphaModFix/>
          </a:blip>
          <a:srcRect b="63615" l="0" r="37260" t="0"/>
          <a:stretch/>
        </p:blipFill>
        <p:spPr>
          <a:xfrm>
            <a:off x="187875" y="789125"/>
            <a:ext cx="5140500" cy="221232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32"/>
          <p:cNvPicPr preferRelativeResize="0"/>
          <p:nvPr/>
        </p:nvPicPr>
        <p:blipFill rotWithShape="1">
          <a:blip r:embed="rId4">
            <a:alphaModFix/>
          </a:blip>
          <a:srcRect b="0" l="0" r="0" t="36012"/>
          <a:stretch/>
        </p:blipFill>
        <p:spPr>
          <a:xfrm>
            <a:off x="2343600" y="1160375"/>
            <a:ext cx="6541967" cy="31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5" name="Google Shape;215;p32"/>
          <p:cNvCxnSpPr/>
          <p:nvPr/>
        </p:nvCxnSpPr>
        <p:spPr>
          <a:xfrm>
            <a:off x="3783325" y="1565900"/>
            <a:ext cx="23145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2"/>
          <p:cNvSpPr/>
          <p:nvPr/>
        </p:nvSpPr>
        <p:spPr>
          <a:xfrm>
            <a:off x="3078475" y="1861175"/>
            <a:ext cx="5257800" cy="142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32"/>
          <p:cNvCxnSpPr/>
          <p:nvPr/>
        </p:nvCxnSpPr>
        <p:spPr>
          <a:xfrm flipH="1" rot="10800000">
            <a:off x="3221350" y="2442288"/>
            <a:ext cx="5619900" cy="1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Facade abstracts the sub-systems!</a:t>
            </a:r>
            <a:endParaRPr sz="2320"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050" y="789563"/>
            <a:ext cx="7086975" cy="33675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1825" y="2447325"/>
            <a:ext cx="632936" cy="4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Facade abstracts the sub-systems: </a:t>
            </a:r>
            <a:r>
              <a:rPr i="1" lang="en" sz="2320"/>
              <a:t>Client has no headache!</a:t>
            </a:r>
            <a:endParaRPr i="1" sz="2320"/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075" y="779600"/>
            <a:ext cx="4762500" cy="34385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43" name="Google Shape;243;p34"/>
          <p:cNvGrpSpPr/>
          <p:nvPr/>
        </p:nvGrpSpPr>
        <p:grpSpPr>
          <a:xfrm>
            <a:off x="2154550" y="2119650"/>
            <a:ext cx="2995861" cy="452100"/>
            <a:chOff x="2154550" y="2119650"/>
            <a:chExt cx="2995861" cy="452100"/>
          </a:xfrm>
        </p:grpSpPr>
        <p:cxnSp>
          <p:nvCxnSpPr>
            <p:cNvPr id="244" name="Google Shape;244;p34"/>
            <p:cNvCxnSpPr/>
            <p:nvPr/>
          </p:nvCxnSpPr>
          <p:spPr>
            <a:xfrm>
              <a:off x="2154550" y="2489825"/>
              <a:ext cx="2314500" cy="0"/>
            </a:xfrm>
            <a:prstGeom prst="straightConnector1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45" name="Google Shape;245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17475" y="2119650"/>
              <a:ext cx="632936" cy="452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34"/>
          <p:cNvGrpSpPr/>
          <p:nvPr/>
        </p:nvGrpSpPr>
        <p:grpSpPr>
          <a:xfrm>
            <a:off x="2535550" y="2395875"/>
            <a:ext cx="4724436" cy="1102900"/>
            <a:chOff x="2535550" y="2395875"/>
            <a:chExt cx="4724436" cy="1102900"/>
          </a:xfrm>
        </p:grpSpPr>
        <p:grpSp>
          <p:nvGrpSpPr>
            <p:cNvPr id="247" name="Google Shape;247;p34"/>
            <p:cNvGrpSpPr/>
            <p:nvPr/>
          </p:nvGrpSpPr>
          <p:grpSpPr>
            <a:xfrm>
              <a:off x="6627050" y="2395875"/>
              <a:ext cx="632936" cy="1102900"/>
              <a:chOff x="6574875" y="2414925"/>
              <a:chExt cx="632936" cy="1102900"/>
            </a:xfrm>
          </p:grpSpPr>
          <p:pic>
            <p:nvPicPr>
              <p:cNvPr id="248" name="Google Shape;248;p34"/>
              <p:cNvPicPr preferRelativeResize="0"/>
              <p:nvPr/>
            </p:nvPicPr>
            <p:blipFill rotWithShape="1">
              <a:blip r:embed="rId6">
                <a:alphaModFix/>
              </a:blip>
              <a:srcRect b="9136" l="44359" r="44122" t="68366"/>
              <a:stretch/>
            </p:blipFill>
            <p:spPr>
              <a:xfrm>
                <a:off x="6659875" y="2945125"/>
                <a:ext cx="469133" cy="572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3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574875" y="2414925"/>
                <a:ext cx="632936" cy="45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50" name="Google Shape;250;p34"/>
            <p:cNvCxnSpPr/>
            <p:nvPr/>
          </p:nvCxnSpPr>
          <p:spPr>
            <a:xfrm>
              <a:off x="2535550" y="3175625"/>
              <a:ext cx="3876600" cy="7500"/>
            </a:xfrm>
            <a:prstGeom prst="straightConnector1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" name="Google Shape;251;p34"/>
          <p:cNvGrpSpPr/>
          <p:nvPr/>
        </p:nvGrpSpPr>
        <p:grpSpPr>
          <a:xfrm>
            <a:off x="4964425" y="3630925"/>
            <a:ext cx="4046325" cy="587975"/>
            <a:chOff x="4964425" y="3630925"/>
            <a:chExt cx="4046325" cy="587975"/>
          </a:xfrm>
        </p:grpSpPr>
        <p:cxnSp>
          <p:nvCxnSpPr>
            <p:cNvPr id="252" name="Google Shape;252;p34"/>
            <p:cNvCxnSpPr/>
            <p:nvPr/>
          </p:nvCxnSpPr>
          <p:spPr>
            <a:xfrm>
              <a:off x="5516875" y="3667125"/>
              <a:ext cx="1419300" cy="20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3" name="Google Shape;253;p34"/>
            <p:cNvSpPr txBox="1"/>
            <p:nvPr/>
          </p:nvSpPr>
          <p:spPr>
            <a:xfrm>
              <a:off x="6917050" y="3695700"/>
              <a:ext cx="2093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0000FF"/>
                  </a:solidFill>
                </a:rPr>
                <a:t>Trivia: Extracts the tuple from dictionary</a:t>
              </a:r>
              <a:endParaRPr i="1" sz="1100">
                <a:solidFill>
                  <a:srgbClr val="0000FF"/>
                </a:solidFill>
              </a:endParaRPr>
            </a:p>
          </p:txBody>
        </p:sp>
        <p:cxnSp>
          <p:nvCxnSpPr>
            <p:cNvPr id="254" name="Google Shape;254;p34"/>
            <p:cNvCxnSpPr/>
            <p:nvPr/>
          </p:nvCxnSpPr>
          <p:spPr>
            <a:xfrm>
              <a:off x="4964425" y="3630925"/>
              <a:ext cx="714300" cy="285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55" name="Google Shape;255;p34"/>
          <p:cNvPicPr preferRelativeResize="0"/>
          <p:nvPr/>
        </p:nvPicPr>
        <p:blipFill rotWithShape="1">
          <a:blip r:embed="rId6">
            <a:alphaModFix/>
          </a:blip>
          <a:srcRect b="9136" l="44359" r="44122" t="68366"/>
          <a:stretch/>
        </p:blipFill>
        <p:spPr>
          <a:xfrm>
            <a:off x="3502125" y="1392550"/>
            <a:ext cx="46913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5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do better? </a:t>
            </a:r>
            <a:endParaRPr sz="31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6" name="Google Shape;2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FP-style optimization</a:t>
            </a:r>
            <a:endParaRPr sz="2320"/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275" y="1189625"/>
            <a:ext cx="4385900" cy="2084066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6325" y="2227900"/>
            <a:ext cx="406075" cy="29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4400" y="240550"/>
            <a:ext cx="3702900" cy="4319099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81" name="Google Shape;281;p36"/>
          <p:cNvGrpSpPr/>
          <p:nvPr/>
        </p:nvGrpSpPr>
        <p:grpSpPr>
          <a:xfrm>
            <a:off x="2849875" y="2954400"/>
            <a:ext cx="3086175" cy="1479125"/>
            <a:chOff x="6917050" y="3078475"/>
            <a:chExt cx="3086175" cy="1479125"/>
          </a:xfrm>
        </p:grpSpPr>
        <p:cxnSp>
          <p:nvCxnSpPr>
            <p:cNvPr id="282" name="Google Shape;282;p36"/>
            <p:cNvCxnSpPr>
              <a:endCxn id="283" idx="0"/>
            </p:cNvCxnSpPr>
            <p:nvPr/>
          </p:nvCxnSpPr>
          <p:spPr>
            <a:xfrm flipH="1">
              <a:off x="7963900" y="3099600"/>
              <a:ext cx="1467600" cy="59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3" name="Google Shape;283;p36"/>
            <p:cNvSpPr txBox="1"/>
            <p:nvPr/>
          </p:nvSpPr>
          <p:spPr>
            <a:xfrm>
              <a:off x="6917050" y="3695700"/>
              <a:ext cx="20937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0000FF"/>
                  </a:solidFill>
                </a:rPr>
                <a:t>Trivia: Decorator enforcing lazy (i.e., dynamic) calling → </a:t>
              </a:r>
              <a:r>
                <a:rPr i="1" lang="en" sz="1100" u="sng">
                  <a:solidFill>
                    <a:srgbClr val="0000FF"/>
                  </a:solidFill>
                </a:rPr>
                <a:t>call-when-needed; </a:t>
              </a:r>
              <a:r>
                <a:rPr lang="en" sz="1100">
                  <a:solidFill>
                    <a:srgbClr val="FF0000"/>
                  </a:solidFill>
                </a:rPr>
                <a:t>READ-ONLY</a:t>
              </a:r>
              <a:endParaRPr sz="1100">
                <a:solidFill>
                  <a:srgbClr val="FF0000"/>
                </a:solidFill>
              </a:endParaRPr>
            </a:p>
          </p:txBody>
        </p:sp>
        <p:cxnSp>
          <p:nvCxnSpPr>
            <p:cNvPr id="284" name="Google Shape;284;p36"/>
            <p:cNvCxnSpPr/>
            <p:nvPr/>
          </p:nvCxnSpPr>
          <p:spPr>
            <a:xfrm>
              <a:off x="9460225" y="3078475"/>
              <a:ext cx="543000" cy="21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85" name="Google Shape;28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0225" y="3580450"/>
            <a:ext cx="406075" cy="290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36"/>
          <p:cNvGrpSpPr/>
          <p:nvPr/>
        </p:nvGrpSpPr>
        <p:grpSpPr>
          <a:xfrm>
            <a:off x="5568600" y="515925"/>
            <a:ext cx="3282175" cy="523200"/>
            <a:chOff x="5568600" y="515925"/>
            <a:chExt cx="3282175" cy="523200"/>
          </a:xfrm>
        </p:grpSpPr>
        <p:sp>
          <p:nvSpPr>
            <p:cNvPr id="287" name="Google Shape;287;p36"/>
            <p:cNvSpPr/>
            <p:nvPr/>
          </p:nvSpPr>
          <p:spPr>
            <a:xfrm>
              <a:off x="5568600" y="556625"/>
              <a:ext cx="1644000" cy="452100"/>
            </a:xfrm>
            <a:prstGeom prst="rect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8" name="Google Shape;288;p36"/>
            <p:cNvCxnSpPr>
              <a:stCxn id="287" idx="3"/>
            </p:cNvCxnSpPr>
            <p:nvPr/>
          </p:nvCxnSpPr>
          <p:spPr>
            <a:xfrm flipH="1" rot="10800000">
              <a:off x="7212600" y="767975"/>
              <a:ext cx="364200" cy="1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9" name="Google Shape;289;p36"/>
            <p:cNvSpPr txBox="1"/>
            <p:nvPr/>
          </p:nvSpPr>
          <p:spPr>
            <a:xfrm>
              <a:off x="7582675" y="515925"/>
              <a:ext cx="1268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Keep it uninitialized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290" name="Google Shape;290;p36"/>
          <p:cNvGrpSpPr/>
          <p:nvPr/>
        </p:nvGrpSpPr>
        <p:grpSpPr>
          <a:xfrm>
            <a:off x="872775" y="1699625"/>
            <a:ext cx="2995646" cy="452100"/>
            <a:chOff x="872775" y="1699625"/>
            <a:chExt cx="2995646" cy="452100"/>
          </a:xfrm>
        </p:grpSpPr>
        <p:pic>
          <p:nvPicPr>
            <p:cNvPr descr="a red cross on a white background that looks like a starfish (Provided by Tenor)" id="291" name="Google Shape;291;p3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62346" y="1699996"/>
              <a:ext cx="406075" cy="451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36"/>
            <p:cNvSpPr/>
            <p:nvPr/>
          </p:nvSpPr>
          <p:spPr>
            <a:xfrm>
              <a:off x="872775" y="1699625"/>
              <a:ext cx="2643900" cy="452100"/>
            </a:xfrm>
            <a:prstGeom prst="rect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2" name="Google Shape;3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Is creating facade always good?</a:t>
            </a:r>
            <a:endParaRPr sz="31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1" name="Google Shape;311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Cautionary comments</a:t>
            </a:r>
            <a:endParaRPr sz="2320"/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900" y="261175"/>
            <a:ext cx="1316550" cy="9403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38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{C77F8642-DA68-4F2A-B729-7C7D5879AADE}</a:tableStyleId>
              </a:tblPr>
              <a:tblGrid>
                <a:gridCol w="1695450"/>
                <a:gridCol w="2766925"/>
                <a:gridCol w="3705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Disadvantages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Complexity Handling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Reduces complexity by hiding subsystem details.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lead to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unnecessary abstraction </a:t>
                      </a:r>
                      <a:r>
                        <a:rPr lang="en"/>
                        <a:t>if overused.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Dependency Management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Decouples client from subsystem changes.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Clients need </a:t>
                      </a:r>
                      <a:r>
                        <a:rPr lang="en"/>
                        <a:t>update</a:t>
                      </a:r>
                      <a:r>
                        <a:rPr lang="en"/>
                        <a:t> if Facade needs update → 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an adapter to the facade??</a:t>
                      </a:r>
                      <a:endParaRPr i="1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Performance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Makes API calls easier and more structured.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introduce slight overhead when forwarding requests.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