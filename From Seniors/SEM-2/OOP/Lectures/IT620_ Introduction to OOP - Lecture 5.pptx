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316D2F-139F-41AE-8658-51502C27F48B}">
  <a:tblStyle styleId="{BF316D2F-139F-41AE-8658-51502C27F48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7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8" Type="http://schemas.openxmlformats.org/officeDocument/2006/relationships/font" Target="fonts/RobotoMon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1b8124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1b8124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a1b81242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a1b81242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a1b81242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a1b81242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a1b81242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2a1b81242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a1b81242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2a1b81242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a1b81242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2a1b81242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gif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4667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Creational Design Patterns: Abstract Factory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Abstract Factory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Relook at Factory Pattern</a:t>
            </a:r>
            <a:endParaRPr/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625" y="923875"/>
            <a:ext cx="5545374" cy="28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0875" y="2028000"/>
            <a:ext cx="3832900" cy="225174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" name="Google Shape;11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3325" y="2766675"/>
            <a:ext cx="3328198" cy="164825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" name="Google Shape;118;p26"/>
          <p:cNvSpPr txBox="1"/>
          <p:nvPr/>
        </p:nvSpPr>
        <p:spPr>
          <a:xfrm>
            <a:off x="5913775" y="254275"/>
            <a:ext cx="270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What’s missing??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19" name="Google Shape;119;p26"/>
          <p:cNvSpPr txBox="1"/>
          <p:nvPr/>
        </p:nvSpPr>
        <p:spPr>
          <a:xfrm>
            <a:off x="6021150" y="718761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Only create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one</a:t>
            </a:r>
            <a:r>
              <a:rPr lang="en">
                <a:solidFill>
                  <a:schemeClr val="dk1"/>
                </a:solidFill>
              </a:rPr>
              <a:t> type of object (e.g., a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single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 hierarchy</a:t>
            </a:r>
            <a:r>
              <a:rPr lang="en">
                <a:solidFill>
                  <a:schemeClr val="dk1"/>
                </a:solidFill>
              </a:rPr>
              <a:t> of animals)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Doesn’t enforce consistency between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related</a:t>
            </a:r>
            <a:r>
              <a:rPr lang="en">
                <a:solidFill>
                  <a:schemeClr val="dk1"/>
                </a:solidFill>
              </a:rPr>
              <a:t> objects (e.g., "domestic" or "wild" versions of both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Dog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en">
                <a:solidFill>
                  <a:schemeClr val="dk1"/>
                </a:solidFill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Factory Design Pattern</a:t>
            </a:r>
            <a:endParaRPr/>
          </a:p>
        </p:txBody>
      </p:sp>
      <p:pic>
        <p:nvPicPr>
          <p:cNvPr id="130" name="Google Shape;13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200" y="994600"/>
            <a:ext cx="3832900" cy="225174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0050" y="2431022"/>
            <a:ext cx="5618709" cy="186045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red cross on a white background that looks like a starfish (Provided by Tenor)" id="132" name="Google Shape;13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9541" y="3447341"/>
            <a:ext cx="759450" cy="84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Abstract Factory</a:t>
            </a:r>
            <a:endParaRPr b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0" name="Google Shape;140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Concrete Factories out of Abstract Factory</a:t>
            </a:r>
            <a:endParaRPr/>
          </a:p>
        </p:txBody>
      </p:sp>
      <p:pic>
        <p:nvPicPr>
          <p:cNvPr id="144" name="Google Shape;14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5675" y="891422"/>
            <a:ext cx="5618709" cy="186045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5" name="Google Shape;145;p28"/>
          <p:cNvPicPr preferRelativeResize="0"/>
          <p:nvPr/>
        </p:nvPicPr>
        <p:blipFill rotWithShape="1">
          <a:blip r:embed="rId5">
            <a:alphaModFix/>
          </a:blip>
          <a:srcRect b="0" l="0" r="0" t="51425"/>
          <a:stretch/>
        </p:blipFill>
        <p:spPr>
          <a:xfrm>
            <a:off x="4645250" y="2632916"/>
            <a:ext cx="3271975" cy="1790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" name="Google Shape;146;p28"/>
          <p:cNvPicPr preferRelativeResize="0"/>
          <p:nvPr/>
        </p:nvPicPr>
        <p:blipFill rotWithShape="1">
          <a:blip r:embed="rId5">
            <a:alphaModFix/>
          </a:blip>
          <a:srcRect b="57166" l="0" r="0" t="0"/>
          <a:stretch/>
        </p:blipFill>
        <p:spPr>
          <a:xfrm>
            <a:off x="749200" y="2645125"/>
            <a:ext cx="3710461" cy="1790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Abstract Factory</a:t>
            </a:r>
            <a:endParaRPr b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4" name="Google Shape;154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the Classes</a:t>
            </a:r>
            <a:endParaRPr/>
          </a:p>
        </p:txBody>
      </p:sp>
      <p:pic>
        <p:nvPicPr>
          <p:cNvPr id="158" name="Google Shape;158;p29"/>
          <p:cNvPicPr preferRelativeResize="0"/>
          <p:nvPr/>
        </p:nvPicPr>
        <p:blipFill rotWithShape="1">
          <a:blip r:embed="rId4">
            <a:alphaModFix/>
          </a:blip>
          <a:srcRect b="0" l="0" r="0" t="51425"/>
          <a:stretch/>
        </p:blipFill>
        <p:spPr>
          <a:xfrm>
            <a:off x="218075" y="2809825"/>
            <a:ext cx="3619200" cy="1790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p29"/>
          <p:cNvPicPr preferRelativeResize="0"/>
          <p:nvPr/>
        </p:nvPicPr>
        <p:blipFill rotWithShape="1">
          <a:blip r:embed="rId4">
            <a:alphaModFix/>
          </a:blip>
          <a:srcRect b="57166" l="0" r="0" t="0"/>
          <a:stretch/>
        </p:blipFill>
        <p:spPr>
          <a:xfrm>
            <a:off x="218075" y="842825"/>
            <a:ext cx="3619200" cy="1790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0" name="Google Shape;16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3625" y="101400"/>
            <a:ext cx="4748676" cy="24646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6025" y="1002575"/>
            <a:ext cx="2373463" cy="359735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Abstract Factory</a:t>
            </a:r>
            <a:endParaRPr b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9" name="Google Shape;169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Concrete Factories out of Abstract Factory</a:t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325" y="1454075"/>
            <a:ext cx="3328198" cy="16482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red cross on a white background that looks like a starfish (Provided by Tenor)" id="174" name="Google Shape;17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841" y="3187328"/>
            <a:ext cx="759450" cy="84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5625" y="775300"/>
            <a:ext cx="3733317" cy="3663142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" name="Google Shape;176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Abstract Factory</a:t>
            </a:r>
            <a:endParaRPr b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3" name="Google Shape;183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Concrete Factories out of Abstract Factory</a:t>
            </a:r>
            <a:endParaRPr/>
          </a:p>
        </p:txBody>
      </p:sp>
      <p:graphicFrame>
        <p:nvGraphicFramePr>
          <p:cNvPr id="187" name="Google Shape;187;p31"/>
          <p:cNvGraphicFramePr/>
          <p:nvPr/>
        </p:nvGraphicFramePr>
        <p:xfrm>
          <a:off x="1056625" y="102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{BF316D2F-139F-41AE-8658-51502C27F48B}</a:tableStyleId>
              </a:tblPr>
              <a:tblGrid>
                <a:gridCol w="2219325"/>
                <a:gridCol w="1704975"/>
                <a:gridCol w="29432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Use Case</a:t>
                      </a:r>
                      <a:endParaRPr b="1"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Factory Method</a:t>
                      </a:r>
                      <a:endParaRPr b="1"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Abstract Factory</a:t>
                      </a:r>
                      <a:endParaRPr b="1"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Single object creation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Works well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Overkill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5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Families of related objects (eg. Domestic Animal Family)</a:t>
                      </a:r>
                      <a:endParaRPr i="1" sz="150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Cannot enforce consistency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Enforces consistency across object families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Need for multiple concrete factories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Harder to manage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Each concrete factory handles one family easily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Example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Create a </a:t>
                      </a: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Dog</a:t>
                      </a:r>
                      <a:r>
                        <a:rPr lang="en" sz="1500"/>
                        <a:t> or </a:t>
                      </a: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</a:t>
                      </a:r>
                      <a:endParaRPr sz="15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Create a </a:t>
                      </a: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DomesticDog</a:t>
                      </a:r>
                      <a:r>
                        <a:rPr lang="en" sz="1500"/>
                        <a:t> and </a:t>
                      </a: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DomesticCat</a:t>
                      </a:r>
                      <a:r>
                        <a:rPr lang="en" sz="1500"/>
                        <a:t> pair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Abstract Factory</a:t>
            </a:r>
            <a:endParaRPr b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