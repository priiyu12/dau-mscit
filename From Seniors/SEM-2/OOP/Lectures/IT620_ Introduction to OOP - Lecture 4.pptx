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c4f65da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c4f65da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e7e6f232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e7e6f232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e7e6f232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e7e6f232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91adb5e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91adb5e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91adb5e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91adb5e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91adb5ed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291adb5ed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7e6f23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e7e6f23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e7e6f232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e7e6f232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e7e6f232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e7e6f232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e7e6f232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2e7e6f232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e7e6f232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e7e6f232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91adb5ed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291adb5ed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e7e6f232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2e7e6f232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7e6f232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2e7e6f232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e7e6f232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2e7e6f232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e7e6f232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2e7e6f232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9b9c538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29b9c538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Principle of LSP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“Base (Abstract) Class” Animal?</a:t>
            </a:r>
            <a:endParaRPr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91" y="1003863"/>
            <a:ext cx="5260026" cy="26332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26"/>
          <p:cNvSpPr txBox="1"/>
          <p:nvPr/>
        </p:nvSpPr>
        <p:spPr>
          <a:xfrm>
            <a:off x="5679900" y="827500"/>
            <a:ext cx="3423600" cy="3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highlight>
                  <a:srgbClr val="FFFF00"/>
                </a:highlight>
              </a:rPr>
              <a:t>C</a:t>
            </a:r>
            <a:r>
              <a:rPr b="1" lang="en" sz="1500">
                <a:solidFill>
                  <a:schemeClr val="dk1"/>
                </a:solidFill>
                <a:highlight>
                  <a:srgbClr val="FFFF00"/>
                </a:highlight>
              </a:rPr>
              <a:t>ommon interface (</a:t>
            </a:r>
            <a:r>
              <a:rPr b="1" lang="en" sz="1500" u="sng">
                <a:solidFill>
                  <a:srgbClr val="FF0000"/>
                </a:solidFill>
                <a:highlight>
                  <a:srgbClr val="FFFF00"/>
                </a:highlight>
              </a:rPr>
              <a:t>contract</a:t>
            </a:r>
            <a:r>
              <a:rPr b="1" lang="en" sz="1500">
                <a:solidFill>
                  <a:schemeClr val="dk1"/>
                </a:solidFill>
                <a:highlight>
                  <a:srgbClr val="FFFF00"/>
                </a:highlight>
              </a:rPr>
              <a:t>)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speak</a:t>
            </a:r>
            <a:r>
              <a:rPr lang="en" sz="1500">
                <a:solidFill>
                  <a:schemeClr val="dk1"/>
                </a:solidFill>
              </a:rPr>
              <a:t>) that ensures consistency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Enable </a:t>
            </a:r>
            <a:r>
              <a:rPr b="1" lang="en" sz="1500">
                <a:solidFill>
                  <a:schemeClr val="dk1"/>
                </a:solidFill>
                <a:highlight>
                  <a:srgbClr val="FFFF00"/>
                </a:highlight>
              </a:rPr>
              <a:t>polymorphism</a:t>
            </a:r>
            <a:r>
              <a:rPr lang="en" sz="1500">
                <a:solidFill>
                  <a:schemeClr val="dk1"/>
                </a:solidFill>
              </a:rPr>
              <a:t>, allowing the client code to work with animals </a:t>
            </a:r>
            <a:r>
              <a:rPr b="1" lang="en" sz="1500" u="sng">
                <a:solidFill>
                  <a:srgbClr val="FF0000"/>
                </a:solidFill>
              </a:rPr>
              <a:t>generically</a:t>
            </a:r>
            <a:endParaRPr b="1" sz="1500" u="sng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Improve </a:t>
            </a:r>
            <a:r>
              <a:rPr b="1" lang="en" sz="1500">
                <a:solidFill>
                  <a:schemeClr val="dk1"/>
                </a:solidFill>
                <a:highlight>
                  <a:srgbClr val="FFFF00"/>
                </a:highlight>
              </a:rPr>
              <a:t>extensibility</a:t>
            </a:r>
            <a:r>
              <a:rPr lang="en" sz="1500">
                <a:solidFill>
                  <a:schemeClr val="dk1"/>
                </a:solidFill>
              </a:rPr>
              <a:t>, making it easy to </a:t>
            </a:r>
            <a:r>
              <a:rPr b="1" lang="en" sz="1500" u="sng">
                <a:solidFill>
                  <a:srgbClr val="FF0000"/>
                </a:solidFill>
              </a:rPr>
              <a:t>add new</a:t>
            </a:r>
            <a:r>
              <a:rPr lang="en" sz="1500">
                <a:solidFill>
                  <a:schemeClr val="dk1"/>
                </a:solidFill>
              </a:rPr>
              <a:t> animals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Maintain a </a:t>
            </a:r>
            <a:r>
              <a:rPr b="1" lang="en" sz="1500">
                <a:solidFill>
                  <a:schemeClr val="dk1"/>
                </a:solidFill>
              </a:rPr>
              <a:t>clear and </a:t>
            </a:r>
            <a:r>
              <a:rPr b="1" lang="en" sz="1500">
                <a:solidFill>
                  <a:schemeClr val="dk1"/>
                </a:solidFill>
                <a:highlight>
                  <a:srgbClr val="FFFF00"/>
                </a:highlight>
              </a:rPr>
              <a:t>organized</a:t>
            </a:r>
            <a:r>
              <a:rPr b="1" lang="en" sz="1500">
                <a:solidFill>
                  <a:schemeClr val="dk1"/>
                </a:solidFill>
              </a:rPr>
              <a:t> structure</a:t>
            </a:r>
            <a:endParaRPr i="1" sz="1500">
              <a:solidFill>
                <a:srgbClr val="FF0000"/>
              </a:solidFill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681375" y="3770275"/>
            <a:ext cx="4687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Adheres to design principles like the </a:t>
            </a:r>
            <a:r>
              <a:rPr b="1" lang="en" sz="1300">
                <a:solidFill>
                  <a:schemeClr val="dk1"/>
                </a:solidFill>
              </a:rPr>
              <a:t>Open-Closed Principle (OCP)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i="1" lang="en" sz="1300">
                <a:solidFill>
                  <a:srgbClr val="FF0000"/>
                </a:solidFill>
                <a:highlight>
                  <a:srgbClr val="FFFF00"/>
                </a:highlight>
              </a:rPr>
              <a:t>Liskov Substitution Principle (LSP)</a:t>
            </a:r>
            <a:endParaRPr i="1" sz="1300">
              <a:solidFill>
                <a:srgbClr val="FF0000"/>
              </a:solidFill>
            </a:endParaRPr>
          </a:p>
        </p:txBody>
      </p:sp>
      <p:pic>
        <p:nvPicPr>
          <p:cNvPr id="118" name="Google Shape;11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5694" y="2534677"/>
            <a:ext cx="1823356" cy="348813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7807" y="3039861"/>
            <a:ext cx="1523949" cy="39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7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remove Base Class?</a:t>
            </a:r>
            <a:endParaRPr/>
          </a:p>
        </p:txBody>
      </p:sp>
      <p:grpSp>
        <p:nvGrpSpPr>
          <p:cNvPr id="131" name="Google Shape;131;p27"/>
          <p:cNvGrpSpPr/>
          <p:nvPr/>
        </p:nvGrpSpPr>
        <p:grpSpPr>
          <a:xfrm>
            <a:off x="769663" y="866708"/>
            <a:ext cx="6278470" cy="3126242"/>
            <a:chOff x="769675" y="866775"/>
            <a:chExt cx="6572250" cy="3409950"/>
          </a:xfrm>
        </p:grpSpPr>
        <p:pic>
          <p:nvPicPr>
            <p:cNvPr id="132" name="Google Shape;132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9675" y="866775"/>
              <a:ext cx="6572250" cy="3409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27"/>
            <p:cNvSpPr/>
            <p:nvPr/>
          </p:nvSpPr>
          <p:spPr>
            <a:xfrm>
              <a:off x="1117957" y="3868202"/>
              <a:ext cx="4697400" cy="3405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7"/>
          <p:cNvSpPr txBox="1"/>
          <p:nvPr/>
        </p:nvSpPr>
        <p:spPr>
          <a:xfrm>
            <a:off x="307402" y="4069225"/>
            <a:ext cx="8819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Removing the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 sz="1300">
                <a:solidFill>
                  <a:schemeClr val="dk1"/>
                </a:solidFill>
              </a:rPr>
              <a:t> class would lead to a less maintainable, error-prone, and less scalable system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i="1" lang="en" u="sng"/>
              <a:t>strictly</a:t>
            </a:r>
            <a:r>
              <a:rPr i="1" lang="en"/>
              <a:t> </a:t>
            </a:r>
            <a:r>
              <a:rPr lang="en"/>
              <a:t>Abstract Class in Python</a:t>
            </a:r>
            <a:endParaRPr/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700" y="1240400"/>
            <a:ext cx="665797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6269" y="2463177"/>
            <a:ext cx="1823356" cy="34881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28"/>
          <p:cNvSpPr/>
          <p:nvPr/>
        </p:nvSpPr>
        <p:spPr>
          <a:xfrm>
            <a:off x="1125850" y="2481450"/>
            <a:ext cx="1471800" cy="31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6" name="Google Shape;156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Liskov Substitution Principle (LSP)</a:t>
            </a:r>
            <a:endParaRPr/>
          </a:p>
        </p:txBody>
      </p:sp>
      <p:sp>
        <p:nvSpPr>
          <p:cNvPr id="160" name="Google Shape;160;p29"/>
          <p:cNvSpPr txBox="1"/>
          <p:nvPr/>
        </p:nvSpPr>
        <p:spPr>
          <a:xfrm>
            <a:off x="218038" y="1414800"/>
            <a:ext cx="86922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"</a:t>
            </a:r>
            <a:r>
              <a:rPr b="1" i="1" lang="en" sz="1600">
                <a:solidFill>
                  <a:schemeClr val="dk1"/>
                </a:solidFill>
              </a:rPr>
              <a:t>Objects of a superclass should be </a:t>
            </a:r>
            <a:r>
              <a:rPr b="1" i="1" lang="en" sz="1600">
                <a:solidFill>
                  <a:srgbClr val="FF0000"/>
                </a:solidFill>
              </a:rPr>
              <a:t>replaceable</a:t>
            </a:r>
            <a:r>
              <a:rPr b="1" i="1" lang="en" sz="1600">
                <a:solidFill>
                  <a:schemeClr val="dk1"/>
                </a:solidFill>
              </a:rPr>
              <a:t> with objects of its subclasses </a:t>
            </a:r>
            <a:r>
              <a:rPr b="1" i="1" lang="en" sz="1600">
                <a:solidFill>
                  <a:schemeClr val="dk1"/>
                </a:solidFill>
                <a:highlight>
                  <a:srgbClr val="FFFF00"/>
                </a:highlight>
              </a:rPr>
              <a:t>without altering the </a:t>
            </a:r>
            <a:r>
              <a:rPr b="1" i="1" lang="en" sz="1600">
                <a:solidFill>
                  <a:srgbClr val="FF0000"/>
                </a:solidFill>
                <a:highlight>
                  <a:srgbClr val="FFFF00"/>
                </a:highlight>
              </a:rPr>
              <a:t>correctness </a:t>
            </a:r>
            <a:r>
              <a:rPr b="1" i="1" lang="en" sz="1600">
                <a:solidFill>
                  <a:schemeClr val="dk1"/>
                </a:solidFill>
                <a:highlight>
                  <a:srgbClr val="FFFF00"/>
                </a:highlight>
              </a:rPr>
              <a:t>of the program</a:t>
            </a:r>
            <a:r>
              <a:rPr b="1" lang="en" sz="1600">
                <a:solidFill>
                  <a:schemeClr val="dk1"/>
                </a:solidFill>
              </a:rPr>
              <a:t>"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Any instance of a subclass should be able to replace an instance of its superclass without breaking the behavior expected by the client code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Subclasses must </a:t>
            </a:r>
            <a:r>
              <a:rPr lang="en" sz="1600">
                <a:solidFill>
                  <a:schemeClr val="dk1"/>
                </a:solidFill>
                <a:highlight>
                  <a:srgbClr val="FFFF00"/>
                </a:highlight>
              </a:rPr>
              <a:t>fully honor the contract (interface and behavior)</a:t>
            </a:r>
            <a:r>
              <a:rPr lang="en" sz="1600">
                <a:solidFill>
                  <a:schemeClr val="dk1"/>
                </a:solidFill>
              </a:rPr>
              <a:t> defined by the parent class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7" name="Google Shape;167;p30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LSP in Action</a:t>
            </a: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91" y="1003863"/>
            <a:ext cx="5260026" cy="26332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p30"/>
          <p:cNvSpPr txBox="1"/>
          <p:nvPr/>
        </p:nvSpPr>
        <p:spPr>
          <a:xfrm>
            <a:off x="6018225" y="771475"/>
            <a:ext cx="30000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client code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animal_sound</a:t>
            </a:r>
            <a:r>
              <a:rPr lang="en">
                <a:solidFill>
                  <a:schemeClr val="dk1"/>
                </a:solidFill>
              </a:rPr>
              <a:t>) interacts with objects through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>
                <a:solidFill>
                  <a:schemeClr val="dk1"/>
                </a:solidFill>
              </a:rPr>
              <a:t> type.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Doesn’t need to know whether it’s working with a </a:t>
            </a:r>
            <a:r>
              <a:rPr lang="en">
                <a:solidFill>
                  <a:srgbClr val="188038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Dog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lang="en">
                <a:solidFill>
                  <a:srgbClr val="188038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, or any other subclass of </a:t>
            </a:r>
            <a:r>
              <a:rPr lang="en">
                <a:solidFill>
                  <a:srgbClr val="188038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As long as each subclass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>
                <a:solidFill>
                  <a:schemeClr val="dk1"/>
                </a:solidFill>
              </a:rPr>
              <a:t> properly implements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speak</a:t>
            </a:r>
            <a:r>
              <a:rPr lang="en">
                <a:solidFill>
                  <a:schemeClr val="dk1"/>
                </a:solidFill>
              </a:rPr>
              <a:t> method, the client code will work correctly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496" y="3242552"/>
            <a:ext cx="5067300" cy="112395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2" name="Google Shape;182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LSP in Action: Substitution w/o Breaking Behavior</a:t>
            </a:r>
            <a:endParaRPr/>
          </a:p>
        </p:txBody>
      </p:sp>
      <p:sp>
        <p:nvSpPr>
          <p:cNvPr id="186" name="Google Shape;186;p31"/>
          <p:cNvSpPr txBox="1"/>
          <p:nvPr/>
        </p:nvSpPr>
        <p:spPr>
          <a:xfrm>
            <a:off x="5965525" y="923875"/>
            <a:ext cx="30000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Dog</a:t>
            </a:r>
            <a:r>
              <a:rPr lang="en" sz="1300">
                <a:solidFill>
                  <a:schemeClr val="dk1"/>
                </a:solidFill>
              </a:rPr>
              <a:t> or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 sz="1300">
                <a:solidFill>
                  <a:schemeClr val="dk1"/>
                </a:solidFill>
              </a:rPr>
              <a:t> object can replace an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 sz="1300">
                <a:solidFill>
                  <a:schemeClr val="dk1"/>
                </a:solidFill>
              </a:rPr>
              <a:t> object in the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animal_sound</a:t>
            </a:r>
            <a:r>
              <a:rPr lang="en" sz="1300">
                <a:solidFill>
                  <a:schemeClr val="dk1"/>
                </a:solidFill>
              </a:rPr>
              <a:t> function </a:t>
            </a:r>
            <a:r>
              <a:rPr i="1" lang="en" sz="1300">
                <a:solidFill>
                  <a:schemeClr val="dk1"/>
                </a:solidFill>
                <a:highlight>
                  <a:srgbClr val="FFFF00"/>
                </a:highlight>
              </a:rPr>
              <a:t>without requiring changes to the function's logic or causing errors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975" y="1744975"/>
            <a:ext cx="4911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6066175" y="2521000"/>
            <a:ext cx="3000000" cy="20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Consistency of the Interface (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speak</a:t>
            </a:r>
            <a:r>
              <a:rPr b="1" lang="en" sz="1300">
                <a:solidFill>
                  <a:schemeClr val="dk1"/>
                </a:solidFill>
              </a:rPr>
              <a:t>):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 sz="1300">
                <a:solidFill>
                  <a:schemeClr val="dk1"/>
                </a:solidFill>
              </a:rPr>
              <a:t> class defines the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speak</a:t>
            </a:r>
            <a:r>
              <a:rPr lang="en" sz="1300">
                <a:solidFill>
                  <a:schemeClr val="dk1"/>
                </a:solidFill>
              </a:rPr>
              <a:t> method as a contract.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Every subclass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Dog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 sz="1300">
                <a:solidFill>
                  <a:schemeClr val="dk1"/>
                </a:solidFill>
              </a:rPr>
              <a:t>) must implement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speak</a:t>
            </a:r>
            <a:r>
              <a:rPr lang="en" sz="1300">
                <a:solidFill>
                  <a:schemeClr val="dk1"/>
                </a:solidFill>
              </a:rPr>
              <a:t> with behavior that aligns with the expectations of the client code.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LSP in Action: Extensibility w/o Violation</a:t>
            </a:r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00" y="1123525"/>
            <a:ext cx="4632426" cy="248420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/>
        </p:nvSpPr>
        <p:spPr>
          <a:xfrm>
            <a:off x="5331400" y="1773225"/>
            <a:ext cx="361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Adding a new animal (e.g.,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Bird</a:t>
            </a:r>
            <a:r>
              <a:rPr lang="en" sz="1600">
                <a:solidFill>
                  <a:schemeClr val="dk1"/>
                </a:solidFill>
              </a:rPr>
              <a:t>) still adheres to the LSP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violates LSP?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" name="Google Shape;2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LSP: Violation of Expectation</a:t>
            </a:r>
            <a:endParaRPr/>
          </a:p>
        </p:txBody>
      </p:sp>
      <p:pic>
        <p:nvPicPr>
          <p:cNvPr id="218" name="Google Shape;21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450" y="1498875"/>
            <a:ext cx="7739301" cy="19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LSP: Unexpected Modifications</a:t>
            </a:r>
            <a:endParaRPr/>
          </a:p>
        </p:txBody>
      </p:sp>
      <p:pic>
        <p:nvPicPr>
          <p:cNvPr id="230" name="Google Shape;23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850" y="1469525"/>
            <a:ext cx="7863500" cy="14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7" name="Google Shape;237;p36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8" name="Google Shape;238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LSP: Unexpected Exceptions</a:t>
            </a:r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675" y="1323150"/>
            <a:ext cx="6653100" cy="14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0" name="Google Shape;250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2" name="Google Shape;2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7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LSP</a:t>
            </a:r>
            <a:endParaRPr/>
          </a:p>
        </p:txBody>
      </p:sp>
      <p:sp>
        <p:nvSpPr>
          <p:cNvPr id="254" name="Google Shape;254;p37"/>
          <p:cNvSpPr txBox="1"/>
          <p:nvPr/>
        </p:nvSpPr>
        <p:spPr>
          <a:xfrm>
            <a:off x="212175" y="903600"/>
            <a:ext cx="87039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Ensures Polymorphism Works Correctly: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The client code (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animal_sound</a:t>
            </a:r>
            <a:r>
              <a:rPr lang="en" sz="1500">
                <a:solidFill>
                  <a:schemeClr val="dk1"/>
                </a:solidFill>
              </a:rPr>
              <a:t>) can interact with any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 sz="1500">
                <a:solidFill>
                  <a:schemeClr val="dk1"/>
                </a:solidFill>
              </a:rPr>
              <a:t> object without needing to know the exact subclass.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Simplifies the design and allows the system to be extended with new animals seamlessly.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Prevents Fragile Code: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If a subclass violates LSP, client code might break unexpectedly when interacting with that subclass, leading to fragile and hard-to-maintain code.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Supports Open-Closed Principle: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LSP is closely tied to the </a:t>
            </a:r>
            <a:r>
              <a:rPr b="1" lang="en" sz="1500">
                <a:solidFill>
                  <a:schemeClr val="dk1"/>
                </a:solidFill>
              </a:rPr>
              <a:t>Open-Closed Principle (OCP)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By ensuring that subclasses respect the contract of the base class, you can add new functionality (new subclasses) without modifying existing client code.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a code obey OCP but violate LSP?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67" name="Google Shape;267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9" name="Google Shape;2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9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LSP w/o breaking OCP</a:t>
            </a:r>
            <a:endParaRPr/>
          </a:p>
        </p:txBody>
      </p:sp>
      <p:pic>
        <p:nvPicPr>
          <p:cNvPr id="271" name="Google Shape;271;p39"/>
          <p:cNvPicPr preferRelativeResize="0"/>
          <p:nvPr/>
        </p:nvPicPr>
        <p:blipFill rotWithShape="1">
          <a:blip r:embed="rId4">
            <a:alphaModFix/>
          </a:blip>
          <a:srcRect b="49637" l="0" r="0" t="0"/>
          <a:stretch/>
        </p:blipFill>
        <p:spPr>
          <a:xfrm>
            <a:off x="428475" y="972550"/>
            <a:ext cx="5926826" cy="23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9"/>
          <p:cNvPicPr preferRelativeResize="0"/>
          <p:nvPr/>
        </p:nvPicPr>
        <p:blipFill rotWithShape="1">
          <a:blip r:embed="rId4">
            <a:alphaModFix/>
          </a:blip>
          <a:srcRect b="0" l="0" r="0" t="50946"/>
          <a:stretch/>
        </p:blipFill>
        <p:spPr>
          <a:xfrm>
            <a:off x="2572275" y="2247650"/>
            <a:ext cx="5579825" cy="21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9" name="Google Shape;279;p40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0" name="Google Shape;280;p4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0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LSP w/o breaking OCP</a:t>
            </a:r>
            <a:endParaRPr/>
          </a:p>
        </p:txBody>
      </p:sp>
      <p:pic>
        <p:nvPicPr>
          <p:cNvPr id="284" name="Google Shape;284;p40"/>
          <p:cNvPicPr preferRelativeResize="0"/>
          <p:nvPr/>
        </p:nvPicPr>
        <p:blipFill rotWithShape="1">
          <a:blip r:embed="rId4">
            <a:alphaModFix/>
          </a:blip>
          <a:srcRect b="44824" l="0" r="0" t="0"/>
          <a:stretch/>
        </p:blipFill>
        <p:spPr>
          <a:xfrm>
            <a:off x="235500" y="970000"/>
            <a:ext cx="6096075" cy="26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0"/>
          <p:cNvPicPr preferRelativeResize="0"/>
          <p:nvPr/>
        </p:nvPicPr>
        <p:blipFill rotWithShape="1">
          <a:blip r:embed="rId4">
            <a:alphaModFix/>
          </a:blip>
          <a:srcRect b="0" l="0" r="0" t="57171"/>
          <a:stretch/>
        </p:blipFill>
        <p:spPr>
          <a:xfrm>
            <a:off x="3831650" y="2571750"/>
            <a:ext cx="5137350" cy="17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2" name="Google Shape;292;p41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Principles of LSP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3" name="Google Shape;293;p4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" name="Google Shape;29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1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LSP w/o breaking OCP </a:t>
            </a:r>
            <a:r>
              <a:rPr lang="en"/>
              <a:t>(no Factory Pattern)</a:t>
            </a:r>
            <a:endParaRPr/>
          </a:p>
        </p:txBody>
      </p:sp>
      <p:pic>
        <p:nvPicPr>
          <p:cNvPr id="297" name="Google Shape;29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25" y="1334900"/>
            <a:ext cx="706755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4" name="Google Shape;304;p42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5" name="Google Shape;305;p4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7" name="Google Shape;3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2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Update with OCP</a:t>
            </a:r>
            <a:endParaRPr/>
          </a:p>
        </p:txBody>
      </p:sp>
      <p:pic>
        <p:nvPicPr>
          <p:cNvPr id="309" name="Google Shape;30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700" y="989100"/>
            <a:ext cx="3832900" cy="225174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0" name="Google Shape;31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4127" y="616900"/>
            <a:ext cx="4469774" cy="299615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1" name="Google Shape;311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8044" y="2504150"/>
            <a:ext cx="5321025" cy="17593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