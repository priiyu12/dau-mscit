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16CA71-F36E-4268-8FB8-2502DF1C5A6C}">
  <a:tblStyle styleId="{C916CA71-F36E-4268-8FB8-2502DF1C5A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4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f2aeeef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f2aeeef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f2aeeef1d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f2aeeef1d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f2aeeef1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f2aeeef1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f2aeeef1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2f2aeeef1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f2aeeef1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f2aeeef1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f2aeeef1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2f2aeeef1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f2aeeef1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2f2aeeef1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f2aeeef1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f2aeeef1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f2aeeef1d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f2aeeef1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f2aeeef1d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2f2aeeef1d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2f2aeeef1d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2f2aeeef1d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10fda4b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310fda4b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404043ea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404043ea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404043ea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3404043ea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404043ea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404043ea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3404043e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3404043e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3404043ea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3404043ea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3404043ea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3404043ea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3404043ea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3404043ea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3404043ea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3404043ea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6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40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6.gif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14.gif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4.png"/><Relationship Id="rId5" Type="http://schemas.openxmlformats.org/officeDocument/2006/relationships/image" Target="../media/image29.png"/><Relationship Id="rId6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4.png"/><Relationship Id="rId5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Creational Design Patterns: Singleton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250" y="955900"/>
            <a:ext cx="4339750" cy="172603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Just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one</a:t>
            </a:r>
            <a:r>
              <a:rPr i="1" lang="en"/>
              <a:t> object!</a:t>
            </a:r>
            <a:endParaRPr i="1"/>
          </a:p>
        </p:txBody>
      </p:sp>
      <p:sp>
        <p:nvSpPr>
          <p:cNvPr id="116" name="Google Shape;116;p26"/>
          <p:cNvSpPr/>
          <p:nvPr/>
        </p:nvSpPr>
        <p:spPr>
          <a:xfrm>
            <a:off x="413350" y="1378625"/>
            <a:ext cx="4110300" cy="124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26"/>
          <p:cNvCxnSpPr/>
          <p:nvPr/>
        </p:nvCxnSpPr>
        <p:spPr>
          <a:xfrm>
            <a:off x="718679" y="1730950"/>
            <a:ext cx="1585200" cy="1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8" name="Google Shape;11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175" y="1488510"/>
            <a:ext cx="4253976" cy="287179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" name="Google Shape;119;p26"/>
          <p:cNvSpPr/>
          <p:nvPr/>
        </p:nvSpPr>
        <p:spPr>
          <a:xfrm>
            <a:off x="4817050" y="1531300"/>
            <a:ext cx="2888700" cy="5727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26"/>
          <p:cNvGrpSpPr/>
          <p:nvPr/>
        </p:nvGrpSpPr>
        <p:grpSpPr>
          <a:xfrm>
            <a:off x="6284925" y="2835025"/>
            <a:ext cx="2768968" cy="397439"/>
            <a:chOff x="6284925" y="2835025"/>
            <a:chExt cx="2768968" cy="397439"/>
          </a:xfrm>
        </p:grpSpPr>
        <p:cxnSp>
          <p:nvCxnSpPr>
            <p:cNvPr id="121" name="Google Shape;121;p26"/>
            <p:cNvCxnSpPr/>
            <p:nvPr/>
          </p:nvCxnSpPr>
          <p:spPr>
            <a:xfrm>
              <a:off x="6284925" y="2835025"/>
              <a:ext cx="1644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26"/>
            <p:cNvCxnSpPr/>
            <p:nvPr/>
          </p:nvCxnSpPr>
          <p:spPr>
            <a:xfrm>
              <a:off x="6402375" y="2846550"/>
              <a:ext cx="458100" cy="211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3" name="Google Shape;123;p26"/>
            <p:cNvSpPr txBox="1"/>
            <p:nvPr/>
          </p:nvSpPr>
          <p:spPr>
            <a:xfrm>
              <a:off x="6848594" y="2893764"/>
              <a:ext cx="220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Get method of dictionary </a:t>
              </a:r>
              <a:r>
                <a:rPr lang="en" sz="1000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animals</a:t>
              </a:r>
              <a:endPara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250" y="955900"/>
            <a:ext cx="4673550" cy="185881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2" name="Google Shape;132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Just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one</a:t>
            </a:r>
            <a:r>
              <a:rPr i="1" lang="en"/>
              <a:t> object!</a:t>
            </a:r>
            <a:endParaRPr i="1"/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4575" y="2055524"/>
            <a:ext cx="4673550" cy="2373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27"/>
          <p:cNvSpPr/>
          <p:nvPr/>
        </p:nvSpPr>
        <p:spPr>
          <a:xfrm>
            <a:off x="4431550" y="2775850"/>
            <a:ext cx="1841700" cy="281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823" y="3284675"/>
            <a:ext cx="3988725" cy="79009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lang="en"/>
              <a:t>In C++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 rotWithShape="1">
          <a:blip r:embed="rId4">
            <a:alphaModFix/>
          </a:blip>
          <a:srcRect b="5311" l="0" r="0" t="0"/>
          <a:stretch/>
        </p:blipFill>
        <p:spPr>
          <a:xfrm>
            <a:off x="185667" y="682300"/>
            <a:ext cx="4551875" cy="348085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8650" y="1141587"/>
            <a:ext cx="4132499" cy="286236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p28"/>
          <p:cNvSpPr/>
          <p:nvPr/>
        </p:nvSpPr>
        <p:spPr>
          <a:xfrm>
            <a:off x="391925" y="2200425"/>
            <a:ext cx="3180300" cy="393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8"/>
          <p:cNvGrpSpPr/>
          <p:nvPr/>
        </p:nvGrpSpPr>
        <p:grpSpPr>
          <a:xfrm>
            <a:off x="391925" y="3210575"/>
            <a:ext cx="4610150" cy="1202788"/>
            <a:chOff x="391925" y="3210575"/>
            <a:chExt cx="4610150" cy="1202788"/>
          </a:xfrm>
        </p:grpSpPr>
        <p:sp>
          <p:nvSpPr>
            <p:cNvPr id="154" name="Google Shape;154;p28"/>
            <p:cNvSpPr/>
            <p:nvPr/>
          </p:nvSpPr>
          <p:spPr>
            <a:xfrm>
              <a:off x="391925" y="3210575"/>
              <a:ext cx="2370000" cy="7128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8"/>
            <p:cNvSpPr txBox="1"/>
            <p:nvPr/>
          </p:nvSpPr>
          <p:spPr>
            <a:xfrm>
              <a:off x="1232575" y="4028463"/>
              <a:ext cx="3769500" cy="3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Check if instance already exists</a:t>
              </a:r>
              <a:endParaRPr sz="1300">
                <a:solidFill>
                  <a:schemeClr val="dk1"/>
                </a:solidFill>
              </a:endParaRPr>
            </a:p>
          </p:txBody>
        </p:sp>
      </p:grpSp>
      <p:cxnSp>
        <p:nvCxnSpPr>
          <p:cNvPr id="156" name="Google Shape;156;p28"/>
          <p:cNvCxnSpPr/>
          <p:nvPr/>
        </p:nvCxnSpPr>
        <p:spPr>
          <a:xfrm rot="10800000">
            <a:off x="7255650" y="2302775"/>
            <a:ext cx="10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7" name="Google Shape;157;p28"/>
          <p:cNvGrpSpPr/>
          <p:nvPr/>
        </p:nvGrpSpPr>
        <p:grpSpPr>
          <a:xfrm>
            <a:off x="7255650" y="2348475"/>
            <a:ext cx="1575900" cy="869775"/>
            <a:chOff x="7255650" y="2348475"/>
            <a:chExt cx="1575900" cy="869775"/>
          </a:xfrm>
        </p:grpSpPr>
        <p:cxnSp>
          <p:nvCxnSpPr>
            <p:cNvPr id="158" name="Google Shape;158;p28"/>
            <p:cNvCxnSpPr/>
            <p:nvPr/>
          </p:nvCxnSpPr>
          <p:spPr>
            <a:xfrm>
              <a:off x="7347200" y="2348475"/>
              <a:ext cx="198000" cy="23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9" name="Google Shape;159;p28"/>
            <p:cNvSpPr txBox="1"/>
            <p:nvPr/>
          </p:nvSpPr>
          <p:spPr>
            <a:xfrm>
              <a:off x="7255650" y="2571750"/>
              <a:ext cx="1575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Don’t want unnecessary copies! </a:t>
              </a:r>
              <a:r>
                <a:rPr lang="en" sz="1000">
                  <a:solidFill>
                    <a:schemeClr val="dk2"/>
                  </a:solidFill>
                  <a:highlight>
                    <a:srgbClr val="FFFF00"/>
                  </a:highlight>
                </a:rPr>
                <a:t>Read-only</a:t>
              </a:r>
              <a:r>
                <a:rPr lang="en" sz="1000">
                  <a:solidFill>
                    <a:schemeClr val="dk2"/>
                  </a:solidFill>
                </a:rPr>
                <a:t> is needed here</a:t>
              </a:r>
              <a:endParaRPr sz="1000">
                <a:solidFill>
                  <a:schemeClr val="dk2"/>
                </a:solidFill>
              </a:endParaRPr>
            </a:p>
          </p:txBody>
        </p:sp>
      </p:grpSp>
      <p:cxnSp>
        <p:nvCxnSpPr>
          <p:cNvPr id="160" name="Google Shape;160;p28"/>
          <p:cNvCxnSpPr/>
          <p:nvPr/>
        </p:nvCxnSpPr>
        <p:spPr>
          <a:xfrm rot="10800000">
            <a:off x="5900925" y="2793950"/>
            <a:ext cx="567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8"/>
          <p:cNvSpPr/>
          <p:nvPr/>
        </p:nvSpPr>
        <p:spPr>
          <a:xfrm>
            <a:off x="5537200" y="2311400"/>
            <a:ext cx="1471200" cy="20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5374500" y="1648250"/>
            <a:ext cx="3457800" cy="663150"/>
            <a:chOff x="5374500" y="1648250"/>
            <a:chExt cx="3457800" cy="663150"/>
          </a:xfrm>
        </p:grpSpPr>
        <p:sp>
          <p:nvSpPr>
            <p:cNvPr id="163" name="Google Shape;163;p28"/>
            <p:cNvSpPr txBox="1"/>
            <p:nvPr/>
          </p:nvSpPr>
          <p:spPr>
            <a:xfrm>
              <a:off x="5374500" y="1648250"/>
              <a:ext cx="3457800" cy="3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Returns an </a:t>
              </a:r>
              <a:r>
                <a:rPr i="1" lang="en" sz="1300">
                  <a:solidFill>
                    <a:schemeClr val="dk1"/>
                  </a:solidFill>
                </a:rPr>
                <a:t>iterator</a:t>
              </a:r>
              <a:r>
                <a:rPr lang="en" sz="1300">
                  <a:solidFill>
                    <a:schemeClr val="dk1"/>
                  </a:solidFill>
                </a:rPr>
                <a:t> to the key-value pair</a:t>
              </a:r>
              <a:endParaRPr sz="1300">
                <a:solidFill>
                  <a:schemeClr val="dk1"/>
                </a:solidFill>
              </a:endParaRPr>
            </a:p>
          </p:txBody>
        </p:sp>
        <p:cxnSp>
          <p:nvCxnSpPr>
            <p:cNvPr id="164" name="Google Shape;164;p28"/>
            <p:cNvCxnSpPr>
              <a:stCxn id="161" idx="0"/>
              <a:endCxn id="163" idx="2"/>
            </p:cNvCxnSpPr>
            <p:nvPr/>
          </p:nvCxnSpPr>
          <p:spPr>
            <a:xfrm flipH="1" rot="10800000">
              <a:off x="6272800" y="2033300"/>
              <a:ext cx="830700" cy="27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65" name="Google Shape;165;p28"/>
          <p:cNvGrpSpPr/>
          <p:nvPr/>
        </p:nvGrpSpPr>
        <p:grpSpPr>
          <a:xfrm>
            <a:off x="1956350" y="884300"/>
            <a:ext cx="4569372" cy="1316125"/>
            <a:chOff x="1956350" y="884300"/>
            <a:chExt cx="4569372" cy="1316125"/>
          </a:xfrm>
        </p:grpSpPr>
        <p:pic>
          <p:nvPicPr>
            <p:cNvPr id="166" name="Google Shape;166;p28"/>
            <p:cNvPicPr preferRelativeResize="0"/>
            <p:nvPr/>
          </p:nvPicPr>
          <p:blipFill rotWithShape="1">
            <a:blip r:embed="rId6">
              <a:alphaModFix/>
            </a:blip>
            <a:srcRect b="0" l="0" r="0" t="53042"/>
            <a:stretch/>
          </p:blipFill>
          <p:spPr>
            <a:xfrm>
              <a:off x="1956350" y="884300"/>
              <a:ext cx="4569372" cy="2814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67" name="Google Shape;167;p28"/>
            <p:cNvCxnSpPr>
              <a:stCxn id="152" idx="0"/>
              <a:endCxn id="166" idx="2"/>
            </p:cNvCxnSpPr>
            <p:nvPr/>
          </p:nvCxnSpPr>
          <p:spPr>
            <a:xfrm flipH="1" rot="10800000">
              <a:off x="1982075" y="1165725"/>
              <a:ext cx="2259000" cy="1034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In C++</a:t>
            </a:r>
            <a:endParaRPr i="1"/>
          </a:p>
        </p:txBody>
      </p:sp>
      <p:pic>
        <p:nvPicPr>
          <p:cNvPr id="179" name="Google Shape;179;p29"/>
          <p:cNvPicPr preferRelativeResize="0"/>
          <p:nvPr/>
        </p:nvPicPr>
        <p:blipFill rotWithShape="1">
          <a:blip r:embed="rId4">
            <a:alphaModFix/>
          </a:blip>
          <a:srcRect b="5311" l="0" r="0" t="0"/>
          <a:stretch/>
        </p:blipFill>
        <p:spPr>
          <a:xfrm>
            <a:off x="215300" y="831325"/>
            <a:ext cx="4551875" cy="348085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7412" y="1008913"/>
            <a:ext cx="4072026" cy="312567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" name="Google Shape;181;p29"/>
          <p:cNvSpPr/>
          <p:nvPr/>
        </p:nvSpPr>
        <p:spPr>
          <a:xfrm>
            <a:off x="4974508" y="1586600"/>
            <a:ext cx="3993900" cy="51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29"/>
          <p:cNvCxnSpPr/>
          <p:nvPr/>
        </p:nvCxnSpPr>
        <p:spPr>
          <a:xfrm rot="10800000">
            <a:off x="5769692" y="2478567"/>
            <a:ext cx="567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75" y="1026375"/>
            <a:ext cx="7440449" cy="3142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Pattern: Post-mortem</a:t>
            </a:r>
            <a:endParaRPr i="1"/>
          </a:p>
        </p:txBody>
      </p:sp>
      <p:cxnSp>
        <p:nvCxnSpPr>
          <p:cNvPr id="195" name="Google Shape;195;p30"/>
          <p:cNvCxnSpPr/>
          <p:nvPr/>
        </p:nvCxnSpPr>
        <p:spPr>
          <a:xfrm>
            <a:off x="3646304" y="2718457"/>
            <a:ext cx="3977400" cy="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6" name="Google Shape;196;p30"/>
          <p:cNvGrpSpPr/>
          <p:nvPr/>
        </p:nvGrpSpPr>
        <p:grpSpPr>
          <a:xfrm>
            <a:off x="4030250" y="1619500"/>
            <a:ext cx="3875357" cy="763325"/>
            <a:chOff x="4030250" y="1695700"/>
            <a:chExt cx="3875357" cy="763325"/>
          </a:xfrm>
        </p:grpSpPr>
        <p:cxnSp>
          <p:nvCxnSpPr>
            <p:cNvPr id="197" name="Google Shape;197;p30"/>
            <p:cNvCxnSpPr/>
            <p:nvPr/>
          </p:nvCxnSpPr>
          <p:spPr>
            <a:xfrm flipH="1" rot="10800000">
              <a:off x="4030250" y="1930725"/>
              <a:ext cx="657600" cy="52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" name="Google Shape;198;p30"/>
            <p:cNvSpPr txBox="1"/>
            <p:nvPr/>
          </p:nvSpPr>
          <p:spPr>
            <a:xfrm>
              <a:off x="4676107" y="1695700"/>
              <a:ext cx="3229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Calls </a:t>
              </a:r>
              <a:r>
                <a:rPr lang="en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object.__new__(cls)</a:t>
              </a:r>
              <a:endParaRPr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199" name="Google Shape;199;p30"/>
          <p:cNvSpPr txBox="1"/>
          <p:nvPr/>
        </p:nvSpPr>
        <p:spPr>
          <a:xfrm>
            <a:off x="1428516" y="2383875"/>
            <a:ext cx="4755900" cy="507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Why not </a:t>
            </a:r>
            <a:r>
              <a:rPr lang="en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object.__new__(cls)</a:t>
            </a:r>
            <a:r>
              <a:rPr lang="en" sz="2100">
                <a:solidFill>
                  <a:schemeClr val="dk2"/>
                </a:solidFill>
              </a:rPr>
              <a:t>?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6273025" y="660046"/>
            <a:ext cx="2688300" cy="394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✅ </a:t>
            </a:r>
            <a:r>
              <a:rPr b="1" lang="en" sz="1000">
                <a:solidFill>
                  <a:srgbClr val="FF0000"/>
                </a:solidFill>
                <a:highlight>
                  <a:srgbClr val="FFFF00"/>
                </a:highlight>
              </a:rPr>
              <a:t>Future-proofing</a:t>
            </a:r>
            <a:r>
              <a:rPr b="1" lang="en" sz="1000">
                <a:solidFill>
                  <a:schemeClr val="dk1"/>
                </a:solidFill>
              </a:rPr>
              <a:t> for inheritance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If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AnimalRegistry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i="1" lang="en" sz="1000">
                <a:solidFill>
                  <a:schemeClr val="dk1"/>
                </a:solidFill>
                <a:highlight>
                  <a:srgbClr val="FFFF00"/>
                </a:highlight>
              </a:rPr>
              <a:t>ever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b="1" lang="en" sz="1000">
                <a:solidFill>
                  <a:schemeClr val="dk1"/>
                </a:solidFill>
              </a:rPr>
              <a:t>inherits from another class</a:t>
            </a:r>
            <a:r>
              <a:rPr lang="en" sz="1000">
                <a:solidFill>
                  <a:schemeClr val="dk1"/>
                </a:solidFill>
              </a:rPr>
              <a:t>, using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000">
                <a:solidFill>
                  <a:schemeClr val="dk1"/>
                </a:solidFill>
              </a:rPr>
              <a:t> ensures we call the </a:t>
            </a:r>
            <a:r>
              <a:rPr i="1" lang="en" sz="1000">
                <a:solidFill>
                  <a:schemeClr val="dk1"/>
                </a:solidFill>
                <a:highlight>
                  <a:srgbClr val="FFFF00"/>
                </a:highlight>
              </a:rPr>
              <a:t>correct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__new__</a:t>
            </a:r>
            <a:r>
              <a:rPr lang="en" sz="1000">
                <a:solidFill>
                  <a:schemeClr val="dk1"/>
                </a:solidFill>
              </a:rPr>
              <a:t> method from the </a:t>
            </a:r>
            <a:r>
              <a:rPr i="1" lang="en" sz="1000" u="sng">
                <a:solidFill>
                  <a:srgbClr val="FF0000"/>
                </a:solidFill>
                <a:highlight>
                  <a:srgbClr val="FFFF00"/>
                </a:highlight>
              </a:rPr>
              <a:t>proper</a:t>
            </a:r>
            <a:r>
              <a:rPr lang="en" sz="1000">
                <a:solidFill>
                  <a:schemeClr val="dk1"/>
                </a:solidFill>
              </a:rPr>
              <a:t> superclass.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✅ </a:t>
            </a:r>
            <a:r>
              <a:rPr b="1" lang="en" sz="1000">
                <a:solidFill>
                  <a:schemeClr val="dk1"/>
                </a:solidFill>
              </a:rPr>
              <a:t>Maintains consistency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Using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000">
                <a:solidFill>
                  <a:schemeClr val="dk1"/>
                </a:solidFill>
              </a:rPr>
              <a:t> makes it clear that we’re using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__new__</a:t>
            </a:r>
            <a:r>
              <a:rPr lang="en" sz="1000">
                <a:solidFill>
                  <a:schemeClr val="dk1"/>
                </a:solidFill>
              </a:rPr>
              <a:t> in the </a:t>
            </a:r>
            <a:r>
              <a:rPr b="1" lang="en" sz="1000">
                <a:solidFill>
                  <a:schemeClr val="dk1"/>
                </a:solidFill>
                <a:highlight>
                  <a:srgbClr val="FFFF00"/>
                </a:highlight>
              </a:rPr>
              <a:t>context of inheritance</a:t>
            </a:r>
            <a:r>
              <a:rPr lang="en" sz="1000">
                <a:solidFill>
                  <a:schemeClr val="dk1"/>
                </a:solidFill>
              </a:rPr>
              <a:t>, even if </a:t>
            </a: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AnimalRegistry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i="1" lang="en" sz="1000" u="sng">
                <a:solidFill>
                  <a:schemeClr val="dk1"/>
                </a:solidFill>
                <a:highlight>
                  <a:srgbClr val="FFFF00"/>
                </a:highlight>
              </a:rPr>
              <a:t>currently</a:t>
            </a:r>
            <a:r>
              <a:rPr i="1" lang="en" sz="1000" u="sng">
                <a:solidFill>
                  <a:schemeClr val="dk1"/>
                </a:solidFill>
              </a:rPr>
              <a:t> doesn’t inherit from anything</a:t>
            </a:r>
            <a:r>
              <a:rPr lang="en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✅ </a:t>
            </a:r>
            <a:r>
              <a:rPr b="1" lang="en" sz="1000">
                <a:solidFill>
                  <a:schemeClr val="dk1"/>
                </a:solidFill>
              </a:rPr>
              <a:t>Best Practice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000">
                <a:solidFill>
                  <a:schemeClr val="dk1"/>
                </a:solidFill>
              </a:rPr>
              <a:t> ensures Python’s method resolution order (MRO) is followed, making the Singleton more maintainable.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726" y="839500"/>
            <a:ext cx="7880033" cy="3534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6" name="Google Shape;206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9" name="Google Shape;209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Pattern: w/o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endParaRPr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3" name="Google Shape;213;p31"/>
          <p:cNvCxnSpPr/>
          <p:nvPr/>
        </p:nvCxnSpPr>
        <p:spPr>
          <a:xfrm>
            <a:off x="1485554" y="2458969"/>
            <a:ext cx="3026100" cy="1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4" name="Google Shape;214;p31"/>
          <p:cNvGrpSpPr/>
          <p:nvPr/>
        </p:nvGrpSpPr>
        <p:grpSpPr>
          <a:xfrm>
            <a:off x="3948050" y="3346025"/>
            <a:ext cx="1844801" cy="698325"/>
            <a:chOff x="3948050" y="3346025"/>
            <a:chExt cx="1844801" cy="698325"/>
          </a:xfrm>
        </p:grpSpPr>
        <p:cxnSp>
          <p:nvCxnSpPr>
            <p:cNvPr id="215" name="Google Shape;215;p31"/>
            <p:cNvCxnSpPr/>
            <p:nvPr/>
          </p:nvCxnSpPr>
          <p:spPr>
            <a:xfrm flipH="1" rot="10800000">
              <a:off x="3948050" y="3586250"/>
              <a:ext cx="986400" cy="45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6" name="Google Shape;216;p31"/>
            <p:cNvSpPr txBox="1"/>
            <p:nvPr/>
          </p:nvSpPr>
          <p:spPr>
            <a:xfrm>
              <a:off x="4888651" y="3346025"/>
              <a:ext cx="904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88038"/>
                  </a:solidFill>
                </a:rPr>
                <a:t>Works!!</a:t>
              </a:r>
              <a:endParaRPr sz="1500">
                <a:solidFill>
                  <a:srgbClr val="188038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2"/>
          <p:cNvPicPr preferRelativeResize="0"/>
          <p:nvPr/>
        </p:nvPicPr>
        <p:blipFill rotWithShape="1">
          <a:blip r:embed="rId3">
            <a:alphaModFix/>
          </a:blip>
          <a:srcRect b="0" l="0" r="2818" t="0"/>
          <a:stretch/>
        </p:blipFill>
        <p:spPr>
          <a:xfrm>
            <a:off x="580900" y="822496"/>
            <a:ext cx="4186275" cy="36190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Pattern: w/o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endParaRPr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9" name="Google Shape;229;p32"/>
          <p:cNvCxnSpPr/>
          <p:nvPr/>
        </p:nvCxnSpPr>
        <p:spPr>
          <a:xfrm>
            <a:off x="1335004" y="3118907"/>
            <a:ext cx="1932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0" name="Google Shape;230;p32"/>
          <p:cNvGrpSpPr/>
          <p:nvPr/>
        </p:nvGrpSpPr>
        <p:grpSpPr>
          <a:xfrm>
            <a:off x="2574150" y="3598713"/>
            <a:ext cx="1844801" cy="698325"/>
            <a:chOff x="3948050" y="3346025"/>
            <a:chExt cx="1844801" cy="698325"/>
          </a:xfrm>
        </p:grpSpPr>
        <p:cxnSp>
          <p:nvCxnSpPr>
            <p:cNvPr id="231" name="Google Shape;231;p32"/>
            <p:cNvCxnSpPr/>
            <p:nvPr/>
          </p:nvCxnSpPr>
          <p:spPr>
            <a:xfrm flipH="1" rot="10800000">
              <a:off x="3948050" y="3586250"/>
              <a:ext cx="986400" cy="45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" name="Google Shape;232;p32"/>
            <p:cNvSpPr txBox="1"/>
            <p:nvPr/>
          </p:nvSpPr>
          <p:spPr>
            <a:xfrm>
              <a:off x="4888651" y="3346025"/>
              <a:ext cx="904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88038"/>
                  </a:solidFill>
                </a:rPr>
                <a:t>Works!!</a:t>
              </a:r>
              <a:endParaRPr sz="1500">
                <a:solidFill>
                  <a:srgbClr val="188038"/>
                </a:solidFill>
              </a:endParaRPr>
            </a:p>
          </p:txBody>
        </p:sp>
      </p:grpSp>
      <p:cxnSp>
        <p:nvCxnSpPr>
          <p:cNvPr id="233" name="Google Shape;233;p32"/>
          <p:cNvCxnSpPr/>
          <p:nvPr/>
        </p:nvCxnSpPr>
        <p:spPr>
          <a:xfrm flipH="1" rot="10800000">
            <a:off x="1792954" y="2306354"/>
            <a:ext cx="781200" cy="6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4" name="Google Shape;23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3475" y="3377625"/>
            <a:ext cx="2336025" cy="80512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32"/>
          <p:cNvSpPr txBox="1"/>
          <p:nvPr/>
        </p:nvSpPr>
        <p:spPr>
          <a:xfrm>
            <a:off x="5225700" y="753725"/>
            <a:ext cx="3517800" cy="2385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✅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r1 is r2</a:t>
            </a:r>
            <a:r>
              <a:rPr b="1" lang="en" sz="1300">
                <a:solidFill>
                  <a:schemeClr val="dk1"/>
                </a:solidFill>
              </a:rPr>
              <a:t> prints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300">
                <a:solidFill>
                  <a:schemeClr val="dk1"/>
                </a:solidFill>
              </a:rPr>
              <a:t>, confirming that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AnimalRegistry</a:t>
            </a:r>
            <a:r>
              <a:rPr lang="en" sz="1300">
                <a:solidFill>
                  <a:schemeClr val="dk1"/>
                </a:solidFill>
              </a:rPr>
              <a:t> is a </a:t>
            </a:r>
            <a:r>
              <a:rPr b="1" lang="en" sz="1300">
                <a:solidFill>
                  <a:schemeClr val="dk1"/>
                </a:solidFill>
              </a:rPr>
              <a:t>Singleton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❌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BaseRegistry.__new__()</a:t>
            </a:r>
            <a:r>
              <a:rPr b="1" lang="en" sz="1300">
                <a:solidFill>
                  <a:schemeClr val="dk1"/>
                </a:solidFill>
              </a:rPr>
              <a:t> is not called at all</a:t>
            </a:r>
            <a:r>
              <a:rPr lang="en" sz="1300">
                <a:solidFill>
                  <a:schemeClr val="dk1"/>
                </a:solidFill>
              </a:rPr>
              <a:t> because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object.__new__(cls)</a:t>
            </a:r>
            <a:r>
              <a:rPr lang="en" sz="1300">
                <a:solidFill>
                  <a:schemeClr val="dk1"/>
                </a:solidFill>
              </a:rPr>
              <a:t> is used, </a:t>
            </a:r>
            <a:r>
              <a:rPr b="1" i="1" lang="en" sz="1300">
                <a:solidFill>
                  <a:srgbClr val="FF0000"/>
                </a:solidFill>
                <a:highlight>
                  <a:srgbClr val="FFFF00"/>
                </a:highlight>
              </a:rPr>
              <a:t>bypassing inheritance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❌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BaseRegistry.__init__()</a:t>
            </a:r>
            <a:r>
              <a:rPr b="1" lang="en" sz="1300">
                <a:solidFill>
                  <a:schemeClr val="dk1"/>
                </a:solidFill>
              </a:rPr>
              <a:t> is called twice</a:t>
            </a:r>
            <a:r>
              <a:rPr lang="en" sz="1300">
                <a:solidFill>
                  <a:schemeClr val="dk1"/>
                </a:solidFill>
              </a:rPr>
              <a:t> because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" sz="1300">
                <a:solidFill>
                  <a:schemeClr val="dk1"/>
                </a:solidFill>
              </a:rPr>
              <a:t> runs every time an instance is returned.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236" name="Google Shape;236;p32"/>
          <p:cNvCxnSpPr/>
          <p:nvPr/>
        </p:nvCxnSpPr>
        <p:spPr>
          <a:xfrm>
            <a:off x="1111604" y="1326247"/>
            <a:ext cx="1932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75" y="1026375"/>
            <a:ext cx="7440449" cy="3142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7" name="Google Shape;24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Pattern: Handling Multiple Inheritance</a:t>
            </a:r>
            <a:endParaRPr i="1"/>
          </a:p>
        </p:txBody>
      </p:sp>
      <p:cxnSp>
        <p:nvCxnSpPr>
          <p:cNvPr id="249" name="Google Shape;249;p33"/>
          <p:cNvCxnSpPr/>
          <p:nvPr/>
        </p:nvCxnSpPr>
        <p:spPr>
          <a:xfrm>
            <a:off x="3646304" y="2718457"/>
            <a:ext cx="3977400" cy="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3"/>
          <p:cNvSpPr txBox="1"/>
          <p:nvPr/>
        </p:nvSpPr>
        <p:spPr>
          <a:xfrm>
            <a:off x="1428516" y="2383875"/>
            <a:ext cx="4755900" cy="507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Why not </a:t>
            </a:r>
            <a:r>
              <a:rPr lang="en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r>
              <a:rPr lang="en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.__new__(cls)</a:t>
            </a:r>
            <a:r>
              <a:rPr lang="en" sz="2100">
                <a:solidFill>
                  <a:schemeClr val="dk2"/>
                </a:solidFill>
              </a:rPr>
              <a:t>?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50" y="740841"/>
            <a:ext cx="3054675" cy="37792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Handling Multiple Inheritance using </a:t>
            </a:r>
            <a:r>
              <a:rPr lang="en" sz="2120">
                <a:latin typeface="Courier New"/>
                <a:ea typeface="Courier New"/>
                <a:cs typeface="Courier New"/>
                <a:sym typeface="Courier New"/>
              </a:rPr>
              <a:t>super(AnimalRegistry,cls)</a:t>
            </a:r>
            <a:endParaRPr i="1" sz="212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3" name="Google Shape;263;p34"/>
          <p:cNvCxnSpPr/>
          <p:nvPr/>
        </p:nvCxnSpPr>
        <p:spPr>
          <a:xfrm>
            <a:off x="1632978" y="3376088"/>
            <a:ext cx="736200" cy="1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4"/>
          <p:cNvCxnSpPr/>
          <p:nvPr/>
        </p:nvCxnSpPr>
        <p:spPr>
          <a:xfrm>
            <a:off x="882193" y="3904797"/>
            <a:ext cx="39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4"/>
          <p:cNvSpPr txBox="1"/>
          <p:nvPr/>
        </p:nvSpPr>
        <p:spPr>
          <a:xfrm>
            <a:off x="6066175" y="1917250"/>
            <a:ext cx="286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 Python 3+ instead!!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super() just works!</a:t>
            </a:r>
            <a:endParaRPr sz="18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6" name="Google Shape;26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3950" y="834178"/>
            <a:ext cx="3435004" cy="7210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6159" y="837202"/>
            <a:ext cx="1866200" cy="7998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8" name="Google Shape;268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2438" y="1460288"/>
            <a:ext cx="3054675" cy="72106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69" name="Google Shape;269;p34"/>
          <p:cNvGrpSpPr/>
          <p:nvPr/>
        </p:nvGrpSpPr>
        <p:grpSpPr>
          <a:xfrm>
            <a:off x="3673925" y="1778925"/>
            <a:ext cx="3215400" cy="2125866"/>
            <a:chOff x="3673925" y="1778925"/>
            <a:chExt cx="3215400" cy="2125866"/>
          </a:xfrm>
        </p:grpSpPr>
        <p:sp>
          <p:nvSpPr>
            <p:cNvPr id="270" name="Google Shape;270;p34"/>
            <p:cNvSpPr txBox="1"/>
            <p:nvPr/>
          </p:nvSpPr>
          <p:spPr>
            <a:xfrm>
              <a:off x="3673925" y="3119691"/>
              <a:ext cx="32154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/>
                <a:t>Method Resolution Order (MRO): </a:t>
              </a:r>
              <a:br>
                <a:rPr lang="en" sz="1300"/>
              </a:br>
              <a:br>
                <a:rPr lang="en" sz="1300"/>
              </a:br>
              <a:r>
                <a:rPr i="1" lang="en" sz="1300">
                  <a:highlight>
                    <a:srgbClr val="FFFF00"/>
                  </a:highlight>
                </a:rPr>
                <a:t>C3 Linearization: Left-right in same level</a:t>
              </a:r>
              <a:endParaRPr i="1" sz="1300">
                <a:highlight>
                  <a:srgbClr val="FFFF00"/>
                </a:highlight>
              </a:endParaRPr>
            </a:p>
          </p:txBody>
        </p:sp>
        <p:pic>
          <p:nvPicPr>
            <p:cNvPr id="271" name="Google Shape;271;p3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23700" y="1778925"/>
              <a:ext cx="1227800" cy="1322775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272" name="Google Shape;272;p34"/>
          <p:cNvGrpSpPr/>
          <p:nvPr/>
        </p:nvGrpSpPr>
        <p:grpSpPr>
          <a:xfrm>
            <a:off x="5739775" y="2849438"/>
            <a:ext cx="2821200" cy="920312"/>
            <a:chOff x="5739775" y="2849438"/>
            <a:chExt cx="2821200" cy="920312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5739775" y="2849438"/>
              <a:ext cx="1402500" cy="44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4" name="Google Shape;274;p34"/>
            <p:cNvSpPr txBox="1"/>
            <p:nvPr/>
          </p:nvSpPr>
          <p:spPr>
            <a:xfrm>
              <a:off x="7142275" y="3154150"/>
              <a:ext cx="1418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>
                  <a:solidFill>
                    <a:srgbClr val="FF0000"/>
                  </a:solidFill>
                </a:rPr>
                <a:t>(the dreaded) Diamond</a:t>
              </a:r>
              <a:endParaRPr i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900" y="695275"/>
            <a:ext cx="3580825" cy="2249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0" name="Google Shape;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75" y="695275"/>
            <a:ext cx="3215400" cy="375867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1" name="Google Shape;281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6" name="Google Shape;28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5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Handling Multiple Inheritance: Is C++ Any better?</a:t>
            </a:r>
            <a:endParaRPr i="1" sz="212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88" name="Google Shape;288;p35"/>
          <p:cNvCxnSpPr/>
          <p:nvPr/>
        </p:nvCxnSpPr>
        <p:spPr>
          <a:xfrm>
            <a:off x="4818193" y="921797"/>
            <a:ext cx="1384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9" name="Google Shape;28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8423" y="3166698"/>
            <a:ext cx="3517800" cy="71164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90" name="Google Shape;290;p35"/>
          <p:cNvGrpSpPr/>
          <p:nvPr/>
        </p:nvGrpSpPr>
        <p:grpSpPr>
          <a:xfrm>
            <a:off x="7320750" y="699700"/>
            <a:ext cx="1618200" cy="978663"/>
            <a:chOff x="7320750" y="699700"/>
            <a:chExt cx="1618200" cy="978663"/>
          </a:xfrm>
        </p:grpSpPr>
        <p:sp>
          <p:nvSpPr>
            <p:cNvPr id="291" name="Google Shape;291;p35"/>
            <p:cNvSpPr txBox="1"/>
            <p:nvPr/>
          </p:nvSpPr>
          <p:spPr>
            <a:xfrm>
              <a:off x="7320750" y="699700"/>
              <a:ext cx="161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No super()</a:t>
              </a:r>
              <a:r>
                <a:rPr lang="en" sz="1800">
                  <a:solidFill>
                    <a:srgbClr val="FF0000"/>
                  </a:solidFill>
                </a:rPr>
                <a:t> !!</a:t>
              </a:r>
              <a:endParaRPr sz="1800">
                <a:solidFill>
                  <a:srgbClr val="FF0000"/>
                </a:solidFill>
              </a:endParaRPr>
            </a:p>
          </p:txBody>
        </p:sp>
        <p:pic>
          <p:nvPicPr>
            <p:cNvPr descr="a cartoon panda bear is crying with tears coming out of its eyes . (Provided by Tenor)" id="292" name="Google Shape;292;p3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86875" y="1161390"/>
              <a:ext cx="548700" cy="5169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35"/>
          <p:cNvGrpSpPr/>
          <p:nvPr/>
        </p:nvGrpSpPr>
        <p:grpSpPr>
          <a:xfrm>
            <a:off x="7150632" y="1761679"/>
            <a:ext cx="2077500" cy="2740184"/>
            <a:chOff x="7150632" y="1761679"/>
            <a:chExt cx="2077500" cy="2740184"/>
          </a:xfrm>
        </p:grpSpPr>
        <p:grpSp>
          <p:nvGrpSpPr>
            <p:cNvPr id="294" name="Google Shape;294;p35"/>
            <p:cNvGrpSpPr/>
            <p:nvPr/>
          </p:nvGrpSpPr>
          <p:grpSpPr>
            <a:xfrm>
              <a:off x="7150632" y="1761679"/>
              <a:ext cx="2077500" cy="2288859"/>
              <a:chOff x="3508675" y="1796913"/>
              <a:chExt cx="2077500" cy="2288859"/>
            </a:xfrm>
          </p:grpSpPr>
          <p:sp>
            <p:nvSpPr>
              <p:cNvPr id="295" name="Google Shape;295;p35"/>
              <p:cNvSpPr txBox="1"/>
              <p:nvPr/>
            </p:nvSpPr>
            <p:spPr>
              <a:xfrm>
                <a:off x="3508675" y="3131471"/>
                <a:ext cx="2077500" cy="95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Method Resolution Order (MRO): </a:t>
                </a:r>
                <a:br>
                  <a:rPr lang="en" sz="1000"/>
                </a:br>
                <a:br>
                  <a:rPr lang="en" sz="1000"/>
                </a:br>
                <a:r>
                  <a:rPr i="1" lang="en" sz="1000">
                    <a:highlight>
                      <a:srgbClr val="FFFF00"/>
                    </a:highlight>
                  </a:rPr>
                  <a:t>C3 Linearization: Left-right in same level</a:t>
                </a:r>
                <a:endParaRPr i="1" sz="1000">
                  <a:highlight>
                    <a:srgbClr val="FFFF00"/>
                  </a:highlight>
                </a:endParaRPr>
              </a:p>
            </p:txBody>
          </p:sp>
          <p:pic>
            <p:nvPicPr>
              <p:cNvPr id="296" name="Google Shape;296;p3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874600" y="1796913"/>
                <a:ext cx="1227800" cy="13227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 red cross on a white background that looks like a starfish (Provided by Tenor)" id="297" name="Google Shape;297;p3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986334" y="4050521"/>
              <a:ext cx="406075" cy="45134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8" name="Google Shape;298;p35"/>
          <p:cNvCxnSpPr/>
          <p:nvPr/>
        </p:nvCxnSpPr>
        <p:spPr>
          <a:xfrm>
            <a:off x="4767168" y="1589760"/>
            <a:ext cx="1823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35"/>
          <p:cNvSpPr txBox="1"/>
          <p:nvPr/>
        </p:nvSpPr>
        <p:spPr>
          <a:xfrm>
            <a:off x="3596275" y="3969918"/>
            <a:ext cx="34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188038"/>
                </a:solidFill>
              </a:rPr>
              <a:t>Compiles and runs though!!</a:t>
            </a:r>
            <a:endParaRPr i="1" sz="1800" u="sng">
              <a:solidFill>
                <a:srgbClr val="18803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900" y="695275"/>
            <a:ext cx="3580825" cy="2249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5" name="Google Shape;30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75" y="695275"/>
            <a:ext cx="3215400" cy="375867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6" name="Google Shape;306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8" name="Google Shape;308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1" name="Google Shape;31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Handling Multiple Inheritance: The Dreaded Diamond</a:t>
            </a:r>
            <a:endParaRPr i="1" sz="212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13" name="Google Shape;313;p36"/>
          <p:cNvCxnSpPr/>
          <p:nvPr/>
        </p:nvCxnSpPr>
        <p:spPr>
          <a:xfrm>
            <a:off x="4818193" y="921797"/>
            <a:ext cx="1384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4" name="Google Shape;314;p36"/>
          <p:cNvGrpSpPr/>
          <p:nvPr/>
        </p:nvGrpSpPr>
        <p:grpSpPr>
          <a:xfrm>
            <a:off x="140675" y="636550"/>
            <a:ext cx="2961876" cy="1206000"/>
            <a:chOff x="140675" y="636550"/>
            <a:chExt cx="2961876" cy="1206000"/>
          </a:xfrm>
        </p:grpSpPr>
        <p:pic>
          <p:nvPicPr>
            <p:cNvPr id="315" name="Google Shape;315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0675" y="636550"/>
              <a:ext cx="2961876" cy="12060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316" name="Google Shape;316;p36"/>
            <p:cNvCxnSpPr/>
            <p:nvPr/>
          </p:nvCxnSpPr>
          <p:spPr>
            <a:xfrm>
              <a:off x="425993" y="1172447"/>
              <a:ext cx="15492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17" name="Google Shape;31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88638" y="1762199"/>
            <a:ext cx="3437975" cy="39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8" name="Google Shape;318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14150" y="3105963"/>
            <a:ext cx="3386975" cy="106511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19" name="Google Shape;319;p36"/>
          <p:cNvCxnSpPr/>
          <p:nvPr/>
        </p:nvCxnSpPr>
        <p:spPr>
          <a:xfrm>
            <a:off x="6178818" y="3771710"/>
            <a:ext cx="1902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900" y="695275"/>
            <a:ext cx="3580825" cy="22493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5" name="Google Shape;32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75" y="695275"/>
            <a:ext cx="3215400" cy="375867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6" name="Google Shape;326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8" name="Google Shape;328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9" name="Google Shape;329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1" name="Google Shape;33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7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Handling Multiple Inheritance: Solving the Dreaded Diamond</a:t>
            </a:r>
            <a:endParaRPr i="1" sz="212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33" name="Google Shape;333;p37"/>
          <p:cNvCxnSpPr/>
          <p:nvPr/>
        </p:nvCxnSpPr>
        <p:spPr>
          <a:xfrm>
            <a:off x="4818193" y="921797"/>
            <a:ext cx="1384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4" name="Google Shape;334;p37"/>
          <p:cNvGrpSpPr/>
          <p:nvPr/>
        </p:nvGrpSpPr>
        <p:grpSpPr>
          <a:xfrm>
            <a:off x="4680100" y="2453900"/>
            <a:ext cx="4341051" cy="705525"/>
            <a:chOff x="3237125" y="3139438"/>
            <a:chExt cx="4341051" cy="705525"/>
          </a:xfrm>
        </p:grpSpPr>
        <p:pic>
          <p:nvPicPr>
            <p:cNvPr id="335" name="Google Shape;335;p37"/>
            <p:cNvPicPr preferRelativeResize="0"/>
            <p:nvPr/>
          </p:nvPicPr>
          <p:blipFill rotWithShape="1">
            <a:blip r:embed="rId6">
              <a:alphaModFix/>
            </a:blip>
            <a:srcRect b="0" l="0" r="4525" t="0"/>
            <a:stretch/>
          </p:blipFill>
          <p:spPr>
            <a:xfrm>
              <a:off x="3237125" y="3139438"/>
              <a:ext cx="4341051" cy="705525"/>
            </a:xfrm>
            <a:prstGeom prst="rect">
              <a:avLst/>
            </a:prstGeom>
            <a:noFill/>
            <a:ln cap="flat" cmpd="sng" w="28575">
              <a:solidFill>
                <a:srgbClr val="188038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336" name="Google Shape;336;p37"/>
            <p:cNvCxnSpPr/>
            <p:nvPr/>
          </p:nvCxnSpPr>
          <p:spPr>
            <a:xfrm>
              <a:off x="4136843" y="3456910"/>
              <a:ext cx="5157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" name="Google Shape;337;p37"/>
            <p:cNvCxnSpPr/>
            <p:nvPr/>
          </p:nvCxnSpPr>
          <p:spPr>
            <a:xfrm>
              <a:off x="4183555" y="3691512"/>
              <a:ext cx="5157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38" name="Google Shape;33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88650" y="3295700"/>
            <a:ext cx="3656350" cy="104468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46" name="Google Shape;346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8" name="Google Shape;3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Be careful with Singletons!</a:t>
            </a:r>
            <a:endParaRPr i="1" sz="322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56" name="Google Shape;356;p3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57" name="Google Shape;357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9" name="Google Shape;35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9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0000FF"/>
                </a:solidFill>
              </a:rPr>
              <a:t>global instances</a:t>
            </a:r>
            <a:r>
              <a:rPr i="1" lang="en"/>
              <a:t>!</a:t>
            </a:r>
            <a:endParaRPr i="1"/>
          </a:p>
        </p:txBody>
      </p:sp>
      <p:pic>
        <p:nvPicPr>
          <p:cNvPr id="361" name="Google Shape;36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800" y="786000"/>
            <a:ext cx="5601499" cy="36417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62" name="Google Shape;362;p39"/>
          <p:cNvCxnSpPr/>
          <p:nvPr/>
        </p:nvCxnSpPr>
        <p:spPr>
          <a:xfrm>
            <a:off x="2585850" y="2329975"/>
            <a:ext cx="2113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9"/>
          <p:cNvCxnSpPr/>
          <p:nvPr/>
        </p:nvCxnSpPr>
        <p:spPr>
          <a:xfrm>
            <a:off x="3031825" y="4336663"/>
            <a:ext cx="3006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9"/>
          <p:cNvCxnSpPr/>
          <p:nvPr/>
        </p:nvCxnSpPr>
        <p:spPr>
          <a:xfrm flipH="1" rot="10800000">
            <a:off x="1493475" y="3586375"/>
            <a:ext cx="1233300" cy="15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71" name="Google Shape;371;p4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72" name="Google Shape;372;p4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4" name="Google Shape;37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0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 u="sng">
                <a:solidFill>
                  <a:srgbClr val="0000FF"/>
                </a:solidFill>
              </a:rPr>
              <a:t>silent</a:t>
            </a:r>
            <a:r>
              <a:rPr i="1" lang="en">
                <a:solidFill>
                  <a:srgbClr val="0000FF"/>
                </a:solidFill>
              </a:rPr>
              <a:t> dependencies</a:t>
            </a:r>
            <a:r>
              <a:rPr i="1" lang="en"/>
              <a:t>!</a:t>
            </a:r>
            <a:endParaRPr i="1"/>
          </a:p>
        </p:txBody>
      </p:sp>
      <p:pic>
        <p:nvPicPr>
          <p:cNvPr id="376" name="Google Shape;37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25" y="1076275"/>
            <a:ext cx="4956820" cy="30263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7" name="Google Shape;37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851" y="1339500"/>
            <a:ext cx="4573475" cy="200025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8" name="Google Shape;378;p40"/>
          <p:cNvSpPr/>
          <p:nvPr/>
        </p:nvSpPr>
        <p:spPr>
          <a:xfrm>
            <a:off x="4640900" y="1683975"/>
            <a:ext cx="2970900" cy="516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"/>
          <p:cNvSpPr txBox="1"/>
          <p:nvPr/>
        </p:nvSpPr>
        <p:spPr>
          <a:xfrm>
            <a:off x="5415923" y="3445425"/>
            <a:ext cx="32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Dependency Injection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(testing/alternatives easy!!)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380" name="Google Shape;380;p40"/>
          <p:cNvGrpSpPr/>
          <p:nvPr/>
        </p:nvGrpSpPr>
        <p:grpSpPr>
          <a:xfrm>
            <a:off x="6836850" y="938400"/>
            <a:ext cx="2182025" cy="769050"/>
            <a:chOff x="6836850" y="938400"/>
            <a:chExt cx="2182025" cy="769050"/>
          </a:xfrm>
        </p:grpSpPr>
        <p:cxnSp>
          <p:nvCxnSpPr>
            <p:cNvPr id="381" name="Google Shape;381;p40"/>
            <p:cNvCxnSpPr/>
            <p:nvPr/>
          </p:nvCxnSpPr>
          <p:spPr>
            <a:xfrm flipH="1" rot="10800000">
              <a:off x="6836850" y="1132050"/>
              <a:ext cx="481500" cy="57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82" name="Google Shape;382;p40"/>
            <p:cNvSpPr txBox="1"/>
            <p:nvPr/>
          </p:nvSpPr>
          <p:spPr>
            <a:xfrm>
              <a:off x="7283375" y="938400"/>
              <a:ext cx="1735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Logger</a:t>
              </a:r>
              <a:r>
                <a:rPr lang="en" sz="1300">
                  <a:solidFill>
                    <a:schemeClr val="dk2"/>
                  </a:solidFill>
                </a:rPr>
                <a:t> swappable</a:t>
              </a:r>
              <a:endParaRPr sz="13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90" name="Google Shape;390;p4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2" name="Google Shape;3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1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Singleton Design Pattern: </a:t>
            </a:r>
            <a:r>
              <a:rPr i="1" lang="en" sz="2020"/>
              <a:t>Breaking </a:t>
            </a:r>
            <a:r>
              <a:rPr i="1" lang="en" sz="2020">
                <a:highlight>
                  <a:srgbClr val="FFFF00"/>
                </a:highlight>
              </a:rPr>
              <a:t>Single Responsibility Principle (</a:t>
            </a:r>
            <a:r>
              <a:rPr lang="en" sz="2020" u="sng">
                <a:highlight>
                  <a:srgbClr val="FFFF00"/>
                </a:highlight>
              </a:rPr>
              <a:t>SRP</a:t>
            </a:r>
            <a:r>
              <a:rPr i="1" lang="en" sz="2020">
                <a:highlight>
                  <a:srgbClr val="FFFF00"/>
                </a:highlight>
              </a:rPr>
              <a:t>)</a:t>
            </a:r>
            <a:endParaRPr i="1" sz="2020">
              <a:highlight>
                <a:srgbClr val="FFFF00"/>
              </a:highlight>
            </a:endParaRPr>
          </a:p>
        </p:txBody>
      </p:sp>
      <p:pic>
        <p:nvPicPr>
          <p:cNvPr id="394" name="Google Shape;39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575" y="1414550"/>
            <a:ext cx="7200900" cy="297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5" name="Google Shape;39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8875" y="836163"/>
            <a:ext cx="4029075" cy="301942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00" y="920675"/>
            <a:ext cx="4960226" cy="19728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1" name="Google Shape;401;p4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03" name="Google Shape;403;p4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04" name="Google Shape;404;p4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6" name="Google Shape;40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2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multi</a:t>
            </a:r>
            <a:r>
              <a:rPr i="1" lang="en">
                <a:highlight>
                  <a:srgbClr val="FFFF00"/>
                </a:highlight>
              </a:rPr>
              <a:t>-threading!</a:t>
            </a:r>
            <a:endParaRPr i="1">
              <a:highlight>
                <a:srgbClr val="FFFF00"/>
              </a:highlight>
            </a:endParaRPr>
          </a:p>
        </p:txBody>
      </p:sp>
      <p:pic>
        <p:nvPicPr>
          <p:cNvPr id="408" name="Google Shape;40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1650" y="1840200"/>
            <a:ext cx="5750651" cy="2570176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409" name="Google Shape;409;p42"/>
          <p:cNvGrpSpPr/>
          <p:nvPr/>
        </p:nvGrpSpPr>
        <p:grpSpPr>
          <a:xfrm>
            <a:off x="3983275" y="1937100"/>
            <a:ext cx="5111900" cy="979900"/>
            <a:chOff x="3983275" y="1937100"/>
            <a:chExt cx="5111900" cy="979900"/>
          </a:xfrm>
        </p:grpSpPr>
        <p:cxnSp>
          <p:nvCxnSpPr>
            <p:cNvPr id="410" name="Google Shape;410;p42"/>
            <p:cNvCxnSpPr/>
            <p:nvPr/>
          </p:nvCxnSpPr>
          <p:spPr>
            <a:xfrm flipH="1" rot="10800000">
              <a:off x="3983275" y="2905300"/>
              <a:ext cx="986400" cy="11700"/>
            </a:xfrm>
            <a:prstGeom prst="straightConnector1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1" name="Google Shape;411;p42"/>
            <p:cNvGrpSpPr/>
            <p:nvPr/>
          </p:nvGrpSpPr>
          <p:grpSpPr>
            <a:xfrm>
              <a:off x="4711350" y="1937100"/>
              <a:ext cx="4383825" cy="709800"/>
              <a:chOff x="4711350" y="1937100"/>
              <a:chExt cx="4383825" cy="709800"/>
            </a:xfrm>
          </p:grpSpPr>
          <p:cxnSp>
            <p:nvCxnSpPr>
              <p:cNvPr id="412" name="Google Shape;412;p42"/>
              <p:cNvCxnSpPr/>
              <p:nvPr/>
            </p:nvCxnSpPr>
            <p:spPr>
              <a:xfrm flipH="1" rot="10800000">
                <a:off x="4711350" y="2341500"/>
                <a:ext cx="681000" cy="30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13" name="Google Shape;413;p42"/>
              <p:cNvSpPr txBox="1"/>
              <p:nvPr/>
            </p:nvSpPr>
            <p:spPr>
              <a:xfrm>
                <a:off x="5433675" y="1937100"/>
                <a:ext cx="36615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dk2"/>
                    </a:solidFill>
                  </a:rPr>
                  <a:t>Prevent multiple threads from accessing </a:t>
                </a:r>
                <a:r>
                  <a:rPr i="1" lang="en" sz="1300" u="sng">
                    <a:solidFill>
                      <a:schemeClr val="dk2"/>
                    </a:solidFill>
                  </a:rPr>
                  <a:t>in parallel</a:t>
                </a:r>
                <a:endParaRPr i="1" sz="1300" u="sng">
                  <a:solidFill>
                    <a:schemeClr val="dk2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2475"/>
            <a:ext cx="6602251" cy="31101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9" name="Google Shape;419;p4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21" name="Google Shape;421;p4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22" name="Google Shape;422;p4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4" name="Google Shape;42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3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concurrent</a:t>
            </a:r>
            <a:r>
              <a:rPr i="1" lang="en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i="1" lang="en">
                <a:highlight>
                  <a:srgbClr val="FFFF00"/>
                </a:highlight>
              </a:rPr>
              <a:t>threads</a:t>
            </a:r>
            <a:r>
              <a:rPr i="1" lang="en"/>
              <a:t>!</a:t>
            </a:r>
            <a:endParaRPr i="1"/>
          </a:p>
        </p:txBody>
      </p:sp>
      <p:cxnSp>
        <p:nvCxnSpPr>
          <p:cNvPr id="426" name="Google Shape;426;p43"/>
          <p:cNvCxnSpPr/>
          <p:nvPr/>
        </p:nvCxnSpPr>
        <p:spPr>
          <a:xfrm flipH="1" rot="10800000">
            <a:off x="547803" y="2348614"/>
            <a:ext cx="1968900" cy="18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43"/>
          <p:cNvCxnSpPr/>
          <p:nvPr/>
        </p:nvCxnSpPr>
        <p:spPr>
          <a:xfrm>
            <a:off x="1242220" y="3218517"/>
            <a:ext cx="3220500" cy="1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8" name="Google Shape;42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6700" y="895900"/>
            <a:ext cx="6063836" cy="23349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9" name="Google Shape;429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6849" y="2348624"/>
            <a:ext cx="4995450" cy="196217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44"/>
          <p:cNvPicPr preferRelativeResize="0"/>
          <p:nvPr/>
        </p:nvPicPr>
        <p:blipFill rotWithShape="1">
          <a:blip r:embed="rId3">
            <a:alphaModFix/>
          </a:blip>
          <a:srcRect b="0" l="0" r="28036" t="5365"/>
          <a:stretch/>
        </p:blipFill>
        <p:spPr>
          <a:xfrm>
            <a:off x="312425" y="824926"/>
            <a:ext cx="3768951" cy="351655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5" name="Google Shape;435;p4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37" name="Google Shape;437;p4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38" name="Google Shape;438;p4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0" name="Google Shape;44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4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concurrent</a:t>
            </a:r>
            <a:r>
              <a:rPr i="1" lang="en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i="1" lang="en">
                <a:highlight>
                  <a:srgbClr val="FFFF00"/>
                </a:highlight>
              </a:rPr>
              <a:t>threads</a:t>
            </a:r>
            <a:r>
              <a:rPr i="1" lang="en"/>
              <a:t>!</a:t>
            </a:r>
            <a:endParaRPr i="1"/>
          </a:p>
        </p:txBody>
      </p:sp>
      <p:cxnSp>
        <p:nvCxnSpPr>
          <p:cNvPr id="442" name="Google Shape;442;p44"/>
          <p:cNvCxnSpPr/>
          <p:nvPr/>
        </p:nvCxnSpPr>
        <p:spPr>
          <a:xfrm>
            <a:off x="3250500" y="3468925"/>
            <a:ext cx="645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3" name="Google Shape;44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851" y="894625"/>
            <a:ext cx="4757824" cy="317188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50" name="Google Shape;450;p4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51" name="Google Shape;451;p4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3" name="Google Shape;45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5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concurrent</a:t>
            </a:r>
            <a:r>
              <a:rPr i="1" lang="en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i="1" lang="en">
                <a:highlight>
                  <a:srgbClr val="FFFF00"/>
                </a:highlight>
              </a:rPr>
              <a:t>threads</a:t>
            </a:r>
            <a:r>
              <a:rPr i="1" lang="en"/>
              <a:t>!</a:t>
            </a:r>
            <a:endParaRPr i="1"/>
          </a:p>
        </p:txBody>
      </p:sp>
      <p:cxnSp>
        <p:nvCxnSpPr>
          <p:cNvPr id="455" name="Google Shape;455;p45"/>
          <p:cNvCxnSpPr/>
          <p:nvPr/>
        </p:nvCxnSpPr>
        <p:spPr>
          <a:xfrm>
            <a:off x="5798775" y="4259988"/>
            <a:ext cx="645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6" name="Google Shape;45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150" y="1138313"/>
            <a:ext cx="6602251" cy="31101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7" name="Google Shape;45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8148" y="920050"/>
            <a:ext cx="4754275" cy="26456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58" name="Google Shape;458;p45"/>
          <p:cNvCxnSpPr/>
          <p:nvPr/>
        </p:nvCxnSpPr>
        <p:spPr>
          <a:xfrm>
            <a:off x="953550" y="2834800"/>
            <a:ext cx="1867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45"/>
          <p:cNvSpPr txBox="1"/>
          <p:nvPr/>
        </p:nvSpPr>
        <p:spPr>
          <a:xfrm>
            <a:off x="3607750" y="3686568"/>
            <a:ext cx="5411100" cy="461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If GIL then still ok, else Python can be tricky!</a:t>
            </a:r>
            <a:endParaRPr b="1" sz="1800">
              <a:solidFill>
                <a:schemeClr val="dk2"/>
              </a:solidFill>
            </a:endParaRPr>
          </a:p>
        </p:txBody>
      </p:sp>
      <p:grpSp>
        <p:nvGrpSpPr>
          <p:cNvPr id="460" name="Google Shape;460;p45"/>
          <p:cNvGrpSpPr/>
          <p:nvPr/>
        </p:nvGrpSpPr>
        <p:grpSpPr>
          <a:xfrm>
            <a:off x="2033925" y="1690239"/>
            <a:ext cx="2585073" cy="991886"/>
            <a:chOff x="2033925" y="1690239"/>
            <a:chExt cx="2585073" cy="991886"/>
          </a:xfrm>
        </p:grpSpPr>
        <p:cxnSp>
          <p:nvCxnSpPr>
            <p:cNvPr id="461" name="Google Shape;461;p45"/>
            <p:cNvCxnSpPr/>
            <p:nvPr/>
          </p:nvCxnSpPr>
          <p:spPr>
            <a:xfrm flipH="1" rot="10800000">
              <a:off x="2033925" y="2130125"/>
              <a:ext cx="540300" cy="55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2" name="Google Shape;462;p45"/>
            <p:cNvSpPr txBox="1"/>
            <p:nvPr/>
          </p:nvSpPr>
          <p:spPr>
            <a:xfrm>
              <a:off x="2533398" y="1690239"/>
              <a:ext cx="20856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188038"/>
                  </a:solidFill>
                </a:rPr>
                <a:t>Double-checking </a:t>
              </a:r>
              <a:endParaRPr i="1" sz="1300">
                <a:solidFill>
                  <a:srgbClr val="188038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188038"/>
                  </a:solidFill>
                </a:rPr>
                <a:t>(performance booster)</a:t>
              </a:r>
              <a:endParaRPr i="1" sz="1300">
                <a:solidFill>
                  <a:srgbClr val="188038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69" name="Google Shape;469;p4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Singleton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70" name="Google Shape;470;p4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2" name="Google Shape;47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Design Pattern : </a:t>
            </a:r>
            <a:r>
              <a:rPr i="1" lang="en"/>
              <a:t>Beware of multi-threading!</a:t>
            </a:r>
            <a:endParaRPr i="1"/>
          </a:p>
        </p:txBody>
      </p:sp>
      <p:graphicFrame>
        <p:nvGraphicFramePr>
          <p:cNvPr id="474" name="Google Shape;474;p46"/>
          <p:cNvGraphicFramePr/>
          <p:nvPr/>
        </p:nvGraphicFramePr>
        <p:xfrm>
          <a:off x="234850" y="110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{C916CA71-F36E-4268-8FB8-2502DF1C5A6C}</a:tableStyleId>
              </a:tblPr>
              <a:tblGrid>
                <a:gridCol w="3040775"/>
                <a:gridCol w="5679825"/>
              </a:tblGrid>
              <a:tr h="360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Problem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Why is it Bad?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1️⃣ Introduces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Global State</a:t>
                      </a:r>
                      <a:endParaRPr b="1" sz="12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Makes debugging harder because any part of the code can change the shared instance.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2️⃣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Hidden</a:t>
                      </a:r>
                      <a:r>
                        <a:rPr b="1" lang="en" sz="1200"/>
                        <a:t> Dependencies (Bad Design)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Code that depends on a Singleton does not explicitly state its dependency, making it harder to understand.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3️⃣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Breaks</a:t>
                      </a:r>
                      <a:r>
                        <a:rPr b="1" lang="en" sz="1200"/>
                        <a:t> the Single Responsibility Principle (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SRP</a:t>
                      </a:r>
                      <a:r>
                        <a:rPr b="1" lang="en" sz="1200"/>
                        <a:t>)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Singleton both </a:t>
                      </a:r>
                      <a:r>
                        <a:rPr b="1" lang="en" sz="1200"/>
                        <a:t>manages its instance</a:t>
                      </a:r>
                      <a:r>
                        <a:rPr lang="en" sz="1200"/>
                        <a:t> and </a:t>
                      </a:r>
                      <a:r>
                        <a:rPr b="1" lang="en" sz="1200"/>
                        <a:t>performs logic</a:t>
                      </a:r>
                      <a:r>
                        <a:rPr lang="en" sz="1200"/>
                        <a:t>, violating SRP.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4️⃣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Hard to Mock</a:t>
                      </a:r>
                      <a:r>
                        <a:rPr b="1" lang="en" sz="1200"/>
                        <a:t> in Unit Tests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Since the Singleton </a:t>
                      </a:r>
                      <a:r>
                        <a:rPr b="1" lang="en" sz="1200"/>
                        <a:t>forces a single instance</a:t>
                      </a:r>
                      <a:r>
                        <a:rPr lang="en" sz="1200"/>
                        <a:t>, replacing it with a mock object in tests is difficult.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5️⃣ Causes </a:t>
                      </a:r>
                      <a:r>
                        <a:rPr b="1" lang="en" sz="1200">
                          <a:highlight>
                            <a:srgbClr val="F4CCCC"/>
                          </a:highlight>
                        </a:rPr>
                        <a:t>Thread-Safety Issues</a:t>
                      </a:r>
                      <a:endParaRPr b="1" sz="12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poorly implemented Singleton can lead to </a:t>
                      </a:r>
                      <a:r>
                        <a:rPr b="1" lang="en" sz="1200"/>
                        <a:t>race conditions in multi-threaded environments</a:t>
                      </a:r>
                      <a:r>
                        <a:rPr lang="en" sz="1200"/>
                        <a:t>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