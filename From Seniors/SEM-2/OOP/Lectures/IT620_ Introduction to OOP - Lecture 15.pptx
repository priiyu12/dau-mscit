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F9EC8B-4212-453F-B7F4-83C8A955822B}">
  <a:tblStyle styleId="{C3F9EC8B-4212-453F-B7F4-83C8A955822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04b85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04b85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1b2f77e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91b2f77e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91b2f77e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91b2f77e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91b2f77e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91b2f77e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91b2f77e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91b2f77e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91b2f77e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91b2f77e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91b2f77e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91b2f77e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91b2f77e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91b2f77e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91b2f77e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91b2f77e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91b2f77e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91b2f77e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5.gif"/><Relationship Id="rId6" Type="http://schemas.openxmlformats.org/officeDocument/2006/relationships/image" Target="../media/image9.gif"/><Relationship Id="rId7" Type="http://schemas.openxmlformats.org/officeDocument/2006/relationships/image" Target="../media/image1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Behavioral Design Patterns: Strategy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IT620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share</a:t>
            </a:r>
            <a:r>
              <a:rPr lang="en" sz="2320"/>
              <a:t> each others’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behaviors</a:t>
            </a:r>
            <a:r>
              <a:rPr lang="en" sz="2320"/>
              <a:t> </a:t>
            </a:r>
            <a:r>
              <a:rPr i="1" lang="en" sz="2320" u="sng"/>
              <a:t>runtime</a:t>
            </a:r>
            <a:r>
              <a:rPr lang="en" sz="2320"/>
              <a:t>?</a:t>
            </a:r>
            <a:endParaRPr sz="2320"/>
          </a:p>
        </p:txBody>
      </p:sp>
      <p:grpSp>
        <p:nvGrpSpPr>
          <p:cNvPr id="115" name="Google Shape;115;p26"/>
          <p:cNvGrpSpPr/>
          <p:nvPr/>
        </p:nvGrpSpPr>
        <p:grpSpPr>
          <a:xfrm>
            <a:off x="200150" y="976374"/>
            <a:ext cx="8076204" cy="3354850"/>
            <a:chOff x="200150" y="976374"/>
            <a:chExt cx="8076204" cy="3354850"/>
          </a:xfrm>
        </p:grpSpPr>
        <p:pic>
          <p:nvPicPr>
            <p:cNvPr id="116" name="Google Shape;116;p26"/>
            <p:cNvPicPr preferRelativeResize="0"/>
            <p:nvPr/>
          </p:nvPicPr>
          <p:blipFill rotWithShape="1">
            <a:blip r:embed="rId4">
              <a:alphaModFix/>
            </a:blip>
            <a:srcRect b="0" l="0" r="0" t="33910"/>
            <a:stretch/>
          </p:blipFill>
          <p:spPr>
            <a:xfrm>
              <a:off x="4572000" y="976374"/>
              <a:ext cx="3704354" cy="3354850"/>
            </a:xfrm>
            <a:prstGeom prst="rect">
              <a:avLst/>
            </a:prstGeom>
            <a:noFill/>
            <a:ln cap="flat" cmpd="sng" w="285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7" name="Google Shape;117;p26"/>
            <p:cNvPicPr preferRelativeResize="0"/>
            <p:nvPr/>
          </p:nvPicPr>
          <p:blipFill rotWithShape="1">
            <a:blip r:embed="rId4">
              <a:alphaModFix/>
            </a:blip>
            <a:srcRect b="65996" l="0" r="0" t="0"/>
            <a:stretch/>
          </p:blipFill>
          <p:spPr>
            <a:xfrm>
              <a:off x="200150" y="1371150"/>
              <a:ext cx="3913175" cy="1823403"/>
            </a:xfrm>
            <a:prstGeom prst="rect">
              <a:avLst/>
            </a:prstGeom>
            <a:noFill/>
            <a:ln cap="flat" cmpd="sng" w="285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18" name="Google Shape;118;p26"/>
          <p:cNvSpPr txBox="1"/>
          <p:nvPr/>
        </p:nvSpPr>
        <p:spPr>
          <a:xfrm>
            <a:off x="134025" y="3394000"/>
            <a:ext cx="410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Movements (walk, fly, swim) is no single animal’s unique behavior</a:t>
            </a:r>
            <a:endParaRPr i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share</a:t>
            </a:r>
            <a:r>
              <a:rPr lang="en" sz="2320"/>
              <a:t> each others’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behaviors</a:t>
            </a:r>
            <a:r>
              <a:rPr lang="en" sz="2320"/>
              <a:t> </a:t>
            </a:r>
            <a:r>
              <a:rPr i="1" lang="en" sz="2320" u="sng"/>
              <a:t>runtime</a:t>
            </a:r>
            <a:r>
              <a:rPr lang="en" sz="2320"/>
              <a:t>?</a:t>
            </a:r>
            <a:endParaRPr sz="2320"/>
          </a:p>
        </p:txBody>
      </p:sp>
      <p:pic>
        <p:nvPicPr>
          <p:cNvPr id="130" name="Google Shape;130;p27"/>
          <p:cNvPicPr preferRelativeResize="0"/>
          <p:nvPr/>
        </p:nvPicPr>
        <p:blipFill rotWithShape="1">
          <a:blip r:embed="rId4">
            <a:alphaModFix/>
          </a:blip>
          <a:srcRect b="0" l="0" r="0" t="33910"/>
          <a:stretch/>
        </p:blipFill>
        <p:spPr>
          <a:xfrm>
            <a:off x="208825" y="964425"/>
            <a:ext cx="3704350" cy="3354845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4800" y="1167300"/>
            <a:ext cx="6103949" cy="32394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27"/>
          <p:cNvSpPr/>
          <p:nvPr/>
        </p:nvSpPr>
        <p:spPr>
          <a:xfrm>
            <a:off x="3036325" y="3608811"/>
            <a:ext cx="5716200" cy="758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7"/>
          <p:cNvGrpSpPr/>
          <p:nvPr/>
        </p:nvGrpSpPr>
        <p:grpSpPr>
          <a:xfrm>
            <a:off x="3522875" y="2391550"/>
            <a:ext cx="4057451" cy="461700"/>
            <a:chOff x="3522875" y="2391550"/>
            <a:chExt cx="4057451" cy="461700"/>
          </a:xfrm>
        </p:grpSpPr>
        <p:cxnSp>
          <p:nvCxnSpPr>
            <p:cNvPr id="134" name="Google Shape;134;p27"/>
            <p:cNvCxnSpPr/>
            <p:nvPr/>
          </p:nvCxnSpPr>
          <p:spPr>
            <a:xfrm>
              <a:off x="3522875" y="2833100"/>
              <a:ext cx="16587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27"/>
            <p:cNvCxnSpPr/>
            <p:nvPr/>
          </p:nvCxnSpPr>
          <p:spPr>
            <a:xfrm flipH="1" rot="10800000">
              <a:off x="5181700" y="2594300"/>
              <a:ext cx="286500" cy="238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" name="Google Shape;136;p27"/>
            <p:cNvSpPr txBox="1"/>
            <p:nvPr/>
          </p:nvSpPr>
          <p:spPr>
            <a:xfrm>
              <a:off x="5480026" y="2391550"/>
              <a:ext cx="2100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Keeping it generic</a:t>
              </a:r>
              <a:endParaRPr i="1" sz="18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share</a:t>
            </a:r>
            <a:r>
              <a:rPr lang="en" sz="2320"/>
              <a:t> each others’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behaviors</a:t>
            </a:r>
            <a:r>
              <a:rPr lang="en" sz="2320"/>
              <a:t> </a:t>
            </a:r>
            <a:r>
              <a:rPr i="1" lang="en" sz="2320" u="sng"/>
              <a:t>runtime</a:t>
            </a:r>
            <a:r>
              <a:rPr lang="en" sz="2320"/>
              <a:t>?</a:t>
            </a:r>
            <a:endParaRPr sz="2320"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125" y="1010750"/>
            <a:ext cx="5904045" cy="33120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cartoon duck wearing a baseball cap and goggles (Provided by Tenor)" id="149" name="Google Shape;14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624" y="951950"/>
            <a:ext cx="1342675" cy="1750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of a fish with human legs and the words cry about it (Provided by Tenor)" id="150" name="Google Shape;150;p28"/>
          <p:cNvPicPr preferRelativeResize="0"/>
          <p:nvPr/>
        </p:nvPicPr>
        <p:blipFill rotWithShape="1">
          <a:blip r:embed="rId6">
            <a:alphaModFix/>
          </a:blip>
          <a:srcRect b="0" l="0" r="0" t="26324"/>
          <a:stretch/>
        </p:blipFill>
        <p:spPr>
          <a:xfrm>
            <a:off x="6515625" y="2865200"/>
            <a:ext cx="1660575" cy="1457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cross on a white background that looks like a starfish (Provided by Tenor)" id="151" name="Google Shape;151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6190" y="3069565"/>
            <a:ext cx="548700" cy="609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Separating Object from Behaviors</a:t>
            </a:r>
            <a:endParaRPr sz="2320"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125" y="941525"/>
            <a:ext cx="5479280" cy="34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1" name="Google Shape;171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20"/>
              <a:t>Wait! We added behavior earlier as well? Decorator! </a:t>
            </a:r>
            <a:endParaRPr sz="23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920"/>
              <a:t>(Remember the dogs barking and eating??)</a:t>
            </a:r>
            <a:endParaRPr sz="2320"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31766"/>
            <a:ext cx="3462374" cy="219363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30"/>
          <p:cNvSpPr/>
          <p:nvPr/>
        </p:nvSpPr>
        <p:spPr>
          <a:xfrm>
            <a:off x="455865" y="2534750"/>
            <a:ext cx="3517800" cy="704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8061" y="1148175"/>
            <a:ext cx="4501388" cy="31461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8" name="Google Shape;178;p30"/>
          <p:cNvPicPr preferRelativeResize="0"/>
          <p:nvPr/>
        </p:nvPicPr>
        <p:blipFill rotWithShape="1">
          <a:blip r:embed="rId6">
            <a:alphaModFix/>
          </a:blip>
          <a:srcRect b="0" l="0" r="0" t="54304"/>
          <a:stretch/>
        </p:blipFill>
        <p:spPr>
          <a:xfrm>
            <a:off x="4349166" y="1791673"/>
            <a:ext cx="4585374" cy="266439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20"/>
              <a:t>Wait! We added behavior earlier as well? Decorator! </a:t>
            </a:r>
            <a:endParaRPr sz="23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920"/>
              <a:t>(Remember the dogs barking and eating??)</a:t>
            </a:r>
            <a:endParaRPr sz="2320"/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575" y="941525"/>
            <a:ext cx="6353950" cy="35882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Then why not the Decorator way?</a:t>
            </a:r>
            <a:endParaRPr sz="1920"/>
          </a:p>
        </p:txBody>
      </p:sp>
      <p:graphicFrame>
        <p:nvGraphicFramePr>
          <p:cNvPr id="202" name="Google Shape;202;p32"/>
          <p:cNvGraphicFramePr/>
          <p:nvPr/>
        </p:nvGraphicFramePr>
        <p:xfrm>
          <a:off x="2286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{C3F9EC8B-4212-453F-B7F4-83C8A955822B}</a:tableStyleId>
              </a:tblPr>
              <a:tblGrid>
                <a:gridCol w="1260475"/>
                <a:gridCol w="3540125"/>
                <a:gridCol w="38793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Aspect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Decorator Pattern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Strategy Pattern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Purpose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Add </a:t>
                      </a: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or </a:t>
                      </a:r>
                      <a:r>
                        <a:rPr b="1" lang="en" sz="1500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augment</a:t>
                      </a:r>
                      <a:r>
                        <a:rPr lang="en" sz="1500"/>
                        <a:t> </a:t>
                      </a:r>
                      <a:r>
                        <a:rPr i="1" lang="en" sz="1500" u="sng">
                          <a:solidFill>
                            <a:srgbClr val="FF0000"/>
                          </a:solidFill>
                        </a:rPr>
                        <a:t>functionalities</a:t>
                      </a:r>
                      <a:r>
                        <a:rPr lang="en" sz="1500"/>
                        <a:t> to objects dynamically without modifying their structure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Family </a:t>
                      </a:r>
                      <a:r>
                        <a:rPr lang="en" sz="1500"/>
                        <a:t>of </a:t>
                      </a:r>
                      <a:r>
                        <a:rPr i="1" lang="en" sz="1500" u="sng">
                          <a:solidFill>
                            <a:srgbClr val="FF0000"/>
                          </a:solidFill>
                        </a:rPr>
                        <a:t>algorithms</a:t>
                      </a:r>
                      <a:r>
                        <a:rPr lang="en" sz="1500"/>
                        <a:t> → </a:t>
                      </a:r>
                      <a:r>
                        <a:rPr b="1" lang="en" sz="1500">
                          <a:solidFill>
                            <a:srgbClr val="FF0000"/>
                          </a:solidFill>
                        </a:rPr>
                        <a:t>encapsulate</a:t>
                      </a:r>
                      <a:r>
                        <a:rPr lang="en" sz="1500"/>
                        <a:t> each →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make them interchangeable</a:t>
                      </a:r>
                      <a:r>
                        <a:rPr lang="en" sz="1500"/>
                        <a:t> </a:t>
                      </a:r>
                      <a:br>
                        <a:rPr lang="en" sz="1500"/>
                      </a:br>
                      <a:br>
                        <a:rPr lang="en" sz="1500"/>
                      </a:br>
                      <a:r>
                        <a:rPr lang="en" sz="1500"/>
                        <a:t>Algorithm can vary independently from clients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Use Case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When you need to attach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additional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responsibilities</a:t>
                      </a:r>
                      <a:r>
                        <a:rPr lang="en" sz="1500"/>
                        <a:t> to an object dynamically and transparently.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When you have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multiple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algorithms for a specific task</a:t>
                      </a:r>
                      <a:r>
                        <a:rPr lang="en" sz="1500"/>
                        <a:t> and want to </a:t>
                      </a:r>
                      <a:r>
                        <a:rPr i="1" lang="en" sz="1500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switch </a:t>
                      </a:r>
                      <a:r>
                        <a:rPr lang="en" sz="1500"/>
                        <a:t>between them at runtime.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Structure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Utilizes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composition</a:t>
                      </a:r>
                      <a:r>
                        <a:rPr lang="en" sz="1500"/>
                        <a:t> to </a:t>
                      </a:r>
                      <a:r>
                        <a:rPr b="1" lang="en" sz="1500">
                          <a:solidFill>
                            <a:srgbClr val="FF0000"/>
                          </a:solidFill>
                        </a:rPr>
                        <a:t>wrap</a:t>
                      </a:r>
                      <a:r>
                        <a:rPr lang="en" sz="1500"/>
                        <a:t> objects with new behavior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Utilizes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composition</a:t>
                      </a:r>
                      <a:r>
                        <a:rPr lang="en" sz="1500"/>
                        <a:t> to </a:t>
                      </a:r>
                      <a:r>
                        <a:rPr b="1" lang="en" sz="1500">
                          <a:solidFill>
                            <a:srgbClr val="FF0000"/>
                          </a:solidFill>
                        </a:rPr>
                        <a:t>delegate</a:t>
                      </a:r>
                      <a:r>
                        <a:rPr lang="en" sz="1500"/>
                        <a:t> specific behaviors to different strategy classes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Then why not the Decorator way?</a:t>
            </a:r>
            <a:endParaRPr sz="2320"/>
          </a:p>
        </p:txBody>
      </p:sp>
      <p:graphicFrame>
        <p:nvGraphicFramePr>
          <p:cNvPr id="214" name="Google Shape;214;p33"/>
          <p:cNvGraphicFramePr/>
          <p:nvPr/>
        </p:nvGraphicFramePr>
        <p:xfrm>
          <a:off x="159725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{C3F9EC8B-4212-453F-B7F4-83C8A955822B}</a:tableStyleId>
              </a:tblPr>
              <a:tblGrid>
                <a:gridCol w="1570775"/>
                <a:gridCol w="3146300"/>
                <a:gridCol w="4059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Decorator Pattern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Strategy Pattern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Flexibility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</a:t>
                      </a:r>
                      <a:r>
                        <a:rPr b="1" lang="en">
                          <a:solidFill>
                            <a:srgbClr val="FF0000"/>
                          </a:solidFill>
                        </a:rPr>
                        <a:t>combining </a:t>
                      </a:r>
                      <a:r>
                        <a:rPr lang="en"/>
                        <a:t>multiple behaviors by stacking decorators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</a:t>
                      </a:r>
                      <a:r>
                        <a:rPr b="1" lang="en">
                          <a:solidFill>
                            <a:srgbClr val="FF0000"/>
                          </a:solidFill>
                        </a:rPr>
                        <a:t>changing </a:t>
                      </a:r>
                      <a:r>
                        <a:rPr lang="en"/>
                        <a:t>the behavior of a class by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switching strategies</a:t>
                      </a:r>
                      <a:r>
                        <a:rPr lang="en"/>
                        <a:t> (</a:t>
                      </a:r>
                      <a:r>
                        <a:rPr lang="en"/>
                        <a:t>typically one strategy at a time)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 Scenario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Adding scrolling, borders, or drop shadows to GUI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Implementing different sorting algorithms that can be selected based on the dataset.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Relation to Object</a:t>
                      </a:r>
                      <a:endParaRPr b="1" i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Enhances the object by wrapping it, effectively changing its "</a:t>
                      </a:r>
                      <a:r>
                        <a:rPr i="1" lang="en">
                          <a:solidFill>
                            <a:srgbClr val="FF0000"/>
                          </a:solidFill>
                        </a:rPr>
                        <a:t>skin</a:t>
                      </a:r>
                      <a:r>
                        <a:rPr i="1" lang="en"/>
                        <a:t>".</a:t>
                      </a:r>
                      <a:endParaRPr i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/>
                        <a:t>Alters the object's behavior by changing its "</a:t>
                      </a:r>
                      <a:r>
                        <a:rPr i="1" lang="en">
                          <a:solidFill>
                            <a:srgbClr val="FF0000"/>
                          </a:solidFill>
                        </a:rPr>
                        <a:t>brain</a:t>
                      </a:r>
                      <a:r>
                        <a:rPr i="1" lang="en"/>
                        <a:t>", i.e., the underlying algorithm.</a:t>
                      </a:r>
                      <a:endParaRPr i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Key takeaways</a:t>
            </a:r>
            <a:endParaRPr sz="2320"/>
          </a:p>
        </p:txBody>
      </p:sp>
      <p:graphicFrame>
        <p:nvGraphicFramePr>
          <p:cNvPr id="226" name="Google Shape;226;p34"/>
          <p:cNvGraphicFramePr/>
          <p:nvPr/>
        </p:nvGraphicFramePr>
        <p:xfrm>
          <a:off x="325150" y="118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{C3F9EC8B-4212-453F-B7F4-83C8A955822B}</a:tableStyleId>
              </a:tblPr>
              <a:tblGrid>
                <a:gridCol w="2004200"/>
                <a:gridCol w="6516400"/>
              </a:tblGrid>
              <a:tr h="478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Advantages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Explanation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Variable Behavior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</a:t>
                      </a:r>
                      <a:r>
                        <a:rPr lang="en" sz="1600"/>
                        <a:t>bject's </a:t>
                      </a:r>
                      <a:r>
                        <a:rPr lang="en" sz="1600">
                          <a:highlight>
                            <a:srgbClr val="D9EAD3"/>
                          </a:highlight>
                        </a:rPr>
                        <a:t>behavior is likely to change</a:t>
                      </a:r>
                      <a:r>
                        <a:rPr lang="en" sz="1600"/>
                        <a:t> or vary </a:t>
                      </a:r>
                      <a:r>
                        <a:rPr i="1" lang="en" sz="1600">
                          <a:highlight>
                            <a:srgbClr val="FFFF00"/>
                          </a:highlight>
                        </a:rPr>
                        <a:t>in different contexts</a:t>
                      </a:r>
                      <a:r>
                        <a:rPr lang="en" sz="1600"/>
                        <a:t> (e.g., a duck that can both fly and walk)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→ encapsulating behaviors separately allows easy </a:t>
                      </a:r>
                      <a:r>
                        <a:rPr i="1" lang="en" sz="1600">
                          <a:solidFill>
                            <a:srgbClr val="FF0000"/>
                          </a:solidFill>
                          <a:highlight>
                            <a:srgbClr val="D9EAD3"/>
                          </a:highlight>
                        </a:rPr>
                        <a:t>swapping</a:t>
                      </a:r>
                      <a:r>
                        <a:rPr lang="en" sz="1600"/>
                        <a:t> or </a:t>
                      </a:r>
                      <a:r>
                        <a:rPr i="1" lang="en" sz="1600">
                          <a:solidFill>
                            <a:srgbClr val="FF0000"/>
                          </a:solidFill>
                          <a:highlight>
                            <a:srgbClr val="D9EAD3"/>
                          </a:highlight>
                        </a:rPr>
                        <a:t>modification</a:t>
                      </a:r>
                      <a:endParaRPr i="1" sz="1600">
                        <a:solidFill>
                          <a:srgbClr val="FF0000"/>
                        </a:solidFill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Multiple Implementations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</a:t>
                      </a:r>
                      <a:r>
                        <a:rPr lang="en" sz="1600"/>
                        <a:t>everal ways to perform a specific action (e.g., different movement types: flying, walking, swimming)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→ reuse and clear organization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Strategy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4" name="Google Shape;234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6" name="Google Shape;23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Key takeaways</a:t>
            </a:r>
            <a:endParaRPr sz="2320"/>
          </a:p>
        </p:txBody>
      </p:sp>
      <p:graphicFrame>
        <p:nvGraphicFramePr>
          <p:cNvPr id="238" name="Google Shape;238;p35"/>
          <p:cNvGraphicFramePr/>
          <p:nvPr/>
        </p:nvGraphicFramePr>
        <p:xfrm>
          <a:off x="269875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{C3F9EC8B-4212-453F-B7F4-83C8A955822B}</a:tableStyleId>
              </a:tblPr>
              <a:tblGrid>
                <a:gridCol w="2055400"/>
                <a:gridCol w="63546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Advantages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Explanation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Separation of Concerns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Keeping the core class focused on its primary responsibilities while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delegating secondary behaviors</a:t>
                      </a:r>
                      <a:r>
                        <a:rPr lang="en" sz="1500"/>
                        <a:t> (like movement) to separate components makes the code easier to understand, maintain, and test.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Adherence to SOLID Principles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Specifically, the open/closed principle is supported—your core class (e.g., Animal) is closed for modification but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open for extension through new behaviors without modifying its code</a:t>
                      </a:r>
                      <a:r>
                        <a:rPr lang="en" sz="1500"/>
                        <a:t>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Dynamic Behavior Change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If the behavior needs to </a:t>
                      </a:r>
                      <a:r>
                        <a:rPr lang="en" sz="1500">
                          <a:highlight>
                            <a:srgbClr val="D9EAD3"/>
                          </a:highlight>
                        </a:rPr>
                        <a:t>change at runtime based on different conditions</a:t>
                      </a:r>
                      <a:r>
                        <a:rPr lang="en" sz="1500"/>
                        <a:t> (like an animal adapting its movement in response to environmental changes), separating it allows for dynamic switching of algorithms.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