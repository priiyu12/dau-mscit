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embeddedFontLs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F8944C-26BE-4F9E-96C2-1FD343F532B5}">
  <a:tblStyle styleId="{14F8944C-26BE-4F9E-96C2-1FD343F532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obotoMono-bold.fntdata"/><Relationship Id="rId12" Type="http://schemas.openxmlformats.org/officeDocument/2006/relationships/slide" Target="slides/slide5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8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104b85e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104b85e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0d53fd20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0d53fd20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104b85ef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104b85ef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104b85ef5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104b85ef5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104b85ef5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104b85ef5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104b85ef5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104b85ef5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104b85ef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104b85ef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0d53fd20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40d53fd20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62b1a7ef70f2bf6a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62b1a7ef70f2bf6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62b1a7ef70f2bf6a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62b1a7ef70f2bf6a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104b85ef5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4104b85ef5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4104b85ef5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4104b85ef5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104b85ef5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4104b85ef5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418701b5a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418701b5a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18701b5a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418701b5a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18701b5ae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418701b5ae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418701b5ae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418701b5ae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18701b5ae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418701b5ae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418701b5ae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418701b5ae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418701b5ae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418701b5ae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418701b5ae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418701b5ae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418701b5ae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418701b5ae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418701b5ae_1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418701b5ae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418701b5ae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418701b5ae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418701b5ae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418701b5ae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35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0" Type="http://schemas.openxmlformats.org/officeDocument/2006/relationships/image" Target="../media/image10.png"/><Relationship Id="rId9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4.png"/><Relationship Id="rId7" Type="http://schemas.openxmlformats.org/officeDocument/2006/relationships/image" Target="../media/image7.gif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5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0" Type="http://schemas.openxmlformats.org/officeDocument/2006/relationships/image" Target="../media/image14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3.png"/><Relationship Id="rId8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5137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Structural Design Patterns: Decorator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IT620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Why should we think about Decorators?</a:t>
            </a:r>
            <a:endParaRPr sz="2320"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2308525" cy="899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400" y="2221725"/>
            <a:ext cx="915055" cy="137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6"/>
          <p:cNvPicPr preferRelativeResize="0"/>
          <p:nvPr/>
        </p:nvPicPr>
        <p:blipFill rotWithShape="1">
          <a:blip r:embed="rId6">
            <a:alphaModFix/>
          </a:blip>
          <a:srcRect b="0" l="2419" r="0" t="0"/>
          <a:stretch/>
        </p:blipFill>
        <p:spPr>
          <a:xfrm>
            <a:off x="1396800" y="2244850"/>
            <a:ext cx="3640725" cy="899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26511" y="3319575"/>
            <a:ext cx="3591398" cy="10465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31050" y="3319575"/>
            <a:ext cx="1761849" cy="1172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1950" y="2786000"/>
            <a:ext cx="1154974" cy="173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/>
          <p:cNvSpPr txBox="1"/>
          <p:nvPr/>
        </p:nvSpPr>
        <p:spPr>
          <a:xfrm>
            <a:off x="7807150" y="2498950"/>
            <a:ext cx="59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???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" name="Google Shape;1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What’s wrong with class inheritance?</a:t>
            </a:r>
            <a:endParaRPr sz="2320"/>
          </a:p>
        </p:txBody>
      </p:sp>
      <p:sp>
        <p:nvSpPr>
          <p:cNvPr id="133" name="Google Shape;133;p27"/>
          <p:cNvSpPr txBox="1"/>
          <p:nvPr/>
        </p:nvSpPr>
        <p:spPr>
          <a:xfrm>
            <a:off x="304800" y="990600"/>
            <a:ext cx="85206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Class Explosion: </a:t>
            </a:r>
            <a:r>
              <a:rPr lang="en" sz="1700">
                <a:solidFill>
                  <a:schemeClr val="dk1"/>
                </a:solidFill>
              </a:rPr>
              <a:t>New subclass for each new </a:t>
            </a:r>
            <a:r>
              <a:rPr lang="en" sz="1700">
                <a:solidFill>
                  <a:schemeClr val="dk1"/>
                </a:solidFill>
                <a:highlight>
                  <a:srgbClr val="FFFF00"/>
                </a:highlight>
              </a:rPr>
              <a:t>behavior</a:t>
            </a:r>
            <a:r>
              <a:rPr b="1" lang="en" sz="1700">
                <a:solidFill>
                  <a:schemeClr val="dk1"/>
                </a:solidFill>
              </a:rPr>
              <a:t> </a:t>
            </a:r>
            <a:r>
              <a:rPr lang="en" sz="1700">
                <a:solidFill>
                  <a:schemeClr val="dk1"/>
                </a:solidFill>
              </a:rPr>
              <a:t>(e.g., loud, whisper, echo, etc.)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Combo behavior?? → </a:t>
            </a:r>
            <a:r>
              <a:rPr lang="en" sz="1700">
                <a:solidFill>
                  <a:schemeClr val="dk1"/>
                </a:solidFill>
                <a:highlight>
                  <a:srgbClr val="F4CCCC"/>
                </a:highlight>
              </a:rPr>
              <a:t>Exponential growth!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Lack of Flexibility: </a:t>
            </a:r>
            <a:r>
              <a:rPr lang="en" sz="1700">
                <a:solidFill>
                  <a:schemeClr val="dk1"/>
                </a:solidFill>
              </a:rPr>
              <a:t>W</a:t>
            </a:r>
            <a:r>
              <a:rPr lang="en" sz="1700">
                <a:solidFill>
                  <a:schemeClr val="dk1"/>
                </a:solidFill>
              </a:rPr>
              <a:t>ant to add a new behavior? Or modify an existing one? Change the class hierarchy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  <a:highlight>
                  <a:srgbClr val="F4CCCC"/>
                </a:highlight>
              </a:rPr>
              <a:t>No way to mix and match behaviors at </a:t>
            </a:r>
            <a:r>
              <a:rPr lang="en" sz="1700">
                <a:solidFill>
                  <a:srgbClr val="FF0000"/>
                </a:solidFill>
                <a:highlight>
                  <a:srgbClr val="F4CCCC"/>
                </a:highlight>
              </a:rPr>
              <a:t>runtime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i="1" lang="en" sz="1700" u="sng">
                <a:solidFill>
                  <a:schemeClr val="dk1"/>
                </a:solidFill>
              </a:rPr>
              <a:t>without creating additional subclasses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Maintenance Challenges: </a:t>
            </a:r>
            <a:r>
              <a:rPr lang="en" sz="1700">
                <a:solidFill>
                  <a:schemeClr val="dk1"/>
                </a:solidFill>
              </a:rPr>
              <a:t>A new</a:t>
            </a:r>
            <a:r>
              <a:rPr lang="en" sz="1700">
                <a:solidFill>
                  <a:schemeClr val="dk1"/>
                </a:solidFill>
              </a:rPr>
              <a:t> subclass? → </a:t>
            </a:r>
            <a:r>
              <a:rPr lang="en" sz="1700">
                <a:solidFill>
                  <a:schemeClr val="dk1"/>
                </a:solidFill>
                <a:highlight>
                  <a:srgbClr val="F4CCCC"/>
                </a:highlight>
              </a:rPr>
              <a:t>additional maintenance overhead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Base class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Dog</a:t>
            </a:r>
            <a:r>
              <a:rPr lang="en" sz="1700">
                <a:solidFill>
                  <a:schemeClr val="dk1"/>
                </a:solidFill>
              </a:rPr>
              <a:t> got changed? → Update all the subclasses to maintain consistency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does Decorator help?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Modifying</a:t>
            </a:r>
            <a:r>
              <a:rPr lang="en" sz="2320"/>
              <a:t> and extending on-the-fly</a:t>
            </a:r>
            <a:endParaRPr sz="2320"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172" y="3430203"/>
            <a:ext cx="4455476" cy="967522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00" y="3440491"/>
            <a:ext cx="4455474" cy="965088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7" name="Google Shape;147;p28"/>
          <p:cNvGrpSpPr/>
          <p:nvPr/>
        </p:nvGrpSpPr>
        <p:grpSpPr>
          <a:xfrm>
            <a:off x="143750" y="1529050"/>
            <a:ext cx="3640725" cy="1490488"/>
            <a:chOff x="143750" y="1529050"/>
            <a:chExt cx="3640725" cy="1490488"/>
          </a:xfrm>
        </p:grpSpPr>
        <p:pic>
          <p:nvPicPr>
            <p:cNvPr id="148" name="Google Shape;148;p28"/>
            <p:cNvPicPr preferRelativeResize="0"/>
            <p:nvPr/>
          </p:nvPicPr>
          <p:blipFill rotWithShape="1">
            <a:blip r:embed="rId6">
              <a:alphaModFix/>
            </a:blip>
            <a:srcRect b="0" l="2419" r="0" t="0"/>
            <a:stretch/>
          </p:blipFill>
          <p:spPr>
            <a:xfrm>
              <a:off x="143750" y="2120338"/>
              <a:ext cx="3640725" cy="8992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descr="a red cross on a white background that looks like a starfish (Provided by Tenor)" id="149" name="Google Shape;149;p2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676521" y="1529050"/>
              <a:ext cx="406075" cy="451341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150" name="Google Shape;150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8725" y="712925"/>
            <a:ext cx="2129839" cy="873387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72838" y="679543"/>
            <a:ext cx="2359677" cy="873387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44250" y="1743862"/>
            <a:ext cx="3616864" cy="1539091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0" name="Google Shape;160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does Decorator help?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Modifying</a:t>
            </a:r>
            <a:r>
              <a:rPr lang="en" sz="2320"/>
              <a:t> and extending on-the-fly</a:t>
            </a:r>
            <a:endParaRPr sz="2320"/>
          </a:p>
        </p:txBody>
      </p:sp>
      <p:pic>
        <p:nvPicPr>
          <p:cNvPr id="164" name="Google Shape;164;p29"/>
          <p:cNvPicPr preferRelativeResize="0"/>
          <p:nvPr/>
        </p:nvPicPr>
        <p:blipFill rotWithShape="1">
          <a:blip r:embed="rId4">
            <a:alphaModFix/>
          </a:blip>
          <a:srcRect b="30255" l="0" r="0" t="0"/>
          <a:stretch/>
        </p:blipFill>
        <p:spPr>
          <a:xfrm>
            <a:off x="1393525" y="847525"/>
            <a:ext cx="6848475" cy="2272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939" y="3295538"/>
            <a:ext cx="815287" cy="122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 rotWithShape="1">
          <a:blip r:embed="rId4">
            <a:alphaModFix/>
          </a:blip>
          <a:srcRect b="0" l="0" r="0" t="70470"/>
          <a:stretch/>
        </p:blipFill>
        <p:spPr>
          <a:xfrm>
            <a:off x="1850725" y="3447950"/>
            <a:ext cx="6848475" cy="9619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p29"/>
          <p:cNvPicPr preferRelativeResize="0"/>
          <p:nvPr/>
        </p:nvPicPr>
        <p:blipFill rotWithShape="1">
          <a:blip r:embed="rId6">
            <a:alphaModFix/>
          </a:blip>
          <a:srcRect b="0" l="62183" r="14574" t="66584"/>
          <a:stretch/>
        </p:blipFill>
        <p:spPr>
          <a:xfrm>
            <a:off x="7840675" y="2880825"/>
            <a:ext cx="1181450" cy="1061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9"/>
          <p:cNvGrpSpPr/>
          <p:nvPr/>
        </p:nvGrpSpPr>
        <p:grpSpPr>
          <a:xfrm>
            <a:off x="5014625" y="3406075"/>
            <a:ext cx="3114875" cy="572675"/>
            <a:chOff x="5014625" y="3406075"/>
            <a:chExt cx="3114875" cy="572675"/>
          </a:xfrm>
        </p:grpSpPr>
        <p:cxnSp>
          <p:nvCxnSpPr>
            <p:cNvPr id="169" name="Google Shape;169;p29"/>
            <p:cNvCxnSpPr/>
            <p:nvPr/>
          </p:nvCxnSpPr>
          <p:spPr>
            <a:xfrm>
              <a:off x="5014625" y="3978750"/>
              <a:ext cx="18735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9"/>
            <p:cNvCxnSpPr/>
            <p:nvPr/>
          </p:nvCxnSpPr>
          <p:spPr>
            <a:xfrm flipH="1" rot="10800000">
              <a:off x="6912100" y="3406075"/>
              <a:ext cx="1217400" cy="405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71" name="Google Shape;171;p29"/>
          <p:cNvGrpSpPr/>
          <p:nvPr/>
        </p:nvGrpSpPr>
        <p:grpSpPr>
          <a:xfrm>
            <a:off x="3719225" y="3131525"/>
            <a:ext cx="4660825" cy="871093"/>
            <a:chOff x="3719225" y="3131525"/>
            <a:chExt cx="4660825" cy="871093"/>
          </a:xfrm>
        </p:grpSpPr>
        <p:cxnSp>
          <p:nvCxnSpPr>
            <p:cNvPr id="172" name="Google Shape;172;p29"/>
            <p:cNvCxnSpPr/>
            <p:nvPr/>
          </p:nvCxnSpPr>
          <p:spPr>
            <a:xfrm>
              <a:off x="3719225" y="4002618"/>
              <a:ext cx="1128300" cy="0"/>
            </a:xfrm>
            <a:prstGeom prst="straightConnector1">
              <a:avLst/>
            </a:prstGeom>
            <a:noFill/>
            <a:ln cap="flat" cmpd="sng" w="19050">
              <a:solidFill>
                <a:srgbClr val="98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29"/>
            <p:cNvCxnSpPr/>
            <p:nvPr/>
          </p:nvCxnSpPr>
          <p:spPr>
            <a:xfrm flipH="1" rot="10800000">
              <a:off x="4465650" y="3131525"/>
              <a:ext cx="3914400" cy="692100"/>
            </a:xfrm>
            <a:prstGeom prst="straightConnector1">
              <a:avLst/>
            </a:prstGeom>
            <a:noFill/>
            <a:ln cap="flat" cmpd="sng" w="19050">
              <a:solidFill>
                <a:srgbClr val="98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1" name="Google Shape;181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does Decorator help?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Adding</a:t>
            </a:r>
            <a:r>
              <a:rPr lang="en" sz="2320"/>
              <a:t> new behavior (eat) on-the-fly</a:t>
            </a:r>
            <a:endParaRPr sz="2320"/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8372" y="3439278"/>
            <a:ext cx="4455476" cy="967522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00" y="3440491"/>
            <a:ext cx="4455474" cy="965088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7" name="Google Shape;18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525" y="820875"/>
            <a:ext cx="2129839" cy="873387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8963" y="820868"/>
            <a:ext cx="2359677" cy="87338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3525" y="1802212"/>
            <a:ext cx="3616864" cy="1539091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8850" y="1866913"/>
            <a:ext cx="8850571" cy="1755962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91" name="Google Shape;191;p30"/>
          <p:cNvCxnSpPr/>
          <p:nvPr/>
        </p:nvCxnSpPr>
        <p:spPr>
          <a:xfrm>
            <a:off x="2293700" y="3405925"/>
            <a:ext cx="210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2" name="Google Shape;192;p30"/>
          <p:cNvGrpSpPr/>
          <p:nvPr/>
        </p:nvGrpSpPr>
        <p:grpSpPr>
          <a:xfrm>
            <a:off x="3797250" y="820875"/>
            <a:ext cx="3279650" cy="2298725"/>
            <a:chOff x="3797250" y="820875"/>
            <a:chExt cx="3279650" cy="2298725"/>
          </a:xfrm>
        </p:grpSpPr>
        <p:pic>
          <p:nvPicPr>
            <p:cNvPr id="193" name="Google Shape;193;p30"/>
            <p:cNvPicPr preferRelativeResize="0"/>
            <p:nvPr/>
          </p:nvPicPr>
          <p:blipFill rotWithShape="1">
            <a:blip r:embed="rId10">
              <a:alphaModFix/>
            </a:blip>
            <a:srcRect b="0" l="62183" r="14574" t="66584"/>
            <a:stretch/>
          </p:blipFill>
          <p:spPr>
            <a:xfrm>
              <a:off x="5895450" y="820875"/>
              <a:ext cx="1181450" cy="10616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4" name="Google Shape;194;p30"/>
            <p:cNvCxnSpPr>
              <a:endCxn id="193" idx="1"/>
            </p:cNvCxnSpPr>
            <p:nvPr/>
          </p:nvCxnSpPr>
          <p:spPr>
            <a:xfrm flipH="1" rot="10800000">
              <a:off x="3797250" y="1351700"/>
              <a:ext cx="2098200" cy="17679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5" name="Google Shape;195;p30"/>
          <p:cNvSpPr txBox="1"/>
          <p:nvPr/>
        </p:nvSpPr>
        <p:spPr>
          <a:xfrm>
            <a:off x="6938550" y="955350"/>
            <a:ext cx="220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Needs to be compatible!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4894566" y="712925"/>
            <a:ext cx="117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0000"/>
                </a:solidFill>
              </a:rPr>
              <a:t>No eating behavior yet</a:t>
            </a:r>
            <a:endParaRPr i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63" y="3147993"/>
            <a:ext cx="2359677" cy="873387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7" name="Google Shape;2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does Decorator help?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Adding</a:t>
            </a:r>
            <a:r>
              <a:rPr lang="en" sz="2320"/>
              <a:t> new behavior (eat) on-the-fly</a:t>
            </a:r>
            <a:endParaRPr sz="2320"/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7150" y="865325"/>
            <a:ext cx="7215575" cy="332825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10" name="Google Shape;210;p31"/>
          <p:cNvGrpSpPr/>
          <p:nvPr/>
        </p:nvGrpSpPr>
        <p:grpSpPr>
          <a:xfrm>
            <a:off x="164664" y="1004238"/>
            <a:ext cx="1733627" cy="1984318"/>
            <a:chOff x="164664" y="1004238"/>
            <a:chExt cx="1733627" cy="1984318"/>
          </a:xfrm>
        </p:grpSpPr>
        <p:pic>
          <p:nvPicPr>
            <p:cNvPr id="211" name="Google Shape;211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4664" y="1004238"/>
              <a:ext cx="815287" cy="122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1700" y="2415855"/>
              <a:ext cx="1586591" cy="572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3" name="Google Shape;213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0600" y="793734"/>
            <a:ext cx="3616864" cy="1539091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14" name="Google Shape;214;p31"/>
          <p:cNvGrpSpPr/>
          <p:nvPr/>
        </p:nvGrpSpPr>
        <p:grpSpPr>
          <a:xfrm>
            <a:off x="6375075" y="2480325"/>
            <a:ext cx="2692575" cy="1080750"/>
            <a:chOff x="6375075" y="2480325"/>
            <a:chExt cx="2692575" cy="1080750"/>
          </a:xfrm>
        </p:grpSpPr>
        <p:cxnSp>
          <p:nvCxnSpPr>
            <p:cNvPr id="215" name="Google Shape;215;p31"/>
            <p:cNvCxnSpPr/>
            <p:nvPr/>
          </p:nvCxnSpPr>
          <p:spPr>
            <a:xfrm flipH="1" rot="10800000">
              <a:off x="6375075" y="2618175"/>
              <a:ext cx="501300" cy="94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6" name="Google Shape;216;p31"/>
            <p:cNvSpPr txBox="1"/>
            <p:nvPr/>
          </p:nvSpPr>
          <p:spPr>
            <a:xfrm>
              <a:off x="6922050" y="2480325"/>
              <a:ext cx="2145600" cy="41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Why does this work??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sp>
        <p:nvSpPr>
          <p:cNvPr id="217" name="Google Shape;217;p31"/>
          <p:cNvSpPr/>
          <p:nvPr/>
        </p:nvSpPr>
        <p:spPr>
          <a:xfrm>
            <a:off x="5503339" y="1819915"/>
            <a:ext cx="3517800" cy="704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Key takeaways</a:t>
            </a:r>
            <a:endParaRPr sz="2320"/>
          </a:p>
        </p:txBody>
      </p:sp>
      <p:graphicFrame>
        <p:nvGraphicFramePr>
          <p:cNvPr id="229" name="Google Shape;229;p32"/>
          <p:cNvGraphicFramePr/>
          <p:nvPr/>
        </p:nvGraphicFramePr>
        <p:xfrm>
          <a:off x="808775" y="89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{14F8944C-26BE-4F9E-96C2-1FD343F532B5}</a:tableStyleId>
              </a:tblPr>
              <a:tblGrid>
                <a:gridCol w="1790700"/>
                <a:gridCol w="56007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Aspect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Purpose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Dynamically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 add new behavior</a:t>
                      </a:r>
                      <a:r>
                        <a:rPr lang="en"/>
                        <a:t> to objects without altering their structure.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Key Benefit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Adheres to the open/closed principle (S</a:t>
                      </a:r>
                      <a:r>
                        <a:rPr b="1" lang="en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O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LID)</a:t>
                      </a:r>
                      <a:r>
                        <a:rPr lang="en"/>
                        <a:t>; enhances flexibility and reusability.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Implementation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Involves creating a </a:t>
                      </a:r>
                      <a:r>
                        <a:rPr i="1" lang="en" u="sng"/>
                        <a:t>base decorator class</a:t>
                      </a:r>
                      <a:r>
                        <a:rPr lang="en"/>
                        <a:t> and one or more concrete decorators.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Usage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When you need to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extend the functionality</a:t>
                      </a:r>
                      <a:r>
                        <a:rPr lang="en"/>
                        <a:t> of objects in a flexible and </a:t>
                      </a:r>
                      <a:r>
                        <a:rPr i="1" lang="en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combinable</a:t>
                      </a:r>
                      <a:r>
                        <a:rPr lang="en"/>
                        <a:t> way.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Comparison to Subclassing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scalable and flexible than creating a separate subclass for each behavior combination.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9" name="Google Shape;2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does the Decorator differ from the others?</a:t>
            </a:r>
            <a:endParaRPr sz="2320"/>
          </a:p>
        </p:txBody>
      </p:sp>
      <p:graphicFrame>
        <p:nvGraphicFramePr>
          <p:cNvPr id="241" name="Google Shape;241;p33"/>
          <p:cNvGraphicFramePr/>
          <p:nvPr/>
        </p:nvGraphicFramePr>
        <p:xfrm>
          <a:off x="263350" y="78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{14F8944C-26BE-4F9E-96C2-1FD343F532B5}</a:tableStyleId>
              </a:tblPr>
              <a:tblGrid>
                <a:gridCol w="1425475"/>
                <a:gridCol w="3299175"/>
                <a:gridCol w="39767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Aspect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Decorator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Adapter/ Facade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Primary Purpose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Dynamically</a:t>
                      </a:r>
                      <a:r>
                        <a:rPr lang="en"/>
                        <a:t> </a:t>
                      </a:r>
                      <a:r>
                        <a:rPr i="1" lang="en" u="sng">
                          <a:solidFill>
                            <a:srgbClr val="FF0000"/>
                          </a:solidFill>
                        </a:rPr>
                        <a:t>extend</a:t>
                      </a:r>
                      <a:r>
                        <a:rPr lang="en"/>
                        <a:t> or </a:t>
                      </a:r>
                      <a:r>
                        <a:rPr i="1" lang="en" u="sng">
                          <a:solidFill>
                            <a:srgbClr val="FF0000"/>
                          </a:solidFill>
                        </a:rPr>
                        <a:t>modify</a:t>
                      </a:r>
                      <a:r>
                        <a:rPr lang="en"/>
                        <a:t> an object's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behavior </a:t>
                      </a:r>
                      <a:r>
                        <a:rPr lang="en"/>
                        <a:t> → </a:t>
                      </a:r>
                      <a:r>
                        <a:rPr lang="en"/>
                        <a:t>wraps with additional functionality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Adapter converts an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incompatible</a:t>
                      </a:r>
                      <a:r>
                        <a:rPr lang="en"/>
                        <a:t> interface, while Facade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simplifies interaction</a:t>
                      </a:r>
                      <a:r>
                        <a:rPr lang="en"/>
                        <a:t> with complex subsystems.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Behavior Extension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add, remove, or combine behaviors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at runtime</a:t>
                      </a:r>
                      <a:r>
                        <a:rPr lang="en"/>
                        <a:t> </a:t>
                      </a:r>
                      <a:r>
                        <a:rPr i="1" lang="en" u="sng">
                          <a:solidFill>
                            <a:srgbClr val="FF0000"/>
                          </a:solidFill>
                        </a:rPr>
                        <a:t>without altering</a:t>
                      </a:r>
                      <a:r>
                        <a:rPr i="1" lang="en" u="sng"/>
                        <a:t> the original object's code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Typically static transformations or simplifications → no runtime modification of behavior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Flexibility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Enables </a:t>
                      </a:r>
                      <a:r>
                        <a:rPr i="1" lang="en" u="sng">
                          <a:solidFill>
                            <a:srgbClr val="FF0000"/>
                          </a:solidFill>
                        </a:rPr>
                        <a:t>stacking</a:t>
                      </a:r>
                      <a:r>
                        <a:rPr lang="en"/>
                        <a:t> of multiple decorators for flexible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composition of responsibilities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dynamic behavior extension.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Transparency to Client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client interacts with the decorated object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using the same interface</a:t>
                      </a:r>
                      <a:r>
                        <a:rPr lang="en"/>
                        <a:t>, </a:t>
                      </a:r>
                      <a:r>
                        <a:rPr i="1" lang="en" u="sng">
                          <a:solidFill>
                            <a:srgbClr val="FF0000"/>
                          </a:solidFill>
                        </a:rPr>
                        <a:t>unaware of the added behaviors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 client interacts with the adapted/facaded interface, but the primary goal is interface consistency or simplification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9" name="Google Shape;249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Does Decorator ring a bell with FP?</a:t>
            </a:r>
            <a:endParaRPr sz="2320"/>
          </a:p>
        </p:txBody>
      </p:sp>
      <p:graphicFrame>
        <p:nvGraphicFramePr>
          <p:cNvPr id="253" name="Google Shape;253;p34"/>
          <p:cNvGraphicFramePr/>
          <p:nvPr/>
        </p:nvGraphicFramePr>
        <p:xfrm>
          <a:off x="311700" y="108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{14F8944C-26BE-4F9E-96C2-1FD343F532B5}</a:tableStyleId>
              </a:tblPr>
              <a:tblGrid>
                <a:gridCol w="1504650"/>
                <a:gridCol w="2977475"/>
                <a:gridCol w="3685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Aspect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Decorator Pattern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Functional Programming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Extending Functionality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Wraps</a:t>
                      </a:r>
                      <a:r>
                        <a:rPr lang="en" sz="1500"/>
                        <a:t> objects to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dynamically</a:t>
                      </a:r>
                      <a:r>
                        <a:rPr lang="en" sz="1500"/>
                        <a:t> </a:t>
                      </a:r>
                      <a:r>
                        <a:rPr lang="en" sz="1500">
                          <a:solidFill>
                            <a:srgbClr val="FF0000"/>
                          </a:solidFill>
                          <a:highlight>
                            <a:srgbClr val="CFE2F3"/>
                          </a:highlight>
                        </a:rPr>
                        <a:t>add</a:t>
                      </a:r>
                      <a:r>
                        <a:rPr lang="en" sz="1500">
                          <a:highlight>
                            <a:srgbClr val="CFE2F3"/>
                          </a:highlight>
                        </a:rPr>
                        <a:t> or </a:t>
                      </a:r>
                      <a:r>
                        <a:rPr lang="en" sz="1500">
                          <a:solidFill>
                            <a:srgbClr val="FF0000"/>
                          </a:solidFill>
                          <a:highlight>
                            <a:srgbClr val="CFE2F3"/>
                          </a:highlight>
                        </a:rPr>
                        <a:t>modify</a:t>
                      </a:r>
                      <a:r>
                        <a:rPr lang="en" sz="1500"/>
                        <a:t> behavior without changing the original class.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Uses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higher-order functions</a:t>
                      </a:r>
                      <a:r>
                        <a:rPr lang="en" sz="1500"/>
                        <a:t> to create </a:t>
                      </a:r>
                      <a:r>
                        <a:rPr lang="en" sz="1500">
                          <a:solidFill>
                            <a:srgbClr val="FF0000"/>
                          </a:solidFill>
                          <a:highlight>
                            <a:srgbClr val="CFE2F3"/>
                          </a:highlight>
                        </a:rPr>
                        <a:t>new</a:t>
                      </a: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" sz="1500"/>
                        <a:t>functions by </a:t>
                      </a: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composing </a:t>
                      </a:r>
                      <a:r>
                        <a:rPr lang="en" sz="1500"/>
                        <a:t>existing ones.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Composability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Decorators can be </a:t>
                      </a: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stacked</a:t>
                      </a:r>
                      <a:r>
                        <a:rPr lang="en" sz="1500"/>
                        <a:t> or </a:t>
                      </a: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chained</a:t>
                      </a:r>
                      <a:r>
                        <a:rPr lang="en" sz="1500"/>
                        <a:t> to combine multiple behaviors at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runtime</a:t>
                      </a:r>
                      <a:r>
                        <a:rPr lang="en" sz="1500"/>
                        <a:t>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Functions can be composed together (e.g., using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composition operators</a:t>
                      </a:r>
                      <a:r>
                        <a:rPr lang="en" sz="1500"/>
                        <a:t>) to build complex operations.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Flexibility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Enables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runtime modification</a:t>
                      </a:r>
                      <a:r>
                        <a:rPr lang="en" sz="1500"/>
                        <a:t> and flexible extension of an object's capabilities.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Encourages building programs by composing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small</a:t>
                      </a:r>
                      <a:r>
                        <a:rPr lang="en" sz="1500"/>
                        <a:t>, reusable functions in different combinations.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3" name="Google Shape;2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Wait, but isn’t this the subway making problem? (Builder)</a:t>
            </a:r>
            <a:endParaRPr sz="2320"/>
          </a:p>
        </p:txBody>
      </p:sp>
      <p:graphicFrame>
        <p:nvGraphicFramePr>
          <p:cNvPr id="265" name="Google Shape;265;p35"/>
          <p:cNvGraphicFramePr/>
          <p:nvPr/>
        </p:nvGraphicFramePr>
        <p:xfrm>
          <a:off x="303831" y="78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{14F8944C-26BE-4F9E-96C2-1FD343F532B5}</a:tableStyleId>
              </a:tblPr>
              <a:tblGrid>
                <a:gridCol w="1352325"/>
                <a:gridCol w="3668400"/>
                <a:gridCol w="3499875"/>
              </a:tblGrid>
              <a:tr h="494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Aspect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Builder Pattern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Decorator Pattern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Primary Purpose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Focuses on </a:t>
                      </a:r>
                      <a:r>
                        <a:rPr lang="en" sz="1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constructing</a:t>
                      </a:r>
                      <a:r>
                        <a:rPr lang="en" sz="1300"/>
                        <a:t> complex objects </a:t>
                      </a:r>
                      <a:r>
                        <a:rPr i="1" lang="en" sz="1300" u="sng">
                          <a:solidFill>
                            <a:srgbClr val="FF0000"/>
                          </a:solidFill>
                        </a:rPr>
                        <a:t>step by step</a:t>
                      </a:r>
                      <a:r>
                        <a:rPr lang="en" sz="1300"/>
                        <a:t>, separating construction from representation.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Focuses on </a:t>
                      </a:r>
                      <a:r>
                        <a:rPr lang="en" sz="1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dynamically </a:t>
                      </a:r>
                      <a:r>
                        <a:rPr lang="en" sz="1300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adding</a:t>
                      </a:r>
                      <a:r>
                        <a:rPr lang="en" sz="1300"/>
                        <a:t> responsibilities or modifying the behavior of an object at runtime.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Composition Type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Composes various 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parts or components</a:t>
                      </a:r>
                      <a:r>
                        <a:rPr lang="en" sz="1300"/>
                        <a:t> during object creation to form a </a:t>
                      </a:r>
                      <a:r>
                        <a:rPr lang="en" sz="1300">
                          <a:solidFill>
                            <a:srgbClr val="FF0000"/>
                          </a:solidFill>
                        </a:rPr>
                        <a:t>new</a:t>
                      </a:r>
                      <a:r>
                        <a:rPr lang="en" sz="1300"/>
                        <a:t> complex object.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Wraps an </a:t>
                      </a:r>
                      <a:r>
                        <a:rPr lang="en" sz="1300">
                          <a:solidFill>
                            <a:srgbClr val="FF0000"/>
                          </a:solidFill>
                        </a:rPr>
                        <a:t>existing</a:t>
                      </a:r>
                      <a:r>
                        <a:rPr lang="en" sz="1300"/>
                        <a:t> object to extend or alter its 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behavior</a:t>
                      </a:r>
                      <a:r>
                        <a:rPr lang="en" sz="1300"/>
                        <a:t> without changing its interface.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Timing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The object is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 built </a:t>
                      </a:r>
                      <a:r>
                        <a:rPr lang="en" sz="1300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once</a:t>
                      </a:r>
                      <a:r>
                        <a:rPr lang="en" sz="1300"/>
                        <a:t>, with the </a:t>
                      </a:r>
                      <a:r>
                        <a:rPr i="1" lang="en" sz="1300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final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 configuration</a:t>
                      </a:r>
                      <a:r>
                        <a:rPr lang="en" sz="1300"/>
                        <a:t> being set at creation time.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The object’s behavior can be modified or extended </a:t>
                      </a:r>
                      <a:r>
                        <a:rPr lang="en" sz="1300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after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 creation</a:t>
                      </a:r>
                      <a:r>
                        <a:rPr lang="en" sz="1300"/>
                        <a:t>, even at runtime.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Use Case Example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Building a complex configuration (like a house, or a complex document) where various parts need to be assembled in a specific order.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Adding extra functionalities (like logging, caching, or permission checks) to an object 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without modifying its existing code.</a:t>
                      </a:r>
                      <a:endParaRPr sz="13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3" name="Google Shape;273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Can we make the decorators completely decoupled?</a:t>
            </a:r>
            <a:endParaRPr sz="2320"/>
          </a:p>
        </p:txBody>
      </p:sp>
      <p:pic>
        <p:nvPicPr>
          <p:cNvPr id="277" name="Google Shape;27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0" y="1866913"/>
            <a:ext cx="8850571" cy="1755962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78" name="Google Shape;278;p36"/>
          <p:cNvGrpSpPr/>
          <p:nvPr/>
        </p:nvGrpSpPr>
        <p:grpSpPr>
          <a:xfrm>
            <a:off x="3797250" y="820875"/>
            <a:ext cx="3279650" cy="2298725"/>
            <a:chOff x="3797250" y="820875"/>
            <a:chExt cx="3279650" cy="2298725"/>
          </a:xfrm>
        </p:grpSpPr>
        <p:pic>
          <p:nvPicPr>
            <p:cNvPr id="279" name="Google Shape;279;p36"/>
            <p:cNvPicPr preferRelativeResize="0"/>
            <p:nvPr/>
          </p:nvPicPr>
          <p:blipFill rotWithShape="1">
            <a:blip r:embed="rId5">
              <a:alphaModFix/>
            </a:blip>
            <a:srcRect b="0" l="62183" r="14574" t="66584"/>
            <a:stretch/>
          </p:blipFill>
          <p:spPr>
            <a:xfrm>
              <a:off x="5895450" y="820875"/>
              <a:ext cx="1181450" cy="10616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0" name="Google Shape;280;p36"/>
            <p:cNvCxnSpPr>
              <a:endCxn id="279" idx="1"/>
            </p:cNvCxnSpPr>
            <p:nvPr/>
          </p:nvCxnSpPr>
          <p:spPr>
            <a:xfrm flipH="1" rot="10800000">
              <a:off x="3797250" y="1351700"/>
              <a:ext cx="2098200" cy="17679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81" name="Google Shape;281;p36"/>
          <p:cNvSpPr txBox="1"/>
          <p:nvPr/>
        </p:nvSpPr>
        <p:spPr>
          <a:xfrm>
            <a:off x="6938550" y="955350"/>
            <a:ext cx="220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Needs to be compatible!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790025" y="3931025"/>
            <a:ext cx="787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Why should Eat decorator have to be aware of MakeSound decorator?</a:t>
            </a:r>
            <a:endParaRPr i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2" name="Google Shape;2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Why is decoupling needed? Reverse chaining may not work!</a:t>
            </a:r>
            <a:endParaRPr sz="2320"/>
          </a:p>
        </p:txBody>
      </p:sp>
      <p:pic>
        <p:nvPicPr>
          <p:cNvPr id="294" name="Google Shape;29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475" y="893550"/>
            <a:ext cx="7135995" cy="36173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95" name="Google Shape;295;p37"/>
          <p:cNvGrpSpPr/>
          <p:nvPr/>
        </p:nvGrpSpPr>
        <p:grpSpPr>
          <a:xfrm>
            <a:off x="4572000" y="793734"/>
            <a:ext cx="4455474" cy="2743095"/>
            <a:chOff x="4572000" y="793734"/>
            <a:chExt cx="4455474" cy="2743095"/>
          </a:xfrm>
        </p:grpSpPr>
        <p:pic>
          <p:nvPicPr>
            <p:cNvPr id="296" name="Google Shape;296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290600" y="793734"/>
              <a:ext cx="3616864" cy="1539091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97" name="Google Shape;297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72000" y="2571741"/>
              <a:ext cx="4455474" cy="965088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298" name="Google Shape;29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4313" y="3677468"/>
            <a:ext cx="2359677" cy="873387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6" name="Google Shape;306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8" name="Google Shape;3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we do better? </a:t>
            </a:r>
            <a:endParaRPr sz="31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How to make the chaining work in </a:t>
            </a:r>
            <a:r>
              <a:rPr i="1" lang="en" sz="2320"/>
              <a:t>any</a:t>
            </a:r>
            <a:r>
              <a:rPr lang="en" sz="2320"/>
              <a:t> order?</a:t>
            </a:r>
            <a:endParaRPr sz="2320"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50" y="779955"/>
            <a:ext cx="3581725" cy="22692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2" name="Google Shape;322;p39"/>
          <p:cNvSpPr/>
          <p:nvPr/>
        </p:nvSpPr>
        <p:spPr>
          <a:xfrm>
            <a:off x="455865" y="2458550"/>
            <a:ext cx="3517800" cy="704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4075" y="1013287"/>
            <a:ext cx="4585371" cy="32048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4" name="Google Shape;324;p39"/>
          <p:cNvPicPr preferRelativeResize="0"/>
          <p:nvPr/>
        </p:nvPicPr>
        <p:blipFill rotWithShape="1">
          <a:blip r:embed="rId6">
            <a:alphaModFix/>
          </a:blip>
          <a:srcRect b="0" l="0" r="0" t="54304"/>
          <a:stretch/>
        </p:blipFill>
        <p:spPr>
          <a:xfrm>
            <a:off x="4349166" y="1715473"/>
            <a:ext cx="4585374" cy="266439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32" name="Google Shape;332;p4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4" name="Google Shape;3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Now any order works!</a:t>
            </a:r>
            <a:endParaRPr sz="2320"/>
          </a:p>
        </p:txBody>
      </p:sp>
      <p:pic>
        <p:nvPicPr>
          <p:cNvPr id="336" name="Google Shape;33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575" y="712925"/>
            <a:ext cx="6353950" cy="358822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43" name="Google Shape;343;p4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44" name="Google Shape;344;p4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6" name="Google Shape;3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1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Haven’t we seen decorators before? </a:t>
            </a:r>
            <a:endParaRPr sz="31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1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Remember the @-styled functions?</a:t>
            </a:r>
            <a:endParaRPr sz="31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54" name="Google Shape;354;p4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55" name="Google Shape;355;p4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7" name="Google Shape;35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Decorator Design Pattern vs.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Decorator Feature</a:t>
            </a:r>
            <a:r>
              <a:rPr lang="en" sz="2320"/>
              <a:t> </a:t>
            </a:r>
            <a:endParaRPr sz="2320"/>
          </a:p>
        </p:txBody>
      </p:sp>
      <p:graphicFrame>
        <p:nvGraphicFramePr>
          <p:cNvPr id="359" name="Google Shape;359;p42"/>
          <p:cNvGraphicFramePr/>
          <p:nvPr/>
        </p:nvGraphicFramePr>
        <p:xfrm>
          <a:off x="629775" y="90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{14F8944C-26BE-4F9E-96C2-1FD343F532B5}</a:tableStyleId>
              </a:tblPr>
              <a:tblGrid>
                <a:gridCol w="3133075"/>
                <a:gridCol w="48329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Decorator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Purpose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@property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Define a method as a read-only property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@staticmethod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Define a static method (no </a:t>
                      </a: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self</a:t>
                      </a:r>
                      <a:r>
                        <a:rPr lang="en" sz="1300"/>
                        <a:t>)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@classmethod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Define a method that operates on the class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@functools.lru_cache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Cache results of expensive computations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@functools.wraps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Preserve function metadata in decorators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@abc.abstractmethod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Define abstract methods in base classes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@dataclasses.dataclass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Automatically generate data class boilerplate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@contextlib.contextmanager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Simplify creating context managers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66" name="Google Shape;366;p4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67" name="Google Shape;367;p4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9" name="Google Shape;3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Decorator Design Pattern vs.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Decorator Feature</a:t>
            </a:r>
            <a:r>
              <a:rPr lang="en" sz="2320"/>
              <a:t> </a:t>
            </a:r>
            <a:endParaRPr sz="2320"/>
          </a:p>
        </p:txBody>
      </p:sp>
      <p:pic>
        <p:nvPicPr>
          <p:cNvPr id="371" name="Google Shape;37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05650"/>
            <a:ext cx="4819650" cy="18573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2" name="Google Shape;37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04562"/>
            <a:ext cx="4819650" cy="1372364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3" name="Google Shape;37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2799" y="789125"/>
            <a:ext cx="2492350" cy="102627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74" name="Google Shape;374;p43"/>
          <p:cNvGrpSpPr/>
          <p:nvPr/>
        </p:nvGrpSpPr>
        <p:grpSpPr>
          <a:xfrm>
            <a:off x="5458000" y="2066499"/>
            <a:ext cx="3157950" cy="1977051"/>
            <a:chOff x="5458000" y="2066499"/>
            <a:chExt cx="3157950" cy="1977051"/>
          </a:xfrm>
        </p:grpSpPr>
        <p:grpSp>
          <p:nvGrpSpPr>
            <p:cNvPr id="375" name="Google Shape;375;p43"/>
            <p:cNvGrpSpPr/>
            <p:nvPr/>
          </p:nvGrpSpPr>
          <p:grpSpPr>
            <a:xfrm>
              <a:off x="5458000" y="2066499"/>
              <a:ext cx="3157950" cy="1977051"/>
              <a:chOff x="5458000" y="2066499"/>
              <a:chExt cx="3157950" cy="1977051"/>
            </a:xfrm>
          </p:grpSpPr>
          <p:pic>
            <p:nvPicPr>
              <p:cNvPr id="376" name="Google Shape;376;p43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458000" y="2066499"/>
                <a:ext cx="3157950" cy="838053"/>
              </a:xfrm>
              <a:prstGeom prst="rect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377" name="Google Shape;377;p43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6477150" y="3388350"/>
                <a:ext cx="1087628" cy="655200"/>
              </a:xfrm>
              <a:prstGeom prst="rect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sp>
          <p:nvSpPr>
            <p:cNvPr id="378" name="Google Shape;378;p43"/>
            <p:cNvSpPr txBox="1"/>
            <p:nvPr/>
          </p:nvSpPr>
          <p:spPr>
            <a:xfrm>
              <a:off x="6828575" y="2931325"/>
              <a:ext cx="54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vs.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86" name="Google Shape;386;p4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8" name="Google Shape;3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Decorator Design Pattern vs.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Decorator Feature</a:t>
            </a:r>
            <a:r>
              <a:rPr lang="en" sz="2320"/>
              <a:t> </a:t>
            </a:r>
            <a:endParaRPr sz="2320"/>
          </a:p>
        </p:txBody>
      </p:sp>
      <p:pic>
        <p:nvPicPr>
          <p:cNvPr id="390" name="Google Shape;39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6199" y="789125"/>
            <a:ext cx="2492350" cy="102627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1" name="Google Shape;39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789126"/>
            <a:ext cx="5724525" cy="14478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2" name="Google Shape;39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768938"/>
            <a:ext cx="5724526" cy="1217524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93" name="Google Shape;393;p44"/>
          <p:cNvGrpSpPr/>
          <p:nvPr/>
        </p:nvGrpSpPr>
        <p:grpSpPr>
          <a:xfrm>
            <a:off x="4767175" y="2103638"/>
            <a:ext cx="4048125" cy="1939912"/>
            <a:chOff x="4767175" y="2103638"/>
            <a:chExt cx="4048125" cy="1939912"/>
          </a:xfrm>
        </p:grpSpPr>
        <p:pic>
          <p:nvPicPr>
            <p:cNvPr id="394" name="Google Shape;394;p4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767175" y="2103638"/>
              <a:ext cx="4048125" cy="7620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395" name="Google Shape;395;p44"/>
            <p:cNvGrpSpPr/>
            <p:nvPr/>
          </p:nvGrpSpPr>
          <p:grpSpPr>
            <a:xfrm>
              <a:off x="6477150" y="2931325"/>
              <a:ext cx="1087628" cy="1112225"/>
              <a:chOff x="6477150" y="2931325"/>
              <a:chExt cx="1087628" cy="1112225"/>
            </a:xfrm>
          </p:grpSpPr>
          <p:pic>
            <p:nvPicPr>
              <p:cNvPr id="396" name="Google Shape;396;p44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6477150" y="3388350"/>
                <a:ext cx="1087628" cy="655200"/>
              </a:xfrm>
              <a:prstGeom prst="rect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397" name="Google Shape;397;p44"/>
              <p:cNvSpPr txBox="1"/>
              <p:nvPr/>
            </p:nvSpPr>
            <p:spPr>
              <a:xfrm>
                <a:off x="6828575" y="2931325"/>
                <a:ext cx="548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dk2"/>
                    </a:solidFill>
                  </a:rPr>
                  <a:t>vs.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04" name="Google Shape;404;p4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05" name="Google Shape;405;p4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7" name="Google Shape;4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To summarize</a:t>
            </a:r>
            <a:endParaRPr sz="2320"/>
          </a:p>
        </p:txBody>
      </p:sp>
      <p:graphicFrame>
        <p:nvGraphicFramePr>
          <p:cNvPr id="409" name="Google Shape;409;p45"/>
          <p:cNvGraphicFramePr/>
          <p:nvPr/>
        </p:nvGraphicFramePr>
        <p:xfrm>
          <a:off x="1491688" y="86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{14F8944C-26BE-4F9E-96C2-1FD343F532B5}</a:tableStyleId>
              </a:tblPr>
              <a:tblGrid>
                <a:gridCol w="1097650"/>
                <a:gridCol w="2230400"/>
                <a:gridCol w="2832575"/>
              </a:tblGrid>
              <a:tr h="48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Decorator Pattern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Decorator Feature (</a:t>
                      </a:r>
                      <a:r>
                        <a:rPr b="1"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</a:t>
                      </a:r>
                      <a:r>
                        <a:rPr b="1" lang="en" sz="1500"/>
                        <a:t>)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What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Structural design pattern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Python syntax + language feature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Purpose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Add behavior to </a:t>
                      </a:r>
                      <a:r>
                        <a:rPr b="1" lang="en" sz="1500"/>
                        <a:t>objects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Add behavior to </a:t>
                      </a:r>
                      <a:r>
                        <a:rPr b="1" lang="en" sz="1500"/>
                        <a:t>functions/classes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Method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Class-based, runtime wrapping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Function/class wrapper, definition-time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Examples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GUI widgets, streams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@property</a:t>
                      </a:r>
                      <a:r>
                        <a:rPr lang="en" sz="1500"/>
                        <a:t>,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@staticmethod</a:t>
                      </a:r>
                      <a:r>
                        <a:rPr lang="en" sz="1500"/>
                        <a:t>,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@lru_cache</a:t>
                      </a:r>
                      <a:endParaRPr sz="15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16" name="Google Shape;416;p4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17" name="Google Shape;417;p4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9" name="Google Shape;4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6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we use Decorator feature for Decorator pattern?</a:t>
            </a:r>
            <a:endParaRPr sz="312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27" name="Google Shape;427;p4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28" name="Google Shape;428;p4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0" name="Google Shape;4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Using Decorator feature for Decorator Pattern</a:t>
            </a:r>
            <a:endParaRPr sz="2320"/>
          </a:p>
        </p:txBody>
      </p:sp>
      <p:pic>
        <p:nvPicPr>
          <p:cNvPr id="432" name="Google Shape;432;p47"/>
          <p:cNvPicPr preferRelativeResize="0"/>
          <p:nvPr/>
        </p:nvPicPr>
        <p:blipFill rotWithShape="1">
          <a:blip r:embed="rId4">
            <a:alphaModFix/>
          </a:blip>
          <a:srcRect b="31167" l="0" r="0" t="0"/>
          <a:stretch/>
        </p:blipFill>
        <p:spPr>
          <a:xfrm>
            <a:off x="152400" y="865325"/>
            <a:ext cx="3429971" cy="363602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3" name="Google Shape;433;p47"/>
          <p:cNvPicPr preferRelativeResize="0"/>
          <p:nvPr/>
        </p:nvPicPr>
        <p:blipFill rotWithShape="1">
          <a:blip r:embed="rId4">
            <a:alphaModFix/>
          </a:blip>
          <a:srcRect b="0" l="0" r="0" t="68504"/>
          <a:stretch/>
        </p:blipFill>
        <p:spPr>
          <a:xfrm>
            <a:off x="3346800" y="946150"/>
            <a:ext cx="3840925" cy="1863076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4" name="Google Shape;43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0263" y="2055825"/>
            <a:ext cx="2886337" cy="244552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5" name="Google Shape;435;p47"/>
          <p:cNvSpPr txBox="1"/>
          <p:nvPr/>
        </p:nvSpPr>
        <p:spPr>
          <a:xfrm>
            <a:off x="7425225" y="1544250"/>
            <a:ext cx="15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???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42" name="Google Shape;442;p4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43" name="Google Shape;443;p4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5" name="Google Shape;44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Will</a:t>
            </a:r>
            <a:r>
              <a:rPr lang="en" sz="3120"/>
              <a:t> decorating always look good?</a:t>
            </a:r>
            <a:endParaRPr sz="312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53" name="Google Shape;453;p4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6" name="Google Shape;4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Cautionary comments for Decorator </a:t>
            </a:r>
            <a:r>
              <a:rPr i="1" lang="en" sz="2320" u="sng"/>
              <a:t>pattern</a:t>
            </a:r>
            <a:endParaRPr i="1" sz="2320" u="sng"/>
          </a:p>
        </p:txBody>
      </p:sp>
      <p:graphicFrame>
        <p:nvGraphicFramePr>
          <p:cNvPr id="458" name="Google Shape;458;p49"/>
          <p:cNvGraphicFramePr/>
          <p:nvPr/>
        </p:nvGraphicFramePr>
        <p:xfrm>
          <a:off x="304800" y="10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{14F8944C-26BE-4F9E-96C2-1FD343F532B5}</a:tableStyleId>
              </a:tblPr>
              <a:tblGrid>
                <a:gridCol w="3700975"/>
                <a:gridCol w="47564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When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Why It’s Bad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highlight>
                            <a:srgbClr val="F4CCCC"/>
                          </a:highlight>
                        </a:rPr>
                        <a:t>Too many</a:t>
                      </a:r>
                      <a:r>
                        <a:rPr lang="en" sz="1500"/>
                        <a:t> decorator layers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Hard to trace, maintain, and debug (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Decorator Hell</a:t>
                      </a:r>
                      <a:r>
                        <a:rPr lang="en" sz="1500"/>
                        <a:t>)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Inheritance is clearer/simpler</a:t>
                      </a:r>
                      <a:endParaRPr sz="15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Simpler than wrapping objects unnecessarily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Performance is critical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Decorator overhead </a:t>
                      </a:r>
                      <a:r>
                        <a:rPr lang="en" sz="1500">
                          <a:highlight>
                            <a:srgbClr val="F4CCCC"/>
                          </a:highlight>
                        </a:rPr>
                        <a:t>adds indirection and latency</a:t>
                      </a:r>
                      <a:endParaRPr sz="15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highlight>
                            <a:srgbClr val="F4CCCC"/>
                          </a:highlight>
                        </a:rPr>
                        <a:t>Behavior order</a:t>
                      </a:r>
                      <a:r>
                        <a:rPr lang="en" sz="1500"/>
                        <a:t> is tricky or unclear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Hard to understand the interaction of behaviors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highlight>
                            <a:srgbClr val="F4CCCC"/>
                          </a:highlight>
                        </a:rPr>
                        <a:t>Mutually exclusive</a:t>
                      </a:r>
                      <a:r>
                        <a:rPr lang="en" sz="1500"/>
                        <a:t> behaviors exist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Allows illogical combinations without constraint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65" name="Google Shape;465;p5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Decorator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8" name="Google Shape;46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Cautionary comments for Decorator as a Python </a:t>
            </a:r>
            <a:r>
              <a:rPr i="1" lang="en" sz="2320" u="sng"/>
              <a:t>feature</a:t>
            </a:r>
            <a:endParaRPr i="1" sz="2320" u="sng"/>
          </a:p>
        </p:txBody>
      </p:sp>
      <p:graphicFrame>
        <p:nvGraphicFramePr>
          <p:cNvPr id="470" name="Google Shape;470;p50"/>
          <p:cNvGraphicFramePr/>
          <p:nvPr/>
        </p:nvGraphicFramePr>
        <p:xfrm>
          <a:off x="311700" y="94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{14F8944C-26BE-4F9E-96C2-1FD343F532B5}</a:tableStyleId>
              </a:tblPr>
              <a:tblGrid>
                <a:gridCol w="4363875"/>
                <a:gridCol w="39561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When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Why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Code becomes </a:t>
                      </a:r>
                      <a:r>
                        <a:rPr b="1" lang="en" sz="1600"/>
                        <a:t>hard to read or trace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Wrapping hides behavior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You need </a:t>
                      </a:r>
                      <a:r>
                        <a:rPr b="1" lang="en" sz="1600"/>
                        <a:t>per-instance</a:t>
                      </a:r>
                      <a:r>
                        <a:rPr lang="en" sz="1600"/>
                        <a:t> behavior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Decorators are static at definition time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Debugging gets complicated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Decorators can obscure function identity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Performance is critical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Decorators add overhead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Behavior needs </a:t>
                      </a:r>
                      <a:r>
                        <a:rPr b="1" lang="en" sz="1600"/>
                        <a:t>dynamic control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Decorators are static unless configured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Simple logic doesn't justify extra complexity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Decorators can be overkill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