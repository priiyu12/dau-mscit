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299F82-363B-4AB0-B317-E3C6FDD0B03A}">
  <a:tblStyle styleId="{2E299F82-363B-4AB0-B317-E3C6FDD0B0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7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font" Target="fonts/RobotoMon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1f1f3d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a1f1f3d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1f1f3d6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1f1f3d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1f1f3d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a1f1f3d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a1f1f3d6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a1f1f3d6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a1f1f3d6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a1f1f3d6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Builder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Complex Objects: Building Step-by-step</a:t>
            </a:r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125" y="847675"/>
            <a:ext cx="5446034" cy="35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Builder Design Pattern</a:t>
            </a:r>
            <a:endParaRPr/>
          </a:p>
        </p:txBody>
      </p:sp>
      <p:sp>
        <p:nvSpPr>
          <p:cNvPr id="127" name="Google Shape;127;p27"/>
          <p:cNvSpPr txBox="1"/>
          <p:nvPr/>
        </p:nvSpPr>
        <p:spPr>
          <a:xfrm>
            <a:off x="3257010" y="2169123"/>
            <a:ext cx="4965600" cy="1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Builder Class</a:t>
            </a:r>
            <a:r>
              <a:rPr lang="en" sz="1300">
                <a:solidFill>
                  <a:schemeClr val="dk1"/>
                </a:solidFill>
              </a:rPr>
              <a:t>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AnimalBuilder</a:t>
            </a:r>
            <a:r>
              <a:rPr lang="en" sz="1300">
                <a:solidFill>
                  <a:schemeClr val="dk1"/>
                </a:solidFill>
              </a:rPr>
              <a:t>):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Handles the </a:t>
            </a:r>
            <a:r>
              <a:rPr i="1" lang="en" sz="1300">
                <a:solidFill>
                  <a:srgbClr val="FF0000"/>
                </a:solidFill>
                <a:highlight>
                  <a:srgbClr val="FFFF00"/>
                </a:highlight>
              </a:rPr>
              <a:t>step-by-step</a:t>
            </a:r>
            <a:r>
              <a:rPr lang="en" sz="1300">
                <a:solidFill>
                  <a:schemeClr val="dk1"/>
                </a:solidFill>
              </a:rPr>
              <a:t> construction of an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300">
                <a:solidFill>
                  <a:schemeClr val="dk1"/>
                </a:solidFill>
              </a:rPr>
              <a:t> object.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Provides methods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set_species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set_sound</a:t>
            </a:r>
            <a:r>
              <a:rPr lang="en" sz="1300">
                <a:solidFill>
                  <a:schemeClr val="dk1"/>
                </a:solidFill>
              </a:rPr>
              <a:t>, etc.) to </a:t>
            </a:r>
            <a:r>
              <a:rPr i="1" lang="en" sz="1300">
                <a:solidFill>
                  <a:srgbClr val="FF0000"/>
                </a:solidFill>
                <a:highlight>
                  <a:srgbClr val="FFFF00"/>
                </a:highlight>
              </a:rPr>
              <a:t>configure</a:t>
            </a:r>
            <a:r>
              <a:rPr lang="en" sz="1300">
                <a:solidFill>
                  <a:schemeClr val="dk1"/>
                </a:solidFill>
              </a:rPr>
              <a:t> the attributes of the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en" sz="1300">
                <a:solidFill>
                  <a:schemeClr val="dk1"/>
                </a:solidFill>
              </a:rPr>
              <a:t> object.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defaults or constraints can be added easily (e.g., raising an error if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species</a:t>
            </a:r>
            <a:r>
              <a:rPr lang="en" sz="1300">
                <a:solidFill>
                  <a:schemeClr val="dk1"/>
                </a:solidFill>
              </a:rPr>
              <a:t> or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sound</a:t>
            </a:r>
            <a:r>
              <a:rPr lang="en" sz="1300">
                <a:solidFill>
                  <a:schemeClr val="dk1"/>
                </a:solidFill>
              </a:rPr>
              <a:t> is missing).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69" y="741018"/>
            <a:ext cx="2122375" cy="38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7436" y="1057725"/>
            <a:ext cx="4367400" cy="9141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Builder Design Pattern: A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detailed</a:t>
            </a:r>
            <a:r>
              <a:rPr lang="en"/>
              <a:t> Dog</a:t>
            </a:r>
            <a:endParaRPr/>
          </a:p>
        </p:txBody>
      </p:sp>
      <p:pic>
        <p:nvPicPr>
          <p:cNvPr id="141" name="Google Shape;1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375" y="729275"/>
            <a:ext cx="2122375" cy="38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0451" y="695275"/>
            <a:ext cx="4164025" cy="871525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3" name="Google Shape;143;p28"/>
          <p:cNvGrpSpPr/>
          <p:nvPr/>
        </p:nvGrpSpPr>
        <p:grpSpPr>
          <a:xfrm>
            <a:off x="3683750" y="1700352"/>
            <a:ext cx="4943825" cy="2702250"/>
            <a:chOff x="3683750" y="1700352"/>
            <a:chExt cx="4943825" cy="2702250"/>
          </a:xfrm>
        </p:grpSpPr>
        <p:pic>
          <p:nvPicPr>
            <p:cNvPr id="144" name="Google Shape;14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83750" y="1700352"/>
              <a:ext cx="2665938" cy="2702250"/>
            </a:xfrm>
            <a:prstGeom prst="rect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45" name="Google Shape;145;p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8063" y="2484763"/>
              <a:ext cx="2489512" cy="669593"/>
            </a:xfrm>
            <a:prstGeom prst="rect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146" name="Google Shape;146;p28"/>
          <p:cNvGrpSpPr/>
          <p:nvPr/>
        </p:nvGrpSpPr>
        <p:grpSpPr>
          <a:xfrm>
            <a:off x="5181075" y="3745025"/>
            <a:ext cx="3135184" cy="461700"/>
            <a:chOff x="5181075" y="3745025"/>
            <a:chExt cx="3135184" cy="461700"/>
          </a:xfrm>
        </p:grpSpPr>
        <p:cxnSp>
          <p:nvCxnSpPr>
            <p:cNvPr id="147" name="Google Shape;147;p28"/>
            <p:cNvCxnSpPr/>
            <p:nvPr/>
          </p:nvCxnSpPr>
          <p:spPr>
            <a:xfrm flipH="1" rot="10800000">
              <a:off x="5181075" y="3962225"/>
              <a:ext cx="1890600" cy="23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" name="Google Shape;148;p28"/>
            <p:cNvSpPr txBox="1"/>
            <p:nvPr/>
          </p:nvSpPr>
          <p:spPr>
            <a:xfrm>
              <a:off x="7060759" y="3745025"/>
              <a:ext cx="125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Chaining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Builder Design Pattern: A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minimalist</a:t>
            </a:r>
            <a:r>
              <a:rPr lang="en"/>
              <a:t> Fish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577" y="729275"/>
            <a:ext cx="2122375" cy="38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0451" y="695275"/>
            <a:ext cx="4164025" cy="871525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2" name="Google Shape;162;p29"/>
          <p:cNvGrpSpPr/>
          <p:nvPr/>
        </p:nvGrpSpPr>
        <p:grpSpPr>
          <a:xfrm>
            <a:off x="3683750" y="1700350"/>
            <a:ext cx="4943825" cy="2702250"/>
            <a:chOff x="3683750" y="1700350"/>
            <a:chExt cx="4943825" cy="2702250"/>
          </a:xfrm>
        </p:grpSpPr>
        <p:pic>
          <p:nvPicPr>
            <p:cNvPr id="163" name="Google Shape;163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83750" y="1700350"/>
              <a:ext cx="3082650" cy="2702250"/>
            </a:xfrm>
            <a:prstGeom prst="rect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64" name="Google Shape;164;p29"/>
            <p:cNvPicPr preferRelativeResize="0"/>
            <p:nvPr/>
          </p:nvPicPr>
          <p:blipFill rotWithShape="1">
            <a:blip r:embed="rId7">
              <a:alphaModFix/>
            </a:blip>
            <a:srcRect b="0" l="0" r="4870" t="0"/>
            <a:stretch/>
          </p:blipFill>
          <p:spPr>
            <a:xfrm>
              <a:off x="3953850" y="2212400"/>
              <a:ext cx="2753825" cy="2163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2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138063" y="2484763"/>
              <a:ext cx="2489512" cy="669593"/>
            </a:xfrm>
            <a:prstGeom prst="rect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Builder Pattern?</a:t>
            </a:r>
            <a:endParaRPr/>
          </a:p>
        </p:txBody>
      </p:sp>
      <p:graphicFrame>
        <p:nvGraphicFramePr>
          <p:cNvPr id="177" name="Google Shape;177;p30"/>
          <p:cNvGraphicFramePr/>
          <p:nvPr/>
        </p:nvGraphicFramePr>
        <p:xfrm>
          <a:off x="1524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{2E299F82-363B-4AB0-B317-E3C6FDD0B03A}</a:tableStyleId>
              </a:tblPr>
              <a:tblGrid>
                <a:gridCol w="1233425"/>
                <a:gridCol w="2337975"/>
                <a:gridCol w="52006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Advantage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Explanation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Example from Code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Avoid Constructor Overload</a:t>
                      </a:r>
                      <a:endParaRPr b="1" sz="12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Simplifies object creation without requiring multiple constructors for different attribute combinations.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Instead of multiple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</a:t>
                      </a:r>
                      <a:r>
                        <a:rPr lang="en" sz="1200"/>
                        <a:t> constructors (e.g., with/without habitat, diet, etc.),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AnimalBuilder</a:t>
                      </a:r>
                      <a:r>
                        <a:rPr lang="en" sz="1200"/>
                        <a:t> provides a step-by-step interface.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Readable Object Creation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Object construction is easier to read and understand with named methods for setting attributes.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AnimalBuilder().set_species("Dog").set_sound("Woof").build()</a:t>
                      </a:r>
                      <a:r>
                        <a:rPr lang="en" sz="1200"/>
                        <a:t> is </a:t>
                      </a:r>
                      <a:r>
                        <a:rPr i="1" lang="en" sz="12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more readable</a:t>
                      </a:r>
                      <a:r>
                        <a:rPr lang="en" sz="1200"/>
                        <a:t> than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Animal("Dog", "Woof", "Domestic", "Omnivore")</a:t>
                      </a:r>
                      <a:r>
                        <a:rPr lang="en" sz="1200"/>
                        <a:t>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Scalability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New attributes can be added easily without modifying the existing class or constructor logic.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Adding a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set_lifespan()</a:t>
                      </a:r>
                      <a:r>
                        <a:rPr lang="en" sz="1200"/>
                        <a:t> method in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AnimalBuilder</a:t>
                      </a:r>
                      <a:r>
                        <a:rPr lang="en" sz="1200"/>
                        <a:t> doesn’t affect existing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</a:t>
                      </a:r>
                      <a:r>
                        <a:rPr lang="en" sz="1200"/>
                        <a:t> code.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Builder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5" name="Google Shape;185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Builder Pattern?</a:t>
            </a:r>
            <a:endParaRPr/>
          </a:p>
        </p:txBody>
      </p:sp>
      <p:graphicFrame>
        <p:nvGraphicFramePr>
          <p:cNvPr id="189" name="Google Shape;189;p31"/>
          <p:cNvGraphicFramePr/>
          <p:nvPr/>
        </p:nvGraphicFramePr>
        <p:xfrm>
          <a:off x="109538" y="117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{2E299F82-363B-4AB0-B317-E3C6FDD0B03A}</a:tableStyleId>
              </a:tblPr>
              <a:tblGrid>
                <a:gridCol w="1248275"/>
                <a:gridCol w="2366150"/>
                <a:gridCol w="5263250"/>
              </a:tblGrid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Validation</a:t>
                      </a:r>
                      <a:endParaRPr b="1" sz="12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Ensures required fields are set and invalid configurations are avoided before object creation.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build()</a:t>
                      </a:r>
                      <a:r>
                        <a:rPr lang="en" sz="1200"/>
                        <a:t> method raises an error if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species</a:t>
                      </a:r>
                      <a:r>
                        <a:rPr lang="en" sz="1200"/>
                        <a:t> or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sound</a:t>
                      </a:r>
                      <a:r>
                        <a:rPr lang="en" sz="1200"/>
                        <a:t> is missing.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Flexible Configuration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Allows objects to be constructed with varying levels of detail, from minimal to fully detailed.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Example: A minimal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Fish</a:t>
                      </a:r>
                      <a:r>
                        <a:rPr lang="en" sz="1200"/>
                        <a:t> with only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species</a:t>
                      </a:r>
                      <a:r>
                        <a:rPr lang="en" sz="1200"/>
                        <a:t> and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sound</a:t>
                      </a:r>
                      <a:r>
                        <a:rPr lang="en" sz="1200"/>
                        <a:t>, or a full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Dog</a:t>
                      </a:r>
                      <a:r>
                        <a:rPr lang="en" sz="1200"/>
                        <a:t> with habitat and diet.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Fluent Interface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Enables chaining of method calls for concise and expressive code.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AnimalBuilder().set_species("Dog").set_sound("Woof").build()</a:t>
                      </a:r>
                      <a:r>
                        <a:rPr lang="en" sz="1200"/>
                        <a:t> uses </a:t>
                      </a:r>
                      <a:r>
                        <a:rPr lang="en" sz="12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method chaining</a:t>
                      </a:r>
                      <a:r>
                        <a:rPr lang="en" sz="1200"/>
                        <a:t> for clarity.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Improved Maintainability</a:t>
                      </a:r>
                      <a:endParaRPr b="1"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Separates object creation logic from the class itself, making the code easier to manage and extend.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AnimalBuilder</a:t>
                      </a:r>
                      <a:r>
                        <a:rPr lang="en" sz="1200"/>
                        <a:t> </a:t>
                      </a: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encapsulates the logic for </a:t>
                      </a:r>
                      <a:r>
                        <a:rPr lang="en" sz="12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setting attribute</a:t>
                      </a:r>
                      <a:r>
                        <a:rPr lang="en" sz="1200" u="sng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" sz="1200"/>
                        <a:t>, keeping </a:t>
                      </a: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Animal</a:t>
                      </a:r>
                      <a:r>
                        <a:rPr lang="en" sz="1200"/>
                        <a:t> clean and focused.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