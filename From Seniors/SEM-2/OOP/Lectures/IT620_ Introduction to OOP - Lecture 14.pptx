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D8F588-4200-452C-ABD4-03DFA44BE69D}">
  <a:tblStyle styleId="{D7D8F588-4200-452C-ABD4-03DFA44BE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bold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RobotoMon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04b85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04b85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7c20f5c6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7c20f5c6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7c20f5c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7c20f5c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7c20f5c6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7c20f5c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7c20f5c6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7c20f5c6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7c20f5c6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7c20f5c6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7c20f5c6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7c20f5c6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gif"/><Relationship Id="rId10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Behavioral Design Patterns: Observer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notify</a:t>
            </a:r>
            <a:r>
              <a:rPr lang="en" sz="2320"/>
              <a:t> each other?</a:t>
            </a:r>
            <a:endParaRPr sz="2320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2525"/>
            <a:ext cx="5686824" cy="26314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575" y="1407438"/>
            <a:ext cx="4660500" cy="24616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7400" y="2209225"/>
            <a:ext cx="3736225" cy="12454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What’s </a:t>
            </a:r>
            <a:r>
              <a:rPr lang="en" sz="2320"/>
              <a:t>wrong</a:t>
            </a:r>
            <a:r>
              <a:rPr lang="en" sz="2320"/>
              <a:t> with the design?</a:t>
            </a:r>
            <a:endParaRPr sz="2320"/>
          </a:p>
        </p:txBody>
      </p:sp>
      <p:graphicFrame>
        <p:nvGraphicFramePr>
          <p:cNvPr id="129" name="Google Shape;129;p27"/>
          <p:cNvGraphicFramePr/>
          <p:nvPr/>
        </p:nvGraphicFramePr>
        <p:xfrm>
          <a:off x="442450" y="104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{D7D8F588-4200-452C-ABD4-03DFA44BE69D}</a:tableStyleId>
              </a:tblPr>
              <a:tblGrid>
                <a:gridCol w="2264800"/>
                <a:gridCol w="5921650"/>
              </a:tblGrid>
              <a:tr h="49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Disadvantage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Explanation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Tight Coupling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The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SentinelBird</a:t>
                      </a:r>
                      <a:r>
                        <a:rPr lang="en" sz="1500"/>
                        <a:t>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directly</a:t>
                      </a:r>
                      <a:r>
                        <a:rPr lang="en" sz="1500"/>
                        <a:t> references specific bird classes (e.g.,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Sparrow</a:t>
                      </a:r>
                      <a:r>
                        <a:rPr lang="en" sz="1500"/>
                        <a:t>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Robin</a:t>
                      </a:r>
                      <a:r>
                        <a:rPr lang="en" sz="1500"/>
                        <a:t>)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→ 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changes</a:t>
                      </a:r>
                      <a:r>
                        <a:rPr lang="en" sz="1500"/>
                        <a:t> to one </a:t>
                      </a: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require modifying the subject class</a:t>
                      </a:r>
                      <a:endParaRPr sz="15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Scalability Issues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SentinelBird</a:t>
                      </a:r>
                      <a:r>
                        <a:rPr lang="en" sz="1500"/>
                        <a:t> becomes </a:t>
                      </a:r>
                      <a:r>
                        <a:rPr lang="en" sz="1500">
                          <a:highlight>
                            <a:srgbClr val="F4CCCC"/>
                          </a:highlight>
                        </a:rPr>
                        <a:t>overloaded with direct dependencies</a:t>
                      </a:r>
                      <a:r>
                        <a:rPr lang="en" sz="1500"/>
                        <a:t> as more birds add in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Reduced Flexibility</a:t>
                      </a:r>
                      <a:endParaRPr b="1" sz="15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D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ynamic</a:t>
                      </a:r>
                      <a:r>
                        <a:rPr lang="en" sz="1500"/>
                        <a:t> addition or removal of bird observers at runtime not possible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if objects want to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notify</a:t>
            </a:r>
            <a:r>
              <a:rPr lang="en" sz="2320"/>
              <a:t> each other? The Observer way!!</a:t>
            </a:r>
            <a:endParaRPr sz="2320"/>
          </a:p>
        </p:txBody>
      </p:sp>
      <p:pic>
        <p:nvPicPr>
          <p:cNvPr id="141" name="Google Shape;141;p28"/>
          <p:cNvPicPr preferRelativeResize="0"/>
          <p:nvPr/>
        </p:nvPicPr>
        <p:blipFill rotWithShape="1">
          <a:blip r:embed="rId4">
            <a:alphaModFix/>
          </a:blip>
          <a:srcRect b="0" l="0" r="0" t="8214"/>
          <a:stretch/>
        </p:blipFill>
        <p:spPr>
          <a:xfrm>
            <a:off x="140450" y="924550"/>
            <a:ext cx="5645085" cy="3459225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0675" y="853391"/>
            <a:ext cx="5519900" cy="17216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8238" y="2774200"/>
            <a:ext cx="6829425" cy="12954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5250" y="842150"/>
            <a:ext cx="4293621" cy="35416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</a:t>
            </a:r>
            <a:endParaRPr sz="2320"/>
          </a:p>
        </p:txBody>
      </p:sp>
      <p:graphicFrame>
        <p:nvGraphicFramePr>
          <p:cNvPr id="156" name="Google Shape;156;p29"/>
          <p:cNvGraphicFramePr/>
          <p:nvPr/>
        </p:nvGraphicFramePr>
        <p:xfrm>
          <a:off x="471575" y="9862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{D7D8F588-4200-452C-ABD4-03DFA44BE69D}</a:tableStyleId>
              </a:tblPr>
              <a:tblGrid>
                <a:gridCol w="1401425"/>
                <a:gridCol w="6809375"/>
              </a:tblGrid>
              <a:tr h="495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Advantage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Explanation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Loose Coupling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r>
                        <a:rPr lang="en" sz="1300"/>
                        <a:t>ecouples the subject from its observers,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reducing dependencies</a:t>
                      </a:r>
                      <a:r>
                        <a:rPr lang="en" sz="1300"/>
                        <a:t> → allows changes without widespread impact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Dynamic Relationships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Observers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can be added or removed at runtime → scalable</a:t>
                      </a:r>
                      <a:endParaRPr sz="1300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Improved Maintainability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</a:t>
                      </a:r>
                      <a:r>
                        <a:rPr lang="en" sz="1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eparates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 the notification mechanism</a:t>
                      </a:r>
                      <a:r>
                        <a:rPr lang="en" sz="1300"/>
                        <a:t> from the business logic →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easier to update or extend</a:t>
                      </a:r>
                      <a:r>
                        <a:rPr lang="en" sz="1300"/>
                        <a:t> parts of the system without affecting others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Reusability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C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an be reused</a:t>
                      </a:r>
                      <a:r>
                        <a:rPr lang="en" sz="1300"/>
                        <a:t> across different subjects or projects,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reducing code duplication</a:t>
                      </a:r>
                      <a:r>
                        <a:rPr lang="en" sz="1300"/>
                        <a:t> and promoting modular design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4950" y="59650"/>
            <a:ext cx="2146198" cy="1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Synchronous vs. Asynchronous Notifications</a:t>
            </a:r>
            <a:endParaRPr sz="23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The (default) synchronous</a:t>
            </a:r>
            <a:r>
              <a:rPr lang="en" sz="2320"/>
              <a:t>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notification - Waiting is not good!</a:t>
            </a:r>
            <a:endParaRPr sz="2320"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50" y="924991"/>
            <a:ext cx="5519900" cy="17216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7350" y="1577475"/>
            <a:ext cx="5048250" cy="230505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31"/>
          <p:cNvSpPr/>
          <p:nvPr/>
        </p:nvSpPr>
        <p:spPr>
          <a:xfrm>
            <a:off x="4036025" y="3071775"/>
            <a:ext cx="3804600" cy="705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5350" y="1425075"/>
            <a:ext cx="6391825" cy="256835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31"/>
          <p:cNvSpPr txBox="1"/>
          <p:nvPr/>
        </p:nvSpPr>
        <p:spPr>
          <a:xfrm>
            <a:off x="595810" y="4062468"/>
            <a:ext cx="83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0000"/>
                </a:solidFill>
              </a:rPr>
              <a:t>Sentinel Bird must </a:t>
            </a:r>
            <a:r>
              <a:rPr i="1" lang="en">
                <a:solidFill>
                  <a:srgbClr val="FF0000"/>
                </a:solidFill>
                <a:highlight>
                  <a:srgbClr val="F4CCCC"/>
                </a:highlight>
              </a:rPr>
              <a:t>wait </a:t>
            </a:r>
            <a:r>
              <a:rPr i="1" lang="en">
                <a:solidFill>
                  <a:srgbClr val="FF0000"/>
                </a:solidFill>
              </a:rPr>
              <a:t>for each bird to finish processing its alert before moving on to the next.</a:t>
            </a:r>
            <a:endParaRPr i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2"/>
          <p:cNvPicPr preferRelativeResize="0"/>
          <p:nvPr/>
        </p:nvPicPr>
        <p:blipFill rotWithShape="1">
          <a:blip r:embed="rId3">
            <a:alphaModFix/>
          </a:blip>
          <a:srcRect b="0" l="0" r="0" t="8214"/>
          <a:stretch/>
        </p:blipFill>
        <p:spPr>
          <a:xfrm>
            <a:off x="140450" y="924550"/>
            <a:ext cx="5645085" cy="34592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190" name="Google Shape;19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2341" y="3244816"/>
            <a:ext cx="871675" cy="9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Behavioral Design Patterns: Observer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Notify</a:t>
            </a:r>
            <a:r>
              <a:rPr lang="en" sz="2320"/>
              <a:t> each other </a:t>
            </a:r>
            <a:r>
              <a:rPr i="1" lang="en" sz="2320">
                <a:highlight>
                  <a:srgbClr val="FFFF00"/>
                </a:highlight>
              </a:rPr>
              <a:t>without having to wait</a:t>
            </a:r>
            <a:r>
              <a:rPr lang="en" sz="2320"/>
              <a:t> for anyone! </a:t>
            </a:r>
            <a:r>
              <a:rPr lang="en" sz="2320">
                <a:solidFill>
                  <a:srgbClr val="FF0000"/>
                </a:solidFill>
                <a:highlight>
                  <a:srgbClr val="FFFF00"/>
                </a:highlight>
              </a:rPr>
              <a:t>Async</a:t>
            </a:r>
            <a:endParaRPr sz="232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0089" y="812993"/>
            <a:ext cx="5773794" cy="34592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32"/>
          <p:cNvSpPr/>
          <p:nvPr/>
        </p:nvSpPr>
        <p:spPr>
          <a:xfrm>
            <a:off x="3451275" y="2666025"/>
            <a:ext cx="5406000" cy="153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775" y="834825"/>
            <a:ext cx="5048250" cy="230505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9250" y="1175940"/>
            <a:ext cx="6077575" cy="243772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4913" y="1623988"/>
            <a:ext cx="7439025" cy="11430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76463" y="1524000"/>
            <a:ext cx="5400675" cy="2705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