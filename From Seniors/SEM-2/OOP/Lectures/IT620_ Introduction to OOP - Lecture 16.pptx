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44D87E-E1F4-4E84-9478-0A674950F6D3}">
  <a:tblStyle styleId="{9144D87E-E1F4-4E84-9478-0A674950F6D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104b85e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104b85e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9e912333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9e912333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9e912333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9e912333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9e912333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9e912333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9e912333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49e912333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9e912333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9e912333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9e912333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49e912333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9e912333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49e912333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9e912333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49e912333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10" Type="http://schemas.openxmlformats.org/officeDocument/2006/relationships/image" Target="../media/image18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11" Type="http://schemas.openxmlformats.org/officeDocument/2006/relationships/image" Target="../media/image17.png"/><Relationship Id="rId10" Type="http://schemas.openxmlformats.org/officeDocument/2006/relationships/image" Target="../media/image20.png"/><Relationship Id="rId9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513700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Behavioral Design Patterns: Command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IT620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Command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 if objects want to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talk to</a:t>
            </a:r>
            <a:r>
              <a:rPr lang="en" sz="2320"/>
              <a:t> each other via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“</a:t>
            </a:r>
            <a:r>
              <a:rPr i="1" lang="en" sz="2320">
                <a:solidFill>
                  <a:srgbClr val="FF0000"/>
                </a:solidFill>
                <a:highlight>
                  <a:srgbClr val="FFFF00"/>
                </a:highlight>
              </a:rPr>
              <a:t>messengers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”</a:t>
            </a:r>
            <a:r>
              <a:rPr lang="en" sz="2320"/>
              <a:t>?</a:t>
            </a:r>
            <a:endParaRPr sz="2320"/>
          </a:p>
        </p:txBody>
      </p:sp>
      <p:pic>
        <p:nvPicPr>
          <p:cNvPr id="115" name="Google Shape;11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25" y="859475"/>
            <a:ext cx="4057110" cy="342455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16" name="Google Shape;116;p26"/>
          <p:cNvCxnSpPr/>
          <p:nvPr/>
        </p:nvCxnSpPr>
        <p:spPr>
          <a:xfrm>
            <a:off x="534800" y="1195425"/>
            <a:ext cx="762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7" name="Google Shape;11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3829" y="859475"/>
            <a:ext cx="2645650" cy="1539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18" name="Google Shape;118;p26"/>
          <p:cNvCxnSpPr/>
          <p:nvPr/>
        </p:nvCxnSpPr>
        <p:spPr>
          <a:xfrm>
            <a:off x="4888650" y="1450059"/>
            <a:ext cx="762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9" name="Google Shape;11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1250" y="1742450"/>
            <a:ext cx="3211200" cy="2776021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Command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7" name="Google Shape;127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" name="Google Shape;1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 if objects want to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talk to</a:t>
            </a:r>
            <a:r>
              <a:rPr lang="en" sz="2320"/>
              <a:t> each other via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“</a:t>
            </a:r>
            <a:r>
              <a:rPr i="1" lang="en" sz="2320">
                <a:solidFill>
                  <a:srgbClr val="FF0000"/>
                </a:solidFill>
                <a:highlight>
                  <a:srgbClr val="FFFF00"/>
                </a:highlight>
              </a:rPr>
              <a:t>messengers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”</a:t>
            </a:r>
            <a:r>
              <a:rPr lang="en" sz="2320"/>
              <a:t>?</a:t>
            </a:r>
            <a:endParaRPr sz="2320"/>
          </a:p>
        </p:txBody>
      </p:sp>
      <p:pic>
        <p:nvPicPr>
          <p:cNvPr id="131" name="Google Shape;13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29" y="859475"/>
            <a:ext cx="2645650" cy="1539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2" name="Google Shape;132;p27"/>
          <p:cNvCxnSpPr/>
          <p:nvPr/>
        </p:nvCxnSpPr>
        <p:spPr>
          <a:xfrm>
            <a:off x="316650" y="1450059"/>
            <a:ext cx="762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3" name="Google Shape;13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775" y="1682762"/>
            <a:ext cx="3211200" cy="2776021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4" name="Google Shape;13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5575" y="941525"/>
            <a:ext cx="4938748" cy="3338319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5" name="Google Shape;135;p27"/>
          <p:cNvCxnSpPr/>
          <p:nvPr/>
        </p:nvCxnSpPr>
        <p:spPr>
          <a:xfrm>
            <a:off x="4283425" y="1172746"/>
            <a:ext cx="762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Command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3" name="Google Shape;143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The </a:t>
            </a:r>
            <a:r>
              <a:rPr i="1" lang="en" sz="2320">
                <a:solidFill>
                  <a:srgbClr val="0000FF"/>
                </a:solidFill>
              </a:rPr>
              <a:t>sender </a:t>
            </a:r>
            <a:r>
              <a:rPr i="1" lang="en" sz="2320"/>
              <a:t>→ </a:t>
            </a:r>
            <a:r>
              <a:rPr i="1" lang="en" sz="2320">
                <a:solidFill>
                  <a:srgbClr val="9900FF"/>
                </a:solidFill>
              </a:rPr>
              <a:t>messenger</a:t>
            </a:r>
            <a:r>
              <a:rPr i="1" lang="en" sz="2320"/>
              <a:t> → </a:t>
            </a:r>
            <a:r>
              <a:rPr i="1" lang="en" sz="2320">
                <a:solidFill>
                  <a:srgbClr val="FF0000"/>
                </a:solidFill>
              </a:rPr>
              <a:t>receiver</a:t>
            </a:r>
            <a:r>
              <a:rPr lang="en" sz="2320">
                <a:solidFill>
                  <a:srgbClr val="FF0000"/>
                </a:solidFill>
              </a:rPr>
              <a:t> </a:t>
            </a:r>
            <a:r>
              <a:rPr lang="en" sz="2320"/>
              <a:t>paradigm</a:t>
            </a:r>
            <a:endParaRPr sz="2320"/>
          </a:p>
        </p:txBody>
      </p:sp>
      <p:pic>
        <p:nvPicPr>
          <p:cNvPr id="147" name="Google Shape;14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3225" y="859475"/>
            <a:ext cx="6113886" cy="342455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28"/>
          <p:cNvSpPr/>
          <p:nvPr/>
        </p:nvSpPr>
        <p:spPr>
          <a:xfrm>
            <a:off x="1297675" y="1305525"/>
            <a:ext cx="1565100" cy="393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28"/>
          <p:cNvGrpSpPr/>
          <p:nvPr/>
        </p:nvGrpSpPr>
        <p:grpSpPr>
          <a:xfrm>
            <a:off x="1339975" y="1502325"/>
            <a:ext cx="4825800" cy="929391"/>
            <a:chOff x="1339975" y="1502325"/>
            <a:chExt cx="4825800" cy="929391"/>
          </a:xfrm>
        </p:grpSpPr>
        <p:sp>
          <p:nvSpPr>
            <p:cNvPr id="150" name="Google Shape;150;p28"/>
            <p:cNvSpPr/>
            <p:nvPr/>
          </p:nvSpPr>
          <p:spPr>
            <a:xfrm>
              <a:off x="1339975" y="1859016"/>
              <a:ext cx="4825800" cy="5727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1" name="Google Shape;151;p28"/>
            <p:cNvCxnSpPr>
              <a:stCxn id="148" idx="3"/>
              <a:endCxn id="150" idx="3"/>
            </p:cNvCxnSpPr>
            <p:nvPr/>
          </p:nvCxnSpPr>
          <p:spPr>
            <a:xfrm>
              <a:off x="2862775" y="1502325"/>
              <a:ext cx="3303000" cy="642900"/>
            </a:xfrm>
            <a:prstGeom prst="curvedConnector3">
              <a:avLst>
                <a:gd fmla="val 107209" name="adj1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52" name="Google Shape;152;p28"/>
          <p:cNvGrpSpPr/>
          <p:nvPr/>
        </p:nvGrpSpPr>
        <p:grpSpPr>
          <a:xfrm>
            <a:off x="1339975" y="2145366"/>
            <a:ext cx="4825800" cy="1252284"/>
            <a:chOff x="1339975" y="2145366"/>
            <a:chExt cx="4825800" cy="1252284"/>
          </a:xfrm>
        </p:grpSpPr>
        <p:sp>
          <p:nvSpPr>
            <p:cNvPr id="153" name="Google Shape;153;p28"/>
            <p:cNvSpPr/>
            <p:nvPr/>
          </p:nvSpPr>
          <p:spPr>
            <a:xfrm>
              <a:off x="1339975" y="2624850"/>
              <a:ext cx="3517800" cy="7728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4" name="Google Shape;154;p28"/>
            <p:cNvCxnSpPr>
              <a:stCxn id="150" idx="3"/>
              <a:endCxn id="153" idx="3"/>
            </p:cNvCxnSpPr>
            <p:nvPr/>
          </p:nvCxnSpPr>
          <p:spPr>
            <a:xfrm flipH="1">
              <a:off x="4857775" y="2145366"/>
              <a:ext cx="1308000" cy="865800"/>
            </a:xfrm>
            <a:prstGeom prst="curvedConnector3">
              <a:avLst>
                <a:gd fmla="val -18205" name="adj1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55" name="Google Shape;155;p28"/>
          <p:cNvGrpSpPr/>
          <p:nvPr/>
        </p:nvGrpSpPr>
        <p:grpSpPr>
          <a:xfrm>
            <a:off x="1358675" y="3011250"/>
            <a:ext cx="3517800" cy="1176358"/>
            <a:chOff x="1339975" y="2112984"/>
            <a:chExt cx="3517800" cy="1284654"/>
          </a:xfrm>
        </p:grpSpPr>
        <p:sp>
          <p:nvSpPr>
            <p:cNvPr id="156" name="Google Shape;156;p28"/>
            <p:cNvSpPr/>
            <p:nvPr/>
          </p:nvSpPr>
          <p:spPr>
            <a:xfrm>
              <a:off x="1339975" y="2682138"/>
              <a:ext cx="3517800" cy="7155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" name="Google Shape;157;p28"/>
            <p:cNvCxnSpPr>
              <a:stCxn id="153" idx="3"/>
              <a:endCxn id="156" idx="3"/>
            </p:cNvCxnSpPr>
            <p:nvPr/>
          </p:nvCxnSpPr>
          <p:spPr>
            <a:xfrm>
              <a:off x="4839075" y="2112984"/>
              <a:ext cx="18600" cy="927000"/>
            </a:xfrm>
            <a:prstGeom prst="curvedConnector3">
              <a:avLst>
                <a:gd fmla="val 6018145" name="adj1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Command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320"/>
              <a:t>The </a:t>
            </a:r>
            <a:r>
              <a:rPr i="1" lang="en" sz="2320">
                <a:solidFill>
                  <a:srgbClr val="0000FF"/>
                </a:solidFill>
              </a:rPr>
              <a:t>sender </a:t>
            </a:r>
            <a:r>
              <a:rPr i="1" lang="en" sz="2320"/>
              <a:t>→ </a:t>
            </a:r>
            <a:r>
              <a:rPr i="1" lang="en" sz="2320">
                <a:solidFill>
                  <a:srgbClr val="9900FF"/>
                </a:solidFill>
              </a:rPr>
              <a:t>messenger</a:t>
            </a:r>
            <a:r>
              <a:rPr i="1" lang="en" sz="2320"/>
              <a:t> → </a:t>
            </a:r>
            <a:r>
              <a:rPr i="1" lang="en" sz="2320">
                <a:solidFill>
                  <a:srgbClr val="FF0000"/>
                </a:solidFill>
              </a:rPr>
              <a:t>receiver</a:t>
            </a:r>
            <a:r>
              <a:rPr lang="en" sz="2320">
                <a:solidFill>
                  <a:srgbClr val="FF0000"/>
                </a:solidFill>
              </a:rPr>
              <a:t> </a:t>
            </a:r>
            <a:r>
              <a:rPr lang="en" sz="2320"/>
              <a:t>paradigm</a:t>
            </a:r>
            <a:endParaRPr sz="2320"/>
          </a:p>
        </p:txBody>
      </p:sp>
      <p:pic>
        <p:nvPicPr>
          <p:cNvPr id="169" name="Google Shape;16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5225" y="859475"/>
            <a:ext cx="5479280" cy="342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9"/>
          <p:cNvSpPr/>
          <p:nvPr/>
        </p:nvSpPr>
        <p:spPr>
          <a:xfrm>
            <a:off x="5363700" y="778600"/>
            <a:ext cx="1895700" cy="1392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9"/>
          <p:cNvSpPr/>
          <p:nvPr/>
        </p:nvSpPr>
        <p:spPr>
          <a:xfrm>
            <a:off x="2587300" y="2131325"/>
            <a:ext cx="1895700" cy="2152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9"/>
          <p:cNvSpPr/>
          <p:nvPr/>
        </p:nvSpPr>
        <p:spPr>
          <a:xfrm>
            <a:off x="1659450" y="1179750"/>
            <a:ext cx="1384200" cy="2068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9"/>
          <p:cNvSpPr/>
          <p:nvPr/>
        </p:nvSpPr>
        <p:spPr>
          <a:xfrm>
            <a:off x="4361100" y="1840325"/>
            <a:ext cx="1895700" cy="1339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0" name="Google Shape;180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Command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1" name="Google Shape;181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Why Command?</a:t>
            </a:r>
            <a:endParaRPr sz="2320"/>
          </a:p>
        </p:txBody>
      </p:sp>
      <p:graphicFrame>
        <p:nvGraphicFramePr>
          <p:cNvPr id="185" name="Google Shape;185;p30"/>
          <p:cNvGraphicFramePr/>
          <p:nvPr/>
        </p:nvGraphicFramePr>
        <p:xfrm>
          <a:off x="293000" y="8529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{9144D87E-E1F4-4E84-9478-0A674950F6D3}</a:tableStyleId>
              </a:tblPr>
              <a:tblGrid>
                <a:gridCol w="1850400"/>
                <a:gridCol w="67253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Benefit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Description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highlight>
                            <a:srgbClr val="D9EAD3"/>
                          </a:highlight>
                        </a:rPr>
                        <a:t>Decoupling</a:t>
                      </a:r>
                      <a:endParaRPr b="1" sz="1300"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300">
                          <a:solidFill>
                            <a:srgbClr val="38761D"/>
                          </a:solidFill>
                          <a:highlight>
                            <a:srgbClr val="FFFF00"/>
                          </a:highlight>
                        </a:rPr>
                        <a:t>Separates</a:t>
                      </a:r>
                      <a:r>
                        <a:rPr lang="en" sz="1300"/>
                        <a:t> the </a:t>
                      </a:r>
                      <a:r>
                        <a:rPr lang="en" sz="1300">
                          <a:solidFill>
                            <a:srgbClr val="9900FF"/>
                          </a:solidFill>
                        </a:rPr>
                        <a:t>object that invokes the command (Invoker)</a:t>
                      </a:r>
                      <a:r>
                        <a:rPr lang="en" sz="1300"/>
                        <a:t> from the </a:t>
                      </a:r>
                      <a:r>
                        <a:rPr lang="en" sz="1300">
                          <a:solidFill>
                            <a:srgbClr val="FF0000"/>
                          </a:solidFill>
                        </a:rPr>
                        <a:t>one that knows how to execute it (Receiver)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Extensibility (S</a:t>
                      </a:r>
                      <a:r>
                        <a:rPr b="1" i="1" lang="en" sz="1300">
                          <a:solidFill>
                            <a:srgbClr val="38761D"/>
                          </a:solidFill>
                        </a:rPr>
                        <a:t>O</a:t>
                      </a:r>
                      <a:r>
                        <a:rPr b="1" lang="en" sz="1300"/>
                        <a:t>LID)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New commands can be </a:t>
                      </a:r>
                      <a:r>
                        <a:rPr i="1" lang="en" sz="1300">
                          <a:solidFill>
                            <a:srgbClr val="38761D"/>
                          </a:solidFill>
                          <a:highlight>
                            <a:srgbClr val="FFFF00"/>
                          </a:highlight>
                        </a:rPr>
                        <a:t>added</a:t>
                      </a:r>
                      <a:r>
                        <a:rPr lang="en" sz="1300"/>
                        <a:t> without changing existing code (open/closed principle).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Reusability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Commands can be </a:t>
                      </a:r>
                      <a:r>
                        <a:rPr i="1" lang="en" sz="1300">
                          <a:solidFill>
                            <a:srgbClr val="38761D"/>
                          </a:solidFill>
                          <a:highlight>
                            <a:srgbClr val="FFFF00"/>
                          </a:highlight>
                        </a:rPr>
                        <a:t>reused</a:t>
                      </a:r>
                      <a:r>
                        <a:rPr lang="en" sz="1300"/>
                        <a:t> across different invokers or contexts.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highlight>
                            <a:srgbClr val="FCE5CD"/>
                          </a:highlight>
                        </a:rPr>
                        <a:t>Undo/Redo Support</a:t>
                      </a:r>
                      <a:endParaRPr b="1" sz="1300">
                        <a:highlight>
                          <a:srgbClr val="FCE5CD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Commands can store state for </a:t>
                      </a: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undo/redo functionality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highlight>
                            <a:srgbClr val="FCE5CD"/>
                          </a:highlight>
                        </a:rPr>
                        <a:t>Command Queuing/Logging</a:t>
                      </a:r>
                      <a:endParaRPr b="1" sz="1300">
                        <a:highlight>
                          <a:srgbClr val="FCE5CD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Commands can be stored, logged, or </a:t>
                      </a:r>
                      <a:r>
                        <a:rPr i="1" lang="en" sz="1300">
                          <a:solidFill>
                            <a:srgbClr val="38761D"/>
                          </a:solidFill>
                          <a:highlight>
                            <a:srgbClr val="FFFF00"/>
                          </a:highlight>
                        </a:rPr>
                        <a:t>executed later</a:t>
                      </a:r>
                      <a:r>
                        <a:rPr lang="en" sz="1300"/>
                        <a:t> (e.g., </a:t>
                      </a: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task queues</a:t>
                      </a:r>
                      <a:r>
                        <a:rPr lang="en" sz="1300"/>
                        <a:t>)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highlight>
                            <a:srgbClr val="FCE5CD"/>
                          </a:highlight>
                        </a:rPr>
                        <a:t>Macro Commands</a:t>
                      </a:r>
                      <a:endParaRPr b="1" sz="1300">
                        <a:highlight>
                          <a:srgbClr val="FCE5CD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Multiple commands can be </a:t>
                      </a:r>
                      <a:r>
                        <a:rPr i="1" lang="en" sz="1300">
                          <a:solidFill>
                            <a:srgbClr val="38761D"/>
                          </a:solidFill>
                          <a:highlight>
                            <a:srgbClr val="FFFF00"/>
                          </a:highlight>
                        </a:rPr>
                        <a:t>combined </a:t>
                      </a: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into one command</a:t>
                      </a:r>
                      <a:r>
                        <a:rPr lang="en" sz="1300"/>
                        <a:t> to execute in sequence.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Flexible Invocation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Commands can be parameterized, passed as arguments, or </a:t>
                      </a: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triggered in various ways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2" name="Google Shape;192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Command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3" name="Google Shape;193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5" name="Google Shape;19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How to get “</a:t>
            </a:r>
            <a:r>
              <a:rPr i="1" lang="en" sz="2320">
                <a:solidFill>
                  <a:srgbClr val="B45F06"/>
                </a:solidFill>
              </a:rPr>
              <a:t>undo</a:t>
            </a:r>
            <a:r>
              <a:rPr lang="en" sz="2320"/>
              <a:t>” done?</a:t>
            </a:r>
            <a:endParaRPr sz="2320"/>
          </a:p>
        </p:txBody>
      </p:sp>
      <p:pic>
        <p:nvPicPr>
          <p:cNvPr id="197" name="Google Shape;19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025" y="1133250"/>
            <a:ext cx="1955351" cy="154005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8" name="Google Shape;19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500" y="1789000"/>
            <a:ext cx="2453675" cy="18583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9" name="Google Shape;199;p31"/>
          <p:cNvSpPr/>
          <p:nvPr/>
        </p:nvSpPr>
        <p:spPr>
          <a:xfrm>
            <a:off x="1093200" y="3175400"/>
            <a:ext cx="1659600" cy="6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1044" y="314325"/>
            <a:ext cx="2752624" cy="150702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1" name="Google Shape;201;p31"/>
          <p:cNvSpPr/>
          <p:nvPr/>
        </p:nvSpPr>
        <p:spPr>
          <a:xfrm>
            <a:off x="6119975" y="1254525"/>
            <a:ext cx="2352600" cy="706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0025" y="1741763"/>
            <a:ext cx="3218649" cy="2574075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3" name="Google Shape;203;p31"/>
          <p:cNvSpPr/>
          <p:nvPr/>
        </p:nvSpPr>
        <p:spPr>
          <a:xfrm>
            <a:off x="3848800" y="3209825"/>
            <a:ext cx="2453700" cy="706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56355" y="1454713"/>
            <a:ext cx="6103845" cy="2367987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Command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2" name="Google Shape;212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4" name="Google Shape;2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How to get “</a:t>
            </a:r>
            <a:r>
              <a:rPr i="1" lang="en" sz="2320">
                <a:solidFill>
                  <a:srgbClr val="B45F06"/>
                </a:solidFill>
              </a:rPr>
              <a:t>undo</a:t>
            </a:r>
            <a:r>
              <a:rPr lang="en" sz="2320"/>
              <a:t>” done?</a:t>
            </a:r>
            <a:endParaRPr sz="2320"/>
          </a:p>
        </p:txBody>
      </p:sp>
      <p:pic>
        <p:nvPicPr>
          <p:cNvPr id="216" name="Google Shape;21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025" y="1133250"/>
            <a:ext cx="1955351" cy="154005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7" name="Google Shape;21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500" y="1789000"/>
            <a:ext cx="2453675" cy="18583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8" name="Google Shape;218;p32"/>
          <p:cNvSpPr/>
          <p:nvPr/>
        </p:nvSpPr>
        <p:spPr>
          <a:xfrm>
            <a:off x="1093200" y="3175400"/>
            <a:ext cx="1659600" cy="6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1044" y="314325"/>
            <a:ext cx="2752624" cy="150702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0" name="Google Shape;220;p32"/>
          <p:cNvSpPr/>
          <p:nvPr/>
        </p:nvSpPr>
        <p:spPr>
          <a:xfrm>
            <a:off x="6119975" y="1254525"/>
            <a:ext cx="2352600" cy="706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0025" y="1741763"/>
            <a:ext cx="3218649" cy="2574075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" name="Google Shape;222;p32"/>
          <p:cNvSpPr/>
          <p:nvPr/>
        </p:nvSpPr>
        <p:spPr>
          <a:xfrm>
            <a:off x="3848800" y="3209825"/>
            <a:ext cx="2453700" cy="706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56355" y="1454713"/>
            <a:ext cx="6103845" cy="2367987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Command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How to “</a:t>
            </a:r>
            <a:r>
              <a:rPr i="1" lang="en" sz="2320">
                <a:solidFill>
                  <a:srgbClr val="B45F06"/>
                </a:solidFill>
              </a:rPr>
              <a:t>compose commands (macro)</a:t>
            </a:r>
            <a:r>
              <a:rPr lang="en" sz="2320"/>
              <a:t>”?</a:t>
            </a:r>
            <a:endParaRPr sz="2320"/>
          </a:p>
        </p:txBody>
      </p:sp>
      <p:pic>
        <p:nvPicPr>
          <p:cNvPr id="235" name="Google Shape;23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025" y="1133250"/>
            <a:ext cx="1955351" cy="154005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6" name="Google Shape;23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7519" y="216425"/>
            <a:ext cx="2752624" cy="150702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7" name="Google Shape;237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4500" y="1789000"/>
            <a:ext cx="2453675" cy="18583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8" name="Google Shape;238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7875" y="2374450"/>
            <a:ext cx="2294700" cy="172305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9" name="Google Shape;239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49025" y="2825850"/>
            <a:ext cx="2584804" cy="154005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0" name="Google Shape;240;p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28242" y="2011873"/>
            <a:ext cx="3450371" cy="2391209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41" name="Google Shape;241;p33"/>
          <p:cNvGrpSpPr/>
          <p:nvPr/>
        </p:nvGrpSpPr>
        <p:grpSpPr>
          <a:xfrm>
            <a:off x="5755112" y="3222575"/>
            <a:ext cx="2844878" cy="1128075"/>
            <a:chOff x="5987525" y="3222575"/>
            <a:chExt cx="2844878" cy="1128075"/>
          </a:xfrm>
        </p:grpSpPr>
        <p:sp>
          <p:nvSpPr>
            <p:cNvPr id="242" name="Google Shape;242;p33"/>
            <p:cNvSpPr/>
            <p:nvPr/>
          </p:nvSpPr>
          <p:spPr>
            <a:xfrm>
              <a:off x="5987525" y="3222575"/>
              <a:ext cx="2294700" cy="3936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3"/>
            <p:cNvSpPr/>
            <p:nvPr/>
          </p:nvSpPr>
          <p:spPr>
            <a:xfrm>
              <a:off x="6038503" y="3957050"/>
              <a:ext cx="2793900" cy="3936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44" name="Google Shape;244;p33"/>
          <p:cNvPicPr preferRelativeResize="0"/>
          <p:nvPr/>
        </p:nvPicPr>
        <p:blipFill rotWithShape="1">
          <a:blip r:embed="rId10">
            <a:alphaModFix/>
          </a:blip>
          <a:srcRect b="4927" l="0" r="0" t="5152"/>
          <a:stretch/>
        </p:blipFill>
        <p:spPr>
          <a:xfrm>
            <a:off x="2420575" y="1397751"/>
            <a:ext cx="4152649" cy="23537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Command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2" name="Google Shape;252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4" name="Google Shape;25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How to “</a:t>
            </a:r>
            <a:r>
              <a:rPr i="1" lang="en" sz="2320">
                <a:solidFill>
                  <a:srgbClr val="B45F06"/>
                </a:solidFill>
              </a:rPr>
              <a:t>queue up</a:t>
            </a:r>
            <a:r>
              <a:rPr i="1" lang="en" sz="2320">
                <a:solidFill>
                  <a:srgbClr val="B45F06"/>
                </a:solidFill>
              </a:rPr>
              <a:t> commands</a:t>
            </a:r>
            <a:r>
              <a:rPr lang="en" sz="2320"/>
              <a:t>”?</a:t>
            </a:r>
            <a:endParaRPr sz="2320"/>
          </a:p>
        </p:txBody>
      </p:sp>
      <p:pic>
        <p:nvPicPr>
          <p:cNvPr id="256" name="Google Shape;25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025" y="1133250"/>
            <a:ext cx="1955351" cy="154005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7" name="Google Shape;25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7519" y="216425"/>
            <a:ext cx="2752624" cy="150702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8" name="Google Shape;258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4500" y="1789000"/>
            <a:ext cx="2453675" cy="18583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9" name="Google Shape;259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7875" y="2374450"/>
            <a:ext cx="2294700" cy="172305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0" name="Google Shape;260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49025" y="2825850"/>
            <a:ext cx="2584804" cy="154005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1" name="Google Shape;261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71838" y="1889986"/>
            <a:ext cx="3363177" cy="2634967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2" name="Google Shape;262;p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99963" y="867425"/>
            <a:ext cx="3014048" cy="15070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63" name="Google Shape;263;p34"/>
          <p:cNvGrpSpPr/>
          <p:nvPr/>
        </p:nvGrpSpPr>
        <p:grpSpPr>
          <a:xfrm>
            <a:off x="5851325" y="3316450"/>
            <a:ext cx="2621074" cy="1128075"/>
            <a:chOff x="6211288" y="3222575"/>
            <a:chExt cx="2621074" cy="1128075"/>
          </a:xfrm>
        </p:grpSpPr>
        <p:sp>
          <p:nvSpPr>
            <p:cNvPr id="264" name="Google Shape;264;p34"/>
            <p:cNvSpPr/>
            <p:nvPr/>
          </p:nvSpPr>
          <p:spPr>
            <a:xfrm>
              <a:off x="6211288" y="3222575"/>
              <a:ext cx="2070900" cy="2814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4"/>
            <p:cNvSpPr/>
            <p:nvPr/>
          </p:nvSpPr>
          <p:spPr>
            <a:xfrm>
              <a:off x="6462961" y="3957050"/>
              <a:ext cx="2369400" cy="3936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66" name="Google Shape;266;p34"/>
          <p:cNvCxnSpPr/>
          <p:nvPr/>
        </p:nvCxnSpPr>
        <p:spPr>
          <a:xfrm>
            <a:off x="7108238" y="2186400"/>
            <a:ext cx="347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7" name="Google Shape;267;p3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01200" y="2067678"/>
            <a:ext cx="3517800" cy="210656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