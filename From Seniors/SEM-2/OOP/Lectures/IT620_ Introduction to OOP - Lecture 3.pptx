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5143500" cx="9144000"/>
  <p:notesSz cx="6858000" cy="9144000"/>
  <p:embeddedFontLst>
    <p:embeddedFont>
      <p:font typeface="Roboto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DE7B6F0-EF9D-4B68-97C5-D576083A6B25}">
  <a:tblStyle styleId="{ADE7B6F0-EF9D-4B68-97C5-D576083A6B2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RobotoMono-bold.fntdata"/><Relationship Id="rId27" Type="http://schemas.openxmlformats.org/officeDocument/2006/relationships/font" Target="fonts/RobotoMono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RobotoMono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0" Type="http://schemas.openxmlformats.org/officeDocument/2006/relationships/font" Target="fonts/RobotoMono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8332b18dc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8332b18dc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ac4f65da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2ac4f65da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2ac4f65da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2ac4f65da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ac4f65da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2ac4f65da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2ac4f65da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2ac4f65da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835780241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835780241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2ac4f65da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2ac4f65da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2ac4f65da4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2ac4f65da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273f76df9a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273f76df9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2ac4f65da4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2ac4f65da4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2ac4f65da4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2ac4f65da4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2ac4f65da4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2ac4f65da4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2ac4f65da4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2ac4f65da4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2ac4f65da4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2ac4f65da4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273f76df9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273f76df9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273f76df9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273f76df9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273f76df9a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273f76df9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273f76df9a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273f76df9a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273f76df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273f76df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4.png"/><Relationship Id="rId6" Type="http://schemas.openxmlformats.org/officeDocument/2006/relationships/image" Target="../media/image16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6.gif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19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19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16.gif"/><Relationship Id="rId6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273075" y="507925"/>
            <a:ext cx="8520600" cy="111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/>
              <a:t>Object Oriented Programming</a:t>
            </a:r>
            <a:endParaRPr b="1" sz="3300"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3959528"/>
            <a:ext cx="8520600" cy="9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1700">
                <a:solidFill>
                  <a:srgbClr val="0000FF"/>
                </a:solidFill>
              </a:rPr>
              <a:t>Sourish Dasgupta</a:t>
            </a:r>
            <a:endParaRPr b="1" sz="17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600">
                <a:solidFill>
                  <a:srgbClr val="0000FF"/>
                </a:solidFill>
              </a:rPr>
              <a:t>Assistant Professor, DA-IICT, Gandhinagar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i="1" lang="en" sz="1600">
                <a:solidFill>
                  <a:srgbClr val="0000FF"/>
                </a:solidFill>
              </a:rPr>
              <a:t>https://daiict.ac.in/faculty/sourish-dasgupta</a:t>
            </a:r>
            <a:endParaRPr i="1" sz="1900"/>
          </a:p>
        </p:txBody>
      </p:sp>
      <p:sp>
        <p:nvSpPr>
          <p:cNvPr id="101" name="Google Shape;101;p25"/>
          <p:cNvSpPr txBox="1"/>
          <p:nvPr>
            <p:ph idx="1" type="subTitle"/>
          </p:nvPr>
        </p:nvSpPr>
        <p:spPr>
          <a:xfrm>
            <a:off x="273075" y="14667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000">
                <a:solidFill>
                  <a:schemeClr val="dk1"/>
                </a:solidFill>
              </a:rPr>
              <a:t>A Tale of Constructors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273075" y="20835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2000"/>
              <a:t>IT560</a:t>
            </a:r>
            <a:endParaRPr sz="1900"/>
          </a:p>
        </p:txBody>
      </p:sp>
      <p:pic>
        <p:nvPicPr>
          <p:cNvPr id="103" name="Google Shape;1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0175" y="2769669"/>
            <a:ext cx="1146397" cy="11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6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0" name="Google Shape;110;p26"/>
          <p:cNvSpPr txBox="1"/>
          <p:nvPr/>
        </p:nvSpPr>
        <p:spPr>
          <a:xfrm>
            <a:off x="547775" y="4776850"/>
            <a:ext cx="2756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A Tale of Constructors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" name="Google Shape;11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6"/>
          <p:cNvPicPr preferRelativeResize="0"/>
          <p:nvPr/>
        </p:nvPicPr>
        <p:blipFill rotWithShape="1">
          <a:blip r:embed="rId4">
            <a:alphaModFix/>
          </a:blip>
          <a:srcRect b="0" l="0" r="12891" t="0"/>
          <a:stretch/>
        </p:blipFill>
        <p:spPr>
          <a:xfrm>
            <a:off x="216857" y="152400"/>
            <a:ext cx="4511975" cy="430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6"/>
          <p:cNvPicPr preferRelativeResize="0"/>
          <p:nvPr/>
        </p:nvPicPr>
        <p:blipFill rotWithShape="1">
          <a:blip r:embed="rId5">
            <a:alphaModFix/>
          </a:blip>
          <a:srcRect b="0" l="0" r="29047" t="0"/>
          <a:stretch/>
        </p:blipFill>
        <p:spPr>
          <a:xfrm>
            <a:off x="4905250" y="1184500"/>
            <a:ext cx="4086201" cy="243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6"/>
          <p:cNvSpPr txBox="1"/>
          <p:nvPr/>
        </p:nvSpPr>
        <p:spPr>
          <a:xfrm>
            <a:off x="5322525" y="3732750"/>
            <a:ext cx="35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Guess the language?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7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23" name="Google Shape;123;p27"/>
          <p:cNvSpPr txBox="1"/>
          <p:nvPr/>
        </p:nvSpPr>
        <p:spPr>
          <a:xfrm>
            <a:off x="547775" y="4776850"/>
            <a:ext cx="2756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</a:t>
            </a:r>
            <a:r>
              <a:rPr b="1" lang="en" sz="1000">
                <a:solidFill>
                  <a:schemeClr val="lt1"/>
                </a:solidFill>
              </a:rPr>
              <a:t>A Tale of Constructors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24" name="Google Shape;124;p27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6" name="Google Shape;12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700" y="246375"/>
            <a:ext cx="4731340" cy="4213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2220" y="939200"/>
            <a:ext cx="3884985" cy="214279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7"/>
          <p:cNvSpPr txBox="1"/>
          <p:nvPr/>
        </p:nvSpPr>
        <p:spPr>
          <a:xfrm>
            <a:off x="5322525" y="3504150"/>
            <a:ext cx="35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Guess the language?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8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8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36" name="Google Shape;136;p28"/>
          <p:cNvSpPr txBox="1"/>
          <p:nvPr/>
        </p:nvSpPr>
        <p:spPr>
          <a:xfrm>
            <a:off x="547775" y="4776850"/>
            <a:ext cx="2756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</a:t>
            </a:r>
            <a:r>
              <a:rPr b="1" lang="en" sz="1000">
                <a:solidFill>
                  <a:schemeClr val="lt1"/>
                </a:solidFill>
              </a:rPr>
              <a:t>A Tale of Constructors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37" name="Google Shape;137;p28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9" name="Google Shape;13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913" y="1355150"/>
            <a:ext cx="8152449" cy="214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8"/>
          <p:cNvSpPr txBox="1"/>
          <p:nvPr/>
        </p:nvSpPr>
        <p:spPr>
          <a:xfrm>
            <a:off x="2655525" y="3656550"/>
            <a:ext cx="35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Guess the language?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9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48" name="Google Shape;148;p29"/>
          <p:cNvSpPr txBox="1"/>
          <p:nvPr/>
        </p:nvSpPr>
        <p:spPr>
          <a:xfrm>
            <a:off x="547775" y="4776850"/>
            <a:ext cx="2756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</a:t>
            </a:r>
            <a:r>
              <a:rPr b="1" lang="en" sz="1000">
                <a:solidFill>
                  <a:schemeClr val="lt1"/>
                </a:solidFill>
              </a:rPr>
              <a:t>A Tale of Constructors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49" name="Google Shape;149;p29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1" name="Google Shape;15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9"/>
          <p:cNvSpPr txBox="1"/>
          <p:nvPr>
            <p:ph type="title"/>
          </p:nvPr>
        </p:nvSpPr>
        <p:spPr>
          <a:xfrm>
            <a:off x="311700" y="19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Constructors? OOP begins at home!</a:t>
            </a:r>
            <a:endParaRPr/>
          </a:p>
        </p:txBody>
      </p:sp>
      <p:graphicFrame>
        <p:nvGraphicFramePr>
          <p:cNvPr id="153" name="Google Shape;153;p29"/>
          <p:cNvGraphicFramePr/>
          <p:nvPr/>
        </p:nvGraphicFramePr>
        <p:xfrm>
          <a:off x="535757" y="112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{ADE7B6F0-EF9D-4B68-97C5-D576083A6B25}</a:tableStyleId>
              </a:tblPr>
              <a:tblGrid>
                <a:gridCol w="1602825"/>
                <a:gridCol w="6474525"/>
              </a:tblGrid>
              <a:tr h="494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Purpose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Description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4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Object Initialization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F0000"/>
                          </a:solidFill>
                        </a:rPr>
                        <a:t>Sets</a:t>
                      </a:r>
                      <a:r>
                        <a:rPr lang="en" sz="1500"/>
                        <a:t> up the </a:t>
                      </a:r>
                      <a:r>
                        <a:rPr i="1" lang="en" sz="1500">
                          <a:highlight>
                            <a:srgbClr val="FFFF00"/>
                          </a:highlight>
                        </a:rPr>
                        <a:t>initial state</a:t>
                      </a:r>
                      <a:r>
                        <a:rPr lang="en" sz="1500">
                          <a:highlight>
                            <a:srgbClr val="FFFF00"/>
                          </a:highlight>
                        </a:rPr>
                        <a:t> of an object</a:t>
                      </a:r>
                      <a:r>
                        <a:rPr lang="en" sz="1500"/>
                        <a:t> by initializing its attributes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4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Encapsulation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F0000"/>
                          </a:solidFill>
                        </a:rPr>
                        <a:t>Hides</a:t>
                      </a:r>
                      <a:r>
                        <a:rPr lang="en" sz="1500"/>
                        <a:t> </a:t>
                      </a:r>
                      <a:r>
                        <a:rPr i="1" lang="en" sz="1500">
                          <a:highlight>
                            <a:srgbClr val="FFFF00"/>
                          </a:highlight>
                        </a:rPr>
                        <a:t>initialization details</a:t>
                      </a:r>
                      <a:r>
                        <a:rPr lang="en" sz="1500"/>
                        <a:t>, ensuring proper setup and reducing errors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Abstraction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Simplifies </a:t>
                      </a:r>
                      <a:r>
                        <a:rPr lang="en" sz="1500"/>
                        <a:t>object creation by </a:t>
                      </a:r>
                      <a:r>
                        <a:rPr lang="en" sz="1500">
                          <a:solidFill>
                            <a:srgbClr val="FF0000"/>
                          </a:solidFill>
                        </a:rPr>
                        <a:t>abstracting</a:t>
                      </a:r>
                      <a:r>
                        <a:rPr lang="en" sz="1500"/>
                        <a:t> the </a:t>
                      </a:r>
                      <a:r>
                        <a:rPr i="1" lang="en" sz="1500">
                          <a:highlight>
                            <a:srgbClr val="FFFF00"/>
                          </a:highlight>
                        </a:rPr>
                        <a:t>setup logic</a:t>
                      </a:r>
                      <a:endParaRPr i="1" sz="1500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4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Code Reusability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Enables </a:t>
                      </a:r>
                      <a:r>
                        <a:rPr lang="en" sz="1500">
                          <a:solidFill>
                            <a:srgbClr val="FF0000"/>
                          </a:solidFill>
                        </a:rPr>
                        <a:t>consistent reuse</a:t>
                      </a:r>
                      <a:r>
                        <a:rPr lang="en" sz="1500"/>
                        <a:t> of </a:t>
                      </a:r>
                      <a:r>
                        <a:rPr i="1" lang="en" sz="1500">
                          <a:highlight>
                            <a:srgbClr val="FFFF00"/>
                          </a:highlight>
                        </a:rPr>
                        <a:t>initialization logic</a:t>
                      </a:r>
                      <a:r>
                        <a:rPr lang="en" sz="1500"/>
                        <a:t> for multiple objects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0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60" name="Google Shape;160;p30"/>
          <p:cNvSpPr txBox="1"/>
          <p:nvPr/>
        </p:nvSpPr>
        <p:spPr>
          <a:xfrm>
            <a:off x="547775" y="4776850"/>
            <a:ext cx="2756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</a:t>
            </a:r>
            <a:r>
              <a:rPr b="1" lang="en" sz="1000">
                <a:solidFill>
                  <a:schemeClr val="lt1"/>
                </a:solidFill>
              </a:rPr>
              <a:t>A Tale of Constructors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61" name="Google Shape;161;p30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3" name="Google Shape;16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0"/>
          <p:cNvSpPr txBox="1"/>
          <p:nvPr>
            <p:ph type="title"/>
          </p:nvPr>
        </p:nvSpPr>
        <p:spPr>
          <a:xfrm>
            <a:off x="311700" y="19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Why Constructors? OOP begins at home!</a:t>
            </a:r>
            <a:endParaRPr/>
          </a:p>
        </p:txBody>
      </p:sp>
      <p:graphicFrame>
        <p:nvGraphicFramePr>
          <p:cNvPr id="165" name="Google Shape;165;p30"/>
          <p:cNvGraphicFramePr/>
          <p:nvPr/>
        </p:nvGraphicFramePr>
        <p:xfrm>
          <a:off x="481200" y="1080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{ADE7B6F0-EF9D-4B68-97C5-D576083A6B25}</a:tableStyleId>
              </a:tblPr>
              <a:tblGrid>
                <a:gridCol w="1604375"/>
                <a:gridCol w="6480825"/>
              </a:tblGrid>
              <a:tr h="446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Purpose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Description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highlight>
                            <a:srgbClr val="D9EAD3"/>
                          </a:highlight>
                        </a:rPr>
                        <a:t>Automatic Invocation</a:t>
                      </a:r>
                      <a:endParaRPr b="1">
                        <a:highlight>
                          <a:srgbClr val="D9EAD3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Ensures the </a:t>
                      </a:r>
                      <a:r>
                        <a:rPr i="1" lang="en">
                          <a:highlight>
                            <a:srgbClr val="FFFF00"/>
                          </a:highlight>
                        </a:rPr>
                        <a:t>constructor is called </a:t>
                      </a:r>
                      <a:r>
                        <a:rPr i="1" lang="en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automatically</a:t>
                      </a:r>
                      <a:r>
                        <a:rPr lang="en"/>
                        <a:t> when an object is created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Custom Behavior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Allows </a:t>
                      </a:r>
                      <a:r>
                        <a:rPr i="1" lang="en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defining</a:t>
                      </a:r>
                      <a:r>
                        <a:rPr i="1" lang="en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i="1" lang="en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specific</a:t>
                      </a:r>
                      <a:r>
                        <a:rPr i="1" lang="en">
                          <a:highlight>
                            <a:srgbClr val="FFFF00"/>
                          </a:highlight>
                        </a:rPr>
                        <a:t> behaviors</a:t>
                      </a:r>
                      <a:r>
                        <a:rPr lang="en"/>
                        <a:t> (e.g., validations, derived properties) </a:t>
                      </a:r>
                      <a:r>
                        <a:rPr lang="en">
                          <a:highlight>
                            <a:srgbClr val="FFFF00"/>
                          </a:highlight>
                        </a:rPr>
                        <a:t>during object creation</a:t>
                      </a:r>
                      <a:endParaRPr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highlight>
                            <a:srgbClr val="D9EAD3"/>
                          </a:highlight>
                        </a:rPr>
                        <a:t>Overloading</a:t>
                      </a:r>
                      <a:endParaRPr b="1">
                        <a:highlight>
                          <a:srgbClr val="D9EAD3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</a:t>
                      </a:r>
                      <a:r>
                        <a:rPr lang="en">
                          <a:highlight>
                            <a:srgbClr val="9FC5E8"/>
                          </a:highlight>
                        </a:rPr>
                        <a:t>In some languages</a:t>
                      </a:r>
                      <a:r>
                        <a:rPr lang="en"/>
                        <a:t>) Provides flexibility by allowing </a:t>
                      </a:r>
                      <a:r>
                        <a:rPr i="1" lang="en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multiple</a:t>
                      </a:r>
                      <a:r>
                        <a:rPr i="1" lang="en">
                          <a:highlight>
                            <a:srgbClr val="FFFF00"/>
                          </a:highlight>
                        </a:rPr>
                        <a:t> ways to initialize</a:t>
                      </a:r>
                      <a:r>
                        <a:rPr lang="en"/>
                        <a:t> an object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Improved Readability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Enhances code </a:t>
                      </a:r>
                      <a:r>
                        <a:rPr lang="en">
                          <a:highlight>
                            <a:srgbClr val="FFFF00"/>
                          </a:highlight>
                        </a:rPr>
                        <a:t>clarity</a:t>
                      </a:r>
                      <a:r>
                        <a:rPr lang="en"/>
                        <a:t> and usability by </a:t>
                      </a:r>
                      <a:r>
                        <a:rPr i="1" lang="en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standardizing</a:t>
                      </a:r>
                      <a:r>
                        <a:rPr lang="en">
                          <a:highlight>
                            <a:srgbClr val="FFFF00"/>
                          </a:highlight>
                        </a:rPr>
                        <a:t> object creation and initialization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1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72" name="Google Shape;172;p31"/>
          <p:cNvSpPr txBox="1"/>
          <p:nvPr/>
        </p:nvSpPr>
        <p:spPr>
          <a:xfrm>
            <a:off x="547775" y="4776850"/>
            <a:ext cx="2756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</a:t>
            </a:r>
            <a:r>
              <a:rPr b="1" lang="en" sz="1000">
                <a:solidFill>
                  <a:schemeClr val="lt1"/>
                </a:solidFill>
              </a:rPr>
              <a:t>A Tale of Constructors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73" name="Google Shape;173;p31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5" name="Google Shape;17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 Constructors good enough?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2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83" name="Google Shape;183;p32"/>
          <p:cNvSpPr txBox="1"/>
          <p:nvPr/>
        </p:nvSpPr>
        <p:spPr>
          <a:xfrm>
            <a:off x="547775" y="4776850"/>
            <a:ext cx="2756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</a:t>
            </a:r>
            <a:r>
              <a:rPr b="1" lang="en" sz="1000">
                <a:solidFill>
                  <a:schemeClr val="lt1"/>
                </a:solidFill>
              </a:rPr>
              <a:t>A Tale of Constructors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84" name="Google Shape;184;p32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6" name="Google Shape;18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2"/>
          <p:cNvSpPr txBox="1"/>
          <p:nvPr>
            <p:ph type="title"/>
          </p:nvPr>
        </p:nvSpPr>
        <p:spPr>
          <a:xfrm>
            <a:off x="311700" y="19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wrong with this?</a:t>
            </a:r>
            <a:endParaRPr/>
          </a:p>
        </p:txBody>
      </p:sp>
      <p:pic>
        <p:nvPicPr>
          <p:cNvPr id="188" name="Google Shape;18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6703" y="908550"/>
            <a:ext cx="5259648" cy="36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3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95" name="Google Shape;195;p33"/>
          <p:cNvSpPr txBox="1"/>
          <p:nvPr/>
        </p:nvSpPr>
        <p:spPr>
          <a:xfrm>
            <a:off x="547775" y="4776850"/>
            <a:ext cx="2756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A Tale of Constructors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96" name="Google Shape;196;p33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8" name="Google Shape;19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3"/>
          <p:cNvSpPr txBox="1"/>
          <p:nvPr>
            <p:ph type="title"/>
          </p:nvPr>
        </p:nvSpPr>
        <p:spPr>
          <a:xfrm>
            <a:off x="311700" y="14005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Explicit Constructor is not needed if no setup needed</a:t>
            </a:r>
            <a:endParaRPr/>
          </a:p>
        </p:txBody>
      </p:sp>
      <p:pic>
        <p:nvPicPr>
          <p:cNvPr id="200" name="Google Shape;200;p33"/>
          <p:cNvPicPr preferRelativeResize="0"/>
          <p:nvPr/>
        </p:nvPicPr>
        <p:blipFill rotWithShape="1">
          <a:blip r:embed="rId4">
            <a:alphaModFix/>
          </a:blip>
          <a:srcRect b="0" l="0" r="18666" t="0"/>
          <a:stretch/>
        </p:blipFill>
        <p:spPr>
          <a:xfrm>
            <a:off x="175071" y="791119"/>
            <a:ext cx="4277926" cy="36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23201" y="1160538"/>
            <a:ext cx="4350974" cy="282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3"/>
          <p:cNvSpPr txBox="1"/>
          <p:nvPr/>
        </p:nvSpPr>
        <p:spPr>
          <a:xfrm>
            <a:off x="5369275" y="4092250"/>
            <a:ext cx="130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Optional!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4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09" name="Google Shape;209;p34"/>
          <p:cNvSpPr txBox="1"/>
          <p:nvPr/>
        </p:nvSpPr>
        <p:spPr>
          <a:xfrm>
            <a:off x="547775" y="4776850"/>
            <a:ext cx="2756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</a:t>
            </a:r>
            <a:r>
              <a:rPr b="1" lang="en" sz="1000">
                <a:solidFill>
                  <a:schemeClr val="lt1"/>
                </a:solidFill>
              </a:rPr>
              <a:t>A Tale of Constructors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10" name="Google Shape;210;p34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2" name="Google Shape;21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4"/>
          <p:cNvSpPr txBox="1"/>
          <p:nvPr>
            <p:ph type="title"/>
          </p:nvPr>
        </p:nvSpPr>
        <p:spPr>
          <a:xfrm>
            <a:off x="311700" y="19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there’s something genuinely problematic!</a:t>
            </a:r>
            <a:endParaRPr/>
          </a:p>
        </p:txBody>
      </p:sp>
      <p:pic>
        <p:nvPicPr>
          <p:cNvPr id="214" name="Google Shape;214;p34"/>
          <p:cNvPicPr preferRelativeResize="0"/>
          <p:nvPr/>
        </p:nvPicPr>
        <p:blipFill rotWithShape="1">
          <a:blip r:embed="rId4">
            <a:alphaModFix/>
          </a:blip>
          <a:srcRect b="15241" l="0" r="19054" t="35000"/>
          <a:stretch/>
        </p:blipFill>
        <p:spPr>
          <a:xfrm>
            <a:off x="182525" y="1155543"/>
            <a:ext cx="4272900" cy="212748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4"/>
          <p:cNvSpPr txBox="1"/>
          <p:nvPr/>
        </p:nvSpPr>
        <p:spPr>
          <a:xfrm>
            <a:off x="4572000" y="1173775"/>
            <a:ext cx="4571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0000"/>
                </a:solidFill>
                <a:highlight>
                  <a:srgbClr val="FFFF00"/>
                </a:highlight>
              </a:rPr>
              <a:t>Adding</a:t>
            </a:r>
            <a:r>
              <a:rPr lang="en">
                <a:solidFill>
                  <a:schemeClr val="dk1"/>
                </a:solidFill>
              </a:rPr>
              <a:t> a </a:t>
            </a:r>
            <a:r>
              <a:rPr i="1" lang="en">
                <a:solidFill>
                  <a:srgbClr val="FF0000"/>
                </a:solidFill>
                <a:highlight>
                  <a:srgbClr val="FFFF00"/>
                </a:highlight>
              </a:rPr>
              <a:t>new</a:t>
            </a:r>
            <a:r>
              <a:rPr lang="en">
                <a:solidFill>
                  <a:schemeClr val="dk1"/>
                </a:solidFill>
              </a:rPr>
              <a:t> animal </a:t>
            </a:r>
            <a:r>
              <a:rPr i="1" lang="en">
                <a:solidFill>
                  <a:srgbClr val="FF0000"/>
                </a:solidFill>
                <a:highlight>
                  <a:srgbClr val="FFFF00"/>
                </a:highlight>
              </a:rPr>
              <a:t>type</a:t>
            </a:r>
            <a:r>
              <a:rPr lang="en">
                <a:solidFill>
                  <a:schemeClr val="dk1"/>
                </a:solidFill>
              </a:rPr>
              <a:t> requires modifying </a:t>
            </a:r>
            <a:r>
              <a:rPr b="1"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animal_sound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chemeClr val="dk1"/>
                </a:solidFill>
                <a:highlight>
                  <a:srgbClr val="F4CCCC"/>
                </a:highlight>
              </a:rPr>
              <a:t>violating </a:t>
            </a:r>
            <a:r>
              <a:rPr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chemeClr val="dk1"/>
                </a:solidFill>
                <a:highlight>
                  <a:srgbClr val="FFFF00"/>
                </a:highlight>
              </a:rPr>
              <a:t>Open-Closed Principle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</a:rPr>
              <a:t> (OCP)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216" name="Google Shape;216;p34"/>
          <p:cNvSpPr txBox="1"/>
          <p:nvPr/>
        </p:nvSpPr>
        <p:spPr>
          <a:xfrm>
            <a:off x="4591577" y="1984061"/>
            <a:ext cx="4323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function is </a:t>
            </a:r>
            <a:r>
              <a:rPr lang="en">
                <a:solidFill>
                  <a:schemeClr val="dk1"/>
                </a:solidFill>
                <a:highlight>
                  <a:srgbClr val="F4CCCC"/>
                </a:highlight>
              </a:rPr>
              <a:t>limited to</a:t>
            </a:r>
            <a:r>
              <a:rPr lang="en">
                <a:solidFill>
                  <a:schemeClr val="dk1"/>
                </a:solidFill>
              </a:rPr>
              <a:t> the </a:t>
            </a:r>
            <a:r>
              <a:rPr i="1" lang="en">
                <a:solidFill>
                  <a:srgbClr val="FF0000"/>
                </a:solidFill>
                <a:highlight>
                  <a:srgbClr val="FFFF00"/>
                </a:highlight>
              </a:rPr>
              <a:t>specific</a:t>
            </a:r>
            <a:r>
              <a:rPr lang="en">
                <a:solidFill>
                  <a:schemeClr val="dk1"/>
                </a:solidFill>
              </a:rPr>
              <a:t> classes 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Dog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Cat</a:t>
            </a:r>
            <a:r>
              <a:rPr lang="en">
                <a:solidFill>
                  <a:schemeClr val="dk1"/>
                </a:solidFill>
              </a:rPr>
              <a:t>) and </a:t>
            </a:r>
            <a:r>
              <a:rPr lang="en">
                <a:solidFill>
                  <a:schemeClr val="dk1"/>
                </a:solidFill>
                <a:highlight>
                  <a:srgbClr val="F4CCCC"/>
                </a:highlight>
              </a:rPr>
              <a:t>cannot handle new types </a:t>
            </a:r>
            <a:r>
              <a:rPr i="1" lang="en">
                <a:solidFill>
                  <a:schemeClr val="dk1"/>
                </a:solidFill>
                <a:highlight>
                  <a:srgbClr val="FFFF00"/>
                </a:highlight>
              </a:rPr>
              <a:t>dynamically</a:t>
            </a:r>
            <a:endParaRPr i="1">
              <a:highlight>
                <a:srgbClr val="FFFF00"/>
              </a:highlight>
            </a:endParaRPr>
          </a:p>
        </p:txBody>
      </p:sp>
      <p:sp>
        <p:nvSpPr>
          <p:cNvPr id="217" name="Google Shape;217;p34"/>
          <p:cNvSpPr txBox="1"/>
          <p:nvPr/>
        </p:nvSpPr>
        <p:spPr>
          <a:xfrm>
            <a:off x="4642446" y="2688175"/>
            <a:ext cx="4272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Mocking or </a:t>
            </a:r>
            <a:r>
              <a:rPr i="1" lang="en">
                <a:solidFill>
                  <a:srgbClr val="FF0000"/>
                </a:solidFill>
                <a:highlight>
                  <a:srgbClr val="FFFF00"/>
                </a:highlight>
              </a:rPr>
              <a:t>replacing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</a:rPr>
              <a:t> </a:t>
            </a:r>
            <a:r>
              <a:rPr lang="en">
                <a:solidFill>
                  <a:srgbClr val="188038"/>
                </a:solidFill>
                <a:highlight>
                  <a:srgbClr val="FFFF00"/>
                </a:highlight>
                <a:latin typeface="Roboto Mono"/>
                <a:ea typeface="Roboto Mono"/>
                <a:cs typeface="Roboto Mono"/>
                <a:sym typeface="Roboto Mono"/>
              </a:rPr>
              <a:t>Dog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</a:rPr>
              <a:t> or </a:t>
            </a:r>
            <a:r>
              <a:rPr lang="en">
                <a:solidFill>
                  <a:srgbClr val="188038"/>
                </a:solidFill>
                <a:highlight>
                  <a:srgbClr val="FFFF00"/>
                </a:highlight>
                <a:latin typeface="Roboto Mono"/>
                <a:ea typeface="Roboto Mono"/>
                <a:cs typeface="Roboto Mono"/>
                <a:sym typeface="Roboto Mono"/>
              </a:rPr>
              <a:t>Cat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</a:rPr>
              <a:t> in </a:t>
            </a:r>
            <a:r>
              <a:rPr lang="en">
                <a:solidFill>
                  <a:srgbClr val="FF0000"/>
                </a:solidFill>
                <a:highlight>
                  <a:srgbClr val="FFFF00"/>
                </a:highlight>
              </a:rPr>
              <a:t>tests</a:t>
            </a:r>
            <a:r>
              <a:rPr lang="en">
                <a:solidFill>
                  <a:schemeClr val="dk1"/>
                </a:solidFill>
              </a:rPr>
              <a:t> is </a:t>
            </a:r>
            <a:r>
              <a:rPr lang="en">
                <a:solidFill>
                  <a:schemeClr val="dk1"/>
                </a:solidFill>
                <a:highlight>
                  <a:srgbClr val="F4CCCC"/>
                </a:highlight>
              </a:rPr>
              <a:t>difficult </a:t>
            </a:r>
            <a:r>
              <a:rPr lang="en">
                <a:solidFill>
                  <a:schemeClr val="dk1"/>
                </a:solidFill>
              </a:rPr>
              <a:t>because they are </a:t>
            </a:r>
            <a:r>
              <a:rPr lang="en">
                <a:solidFill>
                  <a:schemeClr val="dk1"/>
                </a:solidFill>
                <a:highlight>
                  <a:srgbClr val="F4CCCC"/>
                </a:highlight>
              </a:rPr>
              <a:t>hardcoded</a:t>
            </a:r>
            <a:endParaRPr>
              <a:highlight>
                <a:srgbClr val="F4CCCC"/>
              </a:highlight>
            </a:endParaRPr>
          </a:p>
        </p:txBody>
      </p:sp>
      <p:sp>
        <p:nvSpPr>
          <p:cNvPr id="218" name="Google Shape;218;p34"/>
          <p:cNvSpPr txBox="1"/>
          <p:nvPr/>
        </p:nvSpPr>
        <p:spPr>
          <a:xfrm>
            <a:off x="4793550" y="3609850"/>
            <a:ext cx="218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Tight Coupling!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5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25" name="Google Shape;225;p35"/>
          <p:cNvSpPr txBox="1"/>
          <p:nvPr/>
        </p:nvSpPr>
        <p:spPr>
          <a:xfrm>
            <a:off x="547775" y="4776850"/>
            <a:ext cx="2756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</a:t>
            </a:r>
            <a:r>
              <a:rPr b="1" lang="en" sz="1000">
                <a:solidFill>
                  <a:schemeClr val="lt1"/>
                </a:solidFill>
              </a:rPr>
              <a:t>A Tale of Constructors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26" name="Google Shape;226;p35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8" name="Google Shape;22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5"/>
          <p:cNvSpPr txBox="1"/>
          <p:nvPr>
            <p:ph type="title"/>
          </p:nvPr>
        </p:nvSpPr>
        <p:spPr>
          <a:xfrm>
            <a:off x="311700" y="19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Decoupling Constructors</a:t>
            </a:r>
            <a:endParaRPr/>
          </a:p>
        </p:txBody>
      </p:sp>
      <p:pic>
        <p:nvPicPr>
          <p:cNvPr id="230" name="Google Shape;23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0991" y="1414888"/>
            <a:ext cx="5260026" cy="2633200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1" name="Google Shape;231;p35"/>
          <p:cNvPicPr preferRelativeResize="0"/>
          <p:nvPr/>
        </p:nvPicPr>
        <p:blipFill rotWithShape="1">
          <a:blip r:embed="rId5">
            <a:alphaModFix/>
          </a:blip>
          <a:srcRect b="65318" l="0" r="55223" t="0"/>
          <a:stretch/>
        </p:blipFill>
        <p:spPr>
          <a:xfrm>
            <a:off x="148700" y="885050"/>
            <a:ext cx="3155774" cy="169989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6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38" name="Google Shape;238;p36"/>
          <p:cNvSpPr txBox="1"/>
          <p:nvPr/>
        </p:nvSpPr>
        <p:spPr>
          <a:xfrm>
            <a:off x="547775" y="4776850"/>
            <a:ext cx="2756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</a:t>
            </a:r>
            <a:r>
              <a:rPr b="1" lang="en" sz="1000">
                <a:solidFill>
                  <a:schemeClr val="lt1"/>
                </a:solidFill>
              </a:rPr>
              <a:t>A Tale of Constructors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39" name="Google Shape;239;p36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1" name="Google Shape;24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6"/>
          <p:cNvSpPr txBox="1"/>
          <p:nvPr>
            <p:ph type="title"/>
          </p:nvPr>
        </p:nvSpPr>
        <p:spPr>
          <a:xfrm>
            <a:off x="311700" y="19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Decoupling Constructors</a:t>
            </a:r>
            <a:endParaRPr/>
          </a:p>
        </p:txBody>
      </p:sp>
      <p:pic>
        <p:nvPicPr>
          <p:cNvPr id="243" name="Google Shape;243;p36"/>
          <p:cNvPicPr preferRelativeResize="0"/>
          <p:nvPr/>
        </p:nvPicPr>
        <p:blipFill rotWithShape="1">
          <a:blip r:embed="rId4">
            <a:alphaModFix/>
          </a:blip>
          <a:srcRect b="15241" l="0" r="19054" t="35000"/>
          <a:stretch/>
        </p:blipFill>
        <p:spPr>
          <a:xfrm>
            <a:off x="194275" y="908918"/>
            <a:ext cx="4272900" cy="2127481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4" name="Google Shape;244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64650" y="1575525"/>
            <a:ext cx="5604101" cy="2649500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5" name="Google Shape;245;p36"/>
          <p:cNvSpPr txBox="1"/>
          <p:nvPr/>
        </p:nvSpPr>
        <p:spPr>
          <a:xfrm>
            <a:off x="4828775" y="610650"/>
            <a:ext cx="404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Adding a new animal type (e.g.,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Bird</a:t>
            </a:r>
            <a:r>
              <a:rPr lang="en" sz="1200">
                <a:solidFill>
                  <a:schemeClr val="dk1"/>
                </a:solidFill>
              </a:rPr>
              <a:t>) requires only modifying the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AnimalFactory</a:t>
            </a:r>
            <a:r>
              <a:rPr lang="en" sz="1200">
                <a:solidFill>
                  <a:schemeClr val="dk1"/>
                </a:solidFill>
              </a:rPr>
              <a:t> without changing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animal_sound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/>
          </a:p>
        </p:txBody>
      </p:sp>
      <p:grpSp>
        <p:nvGrpSpPr>
          <p:cNvPr id="246" name="Google Shape;246;p36"/>
          <p:cNvGrpSpPr/>
          <p:nvPr/>
        </p:nvGrpSpPr>
        <p:grpSpPr>
          <a:xfrm>
            <a:off x="46975" y="2693875"/>
            <a:ext cx="3000000" cy="1744125"/>
            <a:chOff x="46975" y="2693875"/>
            <a:chExt cx="3000000" cy="1744125"/>
          </a:xfrm>
        </p:grpSpPr>
        <p:grpSp>
          <p:nvGrpSpPr>
            <p:cNvPr id="247" name="Google Shape;247;p36"/>
            <p:cNvGrpSpPr/>
            <p:nvPr/>
          </p:nvGrpSpPr>
          <p:grpSpPr>
            <a:xfrm>
              <a:off x="425100" y="2693875"/>
              <a:ext cx="1774500" cy="931313"/>
              <a:chOff x="425100" y="2693875"/>
              <a:chExt cx="1774500" cy="931313"/>
            </a:xfrm>
          </p:grpSpPr>
          <p:sp>
            <p:nvSpPr>
              <p:cNvPr id="248" name="Google Shape;248;p36"/>
              <p:cNvSpPr/>
              <p:nvPr/>
            </p:nvSpPr>
            <p:spPr>
              <a:xfrm>
                <a:off x="425100" y="2693875"/>
                <a:ext cx="1774500" cy="3426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descr="a red cross on a white background that looks like a starfish (Provided by Tenor)" id="249" name="Google Shape;249;p36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1109309" y="3173846"/>
                <a:ext cx="406075" cy="45134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50" name="Google Shape;250;p36"/>
            <p:cNvSpPr txBox="1"/>
            <p:nvPr/>
          </p:nvSpPr>
          <p:spPr>
            <a:xfrm>
              <a:off x="46975" y="3699100"/>
              <a:ext cx="3000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N</a:t>
              </a:r>
              <a:r>
                <a:rPr lang="en" sz="1200">
                  <a:solidFill>
                    <a:schemeClr val="dk1"/>
                  </a:solidFill>
                </a:rPr>
                <a:t>o longer directly depends on the </a:t>
              </a:r>
              <a:r>
                <a:rPr lang="en" sz="1200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Dog</a:t>
              </a:r>
              <a:r>
                <a:rPr lang="en" sz="1200">
                  <a:solidFill>
                    <a:schemeClr val="dk1"/>
                  </a:solidFill>
                </a:rPr>
                <a:t> or </a:t>
              </a:r>
              <a:r>
                <a:rPr lang="en" sz="1200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Cat</a:t>
              </a:r>
              <a:r>
                <a:rPr lang="en" sz="1200">
                  <a:solidFill>
                    <a:schemeClr val="dk1"/>
                  </a:solidFill>
                </a:rPr>
                <a:t> classes. It delegates object creation to the </a:t>
              </a:r>
              <a:r>
                <a:rPr lang="en" sz="1200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AnimalFactory</a:t>
              </a:r>
              <a:r>
                <a:rPr lang="en" sz="1200">
                  <a:solidFill>
                    <a:schemeClr val="dk1"/>
                  </a:solidFill>
                </a:rPr>
                <a:t>.</a:t>
              </a:r>
              <a:endParaRPr sz="1200"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7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7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57" name="Google Shape;257;p37"/>
          <p:cNvSpPr txBox="1"/>
          <p:nvPr/>
        </p:nvSpPr>
        <p:spPr>
          <a:xfrm>
            <a:off x="547775" y="4776850"/>
            <a:ext cx="2756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</a:t>
            </a:r>
            <a:r>
              <a:rPr b="1" lang="en" sz="1000">
                <a:solidFill>
                  <a:schemeClr val="lt1"/>
                </a:solidFill>
              </a:rPr>
              <a:t>A Tale of Constructors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58" name="Google Shape;258;p37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0" name="Google Shape;26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7"/>
          <p:cNvSpPr txBox="1"/>
          <p:nvPr>
            <p:ph type="title"/>
          </p:nvPr>
        </p:nvSpPr>
        <p:spPr>
          <a:xfrm>
            <a:off x="311700" y="19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Decoupling Constructors via Factory Design Pattern</a:t>
            </a:r>
            <a:endParaRPr/>
          </a:p>
        </p:txBody>
      </p:sp>
      <p:pic>
        <p:nvPicPr>
          <p:cNvPr id="262" name="Google Shape;262;p37"/>
          <p:cNvPicPr preferRelativeResize="0"/>
          <p:nvPr/>
        </p:nvPicPr>
        <p:blipFill rotWithShape="1">
          <a:blip r:embed="rId4">
            <a:alphaModFix/>
          </a:blip>
          <a:srcRect b="15241" l="0" r="19054" t="35000"/>
          <a:stretch/>
        </p:blipFill>
        <p:spPr>
          <a:xfrm>
            <a:off x="194275" y="908918"/>
            <a:ext cx="4272900" cy="2127481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63" name="Google Shape;263;p37"/>
          <p:cNvGrpSpPr/>
          <p:nvPr/>
        </p:nvGrpSpPr>
        <p:grpSpPr>
          <a:xfrm>
            <a:off x="46975" y="2693875"/>
            <a:ext cx="3000000" cy="1744125"/>
            <a:chOff x="46975" y="2693875"/>
            <a:chExt cx="3000000" cy="1744125"/>
          </a:xfrm>
        </p:grpSpPr>
        <p:grpSp>
          <p:nvGrpSpPr>
            <p:cNvPr id="264" name="Google Shape;264;p37"/>
            <p:cNvGrpSpPr/>
            <p:nvPr/>
          </p:nvGrpSpPr>
          <p:grpSpPr>
            <a:xfrm>
              <a:off x="425100" y="2693875"/>
              <a:ext cx="1774500" cy="931313"/>
              <a:chOff x="425100" y="2693875"/>
              <a:chExt cx="1774500" cy="931313"/>
            </a:xfrm>
          </p:grpSpPr>
          <p:sp>
            <p:nvSpPr>
              <p:cNvPr id="265" name="Google Shape;265;p37"/>
              <p:cNvSpPr/>
              <p:nvPr/>
            </p:nvSpPr>
            <p:spPr>
              <a:xfrm>
                <a:off x="425100" y="2693875"/>
                <a:ext cx="1774500" cy="3426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descr="a red cross on a white background that looks like a starfish (Provided by Tenor)" id="266" name="Google Shape;266;p37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109309" y="3173846"/>
                <a:ext cx="406075" cy="45134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67" name="Google Shape;267;p37"/>
            <p:cNvSpPr txBox="1"/>
            <p:nvPr/>
          </p:nvSpPr>
          <p:spPr>
            <a:xfrm>
              <a:off x="46975" y="3699100"/>
              <a:ext cx="3000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No longer directly depends on the </a:t>
              </a:r>
              <a:r>
                <a:rPr lang="en" sz="1200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Dog</a:t>
              </a:r>
              <a:r>
                <a:rPr lang="en" sz="1200">
                  <a:solidFill>
                    <a:schemeClr val="dk1"/>
                  </a:solidFill>
                </a:rPr>
                <a:t> or </a:t>
              </a:r>
              <a:r>
                <a:rPr lang="en" sz="1200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Cat</a:t>
              </a:r>
              <a:r>
                <a:rPr lang="en" sz="1200">
                  <a:solidFill>
                    <a:schemeClr val="dk1"/>
                  </a:solidFill>
                </a:rPr>
                <a:t> classes. It delegates object creation to the </a:t>
              </a:r>
              <a:r>
                <a:rPr lang="en" sz="1200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AnimalFactory</a:t>
              </a:r>
              <a:r>
                <a:rPr lang="en" sz="1200">
                  <a:solidFill>
                    <a:schemeClr val="dk1"/>
                  </a:solidFill>
                </a:rPr>
                <a:t>.</a:t>
              </a:r>
              <a:endParaRPr sz="1200"/>
            </a:p>
          </p:txBody>
        </p:sp>
      </p:grpSp>
      <p:pic>
        <p:nvPicPr>
          <p:cNvPr id="268" name="Google Shape;268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92225" y="1347337"/>
            <a:ext cx="4831735" cy="1177276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9" name="Google Shape;269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31588" y="2859975"/>
            <a:ext cx="4953000" cy="1038225"/>
          </a:xfrm>
          <a:prstGeom prst="rect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8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8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76" name="Google Shape;276;p38"/>
          <p:cNvSpPr txBox="1"/>
          <p:nvPr/>
        </p:nvSpPr>
        <p:spPr>
          <a:xfrm>
            <a:off x="547775" y="4776850"/>
            <a:ext cx="2756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</a:t>
            </a:r>
            <a:r>
              <a:rPr b="1" lang="en" sz="1000">
                <a:solidFill>
                  <a:schemeClr val="lt1"/>
                </a:solidFill>
              </a:rPr>
              <a:t>A Tale of Constructors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77" name="Google Shape;277;p38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9" name="Google Shape;27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8"/>
          <p:cNvSpPr txBox="1"/>
          <p:nvPr>
            <p:ph type="title"/>
          </p:nvPr>
        </p:nvSpPr>
        <p:spPr>
          <a:xfrm>
            <a:off x="311700" y="19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Achieving Open-Closed Principle (OCP)</a:t>
            </a:r>
            <a:endParaRPr/>
          </a:p>
        </p:txBody>
      </p:sp>
      <p:pic>
        <p:nvPicPr>
          <p:cNvPr id="281" name="Google Shape;28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1450" y="841934"/>
            <a:ext cx="4698659" cy="35945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2" name="Google Shape;282;p38"/>
          <p:cNvGrpSpPr/>
          <p:nvPr/>
        </p:nvGrpSpPr>
        <p:grpSpPr>
          <a:xfrm>
            <a:off x="90575" y="1964738"/>
            <a:ext cx="2756775" cy="789075"/>
            <a:chOff x="547775" y="1964738"/>
            <a:chExt cx="2756775" cy="789075"/>
          </a:xfrm>
        </p:grpSpPr>
        <p:sp>
          <p:nvSpPr>
            <p:cNvPr id="283" name="Google Shape;283;p38"/>
            <p:cNvSpPr/>
            <p:nvPr/>
          </p:nvSpPr>
          <p:spPr>
            <a:xfrm>
              <a:off x="2151350" y="2259375"/>
              <a:ext cx="1153200" cy="1998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84" name="Google Shape;284;p38"/>
            <p:cNvCxnSpPr>
              <a:stCxn id="283" idx="1"/>
            </p:cNvCxnSpPr>
            <p:nvPr/>
          </p:nvCxnSpPr>
          <p:spPr>
            <a:xfrm rot="10800000">
              <a:off x="1434950" y="2341575"/>
              <a:ext cx="716400" cy="177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descr="a blue and white penguin with an orange beak is making a funny face (Provided by Tenor)" id="285" name="Google Shape;285;p3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47775" y="1964738"/>
              <a:ext cx="789075" cy="789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6" name="Google Shape;286;p38"/>
          <p:cNvSpPr txBox="1"/>
          <p:nvPr/>
        </p:nvSpPr>
        <p:spPr>
          <a:xfrm>
            <a:off x="6353025" y="1041575"/>
            <a:ext cx="2550600" cy="25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Open for Extension: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</a:t>
            </a:r>
            <a:r>
              <a:rPr lang="en" sz="1200">
                <a:solidFill>
                  <a:schemeClr val="dk1"/>
                </a:solidFill>
              </a:rPr>
              <a:t>dd new functionality to the module (e.g., new features or behaviors)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Closed for Modification: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The existing code of the module should not be modified when adding new functionality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9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9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93" name="Google Shape;293;p39"/>
          <p:cNvSpPr txBox="1"/>
          <p:nvPr/>
        </p:nvSpPr>
        <p:spPr>
          <a:xfrm>
            <a:off x="547775" y="4776850"/>
            <a:ext cx="2756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A Tale of Constructors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94" name="Google Shape;294;p39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6" name="Google Shape;29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9"/>
          <p:cNvSpPr txBox="1"/>
          <p:nvPr>
            <p:ph type="title"/>
          </p:nvPr>
        </p:nvSpPr>
        <p:spPr>
          <a:xfrm>
            <a:off x="311700" y="19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bit about Static Methods …</a:t>
            </a:r>
            <a:endParaRPr/>
          </a:p>
        </p:txBody>
      </p:sp>
      <p:pic>
        <p:nvPicPr>
          <p:cNvPr id="298" name="Google Shape;29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2850" y="841934"/>
            <a:ext cx="4698659" cy="35945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p39"/>
          <p:cNvGrpSpPr/>
          <p:nvPr/>
        </p:nvGrpSpPr>
        <p:grpSpPr>
          <a:xfrm>
            <a:off x="178523" y="1964750"/>
            <a:ext cx="2604370" cy="789075"/>
            <a:chOff x="700180" y="1964750"/>
            <a:chExt cx="2604370" cy="789075"/>
          </a:xfrm>
        </p:grpSpPr>
        <p:sp>
          <p:nvSpPr>
            <p:cNvPr id="300" name="Google Shape;300;p39"/>
            <p:cNvSpPr/>
            <p:nvPr/>
          </p:nvSpPr>
          <p:spPr>
            <a:xfrm>
              <a:off x="2151350" y="2259375"/>
              <a:ext cx="1153200" cy="1998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01" name="Google Shape;301;p39"/>
            <p:cNvCxnSpPr>
              <a:stCxn id="300" idx="1"/>
            </p:cNvCxnSpPr>
            <p:nvPr/>
          </p:nvCxnSpPr>
          <p:spPr>
            <a:xfrm rot="10800000">
              <a:off x="1434950" y="2341575"/>
              <a:ext cx="716400" cy="177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descr="a blue and white penguin with an orange beak is making a funny face (Provided by Tenor)" id="302" name="Google Shape;302;p3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00180" y="1964750"/>
              <a:ext cx="646800" cy="789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3" name="Google Shape;303;p39"/>
          <p:cNvSpPr txBox="1"/>
          <p:nvPr/>
        </p:nvSpPr>
        <p:spPr>
          <a:xfrm>
            <a:off x="6029725" y="479950"/>
            <a:ext cx="30000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Utility Functions: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N</a:t>
            </a:r>
            <a:r>
              <a:rPr lang="en" sz="1200">
                <a:solidFill>
                  <a:schemeClr val="dk1"/>
                </a:solidFill>
              </a:rPr>
              <a:t>eed a helper function </a:t>
            </a:r>
            <a:r>
              <a:rPr lang="en" sz="1200">
                <a:solidFill>
                  <a:schemeClr val="dk1"/>
                </a:solidFill>
                <a:highlight>
                  <a:srgbClr val="FFFF00"/>
                </a:highlight>
              </a:rPr>
              <a:t>related to the class</a:t>
            </a:r>
            <a:r>
              <a:rPr lang="en" sz="1200">
                <a:solidFill>
                  <a:schemeClr val="dk1"/>
                </a:solidFill>
              </a:rPr>
              <a:t> but </a:t>
            </a:r>
            <a:r>
              <a:rPr i="1" lang="en" sz="1200">
                <a:solidFill>
                  <a:srgbClr val="FF0000"/>
                </a:solidFill>
              </a:rPr>
              <a:t>not dependent on instance or class-level data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Encapsulation: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To </a:t>
            </a:r>
            <a:r>
              <a:rPr lang="en" sz="1200">
                <a:solidFill>
                  <a:schemeClr val="dk1"/>
                </a:solidFill>
                <a:highlight>
                  <a:srgbClr val="FFFF00"/>
                </a:highlight>
              </a:rPr>
              <a:t>group related logic</a:t>
            </a:r>
            <a:r>
              <a:rPr lang="en" sz="1200">
                <a:solidFill>
                  <a:schemeClr val="dk1"/>
                </a:solidFill>
              </a:rPr>
              <a:t> within the class for better readability and organization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Factory Methods: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To </a:t>
            </a:r>
            <a:r>
              <a:rPr lang="en" sz="1200">
                <a:solidFill>
                  <a:schemeClr val="dk1"/>
                </a:solidFill>
                <a:highlight>
                  <a:srgbClr val="FFFF00"/>
                </a:highlight>
              </a:rPr>
              <a:t>create objects</a:t>
            </a:r>
            <a:r>
              <a:rPr lang="en" sz="1200">
                <a:solidFill>
                  <a:schemeClr val="dk1"/>
                </a:solidFill>
              </a:rPr>
              <a:t> or perform operations that </a:t>
            </a:r>
            <a:r>
              <a:rPr i="1" lang="en" sz="1200">
                <a:solidFill>
                  <a:srgbClr val="FF0000"/>
                </a:solidFill>
              </a:rPr>
              <a:t>don't need access to instance or class-specific data</a:t>
            </a:r>
            <a:endParaRPr i="1" sz="1200">
              <a:solidFill>
                <a:srgbClr val="FF0000"/>
              </a:solidFill>
            </a:endParaRPr>
          </a:p>
        </p:txBody>
      </p:sp>
      <p:sp>
        <p:nvSpPr>
          <p:cNvPr id="304" name="Google Shape;304;p39"/>
          <p:cNvSpPr txBox="1"/>
          <p:nvPr/>
        </p:nvSpPr>
        <p:spPr>
          <a:xfrm>
            <a:off x="6883821" y="3927857"/>
            <a:ext cx="129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Decorator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0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40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11" name="Google Shape;311;p40"/>
          <p:cNvSpPr txBox="1"/>
          <p:nvPr/>
        </p:nvSpPr>
        <p:spPr>
          <a:xfrm>
            <a:off x="547775" y="4776850"/>
            <a:ext cx="2756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A Tale of Constructors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12" name="Google Shape;312;p40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4" name="Google Shape;31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0"/>
          <p:cNvSpPr txBox="1"/>
          <p:nvPr>
            <p:ph type="title"/>
          </p:nvPr>
        </p:nvSpPr>
        <p:spPr>
          <a:xfrm>
            <a:off x="311700" y="19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bit about Static Methods …</a:t>
            </a:r>
            <a:endParaRPr/>
          </a:p>
        </p:txBody>
      </p:sp>
      <p:sp>
        <p:nvSpPr>
          <p:cNvPr id="316" name="Google Shape;316;p40"/>
          <p:cNvSpPr txBox="1"/>
          <p:nvPr/>
        </p:nvSpPr>
        <p:spPr>
          <a:xfrm>
            <a:off x="5913600" y="591900"/>
            <a:ext cx="30000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Utility Functions: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Need a helper function </a:t>
            </a:r>
            <a:r>
              <a:rPr lang="en" sz="1200">
                <a:solidFill>
                  <a:schemeClr val="dk1"/>
                </a:solidFill>
                <a:highlight>
                  <a:srgbClr val="FFFF00"/>
                </a:highlight>
              </a:rPr>
              <a:t>related to the class</a:t>
            </a:r>
            <a:r>
              <a:rPr lang="en" sz="1200">
                <a:solidFill>
                  <a:schemeClr val="dk1"/>
                </a:solidFill>
              </a:rPr>
              <a:t> but </a:t>
            </a:r>
            <a:r>
              <a:rPr i="1" lang="en" sz="1200">
                <a:solidFill>
                  <a:srgbClr val="FF0000"/>
                </a:solidFill>
              </a:rPr>
              <a:t>not dependent on instance or class-level data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Encapsulation: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To </a:t>
            </a:r>
            <a:r>
              <a:rPr lang="en" sz="1200">
                <a:solidFill>
                  <a:schemeClr val="dk1"/>
                </a:solidFill>
                <a:highlight>
                  <a:srgbClr val="FFFF00"/>
                </a:highlight>
              </a:rPr>
              <a:t>group related logic</a:t>
            </a:r>
            <a:r>
              <a:rPr lang="en" sz="1200">
                <a:solidFill>
                  <a:schemeClr val="dk1"/>
                </a:solidFill>
              </a:rPr>
              <a:t> within the class for better readability and organization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Factory Methods: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To </a:t>
            </a:r>
            <a:r>
              <a:rPr lang="en" sz="1200">
                <a:solidFill>
                  <a:schemeClr val="dk1"/>
                </a:solidFill>
                <a:highlight>
                  <a:srgbClr val="FFFF00"/>
                </a:highlight>
              </a:rPr>
              <a:t>create objects</a:t>
            </a:r>
            <a:r>
              <a:rPr lang="en" sz="1200">
                <a:solidFill>
                  <a:schemeClr val="dk1"/>
                </a:solidFill>
              </a:rPr>
              <a:t> or perform operations that </a:t>
            </a:r>
            <a:r>
              <a:rPr i="1" lang="en" sz="1200">
                <a:solidFill>
                  <a:srgbClr val="FF0000"/>
                </a:solidFill>
              </a:rPr>
              <a:t>don't need access to instance or class-specific data</a:t>
            </a:r>
            <a:endParaRPr i="1" sz="1200">
              <a:solidFill>
                <a:srgbClr val="FF0000"/>
              </a:solidFill>
            </a:endParaRPr>
          </a:p>
        </p:txBody>
      </p:sp>
      <p:sp>
        <p:nvSpPr>
          <p:cNvPr id="317" name="Google Shape;317;p40"/>
          <p:cNvSpPr txBox="1"/>
          <p:nvPr/>
        </p:nvSpPr>
        <p:spPr>
          <a:xfrm>
            <a:off x="6883821" y="4039807"/>
            <a:ext cx="129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Decorator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318" name="Google Shape;318;p40"/>
          <p:cNvPicPr preferRelativeResize="0"/>
          <p:nvPr/>
        </p:nvPicPr>
        <p:blipFill rotWithShape="1">
          <a:blip r:embed="rId4">
            <a:alphaModFix/>
          </a:blip>
          <a:srcRect b="0" l="0" r="12967" t="0"/>
          <a:stretch/>
        </p:blipFill>
        <p:spPr>
          <a:xfrm>
            <a:off x="195550" y="968550"/>
            <a:ext cx="5540400" cy="161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cross on a white background that looks like a starfish (Provided by Tenor)" id="319" name="Google Shape;319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8971" y="2704121"/>
            <a:ext cx="406075" cy="4513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0" name="Google Shape;320;p40"/>
          <p:cNvGrpSpPr/>
          <p:nvPr/>
        </p:nvGrpSpPr>
        <p:grpSpPr>
          <a:xfrm>
            <a:off x="195550" y="2756951"/>
            <a:ext cx="3930150" cy="1766052"/>
            <a:chOff x="195550" y="2756951"/>
            <a:chExt cx="3930150" cy="1766052"/>
          </a:xfrm>
        </p:grpSpPr>
        <p:pic>
          <p:nvPicPr>
            <p:cNvPr id="321" name="Google Shape;321;p4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95550" y="2756951"/>
              <a:ext cx="3930150" cy="17660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40"/>
            <p:cNvSpPr/>
            <p:nvPr/>
          </p:nvSpPr>
          <p:spPr>
            <a:xfrm>
              <a:off x="431893" y="3069650"/>
              <a:ext cx="1153200" cy="1998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1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41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29" name="Google Shape;329;p41"/>
          <p:cNvSpPr txBox="1"/>
          <p:nvPr/>
        </p:nvSpPr>
        <p:spPr>
          <a:xfrm>
            <a:off x="547775" y="4776850"/>
            <a:ext cx="2756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A Tale of Constructors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30" name="Google Shape;330;p41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2" name="Google Shape;33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1"/>
          <p:cNvSpPr txBox="1"/>
          <p:nvPr>
            <p:ph type="title"/>
          </p:nvPr>
        </p:nvSpPr>
        <p:spPr>
          <a:xfrm>
            <a:off x="311700" y="19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its cousins - self and @classmethod</a:t>
            </a:r>
            <a:endParaRPr/>
          </a:p>
        </p:txBody>
      </p:sp>
      <p:pic>
        <p:nvPicPr>
          <p:cNvPr id="334" name="Google Shape;334;p41"/>
          <p:cNvPicPr preferRelativeResize="0"/>
          <p:nvPr/>
        </p:nvPicPr>
        <p:blipFill rotWithShape="1">
          <a:blip r:embed="rId4">
            <a:alphaModFix/>
          </a:blip>
          <a:srcRect b="49446" l="0" r="13845" t="0"/>
          <a:stretch/>
        </p:blipFill>
        <p:spPr>
          <a:xfrm>
            <a:off x="217775" y="1432200"/>
            <a:ext cx="4024075" cy="2131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1"/>
          <p:cNvPicPr preferRelativeResize="0"/>
          <p:nvPr/>
        </p:nvPicPr>
        <p:blipFill rotWithShape="1">
          <a:blip r:embed="rId4">
            <a:alphaModFix/>
          </a:blip>
          <a:srcRect b="0" l="0" r="3966" t="50816"/>
          <a:stretch/>
        </p:blipFill>
        <p:spPr>
          <a:xfrm>
            <a:off x="4417775" y="1455285"/>
            <a:ext cx="4544600" cy="2101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0475" y="3739950"/>
            <a:ext cx="4461900" cy="34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2550" y="3696900"/>
            <a:ext cx="4024075" cy="456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85875" y="4208038"/>
            <a:ext cx="2891110" cy="35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2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42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45" name="Google Shape;345;p42"/>
          <p:cNvSpPr txBox="1"/>
          <p:nvPr/>
        </p:nvSpPr>
        <p:spPr>
          <a:xfrm>
            <a:off x="547775" y="4776850"/>
            <a:ext cx="2756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A Tale of Constructors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46" name="Google Shape;346;p42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8" name="Google Shape;34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42"/>
          <p:cNvSpPr txBox="1"/>
          <p:nvPr>
            <p:ph type="title"/>
          </p:nvPr>
        </p:nvSpPr>
        <p:spPr>
          <a:xfrm>
            <a:off x="311700" y="198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Animal is inherited by Dog and Cat as “</a:t>
            </a:r>
            <a:r>
              <a:rPr i="1" lang="en"/>
              <a:t>Base Class</a:t>
            </a:r>
            <a:r>
              <a:rPr lang="en"/>
              <a:t>”</a:t>
            </a:r>
            <a:endParaRPr/>
          </a:p>
        </p:txBody>
      </p:sp>
      <p:pic>
        <p:nvPicPr>
          <p:cNvPr id="350" name="Google Shape;35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91" y="900653"/>
            <a:ext cx="5260026" cy="2633200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51" name="Google Shape;351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8200" y="1751550"/>
            <a:ext cx="5604101" cy="2649500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3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3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58" name="Google Shape;358;p43"/>
          <p:cNvSpPr txBox="1"/>
          <p:nvPr/>
        </p:nvSpPr>
        <p:spPr>
          <a:xfrm>
            <a:off x="547775" y="4776850"/>
            <a:ext cx="2756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A Tale of Constructors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59" name="Google Shape;359;p43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1" name="Google Shape;36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the base class </a:t>
            </a:r>
            <a:r>
              <a:rPr i="1" lang="en"/>
              <a:t>Animal</a:t>
            </a:r>
            <a:r>
              <a:rPr lang="en"/>
              <a:t>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