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7A7E8A-5E0C-41F5-AC1A-5CCB2AFCC083}">
  <a:tblStyle styleId="{6A7A7E8A-5E0C-41F5-AC1A-5CCB2AFCC08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104b85e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104b85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3bfc81b2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3bfc81b2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3bfc81b2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3bfc81b2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3bfc81b21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3bfc81b21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3bfc81b21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3bfc81b21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.gif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5137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Structural Design Patterns: Composite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IT620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Structural Design Patterns: Composite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Why should we think about Composite?</a:t>
            </a:r>
            <a:endParaRPr sz="2320"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3520177" cy="31959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850" y="1837426"/>
            <a:ext cx="4111350" cy="201393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26"/>
          <p:cNvSpPr txBox="1"/>
          <p:nvPr/>
        </p:nvSpPr>
        <p:spPr>
          <a:xfrm>
            <a:off x="3869850" y="943825"/>
            <a:ext cx="491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What if we need two ways of making them talk - individually and as a group?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5132175" y="3933750"/>
            <a:ext cx="24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Code duplication!</a:t>
            </a:r>
            <a:endParaRPr i="1" sz="1800">
              <a:solidFill>
                <a:srgbClr val="FF0000"/>
              </a:solidFill>
            </a:endParaRPr>
          </a:p>
        </p:txBody>
      </p:sp>
      <p:sp>
        <p:nvSpPr>
          <p:cNvPr id="119" name="Google Shape;119;p26"/>
          <p:cNvSpPr/>
          <p:nvPr/>
        </p:nvSpPr>
        <p:spPr>
          <a:xfrm>
            <a:off x="4024100" y="3453675"/>
            <a:ext cx="4546800" cy="33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6375" y="2048884"/>
            <a:ext cx="4914300" cy="219473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26"/>
          <p:cNvSpPr txBox="1"/>
          <p:nvPr/>
        </p:nvSpPr>
        <p:spPr>
          <a:xfrm>
            <a:off x="4806248" y="4205494"/>
            <a:ext cx="333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FF0000"/>
                </a:solidFill>
              </a:rPr>
              <a:t>Repetitive check, </a:t>
            </a:r>
            <a:r>
              <a:rPr i="1" lang="en" sz="1800" u="sng">
                <a:solidFill>
                  <a:srgbClr val="FF0000"/>
                </a:solidFill>
              </a:rPr>
              <a:t>fragile</a:t>
            </a:r>
            <a:r>
              <a:rPr i="1" lang="en" sz="1800">
                <a:solidFill>
                  <a:srgbClr val="FF0000"/>
                </a:solidFill>
              </a:rPr>
              <a:t>!</a:t>
            </a:r>
            <a:endParaRPr i="1" sz="1800">
              <a:solidFill>
                <a:srgbClr val="FF0000"/>
              </a:solidFill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6792750" y="2212550"/>
            <a:ext cx="2372600" cy="615600"/>
            <a:chOff x="6792750" y="2212550"/>
            <a:chExt cx="2372600" cy="615600"/>
          </a:xfrm>
        </p:grpSpPr>
        <p:cxnSp>
          <p:nvCxnSpPr>
            <p:cNvPr id="123" name="Google Shape;123;p26"/>
            <p:cNvCxnSpPr/>
            <p:nvPr/>
          </p:nvCxnSpPr>
          <p:spPr>
            <a:xfrm flipH="1" rot="10800000">
              <a:off x="6792750" y="2761425"/>
              <a:ext cx="537000" cy="120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26"/>
            <p:cNvCxnSpPr/>
            <p:nvPr/>
          </p:nvCxnSpPr>
          <p:spPr>
            <a:xfrm flipH="1" rot="10800000">
              <a:off x="7305925" y="2379525"/>
              <a:ext cx="561000" cy="3939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" name="Google Shape;125;p26"/>
            <p:cNvSpPr txBox="1"/>
            <p:nvPr/>
          </p:nvSpPr>
          <p:spPr>
            <a:xfrm>
              <a:off x="7842950" y="2212550"/>
              <a:ext cx="13224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Type may change!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775" y="1195925"/>
            <a:ext cx="3957700" cy="3060495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27"/>
          <p:cNvSpPr/>
          <p:nvPr/>
        </p:nvSpPr>
        <p:spPr>
          <a:xfrm>
            <a:off x="2410114" y="1627775"/>
            <a:ext cx="2485150" cy="1253050"/>
          </a:xfrm>
          <a:custGeom>
            <a:rect b="b" l="l" r="r" t="t"/>
            <a:pathLst>
              <a:path extrusionOk="0" h="50122" w="99406">
                <a:moveTo>
                  <a:pt x="16346" y="0"/>
                </a:moveTo>
                <a:cubicBezTo>
                  <a:pt x="14357" y="5887"/>
                  <a:pt x="-9431" y="26970"/>
                  <a:pt x="4412" y="35324"/>
                </a:cubicBezTo>
                <a:cubicBezTo>
                  <a:pt x="18255" y="43678"/>
                  <a:pt x="83574" y="47656"/>
                  <a:pt x="99406" y="50122"/>
                </a:cubicBez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32" name="Google Shape;132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Structural Design Patterns: Composite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35" name="Google Shape;135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Can we treat a group (composite) as an individual?</a:t>
            </a:r>
            <a:endParaRPr sz="2320"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887" y="881850"/>
            <a:ext cx="4097564" cy="106042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red cross on a white background that looks like a starfish (Provided by Tenor)" id="140" name="Google Shape;14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9950" y="1681150"/>
            <a:ext cx="548700" cy="609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0125" y="821038"/>
            <a:ext cx="4218025" cy="36655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2" name="Google Shape;142;p27"/>
          <p:cNvGrpSpPr/>
          <p:nvPr/>
        </p:nvGrpSpPr>
        <p:grpSpPr>
          <a:xfrm>
            <a:off x="5336825" y="875875"/>
            <a:ext cx="2136325" cy="608775"/>
            <a:chOff x="5336825" y="875875"/>
            <a:chExt cx="2136325" cy="608775"/>
          </a:xfrm>
        </p:grpSpPr>
        <p:cxnSp>
          <p:nvCxnSpPr>
            <p:cNvPr id="143" name="Google Shape;143;p27"/>
            <p:cNvCxnSpPr/>
            <p:nvPr/>
          </p:nvCxnSpPr>
          <p:spPr>
            <a:xfrm>
              <a:off x="5336825" y="1472650"/>
              <a:ext cx="1849800" cy="120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7"/>
            <p:cNvCxnSpPr/>
            <p:nvPr/>
          </p:nvCxnSpPr>
          <p:spPr>
            <a:xfrm flipH="1" rot="10800000">
              <a:off x="7174650" y="875875"/>
              <a:ext cx="298500" cy="6087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5" name="Google Shape;145;p27"/>
          <p:cNvSpPr txBox="1"/>
          <p:nvPr/>
        </p:nvSpPr>
        <p:spPr>
          <a:xfrm>
            <a:off x="7229718" y="323284"/>
            <a:ext cx="188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Group as an </a:t>
            </a:r>
            <a:r>
              <a:rPr i="1" lang="en" sz="1300">
                <a:highlight>
                  <a:srgbClr val="FFFF00"/>
                </a:highlight>
              </a:rPr>
              <a:t>Individual </a:t>
            </a:r>
            <a:r>
              <a:rPr i="1" lang="en" sz="1300"/>
              <a:t>animal</a:t>
            </a:r>
            <a:endParaRPr i="1"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Structural Design Patterns: Composite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Can we make groups and then group them all? (nested)</a:t>
            </a:r>
            <a:endParaRPr sz="2320"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000" y="772975"/>
            <a:ext cx="3517800" cy="365529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100" y="772975"/>
            <a:ext cx="3947853" cy="3569292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" name="Google Shape;159;p28"/>
          <p:cNvSpPr/>
          <p:nvPr/>
        </p:nvSpPr>
        <p:spPr>
          <a:xfrm>
            <a:off x="4763316" y="2350375"/>
            <a:ext cx="2610600" cy="33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" name="Google Shape;160;p28"/>
          <p:cNvGrpSpPr/>
          <p:nvPr/>
        </p:nvGrpSpPr>
        <p:grpSpPr>
          <a:xfrm>
            <a:off x="6928650" y="1973834"/>
            <a:ext cx="2479793" cy="585000"/>
            <a:chOff x="6852450" y="907034"/>
            <a:chExt cx="2479793" cy="585000"/>
          </a:xfrm>
        </p:grpSpPr>
        <p:cxnSp>
          <p:nvCxnSpPr>
            <p:cNvPr id="161" name="Google Shape;161;p28"/>
            <p:cNvCxnSpPr/>
            <p:nvPr/>
          </p:nvCxnSpPr>
          <p:spPr>
            <a:xfrm flipH="1" rot="10800000">
              <a:off x="6852450" y="1114625"/>
              <a:ext cx="596700" cy="169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2" name="Google Shape;162;p28"/>
            <p:cNvSpPr txBox="1"/>
            <p:nvPr/>
          </p:nvSpPr>
          <p:spPr>
            <a:xfrm>
              <a:off x="7449143" y="907034"/>
              <a:ext cx="1883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/>
                <a:t>Opens up nesting - why??</a:t>
              </a:r>
              <a:endParaRPr i="1" sz="1300"/>
            </a:p>
          </p:txBody>
        </p:sp>
      </p:grpSp>
      <p:pic>
        <p:nvPicPr>
          <p:cNvPr id="163" name="Google Shape;16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57724" y="770500"/>
            <a:ext cx="3038350" cy="36553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" name="Google Shape;164;p28"/>
          <p:cNvSpPr/>
          <p:nvPr/>
        </p:nvSpPr>
        <p:spPr>
          <a:xfrm>
            <a:off x="3093450" y="3379350"/>
            <a:ext cx="2610600" cy="33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Structural Design Patterns: Composite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2" name="Google Shape;172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So how exactly Composite Pattern is different?</a:t>
            </a:r>
            <a:endParaRPr sz="2320"/>
          </a:p>
        </p:txBody>
      </p:sp>
      <p:graphicFrame>
        <p:nvGraphicFramePr>
          <p:cNvPr id="176" name="Google Shape;176;p29"/>
          <p:cNvGraphicFramePr/>
          <p:nvPr/>
        </p:nvGraphicFramePr>
        <p:xfrm>
          <a:off x="371145" y="10202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{6A7A7E8A-5E0C-41F5-AC1A-5CCB2AFCC083}</a:tableStyleId>
              </a:tblPr>
              <a:tblGrid>
                <a:gridCol w="1195200"/>
                <a:gridCol w="1807950"/>
                <a:gridCol w="2386600"/>
                <a:gridCol w="2948500"/>
              </a:tblGrid>
              <a:tr h="418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Pattern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Primary Intent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Problem Solved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Key Benefit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Adapter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Convert one interface into another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Make incompatible interfaces work together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Reuse existing code without modifying it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Facade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Simplify a complex subsystem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Provide a single, easy-to-use API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Reduce coupling between clients and subsystems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Decorator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responsibilities dynamically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Extend object behavior without subclassing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Flexible, runtime behavior augmentation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Composite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Compose objects into </a:t>
                      </a:r>
                      <a:r>
                        <a:rPr b="1" lang="en" u="sng">
                          <a:solidFill>
                            <a:srgbClr val="FF0000"/>
                          </a:solidFill>
                        </a:rPr>
                        <a:t>tree structures</a:t>
                      </a:r>
                      <a:endParaRPr b="1" u="sng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rgbClr val="FFFF00"/>
                          </a:highlight>
                        </a:rPr>
                        <a:t>Treat individual objects and object groups uniformly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Simplify client code by handling leaf and composite nodes identically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3" name="Google Shape;183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IT620: Structural Design Patterns: Composite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Does grouping always lead to Composite?</a:t>
            </a:r>
            <a:endParaRPr sz="31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