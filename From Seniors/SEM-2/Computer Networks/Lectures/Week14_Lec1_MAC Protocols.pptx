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1216" r:id="rId3"/>
    <p:sldId id="257" r:id="rId4"/>
    <p:sldId id="258" r:id="rId5"/>
    <p:sldId id="273" r:id="rId6"/>
    <p:sldId id="1215" r:id="rId7"/>
    <p:sldId id="274" r:id="rId8"/>
    <p:sldId id="1214" r:id="rId9"/>
    <p:sldId id="1217" r:id="rId10"/>
    <p:sldId id="1218" r:id="rId11"/>
    <p:sldId id="1219" r:id="rId12"/>
    <p:sldId id="1220" r:id="rId13"/>
    <p:sldId id="122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8"/>
    <p:restoredTop sz="96538"/>
  </p:normalViewPr>
  <p:slideViewPr>
    <p:cSldViewPr snapToGrid="0" snapToObjects="1">
      <p:cViewPr varScale="1">
        <p:scale>
          <a:sx n="133" d="100"/>
          <a:sy n="133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D1E92-1A9F-594E-B479-E9A63074A57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979D2-9AB4-4C4F-9B69-6E778850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9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5551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0271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7836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For Ethernet, the actual amount of time a node waits is K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#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512 bit times (i.e., </a:t>
            </a:r>
            <a:r>
              <a:rPr lang="en-US" sz="1800" i="1">
                <a:latin typeface="Times"/>
                <a:ea typeface="Times"/>
                <a:cs typeface="Times"/>
                <a:sym typeface="Times"/>
              </a:rPr>
              <a:t>K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times the amount of time needed to send 512 bits into the Ethernet) and the maxi- mum value that </a:t>
            </a:r>
            <a:r>
              <a:rPr lang="en-US" sz="1800" i="1">
                <a:latin typeface="Times"/>
                <a:ea typeface="Times"/>
                <a:cs typeface="Times"/>
                <a:sym typeface="Times"/>
              </a:rPr>
              <a:t>n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can take is capped at 10.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2291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8596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300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384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869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138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98ED-2124-E843-A6F2-0C8CB0842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0951E-F751-E546-98EB-E0DE7DB84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A3481-DFEF-7346-87CC-F953803CD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9B14E-A11D-FC45-9594-F0B58296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12B5-5A54-0241-B119-3ECD9B38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99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7B2A3-6D59-9645-AF08-1379AAF5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E730B-62D5-B046-8CB6-FADF27ACA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50B0A-D222-594C-AEDF-D2AA034A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D81C9-CB25-D846-AC44-A2CC54A6B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F7CBA-B481-4C4A-B5A9-38D1DD2B9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9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57B0-7543-B94E-9E21-2EF76149E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9759C-1218-AC46-84FD-16CDF9163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E7528-98BA-F54D-AE4A-DB87021B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01E01-FFE3-3B42-9743-98466EC6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1095F-D942-1346-8065-027ED628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2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95CCF-490E-BD48-B1CE-3DC3CF950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A2694-8E75-8C49-9945-98D5845B4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A4797-49AC-D74F-A5E9-E2EC130F5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7F39B-50FC-6A43-A33A-88EEEA35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DAD07-861E-2F45-8610-28FA4D6D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CB0D5-E013-7C4A-A12B-A035377D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64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BED7F-66B9-034A-82C2-21BB17867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A8010-98EE-CA45-BD5A-CB004648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632FB-2EF9-1F45-A934-9B1EB2562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780A0-7ECE-8A48-80F2-19BCC0A53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A0F08-140B-774D-BD57-A3987A2D8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D069AC-EDBC-204E-9B8A-AA5259AD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39A4E4-3B0C-AA44-97DD-831C343D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55D1A8-A5B9-4644-B928-235BB90A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3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D6066-1C58-FC42-BAA1-8F2F75A3A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2862B-899E-734B-8AFA-9A712367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019C7-E367-A041-BE01-1BE4C009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B8A1-C3A1-2846-8BF8-DB1B5954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69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48DB0-05E0-D941-82E5-C8335F56F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2BEAF3-87C8-0646-84F0-E1901D25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6C671-BFB7-A64C-81B6-6E4DDB4F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26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7B5E-5F82-E34A-AD46-26904312C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D831F-3A39-024E-9C55-72146C37B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45CA5-1C12-D04B-9CEE-BE41E31D3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71366-0858-2F47-BCC3-F7B1CEAC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F16A5-80B0-C747-82BF-4DB1A9A8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6FBF7-033E-6245-98F9-FDF3C353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9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1D5D-DC2F-F541-9E46-29B9807AF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869023-CDFA-1D45-AA67-ADC2F3B35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DCC3B-0F51-0840-826B-577444807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87D8E-223A-A544-86D6-D539FB6D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F4FE9-AD7E-FB46-8372-405F1377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783E3-0F20-774F-AB7D-8342E471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78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474C-D76F-2048-AA7E-47783BF0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EB604-2796-E94D-A05E-62255C322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EA00C-36BF-624C-883F-FC194B49F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6AF75-C9C6-4447-B28B-3521795D8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56C3C-B543-8D4D-815F-939060C5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3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F2F8D9-5323-CD44-B8CE-027799D41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3EBD0-E95B-3744-BF06-089AB148D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F3522-C4A6-2148-93DE-FED17C60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8061E-DD39-604D-96D1-B64FA0814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4C296-FF53-C149-8B79-2031759B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5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DDF49-E358-B94F-8086-9360C8DB3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3EC4B-4BC6-6B4F-B21B-0AC05D0B0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0FDD7-AEB7-8041-9CD9-9317D9647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725D6-74F9-794A-8020-4FA69F0928E0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24990-87FB-D243-A492-A82B36B37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80481-EA76-BE48-8134-4D38E9769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264C7-2C93-B141-89B6-88979A11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2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DED6-0D29-CF4B-870A-077E3231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IT694</a:t>
            </a:r>
            <a:br>
              <a:rPr lang="en-US" dirty="0"/>
            </a:br>
            <a:r>
              <a:rPr lang="en-US" dirty="0"/>
              <a:t>Week 14_Lec 1</a:t>
            </a:r>
            <a:br>
              <a:rPr lang="en-US" dirty="0"/>
            </a:br>
            <a:r>
              <a:rPr lang="en-US" dirty="0"/>
              <a:t>Computer Networks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7B19F-5904-2847-82E4-9A5BAB5E8A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Carrier Sense Multiple Access</a:t>
            </a:r>
          </a:p>
        </p:txBody>
      </p:sp>
    </p:spTree>
    <p:extLst>
      <p:ext uri="{BB962C8B-B14F-4D97-AF65-F5344CB8AC3E}">
        <p14:creationId xmlns:p14="http://schemas.microsoft.com/office/powerpoint/2010/main" val="217314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2CD4-D7A8-224C-9F4D-652DB2F9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Slotted ALOHA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405AF-D3F5-8449-82AC-0A307B844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as you wish</a:t>
            </a:r>
          </a:p>
          <a:p>
            <a:r>
              <a:rPr lang="en-US" dirty="0"/>
              <a:t>Wait for time slot</a:t>
            </a:r>
          </a:p>
          <a:p>
            <a:r>
              <a:rPr lang="en-US" dirty="0"/>
              <a:t>Take a chance and send</a:t>
            </a:r>
          </a:p>
          <a:p>
            <a:r>
              <a:rPr lang="en-US" dirty="0"/>
              <a:t>If collision, wait OR send</a:t>
            </a:r>
          </a:p>
        </p:txBody>
      </p:sp>
    </p:spTree>
    <p:extLst>
      <p:ext uri="{BB962C8B-B14F-4D97-AF65-F5344CB8AC3E}">
        <p14:creationId xmlns:p14="http://schemas.microsoft.com/office/powerpoint/2010/main" val="314790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ea typeface="Calibri"/>
                <a:cs typeface="Calibri"/>
                <a:sym typeface="Calibri"/>
              </a:rPr>
              <a:t>CSMA (carrier sense multiple access)</a:t>
            </a:r>
            <a:endParaRPr sz="4400" b="0"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075221" y="1383818"/>
            <a:ext cx="10295145" cy="2220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simple 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+mj-lt"/>
                <a:ea typeface="Calibri"/>
                <a:cs typeface="Calibri"/>
                <a:sym typeface="Calibri"/>
              </a:rPr>
              <a:t>CSMA:</a:t>
            </a:r>
            <a:r>
              <a:rPr lang="en-US" sz="2800" b="0" i="0" u="none" strike="noStrike" cap="none" dirty="0">
                <a:solidFill>
                  <a:srgbClr val="C00000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listen before transmit:</a:t>
            </a:r>
            <a:endParaRPr dirty="0">
              <a:latin typeface="+mj-lt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99"/>
                </a:solidFill>
                <a:latin typeface="+mj-lt"/>
                <a:ea typeface="Calibri"/>
                <a:cs typeface="Calibri"/>
                <a:sym typeface="Calibri"/>
              </a:rPr>
              <a:t>if channel sensed idle: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 transmit entire frame</a:t>
            </a:r>
            <a:endParaRPr dirty="0">
              <a:latin typeface="+mj-lt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99"/>
                </a:solidFill>
                <a:latin typeface="+mj-lt"/>
                <a:ea typeface="Calibri"/>
                <a:cs typeface="Calibri"/>
                <a:sym typeface="Calibri"/>
              </a:rPr>
              <a:t>if channel sensed busy: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 defer transmission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078879" y="3646626"/>
            <a:ext cx="10158964" cy="2661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C00000"/>
                </a:solidFill>
                <a:latin typeface="+mj-lt"/>
                <a:ea typeface="Calibri"/>
                <a:cs typeface="Calibri"/>
                <a:sym typeface="Calibri"/>
              </a:rPr>
              <a:t>CSMA/CD:</a:t>
            </a:r>
            <a:r>
              <a:rPr lang="en-US" sz="2800" b="0" i="0" u="none" strike="noStrike" cap="none" dirty="0">
                <a:solidFill>
                  <a:srgbClr val="C00000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CSMA with </a:t>
            </a:r>
            <a:r>
              <a:rPr lang="en-US" sz="3200" b="0" i="1" u="none" strike="noStrike" cap="none" dirty="0">
                <a:solidFill>
                  <a:srgbClr val="0000A8"/>
                </a:solidFill>
                <a:latin typeface="+mj-lt"/>
                <a:ea typeface="Calibri"/>
                <a:cs typeface="Calibri"/>
                <a:sym typeface="Calibri"/>
              </a:rPr>
              <a:t>collision detection</a:t>
            </a:r>
            <a:endParaRPr sz="2800" b="0" i="1" u="none" strike="noStrike" cap="none" dirty="0">
              <a:solidFill>
                <a:srgbClr val="0000A8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collisions </a:t>
            </a:r>
            <a:r>
              <a:rPr lang="en-US" sz="2800" b="0" i="1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detected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 within short time</a:t>
            </a:r>
            <a:endParaRPr dirty="0">
              <a:latin typeface="+mj-lt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colliding transmissions aborted, reducing channel wastage</a:t>
            </a:r>
            <a:endParaRPr dirty="0">
              <a:latin typeface="+mj-lt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collision detection easy in wired, difficult with wireless</a:t>
            </a:r>
            <a:endParaRPr dirty="0">
              <a:latin typeface="+mj-lt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+mj-lt"/>
              </a:rPr>
              <a:t>Link Layer </a:t>
            </a:r>
            <a:fld id="{00000000-1234-1234-1234-123412341234}" type="slidenum">
              <a:rPr lang="en-US">
                <a:latin typeface="+mj-lt"/>
              </a:rPr>
              <a:t>3</a:t>
            </a:fld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228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ea typeface="Calibri"/>
                <a:cs typeface="Calibri"/>
                <a:sym typeface="Calibri"/>
              </a:rPr>
              <a:t>CSMA: collisions</a:t>
            </a:r>
            <a:endParaRPr sz="4400" b="0"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44217" y="1520687"/>
            <a:ext cx="5536096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13A3"/>
                </a:solidFill>
                <a:latin typeface="+mj-lt"/>
                <a:ea typeface="Calibri"/>
                <a:cs typeface="Calibri"/>
                <a:sym typeface="Calibri"/>
              </a:rPr>
              <a:t>collisions can </a:t>
            </a:r>
            <a:r>
              <a:rPr lang="en-US" sz="2800" b="0" i="1" u="none" strike="noStrike" cap="none">
                <a:solidFill>
                  <a:srgbClr val="0013A3"/>
                </a:solidFill>
                <a:latin typeface="+mj-lt"/>
                <a:ea typeface="Calibri"/>
                <a:cs typeface="Calibri"/>
                <a:sym typeface="Calibri"/>
              </a:rPr>
              <a:t>still</a:t>
            </a:r>
            <a:r>
              <a:rPr lang="en-US" sz="2800" b="0" i="0" u="none" strike="noStrike" cap="none">
                <a:solidFill>
                  <a:srgbClr val="0013A3"/>
                </a:solidFill>
                <a:latin typeface="+mj-lt"/>
                <a:ea typeface="Calibri"/>
                <a:cs typeface="Calibri"/>
                <a:sym typeface="Calibri"/>
              </a:rPr>
              <a:t> occur with carrier sensing</a:t>
            </a:r>
            <a:r>
              <a:rPr lang="en-US" sz="2800" b="0" i="0" u="none" strike="noStrike" cap="none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: </a:t>
            </a:r>
            <a:endParaRPr>
              <a:latin typeface="+mj-lt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C00000"/>
                </a:solidFill>
                <a:latin typeface="+mj-lt"/>
                <a:ea typeface="Calibri"/>
                <a:cs typeface="Calibri"/>
                <a:sym typeface="Calibri"/>
              </a:rPr>
              <a:t>propagation delay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means  two nodes may not hear each other’s just-started transmission</a:t>
            </a:r>
            <a:endParaRPr>
              <a:latin typeface="+mj-lt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A8"/>
                </a:solidFill>
                <a:latin typeface="+mj-lt"/>
                <a:ea typeface="Calibri"/>
                <a:cs typeface="Calibri"/>
                <a:sym typeface="Calibri"/>
              </a:rPr>
              <a:t>collision: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entire packet transmission time wasted</a:t>
            </a:r>
            <a:endParaRPr>
              <a:latin typeface="+mj-lt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distance &amp; propagation delay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play role in in determining collision probability</a:t>
            </a:r>
            <a:endParaRPr>
              <a:latin typeface="+mj-lt"/>
            </a:endParaRPr>
          </a:p>
          <a:p>
            <a:pPr marL="695325" marR="0" lvl="1" indent="-104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+mj-lt"/>
              <a:ea typeface="Gill Sans"/>
              <a:cs typeface="Gill Sans"/>
              <a:sym typeface="Gill Sans"/>
            </a:endParaRPr>
          </a:p>
        </p:txBody>
      </p:sp>
      <p:pic>
        <p:nvPicPr>
          <p:cNvPr id="106" name="Google Shape;106;p3" descr="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1570" y="1216371"/>
            <a:ext cx="4287837" cy="50498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/>
          <p:nvPr/>
        </p:nvSpPr>
        <p:spPr>
          <a:xfrm>
            <a:off x="7999482" y="778221"/>
            <a:ext cx="25685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spatial layout of nodes </a:t>
            </a:r>
            <a:endParaRPr sz="20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7305745" y="2446683"/>
            <a:ext cx="3736975" cy="257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313682" y="2703858"/>
            <a:ext cx="3725863" cy="257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7275582" y="2956271"/>
            <a:ext cx="3763963" cy="16240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7248595" y="4564408"/>
            <a:ext cx="3789362" cy="2035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242245" y="1148108"/>
            <a:ext cx="4040187" cy="1301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3"/>
          <p:cNvGrpSpPr/>
          <p:nvPr/>
        </p:nvGrpSpPr>
        <p:grpSpPr>
          <a:xfrm>
            <a:off x="7426395" y="1146521"/>
            <a:ext cx="3513137" cy="628650"/>
            <a:chOff x="3117" y="180"/>
            <a:chExt cx="2213" cy="396"/>
          </a:xfrm>
        </p:grpSpPr>
        <p:grpSp>
          <p:nvGrpSpPr>
            <p:cNvPr id="114" name="Google Shape;114;p3"/>
            <p:cNvGrpSpPr/>
            <p:nvPr/>
          </p:nvGrpSpPr>
          <p:grpSpPr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id="115" name="Google Shape;115;p3" descr="desktop_computer_stylized_medium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" name="Google Shape;116;p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" name="Google Shape;117;p3"/>
            <p:cNvGrpSpPr/>
            <p:nvPr/>
          </p:nvGrpSpPr>
          <p:grpSpPr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id="118" name="Google Shape;118;p3" descr="desktop_computer_stylized_medium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" name="Google Shape;119;p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" name="Google Shape;120;p3"/>
            <p:cNvGrpSpPr/>
            <p:nvPr/>
          </p:nvGrpSpPr>
          <p:grpSpPr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id="121" name="Google Shape;121;p3" descr="desktop_computer_stylized_medium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" name="Google Shape;122;p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3"/>
            <p:cNvGrpSpPr/>
            <p:nvPr/>
          </p:nvGrpSpPr>
          <p:grpSpPr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id="124" name="Google Shape;124;p3" descr="desktop_computer_stylized_medium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" name="Google Shape;125;p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6" name="Google Shape;126;p3"/>
            <p:cNvCxnSpPr/>
            <p:nvPr/>
          </p:nvCxnSpPr>
          <p:spPr>
            <a:xfrm>
              <a:off x="3309" y="181"/>
              <a:ext cx="1989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" name="Google Shape;127;p3"/>
            <p:cNvCxnSpPr/>
            <p:nvPr/>
          </p:nvCxnSpPr>
          <p:spPr>
            <a:xfrm>
              <a:off x="3309" y="180"/>
              <a:ext cx="0" cy="87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Google Shape;128;p3"/>
            <p:cNvCxnSpPr/>
            <p:nvPr/>
          </p:nvCxnSpPr>
          <p:spPr>
            <a:xfrm>
              <a:off x="3975" y="183"/>
              <a:ext cx="0" cy="87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129;p3"/>
            <p:cNvCxnSpPr/>
            <p:nvPr/>
          </p:nvCxnSpPr>
          <p:spPr>
            <a:xfrm>
              <a:off x="4578" y="183"/>
              <a:ext cx="0" cy="87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Google Shape;130;p3"/>
            <p:cNvCxnSpPr/>
            <p:nvPr/>
          </p:nvCxnSpPr>
          <p:spPr>
            <a:xfrm>
              <a:off x="5289" y="180"/>
              <a:ext cx="0" cy="87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1" name="Google Shape;131;p3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+mj-lt"/>
              </a:rPr>
              <a:t>Link Layer </a:t>
            </a:r>
            <a:fld id="{00000000-1234-1234-1234-123412341234}" type="slidenum">
              <a:rPr lang="en-US">
                <a:latin typeface="+mj-lt"/>
              </a:rPr>
              <a:t>4</a:t>
            </a:fld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347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ea typeface="Calibri"/>
                <a:cs typeface="Calibri"/>
                <a:sym typeface="Calibri"/>
              </a:rPr>
              <a:t>CSMA/CD:</a:t>
            </a:r>
            <a:endParaRPr sz="4400" b="0"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944217" y="1520687"/>
            <a:ext cx="5536096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CSMA/CD reduces the amount of time wasted in collisions</a:t>
            </a:r>
            <a:endParaRPr>
              <a:latin typeface="+mj-lt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transmission aborted on collision detection</a:t>
            </a:r>
            <a:endParaRPr>
              <a:latin typeface="+mj-lt"/>
            </a:endParaRPr>
          </a:p>
          <a:p>
            <a:pPr marL="695325" marR="0" lvl="1" indent="-104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+mj-lt"/>
              <a:ea typeface="Gill Sans"/>
              <a:cs typeface="Gill Sans"/>
              <a:sym typeface="Gill Sans"/>
            </a:endParaRPr>
          </a:p>
        </p:txBody>
      </p:sp>
      <p:pic>
        <p:nvPicPr>
          <p:cNvPr id="139" name="Google Shape;139;p4" descr="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882" y="750060"/>
            <a:ext cx="4433887" cy="387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7196619" y="664335"/>
            <a:ext cx="4135438" cy="12112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933219" y="813560"/>
            <a:ext cx="25685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spatial layout of nodes </a:t>
            </a:r>
            <a:endParaRPr sz="20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4"/>
          <p:cNvGrpSpPr/>
          <p:nvPr/>
        </p:nvGrpSpPr>
        <p:grpSpPr>
          <a:xfrm>
            <a:off x="7696682" y="1204085"/>
            <a:ext cx="3263900" cy="195262"/>
            <a:chOff x="4220" y="1231"/>
            <a:chExt cx="1989" cy="90"/>
          </a:xfrm>
        </p:grpSpPr>
        <p:cxnSp>
          <p:nvCxnSpPr>
            <p:cNvPr id="143" name="Google Shape;143;p4"/>
            <p:cNvCxnSpPr/>
            <p:nvPr/>
          </p:nvCxnSpPr>
          <p:spPr>
            <a:xfrm>
              <a:off x="4220" y="1232"/>
              <a:ext cx="1989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Google Shape;144;p4"/>
            <p:cNvCxnSpPr/>
            <p:nvPr/>
          </p:nvCxnSpPr>
          <p:spPr>
            <a:xfrm>
              <a:off x="4220" y="1231"/>
              <a:ext cx="0" cy="87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4"/>
            <p:cNvCxnSpPr/>
            <p:nvPr/>
          </p:nvCxnSpPr>
          <p:spPr>
            <a:xfrm>
              <a:off x="4886" y="1234"/>
              <a:ext cx="0" cy="87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4"/>
            <p:cNvCxnSpPr/>
            <p:nvPr/>
          </p:nvCxnSpPr>
          <p:spPr>
            <a:xfrm>
              <a:off x="5489" y="1234"/>
              <a:ext cx="0" cy="87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4"/>
            <p:cNvCxnSpPr/>
            <p:nvPr/>
          </p:nvCxnSpPr>
          <p:spPr>
            <a:xfrm>
              <a:off x="6200" y="1231"/>
              <a:ext cx="0" cy="87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8" name="Google Shape;148;p4"/>
          <p:cNvGrpSpPr/>
          <p:nvPr/>
        </p:nvGrpSpPr>
        <p:grpSpPr>
          <a:xfrm flipH="1">
            <a:off x="7342669" y="1337435"/>
            <a:ext cx="501650" cy="512762"/>
            <a:chOff x="2839" y="3501"/>
            <a:chExt cx="755" cy="803"/>
          </a:xfrm>
        </p:grpSpPr>
        <p:pic>
          <p:nvPicPr>
            <p:cNvPr id="149" name="Google Shape;149;p4" descr="desktop_computer_stylized_mediu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4"/>
            <p:cNvSpPr/>
            <p:nvPr/>
          </p:nvSpPr>
          <p:spPr>
            <a:xfrm>
              <a:off x="2916" y="3578"/>
              <a:ext cx="356" cy="368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4"/>
          <p:cNvGrpSpPr/>
          <p:nvPr/>
        </p:nvGrpSpPr>
        <p:grpSpPr>
          <a:xfrm flipH="1">
            <a:off x="8434869" y="1319972"/>
            <a:ext cx="501650" cy="512763"/>
            <a:chOff x="2839" y="3501"/>
            <a:chExt cx="755" cy="803"/>
          </a:xfrm>
        </p:grpSpPr>
        <p:pic>
          <p:nvPicPr>
            <p:cNvPr id="152" name="Google Shape;152;p4" descr="desktop_computer_stylized_mediu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4"/>
            <p:cNvSpPr/>
            <p:nvPr/>
          </p:nvSpPr>
          <p:spPr>
            <a:xfrm>
              <a:off x="2916" y="3578"/>
              <a:ext cx="356" cy="368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4"/>
          <p:cNvGrpSpPr/>
          <p:nvPr/>
        </p:nvGrpSpPr>
        <p:grpSpPr>
          <a:xfrm flipH="1">
            <a:off x="9433407" y="1310447"/>
            <a:ext cx="501650" cy="512763"/>
            <a:chOff x="2839" y="3501"/>
            <a:chExt cx="755" cy="803"/>
          </a:xfrm>
        </p:grpSpPr>
        <p:pic>
          <p:nvPicPr>
            <p:cNvPr id="155" name="Google Shape;155;p4" descr="desktop_computer_stylized_mediu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4"/>
            <p:cNvSpPr/>
            <p:nvPr/>
          </p:nvSpPr>
          <p:spPr>
            <a:xfrm>
              <a:off x="2916" y="3578"/>
              <a:ext cx="356" cy="368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4"/>
          <p:cNvGrpSpPr/>
          <p:nvPr/>
        </p:nvGrpSpPr>
        <p:grpSpPr>
          <a:xfrm flipH="1">
            <a:off x="10552594" y="1324735"/>
            <a:ext cx="501650" cy="512762"/>
            <a:chOff x="2839" y="3501"/>
            <a:chExt cx="755" cy="803"/>
          </a:xfrm>
        </p:grpSpPr>
        <p:pic>
          <p:nvPicPr>
            <p:cNvPr id="158" name="Google Shape;158;p4" descr="desktop_computer_stylized_mediu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4"/>
            <p:cNvSpPr/>
            <p:nvPr/>
          </p:nvSpPr>
          <p:spPr>
            <a:xfrm>
              <a:off x="2916" y="3578"/>
              <a:ext cx="356" cy="368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4"/>
          <p:cNvSpPr/>
          <p:nvPr/>
        </p:nvSpPr>
        <p:spPr>
          <a:xfrm>
            <a:off x="7342577" y="2036867"/>
            <a:ext cx="3986127" cy="2699396"/>
          </a:xfrm>
          <a:custGeom>
            <a:avLst/>
            <a:gdLst/>
            <a:ahLst/>
            <a:cxnLst/>
            <a:rect l="l" t="t" r="r" b="b"/>
            <a:pathLst>
              <a:path w="3986127" h="2699396" extrusionOk="0">
                <a:moveTo>
                  <a:pt x="0" y="158788"/>
                </a:moveTo>
                <a:lnTo>
                  <a:pt x="1357912" y="32853"/>
                </a:lnTo>
                <a:lnTo>
                  <a:pt x="1522175" y="0"/>
                </a:lnTo>
                <a:lnTo>
                  <a:pt x="3542616" y="246395"/>
                </a:lnTo>
                <a:lnTo>
                  <a:pt x="3936848" y="394232"/>
                </a:lnTo>
                <a:lnTo>
                  <a:pt x="3986127" y="2699396"/>
                </a:lnTo>
                <a:lnTo>
                  <a:pt x="5476" y="2650117"/>
                </a:lnTo>
                <a:cubicBezTo>
                  <a:pt x="3651" y="1819674"/>
                  <a:pt x="1825" y="989231"/>
                  <a:pt x="0" y="1587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+mj-lt"/>
              </a:rPr>
              <a:t>Link Layer </a:t>
            </a:r>
            <a:fld id="{00000000-1234-1234-1234-123412341234}" type="slidenum">
              <a:rPr lang="en-US">
                <a:latin typeface="+mj-lt"/>
              </a:rPr>
              <a:t>5</a:t>
            </a:fld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92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126590-E047-B443-8A2D-D2778E42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84300-DCF9-2E47-B786-2BC4F618D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41" y="1690688"/>
            <a:ext cx="5650976" cy="12816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F645FF-3657-DE40-8F82-63BA68BCE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829" y="3016251"/>
            <a:ext cx="5148554" cy="11674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CF1CE2-565F-7449-AD20-91028D13C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963" y="4227622"/>
            <a:ext cx="5400481" cy="11414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C9F96B-C167-E646-8146-E42E2CFC5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6506" y="5458576"/>
            <a:ext cx="5186200" cy="114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dirty="0">
                <a:ea typeface="Calibri"/>
                <a:cs typeface="Calibri"/>
                <a:sym typeface="Calibri"/>
              </a:rPr>
              <a:t>CSMA/CD algorithm</a:t>
            </a:r>
            <a:endParaRPr sz="4400" b="0" dirty="0"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04379" y="1513440"/>
            <a:ext cx="10181673" cy="242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270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If received datagram from network layer, create frame</a:t>
            </a:r>
            <a:endParaRPr dirty="0">
              <a:latin typeface="+mj-lt"/>
            </a:endParaRPr>
          </a:p>
          <a:p>
            <a:pPr marL="457200" marR="0" lvl="0" indent="-3270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S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ense channel:</a:t>
            </a:r>
            <a:endParaRPr dirty="0">
              <a:latin typeface="+mj-lt"/>
            </a:endParaRPr>
          </a:p>
          <a:p>
            <a:pPr marL="695325" marR="0" lvl="1" indent="50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if </a:t>
            </a:r>
            <a:r>
              <a:rPr lang="en-US" sz="2800" b="0" i="0" u="none" strike="noStrike" cap="none" dirty="0">
                <a:solidFill>
                  <a:srgbClr val="0000A8"/>
                </a:solidFill>
                <a:latin typeface="+mj-lt"/>
                <a:ea typeface="Calibri"/>
                <a:cs typeface="Calibri"/>
                <a:sym typeface="Calibri"/>
              </a:rPr>
              <a:t>idle: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start frame transmission. </a:t>
            </a:r>
            <a:endParaRPr dirty="0">
              <a:latin typeface="+mj-lt"/>
            </a:endParaRPr>
          </a:p>
          <a:p>
            <a:pPr marL="695325" marR="0" lvl="1" indent="50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if </a:t>
            </a:r>
            <a:r>
              <a:rPr lang="en-US" sz="2800" b="0" i="0" u="none" strike="noStrike" cap="none" dirty="0">
                <a:solidFill>
                  <a:srgbClr val="0000A8"/>
                </a:solidFill>
                <a:latin typeface="+mj-lt"/>
                <a:ea typeface="Calibri"/>
                <a:cs typeface="Calibri"/>
                <a:sym typeface="Calibri"/>
              </a:rPr>
              <a:t>busy: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wait until channel idle, then transmit</a:t>
            </a:r>
            <a:endParaRPr dirty="0">
              <a:latin typeface="+mj-lt"/>
            </a:endParaRPr>
          </a:p>
          <a:p>
            <a:pPr marL="457200" marR="0" lvl="0" indent="-339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If entire frame transmitted without collision - done!</a:t>
            </a:r>
            <a:endParaRPr dirty="0">
              <a:latin typeface="+mj-lt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848785" y="3990199"/>
            <a:ext cx="11211339" cy="2493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270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AutoNum type="arabicPeriod" startAt="4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If  another transmission detected while sending: abort, send jam signal</a:t>
            </a:r>
            <a:endParaRPr dirty="0">
              <a:latin typeface="+mj-lt"/>
            </a:endParaRPr>
          </a:p>
          <a:p>
            <a:pPr marL="457200" marR="0" lvl="0" indent="-3270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AutoNum type="arabicPeriod" startAt="4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After aborting, enter </a:t>
            </a:r>
            <a:r>
              <a:rPr lang="en-US" sz="2800" b="0" i="1" u="none" strike="noStrike" cap="none" dirty="0">
                <a:solidFill>
                  <a:srgbClr val="C00000"/>
                </a:solidFill>
                <a:latin typeface="+mj-lt"/>
                <a:ea typeface="Calibri"/>
                <a:cs typeface="Calibri"/>
                <a:sym typeface="Calibri"/>
              </a:rPr>
              <a:t>binary (exponential) </a:t>
            </a:r>
            <a:r>
              <a:rPr lang="en-US" sz="2800" b="0" i="1" u="none" strike="noStrike" cap="none" dirty="0" err="1">
                <a:solidFill>
                  <a:srgbClr val="C00000"/>
                </a:solidFill>
                <a:latin typeface="+mj-lt"/>
                <a:ea typeface="Calibri"/>
                <a:cs typeface="Calibri"/>
                <a:sym typeface="Calibri"/>
              </a:rPr>
              <a:t>backoff</a:t>
            </a:r>
            <a:r>
              <a:rPr lang="en-US" sz="2800" b="0" i="1" u="none" strike="noStrike" cap="none" dirty="0">
                <a:solidFill>
                  <a:srgbClr val="C00000"/>
                </a:solidFill>
                <a:latin typeface="+mj-lt"/>
                <a:ea typeface="Calibri"/>
                <a:cs typeface="Calibri"/>
                <a:sym typeface="Calibri"/>
              </a:rPr>
              <a:t>: </a:t>
            </a:r>
            <a:endParaRPr dirty="0">
              <a:latin typeface="+mj-lt"/>
            </a:endParaRPr>
          </a:p>
          <a:p>
            <a:pPr marL="1085850" marR="0" lvl="1" indent="-2746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after </a:t>
            </a:r>
            <a:r>
              <a:rPr lang="en-US" sz="2800" b="0" i="1" u="none" strike="noStrike" cap="none" dirty="0" err="1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m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th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 collision, chooses </a:t>
            </a:r>
            <a:r>
              <a:rPr lang="en-US" sz="2800" b="0" i="1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K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at random from </a:t>
            </a:r>
            <a:r>
              <a:rPr lang="en-US" sz="2800" b="0" i="1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{0,1,2, …, 2</a:t>
            </a:r>
            <a:r>
              <a:rPr lang="en-US" sz="2800" b="1" i="1" u="none" strike="noStrike" cap="none" baseline="30000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m</a:t>
            </a:r>
            <a:r>
              <a:rPr lang="en-US" sz="2800" b="0" i="1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-1}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. Ethernet waits </a:t>
            </a:r>
            <a:r>
              <a:rPr lang="en-US" sz="2800" b="0" i="1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K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·51.2 micro secs, returns to Step 2</a:t>
            </a:r>
            <a:endParaRPr dirty="0">
              <a:latin typeface="+mj-lt"/>
            </a:endParaRPr>
          </a:p>
          <a:p>
            <a:pPr marL="1085850" marR="0" lvl="1" indent="-2746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more collisions: longer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backoff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 interval</a:t>
            </a:r>
            <a:endParaRPr dirty="0">
              <a:latin typeface="+mj-lt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3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B44EF7-FF42-9744-A08C-05C06EC8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6F8525-C72B-A449-8E68-07CE72DDC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 = 0, immediate transmission </a:t>
            </a:r>
          </a:p>
          <a:p>
            <a:r>
              <a:rPr lang="en-US" dirty="0"/>
              <a:t>k=1, wait 512 bit times 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collision, K={0, 1, 2,3}, </a:t>
            </a:r>
            <a:r>
              <a:rPr lang="en-IN" dirty="0"/>
              <a:t>This corresponds to a wait selected from {0, 51.2, 102.4, 153.6} micro seconds.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785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sz="4000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Ethernet</a:t>
            </a:r>
            <a:endParaRPr lang="en-US" sz="4000" b="0" dirty="0">
              <a:latin typeface="+mn-lt"/>
            </a:endParaRP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3FDF2C75-B699-464D-B545-BA7F3D062850}"/>
              </a:ext>
            </a:extLst>
          </p:cNvPr>
          <p:cNvSpPr txBox="1">
            <a:spLocks noChangeArrowheads="1"/>
          </p:cNvSpPr>
          <p:nvPr/>
        </p:nvSpPr>
        <p:spPr>
          <a:xfrm>
            <a:off x="976727" y="1289602"/>
            <a:ext cx="8946919" cy="22816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“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dominant</a:t>
            </a:r>
            <a: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”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wired LAN technology: </a:t>
            </a:r>
          </a:p>
          <a:p>
            <a:pPr marL="746125" marR="0" lvl="0" indent="-3016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first widely used LAN technology</a:t>
            </a:r>
          </a:p>
          <a:p>
            <a:pPr marL="746125" marR="0" lvl="0" indent="-3016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simpler, cheap</a:t>
            </a:r>
          </a:p>
          <a:p>
            <a:pPr marL="746125" marR="0" lvl="0" indent="-3016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kept up with speed race: 10 Mbps – 400 Gbps </a:t>
            </a:r>
          </a:p>
          <a:p>
            <a:pPr marL="746125" marR="0" lvl="0" indent="-3016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single chip, multiple speeds (e.g., Broadcom  BCM5761)</a:t>
            </a:r>
          </a:p>
          <a:p>
            <a:pPr marL="4445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+mn-ea"/>
              <a:cs typeface="+mn-cs"/>
            </a:endParaRPr>
          </a:p>
        </p:txBody>
      </p:sp>
      <p:pic>
        <p:nvPicPr>
          <p:cNvPr id="89" name="Picture 4" descr="551 metcalfe-enet">
            <a:extLst>
              <a:ext uri="{FF2B5EF4-FFF2-40B4-BE49-F238E27FC236}">
                <a16:creationId xmlns:a16="http://schemas.microsoft.com/office/drawing/2014/main" id="{85CF6E01-268F-7448-9E24-70CB66D9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731" y="4185182"/>
            <a:ext cx="4089976" cy="2167236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" name="Text Box 5">
            <a:extLst>
              <a:ext uri="{FF2B5EF4-FFF2-40B4-BE49-F238E27FC236}">
                <a16:creationId xmlns:a16="http://schemas.microsoft.com/office/drawing/2014/main" id="{34CFEA8B-8C4C-784A-A29E-387E97A5E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833" y="3956966"/>
            <a:ext cx="26938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Metcalfe’s Ethernet sketch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05A384-818F-F74B-8BD5-43FAA8C916A6}"/>
              </a:ext>
            </a:extLst>
          </p:cNvPr>
          <p:cNvSpPr txBox="1"/>
          <p:nvPr/>
        </p:nvSpPr>
        <p:spPr>
          <a:xfrm>
            <a:off x="850006" y="6387921"/>
            <a:ext cx="75127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https://www.uspto.gov/learning-and-resources/journeys-innovation/audio-stories/defying-doubters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17809-CEB9-60A6-9839-ABB51254D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572268"/>
            <a:ext cx="2438400" cy="2641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AA4EED-FFC3-6A86-8E7C-40A8D50135F9}"/>
              </a:ext>
            </a:extLst>
          </p:cNvPr>
          <p:cNvSpPr txBox="1"/>
          <p:nvPr/>
        </p:nvSpPr>
        <p:spPr>
          <a:xfrm>
            <a:off x="7791387" y="3606799"/>
            <a:ext cx="282609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Bob Metcalfe: Ethernet co-inventor, </a:t>
            </a:r>
          </a:p>
          <a:p>
            <a:r>
              <a:rPr lang="en-US" sz="1400" dirty="0"/>
              <a:t>2022 ACM Turing Award recipient</a:t>
            </a:r>
          </a:p>
        </p:txBody>
      </p:sp>
    </p:spTree>
    <p:extLst>
      <p:ext uri="{BB962C8B-B14F-4D97-AF65-F5344CB8AC3E}">
        <p14:creationId xmlns:p14="http://schemas.microsoft.com/office/powerpoint/2010/main" val="52459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Ethernet: physical topology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57EB8F-B265-4E4B-A599-604FFD9C25B9}"/>
              </a:ext>
            </a:extLst>
          </p:cNvPr>
          <p:cNvSpPr txBox="1">
            <a:spLocks noChangeArrowheads="1"/>
          </p:cNvSpPr>
          <p:nvPr/>
        </p:nvSpPr>
        <p:spPr>
          <a:xfrm>
            <a:off x="1077627" y="1343156"/>
            <a:ext cx="10839554" cy="925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2730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popular through mid 90s</a:t>
            </a:r>
          </a:p>
          <a:p>
            <a:pPr marL="695325" marR="0" lvl="1" indent="-231775" algn="l" defTabSz="914400" rtl="0" eaLnBrk="1" fontAlgn="auto" latinLnBrk="0" hangingPunct="1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nodes in same collision domain (can collide with each other)</a:t>
            </a:r>
          </a:p>
        </p:txBody>
      </p:sp>
      <p:sp>
        <p:nvSpPr>
          <p:cNvPr id="14" name="Line 32">
            <a:extLst>
              <a:ext uri="{FF2B5EF4-FFF2-40B4-BE49-F238E27FC236}">
                <a16:creationId xmlns:a16="http://schemas.microsoft.com/office/drawing/2014/main" id="{92FEC33E-ECF3-6F4D-95CC-10AE77202A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9150" y="4343745"/>
            <a:ext cx="616233" cy="1201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Box 41">
            <a:extLst>
              <a:ext uri="{FF2B5EF4-FFF2-40B4-BE49-F238E27FC236}">
                <a16:creationId xmlns:a16="http://schemas.microsoft.com/office/drawing/2014/main" id="{08CE8B30-9FAC-8447-8CE2-85AE30A47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445" y="4519515"/>
            <a:ext cx="23583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bus: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coaxial cable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B210C05-DB42-F24B-ABCC-CEB58A73BF57}"/>
              </a:ext>
            </a:extLst>
          </p:cNvPr>
          <p:cNvGrpSpPr/>
          <p:nvPr/>
        </p:nvGrpSpPr>
        <p:grpSpPr>
          <a:xfrm>
            <a:off x="4166894" y="4287302"/>
            <a:ext cx="468488" cy="103894"/>
            <a:chOff x="3160889" y="5723468"/>
            <a:chExt cx="468488" cy="103894"/>
          </a:xfrm>
        </p:grpSpPr>
        <p:sp>
          <p:nvSpPr>
            <p:cNvPr id="74" name="Rectangle 37">
              <a:extLst>
                <a:ext uri="{FF2B5EF4-FFF2-40B4-BE49-F238E27FC236}">
                  <a16:creationId xmlns:a16="http://schemas.microsoft.com/office/drawing/2014/main" id="{F6F8AA85-EB23-1A46-91D4-047C72E20F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63F5B90-D695-934E-82E3-02FAF9AA2884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DDD3177-E100-C044-B782-026C278D6607}"/>
              </a:ext>
            </a:extLst>
          </p:cNvPr>
          <p:cNvGrpSpPr/>
          <p:nvPr/>
        </p:nvGrpSpPr>
        <p:grpSpPr>
          <a:xfrm>
            <a:off x="3867737" y="4868680"/>
            <a:ext cx="468488" cy="103894"/>
            <a:chOff x="3160889" y="5723468"/>
            <a:chExt cx="468488" cy="103894"/>
          </a:xfrm>
        </p:grpSpPr>
        <p:sp>
          <p:nvSpPr>
            <p:cNvPr id="81" name="Rectangle 37">
              <a:extLst>
                <a:ext uri="{FF2B5EF4-FFF2-40B4-BE49-F238E27FC236}">
                  <a16:creationId xmlns:a16="http://schemas.microsoft.com/office/drawing/2014/main" id="{E36D1D4F-7980-524F-B016-0822BC5DEB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F141971-200C-3441-B553-3B77B87C14EB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B6AFEE0-615F-374F-AD75-BFAD1482DB98}"/>
              </a:ext>
            </a:extLst>
          </p:cNvPr>
          <p:cNvGrpSpPr/>
          <p:nvPr/>
        </p:nvGrpSpPr>
        <p:grpSpPr>
          <a:xfrm>
            <a:off x="3557291" y="5489569"/>
            <a:ext cx="468488" cy="103894"/>
            <a:chOff x="3160889" y="5723468"/>
            <a:chExt cx="468488" cy="103894"/>
          </a:xfrm>
        </p:grpSpPr>
        <p:sp>
          <p:nvSpPr>
            <p:cNvPr id="84" name="Rectangle 37">
              <a:extLst>
                <a:ext uri="{FF2B5EF4-FFF2-40B4-BE49-F238E27FC236}">
                  <a16:creationId xmlns:a16="http://schemas.microsoft.com/office/drawing/2014/main" id="{D99117D2-D55B-9747-9F39-1437498956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8FD400B-67B6-A545-991E-6642C95FC431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54">
            <a:extLst>
              <a:ext uri="{FF2B5EF4-FFF2-40B4-BE49-F238E27FC236}">
                <a16:creationId xmlns:a16="http://schemas.microsoft.com/office/drawing/2014/main" id="{54403650-FB62-8C4D-A097-E8E09E3E8715}"/>
              </a:ext>
            </a:extLst>
          </p:cNvPr>
          <p:cNvGrpSpPr>
            <a:grpSpLocks/>
          </p:cNvGrpSpPr>
          <p:nvPr/>
        </p:nvGrpSpPr>
        <p:grpSpPr bwMode="auto">
          <a:xfrm>
            <a:off x="3030847" y="5135905"/>
            <a:ext cx="640071" cy="517525"/>
            <a:chOff x="-44" y="1473"/>
            <a:chExt cx="981" cy="1105"/>
          </a:xfrm>
        </p:grpSpPr>
        <p:pic>
          <p:nvPicPr>
            <p:cNvPr id="41" name="Picture 55" descr="desktop_computer_stylized_medium">
              <a:extLst>
                <a:ext uri="{FF2B5EF4-FFF2-40B4-BE49-F238E27FC236}">
                  <a16:creationId xmlns:a16="http://schemas.microsoft.com/office/drawing/2014/main" id="{9ADDF864-8E42-2A4E-9C50-68B48B5AD6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56">
              <a:extLst>
                <a:ext uri="{FF2B5EF4-FFF2-40B4-BE49-F238E27FC236}">
                  <a16:creationId xmlns:a16="http://schemas.microsoft.com/office/drawing/2014/main" id="{78B65AFB-F609-8F4C-8AA2-302FFEA046F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49">
            <a:extLst>
              <a:ext uri="{FF2B5EF4-FFF2-40B4-BE49-F238E27FC236}">
                <a16:creationId xmlns:a16="http://schemas.microsoft.com/office/drawing/2014/main" id="{2721DACF-2A49-8D4F-BFF6-49E94BBFA071}"/>
              </a:ext>
            </a:extLst>
          </p:cNvPr>
          <p:cNvGrpSpPr>
            <a:grpSpLocks/>
          </p:cNvGrpSpPr>
          <p:nvPr/>
        </p:nvGrpSpPr>
        <p:grpSpPr bwMode="auto">
          <a:xfrm>
            <a:off x="3337407" y="4515020"/>
            <a:ext cx="640071" cy="517525"/>
            <a:chOff x="-44" y="1473"/>
            <a:chExt cx="981" cy="1105"/>
          </a:xfrm>
        </p:grpSpPr>
        <p:pic>
          <p:nvPicPr>
            <p:cNvPr id="36" name="Picture 50" descr="desktop_computer_stylized_medium">
              <a:extLst>
                <a:ext uri="{FF2B5EF4-FFF2-40B4-BE49-F238E27FC236}">
                  <a16:creationId xmlns:a16="http://schemas.microsoft.com/office/drawing/2014/main" id="{1A4DAAEF-9C4D-5C4A-940E-9F43684E7A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Freeform 51">
              <a:extLst>
                <a:ext uri="{FF2B5EF4-FFF2-40B4-BE49-F238E27FC236}">
                  <a16:creationId xmlns:a16="http://schemas.microsoft.com/office/drawing/2014/main" id="{63DCB467-73DC-4B47-B778-649B307F3B8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49">
            <a:extLst>
              <a:ext uri="{FF2B5EF4-FFF2-40B4-BE49-F238E27FC236}">
                <a16:creationId xmlns:a16="http://schemas.microsoft.com/office/drawing/2014/main" id="{CF60EF70-8F89-064B-9AE0-BC24C80913E9}"/>
              </a:ext>
            </a:extLst>
          </p:cNvPr>
          <p:cNvGrpSpPr>
            <a:grpSpLocks/>
          </p:cNvGrpSpPr>
          <p:nvPr/>
        </p:nvGrpSpPr>
        <p:grpSpPr bwMode="auto">
          <a:xfrm>
            <a:off x="3621571" y="3937346"/>
            <a:ext cx="640071" cy="517525"/>
            <a:chOff x="-44" y="1473"/>
            <a:chExt cx="981" cy="1105"/>
          </a:xfrm>
        </p:grpSpPr>
        <p:pic>
          <p:nvPicPr>
            <p:cNvPr id="31" name="Picture 50" descr="desktop_computer_stylized_medium">
              <a:extLst>
                <a:ext uri="{FF2B5EF4-FFF2-40B4-BE49-F238E27FC236}">
                  <a16:creationId xmlns:a16="http://schemas.microsoft.com/office/drawing/2014/main" id="{E66B7792-17BF-A342-BF79-CBE2D88839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51">
              <a:extLst>
                <a:ext uri="{FF2B5EF4-FFF2-40B4-BE49-F238E27FC236}">
                  <a16:creationId xmlns:a16="http://schemas.microsoft.com/office/drawing/2014/main" id="{1A46A85F-1E8E-634F-AC1B-41916D215F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21AC3DE-0BE4-4A42-85AA-51EA7972DB44}"/>
              </a:ext>
            </a:extLst>
          </p:cNvPr>
          <p:cNvGrpSpPr/>
          <p:nvPr/>
        </p:nvGrpSpPr>
        <p:grpSpPr>
          <a:xfrm rot="10800000">
            <a:off x="4121737" y="5286369"/>
            <a:ext cx="468488" cy="103894"/>
            <a:chOff x="3160889" y="5723468"/>
            <a:chExt cx="468488" cy="103894"/>
          </a:xfrm>
        </p:grpSpPr>
        <p:sp>
          <p:nvSpPr>
            <p:cNvPr id="87" name="Rectangle 37">
              <a:extLst>
                <a:ext uri="{FF2B5EF4-FFF2-40B4-BE49-F238E27FC236}">
                  <a16:creationId xmlns:a16="http://schemas.microsoft.com/office/drawing/2014/main" id="{0D9B8815-F0EC-864F-9E9C-E995A974DF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9FC25B0-63E6-F14D-8B85-F91190DDB6EB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E4FBBD8-6BBF-5244-B257-1085A2E447DA}"/>
              </a:ext>
            </a:extLst>
          </p:cNvPr>
          <p:cNvGrpSpPr/>
          <p:nvPr/>
        </p:nvGrpSpPr>
        <p:grpSpPr>
          <a:xfrm rot="10800000">
            <a:off x="4466048" y="4620324"/>
            <a:ext cx="468488" cy="103894"/>
            <a:chOff x="3160889" y="5723468"/>
            <a:chExt cx="468488" cy="103894"/>
          </a:xfrm>
        </p:grpSpPr>
        <p:sp>
          <p:nvSpPr>
            <p:cNvPr id="93" name="Rectangle 37">
              <a:extLst>
                <a:ext uri="{FF2B5EF4-FFF2-40B4-BE49-F238E27FC236}">
                  <a16:creationId xmlns:a16="http://schemas.microsoft.com/office/drawing/2014/main" id="{BFCE4A31-E824-AE42-8F60-EEB060D3AD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AC139B6-3337-DD4B-9A8D-1F1D221AE58F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44">
            <a:extLst>
              <a:ext uri="{FF2B5EF4-FFF2-40B4-BE49-F238E27FC236}">
                <a16:creationId xmlns:a16="http://schemas.microsoft.com/office/drawing/2014/main" id="{181607EC-7C1E-E542-A627-435D8778D8FF}"/>
              </a:ext>
            </a:extLst>
          </p:cNvPr>
          <p:cNvGrpSpPr>
            <a:grpSpLocks/>
          </p:cNvGrpSpPr>
          <p:nvPr/>
        </p:nvGrpSpPr>
        <p:grpSpPr bwMode="auto">
          <a:xfrm>
            <a:off x="4620460" y="4390841"/>
            <a:ext cx="711200" cy="601662"/>
            <a:chOff x="-44" y="1473"/>
            <a:chExt cx="981" cy="1105"/>
          </a:xfrm>
        </p:grpSpPr>
        <p:pic>
          <p:nvPicPr>
            <p:cNvPr id="26" name="Picture 45" descr="desktop_computer_stylized_medium">
              <a:extLst>
                <a:ext uri="{FF2B5EF4-FFF2-40B4-BE49-F238E27FC236}">
                  <a16:creationId xmlns:a16="http://schemas.microsoft.com/office/drawing/2014/main" id="{5B055886-874B-AF4E-BC6C-17FB5AFB91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Freeform 46">
              <a:extLst>
                <a:ext uri="{FF2B5EF4-FFF2-40B4-BE49-F238E27FC236}">
                  <a16:creationId xmlns:a16="http://schemas.microsoft.com/office/drawing/2014/main" id="{BE198024-6B5D-3B44-B9DB-F77A4CB023E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99E873A6-305A-1E42-A800-5109AF9B2E9D}"/>
              </a:ext>
            </a:extLst>
          </p:cNvPr>
          <p:cNvGrpSpPr>
            <a:grpSpLocks/>
          </p:cNvGrpSpPr>
          <p:nvPr/>
        </p:nvGrpSpPr>
        <p:grpSpPr bwMode="auto">
          <a:xfrm>
            <a:off x="4283912" y="5056708"/>
            <a:ext cx="711200" cy="600075"/>
            <a:chOff x="-44" y="1473"/>
            <a:chExt cx="981" cy="1105"/>
          </a:xfrm>
        </p:grpSpPr>
        <p:pic>
          <p:nvPicPr>
            <p:cNvPr id="46" name="Picture 45" descr="desktop_computer_stylized_medium">
              <a:extLst>
                <a:ext uri="{FF2B5EF4-FFF2-40B4-BE49-F238E27FC236}">
                  <a16:creationId xmlns:a16="http://schemas.microsoft.com/office/drawing/2014/main" id="{1B48D1F1-C69D-9F43-9FBB-F48106D44A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9030A2A-02DE-364B-B783-76B0F1C4E72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0DAD804-6DAD-6A4F-B2ED-991F7DA0A672}"/>
              </a:ext>
            </a:extLst>
          </p:cNvPr>
          <p:cNvGrpSpPr/>
          <p:nvPr/>
        </p:nvGrpSpPr>
        <p:grpSpPr>
          <a:xfrm>
            <a:off x="6296294" y="3889527"/>
            <a:ext cx="4903947" cy="2516574"/>
            <a:chOff x="6296294" y="3889527"/>
            <a:chExt cx="4903947" cy="2516574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EB7E878-BC2B-CF41-A1DD-435B6688D4C1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>
              <a:off x="7906769" y="4630890"/>
              <a:ext cx="2249" cy="12602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B3A757D-B4FE-A64C-9B64-828FD8DCA614}"/>
                </a:ext>
              </a:extLst>
            </p:cNvPr>
            <p:cNvCxnSpPr>
              <a:cxnSpLocks/>
            </p:cNvCxnSpPr>
            <p:nvPr/>
          </p:nvCxnSpPr>
          <p:spPr>
            <a:xfrm>
              <a:off x="6945441" y="5100170"/>
              <a:ext cx="214487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 Box 42">
              <a:extLst>
                <a:ext uri="{FF2B5EF4-FFF2-40B4-BE49-F238E27FC236}">
                  <a16:creationId xmlns:a16="http://schemas.microsoft.com/office/drawing/2014/main" id="{68381987-6DA4-FE44-982A-2311DD6BD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0333" y="4512570"/>
              <a:ext cx="129990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switched</a:t>
              </a:r>
            </a:p>
          </p:txBody>
        </p:sp>
        <p:sp>
          <p:nvSpPr>
            <p:cNvPr id="96" name="Rectangle 37">
              <a:extLst>
                <a:ext uri="{FF2B5EF4-FFF2-40B4-BE49-F238E27FC236}">
                  <a16:creationId xmlns:a16="http://schemas.microsoft.com/office/drawing/2014/main" id="{AA09179E-572D-A246-86F4-E13021D097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970879" y="497609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rPr>
                <a:t> </a:t>
              </a:r>
            </a:p>
          </p:txBody>
        </p:sp>
        <p:grpSp>
          <p:nvGrpSpPr>
            <p:cNvPr id="98" name="Group 49">
              <a:extLst>
                <a:ext uri="{FF2B5EF4-FFF2-40B4-BE49-F238E27FC236}">
                  <a16:creationId xmlns:a16="http://schemas.microsoft.com/office/drawing/2014/main" id="{73F08637-BA76-1046-9C84-02C57B0716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96294" y="4615439"/>
              <a:ext cx="768201" cy="646029"/>
              <a:chOff x="-44" y="1473"/>
              <a:chExt cx="981" cy="1105"/>
            </a:xfrm>
          </p:grpSpPr>
          <p:pic>
            <p:nvPicPr>
              <p:cNvPr id="99" name="Picture 50" descr="desktop_computer_stylized_medium">
                <a:extLst>
                  <a:ext uri="{FF2B5EF4-FFF2-40B4-BE49-F238E27FC236}">
                    <a16:creationId xmlns:a16="http://schemas.microsoft.com/office/drawing/2014/main" id="{C5A65E49-64BF-0248-B147-3C0ABA2707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0" name="Freeform 51">
                <a:extLst>
                  <a:ext uri="{FF2B5EF4-FFF2-40B4-BE49-F238E27FC236}">
                    <a16:creationId xmlns:a16="http://schemas.microsoft.com/office/drawing/2014/main" id="{ABC6A075-F927-3A44-BE19-0AA6A019129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1" name="Rectangle 37">
              <a:extLst>
                <a:ext uri="{FF2B5EF4-FFF2-40B4-BE49-F238E27FC236}">
                  <a16:creationId xmlns:a16="http://schemas.microsoft.com/office/drawing/2014/main" id="{F7256B75-1D63-2E44-891A-1C8ED409B5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836293" y="496987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02" name="Group 49">
              <a:extLst>
                <a:ext uri="{FF2B5EF4-FFF2-40B4-BE49-F238E27FC236}">
                  <a16:creationId xmlns:a16="http://schemas.microsoft.com/office/drawing/2014/main" id="{D3C84CC7-318A-F44C-BC7C-1F376445C2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4892" y="4777169"/>
              <a:ext cx="768201" cy="646029"/>
              <a:chOff x="-44" y="1473"/>
              <a:chExt cx="981" cy="1105"/>
            </a:xfrm>
          </p:grpSpPr>
          <p:pic>
            <p:nvPicPr>
              <p:cNvPr id="103" name="Picture 50" descr="desktop_computer_stylized_medium">
                <a:extLst>
                  <a:ext uri="{FF2B5EF4-FFF2-40B4-BE49-F238E27FC236}">
                    <a16:creationId xmlns:a16="http://schemas.microsoft.com/office/drawing/2014/main" id="{7660BF25-6D18-5A4A-8BE4-3CFBD08C47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" name="Freeform 51">
                <a:extLst>
                  <a:ext uri="{FF2B5EF4-FFF2-40B4-BE49-F238E27FC236}">
                    <a16:creationId xmlns:a16="http://schemas.microsoft.com/office/drawing/2014/main" id="{8D17FB90-A54F-9B45-8704-608FEF0B14A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9" name="Rectangle 37">
              <a:extLst>
                <a:ext uri="{FF2B5EF4-FFF2-40B4-BE49-F238E27FC236}">
                  <a16:creationId xmlns:a16="http://schemas.microsoft.com/office/drawing/2014/main" id="{77613146-BEF0-644B-A836-2EB04E8002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7861470" y="566974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rPr>
                <a:t> </a:t>
              </a:r>
            </a:p>
          </p:txBody>
        </p:sp>
        <p:grpSp>
          <p:nvGrpSpPr>
            <p:cNvPr id="106" name="Group 49">
              <a:extLst>
                <a:ext uri="{FF2B5EF4-FFF2-40B4-BE49-F238E27FC236}">
                  <a16:creationId xmlns:a16="http://schemas.microsoft.com/office/drawing/2014/main" id="{0D5AC3A1-9C42-3647-BD7C-2BF588730A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67278" y="5760072"/>
              <a:ext cx="768201" cy="646029"/>
              <a:chOff x="-44" y="1473"/>
              <a:chExt cx="981" cy="1105"/>
            </a:xfrm>
          </p:grpSpPr>
          <p:pic>
            <p:nvPicPr>
              <p:cNvPr id="107" name="Picture 50" descr="desktop_computer_stylized_medium">
                <a:extLst>
                  <a:ext uri="{FF2B5EF4-FFF2-40B4-BE49-F238E27FC236}">
                    <a16:creationId xmlns:a16="http://schemas.microsoft.com/office/drawing/2014/main" id="{26635111-EEAD-044B-A078-CDE50D4A53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51">
                <a:extLst>
                  <a:ext uri="{FF2B5EF4-FFF2-40B4-BE49-F238E27FC236}">
                    <a16:creationId xmlns:a16="http://schemas.microsoft.com/office/drawing/2014/main" id="{6C722D5C-0DA5-4943-BCD3-A0181121BF5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10" name="Rectangle 37">
              <a:extLst>
                <a:ext uri="{FF2B5EF4-FFF2-40B4-BE49-F238E27FC236}">
                  <a16:creationId xmlns:a16="http://schemas.microsoft.com/office/drawing/2014/main" id="{09F4DA0F-D305-D34F-BA6E-50CB86EC28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7859915" y="438844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rPr>
                <a:t> </a:t>
              </a:r>
            </a:p>
          </p:txBody>
        </p:sp>
        <p:grpSp>
          <p:nvGrpSpPr>
            <p:cNvPr id="59" name="Group 44">
              <a:extLst>
                <a:ext uri="{FF2B5EF4-FFF2-40B4-BE49-F238E27FC236}">
                  <a16:creationId xmlns:a16="http://schemas.microsoft.com/office/drawing/2014/main" id="{FBD1E47D-990B-2E43-A7A3-9B664F60E5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0526" y="3889527"/>
              <a:ext cx="852487" cy="741363"/>
              <a:chOff x="-44" y="1473"/>
              <a:chExt cx="981" cy="1105"/>
            </a:xfrm>
          </p:grpSpPr>
          <p:pic>
            <p:nvPicPr>
              <p:cNvPr id="60" name="Picture 45" descr="desktop_computer_stylized_medium">
                <a:extLst>
                  <a:ext uri="{FF2B5EF4-FFF2-40B4-BE49-F238E27FC236}">
                    <a16:creationId xmlns:a16="http://schemas.microsoft.com/office/drawing/2014/main" id="{592B481C-B53F-BF47-AD1B-2E6BDCFAFD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" name="Freeform 46">
                <a:extLst>
                  <a:ext uri="{FF2B5EF4-FFF2-40B4-BE49-F238E27FC236}">
                    <a16:creationId xmlns:a16="http://schemas.microsoft.com/office/drawing/2014/main" id="{2D0F8AEC-7A1F-964C-8A02-58C4F390384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52E7F60-11FB-F544-8C5D-1F0C4F2A3A93}"/>
                </a:ext>
              </a:extLst>
            </p:cNvPr>
            <p:cNvGrpSpPr/>
            <p:nvPr/>
          </p:nvGrpSpPr>
          <p:grpSpPr>
            <a:xfrm>
              <a:off x="7642010" y="4950839"/>
              <a:ext cx="561892" cy="329289"/>
              <a:chOff x="3668110" y="2448910"/>
              <a:chExt cx="3794234" cy="2165130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23CA7BB1-785A-2F4E-99C7-9A87B4C15899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D6E11BDC-7A81-3D49-B82F-217FBC3D8BA6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40B98351-A0BF-8F45-BA38-838A66C2790F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424FAC47-A5B2-724B-B58E-B1DE520B997D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115">
                  <a:extLst>
                    <a:ext uri="{FF2B5EF4-FFF2-40B4-BE49-F238E27FC236}">
                      <a16:creationId xmlns:a16="http://schemas.microsoft.com/office/drawing/2014/main" id="{D765BB73-0713-214F-B633-B66F09A5A736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116">
                  <a:extLst>
                    <a:ext uri="{FF2B5EF4-FFF2-40B4-BE49-F238E27FC236}">
                      <a16:creationId xmlns:a16="http://schemas.microsoft.com/office/drawing/2014/main" id="{A2048D2B-32B6-404A-8309-2D614DB0F645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117">
                  <a:extLst>
                    <a:ext uri="{FF2B5EF4-FFF2-40B4-BE49-F238E27FC236}">
                      <a16:creationId xmlns:a16="http://schemas.microsoft.com/office/drawing/2014/main" id="{85ADFEC2-5799-064A-A2B3-E69C5AD6EC08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21" name="Rectangle 6">
            <a:extLst>
              <a:ext uri="{FF2B5EF4-FFF2-40B4-BE49-F238E27FC236}">
                <a16:creationId xmlns:a16="http://schemas.microsoft.com/office/drawing/2014/main" id="{5E5D623C-BFF9-A44C-8728-E57D1D8E9F2D}"/>
              </a:ext>
            </a:extLst>
          </p:cNvPr>
          <p:cNvSpPr txBox="1">
            <a:spLocks noChangeArrowheads="1"/>
          </p:cNvSpPr>
          <p:nvPr/>
        </p:nvSpPr>
        <p:spPr>
          <a:xfrm>
            <a:off x="1067981" y="2097440"/>
            <a:ext cx="10839554" cy="1641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2730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switched: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prevails today</a:t>
            </a:r>
          </a:p>
          <a:p>
            <a:pPr marL="695325" marR="0" lvl="1" indent="-231775" algn="l" defTabSz="914400" rtl="0" eaLnBrk="1" fontAlgn="auto" latinLnBrk="0" hangingPunct="1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active link-layer 2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center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“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spoke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”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runs a (separate) Ethernet protocol (nodes do not collide with each other)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C822AC-9AB6-2AF9-9DD3-5A2BBA582E4C}"/>
              </a:ext>
            </a:extLst>
          </p:cNvPr>
          <p:cNvSpPr/>
          <p:nvPr/>
        </p:nvSpPr>
        <p:spPr>
          <a:xfrm>
            <a:off x="800101" y="3738623"/>
            <a:ext cx="4895850" cy="2379250"/>
          </a:xfrm>
          <a:prstGeom prst="rect">
            <a:avLst/>
          </a:prstGeom>
          <a:solidFill>
            <a:schemeClr val="bg1">
              <a:alpha val="7740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32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Ethernet frame structure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4B00453C-4C5E-1142-B1BF-526E638BF9DC}"/>
              </a:ext>
            </a:extLst>
          </p:cNvPr>
          <p:cNvSpPr txBox="1">
            <a:spLocks noChangeArrowheads="1"/>
          </p:cNvSpPr>
          <p:nvPr/>
        </p:nvSpPr>
        <p:spPr>
          <a:xfrm>
            <a:off x="1057198" y="1399863"/>
            <a:ext cx="11134802" cy="223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sending interface encapsulates IP datagram (or other network layer protocol packet) in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Ethernet frame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5" name="Group 51">
            <a:extLst>
              <a:ext uri="{FF2B5EF4-FFF2-40B4-BE49-F238E27FC236}">
                <a16:creationId xmlns:a16="http://schemas.microsoft.com/office/drawing/2014/main" id="{994C70D6-C6AB-E54E-8D0F-FF67C69F8D38}"/>
              </a:ext>
            </a:extLst>
          </p:cNvPr>
          <p:cNvGrpSpPr>
            <a:grpSpLocks/>
          </p:cNvGrpSpPr>
          <p:nvPr/>
        </p:nvGrpSpPr>
        <p:grpSpPr bwMode="auto">
          <a:xfrm>
            <a:off x="2745256" y="2328343"/>
            <a:ext cx="7867779" cy="1104405"/>
            <a:chOff x="940711" y="4902593"/>
            <a:chExt cx="6291001" cy="992895"/>
          </a:xfrm>
        </p:grpSpPr>
        <p:sp>
          <p:nvSpPr>
            <p:cNvPr id="66" name="Line 10">
              <a:extLst>
                <a:ext uri="{FF2B5EF4-FFF2-40B4-BE49-F238E27FC236}">
                  <a16:creationId xmlns:a16="http://schemas.microsoft.com/office/drawing/2014/main" id="{1608A646-C375-F246-B6A1-8B07BEE7EE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 1">
              <a:extLst>
                <a:ext uri="{FF2B5EF4-FFF2-40B4-BE49-F238E27FC236}">
                  <a16:creationId xmlns:a16="http://schemas.microsoft.com/office/drawing/2014/main" id="{122AD258-BA7C-5743-BDF1-579DC5FE4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8" name="Straight Connector 3">
              <a:extLst>
                <a:ext uri="{FF2B5EF4-FFF2-40B4-BE49-F238E27FC236}">
                  <a16:creationId xmlns:a16="http://schemas.microsoft.com/office/drawing/2014/main" id="{389D496F-CC2B-3A43-95D1-ABF0C03ECF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9" name="Straight Connector 32">
              <a:extLst>
                <a:ext uri="{FF2B5EF4-FFF2-40B4-BE49-F238E27FC236}">
                  <a16:creationId xmlns:a16="http://schemas.microsoft.com/office/drawing/2014/main" id="{F87D7576-1243-F94E-ADCF-31C7356526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0" name="Straight Connector 33">
              <a:extLst>
                <a:ext uri="{FF2B5EF4-FFF2-40B4-BE49-F238E27FC236}">
                  <a16:creationId xmlns:a16="http://schemas.microsoft.com/office/drawing/2014/main" id="{14FE0A1A-93B7-6346-BDD3-6DC30F917A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1" name="Straight Connector 34">
              <a:extLst>
                <a:ext uri="{FF2B5EF4-FFF2-40B4-BE49-F238E27FC236}">
                  <a16:creationId xmlns:a16="http://schemas.microsoft.com/office/drawing/2014/main" id="{66187199-26A8-6B43-9A30-9F6334B2BD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2" name="Straight Connector 35">
              <a:extLst>
                <a:ext uri="{FF2B5EF4-FFF2-40B4-BE49-F238E27FC236}">
                  <a16:creationId xmlns:a16="http://schemas.microsoft.com/office/drawing/2014/main" id="{0A42998D-88F0-C542-80A5-78C2C19321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73" name="TextBox 5">
              <a:extLst>
                <a:ext uri="{FF2B5EF4-FFF2-40B4-BE49-F238E27FC236}">
                  <a16:creationId xmlns:a16="http://schemas.microsoft.com/office/drawing/2014/main" id="{D8C6AB0E-F540-8A4E-8BBA-EB58089CD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dest.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76" name="TextBox 37">
              <a:extLst>
                <a:ext uri="{FF2B5EF4-FFF2-40B4-BE49-F238E27FC236}">
                  <a16:creationId xmlns:a16="http://schemas.microsoft.com/office/drawing/2014/main" id="{03FFAEAD-5C41-4246-B3E9-7B76999E9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source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77" name="TextBox 38">
              <a:extLst>
                <a:ext uri="{FF2B5EF4-FFF2-40B4-BE49-F238E27FC236}">
                  <a16:creationId xmlns:a16="http://schemas.microsoft.com/office/drawing/2014/main" id="{4CBFC6F3-AE10-314B-B936-C5F4A8AE6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data (payload)</a:t>
              </a:r>
            </a:p>
          </p:txBody>
        </p:sp>
        <p:sp>
          <p:nvSpPr>
            <p:cNvPr id="78" name="TextBox 39">
              <a:extLst>
                <a:ext uri="{FF2B5EF4-FFF2-40B4-BE49-F238E27FC236}">
                  <a16:creationId xmlns:a16="http://schemas.microsoft.com/office/drawing/2014/main" id="{48BAC0FD-0D2D-7649-9DEF-4A90342AC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CRC</a:t>
              </a:r>
            </a:p>
          </p:txBody>
        </p:sp>
        <p:sp>
          <p:nvSpPr>
            <p:cNvPr id="79" name="TextBox 40">
              <a:extLst>
                <a:ext uri="{FF2B5EF4-FFF2-40B4-BE49-F238E27FC236}">
                  <a16:creationId xmlns:a16="http://schemas.microsoft.com/office/drawing/2014/main" id="{BDA70AA3-D12B-1944-AB73-0E0BABDA7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preamble</a:t>
              </a:r>
            </a:p>
          </p:txBody>
        </p:sp>
        <p:sp>
          <p:nvSpPr>
            <p:cNvPr id="88" name="Text Box 9">
              <a:extLst>
                <a:ext uri="{FF2B5EF4-FFF2-40B4-BE49-F238E27FC236}">
                  <a16:creationId xmlns:a16="http://schemas.microsoft.com/office/drawing/2014/main" id="{B8872802-E974-8E40-A27B-DFD5D80F2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type</a:t>
              </a:r>
            </a:p>
          </p:txBody>
        </p:sp>
      </p:grpSp>
      <p:sp>
        <p:nvSpPr>
          <p:cNvPr id="89" name="Rectangle 3">
            <a:extLst>
              <a:ext uri="{FF2B5EF4-FFF2-40B4-BE49-F238E27FC236}">
                <a16:creationId xmlns:a16="http://schemas.microsoft.com/office/drawing/2014/main" id="{2C36AD46-76A5-B740-906F-47C5DF160D37}"/>
              </a:ext>
            </a:extLst>
          </p:cNvPr>
          <p:cNvSpPr txBox="1">
            <a:spLocks noChangeArrowheads="1"/>
          </p:cNvSpPr>
          <p:nvPr/>
        </p:nvSpPr>
        <p:spPr>
          <a:xfrm>
            <a:off x="1057198" y="3867200"/>
            <a:ext cx="11134802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preamble: </a:t>
            </a:r>
          </a:p>
          <a:p>
            <a:pPr marL="465138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used to synchronize receiver, sender clock rates</a:t>
            </a:r>
          </a:p>
          <a:p>
            <a:pPr marL="465138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bytes of 10101010 followed by one byte of 10101011</a:t>
            </a:r>
          </a:p>
        </p:txBody>
      </p:sp>
    </p:spTree>
    <p:extLst>
      <p:ext uri="{BB962C8B-B14F-4D97-AF65-F5344CB8AC3E}">
        <p14:creationId xmlns:p14="http://schemas.microsoft.com/office/powerpoint/2010/main" val="193622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Ethernet frame structure </a:t>
            </a:r>
            <a:r>
              <a:rPr lang="en-US" sz="3600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(more)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5" name="Group 51">
            <a:extLst>
              <a:ext uri="{FF2B5EF4-FFF2-40B4-BE49-F238E27FC236}">
                <a16:creationId xmlns:a16="http://schemas.microsoft.com/office/drawing/2014/main" id="{994C70D6-C6AB-E54E-8D0F-FF67C69F8D38}"/>
              </a:ext>
            </a:extLst>
          </p:cNvPr>
          <p:cNvGrpSpPr>
            <a:grpSpLocks/>
          </p:cNvGrpSpPr>
          <p:nvPr/>
        </p:nvGrpSpPr>
        <p:grpSpPr bwMode="auto">
          <a:xfrm>
            <a:off x="2190620" y="1294021"/>
            <a:ext cx="7867779" cy="1104405"/>
            <a:chOff x="940711" y="4902593"/>
            <a:chExt cx="6291001" cy="992895"/>
          </a:xfrm>
        </p:grpSpPr>
        <p:sp>
          <p:nvSpPr>
            <p:cNvPr id="66" name="Line 10">
              <a:extLst>
                <a:ext uri="{FF2B5EF4-FFF2-40B4-BE49-F238E27FC236}">
                  <a16:creationId xmlns:a16="http://schemas.microsoft.com/office/drawing/2014/main" id="{1608A646-C375-F246-B6A1-8B07BEE7EE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 1">
              <a:extLst>
                <a:ext uri="{FF2B5EF4-FFF2-40B4-BE49-F238E27FC236}">
                  <a16:creationId xmlns:a16="http://schemas.microsoft.com/office/drawing/2014/main" id="{122AD258-BA7C-5743-BDF1-579DC5FE4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8" name="Straight Connector 3">
              <a:extLst>
                <a:ext uri="{FF2B5EF4-FFF2-40B4-BE49-F238E27FC236}">
                  <a16:creationId xmlns:a16="http://schemas.microsoft.com/office/drawing/2014/main" id="{389D496F-CC2B-3A43-95D1-ABF0C03ECF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9" name="Straight Connector 32">
              <a:extLst>
                <a:ext uri="{FF2B5EF4-FFF2-40B4-BE49-F238E27FC236}">
                  <a16:creationId xmlns:a16="http://schemas.microsoft.com/office/drawing/2014/main" id="{F87D7576-1243-F94E-ADCF-31C7356526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0" name="Straight Connector 33">
              <a:extLst>
                <a:ext uri="{FF2B5EF4-FFF2-40B4-BE49-F238E27FC236}">
                  <a16:creationId xmlns:a16="http://schemas.microsoft.com/office/drawing/2014/main" id="{14FE0A1A-93B7-6346-BDD3-6DC30F917A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1" name="Straight Connector 34">
              <a:extLst>
                <a:ext uri="{FF2B5EF4-FFF2-40B4-BE49-F238E27FC236}">
                  <a16:creationId xmlns:a16="http://schemas.microsoft.com/office/drawing/2014/main" id="{66187199-26A8-6B43-9A30-9F6334B2BD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2" name="Straight Connector 35">
              <a:extLst>
                <a:ext uri="{FF2B5EF4-FFF2-40B4-BE49-F238E27FC236}">
                  <a16:creationId xmlns:a16="http://schemas.microsoft.com/office/drawing/2014/main" id="{0A42998D-88F0-C542-80A5-78C2C19321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73" name="TextBox 5">
              <a:extLst>
                <a:ext uri="{FF2B5EF4-FFF2-40B4-BE49-F238E27FC236}">
                  <a16:creationId xmlns:a16="http://schemas.microsoft.com/office/drawing/2014/main" id="{D8C6AB0E-F540-8A4E-8BBA-EB58089CD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dest.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76" name="TextBox 37">
              <a:extLst>
                <a:ext uri="{FF2B5EF4-FFF2-40B4-BE49-F238E27FC236}">
                  <a16:creationId xmlns:a16="http://schemas.microsoft.com/office/drawing/2014/main" id="{03FFAEAD-5C41-4246-B3E9-7B76999E9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source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77" name="TextBox 38">
              <a:extLst>
                <a:ext uri="{FF2B5EF4-FFF2-40B4-BE49-F238E27FC236}">
                  <a16:creationId xmlns:a16="http://schemas.microsoft.com/office/drawing/2014/main" id="{4CBFC6F3-AE10-314B-B936-C5F4A8AE6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data (payload)</a:t>
              </a:r>
            </a:p>
          </p:txBody>
        </p:sp>
        <p:sp>
          <p:nvSpPr>
            <p:cNvPr id="78" name="TextBox 39">
              <a:extLst>
                <a:ext uri="{FF2B5EF4-FFF2-40B4-BE49-F238E27FC236}">
                  <a16:creationId xmlns:a16="http://schemas.microsoft.com/office/drawing/2014/main" id="{48BAC0FD-0D2D-7649-9DEF-4A90342AC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CRC</a:t>
              </a:r>
            </a:p>
          </p:txBody>
        </p:sp>
        <p:sp>
          <p:nvSpPr>
            <p:cNvPr id="79" name="TextBox 40">
              <a:extLst>
                <a:ext uri="{FF2B5EF4-FFF2-40B4-BE49-F238E27FC236}">
                  <a16:creationId xmlns:a16="http://schemas.microsoft.com/office/drawing/2014/main" id="{BDA70AA3-D12B-1944-AB73-0E0BABDA7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preamble</a:t>
              </a:r>
            </a:p>
          </p:txBody>
        </p:sp>
        <p:sp>
          <p:nvSpPr>
            <p:cNvPr id="88" name="Text Box 9">
              <a:extLst>
                <a:ext uri="{FF2B5EF4-FFF2-40B4-BE49-F238E27FC236}">
                  <a16:creationId xmlns:a16="http://schemas.microsoft.com/office/drawing/2014/main" id="{B8872802-E974-8E40-A27B-DFD5D80F2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type</a:t>
              </a:r>
            </a:p>
          </p:txBody>
        </p:sp>
      </p:grpSp>
      <p:sp>
        <p:nvSpPr>
          <p:cNvPr id="19" name="Rectangle 3">
            <a:extLst>
              <a:ext uri="{FF2B5EF4-FFF2-40B4-BE49-F238E27FC236}">
                <a16:creationId xmlns:a16="http://schemas.microsoft.com/office/drawing/2014/main" id="{52EC9379-8CF4-B845-BC28-25B206CCAE0F}"/>
              </a:ext>
            </a:extLst>
          </p:cNvPr>
          <p:cNvSpPr txBox="1">
            <a:spLocks noChangeArrowheads="1"/>
          </p:cNvSpPr>
          <p:nvPr/>
        </p:nvSpPr>
        <p:spPr>
          <a:xfrm>
            <a:off x="918616" y="2664310"/>
            <a:ext cx="11273384" cy="4119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addresses: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byte source, destination MAC addresses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adapter receives frame with matching destination address, or with broadcast address (e.g., ARP packet), it passes data in frame to network layer protocol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otherwise, adapter discards frame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indicates higher layer protocol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mostly IP but others possible, e.g., Novell IPX, AppleTalk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used to demultiplex up at receiver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CRC: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cyclic redundancy check at receiver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 detected: frame is dropped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62512A-796F-E249-9BDA-F50A54A9EF07}"/>
              </a:ext>
            </a:extLst>
          </p:cNvPr>
          <p:cNvSpPr/>
          <p:nvPr/>
        </p:nvSpPr>
        <p:spPr>
          <a:xfrm>
            <a:off x="3414532" y="1446835"/>
            <a:ext cx="1898248" cy="1111170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BD4B9E-B165-2F47-AFD8-92E71CB8BA3C}"/>
              </a:ext>
            </a:extLst>
          </p:cNvPr>
          <p:cNvSpPr/>
          <p:nvPr/>
        </p:nvSpPr>
        <p:spPr>
          <a:xfrm>
            <a:off x="8081059" y="1471913"/>
            <a:ext cx="1965766" cy="1111170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E655D5E-5A29-E74E-9AE7-FBDD43A055D0}"/>
              </a:ext>
            </a:extLst>
          </p:cNvPr>
          <p:cNvSpPr/>
          <p:nvPr/>
        </p:nvSpPr>
        <p:spPr>
          <a:xfrm rot="16200000">
            <a:off x="4780345" y="1551006"/>
            <a:ext cx="1365815" cy="856525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3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21" grpId="0" animBg="1"/>
      <p:bldP spid="22" grpId="0" animBg="1"/>
      <p:bldP spid="2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802.3 Ethernet standards: link &amp; physical layers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5337EC81-E572-214C-BF69-89DCE6ECE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153" y="3044936"/>
            <a:ext cx="11197652" cy="462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522288" marR="0" lvl="1" indent="-2841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different physical layer media: fiber, cable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36" name="Freeform 39">
            <a:extLst>
              <a:ext uri="{FF2B5EF4-FFF2-40B4-BE49-F238E27FC236}">
                <a16:creationId xmlns:a16="http://schemas.microsoft.com/office/drawing/2014/main" id="{D1D9C936-B7E0-6F43-8421-5B95EAA06933}"/>
              </a:ext>
            </a:extLst>
          </p:cNvPr>
          <p:cNvSpPr>
            <a:spLocks/>
          </p:cNvSpPr>
          <p:nvPr/>
        </p:nvSpPr>
        <p:spPr bwMode="auto">
          <a:xfrm>
            <a:off x="3847736" y="4045132"/>
            <a:ext cx="1393825" cy="1527175"/>
          </a:xfrm>
          <a:custGeom>
            <a:avLst/>
            <a:gdLst>
              <a:gd name="T0" fmla="*/ 2147483647 w 878"/>
              <a:gd name="T1" fmla="*/ 0 h 962"/>
              <a:gd name="T2" fmla="*/ 0 w 878"/>
              <a:gd name="T3" fmla="*/ 2147483647 h 962"/>
              <a:gd name="T4" fmla="*/ 2147483647 w 878"/>
              <a:gd name="T5" fmla="*/ 2147483647 h 962"/>
              <a:gd name="T6" fmla="*/ 2147483647 w 878"/>
              <a:gd name="T7" fmla="*/ 2147483647 h 962"/>
              <a:gd name="T8" fmla="*/ 2147483647 w 878"/>
              <a:gd name="T9" fmla="*/ 0 h 9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8" h="962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0" scaled="1"/>
          </a:gradFill>
          <a:ln w="9525" cap="flat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37" name="Group 40">
            <a:extLst>
              <a:ext uri="{FF2B5EF4-FFF2-40B4-BE49-F238E27FC236}">
                <a16:creationId xmlns:a16="http://schemas.microsoft.com/office/drawing/2014/main" id="{6A53ADA6-D108-1C40-A3EE-28BC1ABD17D8}"/>
              </a:ext>
            </a:extLst>
          </p:cNvPr>
          <p:cNvGrpSpPr>
            <a:grpSpLocks/>
          </p:cNvGrpSpPr>
          <p:nvPr/>
        </p:nvGrpSpPr>
        <p:grpSpPr bwMode="auto">
          <a:xfrm>
            <a:off x="2552336" y="4178480"/>
            <a:ext cx="1300163" cy="1477962"/>
            <a:chOff x="921" y="797"/>
            <a:chExt cx="819" cy="931"/>
          </a:xfrm>
        </p:grpSpPr>
        <p:sp>
          <p:nvSpPr>
            <p:cNvPr id="38" name="Rectangle 41">
              <a:extLst>
                <a:ext uri="{FF2B5EF4-FFF2-40B4-BE49-F238E27FC236}">
                  <a16:creationId xmlns:a16="http://schemas.microsoft.com/office/drawing/2014/main" id="{A19C4707-153A-1D4A-9F0C-A7D66CFEA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810"/>
              <a:ext cx="816" cy="8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9" name="Text Box 42">
              <a:extLst>
                <a:ext uri="{FF2B5EF4-FFF2-40B4-BE49-F238E27FC236}">
                  <a16:creationId xmlns:a16="http://schemas.microsoft.com/office/drawing/2014/main" id="{6F9A40BD-67A8-AC46-923B-F43FFA41F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7" y="797"/>
              <a:ext cx="773" cy="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application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link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physical</a:t>
              </a:r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B273748A-AE80-2049-8434-08C970AD4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993"/>
              <a:ext cx="8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06692CA4-1050-F547-8BD3-506A2BF3B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1167"/>
              <a:ext cx="8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2067FEF7-7EF7-E040-9D6E-F0A67817A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1344"/>
              <a:ext cx="8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38265043-8296-5C4F-B90B-0BBD21426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" y="1501"/>
              <a:ext cx="808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978E49E5-6968-CC48-AC67-D74316AD7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" y="1552"/>
              <a:ext cx="0" cy="1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956710CE-B4F5-EA4E-BF2A-C20BE32C5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1541"/>
              <a:ext cx="0" cy="1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46" name="Rectangle 49">
            <a:extLst>
              <a:ext uri="{FF2B5EF4-FFF2-40B4-BE49-F238E27FC236}">
                <a16:creationId xmlns:a16="http://schemas.microsoft.com/office/drawing/2014/main" id="{33B384B2-E84D-E145-9B31-7CDEB33CA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049" y="4008619"/>
            <a:ext cx="4195762" cy="1568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47" name="Line 50">
            <a:extLst>
              <a:ext uri="{FF2B5EF4-FFF2-40B4-BE49-F238E27FC236}">
                <a16:creationId xmlns:a16="http://schemas.microsoft.com/office/drawing/2014/main" id="{71F4EA3F-71A9-E649-B270-EF76B8B132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336" y="4673782"/>
            <a:ext cx="4178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48" name="Text Box 51">
            <a:extLst>
              <a:ext uri="{FF2B5EF4-FFF2-40B4-BE49-F238E27FC236}">
                <a16:creationId xmlns:a16="http://schemas.microsoft.com/office/drawing/2014/main" id="{7DC03FEF-6F61-B84E-B3EE-F4889195D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6078" y="4049894"/>
            <a:ext cx="18384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MAC protocol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and frame format</a:t>
            </a:r>
          </a:p>
        </p:txBody>
      </p:sp>
      <p:sp>
        <p:nvSpPr>
          <p:cNvPr id="49" name="Text Box 52">
            <a:extLst>
              <a:ext uri="{FF2B5EF4-FFF2-40B4-BE49-F238E27FC236}">
                <a16:creationId xmlns:a16="http://schemas.microsoft.com/office/drawing/2014/main" id="{FCD7A57B-08E5-9042-A816-5F41877FF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324" y="4764269"/>
            <a:ext cx="1191352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100BASE-TX</a:t>
            </a:r>
          </a:p>
        </p:txBody>
      </p:sp>
      <p:sp>
        <p:nvSpPr>
          <p:cNvPr id="50" name="Text Box 53">
            <a:extLst>
              <a:ext uri="{FF2B5EF4-FFF2-40B4-BE49-F238E27FC236}">
                <a16:creationId xmlns:a16="http://schemas.microsoft.com/office/drawing/2014/main" id="{A227F0AF-4662-F24A-9653-0AADE99ED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436" y="5124632"/>
            <a:ext cx="1189749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100BASE-T4</a:t>
            </a:r>
          </a:p>
        </p:txBody>
      </p:sp>
      <p:sp>
        <p:nvSpPr>
          <p:cNvPr id="51" name="Text Box 54">
            <a:extLst>
              <a:ext uri="{FF2B5EF4-FFF2-40B4-BE49-F238E27FC236}">
                <a16:creationId xmlns:a16="http://schemas.microsoft.com/office/drawing/2014/main" id="{57422924-DBD0-594C-8374-4E4F54D33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6199" y="4759507"/>
            <a:ext cx="1186543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100BASE-FX</a:t>
            </a:r>
          </a:p>
        </p:txBody>
      </p:sp>
      <p:sp>
        <p:nvSpPr>
          <p:cNvPr id="52" name="Freeform 55">
            <a:extLst>
              <a:ext uri="{FF2B5EF4-FFF2-40B4-BE49-F238E27FC236}">
                <a16:creationId xmlns:a16="http://schemas.microsoft.com/office/drawing/2014/main" id="{53523A51-905B-3D41-9BAA-9981C632BCA4}"/>
              </a:ext>
            </a:extLst>
          </p:cNvPr>
          <p:cNvSpPr>
            <a:spLocks/>
          </p:cNvSpPr>
          <p:nvPr/>
        </p:nvSpPr>
        <p:spPr bwMode="auto">
          <a:xfrm>
            <a:off x="3862024" y="4654732"/>
            <a:ext cx="1393825" cy="611187"/>
          </a:xfrm>
          <a:custGeom>
            <a:avLst/>
            <a:gdLst>
              <a:gd name="T0" fmla="*/ 0 w 878"/>
              <a:gd name="T1" fmla="*/ 2147483647 h 385"/>
              <a:gd name="T2" fmla="*/ 2147483647 w 878"/>
              <a:gd name="T3" fmla="*/ 0 h 38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78" h="385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53" name="Text Box 56">
            <a:extLst>
              <a:ext uri="{FF2B5EF4-FFF2-40B4-BE49-F238E27FC236}">
                <a16:creationId xmlns:a16="http://schemas.microsoft.com/office/drawing/2014/main" id="{1DE6B70E-6097-F84E-9788-C59914DB1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6349" y="4757919"/>
            <a:ext cx="1189749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100BASE-T2</a:t>
            </a:r>
          </a:p>
        </p:txBody>
      </p:sp>
      <p:sp>
        <p:nvSpPr>
          <p:cNvPr id="54" name="Text Box 57">
            <a:extLst>
              <a:ext uri="{FF2B5EF4-FFF2-40B4-BE49-F238E27FC236}">
                <a16:creationId xmlns:a16="http://schemas.microsoft.com/office/drawing/2014/main" id="{B1DB8DC7-324F-CF44-874C-A25415747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8886" y="5118282"/>
            <a:ext cx="1186543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100BASE-SX</a:t>
            </a:r>
          </a:p>
        </p:txBody>
      </p:sp>
      <p:sp>
        <p:nvSpPr>
          <p:cNvPr id="55" name="Text Box 58">
            <a:extLst>
              <a:ext uri="{FF2B5EF4-FFF2-40B4-BE49-F238E27FC236}">
                <a16:creationId xmlns:a16="http://schemas.microsoft.com/office/drawing/2014/main" id="{E95A44E5-EB2A-9946-80C0-81A38CBC2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549" y="5113519"/>
            <a:ext cx="1204176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100BASE-BX</a:t>
            </a:r>
          </a:p>
        </p:txBody>
      </p:sp>
      <p:grpSp>
        <p:nvGrpSpPr>
          <p:cNvPr id="56" name="Group 67">
            <a:extLst>
              <a:ext uri="{FF2B5EF4-FFF2-40B4-BE49-F238E27FC236}">
                <a16:creationId xmlns:a16="http://schemas.microsoft.com/office/drawing/2014/main" id="{BD6F53D7-9BED-1E4A-8353-2414F7E4B271}"/>
              </a:ext>
            </a:extLst>
          </p:cNvPr>
          <p:cNvGrpSpPr>
            <a:grpSpLocks/>
          </p:cNvGrpSpPr>
          <p:nvPr/>
        </p:nvGrpSpPr>
        <p:grpSpPr bwMode="auto">
          <a:xfrm>
            <a:off x="6656025" y="4713470"/>
            <a:ext cx="2798763" cy="1595438"/>
            <a:chOff x="3579" y="2988"/>
            <a:chExt cx="1763" cy="1005"/>
          </a:xfrm>
        </p:grpSpPr>
        <p:sp>
          <p:nvSpPr>
            <p:cNvPr id="57" name="Freeform 59">
              <a:extLst>
                <a:ext uri="{FF2B5EF4-FFF2-40B4-BE49-F238E27FC236}">
                  <a16:creationId xmlns:a16="http://schemas.microsoft.com/office/drawing/2014/main" id="{C50E32B5-3D8B-8548-B34B-8E5B3A3E5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988"/>
              <a:ext cx="1709" cy="489"/>
            </a:xfrm>
            <a:custGeom>
              <a:avLst/>
              <a:gdLst>
                <a:gd name="T0" fmla="*/ 842 w 1709"/>
                <a:gd name="T1" fmla="*/ 0 h 489"/>
                <a:gd name="T2" fmla="*/ 843 w 1709"/>
                <a:gd name="T3" fmla="*/ 239 h 489"/>
                <a:gd name="T4" fmla="*/ 5 w 1709"/>
                <a:gd name="T5" fmla="*/ 239 h 489"/>
                <a:gd name="T6" fmla="*/ 0 w 1709"/>
                <a:gd name="T7" fmla="*/ 489 h 489"/>
                <a:gd name="T8" fmla="*/ 1709 w 1709"/>
                <a:gd name="T9" fmla="*/ 489 h 489"/>
                <a:gd name="T10" fmla="*/ 1704 w 1709"/>
                <a:gd name="T11" fmla="*/ 0 h 489"/>
                <a:gd name="T12" fmla="*/ 842 w 1709"/>
                <a:gd name="T13" fmla="*/ 0 h 4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09" h="489">
                  <a:moveTo>
                    <a:pt x="842" y="0"/>
                  </a:moveTo>
                  <a:lnTo>
                    <a:pt x="843" y="239"/>
                  </a:lnTo>
                  <a:lnTo>
                    <a:pt x="5" y="239"/>
                  </a:lnTo>
                  <a:lnTo>
                    <a:pt x="0" y="489"/>
                  </a:lnTo>
                  <a:lnTo>
                    <a:pt x="1709" y="489"/>
                  </a:lnTo>
                  <a:cubicBezTo>
                    <a:pt x="1707" y="330"/>
                    <a:pt x="1706" y="159"/>
                    <a:pt x="1704" y="0"/>
                  </a:cubicBezTo>
                  <a:lnTo>
                    <a:pt x="842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Line 60">
              <a:extLst>
                <a:ext uri="{FF2B5EF4-FFF2-40B4-BE49-F238E27FC236}">
                  <a16:creationId xmlns:a16="http://schemas.microsoft.com/office/drawing/2014/main" id="{E7F465C2-97A3-0345-9A24-E2CE0791D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0" y="3494"/>
              <a:ext cx="227" cy="2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9" name="Text Box 61">
              <a:extLst>
                <a:ext uri="{FF2B5EF4-FFF2-40B4-BE49-F238E27FC236}">
                  <a16:creationId xmlns:a16="http://schemas.microsoft.com/office/drawing/2014/main" id="{202ECB0D-50EC-5C4A-BADA-C0CCB4364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3" y="3741"/>
              <a:ext cx="133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fiber physical layer</a:t>
              </a:r>
            </a:p>
          </p:txBody>
        </p:sp>
      </p:grpSp>
      <p:grpSp>
        <p:nvGrpSpPr>
          <p:cNvPr id="60" name="Group 66">
            <a:extLst>
              <a:ext uri="{FF2B5EF4-FFF2-40B4-BE49-F238E27FC236}">
                <a16:creationId xmlns:a16="http://schemas.microsoft.com/office/drawing/2014/main" id="{029E73D2-C030-8048-9731-A8014A0F5B04}"/>
              </a:ext>
            </a:extLst>
          </p:cNvPr>
          <p:cNvGrpSpPr>
            <a:grpSpLocks/>
          </p:cNvGrpSpPr>
          <p:nvPr/>
        </p:nvGrpSpPr>
        <p:grpSpPr bwMode="auto">
          <a:xfrm>
            <a:off x="2907936" y="4703945"/>
            <a:ext cx="5059363" cy="1628776"/>
            <a:chOff x="1218" y="2982"/>
            <a:chExt cx="3187" cy="1026"/>
          </a:xfrm>
        </p:grpSpPr>
        <p:sp>
          <p:nvSpPr>
            <p:cNvPr id="61" name="Freeform 62">
              <a:extLst>
                <a:ext uri="{FF2B5EF4-FFF2-40B4-BE49-F238E27FC236}">
                  <a16:creationId xmlns:a16="http://schemas.microsoft.com/office/drawing/2014/main" id="{474C8A2E-BC6B-7A45-B113-AFB541E56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2982"/>
              <a:ext cx="1664" cy="495"/>
            </a:xfrm>
            <a:custGeom>
              <a:avLst/>
              <a:gdLst>
                <a:gd name="T0" fmla="*/ 1664 w 1664"/>
                <a:gd name="T1" fmla="*/ 0 h 495"/>
                <a:gd name="T2" fmla="*/ 1652 w 1664"/>
                <a:gd name="T3" fmla="*/ 233 h 495"/>
                <a:gd name="T4" fmla="*/ 820 w 1664"/>
                <a:gd name="T5" fmla="*/ 233 h 495"/>
                <a:gd name="T6" fmla="*/ 814 w 1664"/>
                <a:gd name="T7" fmla="*/ 495 h 495"/>
                <a:gd name="T8" fmla="*/ 0 w 1664"/>
                <a:gd name="T9" fmla="*/ 495 h 495"/>
                <a:gd name="T10" fmla="*/ 0 w 1664"/>
                <a:gd name="T11" fmla="*/ 0 h 495"/>
                <a:gd name="T12" fmla="*/ 1664 w 1664"/>
                <a:gd name="T13" fmla="*/ 0 h 4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4" h="495">
                  <a:moveTo>
                    <a:pt x="1664" y="0"/>
                  </a:moveTo>
                  <a:lnTo>
                    <a:pt x="1652" y="233"/>
                  </a:lnTo>
                  <a:lnTo>
                    <a:pt x="820" y="233"/>
                  </a:lnTo>
                  <a:lnTo>
                    <a:pt x="814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1664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3333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2" name="Line 63">
              <a:extLst>
                <a:ext uri="{FF2B5EF4-FFF2-40B4-BE49-F238E27FC236}">
                  <a16:creationId xmlns:a16="http://schemas.microsoft.com/office/drawing/2014/main" id="{B16CB47D-76E2-3F42-AC2D-72C1962B8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9" y="3503"/>
              <a:ext cx="227" cy="291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3" name="Text Box 65">
              <a:extLst>
                <a:ext uri="{FF2B5EF4-FFF2-40B4-BE49-F238E27FC236}">
                  <a16:creationId xmlns:a16="http://schemas.microsoft.com/office/drawing/2014/main" id="{9BA08050-1D02-1F4A-93AC-F727FE13E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8" y="3756"/>
              <a:ext cx="245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copper (twister pair) physical layer</a:t>
              </a:r>
            </a:p>
          </p:txBody>
        </p:sp>
      </p:grpSp>
      <p:sp>
        <p:nvSpPr>
          <p:cNvPr id="65" name="Rectangle 3">
            <a:extLst>
              <a:ext uri="{FF2B5EF4-FFF2-40B4-BE49-F238E27FC236}">
                <a16:creationId xmlns:a16="http://schemas.microsoft.com/office/drawing/2014/main" id="{B6913DDC-83CD-0F43-A24D-5DAA204FD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1611604"/>
            <a:ext cx="11684400" cy="1594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many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different Ethernet standards</a:t>
            </a:r>
          </a:p>
          <a:p>
            <a:pPr marL="522288" marR="0" lvl="1" indent="-2841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common MAC protocol and frame format</a:t>
            </a:r>
          </a:p>
          <a:p>
            <a:pPr marL="522288" marR="0" lvl="1" indent="-2841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different speeds: 2 Mbps, ... 100 Mbps, 1Gbps, 10 Gbps, 40 Gbps, 80 Gbps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673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745</Words>
  <Application>Microsoft Macintosh PowerPoint</Application>
  <PresentationFormat>Widescreen</PresentationFormat>
  <Paragraphs>127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ＭＳ Ｐゴシック</vt:lpstr>
      <vt:lpstr>游ゴシック</vt:lpstr>
      <vt:lpstr>Arial</vt:lpstr>
      <vt:lpstr>Calibri</vt:lpstr>
      <vt:lpstr>Calibri Light</vt:lpstr>
      <vt:lpstr>Comic Sans MS</vt:lpstr>
      <vt:lpstr>Gill Sans</vt:lpstr>
      <vt:lpstr>Gill Sans MT</vt:lpstr>
      <vt:lpstr>Noto Sans Symbols</vt:lpstr>
      <vt:lpstr>Times</vt:lpstr>
      <vt:lpstr>Wingdings</vt:lpstr>
      <vt:lpstr>Office Theme</vt:lpstr>
      <vt:lpstr> IT694 Week 14_Lec 1 Computer Networks </vt:lpstr>
      <vt:lpstr>Slotted ALOHA </vt:lpstr>
      <vt:lpstr>CSMA (carrier sense multiple access)</vt:lpstr>
      <vt:lpstr>CSMA: collisions</vt:lpstr>
      <vt:lpstr>CSMA/CD:</vt:lpstr>
      <vt:lpstr>PowerPoint Presentation</vt:lpstr>
      <vt:lpstr>CSMA/CD algorithm</vt:lpstr>
      <vt:lpstr>PowerPoint Presentation</vt:lpstr>
      <vt:lpstr>Ethernet</vt:lpstr>
      <vt:lpstr>Ethernet: physical topology</vt:lpstr>
      <vt:lpstr>Ethernet frame structure</vt:lpstr>
      <vt:lpstr>Ethernet frame structure (more)</vt:lpstr>
      <vt:lpstr>802.3 Ethernet standards: link &amp; physical layers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13_Lec 2 Computer Networks </dc:title>
  <dc:creator>Microsoft Office User</dc:creator>
  <cp:lastModifiedBy>Microsoft Office User</cp:lastModifiedBy>
  <cp:revision>5</cp:revision>
  <dcterms:created xsi:type="dcterms:W3CDTF">2024-10-21T04:57:43Z</dcterms:created>
  <dcterms:modified xsi:type="dcterms:W3CDTF">2025-04-15T03:17:35Z</dcterms:modified>
</cp:coreProperties>
</file>