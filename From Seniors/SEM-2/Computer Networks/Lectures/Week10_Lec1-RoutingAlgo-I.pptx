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1228" r:id="rId3"/>
    <p:sldId id="1261" r:id="rId4"/>
    <p:sldId id="1262" r:id="rId5"/>
    <p:sldId id="1263" r:id="rId6"/>
    <p:sldId id="1264" r:id="rId7"/>
    <p:sldId id="1234" r:id="rId8"/>
    <p:sldId id="1238" r:id="rId9"/>
    <p:sldId id="1245" r:id="rId10"/>
    <p:sldId id="1244" r:id="rId11"/>
    <p:sldId id="1241" r:id="rId12"/>
    <p:sldId id="1242" r:id="rId13"/>
    <p:sldId id="1243" r:id="rId14"/>
    <p:sldId id="1249" r:id="rId15"/>
    <p:sldId id="1250" r:id="rId16"/>
    <p:sldId id="1252" r:id="rId17"/>
    <p:sldId id="1253" r:id="rId18"/>
    <p:sldId id="1254" r:id="rId19"/>
    <p:sldId id="1255" r:id="rId20"/>
    <p:sldId id="1267" r:id="rId21"/>
    <p:sldId id="1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05"/>
  </p:normalViewPr>
  <p:slideViewPr>
    <p:cSldViewPr snapToGrid="0" snapToObjects="1">
      <p:cViewPr varScale="1">
        <p:scale>
          <a:sx n="133" d="100"/>
          <a:sy n="133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3D9CF-9239-CC4D-9180-DB967B7D6620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9C5B0A-1DBD-A240-A753-EFFB7FC5A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9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03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02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84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523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049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94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6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65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289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3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1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39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51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918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68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2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05CE-B701-C946-B1B1-2E138629C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4FA775-0E67-6C45-A396-CBE949A31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5DD9E-1EE5-994C-8072-EC2DC54C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9328-AB9B-714E-9DE9-D7CD9D60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BA92-1D5E-1B4E-81A2-65ADEF81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2871-2572-BC47-BA32-51DF37C7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47062-9CF6-AF4D-B9A6-6800F25B2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51E94-624B-3B40-A0CC-39284443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35D5E-889C-B74C-9D07-D019CF3D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5F44-D97B-524E-94AE-180CF7D2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04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5C78-60ED-394E-B5C1-CCC78385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470B-7DDD-D540-A890-3B3946B68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32D9-9BDC-B644-96F6-811EBCB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E58B6-1EFD-C34F-A0DF-CA349730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3ED3-D566-2142-90AC-9DCB110F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0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D351-FFF0-7847-BB08-849B6D20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FFC6-67BC-884B-95E0-CB41EE895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EC862-6318-CB47-8796-CC610331A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668D2-042E-CC48-9CD2-A83CFCA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1E557-1920-C448-975B-194331FA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A7EA5-1C91-A04F-A04F-8D0BE6372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96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3E03-524E-9446-80F0-3F4DD322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E4B6D-4FB8-3043-BB5E-F27F1AFF8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0390-5BA3-E044-B769-CFDEFD5A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6660A-3867-134D-B3EE-546AFDC74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9BC1C-EBF0-1945-A14E-4185B3DA2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A5F81-6A38-F244-AB41-66DAC176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1B1ED-78D2-5A4B-BF93-926BBA91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6B151-71BD-1A4A-9DAD-97F159BF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1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49AF-8E51-1942-82F6-8B9631C0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3B59C-9C01-724C-98C2-8E106E5B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03CEEE-8787-A94B-915C-D1B6D197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BE7E1-F502-3248-B90F-95CA8696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9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462FA-FC79-F34A-81F9-8F52DDFC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ADDB8-3DBC-754A-A94D-1C9B0EA6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75021-7870-9F4A-A0E8-A8B98C57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0C45-10B7-3247-9663-1C2191D14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5C18C-AC0D-3C49-B263-17FCD4C2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C6197-B2AA-DC47-9AFA-3B699E21E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A3C23-E898-6C4F-BBB3-50DEB419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FB8E7-78DF-C24D-977B-981E951DE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9C648-4839-AE4C-9A46-21979771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525-B472-3647-9A74-DD7E2EA6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359F7-6882-7746-A1F1-40892FB22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C8568-B2D1-6D48-BC7A-E33EB3DC3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85055-5D1B-1642-BE59-D577625F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48928-C56A-B940-A733-E3060F6C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AA7E8-1038-7A4C-A35B-0A33465E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A9AA-1195-364A-AE84-06738971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505E-DED2-F34E-BBFC-1D600C8C2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63E71-79A4-AD47-8BAA-CD8E4627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29C6-4242-5046-B9CC-24568D44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421A-9C02-C240-AF39-87CD99E3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2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34F77-1A2B-4E45-87D7-4018B0162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0B558-DCD1-4944-ABFA-B41259DB0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D4B1-159F-D045-A5B1-AF609C93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4344E-930B-0143-951C-2378C5B7F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67CC7-CD21-ED4E-A187-69E93E4D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10CA9A-D20B-C64F-B444-ED307B22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B6BC-3796-8545-93A7-3433F00E7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89D2-FFCC-3846-B560-7CB005EF4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4B7C6-2ED6-2540-8C41-FE951B85462B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F66E-E0C4-E341-8A9B-B590DEC52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80BAE-3985-3D42-AE1F-2D5921A13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A4300-097D-B241-9F96-160438681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6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FE82-3088-D049-AEDD-D355734C1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IT694</a:t>
            </a:r>
            <a:br>
              <a:rPr lang="en-US" dirty="0"/>
            </a:br>
            <a:r>
              <a:rPr lang="en-US" dirty="0"/>
              <a:t>Computer Networks</a:t>
            </a:r>
            <a:br>
              <a:rPr lang="en-US" dirty="0"/>
            </a:br>
            <a:r>
              <a:rPr lang="en-US" dirty="0"/>
              <a:t>Week10_Lec1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1E90-44CA-F241-929E-1FCE9969A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Routing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38593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585"/>
            <a:ext cx="8320548" cy="894622"/>
          </a:xfrm>
        </p:spPr>
        <p:txBody>
          <a:bodyPr/>
          <a:lstStyle/>
          <a:p>
            <a:r>
              <a:rPr lang="en-US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Layer: 5-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235974" y="3441290"/>
            <a:ext cx="11665974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global: </a:t>
              </a:r>
              <a:r>
                <a:rPr lang="en-US" sz="2400" dirty="0"/>
                <a:t>all routers have </a:t>
              </a:r>
              <a:r>
                <a:rPr lang="en-US" sz="2400" i="1" dirty="0"/>
                <a:t>complete</a:t>
              </a:r>
              <a:r>
                <a:rPr lang="en-US" sz="2400" dirty="0"/>
                <a:t> topology, link cost info</a:t>
              </a:r>
            </a:p>
            <a:p>
              <a:pPr>
                <a:spcBef>
                  <a:spcPts val="400"/>
                </a:spcBef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“link state” </a:t>
              </a:r>
              <a:r>
                <a:rPr lang="en-US" altLang="ja-JP" sz="2400" dirty="0"/>
                <a:t>algorithms</a:t>
              </a:r>
            </a:p>
            <a:p>
              <a:pPr>
                <a:buFont typeface="Wingdings" charset="0"/>
                <a:buNone/>
              </a:pP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decentralized: </a:t>
              </a:r>
              <a:r>
                <a:rPr lang="en-US" sz="2400" dirty="0"/>
                <a:t>iterative process of computation, exchange of info with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2400" dirty="0"/>
                <a:t>routers initially only know link costs to attached neighbors</a:t>
              </a:r>
            </a:p>
            <a:p>
              <a:pPr marL="407988" indent="-233363">
                <a:spcBef>
                  <a:spcPts val="4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2400" dirty="0">
                  <a:solidFill>
                    <a:srgbClr val="000099"/>
                  </a:solidFill>
                </a:rPr>
                <a:t>“distance vector” </a:t>
              </a:r>
              <a:r>
                <a:rPr lang="en-US" altLang="ja-JP" sz="2400" dirty="0"/>
                <a:t>algorithms</a:t>
              </a:r>
              <a:endParaRPr lang="en-US" sz="2400" dirty="0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fast do 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" indent="-57150">
                <a:buFont typeface="Wingdings" charset="0"/>
                <a:buNone/>
                <a:defRPr/>
              </a:pPr>
              <a:r>
                <a:rPr lang="en-US" dirty="0">
                  <a:solidFill>
                    <a:srgbClr val="CC0000"/>
                  </a:solidFill>
                </a:rPr>
                <a:t>dynamic</a:t>
              </a:r>
              <a:r>
                <a:rPr lang="en-US" sz="2400" i="1" dirty="0">
                  <a:solidFill>
                    <a:srgbClr val="CC0000"/>
                  </a:solidFill>
                </a:rPr>
                <a:t>: </a:t>
              </a:r>
              <a:r>
                <a:rPr lang="en-US" sz="2400" dirty="0"/>
                <a:t>routes change more quickly</a:t>
              </a:r>
            </a:p>
            <a:p>
              <a:pPr marL="349250" lvl="1" indent="-233363">
                <a:spcBef>
                  <a:spcPts val="400"/>
                </a:spcBef>
                <a:defRPr/>
              </a:pPr>
              <a:r>
                <a:rPr lang="en-US" dirty="0"/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30175" indent="0">
                <a:spcBef>
                  <a:spcPts val="400"/>
                </a:spcBef>
                <a:buNone/>
              </a:pPr>
              <a:r>
                <a:rPr lang="en-US" dirty="0">
                  <a:solidFill>
                    <a:srgbClr val="C00000"/>
                  </a:solidFill>
                </a:rPr>
                <a:t>static: </a:t>
              </a:r>
              <a:r>
                <a:rPr lang="en-US" sz="2400" dirty="0"/>
                <a:t>routes change slowly over time</a:t>
              </a:r>
              <a:endParaRPr lang="en-US" sz="24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7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813026" cy="517728"/>
          </a:xfrm>
        </p:spPr>
        <p:txBody>
          <a:bodyPr>
            <a:normAutofit lnSpcReduction="10000"/>
          </a:bodyPr>
          <a:lstStyle/>
          <a:p>
            <a:pPr marL="130175" indent="0">
              <a:buNone/>
            </a:pPr>
            <a:r>
              <a:rPr lang="en-US" sz="3200" dirty="0"/>
              <a:t>Based on </a:t>
            </a:r>
            <a:r>
              <a:rPr lang="en-US" sz="3200" i="1" dirty="0">
                <a:solidFill>
                  <a:srgbClr val="0000A8"/>
                </a:solidFill>
              </a:rPr>
              <a:t>Bellman-Ford</a:t>
            </a:r>
            <a:r>
              <a:rPr lang="en-US" sz="32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000" i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3000" i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buFont typeface="Wingdings" charset="0"/>
                <a:buNone/>
              </a:pPr>
              <a:r>
                <a:rPr lang="en-US" sz="3000" dirty="0"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32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32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32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>
                <a:buFont typeface="Wingdings" charset="0"/>
                <a:buNone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>
                <a:buFont typeface="Wingdings" charset="0"/>
                <a:buNone/>
              </a:pPr>
              <a:endParaRPr lang="en-US" dirty="0"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min</a:t>
              </a:r>
              <a:r>
                <a:rPr lang="en-US" dirty="0">
                  <a:latin typeface="+mn-lt"/>
                </a:rPr>
                <a:t> taken over all neighbors</a:t>
              </a:r>
              <a:r>
                <a:rPr lang="en-US" i="1" dirty="0">
                  <a:latin typeface="+mn-lt"/>
                </a:rPr>
                <a:t> v </a:t>
              </a:r>
              <a:r>
                <a:rPr lang="en-US" dirty="0">
                  <a:latin typeface="+mn-lt"/>
                </a:rPr>
                <a:t>of </a:t>
              </a:r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v</a:t>
              </a:r>
              <a:r>
                <a:rPr lang="en-US" dirty="0">
                  <a:latin typeface="+mn-lt"/>
                </a:rPr>
                <a:t>’s estimated least-cost-path cost to </a:t>
              </a:r>
              <a:r>
                <a:rPr lang="en-US" i="1" dirty="0">
                  <a:latin typeface="+mn-lt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+mn-lt"/>
                </a:rPr>
                <a:t>direct cost of link from</a:t>
              </a:r>
              <a:r>
                <a:rPr lang="en-US" i="1" dirty="0">
                  <a:latin typeface="+mn-lt"/>
                </a:rPr>
                <a:t> x </a:t>
              </a:r>
              <a:r>
                <a:rPr lang="en-US" dirty="0">
                  <a:latin typeface="+mn-lt"/>
                </a:rPr>
                <a:t>to </a:t>
              </a:r>
              <a:r>
                <a:rPr lang="en-US" i="1" dirty="0">
                  <a:latin typeface="+mn-lt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77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1" name="Freeform 4">
            <a:extLst>
              <a:ext uri="{FF2B5EF4-FFF2-40B4-BE49-F238E27FC236}">
                <a16:creationId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464895" y="2577601"/>
            <a:ext cx="3571875" cy="2236788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974545" y="3431326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1795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8683" y="38043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8058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945" y="4413988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4995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1883" y="3872651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3655708" y="3474188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2555570" y="3483713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817508" y="3459901"/>
            <a:ext cx="800100" cy="952500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3908120" y="4012351"/>
            <a:ext cx="581025" cy="428625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827033" y="4460026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888820" y="3945676"/>
            <a:ext cx="438150" cy="41910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817508" y="3364651"/>
            <a:ext cx="581025" cy="1588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3889070" y="3359888"/>
            <a:ext cx="628650" cy="423863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798333" y="2678851"/>
            <a:ext cx="1762125" cy="1023938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168" name="Rectangle 46">
              <a:extLst>
                <a:ext uri="{FF2B5EF4-FFF2-40B4-BE49-F238E27FC236}">
                  <a16:creationId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166" name="Rectangle 49">
              <a:extLst>
                <a:ext uri="{FF2B5EF4-FFF2-40B4-BE49-F238E27FC236}">
                  <a16:creationId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y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158" name="Rectangle 61">
              <a:extLst>
                <a:ext uri="{FF2B5EF4-FFF2-40B4-BE49-F238E27FC236}">
                  <a16:creationId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5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Suppose that </a:t>
            </a:r>
            <a:r>
              <a:rPr kumimoji="0" lang="en-US" sz="2800" b="0" i="1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u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’s neighboring node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s, x,v,w,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know that for destination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 z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171" name="Text Box 74">
              <a:extLst>
                <a:ext uri="{FF2B5EF4-FFF2-40B4-BE49-F238E27FC236}">
                  <a16:creationId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= min {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u,v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u,x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x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(z),</a:t>
              </a:r>
            </a:p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                    c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u,w 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+ D</a:t>
              </a:r>
              <a:r>
                <a:rPr kumimoji="0" 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w</a:t>
              </a:r>
              <a:r>
                <a: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(z)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ＭＳ Ｐゴシック" charset="0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v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= 5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v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w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 = 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w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3825"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D</a:t>
                </a:r>
                <a:r>
                  <a:rPr lang="en-US" sz="2400" i="1" kern="0" baseline="-25000" dirty="0">
                    <a:solidFill>
                      <a:srgbClr val="000000"/>
                    </a:solidFill>
                    <a:ea typeface="ＭＳ Ｐゴシック" charset="0"/>
                  </a:rPr>
                  <a:t>x</a:t>
                </a:r>
                <a:r>
                  <a:rPr lang="en-US" sz="2400" i="1" kern="0" dirty="0">
                    <a:solidFill>
                      <a:srgbClr val="000000"/>
                    </a:solidFill>
                    <a:ea typeface="ＭＳ Ｐゴシック" charset="0"/>
                  </a:rPr>
                  <a:t>(z)</a:t>
                </a:r>
                <a:r>
                  <a:rPr lang="en-US" sz="2400" kern="0" dirty="0">
                    <a:solidFill>
                      <a:srgbClr val="000000"/>
                    </a:solidFill>
                    <a:ea typeface="ＭＳ Ｐゴシック" charset="0"/>
                  </a:rPr>
                  <a:t> = 3</a:t>
                </a:r>
                <a:endParaRPr lang="en-US" sz="24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= min {2 + 5,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1 + 3,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172" name="Text Box 75">
              <a:extLst>
                <a:ext uri="{FF2B5EF4-FFF2-40B4-BE49-F238E27FC236}">
                  <a16:creationId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i="1" dirty="0">
                  <a:solidFill>
                    <a:srgbClr val="000000"/>
                  </a:solidFill>
                  <a:latin typeface="+mn-lt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413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key idea: </a:t>
            </a:r>
          </a:p>
          <a:p>
            <a:pPr marL="460375" indent="-330200">
              <a:defRPr/>
            </a:pPr>
            <a:r>
              <a:rPr lang="en-US" dirty="0"/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under minor, natural conditions, the estimate </a:t>
            </a:r>
            <a:r>
              <a:rPr lang="en-US" sz="2800" i="1" dirty="0">
                <a:cs typeface="Times New Roman" charset="0"/>
              </a:rPr>
              <a:t>D</a:t>
            </a:r>
            <a:r>
              <a:rPr lang="en-US" sz="2800" i="1" baseline="-30000" dirty="0">
                <a:cs typeface="Times New Roman" charset="0"/>
              </a:rPr>
              <a:t>x</a:t>
            </a:r>
            <a:r>
              <a:rPr lang="en-US" sz="2800" i="1" dirty="0">
                <a:cs typeface="Times New Roman" charset="0"/>
              </a:rPr>
              <a:t>(y) converge to the actual least cost </a:t>
            </a:r>
            <a:r>
              <a:rPr lang="en-US" sz="2800" dirty="0"/>
              <a:t>d</a:t>
            </a:r>
            <a:r>
              <a:rPr lang="en-US" sz="2800" baseline="-25000" dirty="0"/>
              <a:t>x</a:t>
            </a:r>
            <a:r>
              <a:rPr lang="en-US" sz="2800" dirty="0"/>
              <a:t>(y)</a:t>
            </a:r>
            <a:r>
              <a:rPr lang="en-US" sz="2400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x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 ← min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{c</a:t>
              </a:r>
              <a:r>
                <a:rPr lang="en-US" sz="2800" i="1" baseline="-25000" dirty="0">
                  <a:solidFill>
                    <a:srgbClr val="CC0000"/>
                  </a:solidFill>
                  <a:cs typeface="Times New Roman" charset="0"/>
                </a:rPr>
                <a:t>x,v 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+ D</a:t>
              </a:r>
              <a:r>
                <a:rPr lang="en-US" sz="2800" i="1" baseline="-30000" dirty="0">
                  <a:solidFill>
                    <a:srgbClr val="CC0000"/>
                  </a:solidFill>
                  <a:cs typeface="Times New Roman" charset="0"/>
                </a:rPr>
                <a:t>v</a:t>
              </a:r>
              <a:r>
                <a:rPr lang="en-US" sz="2800" i="1" dirty="0">
                  <a:solidFill>
                    <a:srgbClr val="CC0000"/>
                  </a:solidFill>
                  <a:cs typeface="Times New Roman" charset="0"/>
                </a:rPr>
                <a:t>(y)}  </a:t>
              </a:r>
              <a:r>
                <a:rPr lang="en-US" sz="2800" dirty="0">
                  <a:cs typeface="Times New Roman" charset="0"/>
                </a:rPr>
                <a:t>for each node </a:t>
              </a:r>
              <a:r>
                <a:rPr lang="en-US" sz="2800" i="1" dirty="0">
                  <a:cs typeface="Times New Roman" charset="0"/>
                </a:rPr>
                <a:t>y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dirty="0">
                  <a:ea typeface="MS Mincho" charset="0"/>
                  <a:cs typeface="MS Mincho" charset="0"/>
                </a:rPr>
                <a:t>∊</a:t>
              </a:r>
              <a:r>
                <a:rPr lang="en-US" sz="2800" dirty="0">
                  <a:cs typeface="Times New Roman" charset="0"/>
                </a:rPr>
                <a:t> </a:t>
              </a:r>
              <a:r>
                <a:rPr lang="en-US" sz="2800" i="1" dirty="0"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60375" indent="-330200">
                <a:defRPr/>
              </a:pPr>
              <a:r>
                <a:rPr lang="en-US" dirty="0"/>
                <a:t>when </a:t>
              </a:r>
              <a:r>
                <a:rPr lang="en-US" i="1" dirty="0"/>
                <a:t>x</a:t>
              </a:r>
              <a:r>
                <a:rPr lang="en-US" dirty="0"/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454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 algorithm: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iterative, asynchronous: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each local iteration caused by: </a:t>
            </a:r>
          </a:p>
          <a:p>
            <a:pPr marL="460375" indent="-223838"/>
            <a:r>
              <a:rPr lang="en-US" sz="2400" dirty="0"/>
              <a:t>local link cost change </a:t>
            </a:r>
          </a:p>
          <a:p>
            <a:pPr marL="460375" indent="-223838"/>
            <a:r>
              <a:rPr lang="en-US" sz="2400" dirty="0"/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  <a:p>
            <a:pPr algn="ctr">
              <a:lnSpc>
                <a:spcPct val="90000"/>
              </a:lnSpc>
            </a:pPr>
            <a:r>
              <a:rPr lang="en-US" sz="2800" i="1" dirty="0">
                <a:solidFill>
                  <a:srgbClr val="000099"/>
                </a:solidFill>
                <a:latin typeface="+mn-lt"/>
              </a:rPr>
              <a:t>wait</a:t>
            </a:r>
            <a:r>
              <a:rPr lang="en-US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2800" dirty="0">
                <a:latin typeface="+mn-lt"/>
              </a:rPr>
              <a:t>for (change in local link cost or msg from neighbor)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2000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dirty="0">
              <a:latin typeface="Times New Roman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3200" dirty="0">
                <a:solidFill>
                  <a:srgbClr val="CC0000"/>
                </a:solidFill>
                <a:latin typeface="+mn-lt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CC0000"/>
                </a:solidFill>
              </a:rPr>
              <a:t>distributed, self-stopping: </a:t>
            </a:r>
            <a:r>
              <a:rPr lang="en-US" sz="2400" dirty="0"/>
              <a:t>each node notifies neighbors </a:t>
            </a:r>
            <a:r>
              <a:rPr lang="en-US" sz="2400" i="1" dirty="0"/>
              <a:t>only</a:t>
            </a:r>
            <a:r>
              <a:rPr lang="en-US" sz="2400" dirty="0"/>
              <a:t> when its DV changes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neighbors then notify their neighbors – </a:t>
            </a:r>
            <a:r>
              <a:rPr lang="en-US" i="1" dirty="0"/>
              <a:t>only if necessary</a:t>
            </a:r>
          </a:p>
          <a:p>
            <a:pPr marL="522288" lvl="1" indent="-236538">
              <a:buFont typeface="Wingdings" pitchFamily="2" charset="2"/>
              <a:buChar char="§"/>
            </a:pPr>
            <a:r>
              <a:rPr lang="en-US" dirty="0"/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recompute</a:t>
              </a:r>
              <a:r>
                <a:rPr lang="en-US" sz="2800" dirty="0">
                  <a:latin typeface="+mn-lt"/>
                </a:rPr>
                <a:t> DV estimates using DV received from neighbor</a:t>
              </a:r>
            </a:p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90000"/>
                </a:lnSpc>
              </a:pPr>
              <a:endParaRPr lang="en-US" sz="2000" dirty="0"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2800" dirty="0">
                  <a:latin typeface="+mn-lt"/>
                </a:rPr>
                <a:t>if DV to any destination has changed, </a:t>
              </a:r>
              <a:r>
                <a:rPr lang="en-US" sz="2800" i="1" dirty="0">
                  <a:solidFill>
                    <a:srgbClr val="000099"/>
                  </a:solidFill>
                  <a:latin typeface="+mn-lt"/>
                </a:rPr>
                <a:t>notify</a:t>
              </a:r>
              <a:r>
                <a:rPr lang="en-US" sz="2800" dirty="0">
                  <a:latin typeface="+mn-lt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3369501" y="5718132"/>
            <a:ext cx="0" cy="454068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1052186" y="6172200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1052186" y="2178485"/>
            <a:ext cx="23006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1039660" y="2167003"/>
            <a:ext cx="0" cy="400519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86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algn="ctr"/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few asymmetries: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missing link</a:t>
              </a:r>
            </a:p>
            <a:p>
              <a:pPr marL="285750" indent="-28575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dirty="0"/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281678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ight Arrow 369">
            <a:extLst>
              <a:ext uri="{FF2B5EF4-FFF2-40B4-BE49-F238E27FC236}">
                <a16:creationId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1" name="Right Arrow 370">
            <a:extLst>
              <a:ext uri="{FF2B5EF4-FFF2-40B4-BE49-F238E27FC236}">
                <a16:creationId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Right Arrow 371">
            <a:extLst>
              <a:ext uri="{FF2B5EF4-FFF2-40B4-BE49-F238E27FC236}">
                <a16:creationId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3" name="Right Arrow 372">
            <a:extLst>
              <a:ext uri="{FF2B5EF4-FFF2-40B4-BE49-F238E27FC236}">
                <a16:creationId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5" name="Right Arrow 374">
            <a:extLst>
              <a:ext uri="{FF2B5EF4-FFF2-40B4-BE49-F238E27FC236}">
                <a16:creationId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6" name="Right Arrow 375">
            <a:extLst>
              <a:ext uri="{FF2B5EF4-FFF2-40B4-BE49-F238E27FC236}">
                <a16:creationId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7" name="Right Arrow 376">
            <a:extLst>
              <a:ext uri="{FF2B5EF4-FFF2-40B4-BE49-F238E27FC236}">
                <a16:creationId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8" name="Right Arrow 377">
            <a:extLst>
              <a:ext uri="{FF2B5EF4-FFF2-40B4-BE49-F238E27FC236}">
                <a16:creationId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9" name="Right Arrow 378">
            <a:extLst>
              <a:ext uri="{FF2B5EF4-FFF2-40B4-BE49-F238E27FC236}">
                <a16:creationId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Right Arrow 379">
            <a:extLst>
              <a:ext uri="{FF2B5EF4-FFF2-40B4-BE49-F238E27FC236}">
                <a16:creationId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4" name="Right Arrow 443">
            <a:extLst>
              <a:ext uri="{FF2B5EF4-FFF2-40B4-BE49-F238E27FC236}">
                <a16:creationId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8" name="Right Arrow 447">
            <a:extLst>
              <a:ext uri="{FF2B5EF4-FFF2-40B4-BE49-F238E27FC236}">
                <a16:creationId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9" name="Right Arrow 448">
            <a:extLst>
              <a:ext uri="{FF2B5EF4-FFF2-40B4-BE49-F238E27FC236}">
                <a16:creationId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" name="Right Arrow 449">
            <a:extLst>
              <a:ext uri="{FF2B5EF4-FFF2-40B4-BE49-F238E27FC236}">
                <a16:creationId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1" name="Right Arrow 450">
            <a:extLst>
              <a:ext uri="{FF2B5EF4-FFF2-40B4-BE49-F238E27FC236}">
                <a16:creationId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2" name="Right Arrow 451">
            <a:extLst>
              <a:ext uri="{FF2B5EF4-FFF2-40B4-BE49-F238E27FC236}">
                <a16:creationId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9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01961" y="1975104"/>
            <a:ext cx="151428" cy="257429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11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08583" y="1975104"/>
            <a:ext cx="148463" cy="24613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81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5032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>
                <a:solidFill>
                  <a:srgbClr val="0000A8"/>
                </a:solidFill>
              </a:rPr>
              <a:t>Distance vector example: iteration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3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 example: </a:t>
            </a:r>
            <a:r>
              <a:rPr lang="en-US" dirty="0">
                <a:solidFill>
                  <a:srgbClr val="0000A8"/>
                </a:solidFill>
              </a:rPr>
              <a:t>iteration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4395017" y="347078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4365519" y="5368418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6307392" y="5363506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8249265" y="5358594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6819704" y="583458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4897326" y="584795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4905348" y="3909528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4924064" y="198714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6819708" y="1973779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A8"/>
              </a:buClr>
            </a:pPr>
            <a:r>
              <a:rPr lang="en-US" dirty="0"/>
              <a:t>All nodes: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receive distance vectors from neighbors</a:t>
            </a:r>
          </a:p>
          <a:p>
            <a:pPr marL="174625" indent="-174625">
              <a:lnSpc>
                <a:spcPct val="90000"/>
              </a:lnSpc>
              <a:buClr>
                <a:schemeClr val="bg1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compute their new local  distance vector</a:t>
            </a:r>
          </a:p>
          <a:p>
            <a:pPr marL="174625" indent="-174625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919556" y="2070953"/>
            <a:ext cx="240612" cy="121026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3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32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3078478" y="2885440"/>
            <a:ext cx="5923281" cy="38201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(a) = 8</a:t>
                </a:r>
                <a:endParaRPr lang="en-US" sz="1600" dirty="0">
                  <a:cs typeface="Arial" charset="0"/>
                </a:endParaRPr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>
                  <a:lnSpc>
                    <a:spcPct val="90000"/>
                  </a:lnSpc>
                </a:pPr>
                <a:r>
                  <a:rPr lang="en-US" sz="1600" dirty="0"/>
                  <a:t>D</a:t>
                </a:r>
                <a:r>
                  <a:rPr lang="en-US" sz="1600" baseline="-25000" dirty="0"/>
                  <a:t>b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e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6307392" y="303096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6784256" y="3016538"/>
            <a:ext cx="289986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Down Arrow 264">
            <a:extLst>
              <a:ext uri="{FF2B5EF4-FFF2-40B4-BE49-F238E27FC236}">
                <a16:creationId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661290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(a)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(a),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(a), c</a:t>
            </a:r>
            <a:r>
              <a:rPr lang="en-US" sz="1600" baseline="-25000" dirty="0"/>
              <a:t>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(a)}  = min{8,</a:t>
            </a:r>
            <a:r>
              <a:rPr lang="en-US" sz="1600" dirty="0"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(c)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(c),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(c),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(c)}  = min{</a:t>
            </a:r>
            <a:r>
              <a:rPr lang="en-US" sz="1600" dirty="0">
                <a:cs typeface="Arial" charset="0"/>
              </a:rPr>
              <a:t>∞,1,∞} = 1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(d)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(d),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(d),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(d)}  = min{</a:t>
            </a:r>
            <a:r>
              <a:rPr lang="en-US" sz="1600" dirty="0">
                <a:cs typeface="Arial" charset="0"/>
              </a:rPr>
              <a:t>9,2,∞} = 2 </a:t>
            </a:r>
            <a:endParaRPr lang="en-US" sz="16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(f)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(f),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(f),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(f)}  = min{</a:t>
            </a:r>
            <a:r>
              <a:rPr lang="en-US" sz="1600" dirty="0">
                <a:cs typeface="Arial" charset="0"/>
              </a:rPr>
              <a:t>∞,∞,2} = 2 </a:t>
            </a:r>
            <a:endParaRPr lang="en-US" sz="16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(i)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(i),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(i),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(i)}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(h)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(h),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(h),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(h)}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2} = 2 </a:t>
            </a:r>
            <a:endParaRPr lang="en-US" sz="16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(e)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(e),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(e), c</a:t>
            </a:r>
            <a:r>
              <a:rPr lang="en-US" sz="1600" baseline="-25000" dirty="0"/>
              <a:t> b,e 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(e)}  = min{</a:t>
            </a:r>
            <a:r>
              <a:rPr lang="en-US" sz="1600" dirty="0">
                <a:cs typeface="Arial" charset="0"/>
              </a:rPr>
              <a:t>∞,∞,1} = 1 </a:t>
            </a:r>
            <a:endParaRPr lang="en-US" sz="16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b</a:t>
            </a:r>
            <a:r>
              <a:rPr lang="en-US" sz="1600" dirty="0"/>
              <a:t>(g) = min{c</a:t>
            </a:r>
            <a:r>
              <a:rPr lang="en-US" sz="1600" baseline="-25000" dirty="0"/>
              <a:t>b,a</a:t>
            </a:r>
            <a:r>
              <a:rPr lang="en-US" sz="1600" dirty="0"/>
              <a:t>+D</a:t>
            </a:r>
            <a:r>
              <a:rPr lang="en-US" sz="1600" baseline="-25000" dirty="0"/>
              <a:t>a</a:t>
            </a:r>
            <a:r>
              <a:rPr lang="en-US" sz="1600" dirty="0"/>
              <a:t>(g), c</a:t>
            </a:r>
            <a:r>
              <a:rPr lang="en-US" sz="1600" baseline="-25000" dirty="0"/>
              <a:t>b,c </a:t>
            </a:r>
            <a:r>
              <a:rPr lang="en-US" sz="1600" dirty="0"/>
              <a:t>+D</a:t>
            </a:r>
            <a:r>
              <a:rPr lang="en-US" sz="1600" baseline="-25000" dirty="0"/>
              <a:t>c</a:t>
            </a:r>
            <a:r>
              <a:rPr lang="en-US" sz="1600" dirty="0"/>
              <a:t>(g), c</a:t>
            </a:r>
            <a:r>
              <a:rPr lang="en-US" sz="1600" baseline="-25000" dirty="0"/>
              <a:t> b,e</a:t>
            </a:r>
            <a:r>
              <a:rPr lang="en-US" sz="1600" dirty="0"/>
              <a:t>+D</a:t>
            </a:r>
            <a:r>
              <a:rPr lang="en-US" sz="1600" baseline="-25000" dirty="0"/>
              <a:t>e</a:t>
            </a:r>
            <a:r>
              <a:rPr lang="en-US" sz="1600" dirty="0"/>
              <a:t>(g)}  = min{</a:t>
            </a:r>
            <a:r>
              <a:rPr lang="en-US" sz="1600" dirty="0">
                <a:cs typeface="Arial" charset="0"/>
              </a:rPr>
              <a:t>∞,</a:t>
            </a:r>
            <a:r>
              <a:rPr lang="en-US" sz="1600" baseline="-25000" dirty="0"/>
              <a:t> </a:t>
            </a:r>
            <a:r>
              <a:rPr lang="en-US" sz="1600" dirty="0">
                <a:cs typeface="Arial" charset="0"/>
              </a:rPr>
              <a:t>∞, ∞} = ∞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214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bg1"/>
                      </a:solidFill>
                    </a:rPr>
                    <a:t>DV in a: </a:t>
                  </a:r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(a)=0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(b) = 8</a:t>
                  </a:r>
                  <a:endParaRPr lang="en-US" sz="1600" dirty="0">
                    <a:cs typeface="Arial" charset="0"/>
                  </a:endParaRP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r>
                    <a:rPr lang="en-US" sz="1600" dirty="0"/>
                    <a:t>D</a:t>
                  </a:r>
                  <a:r>
                    <a:rPr lang="en-US" sz="1600" baseline="-25000" dirty="0"/>
                    <a:t>a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6346718" y="340688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4973224" y="193798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94417" y="3016538"/>
            <a:ext cx="2889702" cy="263439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e: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(c)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e</a:t>
                </a:r>
                <a:r>
                  <a:rPr lang="en-US" sz="1600" dirty="0">
                    <a:cs typeface="Arial" charset="0"/>
                  </a:rPr>
                  <a:t>(e)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e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0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c: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(a)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(b)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</a:p>
                <a:p>
                  <a:pPr marL="114300" lvl="1"/>
                  <a:r>
                    <a:rPr lang="en-US" sz="1600" dirty="0">
                      <a:cs typeface="Arial" charset="0"/>
                    </a:rPr>
                    <a:t>D</a:t>
                  </a:r>
                  <a:r>
                    <a:rPr lang="en-US" sz="1600" baseline="-25000" dirty="0">
                      <a:cs typeface="Arial" charset="0"/>
                    </a:rPr>
                    <a:t>c</a:t>
                  </a:r>
                  <a:r>
                    <a:rPr lang="en-US" sz="1600" dirty="0">
                      <a:cs typeface="Arial" charset="0"/>
                    </a:rPr>
                    <a:t>(c) = 0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/>
                  <a:r>
                    <a:rPr lang="en-US" sz="1600" dirty="0"/>
                    <a:t>D</a:t>
                  </a:r>
                  <a:r>
                    <a:rPr lang="en-US" sz="1600" baseline="-25000" dirty="0"/>
                    <a:t>c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6977380" y="1927827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3281678" y="1747520"/>
            <a:ext cx="5923281" cy="498856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(a)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(a}} </a:t>
            </a:r>
            <a:r>
              <a:rPr lang="en-US" sz="1600" dirty="0"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(b)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(d)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(d)}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(e)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(f)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(f)}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(g)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(g)}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(i) = min{c</a:t>
            </a:r>
            <a:r>
              <a:rPr lang="en-US" sz="1600" baseline="-25000" dirty="0"/>
              <a:t>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(i)}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600" dirty="0"/>
              <a:t>D</a:t>
            </a:r>
            <a:r>
              <a:rPr lang="en-US" sz="1600" baseline="-25000" dirty="0"/>
              <a:t>c</a:t>
            </a:r>
            <a:r>
              <a:rPr lang="en-US" sz="1600" dirty="0"/>
              <a:t>(h) = min{c</a:t>
            </a:r>
            <a:r>
              <a:rPr lang="en-US" sz="1600" baseline="-25000" dirty="0"/>
              <a:t>bc,b</a:t>
            </a:r>
            <a:r>
              <a:rPr lang="en-US" sz="1600" dirty="0"/>
              <a:t>+D</a:t>
            </a:r>
            <a:r>
              <a:rPr lang="en-US" sz="1600" baseline="-25000" dirty="0"/>
              <a:t>b</a:t>
            </a:r>
            <a:r>
              <a:rPr lang="en-US" sz="1600" dirty="0"/>
              <a:t>(h)} = 1+ </a:t>
            </a:r>
            <a:r>
              <a:rPr lang="en-US" sz="1600" dirty="0">
                <a:cs typeface="Arial" charset="0"/>
              </a:rPr>
              <a:t>∞ = ∞ </a:t>
            </a:r>
            <a:endParaRPr lang="en-US" sz="1600" dirty="0"/>
          </a:p>
        </p:txBody>
      </p:sp>
      <p:sp>
        <p:nvSpPr>
          <p:cNvPr id="238" name="Down Arrow 237">
            <a:extLst>
              <a:ext uri="{FF2B5EF4-FFF2-40B4-BE49-F238E27FC236}">
                <a16:creationId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6704347" y="5410623"/>
            <a:ext cx="339615" cy="560629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c: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9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2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3068320" y="2194560"/>
            <a:ext cx="5598160" cy="16256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  <p:sp>
        <p:nvSpPr>
          <p:cNvPr id="178" name="TextBox 1">
            <a:extLst>
              <a:ext uri="{FF2B5EF4-FFF2-40B4-BE49-F238E27FC236}">
                <a16:creationId xmlns:a16="http://schemas.microsoft.com/office/drawing/2014/main" id="{864085B5-CC56-654B-9AEA-E4EFBB597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 dirty="0"/>
              <a:t>* Check out the online interactive exercises for more examples: h</a:t>
            </a:r>
            <a:r>
              <a:rPr lang="en-US" sz="1200" dirty="0"/>
              <a:t>ttp://gaia.cs.umass.edu/kurose_ross/interactive/</a:t>
            </a:r>
          </a:p>
        </p:txBody>
      </p:sp>
    </p:spTree>
    <p:extLst>
      <p:ext uri="{BB962C8B-B14F-4D97-AF65-F5344CB8AC3E}">
        <p14:creationId xmlns:p14="http://schemas.microsoft.com/office/powerpoint/2010/main" val="2877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3.7037E-7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9" y="-2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4" y="174028"/>
            <a:ext cx="10893427" cy="894622"/>
          </a:xfrm>
        </p:spPr>
        <p:txBody>
          <a:bodyPr/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Network Layer: 5-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6530326" y="2129120"/>
            <a:ext cx="0" cy="3863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4598770" y="4060675"/>
            <a:ext cx="38631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919556" y="1995948"/>
            <a:ext cx="0" cy="196031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400"/>
                    </a:spcAft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(f)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(g)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(h)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</a:p>
                <a:p>
                  <a:pPr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(i)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(a) = 8</a:t>
                  </a:r>
                  <a:endParaRPr lang="en-US" sz="1600" dirty="0">
                    <a:cs typeface="Arial" charset="0"/>
                  </a:endParaRPr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(c)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(d) =</a:t>
                  </a:r>
                  <a:r>
                    <a:rPr lang="en-US" sz="1600" dirty="0">
                      <a:cs typeface="Arial" charset="0"/>
                    </a:rPr>
                    <a:t> ∞</a:t>
                  </a:r>
                  <a:endParaRPr lang="en-US" sz="1600" dirty="0"/>
                </a:p>
                <a:p>
                  <a:pPr marL="114300" lvl="1">
                    <a:lnSpc>
                      <a:spcPct val="90000"/>
                    </a:lnSpc>
                  </a:pPr>
                  <a:r>
                    <a:rPr lang="en-US" sz="1600" dirty="0"/>
                    <a:t>D</a:t>
                  </a:r>
                  <a:r>
                    <a:rPr lang="en-US" sz="1600" baseline="-25000" dirty="0"/>
                    <a:t>b</a:t>
                  </a:r>
                  <a:r>
                    <a:rPr lang="en-US" sz="1600" dirty="0"/>
                    <a:t>(e) =</a:t>
                  </a:r>
                  <a:r>
                    <a:rPr lang="en-US" sz="1600" dirty="0">
                      <a:cs typeface="Arial" charset="0"/>
                    </a:rPr>
                    <a:t> 1</a:t>
                  </a:r>
                  <a:endParaRPr lang="en-US" sz="16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dirty="0"/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b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c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6774755" y="1106458"/>
            <a:ext cx="2967758" cy="3014570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8446236" y="3874156"/>
            <a:ext cx="1239192" cy="2428567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f: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2000" dirty="0">
                  <a:solidFill>
                    <a:schemeClr val="bg1"/>
                  </a:solidFill>
                </a:rPr>
                <a:t>DV in e: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(a) =</a:t>
              </a:r>
              <a:r>
                <a:rPr lang="en-US" sz="1600" dirty="0">
                  <a:cs typeface="Arial" charset="0"/>
                </a:rPr>
                <a:t> ∞</a:t>
              </a:r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(b)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(c)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(d) =</a:t>
              </a:r>
              <a:r>
                <a:rPr lang="en-US" sz="1600" dirty="0">
                  <a:cs typeface="Arial" charset="0"/>
                </a:rPr>
                <a:t> 1</a:t>
              </a:r>
            </a:p>
            <a:p>
              <a:pPr marL="114300" lvl="1"/>
              <a:r>
                <a:rPr lang="en-US" sz="1600" dirty="0">
                  <a:cs typeface="Arial" charset="0"/>
                </a:rPr>
                <a:t>D</a:t>
              </a:r>
              <a:r>
                <a:rPr lang="en-US" sz="1600" baseline="-25000" dirty="0">
                  <a:cs typeface="Arial" charset="0"/>
                </a:rPr>
                <a:t>e</a:t>
              </a:r>
              <a:r>
                <a:rPr lang="en-US" sz="1600" dirty="0">
                  <a:cs typeface="Arial" charset="0"/>
                </a:rPr>
                <a:t>(e) = 0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(f)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(g)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  <a:p>
              <a:pPr marL="114300" lvl="1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(h) =</a:t>
              </a:r>
              <a:r>
                <a:rPr lang="en-US" sz="1600" dirty="0">
                  <a:cs typeface="Arial" charset="0"/>
                </a:rPr>
                <a:t> 1</a:t>
              </a:r>
              <a:endParaRPr lang="en-US" sz="1600" dirty="0"/>
            </a:p>
            <a:p>
              <a:pPr marL="114300"/>
              <a:r>
                <a:rPr lang="en-US" sz="1600" dirty="0"/>
                <a:t>D</a:t>
              </a:r>
              <a:r>
                <a:rPr lang="en-US" sz="1600" baseline="-25000" dirty="0"/>
                <a:t>e</a:t>
              </a:r>
              <a:r>
                <a:rPr lang="en-US" sz="1600" dirty="0"/>
                <a:t>(i) =</a:t>
              </a:r>
              <a:r>
                <a:rPr lang="en-US" sz="1600" dirty="0">
                  <a:cs typeface="Arial" charset="0"/>
                </a:rPr>
                <a:t> ∞</a:t>
              </a:r>
              <a:endParaRPr lang="en-US" sz="1600" dirty="0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2595648" y="4070637"/>
            <a:ext cx="1149458" cy="2667397"/>
            <a:chOff x="9764348" y="1447800"/>
            <a:chExt cx="1149458" cy="2667397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h: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∞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2544848" y="1246157"/>
            <a:ext cx="1149458" cy="2667397"/>
            <a:chOff x="9764348" y="1447800"/>
            <a:chExt cx="1149458" cy="2667397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400"/>
                  </a:spcAft>
                </a:pPr>
                <a:r>
                  <a:rPr lang="en-US" sz="2000" dirty="0">
                    <a:solidFill>
                      <a:schemeClr val="bg1"/>
                    </a:solidFill>
                  </a:rPr>
                  <a:t>DV in d: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(a) =</a:t>
                </a:r>
                <a:r>
                  <a:rPr lang="en-US" sz="1600" dirty="0">
                    <a:cs typeface="Arial" charset="0"/>
                  </a:rPr>
                  <a:t>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(b)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 lvl="1"/>
                <a:r>
                  <a:rPr lang="en-US" sz="1600" dirty="0">
                    <a:cs typeface="Arial" charset="0"/>
                  </a:rPr>
                  <a:t>D</a:t>
                </a:r>
                <a:r>
                  <a:rPr lang="en-US" sz="1600" baseline="-25000" dirty="0">
                    <a:cs typeface="Arial" charset="0"/>
                  </a:rPr>
                  <a:t>c</a:t>
                </a:r>
                <a:r>
                  <a:rPr lang="en-US" sz="1600" dirty="0">
                    <a:cs typeface="Arial" charset="0"/>
                  </a:rPr>
                  <a:t>(c) = ∞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(d) =</a:t>
                </a:r>
                <a:r>
                  <a:rPr lang="en-US" sz="1600" dirty="0">
                    <a:cs typeface="Arial" charset="0"/>
                  </a:rPr>
                  <a:t> 0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(e) =</a:t>
                </a:r>
                <a:r>
                  <a:rPr lang="en-US" sz="1600" dirty="0">
                    <a:cs typeface="Arial" charset="0"/>
                  </a:rPr>
                  <a:t> 1</a:t>
                </a:r>
                <a:endParaRPr lang="en-US" sz="1600" dirty="0"/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(f) =</a:t>
                </a:r>
                <a:r>
                  <a:rPr lang="en-US" sz="1600" dirty="0">
                    <a:cs typeface="Arial" charset="0"/>
                  </a:rPr>
                  <a:t> ∞ </a:t>
                </a:r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(g) = 1</a:t>
                </a:r>
              </a:p>
              <a:p>
                <a:pPr marL="114300" lvl="1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(h)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  <a:p>
                <a:pPr marL="114300"/>
                <a:r>
                  <a:rPr lang="en-US" sz="1600" dirty="0"/>
                  <a:t>D</a:t>
                </a:r>
                <a:r>
                  <a:rPr lang="en-US" sz="1600" baseline="-25000" dirty="0"/>
                  <a:t>c</a:t>
                </a:r>
                <a:r>
                  <a:rPr lang="en-US" sz="1600" dirty="0"/>
                  <a:t>(i) =</a:t>
                </a:r>
                <a:r>
                  <a:rPr lang="en-US" sz="1600" dirty="0">
                    <a:cs typeface="Arial" charset="0"/>
                  </a:rPr>
                  <a:t> ∞</a:t>
                </a:r>
                <a:endParaRPr lang="en-US" sz="1600" dirty="0"/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3677920" y="1280160"/>
            <a:ext cx="853440" cy="282448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d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e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f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3728720" y="4114800"/>
            <a:ext cx="2722880" cy="256032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g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h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i</a:t>
                  </a: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Q: what is new DV computed in e at </a:t>
            </a:r>
            <a:r>
              <a:rPr lang="en-US" i="1" dirty="0">
                <a:solidFill>
                  <a:schemeClr val="tx1"/>
                </a:solidFill>
              </a:rPr>
              <a:t>t=1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6297558" y="3456041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7" name="Right Arrow 256">
            <a:extLst>
              <a:ext uri="{FF2B5EF4-FFF2-40B4-BE49-F238E27FC236}">
                <a16:creationId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6312308" y="4454022"/>
            <a:ext cx="639100" cy="157317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Right Arrow 257">
            <a:extLst>
              <a:ext uri="{FF2B5EF4-FFF2-40B4-BE49-F238E27FC236}">
                <a16:creationId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5651998" y="3904611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73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25" y="174028"/>
            <a:ext cx="10515600" cy="894622"/>
          </a:xfrm>
        </p:spPr>
        <p:txBody>
          <a:bodyPr/>
          <a:lstStyle/>
          <a:p>
            <a:r>
              <a:rPr lang="en-US" dirty="0"/>
              <a:t>Distance vector: state information diffusion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48046A-DD40-6A4F-8F87-08D248221920}"/>
              </a:ext>
            </a:extLst>
          </p:cNvPr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71DC03-A8D0-9F43-86C4-B8B21FDE2F62}"/>
                </a:ext>
              </a:extLst>
            </p:cNvPr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8F628B2-E287-644F-9022-BD27AE29D1B1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t=0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3F3C31-C52A-4144-B3DB-177678E48211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7BA58CB-2477-BE4F-97AD-F6234ACEAEAE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83B3BF1-2FE7-D941-8F17-F53DF698D3D4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809C848E-61D7-604B-904F-F46B1F70915E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6E443275-F9DD-D04E-8D60-BAD1DFBA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A40FE45-C3D5-8644-80E7-3A6FF3B0D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92626E3-5D76-4747-8F59-14CDEC813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4BE49970-1DAF-8145-AC4C-92BBC982E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1D7190C8-8824-E245-88FF-07416CD84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B93D5913-A28D-6F4C-84E5-4BFBB5E9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0DAC6B31-B886-0043-8195-9BFF5909E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E8501E0-4894-EB46-9A8C-90438C4B4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7D05F761-1E2D-D242-8145-FA6CB5216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E8E9805E-BE5E-D841-AC71-C07001BD4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FC54B5C3-6CE5-0444-91FF-053BF6CE589C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FFD0838-0271-4340-8F0B-74EF50011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4533" y="2230033"/>
                  <a:ext cx="0" cy="111727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8F6DEF-668E-5841-A6A2-B63A0C4711C1}"/>
                </a:ext>
              </a:extLst>
            </p:cNvPr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is at c only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1B072-C45E-D04F-867D-0453E060BFC1}"/>
              </a:ext>
            </a:extLst>
          </p:cNvPr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74B35E8-95B6-B946-8240-59B747B607B3}"/>
                </a:ext>
              </a:extLst>
            </p:cNvPr>
            <p:cNvCxnSpPr>
              <a:cxnSpLocks/>
              <a:stCxn id="76" idx="2"/>
              <a:endCxn id="76" idx="0"/>
            </p:cNvCxnSpPr>
            <p:nvPr/>
          </p:nvCxnSpPr>
          <p:spPr>
            <a:xfrm flipV="1">
              <a:off x="9141446" y="2037680"/>
              <a:ext cx="0" cy="3863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E34EA38-AB93-704A-ACF2-764D62663226}"/>
                </a:ext>
              </a:extLst>
            </p:cNvPr>
            <p:cNvCxnSpPr>
              <a:cxnSpLocks/>
              <a:stCxn id="76" idx="1"/>
              <a:endCxn id="76" idx="3"/>
            </p:cNvCxnSpPr>
            <p:nvPr/>
          </p:nvCxnSpPr>
          <p:spPr>
            <a:xfrm>
              <a:off x="7209890" y="3969235"/>
              <a:ext cx="38631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69888C-5E10-3E40-BC1D-A5D0DB850712}"/>
                </a:ext>
              </a:extLst>
            </p:cNvPr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B39BACF-E4D1-6641-8B8C-0274EDEFA113}"/>
                </a:ext>
              </a:extLst>
            </p:cNvPr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4BFA757-E5EA-9A42-8A16-AA2091E708C8}"/>
                </a:ext>
              </a:extLst>
            </p:cNvPr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600795BD-C1B6-1748-B28A-001A8505BE86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CE81AFB3-2346-434C-A463-93F9C295562A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9" name="Oval 5">
                    <a:extLst>
                      <a:ext uri="{FF2B5EF4-FFF2-40B4-BE49-F238E27FC236}">
                        <a16:creationId xmlns:a16="http://schemas.microsoft.com/office/drawing/2014/main" id="{7918ED2E-E380-6C4E-86AA-0BF9D7614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Line 6">
                    <a:extLst>
                      <a:ext uri="{FF2B5EF4-FFF2-40B4-BE49-F238E27FC236}">
                        <a16:creationId xmlns:a16="http://schemas.microsoft.com/office/drawing/2014/main" id="{45F96407-8127-654C-9C52-5B6269075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1" name="Line 7">
                    <a:extLst>
                      <a:ext uri="{FF2B5EF4-FFF2-40B4-BE49-F238E27FC236}">
                        <a16:creationId xmlns:a16="http://schemas.microsoft.com/office/drawing/2014/main" id="{F1C01DA2-272A-CD4F-87F1-779C30F355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2" name="Rectangle 8">
                    <a:extLst>
                      <a:ext uri="{FF2B5EF4-FFF2-40B4-BE49-F238E27FC236}">
                        <a16:creationId xmlns:a16="http://schemas.microsoft.com/office/drawing/2014/main" id="{7969C970-9697-A847-B375-82D629934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3" name="Oval 9">
                    <a:extLst>
                      <a:ext uri="{FF2B5EF4-FFF2-40B4-BE49-F238E27FC236}">
                        <a16:creationId xmlns:a16="http://schemas.microsoft.com/office/drawing/2014/main" id="{F8D02D26-0EA1-FD40-AD1F-E4E8635F47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06" name="Group 44">
                  <a:extLst>
                    <a:ext uri="{FF2B5EF4-FFF2-40B4-BE49-F238E27FC236}">
                      <a16:creationId xmlns:a16="http://schemas.microsoft.com/office/drawing/2014/main" id="{02C0B744-445A-A04E-812A-2D60476C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207" name="Rectangle 45">
                    <a:extLst>
                      <a:ext uri="{FF2B5EF4-FFF2-40B4-BE49-F238E27FC236}">
                        <a16:creationId xmlns:a16="http://schemas.microsoft.com/office/drawing/2014/main" id="{83E6E4B2-940F-B749-91D8-19B033341D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Text Box 46">
                    <a:extLst>
                      <a:ext uri="{FF2B5EF4-FFF2-40B4-BE49-F238E27FC236}">
                        <a16:creationId xmlns:a16="http://schemas.microsoft.com/office/drawing/2014/main" id="{16D546E0-A23E-174D-8F0D-BFB691AF1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g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4A0F8A7-FCD0-9A45-80B9-24CC78B561FE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18AECA76-7F06-F84A-928B-C13839D9F43F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0" name="Oval 5">
                    <a:extLst>
                      <a:ext uri="{FF2B5EF4-FFF2-40B4-BE49-F238E27FC236}">
                        <a16:creationId xmlns:a16="http://schemas.microsoft.com/office/drawing/2014/main" id="{04917013-CC10-D043-8A71-34F248130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1" name="Line 6">
                    <a:extLst>
                      <a:ext uri="{FF2B5EF4-FFF2-40B4-BE49-F238E27FC236}">
                        <a16:creationId xmlns:a16="http://schemas.microsoft.com/office/drawing/2014/main" id="{7E7DEF49-D295-8547-9FE7-8CBB42CEB8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2" name="Line 7">
                    <a:extLst>
                      <a:ext uri="{FF2B5EF4-FFF2-40B4-BE49-F238E27FC236}">
                        <a16:creationId xmlns:a16="http://schemas.microsoft.com/office/drawing/2014/main" id="{5633B25D-6786-5A4A-A44E-E4A1EE357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3" name="Rectangle 8">
                    <a:extLst>
                      <a:ext uri="{FF2B5EF4-FFF2-40B4-BE49-F238E27FC236}">
                        <a16:creationId xmlns:a16="http://schemas.microsoft.com/office/drawing/2014/main" id="{968E012E-E513-8340-9324-11A79B223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Oval 9">
                    <a:extLst>
                      <a:ext uri="{FF2B5EF4-FFF2-40B4-BE49-F238E27FC236}">
                        <a16:creationId xmlns:a16="http://schemas.microsoft.com/office/drawing/2014/main" id="{7AFB2A7E-90B7-454F-BABB-E2A39AC7C9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97" name="Group 44">
                  <a:extLst>
                    <a:ext uri="{FF2B5EF4-FFF2-40B4-BE49-F238E27FC236}">
                      <a16:creationId xmlns:a16="http://schemas.microsoft.com/office/drawing/2014/main" id="{5567606D-D82D-2A4D-A3C8-A7D0703B3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198" name="Rectangle 45">
                    <a:extLst>
                      <a:ext uri="{FF2B5EF4-FFF2-40B4-BE49-F238E27FC236}">
                        <a16:creationId xmlns:a16="http://schemas.microsoft.com/office/drawing/2014/main" id="{39206D20-AD6D-3242-8865-2C6680CB41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E3BB3556-A335-984F-978A-FECE515B6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h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B620D34-7BA8-EF49-AC1C-93F5BBC84AEC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6C2F80D-43A1-5746-B518-C0C4F1A20ACD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191" name="Oval 5">
                    <a:extLst>
                      <a:ext uri="{FF2B5EF4-FFF2-40B4-BE49-F238E27FC236}">
                        <a16:creationId xmlns:a16="http://schemas.microsoft.com/office/drawing/2014/main" id="{442E1AFF-BC2C-C849-85D1-13E42B701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2" name="Line 6">
                    <a:extLst>
                      <a:ext uri="{FF2B5EF4-FFF2-40B4-BE49-F238E27FC236}">
                        <a16:creationId xmlns:a16="http://schemas.microsoft.com/office/drawing/2014/main" id="{C2994154-DB6D-E247-8511-C6FE8D966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3" name="Line 7">
                    <a:extLst>
                      <a:ext uri="{FF2B5EF4-FFF2-40B4-BE49-F238E27FC236}">
                        <a16:creationId xmlns:a16="http://schemas.microsoft.com/office/drawing/2014/main" id="{C730A3ED-5222-5348-831E-092DE7D6C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4" name="Rectangle 8">
                    <a:extLst>
                      <a:ext uri="{FF2B5EF4-FFF2-40B4-BE49-F238E27FC236}">
                        <a16:creationId xmlns:a16="http://schemas.microsoft.com/office/drawing/2014/main" id="{BED424F7-1928-5F41-831D-417161F22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5" name="Oval 9">
                    <a:extLst>
                      <a:ext uri="{FF2B5EF4-FFF2-40B4-BE49-F238E27FC236}">
                        <a16:creationId xmlns:a16="http://schemas.microsoft.com/office/drawing/2014/main" id="{76DDF5F9-ACB7-E642-ACEA-223EE2F5F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88" name="Group 44">
                  <a:extLst>
                    <a:ext uri="{FF2B5EF4-FFF2-40B4-BE49-F238E27FC236}">
                      <a16:creationId xmlns:a16="http://schemas.microsoft.com/office/drawing/2014/main" id="{495DC56F-8C0E-6549-849D-6D43F4F8B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189" name="Rectangle 45">
                    <a:extLst>
                      <a:ext uri="{FF2B5EF4-FFF2-40B4-BE49-F238E27FC236}">
                        <a16:creationId xmlns:a16="http://schemas.microsoft.com/office/drawing/2014/main" id="{892DBBAB-E011-FD4A-BA7E-105CEF9075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0" name="Text Box 46">
                    <a:extLst>
                      <a:ext uri="{FF2B5EF4-FFF2-40B4-BE49-F238E27FC236}">
                        <a16:creationId xmlns:a16="http://schemas.microsoft.com/office/drawing/2014/main" id="{173A4036-1DC3-BD4D-9E66-D9BC48C58B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i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4A89238-377F-A840-BB03-52D53CBBC3F3}"/>
                </a:ext>
              </a:extLst>
            </p:cNvPr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D3F7215-9DE8-0542-8CCA-A9CEDC8717E2}"/>
                </a:ext>
              </a:extLst>
            </p:cNvPr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C342D48-14A2-BA4E-A191-060C4177F678}"/>
                </a:ext>
              </a:extLst>
            </p:cNvPr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9336A94-9BC9-8F41-95A7-69E18360DF3D}"/>
                </a:ext>
              </a:extLst>
            </p:cNvPr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11EFAA3-3025-6E40-9F7B-8AEC8E44C52D}"/>
                </a:ext>
              </a:extLst>
            </p:cNvPr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ECDCBF1-5ACC-CF43-B981-907337945BA2}"/>
                </a:ext>
              </a:extLst>
            </p:cNvPr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DD32315-0DAF-354B-ADE2-76F406D6A871}"/>
                </a:ext>
              </a:extLst>
            </p:cNvPr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5B3E8DA-82E1-B746-9524-A8B47546C7B7}"/>
                </a:ext>
              </a:extLst>
            </p:cNvPr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1516E14-40A2-B34F-B880-05B80B68D6FC}"/>
                </a:ext>
              </a:extLst>
            </p:cNvPr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174059A-E895-E740-9A26-AA7943E4A64F}"/>
                </a:ext>
              </a:extLst>
            </p:cNvPr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8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7510488-7C59-7449-A4EE-C5A32BFCB3A5}"/>
                </a:ext>
              </a:extLst>
            </p:cNvPr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032" name="Right Arrow 1031">
              <a:extLst>
                <a:ext uri="{FF2B5EF4-FFF2-40B4-BE49-F238E27FC236}">
                  <a16:creationId xmlns:a16="http://schemas.microsoft.com/office/drawing/2014/main" id="{48701230-5EB3-4E4B-BEE9-CAD81136ECFC}"/>
                </a:ext>
              </a:extLst>
            </p:cNvPr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7" name="Right Arrow 266">
              <a:extLst>
                <a:ext uri="{FF2B5EF4-FFF2-40B4-BE49-F238E27FC236}">
                  <a16:creationId xmlns:a16="http://schemas.microsoft.com/office/drawing/2014/main" id="{39C7E016-9840-8340-9D5C-7C9BC5953296}"/>
                </a:ext>
              </a:extLst>
            </p:cNvPr>
            <p:cNvSpPr/>
            <p:nvPr/>
          </p:nvSpPr>
          <p:spPr>
            <a:xfrm rot="16200000">
              <a:off x="7006137" y="337934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8" name="Right Arrow 267">
              <a:extLst>
                <a:ext uri="{FF2B5EF4-FFF2-40B4-BE49-F238E27FC236}">
                  <a16:creationId xmlns:a16="http://schemas.microsoft.com/office/drawing/2014/main" id="{0E4D6E8C-7EAB-9E44-AEFC-4FA875BCA32C}"/>
                </a:ext>
              </a:extLst>
            </p:cNvPr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ight Arrow 268">
              <a:extLst>
                <a:ext uri="{FF2B5EF4-FFF2-40B4-BE49-F238E27FC236}">
                  <a16:creationId xmlns:a16="http://schemas.microsoft.com/office/drawing/2014/main" id="{F17D421F-D0A1-B94A-8B49-27953D5C8366}"/>
                </a:ext>
              </a:extLst>
            </p:cNvPr>
            <p:cNvSpPr/>
            <p:nvPr/>
          </p:nvSpPr>
          <p:spPr>
            <a:xfrm rot="16200000">
              <a:off x="8908678" y="3364601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0" name="Right Arrow 269">
              <a:extLst>
                <a:ext uri="{FF2B5EF4-FFF2-40B4-BE49-F238E27FC236}">
                  <a16:creationId xmlns:a16="http://schemas.microsoft.com/office/drawing/2014/main" id="{C0BFDAF2-0356-354B-8B44-188593FB5A37}"/>
                </a:ext>
              </a:extLst>
            </p:cNvPr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1" name="Right Arrow 270">
              <a:extLst>
                <a:ext uri="{FF2B5EF4-FFF2-40B4-BE49-F238E27FC236}">
                  <a16:creationId xmlns:a16="http://schemas.microsoft.com/office/drawing/2014/main" id="{112F6083-F42A-6740-A147-C25BA92606DD}"/>
                </a:ext>
              </a:extLst>
            </p:cNvPr>
            <p:cNvSpPr/>
            <p:nvPr/>
          </p:nvSpPr>
          <p:spPr>
            <a:xfrm rot="16200000">
              <a:off x="6976639" y="527697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2" name="Right Arrow 271">
              <a:extLst>
                <a:ext uri="{FF2B5EF4-FFF2-40B4-BE49-F238E27FC236}">
                  <a16:creationId xmlns:a16="http://schemas.microsoft.com/office/drawing/2014/main" id="{D340F2D5-4C4A-D441-99F4-FD489A89E6ED}"/>
                </a:ext>
              </a:extLst>
            </p:cNvPr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3" name="Right Arrow 272">
              <a:extLst>
                <a:ext uri="{FF2B5EF4-FFF2-40B4-BE49-F238E27FC236}">
                  <a16:creationId xmlns:a16="http://schemas.microsoft.com/office/drawing/2014/main" id="{487BF544-1248-5D4C-B9E4-2B3ACA80EA1C}"/>
                </a:ext>
              </a:extLst>
            </p:cNvPr>
            <p:cNvSpPr/>
            <p:nvPr/>
          </p:nvSpPr>
          <p:spPr>
            <a:xfrm rot="16200000">
              <a:off x="8918512" y="5272066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4" name="Right Arrow 273">
              <a:extLst>
                <a:ext uri="{FF2B5EF4-FFF2-40B4-BE49-F238E27FC236}">
                  <a16:creationId xmlns:a16="http://schemas.microsoft.com/office/drawing/2014/main" id="{0DF6A182-C1F7-C14D-900B-3242DA6B4D96}"/>
                </a:ext>
              </a:extLst>
            </p:cNvPr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5" name="Right Arrow 274">
              <a:extLst>
                <a:ext uri="{FF2B5EF4-FFF2-40B4-BE49-F238E27FC236}">
                  <a16:creationId xmlns:a16="http://schemas.microsoft.com/office/drawing/2014/main" id="{EEAD3E84-70CC-2A46-87CC-F69A6D50ED35}"/>
                </a:ext>
              </a:extLst>
            </p:cNvPr>
            <p:cNvSpPr/>
            <p:nvPr/>
          </p:nvSpPr>
          <p:spPr>
            <a:xfrm rot="16200000">
              <a:off x="10860385" y="526715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9" name="Right Arrow 278">
              <a:extLst>
                <a:ext uri="{FF2B5EF4-FFF2-40B4-BE49-F238E27FC236}">
                  <a16:creationId xmlns:a16="http://schemas.microsoft.com/office/drawing/2014/main" id="{A7B19411-E5F9-AC49-9C67-23093CF98D95}"/>
                </a:ext>
              </a:extLst>
            </p:cNvPr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0" name="Right Arrow 279">
              <a:extLst>
                <a:ext uri="{FF2B5EF4-FFF2-40B4-BE49-F238E27FC236}">
                  <a16:creationId xmlns:a16="http://schemas.microsoft.com/office/drawing/2014/main" id="{19CD2293-67D5-3048-9FAC-78E0AEE8C310}"/>
                </a:ext>
              </a:extLst>
            </p:cNvPr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665C0C8-7FDD-0A42-80A3-CC602804C042}"/>
                </a:ext>
              </a:extLst>
            </p:cNvPr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4C02DC92-2A83-AC4D-B9F0-2BCDE917BDB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F01EB862-010E-A34F-8D39-25BC2BED2A6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9" name="Oval 5">
                    <a:extLst>
                      <a:ext uri="{FF2B5EF4-FFF2-40B4-BE49-F238E27FC236}">
                        <a16:creationId xmlns:a16="http://schemas.microsoft.com/office/drawing/2014/main" id="{C2A61603-05BC-1E4D-99AA-0AB1CC4947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0" name="Line 6">
                    <a:extLst>
                      <a:ext uri="{FF2B5EF4-FFF2-40B4-BE49-F238E27FC236}">
                        <a16:creationId xmlns:a16="http://schemas.microsoft.com/office/drawing/2014/main" id="{7043DA0E-702D-CD4E-BA28-9341275851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CE93F761-782C-C640-B2B6-8CA7492B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2" name="Rectangle 8">
                    <a:extLst>
                      <a:ext uri="{FF2B5EF4-FFF2-40B4-BE49-F238E27FC236}">
                        <a16:creationId xmlns:a16="http://schemas.microsoft.com/office/drawing/2014/main" id="{723858D6-68CF-1C4E-A28B-A9FF5D728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3" name="Oval 9">
                    <a:extLst>
                      <a:ext uri="{FF2B5EF4-FFF2-40B4-BE49-F238E27FC236}">
                        <a16:creationId xmlns:a16="http://schemas.microsoft.com/office/drawing/2014/main" id="{70A7292E-FC97-924B-9010-8079BEC62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06" name="Group 44">
                  <a:extLst>
                    <a:ext uri="{FF2B5EF4-FFF2-40B4-BE49-F238E27FC236}">
                      <a16:creationId xmlns:a16="http://schemas.microsoft.com/office/drawing/2014/main" id="{DA3B2173-D171-E340-B704-06A3FE481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07" name="Rectangle 45">
                    <a:extLst>
                      <a:ext uri="{FF2B5EF4-FFF2-40B4-BE49-F238E27FC236}">
                        <a16:creationId xmlns:a16="http://schemas.microsoft.com/office/drawing/2014/main" id="{A7CA85B6-08AA-4840-AE2B-A3321A49B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68812F5E-7A92-7B45-BBDE-2068A3A134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d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E3B07EB-D89E-C542-85F0-D68A3698AEC4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CE2D511A-9878-0E42-B4E3-97548A8A67A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0" name="Oval 5">
                    <a:extLst>
                      <a:ext uri="{FF2B5EF4-FFF2-40B4-BE49-F238E27FC236}">
                        <a16:creationId xmlns:a16="http://schemas.microsoft.com/office/drawing/2014/main" id="{C66E96DA-F1B1-9A41-8B0D-2F21B3B7AC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1" name="Line 6">
                    <a:extLst>
                      <a:ext uri="{FF2B5EF4-FFF2-40B4-BE49-F238E27FC236}">
                        <a16:creationId xmlns:a16="http://schemas.microsoft.com/office/drawing/2014/main" id="{A2387D1F-7EF0-9443-8128-6FF284EC9A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2" name="Line 7">
                    <a:extLst>
                      <a:ext uri="{FF2B5EF4-FFF2-40B4-BE49-F238E27FC236}">
                        <a16:creationId xmlns:a16="http://schemas.microsoft.com/office/drawing/2014/main" id="{4B183F70-EB28-A94F-BF31-54B939F6B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3" name="Rectangle 8">
                    <a:extLst>
                      <a:ext uri="{FF2B5EF4-FFF2-40B4-BE49-F238E27FC236}">
                        <a16:creationId xmlns:a16="http://schemas.microsoft.com/office/drawing/2014/main" id="{84BE29FD-A805-D348-99C3-8D3C650618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Oval 9">
                    <a:extLst>
                      <a:ext uri="{FF2B5EF4-FFF2-40B4-BE49-F238E27FC236}">
                        <a16:creationId xmlns:a16="http://schemas.microsoft.com/office/drawing/2014/main" id="{BF5D685A-16D6-5B40-9EEF-970D3CDCE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97" name="Group 44">
                  <a:extLst>
                    <a:ext uri="{FF2B5EF4-FFF2-40B4-BE49-F238E27FC236}">
                      <a16:creationId xmlns:a16="http://schemas.microsoft.com/office/drawing/2014/main" id="{058B095B-B9C0-F84A-B78C-FE9DCA729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298" name="Rectangle 45">
                    <a:extLst>
                      <a:ext uri="{FF2B5EF4-FFF2-40B4-BE49-F238E27FC236}">
                        <a16:creationId xmlns:a16="http://schemas.microsoft.com/office/drawing/2014/main" id="{7FBA9119-2A14-E84A-A39B-55E9D6AE9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9" name="Text Box 46">
                    <a:extLst>
                      <a:ext uri="{FF2B5EF4-FFF2-40B4-BE49-F238E27FC236}">
                        <a16:creationId xmlns:a16="http://schemas.microsoft.com/office/drawing/2014/main" id="{2944FA12-D5D2-E241-A9FC-D4A85A350D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e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B9D4EE61-1CC1-6D4C-822D-300C73469B48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75D4F492-E56A-6541-9F9D-1D85B09999F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91" name="Oval 5">
                    <a:extLst>
                      <a:ext uri="{FF2B5EF4-FFF2-40B4-BE49-F238E27FC236}">
                        <a16:creationId xmlns:a16="http://schemas.microsoft.com/office/drawing/2014/main" id="{190A087A-A659-3E4D-B4FE-1EA13D56B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2" name="Line 6">
                    <a:extLst>
                      <a:ext uri="{FF2B5EF4-FFF2-40B4-BE49-F238E27FC236}">
                        <a16:creationId xmlns:a16="http://schemas.microsoft.com/office/drawing/2014/main" id="{E7E9FE4A-5449-D244-A5A8-DEB5E1D84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3" name="Line 7">
                    <a:extLst>
                      <a:ext uri="{FF2B5EF4-FFF2-40B4-BE49-F238E27FC236}">
                        <a16:creationId xmlns:a16="http://schemas.microsoft.com/office/drawing/2014/main" id="{8C243F83-93B5-2C49-9D61-2E8E8652A4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4" name="Rectangle 8">
                    <a:extLst>
                      <a:ext uri="{FF2B5EF4-FFF2-40B4-BE49-F238E27FC236}">
                        <a16:creationId xmlns:a16="http://schemas.microsoft.com/office/drawing/2014/main" id="{B0B61A2E-99AA-324F-8224-CB0B3B440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5" name="Oval 9">
                    <a:extLst>
                      <a:ext uri="{FF2B5EF4-FFF2-40B4-BE49-F238E27FC236}">
                        <a16:creationId xmlns:a16="http://schemas.microsoft.com/office/drawing/2014/main" id="{2F485C77-8179-0B4E-B93A-E5C91296B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88" name="Group 44">
                  <a:extLst>
                    <a:ext uri="{FF2B5EF4-FFF2-40B4-BE49-F238E27FC236}">
                      <a16:creationId xmlns:a16="http://schemas.microsoft.com/office/drawing/2014/main" id="{0826EA6F-730D-8C47-8DDA-2C65DD671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289" name="Rectangle 45">
                    <a:extLst>
                      <a:ext uri="{FF2B5EF4-FFF2-40B4-BE49-F238E27FC236}">
                        <a16:creationId xmlns:a16="http://schemas.microsoft.com/office/drawing/2014/main" id="{C3E85E15-4F40-FF40-89C4-0E851470F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0" name="Text Box 46">
                    <a:extLst>
                      <a:ext uri="{FF2B5EF4-FFF2-40B4-BE49-F238E27FC236}">
                        <a16:creationId xmlns:a16="http://schemas.microsoft.com/office/drawing/2014/main" id="{1905E332-CD71-E748-AE06-2A274A0D7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f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17871C2-1731-FE43-944D-6364CCE85DA9}"/>
                </a:ext>
              </a:extLst>
            </p:cNvPr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8E7B419-D4D3-3A4B-86E1-D40C76B2BB2C}"/>
                  </a:ext>
                </a:extLst>
              </p:cNvPr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93705575-DDBD-3D44-B843-C77E28CEAAD2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40" name="Oval 5">
                    <a:extLst>
                      <a:ext uri="{FF2B5EF4-FFF2-40B4-BE49-F238E27FC236}">
                        <a16:creationId xmlns:a16="http://schemas.microsoft.com/office/drawing/2014/main" id="{AF888CEF-6837-CD45-809F-91550C92C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Line 6">
                    <a:extLst>
                      <a:ext uri="{FF2B5EF4-FFF2-40B4-BE49-F238E27FC236}">
                        <a16:creationId xmlns:a16="http://schemas.microsoft.com/office/drawing/2014/main" id="{4535759C-A65E-D84B-9508-03E1DC0B82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2" name="Line 7">
                    <a:extLst>
                      <a:ext uri="{FF2B5EF4-FFF2-40B4-BE49-F238E27FC236}">
                        <a16:creationId xmlns:a16="http://schemas.microsoft.com/office/drawing/2014/main" id="{FFA7BAB7-E53C-EC41-ACE7-66FCD86296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Rectangle 8">
                    <a:extLst>
                      <a:ext uri="{FF2B5EF4-FFF2-40B4-BE49-F238E27FC236}">
                        <a16:creationId xmlns:a16="http://schemas.microsoft.com/office/drawing/2014/main" id="{69E05203-3EC0-6447-8988-D4F7C2150F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4" name="Oval 9">
                    <a:extLst>
                      <a:ext uri="{FF2B5EF4-FFF2-40B4-BE49-F238E27FC236}">
                        <a16:creationId xmlns:a16="http://schemas.microsoft.com/office/drawing/2014/main" id="{D9043B05-A159-7D41-90D4-718D621EA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37" name="Group 44">
                  <a:extLst>
                    <a:ext uri="{FF2B5EF4-FFF2-40B4-BE49-F238E27FC236}">
                      <a16:creationId xmlns:a16="http://schemas.microsoft.com/office/drawing/2014/main" id="{230264F8-C92F-C344-8341-A92C3D105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338" name="Rectangle 45">
                    <a:extLst>
                      <a:ext uri="{FF2B5EF4-FFF2-40B4-BE49-F238E27FC236}">
                        <a16:creationId xmlns:a16="http://schemas.microsoft.com/office/drawing/2014/main" id="{F2B81453-DE5E-984D-B97A-6884B0BDD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Text Box 46">
                    <a:extLst>
                      <a:ext uri="{FF2B5EF4-FFF2-40B4-BE49-F238E27FC236}">
                        <a16:creationId xmlns:a16="http://schemas.microsoft.com/office/drawing/2014/main" id="{35E945F9-D699-744B-ACB7-587B2AA668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a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CE7BA36-0E22-4F41-B503-121F0E8FF751}"/>
                  </a:ext>
                </a:extLst>
              </p:cNvPr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ABA31A37-F3CD-1746-9C86-0557D36C540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31" name="Oval 5">
                    <a:extLst>
                      <a:ext uri="{FF2B5EF4-FFF2-40B4-BE49-F238E27FC236}">
                        <a16:creationId xmlns:a16="http://schemas.microsoft.com/office/drawing/2014/main" id="{39C9919B-E459-6946-BAB3-A266303D2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2" name="Line 6">
                    <a:extLst>
                      <a:ext uri="{FF2B5EF4-FFF2-40B4-BE49-F238E27FC236}">
                        <a16:creationId xmlns:a16="http://schemas.microsoft.com/office/drawing/2014/main" id="{61A62C09-3017-A541-9429-460C1A7F6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3" name="Line 7">
                    <a:extLst>
                      <a:ext uri="{FF2B5EF4-FFF2-40B4-BE49-F238E27FC236}">
                        <a16:creationId xmlns:a16="http://schemas.microsoft.com/office/drawing/2014/main" id="{86063EB7-D2C3-3447-B2FD-57FC1E74D3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4" name="Rectangle 8">
                    <a:extLst>
                      <a:ext uri="{FF2B5EF4-FFF2-40B4-BE49-F238E27FC236}">
                        <a16:creationId xmlns:a16="http://schemas.microsoft.com/office/drawing/2014/main" id="{BD5BCC42-3550-DF4A-BB55-F643AEBFD9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5" name="Oval 9">
                    <a:extLst>
                      <a:ext uri="{FF2B5EF4-FFF2-40B4-BE49-F238E27FC236}">
                        <a16:creationId xmlns:a16="http://schemas.microsoft.com/office/drawing/2014/main" id="{74611398-E647-494F-A7BD-186BB5CB5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28" name="Group 44">
                  <a:extLst>
                    <a:ext uri="{FF2B5EF4-FFF2-40B4-BE49-F238E27FC236}">
                      <a16:creationId xmlns:a16="http://schemas.microsoft.com/office/drawing/2014/main" id="{B57BC638-F090-114B-B8BF-7E2F4A6CC8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329" name="Rectangle 45">
                    <a:extLst>
                      <a:ext uri="{FF2B5EF4-FFF2-40B4-BE49-F238E27FC236}">
                        <a16:creationId xmlns:a16="http://schemas.microsoft.com/office/drawing/2014/main" id="{0F91A427-A1B7-A54C-8320-A92F425DF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0" name="Text Box 46">
                    <a:extLst>
                      <a:ext uri="{FF2B5EF4-FFF2-40B4-BE49-F238E27FC236}">
                        <a16:creationId xmlns:a16="http://schemas.microsoft.com/office/drawing/2014/main" id="{E600E15A-04DE-4F44-AD3B-D28403939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b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2EB87748-B820-0349-A8AC-FE8BBD55B257}"/>
                  </a:ext>
                </a:extLst>
              </p:cNvPr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EB6E4C7D-CDAA-7F47-A797-1E5FB2A8049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22" name="Oval 5">
                    <a:extLst>
                      <a:ext uri="{FF2B5EF4-FFF2-40B4-BE49-F238E27FC236}">
                        <a16:creationId xmlns:a16="http://schemas.microsoft.com/office/drawing/2014/main" id="{F9943B67-FB21-3647-869F-669BE6A72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Line 6">
                    <a:extLst>
                      <a:ext uri="{FF2B5EF4-FFF2-40B4-BE49-F238E27FC236}">
                        <a16:creationId xmlns:a16="http://schemas.microsoft.com/office/drawing/2014/main" id="{57CCD935-17C4-B04B-B482-9A946E848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4" name="Line 7">
                    <a:extLst>
                      <a:ext uri="{FF2B5EF4-FFF2-40B4-BE49-F238E27FC236}">
                        <a16:creationId xmlns:a16="http://schemas.microsoft.com/office/drawing/2014/main" id="{2FE8EAFF-CC53-364C-974F-2F913B960D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5" name="Rectangle 8">
                    <a:extLst>
                      <a:ext uri="{FF2B5EF4-FFF2-40B4-BE49-F238E27FC236}">
                        <a16:creationId xmlns:a16="http://schemas.microsoft.com/office/drawing/2014/main" id="{B25B691E-9E1D-1E4F-9419-91560138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6" name="Oval 9">
                    <a:extLst>
                      <a:ext uri="{FF2B5EF4-FFF2-40B4-BE49-F238E27FC236}">
                        <a16:creationId xmlns:a16="http://schemas.microsoft.com/office/drawing/2014/main" id="{9CB3B73F-9E39-EC4E-83F7-FBE106974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19" name="Group 44">
                  <a:extLst>
                    <a:ext uri="{FF2B5EF4-FFF2-40B4-BE49-F238E27FC236}">
                      <a16:creationId xmlns:a16="http://schemas.microsoft.com/office/drawing/2014/main" id="{0F42679C-ED56-BC45-8C82-597609DBD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320" name="Rectangle 45">
                    <a:extLst>
                      <a:ext uri="{FF2B5EF4-FFF2-40B4-BE49-F238E27FC236}">
                        <a16:creationId xmlns:a16="http://schemas.microsoft.com/office/drawing/2014/main" id="{CF557465-1C6C-1245-9762-D6D2D9F89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1" name="Text Box 46">
                    <a:extLst>
                      <a:ext uri="{FF2B5EF4-FFF2-40B4-BE49-F238E27FC236}">
                        <a16:creationId xmlns:a16="http://schemas.microsoft.com/office/drawing/2014/main" id="{CEEF1658-9381-E84D-81A0-1A501484FB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</a:rPr>
                      <a:t>c</a:t>
                    </a:r>
                    <a:endPara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</p:grpSp>
        </p:grpSp>
        <p:sp>
          <p:nvSpPr>
            <p:cNvPr id="346" name="Right Arrow 345">
              <a:extLst>
                <a:ext uri="{FF2B5EF4-FFF2-40B4-BE49-F238E27FC236}">
                  <a16:creationId xmlns:a16="http://schemas.microsoft.com/office/drawing/2014/main" id="{042BFE25-0F60-794A-B634-E33D42BAAD21}"/>
                </a:ext>
              </a:extLst>
            </p:cNvPr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7" name="Right Arrow 346">
              <a:extLst>
                <a:ext uri="{FF2B5EF4-FFF2-40B4-BE49-F238E27FC236}">
                  <a16:creationId xmlns:a16="http://schemas.microsoft.com/office/drawing/2014/main" id="{E9AE3BA5-DCA8-5D4F-A6D6-75EF46834F58}"/>
                </a:ext>
              </a:extLst>
            </p:cNvPr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8" name="Right Arrow 347">
              <a:extLst>
                <a:ext uri="{FF2B5EF4-FFF2-40B4-BE49-F238E27FC236}">
                  <a16:creationId xmlns:a16="http://schemas.microsoft.com/office/drawing/2014/main" id="{80E704B5-3D0B-2A41-AF24-0F438DFF3159}"/>
                </a:ext>
              </a:extLst>
            </p:cNvPr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9" name="Right Arrow 348">
              <a:extLst>
                <a:ext uri="{FF2B5EF4-FFF2-40B4-BE49-F238E27FC236}">
                  <a16:creationId xmlns:a16="http://schemas.microsoft.com/office/drawing/2014/main" id="{D96C2F6A-C449-3E42-9B4A-5B9F8178C165}"/>
                </a:ext>
              </a:extLst>
            </p:cNvPr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0" name="Right Arrow 349">
              <a:extLst>
                <a:ext uri="{FF2B5EF4-FFF2-40B4-BE49-F238E27FC236}">
                  <a16:creationId xmlns:a16="http://schemas.microsoft.com/office/drawing/2014/main" id="{39F8950B-5EB1-4B4E-A0EF-73943A219C7C}"/>
                </a:ext>
              </a:extLst>
            </p:cNvPr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1" name="Right Arrow 350">
              <a:extLst>
                <a:ext uri="{FF2B5EF4-FFF2-40B4-BE49-F238E27FC236}">
                  <a16:creationId xmlns:a16="http://schemas.microsoft.com/office/drawing/2014/main" id="{DF406DB6-2900-7C44-9860-A0ADA23E2211}"/>
                </a:ext>
              </a:extLst>
            </p:cNvPr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2" name="Right Arrow 351">
              <a:extLst>
                <a:ext uri="{FF2B5EF4-FFF2-40B4-BE49-F238E27FC236}">
                  <a16:creationId xmlns:a16="http://schemas.microsoft.com/office/drawing/2014/main" id="{EE34E15B-D663-B047-93CF-9B1CD724C0A5}"/>
                </a:ext>
              </a:extLst>
            </p:cNvPr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3" name="Right Arrow 352">
              <a:extLst>
                <a:ext uri="{FF2B5EF4-FFF2-40B4-BE49-F238E27FC236}">
                  <a16:creationId xmlns:a16="http://schemas.microsoft.com/office/drawing/2014/main" id="{C5E35028-9133-1F45-82D3-DD70357904CF}"/>
                </a:ext>
              </a:extLst>
            </p:cNvPr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4" name="Right Arrow 353">
              <a:extLst>
                <a:ext uri="{FF2B5EF4-FFF2-40B4-BE49-F238E27FC236}">
                  <a16:creationId xmlns:a16="http://schemas.microsoft.com/office/drawing/2014/main" id="{F9910D40-9F0B-7C47-BDEC-508FFA6BCFDB}"/>
                </a:ext>
              </a:extLst>
            </p:cNvPr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5" name="Right Arrow 354">
              <a:extLst>
                <a:ext uri="{FF2B5EF4-FFF2-40B4-BE49-F238E27FC236}">
                  <a16:creationId xmlns:a16="http://schemas.microsoft.com/office/drawing/2014/main" id="{EBB9FB89-D51A-8145-8D43-15C959806E3C}"/>
                </a:ext>
              </a:extLst>
            </p:cNvPr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68ED79-45E9-CC44-B576-3A4920C60B8F}"/>
              </a:ext>
            </a:extLst>
          </p:cNvPr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013F4FC-3576-324F-8772-2A46D8919E19}"/>
                </a:ext>
              </a:extLst>
            </p:cNvPr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has propagated to b, and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1 </a:t>
              </a:r>
              <a:r>
                <a:rPr lang="en-US" sz="2000" dirty="0"/>
                <a:t>hop away, i.e., at b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C85FCEB-E7DC-7842-AEE6-1D9E48843ECA}"/>
                </a:ext>
              </a:extLst>
            </p:cNvPr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407F663-7874-8D41-BE55-CD70E43CAAE6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t=1</a:t>
                </a:r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D10C9CF1-B1DD-6F42-885B-B1224B171A90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A14F8EC7-4938-634D-88A6-27EC87A14463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3F3DD7F-306B-3D46-AE49-582B347DD80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D6D1258-DA12-4840-A676-33406E4563DA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8DD9DF8-7B49-5040-BED5-AC02018D2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CA38E79-6C1B-9549-8167-C9C781F3B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86B83C6-0038-A94D-834B-A00389821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D78F8B0-C316-0041-915B-FB25693F9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E42BA2-10AD-E946-BA77-EF83F80D6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8433B2E-3D4E-FD4C-AD3F-71D749E26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31CF1464-DE43-084B-B680-06FDD203F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0C2A298-F7C7-A147-B7CC-505ED7BED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80612D4-C694-8D44-8E2C-5B9465014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B115B08-82E4-8C4F-9D79-C3FF1944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122EC6B-9D5B-B74E-A99F-E5FC3F4164C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DAD50CB-524A-0542-A559-A2229BF6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8079" y="2243337"/>
                  <a:ext cx="79786" cy="111123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B12BE9-3CB5-8E45-8113-CD53343E18C5}"/>
              </a:ext>
            </a:extLst>
          </p:cNvPr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4A7377A-3138-FC43-98BD-729D7EB7E64C}"/>
                </a:ext>
              </a:extLst>
            </p:cNvPr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now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2 </a:t>
              </a:r>
              <a:r>
                <a:rPr lang="en-US" sz="2000" dirty="0"/>
                <a:t>hops away, i.e., at b and now at a, e as well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931310F-8D34-744B-BD5D-8A0D55B151E8}"/>
                </a:ext>
              </a:extLst>
            </p:cNvPr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BF37831-78F3-2145-BEC9-369382FB29D9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t=2</a:t>
                </a: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4A612D2D-6486-C04A-B754-CA873108FA46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F369F45-D988-6D4C-BE05-2D0E19677FB1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3E3A523-360B-B445-8C29-43304BEAB275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B6FDD0F-15D4-0B4C-BA8E-3B601550C3D3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C142B1FE-E468-1A40-8C49-B1EC401AF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38E6D6E-02A7-E944-9182-7EE53565A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18C75D3D-2BDE-2746-B977-14408BECB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07B9B84D-F07B-954A-9C0C-6D624EB4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8826E3E-9CD2-884C-BC7F-2A2ECF5DC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9143171F-271F-2448-B0E3-075448D34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8C065DC-DA76-F84C-B99B-A87374A232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DCEAF1C-3C72-BE47-8DC0-E69467D4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8F29380-FC05-974A-929E-E2A3CBE27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9AA46C9-A442-4B4D-BC4D-0848FACD8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6A50A089-AD54-C245-8ADC-E805E6D50FF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8B3093BD-CFE2-4142-ABCD-C25BF9AD8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0990" y="2293502"/>
                  <a:ext cx="151387" cy="67308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D2FCC-4519-194E-8CB3-21DB9C01A117}"/>
              </a:ext>
            </a:extLst>
          </p:cNvPr>
          <p:cNvGrpSpPr/>
          <p:nvPr/>
        </p:nvGrpSpPr>
        <p:grpSpPr>
          <a:xfrm>
            <a:off x="657860" y="4629055"/>
            <a:ext cx="5999480" cy="701731"/>
            <a:chOff x="657860" y="4629055"/>
            <a:chExt cx="5999480" cy="701731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EF13B0-7DD1-E541-89DF-FCD4AD2CD993}"/>
                </a:ext>
              </a:extLst>
            </p:cNvPr>
            <p:cNvSpPr txBox="1"/>
            <p:nvPr/>
          </p:nvSpPr>
          <p:spPr>
            <a:xfrm flipH="1">
              <a:off x="1659184" y="4629055"/>
              <a:ext cx="4998156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3</a:t>
              </a:r>
              <a:r>
                <a:rPr lang="en-US" sz="2000" dirty="0"/>
                <a:t> hops away, i.e., at d, f, h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5A52D85-6CD3-D445-B929-D0E8B8B65C1F}"/>
                </a:ext>
              </a:extLst>
            </p:cNvPr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0B13979-FE63-E24E-B47A-5E098E8B8E4A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t=3</a:t>
                </a:r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A403FAE-73B3-214E-A95E-8F3D864408A2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91FF21CF-ACE1-114C-AF40-457630C4AB74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932C4E8-DAA6-BF49-B8AB-D0AC5B968318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598560C-BCF0-6540-A930-6E3452DA2F59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92F927D8-3807-6B46-BCA2-BEC72251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B2276A01-1036-2D48-BE69-15831400D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35AD5A3-0A6E-E04C-A282-2F3C99769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FDF9C7E-FB2A-E74A-857B-82B6CFC7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C2982F5-1FAC-6E45-99FF-7935E0FFD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6A7FCB1A-613F-8548-99DC-0A176CB34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1A0B9C39-6065-7243-B092-8728059E7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46ED202-1E7B-6B47-A9E2-400A81344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FBDED580-4A52-764D-964D-B986221CB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743C0F0F-0E63-474A-A14F-0DF1A12A1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D3FBCFB-A3B6-D240-BF0F-F0B30AAFFAD8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5C6CF4CD-B823-7943-9D77-B4AA17992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4533" y="2354460"/>
                  <a:ext cx="154224" cy="0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C0DA2B-BD26-BB4F-B1E2-9A0BE319047B}"/>
              </a:ext>
            </a:extLst>
          </p:cNvPr>
          <p:cNvGrpSpPr/>
          <p:nvPr/>
        </p:nvGrpSpPr>
        <p:grpSpPr>
          <a:xfrm>
            <a:off x="657860" y="5652999"/>
            <a:ext cx="5918200" cy="701731"/>
            <a:chOff x="657860" y="5627947"/>
            <a:chExt cx="5918200" cy="7017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B40C8-D0BF-E549-8280-EE389E285592}"/>
                </a:ext>
              </a:extLst>
            </p:cNvPr>
            <p:cNvSpPr/>
            <p:nvPr/>
          </p:nvSpPr>
          <p:spPr>
            <a:xfrm>
              <a:off x="1638300" y="5627947"/>
              <a:ext cx="4937760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Clr>
                  <a:srgbClr val="0000A8"/>
                </a:buClr>
              </a:pPr>
              <a:r>
                <a:rPr lang="en-US" sz="2000" dirty="0"/>
                <a:t>c’s state at t=0 may influence distance vector computations up to </a:t>
              </a:r>
              <a:r>
                <a:rPr lang="en-US" sz="2400" b="1" dirty="0">
                  <a:solidFill>
                    <a:srgbClr val="0000A8"/>
                  </a:solidFill>
                </a:rPr>
                <a:t>4</a:t>
              </a:r>
              <a:r>
                <a:rPr lang="en-US" sz="2000" dirty="0"/>
                <a:t> hops away, i.e., at g, i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F0491AD-F320-A845-9707-456351BE1D98}"/>
                </a:ext>
              </a:extLst>
            </p:cNvPr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E1FC597-91E5-1541-8074-E2D80420D31D}"/>
                  </a:ext>
                </a:extLst>
              </p:cNvPr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t=4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EA849807-5604-1C4E-8335-F0F326C10FDF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0D87A56E-2A01-5F4C-96CD-BF0360192FB0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1652CF53-1D97-7043-81A9-E2E70EFBC85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64B69590-52DD-8D44-A5A8-EE0A165ED4D8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D88D891-B658-8E42-8364-AB5201F06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23501F-6802-3942-978A-86C96E1D7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16E4AD36-E2DB-114E-9CDE-2AF74EFB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249C9BC-D936-AF41-86AB-9EFF55EAB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87ACF5BF-E803-4D45-A058-1DE122192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28582EEE-1DDA-C642-BE33-7DCE82CF4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F2062828-7B4B-3742-BD3A-98D1F14B8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89BA0FDD-19D8-D443-A524-5B3EC8A36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04889F2B-57AC-9544-B854-FF098914A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3AB91B1-C113-7348-A644-471659C4A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074E508-AAAF-0C40-B339-7BE22BF6EB49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D730851-A79B-F14C-A452-E91404AE3B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10989" y="2351285"/>
                  <a:ext cx="140045" cy="71122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6ACB8D-A57C-0642-B81E-86A464F478CF}"/>
              </a:ext>
            </a:extLst>
          </p:cNvPr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Iterative communication, computation steps diffuses information through network: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B7EA12-A941-B948-B442-65C8B1C74625}"/>
              </a:ext>
            </a:extLst>
          </p:cNvPr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84253E-DE4B-7248-9D42-029000165996}"/>
                </a:ext>
              </a:extLst>
            </p:cNvPr>
            <p:cNvSpPr/>
            <p:nvPr/>
          </p:nvSpPr>
          <p:spPr>
            <a:xfrm>
              <a:off x="8879399" y="1803748"/>
              <a:ext cx="2857489" cy="1536065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7FBE2B-A272-8E4E-B714-C57A637BAC12}"/>
                </a:ext>
              </a:extLst>
            </p:cNvPr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t=1 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AC637B2-9DF3-0843-A113-74CCCFDBE3CE}"/>
              </a:ext>
            </a:extLst>
          </p:cNvPr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E30EA4F8-E34A-3D4F-ACF7-B399EF985322}"/>
                </a:ext>
              </a:extLst>
            </p:cNvPr>
            <p:cNvSpPr/>
            <p:nvPr/>
          </p:nvSpPr>
          <p:spPr>
            <a:xfrm>
              <a:off x="8907795" y="1814699"/>
              <a:ext cx="2745708" cy="2599426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955C141-C4CE-A64F-AC5E-8F7995F25D1F}"/>
                </a:ext>
              </a:extLst>
            </p:cNvPr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t=2 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AE38B66F-80BE-FE4C-8935-79EC957DD921}"/>
              </a:ext>
            </a:extLst>
          </p:cNvPr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E330CB8-05D7-564B-94D6-965785148116}"/>
                </a:ext>
              </a:extLst>
            </p:cNvPr>
            <p:cNvSpPr/>
            <p:nvPr/>
          </p:nvSpPr>
          <p:spPr>
            <a:xfrm>
              <a:off x="8907795" y="1814698"/>
              <a:ext cx="2806352" cy="4365597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100281 w 2947813"/>
                <a:gd name="connsiteY0" fmla="*/ 0 h 3978267"/>
                <a:gd name="connsiteX1" fmla="*/ 106879 w 2947813"/>
                <a:gd name="connsiteY1" fmla="*/ 2237364 h 3978267"/>
                <a:gd name="connsiteX2" fmla="*/ 1522598 w 2947813"/>
                <a:gd name="connsiteY2" fmla="*/ 3970477 h 3978267"/>
                <a:gd name="connsiteX3" fmla="*/ 2947813 w 2947813"/>
                <a:gd name="connsiteY3" fmla="*/ 2918339 h 3978267"/>
                <a:gd name="connsiteX0" fmla="*/ 100281 w 2947813"/>
                <a:gd name="connsiteY0" fmla="*/ 0 h 3970477"/>
                <a:gd name="connsiteX1" fmla="*/ 106879 w 2947813"/>
                <a:gd name="connsiteY1" fmla="*/ 2237364 h 3970477"/>
                <a:gd name="connsiteX2" fmla="*/ 1522598 w 2947813"/>
                <a:gd name="connsiteY2" fmla="*/ 3970477 h 3970477"/>
                <a:gd name="connsiteX3" fmla="*/ 2947813 w 2947813"/>
                <a:gd name="connsiteY3" fmla="*/ 2918339 h 3970477"/>
                <a:gd name="connsiteX0" fmla="*/ 0 w 2847532"/>
                <a:gd name="connsiteY0" fmla="*/ 0 h 3970477"/>
                <a:gd name="connsiteX1" fmla="*/ 6598 w 2847532"/>
                <a:gd name="connsiteY1" fmla="*/ 2237364 h 3970477"/>
                <a:gd name="connsiteX2" fmla="*/ 1422317 w 2847532"/>
                <a:gd name="connsiteY2" fmla="*/ 3970477 h 3970477"/>
                <a:gd name="connsiteX3" fmla="*/ 2847532 w 2847532"/>
                <a:gd name="connsiteY3" fmla="*/ 2918339 h 397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7430AE7-043D-2A42-AEA6-A5DEFCDDE64B}"/>
                </a:ext>
              </a:extLst>
            </p:cNvPr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t=3 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3FEA0BD-9388-0641-A4C4-A22329FE8636}"/>
              </a:ext>
            </a:extLst>
          </p:cNvPr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1875363C-67E2-B44C-B690-43D38457CFC5}"/>
                </a:ext>
              </a:extLst>
            </p:cNvPr>
            <p:cNvSpPr/>
            <p:nvPr/>
          </p:nvSpPr>
          <p:spPr>
            <a:xfrm>
              <a:off x="8907795" y="1823741"/>
              <a:ext cx="2806351" cy="3234534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205842 w 3053374"/>
                <a:gd name="connsiteY0" fmla="*/ 0 h 2918339"/>
                <a:gd name="connsiteX1" fmla="*/ 212440 w 3053374"/>
                <a:gd name="connsiteY1" fmla="*/ 2237364 h 2918339"/>
                <a:gd name="connsiteX2" fmla="*/ 3053374 w 3053374"/>
                <a:gd name="connsiteY2" fmla="*/ 2918339 h 2918339"/>
                <a:gd name="connsiteX0" fmla="*/ 108602 w 2956134"/>
                <a:gd name="connsiteY0" fmla="*/ 0 h 3037186"/>
                <a:gd name="connsiteX1" fmla="*/ 257674 w 2956134"/>
                <a:gd name="connsiteY1" fmla="*/ 2829378 h 3037186"/>
                <a:gd name="connsiteX2" fmla="*/ 2956134 w 2956134"/>
                <a:gd name="connsiteY2" fmla="*/ 2918339 h 3037186"/>
                <a:gd name="connsiteX0" fmla="*/ 0 w 2847532"/>
                <a:gd name="connsiteY0" fmla="*/ 0 h 2918339"/>
                <a:gd name="connsiteX1" fmla="*/ 149072 w 2847532"/>
                <a:gd name="connsiteY1" fmla="*/ 2829378 h 2918339"/>
                <a:gd name="connsiteX2" fmla="*/ 2847532 w 2847532"/>
                <a:gd name="connsiteY2" fmla="*/ 2918339 h 2918339"/>
                <a:gd name="connsiteX0" fmla="*/ 0 w 2847532"/>
                <a:gd name="connsiteY0" fmla="*/ 0 h 2918339"/>
                <a:gd name="connsiteX1" fmla="*/ 156195 w 2847532"/>
                <a:gd name="connsiteY1" fmla="*/ 2878713 h 2918339"/>
                <a:gd name="connsiteX2" fmla="*/ 2847532 w 2847532"/>
                <a:gd name="connsiteY2" fmla="*/ 2918339 h 2918339"/>
                <a:gd name="connsiteX0" fmla="*/ 104232 w 2951764"/>
                <a:gd name="connsiteY0" fmla="*/ 0 h 3066150"/>
                <a:gd name="connsiteX1" fmla="*/ 260427 w 2951764"/>
                <a:gd name="connsiteY1" fmla="*/ 2870491 h 3066150"/>
                <a:gd name="connsiteX2" fmla="*/ 2951764 w 2951764"/>
                <a:gd name="connsiteY2" fmla="*/ 2910117 h 3066150"/>
                <a:gd name="connsiteX0" fmla="*/ 99818 w 2947350"/>
                <a:gd name="connsiteY0" fmla="*/ 0 h 3066150"/>
                <a:gd name="connsiteX1" fmla="*/ 256013 w 2947350"/>
                <a:gd name="connsiteY1" fmla="*/ 2870491 h 3066150"/>
                <a:gd name="connsiteX2" fmla="*/ 2947350 w 2947350"/>
                <a:gd name="connsiteY2" fmla="*/ 2910117 h 3066150"/>
                <a:gd name="connsiteX0" fmla="*/ 0 w 2847532"/>
                <a:gd name="connsiteY0" fmla="*/ 0 h 2929561"/>
                <a:gd name="connsiteX1" fmla="*/ 156195 w 2847532"/>
                <a:gd name="connsiteY1" fmla="*/ 2870491 h 2929561"/>
                <a:gd name="connsiteX2" fmla="*/ 2847532 w 2847532"/>
                <a:gd name="connsiteY2" fmla="*/ 2910117 h 2929561"/>
                <a:gd name="connsiteX0" fmla="*/ 0 w 2847532"/>
                <a:gd name="connsiteY0" fmla="*/ 0 h 2940104"/>
                <a:gd name="connsiteX1" fmla="*/ 156195 w 2847532"/>
                <a:gd name="connsiteY1" fmla="*/ 2870491 h 2940104"/>
                <a:gd name="connsiteX2" fmla="*/ 2847532 w 2847532"/>
                <a:gd name="connsiteY2" fmla="*/ 2910117 h 2940104"/>
                <a:gd name="connsiteX0" fmla="*/ 0 w 2847532"/>
                <a:gd name="connsiteY0" fmla="*/ 0 h 2978647"/>
                <a:gd name="connsiteX1" fmla="*/ 156195 w 2847532"/>
                <a:gd name="connsiteY1" fmla="*/ 2870491 h 2978647"/>
                <a:gd name="connsiteX2" fmla="*/ 2847532 w 2847532"/>
                <a:gd name="connsiteY2" fmla="*/ 2910117 h 2978647"/>
                <a:gd name="connsiteX0" fmla="*/ 75033 w 2922565"/>
                <a:gd name="connsiteY0" fmla="*/ 0 h 2947368"/>
                <a:gd name="connsiteX1" fmla="*/ 95877 w 2922565"/>
                <a:gd name="connsiteY1" fmla="*/ 2812934 h 2947368"/>
                <a:gd name="connsiteX2" fmla="*/ 2922565 w 2922565"/>
                <a:gd name="connsiteY2" fmla="*/ 2910117 h 2947368"/>
                <a:gd name="connsiteX0" fmla="*/ 0 w 2847532"/>
                <a:gd name="connsiteY0" fmla="*/ 0 h 2921786"/>
                <a:gd name="connsiteX1" fmla="*/ 20844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1786"/>
                <a:gd name="connsiteX1" fmla="*/ 92081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9781"/>
                <a:gd name="connsiteX1" fmla="*/ 92081 w 2847532"/>
                <a:gd name="connsiteY1" fmla="*/ 2812934 h 2929781"/>
                <a:gd name="connsiteX2" fmla="*/ 2847532 w 2847532"/>
                <a:gd name="connsiteY2" fmla="*/ 2910117 h 2929781"/>
                <a:gd name="connsiteX0" fmla="*/ 0 w 2847532"/>
                <a:gd name="connsiteY0" fmla="*/ 0 h 2941785"/>
                <a:gd name="connsiteX1" fmla="*/ 92081 w 2847532"/>
                <a:gd name="connsiteY1" fmla="*/ 2812934 h 2941785"/>
                <a:gd name="connsiteX2" fmla="*/ 2847532 w 2847532"/>
                <a:gd name="connsiteY2" fmla="*/ 2910117 h 294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857DEAF-2A1F-2D40-8338-8A4F683F80D6}"/>
                </a:ext>
              </a:extLst>
            </p:cNvPr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A8"/>
                  </a:solidFill>
                </a:rPr>
                <a:t>t=4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97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80" name="Text Box 4">
            <a:extLst>
              <a:ext uri="{FF2B5EF4-FFF2-40B4-BE49-F238E27FC236}">
                <a16:creationId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ja-JP" dirty="0">
                <a:solidFill>
                  <a:srgbClr val="C00000"/>
                </a:solidFill>
                <a:latin typeface="+mn-lt"/>
              </a:rPr>
              <a:t>“good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news </a:t>
            </a: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C00000"/>
                </a:solidFill>
                <a:latin typeface="+mn-lt"/>
              </a:rPr>
              <a:t>travels fast”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0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detects link-cost change, updates its DV, informs its neighbors.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2" name="Rectangle 42">
            <a:extLst>
              <a:ext uri="{FF2B5EF4-FFF2-40B4-BE49-F238E27FC236}">
                <a16:creationId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334963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1 </a:t>
            </a:r>
            <a:r>
              <a:rPr lang="en-US" sz="2400" dirty="0"/>
              <a:t>: </a:t>
            </a:r>
            <a:r>
              <a:rPr lang="en-US" sz="2400" i="1" dirty="0"/>
              <a:t>z</a:t>
            </a:r>
            <a:r>
              <a:rPr lang="en-US" sz="2400" dirty="0"/>
              <a:t> receives update from </a:t>
            </a:r>
            <a:r>
              <a:rPr lang="en-US" sz="2400" i="1" dirty="0"/>
              <a:t>y</a:t>
            </a:r>
            <a:r>
              <a:rPr lang="en-US" sz="2400" dirty="0"/>
              <a:t>, updates its DV, computes new least cost to </a:t>
            </a:r>
            <a:r>
              <a:rPr lang="en-US" sz="2400" i="1" dirty="0"/>
              <a:t>x</a:t>
            </a:r>
            <a:r>
              <a:rPr lang="en-US" sz="2400" dirty="0"/>
              <a:t> , sends its neighbors its DV.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409575" indent="-409575">
              <a:tabLst>
                <a:tab pos="228600" algn="l"/>
                <a:tab pos="457200" algn="l"/>
              </a:tabLst>
            </a:pPr>
            <a:r>
              <a:rPr lang="en-US" sz="2400" i="1" dirty="0"/>
              <a:t>t</a:t>
            </a:r>
            <a:r>
              <a:rPr lang="en-US" sz="2400" i="1" baseline="-25000" dirty="0"/>
              <a:t>2 </a:t>
            </a:r>
            <a:r>
              <a:rPr lang="en-US" sz="2400" dirty="0"/>
              <a:t>: </a:t>
            </a:r>
            <a:r>
              <a:rPr lang="en-US" sz="2400" i="1" dirty="0"/>
              <a:t>y</a:t>
            </a:r>
            <a:r>
              <a:rPr lang="en-US" sz="2400" dirty="0"/>
              <a:t> receives </a:t>
            </a:r>
            <a:r>
              <a:rPr lang="en-US" sz="2400" i="1" dirty="0"/>
              <a:t>z</a:t>
            </a:r>
            <a:r>
              <a:rPr lang="en-US" sz="2400" dirty="0"/>
              <a:t>’</a:t>
            </a:r>
            <a:r>
              <a:rPr lang="en-US" altLang="ja-JP" sz="2400" dirty="0"/>
              <a:t>s update, updates its DV.  </a:t>
            </a:r>
            <a:r>
              <a:rPr lang="en-US" altLang="ja-JP" sz="2400" i="1" dirty="0"/>
              <a:t>y’</a:t>
            </a:r>
            <a:r>
              <a:rPr lang="en-US" altLang="ja-JP" sz="2400" dirty="0"/>
              <a:t>s least costs do </a:t>
            </a:r>
            <a:r>
              <a:rPr lang="en-US" altLang="ja-JP" sz="2400" i="1" dirty="0"/>
              <a:t>not</a:t>
            </a:r>
            <a:r>
              <a:rPr lang="en-US" altLang="ja-JP" sz="2400" dirty="0"/>
              <a:t> change, so </a:t>
            </a:r>
            <a:r>
              <a:rPr lang="en-US" altLang="ja-JP" sz="2400" i="1" dirty="0"/>
              <a:t>y</a:t>
            </a:r>
            <a:r>
              <a:rPr lang="en-US" altLang="ja-JP" sz="2400" dirty="0"/>
              <a:t> does </a:t>
            </a:r>
            <a:r>
              <a:rPr lang="en-US" altLang="ja-JP" sz="2400" i="1" dirty="0">
                <a:solidFill>
                  <a:srgbClr val="0000A8"/>
                </a:solidFill>
              </a:rPr>
              <a:t>not</a:t>
            </a:r>
            <a:r>
              <a:rPr lang="en-US" altLang="ja-JP" sz="2400" dirty="0"/>
              <a:t> send a message to </a:t>
            </a:r>
            <a:r>
              <a:rPr lang="en-US" altLang="ja-JP" sz="2400" i="1" dirty="0"/>
              <a:t>z</a:t>
            </a:r>
            <a:r>
              <a:rPr lang="en-US" altLang="ja-JP" sz="2400" dirty="0"/>
              <a:t>. </a:t>
            </a:r>
          </a:p>
          <a:p>
            <a:pPr>
              <a:tabLst>
                <a:tab pos="228600" algn="l"/>
                <a:tab pos="457200" algn="l"/>
              </a:tabLst>
            </a:pPr>
            <a:endParaRPr lang="en-US" dirty="0"/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updates routing info, recalculates local DV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if DV changes, notify neighbors</a:t>
            </a:r>
            <a:r>
              <a:rPr lang="en-US" sz="2400" dirty="0"/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103" name="Oval 31">
                <a:extLst>
                  <a:ext uri="{FF2B5EF4-FFF2-40B4-BE49-F238E27FC236}">
                    <a16:creationId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44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vector: link cost changes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3200" dirty="0">
                <a:solidFill>
                  <a:srgbClr val="0000A8"/>
                </a:solidFill>
              </a:rPr>
              <a:t>link cost changes: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node detects local link cost change </a:t>
            </a:r>
          </a:p>
          <a:p>
            <a:pPr marL="342900" indent="-2190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>
                <a:solidFill>
                  <a:srgbClr val="C00000"/>
                </a:solidFill>
              </a:rPr>
              <a:t>“bad news travels slow” </a:t>
            </a:r>
            <a:r>
              <a:rPr lang="en-US" sz="2800" dirty="0"/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 charset="0"/>
                    <a:ea typeface="ＭＳ Ｐゴシック" charset="0"/>
                  </a:rPr>
                  <a:t>x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9" name="Oval 19">
                <a:extLst>
                  <a:ext uri="{FF2B5EF4-FFF2-40B4-BE49-F238E27FC236}">
                    <a16:creationId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z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1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4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50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1" name="Oval 31">
                <a:extLst>
                  <a:ext uri="{FF2B5EF4-FFF2-40B4-BE49-F238E27FC236}">
                    <a16:creationId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mic Sans MS" charset="0"/>
                      <a:ea typeface="ＭＳ Ｐゴシック" charset="0"/>
                    </a:rPr>
                    <a:t>y</a:t>
                  </a: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ＭＳ Ｐゴシック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0" dirty="0">
                  <a:solidFill>
                    <a:srgbClr val="FF0000"/>
                  </a:solidFill>
                  <a:latin typeface="Comic Sans MS" charset="0"/>
                </a:rPr>
                <a:t>6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</a:rPr>
                <a:t>0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sees direct link to </a:t>
            </a:r>
            <a:r>
              <a:rPr lang="en-US" sz="2400" i="1" dirty="0"/>
              <a:t>x</a:t>
            </a:r>
            <a:r>
              <a:rPr lang="en-US" sz="2400" dirty="0"/>
              <a:t> has new cost 60, but z has said it has a path at cost of 5. So </a:t>
            </a:r>
            <a:r>
              <a:rPr lang="en-US" sz="2400" i="1" dirty="0"/>
              <a:t>y</a:t>
            </a:r>
            <a:r>
              <a:rPr lang="en-US" sz="2400" dirty="0"/>
              <a:t> computes “my new cost to x will be 6, via z); notifies </a:t>
            </a:r>
            <a:r>
              <a:rPr lang="en-US" sz="2400" i="1" dirty="0"/>
              <a:t>z</a:t>
            </a:r>
            <a:r>
              <a:rPr lang="en-US" sz="2400" dirty="0"/>
              <a:t> of new cost of 6 to </a:t>
            </a:r>
            <a:r>
              <a:rPr lang="en-US" sz="2400" i="1" dirty="0"/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6,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7 via y), notifies </a:t>
            </a:r>
            <a:r>
              <a:rPr lang="en-US" sz="2400" i="1" dirty="0"/>
              <a:t>y</a:t>
            </a:r>
            <a:r>
              <a:rPr lang="en-US" sz="2400" dirty="0"/>
              <a:t> of new cost of 7 to </a:t>
            </a:r>
            <a:r>
              <a:rPr lang="en-US" sz="2400" i="1" dirty="0"/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y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 </a:t>
            </a:r>
            <a:r>
              <a:rPr lang="en-US" sz="2400" i="1" dirty="0"/>
              <a:t>z </a:t>
            </a:r>
            <a:r>
              <a:rPr lang="en-US" sz="2400" dirty="0"/>
              <a:t>has new cost 7, so </a:t>
            </a:r>
            <a:r>
              <a:rPr lang="en-US" sz="2400" i="1" dirty="0"/>
              <a:t>y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8 via y), notifies </a:t>
            </a:r>
            <a:r>
              <a:rPr lang="en-US" sz="2400" i="1" dirty="0"/>
              <a:t>z</a:t>
            </a:r>
            <a:r>
              <a:rPr lang="en-US" sz="2400" dirty="0"/>
              <a:t> of new cost of 8 to </a:t>
            </a:r>
            <a:r>
              <a:rPr lang="en-US" sz="2400" i="1" dirty="0"/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i="1" dirty="0"/>
              <a:t>z </a:t>
            </a:r>
            <a:r>
              <a:rPr lang="en-US" sz="2400" dirty="0"/>
              <a:t>learns that path to </a:t>
            </a:r>
            <a:r>
              <a:rPr lang="en-US" sz="2400" i="1" dirty="0"/>
              <a:t>x</a:t>
            </a:r>
            <a:r>
              <a:rPr lang="en-US" sz="2400" dirty="0"/>
              <a:t> via</a:t>
            </a:r>
            <a:r>
              <a:rPr lang="en-US" sz="2400" i="1" dirty="0"/>
              <a:t> y </a:t>
            </a:r>
            <a:r>
              <a:rPr lang="en-US" sz="2400" dirty="0"/>
              <a:t>has new cost 8, so </a:t>
            </a:r>
            <a:r>
              <a:rPr lang="en-US" sz="2400" i="1" dirty="0"/>
              <a:t>z</a:t>
            </a:r>
            <a:r>
              <a:rPr lang="en-US" sz="2400" dirty="0"/>
              <a:t>  computes “my new cost to </a:t>
            </a:r>
            <a:r>
              <a:rPr lang="en-US" sz="2400" i="1" dirty="0"/>
              <a:t>x</a:t>
            </a:r>
            <a:r>
              <a:rPr lang="en-US" sz="2400" dirty="0"/>
              <a:t> will be 9 via y), notifies </a:t>
            </a:r>
            <a:r>
              <a:rPr lang="en-US" sz="2400" i="1" dirty="0"/>
              <a:t>y</a:t>
            </a:r>
            <a:r>
              <a:rPr lang="en-US" sz="2400" dirty="0"/>
              <a:t> of new cost of 9 to </a:t>
            </a:r>
            <a:r>
              <a:rPr lang="en-US" sz="2400" i="1" dirty="0"/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800" dirty="0"/>
              <a:t>see text for solutions.  </a:t>
            </a:r>
            <a:r>
              <a:rPr lang="en-US" sz="2800" i="1" dirty="0"/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92949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3392</Words>
  <Application>Microsoft Macintosh PowerPoint</Application>
  <PresentationFormat>Widescreen</PresentationFormat>
  <Paragraphs>721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MS Mincho</vt:lpstr>
      <vt:lpstr>ＭＳ Ｐゴシック</vt:lpstr>
      <vt:lpstr>游ゴシック</vt:lpstr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 IT694 Computer Networks Week10_Lec1</vt:lpstr>
      <vt:lpstr>Routing algorithm classification</vt:lpstr>
      <vt:lpstr>Distance vector algorithm </vt:lpstr>
      <vt:lpstr>Bellman-Ford Example</vt:lpstr>
      <vt:lpstr>Distance vector algorithm </vt:lpstr>
      <vt:lpstr>Distance vector algorithm: 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vector: state information diffusion</vt:lpstr>
      <vt:lpstr>Distance vector: link cost changes</vt:lpstr>
      <vt:lpstr>Distance vector: link cost changes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Week7_Lec3</dc:title>
  <dc:creator>Microsoft Office User</dc:creator>
  <cp:lastModifiedBy>Microsoft Office User</cp:lastModifiedBy>
  <cp:revision>7</cp:revision>
  <dcterms:created xsi:type="dcterms:W3CDTF">2023-09-20T11:03:01Z</dcterms:created>
  <dcterms:modified xsi:type="dcterms:W3CDTF">2025-04-02T04:14:08Z</dcterms:modified>
</cp:coreProperties>
</file>