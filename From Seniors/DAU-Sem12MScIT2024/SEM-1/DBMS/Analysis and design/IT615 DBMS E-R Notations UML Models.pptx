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57F0B-C73F-42C7-A37E-01CCF67D5784}" type="datetimeFigureOut">
              <a:rPr lang="en-US" smtClean="0"/>
              <a:t>8/12/2024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C0C70C-7DA8-4E3F-8CD1-0D3F357CF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23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9300" indent="-28733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52525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14488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76450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336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908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480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052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9DB9AEA-F7FD-4997-96A5-7B4756BCDA53}" type="slidenum">
              <a:rPr lang="en-US" altLang="en-US" smtClean="0">
                <a:latin typeface="Helvetica" charset="0"/>
                <a:ea typeface="MS PGothic" pitchFamily="34" charset="-128"/>
              </a:rPr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 smtClean="0">
              <a:latin typeface="Helvetica" charset="0"/>
              <a:ea typeface="MS PGothic" pitchFamily="34" charset="-128"/>
            </a:endParaRPr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81500"/>
            <a:ext cx="5087938" cy="414727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9300" indent="-28733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52525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14488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76450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336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908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480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052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FF8CB07-460F-4F54-867F-B1864E9C11CA}" type="slidenum">
              <a:rPr lang="en-US" altLang="en-US" smtClean="0">
                <a:latin typeface="Helvetica" charset="0"/>
                <a:ea typeface="MS PGothic" pitchFamily="34" charset="-128"/>
              </a:rPr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 smtClean="0">
              <a:latin typeface="Helvetica" charset="0"/>
              <a:ea typeface="MS PGothic" pitchFamily="34" charset="-128"/>
            </a:endParaRPr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81500"/>
            <a:ext cx="5087938" cy="414727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9300" indent="-28733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52525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14488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76450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336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908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480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052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7C4F756-451F-4AE1-AE9E-DA6BF88BEA30}" type="slidenum">
              <a:rPr lang="en-US" altLang="en-US" smtClean="0">
                <a:latin typeface="Helvetica" charset="0"/>
                <a:ea typeface="MS PGothic" pitchFamily="34" charset="-128"/>
              </a:rPr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 smtClean="0">
              <a:latin typeface="Helvetica" charset="0"/>
              <a:ea typeface="MS PGothic" pitchFamily="34" charset="-128"/>
            </a:endParaRPr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9300" indent="-28733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52525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14488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76450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336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908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480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052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15282EE-9518-438B-B278-04207D2E1BBA}" type="slidenum">
              <a:rPr lang="en-US" altLang="en-US" smtClean="0">
                <a:latin typeface="Helvetica" charset="0"/>
                <a:ea typeface="MS PGothic" pitchFamily="34" charset="-128"/>
              </a:rPr>
              <a:pPr algn="r" eaLnBrk="1" hangingPunct="1">
                <a:spcBef>
                  <a:spcPct val="0"/>
                </a:spcBef>
              </a:pPr>
              <a:t>5</a:t>
            </a:fld>
            <a:endParaRPr lang="en-US" altLang="en-US" smtClean="0">
              <a:latin typeface="Helvetica" charset="0"/>
              <a:ea typeface="MS PGothic" pitchFamily="34" charset="-128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81500"/>
            <a:ext cx="5087938" cy="414727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9300" indent="-28733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52525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14488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76450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336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908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480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052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3644C88-24E7-4829-9A37-A33C4CE586F0}" type="slidenum">
              <a:rPr lang="en-US" altLang="en-US" smtClean="0">
                <a:latin typeface="Helvetica" charset="0"/>
                <a:ea typeface="MS PGothic" pitchFamily="34" charset="-128"/>
              </a:rPr>
              <a:pPr algn="r" eaLnBrk="1" hangingPunct="1">
                <a:spcBef>
                  <a:spcPct val="0"/>
                </a:spcBef>
              </a:pPr>
              <a:t>6</a:t>
            </a:fld>
            <a:endParaRPr lang="en-US" altLang="en-US" smtClean="0">
              <a:latin typeface="Helvetica" charset="0"/>
              <a:ea typeface="MS PGothic" pitchFamily="34" charset="-128"/>
            </a:endParaRP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9300" indent="-28733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52525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14488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76450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336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908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480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052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5FE5AE9-FFE0-4CAD-8E4B-15D4A90E3C37}" type="slidenum">
              <a:rPr lang="en-US" altLang="en-US" smtClean="0">
                <a:latin typeface="Helvetica" charset="0"/>
                <a:ea typeface="MS PGothic" pitchFamily="34" charset="-128"/>
              </a:rPr>
              <a:pPr algn="r" eaLnBrk="1" hangingPunct="1">
                <a:spcBef>
                  <a:spcPct val="0"/>
                </a:spcBef>
              </a:pPr>
              <a:t>7</a:t>
            </a:fld>
            <a:endParaRPr lang="en-US" altLang="en-US" smtClean="0">
              <a:latin typeface="Helvetica" charset="0"/>
              <a:ea typeface="MS PGothic" pitchFamily="34" charset="-128"/>
            </a:endParaRPr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81500"/>
            <a:ext cx="5087938" cy="414727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9300" indent="-28733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52525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14488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76450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336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908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480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052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2BC58AF-9CC5-4DEB-B6A8-7D0F6C3E3F5A}" type="slidenum">
              <a:rPr lang="en-US" altLang="en-US" smtClean="0">
                <a:latin typeface="Helvetica" charset="0"/>
                <a:ea typeface="MS PGothic" pitchFamily="34" charset="-128"/>
              </a:rPr>
              <a:pPr algn="r" eaLnBrk="1" hangingPunct="1">
                <a:spcBef>
                  <a:spcPct val="0"/>
                </a:spcBef>
              </a:pPr>
              <a:t>8</a:t>
            </a:fld>
            <a:endParaRPr lang="en-US" altLang="en-US" smtClean="0">
              <a:latin typeface="Helvetica" charset="0"/>
              <a:ea typeface="MS PGothic" pitchFamily="34" charset="-128"/>
            </a:endParaRPr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9300" indent="-28733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52525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14488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76450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336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908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480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052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99E5D45-9731-4A31-B571-7BA75D00E634}" type="slidenum">
              <a:rPr lang="en-US" altLang="en-US" smtClean="0">
                <a:latin typeface="Helvetica" charset="0"/>
                <a:ea typeface="MS PGothic" pitchFamily="34" charset="-128"/>
              </a:rPr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 smtClean="0">
              <a:latin typeface="Helvetica" charset="0"/>
              <a:ea typeface="MS PGothic" pitchFamily="34" charset="-128"/>
            </a:endParaRPr>
          </a:p>
        </p:txBody>
      </p:sp>
      <p:sp>
        <p:nvSpPr>
          <p:cNvPr id="192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9300" indent="-28733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52525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14488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76450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336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908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480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052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FC47927-F120-407F-BDE4-F03A5713EA0D}" type="slidenum">
              <a:rPr lang="en-US" altLang="en-US" smtClean="0">
                <a:latin typeface="Helvetica" charset="0"/>
                <a:ea typeface="MS PGothic" pitchFamily="34" charset="-128"/>
              </a:rPr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 smtClean="0">
              <a:latin typeface="Helvetica" charset="0"/>
              <a:ea typeface="MS PGothic" pitchFamily="34" charset="-128"/>
            </a:endParaRPr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81500"/>
            <a:ext cx="5087938" cy="414727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9300" indent="-28733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52525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14488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76450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336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908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480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052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0F4A140-C047-405D-807C-FEA0A2A0C620}" type="slidenum">
              <a:rPr lang="en-US" altLang="en-US" smtClean="0">
                <a:latin typeface="Helvetica" charset="0"/>
                <a:ea typeface="MS PGothic" pitchFamily="34" charset="-128"/>
              </a:rPr>
              <a:pPr algn="r" eaLnBrk="1" hangingPunct="1">
                <a:spcBef>
                  <a:spcPct val="0"/>
                </a:spcBef>
              </a:pPr>
              <a:t>11</a:t>
            </a:fld>
            <a:endParaRPr lang="en-US" altLang="en-US" smtClean="0">
              <a:latin typeface="Helvetica" charset="0"/>
              <a:ea typeface="MS PGothic" pitchFamily="34" charset="-128"/>
            </a:endParaRPr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81500"/>
            <a:ext cx="5087938" cy="414727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9300" indent="-28733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52525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14488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76450" indent="-230188" algn="l" defTabSz="93503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336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908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480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05250" indent="-230188" defTabSz="9350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1596C58-7365-4751-B805-E46D9E913BDC}" type="slidenum">
              <a:rPr lang="en-US" altLang="en-US" smtClean="0">
                <a:latin typeface="Helvetica" charset="0"/>
                <a:ea typeface="MS PGothic" pitchFamily="34" charset="-128"/>
              </a:rPr>
              <a:pPr algn="r" eaLnBrk="1" hangingPunct="1">
                <a:spcBef>
                  <a:spcPct val="0"/>
                </a:spcBef>
              </a:pPr>
              <a:t>12</a:t>
            </a:fld>
            <a:endParaRPr lang="en-US" altLang="en-US" smtClean="0">
              <a:latin typeface="Helvetica" charset="0"/>
              <a:ea typeface="MS PGothic" pitchFamily="34" charset="-128"/>
            </a:endParaRPr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81500"/>
            <a:ext cx="5087938" cy="414727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10/4/2024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1D23-74C9-4A3E-9CC3-78733F70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8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10/4/2024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1D23-74C9-4A3E-9CC3-78733F70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43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10/4/2024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1D23-74C9-4A3E-9CC3-78733F70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3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10/4/2024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1D23-74C9-4A3E-9CC3-78733F70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0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10/4/2024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1D23-74C9-4A3E-9CC3-78733F70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12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10/4/2024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1D23-74C9-4A3E-9CC3-78733F70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05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10/4/2024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1D23-74C9-4A3E-9CC3-78733F70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6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10/4/2024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1D23-74C9-4A3E-9CC3-78733F70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54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10/4/2024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1D23-74C9-4A3E-9CC3-78733F70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4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10/4/2024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1D23-74C9-4A3E-9CC3-78733F70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58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10/4/2024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1D23-74C9-4A3E-9CC3-78733F70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53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10/4/2024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81D23-74C9-4A3E-9CC3-78733F70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40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E-R Notations</a:t>
            </a:r>
            <a:br>
              <a:rPr lang="en-US" sz="3200" b="1" dirty="0" smtClean="0"/>
            </a:br>
            <a:r>
              <a:rPr lang="en-US" sz="3200" b="1" dirty="0" smtClean="0"/>
              <a:t>UML Models</a:t>
            </a:r>
            <a:br>
              <a:rPr lang="en-US" sz="3200" b="1" dirty="0" smtClean="0"/>
            </a:b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341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/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924800" cy="7159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E-R Design Decisions</a:t>
            </a:r>
          </a:p>
        </p:txBody>
      </p:sp>
      <p:sp>
        <p:nvSpPr>
          <p:cNvPr id="96260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43000"/>
            <a:ext cx="7523163" cy="4137025"/>
          </a:xfrm>
        </p:spPr>
        <p:txBody>
          <a:bodyPr/>
          <a:lstStyle/>
          <a:p>
            <a:pPr eaLnBrk="1" hangingPunct="1"/>
            <a:r>
              <a:rPr lang="en-US" altLang="en-US" sz="1700" smtClean="0"/>
              <a:t>The use of an attribute or entity set to represent an object.</a:t>
            </a:r>
          </a:p>
          <a:p>
            <a:pPr eaLnBrk="1" hangingPunct="1"/>
            <a:r>
              <a:rPr lang="en-US" altLang="en-US" sz="1700" smtClean="0"/>
              <a:t>Whether a real-world concept is best expressed by an entity set or a relationship set.</a:t>
            </a:r>
          </a:p>
          <a:p>
            <a:pPr eaLnBrk="1" hangingPunct="1"/>
            <a:r>
              <a:rPr lang="en-US" altLang="en-US" sz="1700" smtClean="0"/>
              <a:t>The use of a ternary relationship versus a pair of binary relationships.</a:t>
            </a:r>
          </a:p>
          <a:p>
            <a:pPr eaLnBrk="1" hangingPunct="1"/>
            <a:r>
              <a:rPr lang="en-US" altLang="en-US" sz="1700" smtClean="0"/>
              <a:t>The use of a strong or weak entity set.</a:t>
            </a:r>
          </a:p>
          <a:p>
            <a:pPr eaLnBrk="1" hangingPunct="1"/>
            <a:r>
              <a:rPr lang="en-US" altLang="en-US" sz="1700" smtClean="0"/>
              <a:t>The use of specialization/generalization – contributes to modularity in the design.</a:t>
            </a:r>
          </a:p>
          <a:p>
            <a:pPr eaLnBrk="1" hangingPunct="1"/>
            <a:r>
              <a:rPr lang="en-US" altLang="en-US" sz="1700" smtClean="0"/>
              <a:t>The use of aggregation – can treat the aggregate entity set as a single unit without concern for the details of its internal structure.</a:t>
            </a:r>
          </a:p>
        </p:txBody>
      </p:sp>
    </p:spTree>
    <p:extLst>
      <p:ext uri="{BB962C8B-B14F-4D97-AF65-F5344CB8AC3E}">
        <p14:creationId xmlns:p14="http://schemas.microsoft.com/office/powerpoint/2010/main" val="331200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/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5025" y="155575"/>
            <a:ext cx="7874000" cy="61753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Summary of Symbols Used in E-R Notation</a:t>
            </a:r>
          </a:p>
        </p:txBody>
      </p:sp>
      <p:pic>
        <p:nvPicPr>
          <p:cNvPr id="9728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56"/>
          <a:stretch>
            <a:fillRect/>
          </a:stretch>
        </p:blipFill>
        <p:spPr bwMode="auto">
          <a:xfrm>
            <a:off x="1077913" y="1344613"/>
            <a:ext cx="6988175" cy="400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2665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/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5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0772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Symbols Used in E-R </a:t>
            </a:r>
            <a:r>
              <a:rPr lang="en-US" altLang="en-US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Notation</a:t>
            </a:r>
            <a:endParaRPr lang="en-US" altLang="en-US" sz="2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9831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72"/>
          <a:stretch>
            <a:fillRect/>
          </a:stretch>
        </p:blipFill>
        <p:spPr bwMode="auto">
          <a:xfrm>
            <a:off x="1719263" y="1265238"/>
            <a:ext cx="6511925" cy="442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5286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/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075613" cy="7921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Alternative ER Notations</a:t>
            </a:r>
          </a:p>
        </p:txBody>
      </p:sp>
      <p:sp>
        <p:nvSpPr>
          <p:cNvPr id="99332" name="Rectangle 116"/>
          <p:cNvSpPr>
            <a:spLocks noGrp="1" noChangeArrowheads="1"/>
          </p:cNvSpPr>
          <p:nvPr>
            <p:ph idx="1"/>
          </p:nvPr>
        </p:nvSpPr>
        <p:spPr>
          <a:xfrm>
            <a:off x="768350" y="1093788"/>
            <a:ext cx="7853363" cy="466725"/>
          </a:xfrm>
        </p:spPr>
        <p:txBody>
          <a:bodyPr/>
          <a:lstStyle/>
          <a:p>
            <a:pPr eaLnBrk="1" hangingPunct="1"/>
            <a:r>
              <a:rPr lang="en-US" altLang="en-US" sz="1700" smtClean="0"/>
              <a:t> Chen, IDE1FX, …</a:t>
            </a:r>
          </a:p>
        </p:txBody>
      </p:sp>
      <p:pic>
        <p:nvPicPr>
          <p:cNvPr id="9933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94" b="76595"/>
          <a:stretch>
            <a:fillRect/>
          </a:stretch>
        </p:blipFill>
        <p:spPr bwMode="auto">
          <a:xfrm>
            <a:off x="1204913" y="1927225"/>
            <a:ext cx="6335712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3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552"/>
          <a:stretch>
            <a:fillRect/>
          </a:stretch>
        </p:blipFill>
        <p:spPr bwMode="auto">
          <a:xfrm>
            <a:off x="857250" y="3938588"/>
            <a:ext cx="7675563" cy="89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5862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/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5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001000" cy="6397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Alternative ER Notations</a:t>
            </a:r>
          </a:p>
        </p:txBody>
      </p:sp>
      <p:sp>
        <p:nvSpPr>
          <p:cNvPr id="100356" name="Rectangle 3"/>
          <p:cNvSpPr>
            <a:spLocks noGrp="1" noChangeArrowheads="1"/>
          </p:cNvSpPr>
          <p:nvPr>
            <p:ph idx="1"/>
          </p:nvPr>
        </p:nvSpPr>
        <p:spPr>
          <a:xfrm>
            <a:off x="158750" y="1266825"/>
            <a:ext cx="8159750" cy="622300"/>
          </a:xfrm>
        </p:spPr>
        <p:txBody>
          <a:bodyPr/>
          <a:lstStyle/>
          <a:p>
            <a:pPr eaLnBrk="1" hangingPunct="1">
              <a:buFont typeface="Monotype Sorts" charset="0"/>
              <a:buNone/>
            </a:pPr>
            <a:r>
              <a:rPr lang="en-US" altLang="en-US" sz="2000" b="1" smtClean="0"/>
              <a:t>                                     </a:t>
            </a:r>
            <a:r>
              <a:rPr lang="en-US" altLang="en-US" sz="1800" b="1" smtClean="0"/>
              <a:t>Chen                        IDE1FX (Crows feet notation)</a:t>
            </a:r>
          </a:p>
        </p:txBody>
      </p:sp>
      <p:pic>
        <p:nvPicPr>
          <p:cNvPr id="10035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16" b="11975"/>
          <a:stretch>
            <a:fillRect/>
          </a:stretch>
        </p:blipFill>
        <p:spPr bwMode="auto">
          <a:xfrm>
            <a:off x="381000" y="1889125"/>
            <a:ext cx="616585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8213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/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848600" cy="7159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UML	</a:t>
            </a:r>
          </a:p>
        </p:txBody>
      </p:sp>
      <p:sp>
        <p:nvSpPr>
          <p:cNvPr id="95236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222375"/>
            <a:ext cx="7537450" cy="4949825"/>
          </a:xfrm>
        </p:spPr>
        <p:txBody>
          <a:bodyPr/>
          <a:lstStyle/>
          <a:p>
            <a:pPr>
              <a:defRPr/>
            </a:pPr>
            <a:r>
              <a:rPr lang="en-US" sz="1600" dirty="0" smtClean="0"/>
              <a:t>Data representation, user </a:t>
            </a:r>
            <a:r>
              <a:rPr lang="en-US" sz="1600" dirty="0"/>
              <a:t>interactions with the system, </a:t>
            </a:r>
            <a:r>
              <a:rPr lang="en-US" sz="1600" dirty="0" smtClean="0"/>
              <a:t>specification of </a:t>
            </a:r>
            <a:r>
              <a:rPr lang="en-US" sz="1600" dirty="0"/>
              <a:t>functional modules of the system and their </a:t>
            </a:r>
            <a:r>
              <a:rPr lang="en-US" sz="1600" dirty="0" smtClean="0"/>
              <a:t>interaction</a:t>
            </a:r>
          </a:p>
          <a:p>
            <a:pPr>
              <a:defRPr/>
            </a:pPr>
            <a:r>
              <a:rPr lang="en-US" sz="1600" dirty="0" smtClean="0"/>
              <a:t>Software specification language by OMG </a:t>
            </a:r>
          </a:p>
          <a:p>
            <a:pPr>
              <a:defRPr/>
            </a:pPr>
            <a:endParaRPr lang="en-US" altLang="en-US" sz="1400" b="1" dirty="0" smtClean="0">
              <a:solidFill>
                <a:srgbClr val="002060"/>
              </a:solidFill>
            </a:endParaRPr>
          </a:p>
          <a:p>
            <a:pPr eaLnBrk="1" hangingPunct="1">
              <a:defRPr/>
            </a:pPr>
            <a:r>
              <a:rPr lang="en-US" altLang="en-US" sz="1700" b="1" dirty="0" smtClean="0">
                <a:solidFill>
                  <a:srgbClr val="002060"/>
                </a:solidFill>
              </a:rPr>
              <a:t>UML</a:t>
            </a:r>
            <a:r>
              <a:rPr lang="en-US" altLang="en-US" sz="1700" dirty="0" smtClean="0"/>
              <a:t>: Unified Modeling Language</a:t>
            </a:r>
          </a:p>
          <a:p>
            <a:pPr eaLnBrk="1" hangingPunct="1">
              <a:defRPr/>
            </a:pPr>
            <a:r>
              <a:rPr lang="en-US" altLang="en-US" sz="1700" dirty="0" smtClean="0"/>
              <a:t>UML has many components to graphically model different aspects of an entire software system</a:t>
            </a:r>
          </a:p>
          <a:p>
            <a:pPr eaLnBrk="1" hangingPunct="1">
              <a:defRPr/>
            </a:pPr>
            <a:r>
              <a:rPr lang="en-US" altLang="en-US" sz="1700" dirty="0" smtClean="0"/>
              <a:t>UML Class Diagrams correspond to E-R Diagram, but several differences.</a:t>
            </a:r>
          </a:p>
          <a:p>
            <a:pPr eaLnBrk="1" hangingPunct="1">
              <a:defRPr/>
            </a:pPr>
            <a:endParaRPr lang="en-US" altLang="en-US" sz="1700" dirty="0"/>
          </a:p>
          <a:p>
            <a:pPr marL="0" indent="0" eaLnBrk="1" hangingPunct="1">
              <a:buFontTx/>
              <a:buNone/>
              <a:defRPr/>
            </a:pPr>
            <a:endParaRPr lang="en-US" altLang="en-US" sz="1700" dirty="0" smtClean="0"/>
          </a:p>
          <a:p>
            <a:pPr>
              <a:defRPr/>
            </a:pPr>
            <a:r>
              <a:rPr lang="en-US" sz="1400" b="1" dirty="0"/>
              <a:t>Class diagram. </a:t>
            </a:r>
            <a:r>
              <a:rPr lang="en-US" sz="1400" dirty="0"/>
              <a:t>A class diagram is similar to an E-R </a:t>
            </a:r>
            <a:r>
              <a:rPr lang="en-US" sz="1400" dirty="0" smtClean="0"/>
              <a:t>diagram, they </a:t>
            </a:r>
            <a:r>
              <a:rPr lang="en-US" sz="1400" dirty="0"/>
              <a:t>relate to E-R diagrams.</a:t>
            </a:r>
          </a:p>
          <a:p>
            <a:pPr>
              <a:defRPr/>
            </a:pPr>
            <a:r>
              <a:rPr lang="en-US" sz="1400" b="1" dirty="0" smtClean="0"/>
              <a:t>Use </a:t>
            </a:r>
            <a:r>
              <a:rPr lang="en-US" sz="1400" b="1" dirty="0"/>
              <a:t>case diagram</a:t>
            </a:r>
            <a:r>
              <a:rPr lang="en-US" sz="1400" dirty="0"/>
              <a:t>. Use case diagrams show the interaction between users and the</a:t>
            </a:r>
          </a:p>
          <a:p>
            <a:pPr marL="400050" lvl="1" indent="0">
              <a:buFontTx/>
              <a:buNone/>
              <a:defRPr/>
            </a:pPr>
            <a:r>
              <a:rPr lang="en-US" sz="1600" dirty="0"/>
              <a:t>system, in particular the steps of tasks that users perform (such as </a:t>
            </a:r>
            <a:r>
              <a:rPr lang="en-US" sz="1600" dirty="0" smtClean="0"/>
              <a:t>withdrawing money or registering for a course).</a:t>
            </a:r>
          </a:p>
          <a:p>
            <a:pPr>
              <a:defRPr/>
            </a:pPr>
            <a:r>
              <a:rPr lang="en-US" sz="1400" b="1" dirty="0" smtClean="0"/>
              <a:t>Activity </a:t>
            </a:r>
            <a:r>
              <a:rPr lang="en-US" sz="1400" b="1" dirty="0"/>
              <a:t>diagram</a:t>
            </a:r>
            <a:r>
              <a:rPr lang="en-US" sz="1400" dirty="0"/>
              <a:t>. Activity diagrams depict the flow of tasks between various </a:t>
            </a:r>
            <a:r>
              <a:rPr lang="en-US" sz="1400" dirty="0" smtClean="0"/>
              <a:t>components of </a:t>
            </a:r>
            <a:r>
              <a:rPr lang="en-US" sz="1400" dirty="0"/>
              <a:t>a system.</a:t>
            </a:r>
            <a:endParaRPr lang="en-US" alt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3533721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/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5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858838" y="104775"/>
            <a:ext cx="80772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ER vs. UML Class Diagrams</a:t>
            </a:r>
          </a:p>
        </p:txBody>
      </p:sp>
      <p:sp>
        <p:nvSpPr>
          <p:cNvPr id="102406" name="Text Box 163"/>
          <p:cNvSpPr txBox="1">
            <a:spLocks noChangeArrowheads="1"/>
          </p:cNvSpPr>
          <p:nvPr/>
        </p:nvSpPr>
        <p:spPr bwMode="auto">
          <a:xfrm>
            <a:off x="1376363" y="5492750"/>
            <a:ext cx="6238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  <a:latin typeface="Helvetica" charset="0"/>
                <a:ea typeface="MS PGothic" pitchFamily="34" charset="-128"/>
              </a:rPr>
              <a:t>* </a:t>
            </a:r>
            <a:r>
              <a:rPr lang="en-US" altLang="en-US" sz="1800">
                <a:solidFill>
                  <a:schemeClr val="tx2"/>
                </a:solidFill>
                <a:latin typeface="Helvetica" charset="0"/>
                <a:ea typeface="MS PGothic" pitchFamily="34" charset="-128"/>
              </a:rPr>
              <a:t> </a:t>
            </a:r>
            <a:r>
              <a:rPr lang="en-US" altLang="en-US" sz="1700">
                <a:latin typeface="Helvetica" charset="0"/>
                <a:ea typeface="MS PGothic" pitchFamily="34" charset="-128"/>
              </a:rPr>
              <a:t>Note reversal of position in cardinality constraint depiction</a:t>
            </a:r>
          </a:p>
        </p:txBody>
      </p:sp>
      <p:pic>
        <p:nvPicPr>
          <p:cNvPr id="10240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093"/>
          <a:stretch>
            <a:fillRect/>
          </a:stretch>
        </p:blipFill>
        <p:spPr bwMode="auto">
          <a:xfrm>
            <a:off x="1030288" y="1187450"/>
            <a:ext cx="7083425" cy="401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3921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/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5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924800" cy="7159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ER vs. UML Class Diagrams</a:t>
            </a:r>
          </a:p>
        </p:txBody>
      </p:sp>
      <p:sp>
        <p:nvSpPr>
          <p:cNvPr id="103430" name="Text Box 82"/>
          <p:cNvSpPr txBox="1">
            <a:spLocks noChangeArrowheads="1"/>
          </p:cNvSpPr>
          <p:nvPr/>
        </p:nvSpPr>
        <p:spPr bwMode="auto">
          <a:xfrm>
            <a:off x="1403350" y="1058863"/>
            <a:ext cx="2562225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5000" rIns="90000" bIns="45000"/>
          <a:lstStyle>
            <a:lvl1pPr algn="l" defTabSz="449263" eaLnBrk="0" hangingPunct="0">
              <a:spcBef>
                <a:spcPct val="20000"/>
              </a:spcBef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algn="l" defTabSz="449263" eaLnBrk="0" hangingPunct="0">
              <a:spcBef>
                <a:spcPct val="20000"/>
              </a:spcBef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defTabSz="449263" eaLnBrk="0" hangingPunct="0">
              <a:spcBef>
                <a:spcPct val="20000"/>
              </a:spcBef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defTabSz="449263" eaLnBrk="0" hangingPunct="0">
              <a:spcBef>
                <a:spcPct val="20000"/>
              </a:spcBef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defTabSz="449263" eaLnBrk="0" hangingPunct="0">
              <a:spcBef>
                <a:spcPct val="20000"/>
              </a:spcBef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lnSpc>
                <a:spcPct val="104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en-US" altLang="en-US" sz="1700" b="1">
                <a:solidFill>
                  <a:srgbClr val="000000"/>
                </a:solidFill>
                <a:ea typeface="MS PGothic" pitchFamily="34" charset="-128"/>
              </a:rPr>
              <a:t>ER Diagram Notation</a:t>
            </a:r>
          </a:p>
        </p:txBody>
      </p:sp>
      <p:sp>
        <p:nvSpPr>
          <p:cNvPr id="103431" name="Text Box 83"/>
          <p:cNvSpPr txBox="1">
            <a:spLocks noChangeArrowheads="1"/>
          </p:cNvSpPr>
          <p:nvPr/>
        </p:nvSpPr>
        <p:spPr bwMode="auto">
          <a:xfrm>
            <a:off x="5178425" y="1087438"/>
            <a:ext cx="2230438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5000" rIns="90000" bIns="45000"/>
          <a:lstStyle>
            <a:lvl1pPr algn="l" defTabSz="449263" eaLnBrk="0" hangingPunct="0">
              <a:spcBef>
                <a:spcPct val="20000"/>
              </a:spcBef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algn="l" defTabSz="449263" eaLnBrk="0" hangingPunct="0">
              <a:spcBef>
                <a:spcPct val="20000"/>
              </a:spcBef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defTabSz="449263" eaLnBrk="0" hangingPunct="0">
              <a:spcBef>
                <a:spcPct val="20000"/>
              </a:spcBef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defTabSz="449263" eaLnBrk="0" hangingPunct="0">
              <a:spcBef>
                <a:spcPct val="20000"/>
              </a:spcBef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defTabSz="449263" eaLnBrk="0" hangingPunct="0">
              <a:spcBef>
                <a:spcPct val="20000"/>
              </a:spcBef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lnSpc>
                <a:spcPct val="104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en-US" altLang="en-US" sz="1700" b="1">
                <a:solidFill>
                  <a:srgbClr val="000000"/>
                </a:solidFill>
                <a:ea typeface="MS PGothic" pitchFamily="34" charset="-128"/>
              </a:rPr>
              <a:t>Equivalent in UML</a:t>
            </a:r>
          </a:p>
        </p:txBody>
      </p:sp>
      <p:sp>
        <p:nvSpPr>
          <p:cNvPr id="103432" name="Text Box 84"/>
          <p:cNvSpPr txBox="1">
            <a:spLocks noChangeArrowheads="1"/>
          </p:cNvSpPr>
          <p:nvPr/>
        </p:nvSpPr>
        <p:spPr bwMode="auto">
          <a:xfrm>
            <a:off x="1403350" y="5500688"/>
            <a:ext cx="65246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  <a:latin typeface="Helvetica" charset="0"/>
                <a:ea typeface="MS PGothic" pitchFamily="34" charset="-128"/>
              </a:rPr>
              <a:t>*</a:t>
            </a:r>
            <a:r>
              <a:rPr lang="en-US" altLang="en-US" sz="1800">
                <a:solidFill>
                  <a:schemeClr val="tx2"/>
                </a:solidFill>
                <a:latin typeface="Helvetica" charset="0"/>
                <a:ea typeface="MS PGothic" pitchFamily="34" charset="-128"/>
              </a:rPr>
              <a:t> </a:t>
            </a:r>
            <a:r>
              <a:rPr lang="en-US" altLang="en-US" sz="1700">
                <a:latin typeface="Helvetica" charset="0"/>
                <a:ea typeface="MS PGothic" pitchFamily="34" charset="-128"/>
              </a:rPr>
              <a:t>Generalization can use merged or separate arrows independent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700">
                <a:latin typeface="Helvetica" charset="0"/>
                <a:ea typeface="MS PGothic" pitchFamily="34" charset="-128"/>
              </a:rPr>
              <a:t>   of disjoint/overlapping</a:t>
            </a:r>
            <a:endParaRPr lang="en-US" altLang="en-US" sz="1700">
              <a:solidFill>
                <a:schemeClr val="tx2"/>
              </a:solidFill>
              <a:latin typeface="Helvetica" charset="0"/>
              <a:ea typeface="MS PGothic" pitchFamily="34" charset="-128"/>
            </a:endParaRPr>
          </a:p>
        </p:txBody>
      </p:sp>
      <p:pic>
        <p:nvPicPr>
          <p:cNvPr id="1034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12" r="11429"/>
          <a:stretch>
            <a:fillRect/>
          </a:stretch>
        </p:blipFill>
        <p:spPr bwMode="auto">
          <a:xfrm>
            <a:off x="1050925" y="1562100"/>
            <a:ext cx="6877050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1107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/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772400" cy="4111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UML Class </a:t>
            </a:r>
            <a:r>
              <a:rPr lang="en-US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Diagrams</a:t>
            </a:r>
            <a:endParaRPr lang="en-US" altLang="en-US" sz="2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445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222375"/>
            <a:ext cx="7550150" cy="3508375"/>
          </a:xfrm>
        </p:spPr>
        <p:txBody>
          <a:bodyPr/>
          <a:lstStyle/>
          <a:p>
            <a:pPr eaLnBrk="1" hangingPunct="1"/>
            <a:r>
              <a:rPr lang="en-US" altLang="en-US" sz="1700" smtClean="0"/>
              <a:t>Binary relationship sets are represented in UML by just drawing a line connecting the entity sets. The relationship set name is written adjacent to the line.  </a:t>
            </a:r>
          </a:p>
          <a:p>
            <a:pPr eaLnBrk="1" hangingPunct="1"/>
            <a:r>
              <a:rPr lang="en-US" altLang="en-US" sz="1700" smtClean="0"/>
              <a:t>The role played by an entity set in a relationship set may also be specified by writing the role name on the line, adjacent to the entity set. </a:t>
            </a:r>
          </a:p>
          <a:p>
            <a:pPr eaLnBrk="1" hangingPunct="1"/>
            <a:r>
              <a:rPr lang="en-US" altLang="en-US" sz="1700" smtClean="0"/>
              <a:t>The relationship set name may alternatively be written in a box, along with attributes of the relationship set, and the box is connected, using a dotted line, to the line depicting the  relationship set.</a:t>
            </a:r>
          </a:p>
        </p:txBody>
      </p:sp>
    </p:spTree>
    <p:extLst>
      <p:ext uri="{BB962C8B-B14F-4D97-AF65-F5344CB8AC3E}">
        <p14:creationId xmlns:p14="http://schemas.microsoft.com/office/powerpoint/2010/main" val="1437894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/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848600" cy="5699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ER vs. UML Class Diagrams</a:t>
            </a:r>
          </a:p>
        </p:txBody>
      </p:sp>
      <p:pic>
        <p:nvPicPr>
          <p:cNvPr id="105478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75" y="844550"/>
            <a:ext cx="4611688" cy="548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7703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/>
          </p:cNvPr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001000" cy="4873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Other Aspects of Database Design</a:t>
            </a:r>
          </a:p>
        </p:txBody>
      </p:sp>
      <p:sp>
        <p:nvSpPr>
          <p:cNvPr id="106500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143000"/>
            <a:ext cx="7315200" cy="2286000"/>
          </a:xfrm>
        </p:spPr>
        <p:txBody>
          <a:bodyPr/>
          <a:lstStyle/>
          <a:p>
            <a:pPr eaLnBrk="1" hangingPunct="1"/>
            <a:r>
              <a:rPr lang="en-US" altLang="en-US" sz="1700" smtClean="0"/>
              <a:t>Functional Requirements</a:t>
            </a:r>
          </a:p>
          <a:p>
            <a:pPr eaLnBrk="1" hangingPunct="1"/>
            <a:r>
              <a:rPr lang="en-US" altLang="en-US" sz="1700" smtClean="0"/>
              <a:t>Data Flow, Workflow</a:t>
            </a:r>
          </a:p>
          <a:p>
            <a:pPr eaLnBrk="1" hangingPunct="1"/>
            <a:r>
              <a:rPr lang="en-US" altLang="en-US" sz="1700" smtClean="0"/>
              <a:t>Schema Evolution (fundamental, temporary constraints)</a:t>
            </a:r>
          </a:p>
        </p:txBody>
      </p:sp>
    </p:spTree>
    <p:extLst>
      <p:ext uri="{BB962C8B-B14F-4D97-AF65-F5344CB8AC3E}">
        <p14:creationId xmlns:p14="http://schemas.microsoft.com/office/powerpoint/2010/main" val="669757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434</Words>
  <Application>Microsoft Office PowerPoint</Application>
  <PresentationFormat>On-screen Show (4:3)</PresentationFormat>
  <Paragraphs>54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MS PGothic</vt:lpstr>
      <vt:lpstr>Arial</vt:lpstr>
      <vt:lpstr>Calibri</vt:lpstr>
      <vt:lpstr>Helvetica</vt:lpstr>
      <vt:lpstr>Monotype Sorts</vt:lpstr>
      <vt:lpstr>Times New Roman</vt:lpstr>
      <vt:lpstr>Wingdings</vt:lpstr>
      <vt:lpstr>Office Theme</vt:lpstr>
      <vt:lpstr>E-R Notations UML Models </vt:lpstr>
      <vt:lpstr>E-R Design Decisions</vt:lpstr>
      <vt:lpstr>Summary of Symbols Used in E-R Notation</vt:lpstr>
      <vt:lpstr>Symbols Used in E-R Notation</vt:lpstr>
      <vt:lpstr>Alternative ER Notations</vt:lpstr>
      <vt:lpstr>Alternative ER Notations</vt:lpstr>
      <vt:lpstr>UML </vt:lpstr>
      <vt:lpstr>ER vs. UML Class Diagrams</vt:lpstr>
      <vt:lpstr>ER vs. UML Class Diagrams</vt:lpstr>
      <vt:lpstr>UML Class Diagrams</vt:lpstr>
      <vt:lpstr>ER vs. UML Class Diagrams</vt:lpstr>
      <vt:lpstr>Other Aspects of Database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E-R Notations UML Models</dc:title>
  <dc:creator>Administrator</dc:creator>
  <cp:lastModifiedBy>DELL</cp:lastModifiedBy>
  <cp:revision>4</cp:revision>
  <dcterms:created xsi:type="dcterms:W3CDTF">2020-10-11T16:27:41Z</dcterms:created>
  <dcterms:modified xsi:type="dcterms:W3CDTF">2024-08-12T12:20:19Z</dcterms:modified>
</cp:coreProperties>
</file>