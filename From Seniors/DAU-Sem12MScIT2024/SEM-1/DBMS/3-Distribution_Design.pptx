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6.xml" ContentType="application/inkml+xml"/>
  <Override PartName="/ppt/ink/ink7.xml" ContentType="application/inkml+xml"/>
  <Override PartName="/ppt/notesSlides/notesSlide11.xml" ContentType="application/vnd.openxmlformats-officedocument.presentationml.notesSlide+xml"/>
  <Override PartName="/ppt/ink/ink8.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ink/ink9.xml" ContentType="application/inkml+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39.xml" ContentType="application/vnd.openxmlformats-officedocument.presentationml.notesSlide+xml"/>
  <Override PartName="/ppt/ink/ink16.xml" ContentType="application/inkml+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ink/ink17.xml" ContentType="application/inkml+xml"/>
  <Override PartName="/ppt/ink/ink18.xml" ContentType="application/inkml+xml"/>
  <Override PartName="/ppt/notesSlides/notesSlide42.xml" ContentType="application/vnd.openxmlformats-officedocument.presentationml.notesSlide+xml"/>
  <Override PartName="/ppt/ink/ink1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93"/>
  </p:notesMasterIdLst>
  <p:handoutMasterIdLst>
    <p:handoutMasterId r:id="rId94"/>
  </p:handoutMasterIdLst>
  <p:sldIdLst>
    <p:sldId id="330" r:id="rId2"/>
    <p:sldId id="353" r:id="rId3"/>
    <p:sldId id="349" r:id="rId4"/>
    <p:sldId id="348" r:id="rId5"/>
    <p:sldId id="257" r:id="rId6"/>
    <p:sldId id="259" r:id="rId7"/>
    <p:sldId id="324" r:id="rId8"/>
    <p:sldId id="328" r:id="rId9"/>
    <p:sldId id="260" r:id="rId10"/>
    <p:sldId id="261" r:id="rId11"/>
    <p:sldId id="333" r:id="rId12"/>
    <p:sldId id="262" r:id="rId13"/>
    <p:sldId id="331" r:id="rId14"/>
    <p:sldId id="329" r:id="rId15"/>
    <p:sldId id="263" r:id="rId16"/>
    <p:sldId id="337" r:id="rId17"/>
    <p:sldId id="264" r:id="rId18"/>
    <p:sldId id="265" r:id="rId19"/>
    <p:sldId id="266" r:id="rId20"/>
    <p:sldId id="338" r:id="rId21"/>
    <p:sldId id="267" r:id="rId22"/>
    <p:sldId id="339" r:id="rId23"/>
    <p:sldId id="268" r:id="rId24"/>
    <p:sldId id="269" r:id="rId25"/>
    <p:sldId id="325" r:id="rId26"/>
    <p:sldId id="326" r:id="rId27"/>
    <p:sldId id="327" r:id="rId28"/>
    <p:sldId id="270" r:id="rId29"/>
    <p:sldId id="272" r:id="rId30"/>
    <p:sldId id="336" r:id="rId31"/>
    <p:sldId id="335" r:id="rId32"/>
    <p:sldId id="340" r:id="rId33"/>
    <p:sldId id="341" r:id="rId34"/>
    <p:sldId id="342" r:id="rId35"/>
    <p:sldId id="343" r:id="rId36"/>
    <p:sldId id="274" r:id="rId37"/>
    <p:sldId id="275" r:id="rId38"/>
    <p:sldId id="276" r:id="rId39"/>
    <p:sldId id="277" r:id="rId40"/>
    <p:sldId id="344" r:id="rId41"/>
    <p:sldId id="278" r:id="rId42"/>
    <p:sldId id="345" r:id="rId43"/>
    <p:sldId id="279" r:id="rId44"/>
    <p:sldId id="346" r:id="rId45"/>
    <p:sldId id="347" r:id="rId46"/>
    <p:sldId id="280" r:id="rId47"/>
    <p:sldId id="281" r:id="rId48"/>
    <p:sldId id="282" r:id="rId49"/>
    <p:sldId id="283" r:id="rId50"/>
    <p:sldId id="284" r:id="rId51"/>
    <p:sldId id="285" r:id="rId52"/>
    <p:sldId id="286" r:id="rId53"/>
    <p:sldId id="287" r:id="rId54"/>
    <p:sldId id="288" r:id="rId55"/>
    <p:sldId id="289" r:id="rId56"/>
    <p:sldId id="290" r:id="rId57"/>
    <p:sldId id="291" r:id="rId58"/>
    <p:sldId id="292" r:id="rId59"/>
    <p:sldId id="293" r:id="rId60"/>
    <p:sldId id="294" r:id="rId61"/>
    <p:sldId id="295" r:id="rId62"/>
    <p:sldId id="296" r:id="rId63"/>
    <p:sldId id="297" r:id="rId64"/>
    <p:sldId id="298" r:id="rId65"/>
    <p:sldId id="299" r:id="rId66"/>
    <p:sldId id="300" r:id="rId67"/>
    <p:sldId id="301" r:id="rId68"/>
    <p:sldId id="302" r:id="rId69"/>
    <p:sldId id="303" r:id="rId70"/>
    <p:sldId id="304" r:id="rId71"/>
    <p:sldId id="305" r:id="rId72"/>
    <p:sldId id="306" r:id="rId73"/>
    <p:sldId id="308" r:id="rId74"/>
    <p:sldId id="309" r:id="rId75"/>
    <p:sldId id="351" r:id="rId76"/>
    <p:sldId id="350" r:id="rId77"/>
    <p:sldId id="352" r:id="rId78"/>
    <p:sldId id="310" r:id="rId79"/>
    <p:sldId id="311" r:id="rId80"/>
    <p:sldId id="312" r:id="rId81"/>
    <p:sldId id="313" r:id="rId82"/>
    <p:sldId id="314" r:id="rId83"/>
    <p:sldId id="315" r:id="rId84"/>
    <p:sldId id="316" r:id="rId85"/>
    <p:sldId id="317" r:id="rId86"/>
    <p:sldId id="318" r:id="rId87"/>
    <p:sldId id="319" r:id="rId88"/>
    <p:sldId id="320" r:id="rId89"/>
    <p:sldId id="321" r:id="rId90"/>
    <p:sldId id="322" r:id="rId91"/>
    <p:sldId id="323" r:id="rId92"/>
  </p:sldIdLst>
  <p:sldSz cx="13004800" cy="9753600"/>
  <p:notesSz cx="7010400" cy="9296400"/>
  <p:defaultTextStyle>
    <a:defPPr>
      <a:defRPr lang="en-US"/>
    </a:defPPr>
    <a:lvl1pPr algn="ctr" rtl="0" fontAlgn="base">
      <a:spcBef>
        <a:spcPct val="0"/>
      </a:spcBef>
      <a:spcAft>
        <a:spcPct val="0"/>
      </a:spcAft>
      <a:defRPr sz="3000" kern="1200">
        <a:solidFill>
          <a:srgbClr val="263750"/>
        </a:solidFill>
        <a:latin typeface="Palatino" charset="0"/>
        <a:ea typeface="ヒラギノ明朝 ProN W3" charset="0"/>
        <a:cs typeface="ヒラギノ明朝 ProN W3" charset="0"/>
        <a:sym typeface="Palatino" charset="0"/>
      </a:defRPr>
    </a:lvl1pPr>
    <a:lvl2pPr marL="457200" algn="ctr" rtl="0" fontAlgn="base">
      <a:spcBef>
        <a:spcPct val="0"/>
      </a:spcBef>
      <a:spcAft>
        <a:spcPct val="0"/>
      </a:spcAft>
      <a:defRPr sz="3000" kern="1200">
        <a:solidFill>
          <a:srgbClr val="263750"/>
        </a:solidFill>
        <a:latin typeface="Palatino" charset="0"/>
        <a:ea typeface="ヒラギノ明朝 ProN W3" charset="0"/>
        <a:cs typeface="ヒラギノ明朝 ProN W3" charset="0"/>
        <a:sym typeface="Palatino" charset="0"/>
      </a:defRPr>
    </a:lvl2pPr>
    <a:lvl3pPr marL="914400" algn="ctr" rtl="0" fontAlgn="base">
      <a:spcBef>
        <a:spcPct val="0"/>
      </a:spcBef>
      <a:spcAft>
        <a:spcPct val="0"/>
      </a:spcAft>
      <a:defRPr sz="3000" kern="1200">
        <a:solidFill>
          <a:srgbClr val="263750"/>
        </a:solidFill>
        <a:latin typeface="Palatino" charset="0"/>
        <a:ea typeface="ヒラギノ明朝 ProN W3" charset="0"/>
        <a:cs typeface="ヒラギノ明朝 ProN W3" charset="0"/>
        <a:sym typeface="Palatino" charset="0"/>
      </a:defRPr>
    </a:lvl3pPr>
    <a:lvl4pPr marL="1371600" algn="ctr" rtl="0" fontAlgn="base">
      <a:spcBef>
        <a:spcPct val="0"/>
      </a:spcBef>
      <a:spcAft>
        <a:spcPct val="0"/>
      </a:spcAft>
      <a:defRPr sz="3000" kern="1200">
        <a:solidFill>
          <a:srgbClr val="263750"/>
        </a:solidFill>
        <a:latin typeface="Palatino" charset="0"/>
        <a:ea typeface="ヒラギノ明朝 ProN W3" charset="0"/>
        <a:cs typeface="ヒラギノ明朝 ProN W3" charset="0"/>
        <a:sym typeface="Palatino" charset="0"/>
      </a:defRPr>
    </a:lvl4pPr>
    <a:lvl5pPr marL="1828800" algn="ctr" rtl="0" fontAlgn="base">
      <a:spcBef>
        <a:spcPct val="0"/>
      </a:spcBef>
      <a:spcAft>
        <a:spcPct val="0"/>
      </a:spcAft>
      <a:defRPr sz="3000" kern="1200">
        <a:solidFill>
          <a:srgbClr val="263750"/>
        </a:solidFill>
        <a:latin typeface="Palatino" charset="0"/>
        <a:ea typeface="ヒラギノ明朝 ProN W3" charset="0"/>
        <a:cs typeface="ヒラギノ明朝 ProN W3" charset="0"/>
        <a:sym typeface="Palatino" charset="0"/>
      </a:defRPr>
    </a:lvl5pPr>
    <a:lvl6pPr marL="2286000" algn="l" defTabSz="457200" rtl="0" eaLnBrk="1" latinLnBrk="0" hangingPunct="1">
      <a:defRPr sz="3000" kern="1200">
        <a:solidFill>
          <a:srgbClr val="263750"/>
        </a:solidFill>
        <a:latin typeface="Palatino" charset="0"/>
        <a:ea typeface="ヒラギノ明朝 ProN W3" charset="0"/>
        <a:cs typeface="ヒラギノ明朝 ProN W3" charset="0"/>
        <a:sym typeface="Palatino" charset="0"/>
      </a:defRPr>
    </a:lvl6pPr>
    <a:lvl7pPr marL="2743200" algn="l" defTabSz="457200" rtl="0" eaLnBrk="1" latinLnBrk="0" hangingPunct="1">
      <a:defRPr sz="3000" kern="1200">
        <a:solidFill>
          <a:srgbClr val="263750"/>
        </a:solidFill>
        <a:latin typeface="Palatino" charset="0"/>
        <a:ea typeface="ヒラギノ明朝 ProN W3" charset="0"/>
        <a:cs typeface="ヒラギノ明朝 ProN W3" charset="0"/>
        <a:sym typeface="Palatino" charset="0"/>
      </a:defRPr>
    </a:lvl7pPr>
    <a:lvl8pPr marL="3200400" algn="l" defTabSz="457200" rtl="0" eaLnBrk="1" latinLnBrk="0" hangingPunct="1">
      <a:defRPr sz="3000" kern="1200">
        <a:solidFill>
          <a:srgbClr val="263750"/>
        </a:solidFill>
        <a:latin typeface="Palatino" charset="0"/>
        <a:ea typeface="ヒラギノ明朝 ProN W3" charset="0"/>
        <a:cs typeface="ヒラギノ明朝 ProN W3" charset="0"/>
        <a:sym typeface="Palatino" charset="0"/>
      </a:defRPr>
    </a:lvl8pPr>
    <a:lvl9pPr marL="3657600" algn="l" defTabSz="457200" rtl="0" eaLnBrk="1" latinLnBrk="0" hangingPunct="1">
      <a:defRPr sz="3000" kern="1200">
        <a:solidFill>
          <a:srgbClr val="263750"/>
        </a:solidFill>
        <a:latin typeface="Palatino" charset="0"/>
        <a:ea typeface="ヒラギノ明朝 ProN W3" charset="0"/>
        <a:cs typeface="ヒラギノ明朝 ProN W3" charset="0"/>
        <a:sym typeface="Palatino" charset="0"/>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71A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35" autoAdjust="0"/>
    <p:restoredTop sz="94660"/>
  </p:normalViewPr>
  <p:slideViewPr>
    <p:cSldViewPr>
      <p:cViewPr varScale="1">
        <p:scale>
          <a:sx n="59" d="100"/>
          <a:sy n="59" d="100"/>
        </p:scale>
        <p:origin x="1430" y="58"/>
      </p:cViewPr>
      <p:guideLst>
        <p:guide orient="horz" pos="3072"/>
        <p:guide pos="409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 Id="rId9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2CD0B7B0-CCD5-49EC-94B0-EC506B630135}" type="datetimeFigureOut">
              <a:rPr lang="en-US" smtClean="0"/>
              <a:t>10/22/2024</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A973F577-14C8-405D-8382-D2D77B0C5D0F}" type="slidenum">
              <a:rPr lang="en-US" smtClean="0"/>
              <a:t>‹#›</a:t>
            </a:fld>
            <a:endParaRPr lang="en-US"/>
          </a:p>
        </p:txBody>
      </p:sp>
    </p:spTree>
    <p:extLst>
      <p:ext uri="{BB962C8B-B14F-4D97-AF65-F5344CB8AC3E}">
        <p14:creationId xmlns:p14="http://schemas.microsoft.com/office/powerpoint/2010/main" val="399450689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01T05:28:22.978"/>
    </inkml:context>
    <inkml:brush xml:id="br0">
      <inkml:brushProperty name="width" value="0.06667" units="cm"/>
      <inkml:brushProperty name="height" value="0.06667" units="cm"/>
      <inkml:brushProperty name="color" value="#ED1C24"/>
      <inkml:brushProperty name="fitToCurve" value="1"/>
    </inkml:brush>
  </inkml:definitions>
  <inkml:traceGroup>
    <inkml:annotationXML>
      <emma:emma xmlns:emma="http://www.w3.org/2003/04/emma" version="1.0">
        <emma:interpretation id="{0335E301-EE94-4B46-8238-8C1549A0B504}" emma:medium="tactile" emma:mode="ink">
          <msink:context xmlns:msink="http://schemas.microsoft.com/ink/2010/main" type="inkDrawing" rotatedBoundingBox="1294,15575 1440,15602 1432,15648 1285,15620" semanticType="callout" shapeName="Other"/>
        </emma:interpretation>
      </emma:emma>
    </inkml:annotationXML>
    <inkml:trace contextRef="#ctx0" brushRef="#br0">0 0,'0'47,"0"-47,48 0,0 0,-1 0,-47 0</inkml:trace>
  </inkml:traceGroup>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01T05:27:19.627"/>
    </inkml:context>
    <inkml:brush xml:id="br0">
      <inkml:brushProperty name="width" value="0.06667" units="cm"/>
      <inkml:brushProperty name="height" value="0.06667" units="cm"/>
      <inkml:brushProperty name="color" value="#ED1C24"/>
      <inkml:brushProperty name="fitToCurve" value="1"/>
    </inkml:brush>
  </inkml:definitions>
  <inkml:traceGroup>
    <inkml:annotationXML>
      <emma:emma xmlns:emma="http://www.w3.org/2003/04/emma" version="1.0">
        <emma:interpretation id="{FBD667BB-9663-4CBD-9173-2061AC87F5CB}" emma:medium="tactile" emma:mode="ink">
          <msink:context xmlns:msink="http://schemas.microsoft.com/ink/2010/main" type="inkDrawing" rotatedBoundingBox="29617,2108 29632,2108 29632,2123 29617,2123" shapeName="Other"/>
        </emma:interpretation>
      </emma:emma>
    </inkml:annotationXML>
    <inkml:trace contextRef="#ctx0" brushRef="#br0">0 0</inkml:trace>
  </inkml:traceGroup>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01T05:27:31.946"/>
    </inkml:context>
    <inkml:brush xml:id="br0">
      <inkml:brushProperty name="width" value="0.06667" units="cm"/>
      <inkml:brushProperty name="height" value="0.06667" units="cm"/>
      <inkml:brushProperty name="color" value="#ED1C24"/>
      <inkml:brushProperty name="fitToCurve" value="1"/>
    </inkml:brush>
  </inkml:definitions>
  <inkml:traceGroup>
    <inkml:annotationXML>
      <emma:emma xmlns:emma="http://www.w3.org/2003/04/emma" version="1.0">
        <emma:interpretation id="{CA644985-C664-4468-8AF0-CFD404311E55}" emma:medium="tactile" emma:mode="ink">
          <msink:context xmlns:msink="http://schemas.microsoft.com/ink/2010/main" type="inkDrawing" rotatedBoundingBox="35656,2779 35671,2779 35671,2794 35656,2794" shapeName="Other"/>
        </emma:interpretation>
      </emma:emma>
    </inkml:annotationXML>
    <inkml:trace contextRef="#ctx0" brushRef="#br0">0 0</inkml:trace>
  </inkml:traceGroup>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01T05:34:38.274"/>
    </inkml:context>
    <inkml:brush xml:id="br0">
      <inkml:brushProperty name="width" value="0.04667" units="cm"/>
      <inkml:brushProperty name="height" value="0.04667" units="cm"/>
      <inkml:brushProperty name="color" value="#ED1C24"/>
      <inkml:brushProperty name="fitToCurve" value="1"/>
    </inkml:brush>
  </inkml:definitions>
  <inkml:traceGroup>
    <inkml:annotationXML>
      <emma:emma xmlns:emma="http://www.w3.org/2003/04/emma" version="1.0">
        <emma:interpretation id="{5373C34A-C83F-42B0-A010-D9CB01D1F70C}" emma:medium="tactile" emma:mode="ink">
          <msink:context xmlns:msink="http://schemas.microsoft.com/ink/2010/main" type="inkDrawing" rotatedBoundingBox="39346,13753 39361,13753 39361,13768 39346,13768" shapeName="Other"/>
        </emma:interpretation>
      </emma:emma>
    </inkml:annotationXML>
    <inkml:trace contextRef="#ctx0" brushRef="#br0">0 0</inkml:trace>
  </inkml:traceGroup>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01T05:35:41.898"/>
    </inkml:context>
    <inkml:brush xml:id="br0">
      <inkml:brushProperty name="width" value="0.04667" units="cm"/>
      <inkml:brushProperty name="height" value="0.04667" units="cm"/>
      <inkml:brushProperty name="color" value="#ED1C24"/>
      <inkml:brushProperty name="fitToCurve" value="1"/>
    </inkml:brush>
  </inkml:definitions>
  <inkml:traceGroup>
    <inkml:annotationXML>
      <emma:emma xmlns:emma="http://www.w3.org/2003/04/emma" version="1.0">
        <emma:interpretation id="{ABAAC296-50D5-45D6-9CB0-67221AA60C92}" emma:medium="tactile" emma:mode="ink">
          <msink:context xmlns:msink="http://schemas.microsoft.com/ink/2010/main" type="inkDrawing" rotatedBoundingBox="32445,12220 32538,12169 32549,12189 32455,12240" shapeName="Other"/>
        </emma:interpretation>
      </emma:emma>
    </inkml:annotationXML>
    <inkml:trace contextRef="#ctx0" brushRef="#br0">1294 242,'0'0,"48"0,-48 0,47-48,-47 48</inkml:trace>
  </inkml:traceGroup>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01T05:59:37.506"/>
    </inkml:context>
    <inkml:brush xml:id="br0">
      <inkml:brushProperty name="width" value="0.06667" units="cm"/>
      <inkml:brushProperty name="height" value="0.06667" units="cm"/>
      <inkml:brushProperty name="color" value="#3165BB"/>
      <inkml:brushProperty name="fitToCurve" value="1"/>
    </inkml:brush>
  </inkml:definitions>
  <inkml:trace contextRef="#ctx0" brushRef="#br0">0 0</inkml:trace>
</inkml:ink>
</file>

<file path=ppt/ink/ink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01T05:59:57.091"/>
    </inkml:context>
    <inkml:brush xml:id="br0">
      <inkml:brushProperty name="width" value="0.06667" units="cm"/>
      <inkml:brushProperty name="height" value="0.06667" units="cm"/>
      <inkml:brushProperty name="color" value="#3165BB"/>
      <inkml:brushProperty name="fitToCurve" value="1"/>
    </inkml:brush>
  </inkml:definitions>
  <inkml:trace contextRef="#ctx0" brushRef="#br0">0 0,'48'0,"-48"0,96 0,-96 0</inkml:trace>
</inkml:ink>
</file>

<file path=ppt/ink/ink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08T05:04:52.903"/>
    </inkml:context>
    <inkml:brush xml:id="br0">
      <inkml:brushProperty name="width" value="0.06667" units="cm"/>
      <inkml:brushProperty name="height" value="0.06667" units="cm"/>
      <inkml:brushProperty name="color" value="#ED1C24"/>
      <inkml:brushProperty name="fitToCurve" value="1"/>
    </inkml:brush>
  </inkml:definitions>
  <inkml:traceGroup>
    <inkml:annotationXML>
      <emma:emma xmlns:emma="http://www.w3.org/2003/04/emma" version="1.0">
        <emma:interpretation id="{9BC2D117-9041-4DBE-B929-A24154F772B5}" emma:medium="tactile" emma:mode="ink">
          <msink:context xmlns:msink="http://schemas.microsoft.com/ink/2010/main" type="inkDrawing" rotatedBoundingBox="5894,9920 6508,9734 6608,10063 5993,10249" semanticType="underline" shapeName="Other"/>
        </emma:interpretation>
      </emma:emma>
    </inkml:annotationXML>
    <inkml:trace contextRef="#ctx0" brushRef="#br0">0 0,'0'0,"144"0,-48 0,48 0,-48 0,-48 0,-48 0,95 0,-47 0,-48 0,-95 0,-1 95,96-95,-96 48,48 0,-48 0,96 0,-48-48</inkml:trace>
  </inkml:traceGroup>
</inkml:ink>
</file>

<file path=ppt/ink/ink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15T05:26:15.226"/>
    </inkml:context>
    <inkml:brush xml:id="br0">
      <inkml:brushProperty name="width" value="0.06667" units="cm"/>
      <inkml:brushProperty name="height" value="0.06667" units="cm"/>
      <inkml:brushProperty name="color" value="#3165BB"/>
      <inkml:brushProperty name="fitToCurve" value="1"/>
    </inkml:brush>
  </inkml:definitions>
  <inkml:traceGroup>
    <inkml:annotationXML>
      <emma:emma xmlns:emma="http://www.w3.org/2003/04/emma" version="1.0">
        <emma:interpretation id="{98F84B3B-9C33-4EDE-9EB9-2AA901F99305}" emma:medium="tactile" emma:mode="ink">
          <msink:context xmlns:msink="http://schemas.microsoft.com/ink/2010/main" type="inkDrawing"/>
        </emma:interpretation>
      </emma:emma>
    </inkml:annotationXML>
    <inkml:trace contextRef="#ctx0" brushRef="#br0">0 0</inkml:trace>
  </inkml:traceGroup>
</inkml:ink>
</file>

<file path=ppt/ink/ink10.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15T05:46:24.827"/>
    </inkml:context>
    <inkml:brush xml:id="br0">
      <inkml:brushProperty name="width" value="0.06667" units="cm"/>
      <inkml:brushProperty name="height" value="0.06667" units="cm"/>
      <inkml:brushProperty name="color" value="#3165BB"/>
      <inkml:brushProperty name="fitToCurve" value="1"/>
    </inkml:brush>
  </inkml:definitions>
  <inkml:traceGroup>
    <inkml:annotationXML>
      <emma:emma xmlns:emma="http://www.w3.org/2003/04/emma" version="1.0">
        <emma:interpretation id="{722239E3-64D6-40AF-A9D4-3146D98149D1}" emma:medium="tactile" emma:mode="ink">
          <msink:context xmlns:msink="http://schemas.microsoft.com/ink/2010/main" type="inkDrawing" rotatedBoundingBox="2221,9655 5954,8136 6337,9077 2604,10596" semanticType="callout" shapeName="Other"/>
        </emma:interpretation>
      </emma:emma>
    </inkml:annotationXML>
    <inkml:trace contextRef="#ctx0" brushRef="#br0">48 1006,'-48'48,"48"0,0 0,0 96,0-49,144 49,-96-48,-48-48,0 48,48-48,0 0,-48-48,48 0,95 0,1 0,144-192,-1-48,192-47,97 47,-241-47,144 47,-191 96,-49 0,-95 49,-96 95</inkml:trace>
  </inkml:traceGroup>
</inkml:ink>
</file>

<file path=ppt/ink/ink1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18T05:17:59.633"/>
    </inkml:context>
    <inkml:brush xml:id="br0">
      <inkml:brushProperty name="width" value="0.06667" units="cm"/>
      <inkml:brushProperty name="height" value="0.06667" units="cm"/>
      <inkml:brushProperty name="color" value="#ED1C24"/>
      <inkml:brushProperty name="fitToCurve" value="1"/>
    </inkml:brush>
  </inkml:definitions>
  <inkml:traceGroup>
    <inkml:annotationXML>
      <emma:emma xmlns:emma="http://www.w3.org/2003/04/emma" version="1.0">
        <emma:interpretation id="{4F8A9EDA-CF97-4ABD-BE38-DB8115D22AB7}" emma:medium="tactile" emma:mode="ink">
          <msink:context xmlns:msink="http://schemas.microsoft.com/ink/2010/main" type="inkDrawing"/>
        </emma:interpretation>
      </emma:emma>
    </inkml:annotationXML>
    <inkml:trace contextRef="#ctx0" brushRef="#br0">0 0,'0'0,"0"48,0 48,144 0,-144 47,48 1,-48-48,48 48,0-96,-48 47,0 1,48-48,-48-48</inkml:trace>
  </inkml:traceGroup>
</inkml:ink>
</file>

<file path=ppt/ink/ink1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18T05:18:02"/>
    </inkml:context>
    <inkml:brush xml:id="br0">
      <inkml:brushProperty name="width" value="0.06667" units="cm"/>
      <inkml:brushProperty name="height" value="0.06667" units="cm"/>
      <inkml:brushProperty name="color" value="#ED1C24"/>
      <inkml:brushProperty name="fitToCurve" value="1"/>
    </inkml:brush>
  </inkml:definitions>
  <inkml:traceGroup>
    <inkml:annotationXML>
      <emma:emma xmlns:emma="http://www.w3.org/2003/04/emma" version="1.0">
        <emma:interpretation id="{7BDAB67D-51EA-4B36-BB90-4B4881FA224F}" emma:medium="tactile" emma:mode="ink">
          <msink:context xmlns:msink="http://schemas.microsoft.com/ink/2010/main" type="inkDrawing"/>
        </emma:interpretation>
      </emma:emma>
    </inkml:annotationXML>
    <inkml:trace contextRef="#ctx0" brushRef="#br0">0 191,'143'-48,"-47"48,0-47,0 47,-48 0,96 0,-96 0,95 0,-143 0,96 0,0-96,-96 96,48 0,48 0</inkml:trace>
  </inkml:traceGroup>
</inkml:ink>
</file>

<file path=ppt/ink/ink1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18T05:18:07.857"/>
    </inkml:context>
    <inkml:brush xml:id="br0">
      <inkml:brushProperty name="width" value="0.06667" units="cm"/>
      <inkml:brushProperty name="height" value="0.06667" units="cm"/>
      <inkml:brushProperty name="color" value="#ED1C24"/>
      <inkml:brushProperty name="fitToCurve" value="1"/>
    </inkml:brush>
  </inkml:definitions>
  <inkml:traceGroup>
    <inkml:annotationXML>
      <emma:emma xmlns:emma="http://www.w3.org/2003/04/emma" version="1.0">
        <emma:interpretation id="{CBE3E742-B8CC-4E64-832F-FBADC5304F04}" emma:medium="tactile" emma:mode="ink">
          <msink:context xmlns:msink="http://schemas.microsoft.com/ink/2010/main" type="inkDrawing"/>
        </emma:interpretation>
      </emma:emma>
    </inkml:annotationXML>
    <inkml:trace contextRef="#ctx0" brushRef="#br0">0 0,'0'48,"0"0,0 0,0-48,0 48,0 0</inkml:trace>
  </inkml:traceGroup>
</inkml:ink>
</file>

<file path=ppt/ink/ink1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18T05:19:03.081"/>
    </inkml:context>
    <inkml:brush xml:id="br0">
      <inkml:brushProperty name="width" value="0.06667" units="cm"/>
      <inkml:brushProperty name="height" value="0.06667" units="cm"/>
      <inkml:brushProperty name="color" value="#ED1C24"/>
      <inkml:brushProperty name="fitToCurve" value="1"/>
    </inkml:brush>
  </inkml:definitions>
  <inkml:traceGroup>
    <inkml:annotationXML>
      <emma:emma xmlns:emma="http://www.w3.org/2003/04/emma" version="1.0">
        <emma:interpretation id="{8D5B193D-7991-49CC-A4E6-47CD9E089C58}" emma:medium="tactile" emma:mode="ink">
          <msink:context xmlns:msink="http://schemas.microsoft.com/ink/2010/main" type="inkDrawing" rotatedBoundingBox="21853,16006 21868,16006 21868,16021 21853,16021" shapeName="Other"/>
        </emma:interpretation>
      </emma:emma>
    </inkml:annotationXML>
    <inkml:trace contextRef="#ctx0" brushRef="#br0">0 0,'0'0</inkml:trace>
  </inkml:traceGroup>
</inkml:ink>
</file>

<file path=ppt/ink/ink1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18T05:22:49.905"/>
    </inkml:context>
    <inkml:brush xml:id="br0">
      <inkml:brushProperty name="width" value="0.04667" units="cm"/>
      <inkml:brushProperty name="height" value="0.04667" units="cm"/>
      <inkml:brushProperty name="color" value="#ED1C24"/>
      <inkml:brushProperty name="fitToCurve" value="1"/>
    </inkml:brush>
  </inkml:definitions>
  <inkml:traceGroup>
    <inkml:annotationXML>
      <emma:emma xmlns:emma="http://www.w3.org/2003/04/emma" version="1.0">
        <emma:interpretation id="{45514202-F4F7-488C-8E97-38D260EF14DB}" emma:medium="tactile" emma:mode="ink">
          <msink:context xmlns:msink="http://schemas.microsoft.com/ink/2010/main" type="inkDrawing" rotatedBoundingBox="9396,11301 11216,11413 11213,11468 9393,11357" shapeName="Other"/>
        </emma:interpretation>
      </emma:emma>
    </inkml:annotationXML>
    <inkml:trace contextRef="#ctx0" brushRef="#br0">0 0,'0'0,"0"0,144 0,-144 0,48 0,143 0,-95 0,0 0,48 0,48 0,-97 48,49-48,0 0,0 0,-96 0,95 48,-95-48,0 0,0 0,0 0</inkml:trace>
  </inkml:traceGroup>
</inkml:ink>
</file>

<file path=ppt/ink/ink1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18T05:58:08.377"/>
    </inkml:context>
    <inkml:brush xml:id="br0">
      <inkml:brushProperty name="width" value="0.06667" units="cm"/>
      <inkml:brushProperty name="height" value="0.06667" units="cm"/>
      <inkml:brushProperty name="color" value="#3165BB"/>
      <inkml:brushProperty name="fitToCurve" value="1"/>
    </inkml:brush>
  </inkml:definitions>
  <inkml:trace contextRef="#ctx0" brushRef="#br0">0 1294,'48'-48,"-48"48,96 0,0 0,48 0,-49 0,1 0,96 0,-48 0,-1 0,49 0,-48 0,48 0,47 0,-47 0,48 0,47 0,1 0,-97 0,1 0,144-47,-1-49,-47 96,-97-48,49 48,95 0,-95-48,48-48,-49 48,-47 0,95 48,-47-48,-96 48,191-144,-143 144,96 0,-97-95,1 95,0 0,47-48,1-48,-144 96,191 0,-47 0,0-48,-1 48,49-96,-97 96,1-48,-48 0,-144 48,144 0,-1-48,-95 48,48-48,0 48,-96 0,96 0,-48-48,-48 48,96 0,-96 0</inkml:trace>
</inkml:ink>
</file>

<file path=ppt/ink/ink1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22T05:47:57.506"/>
    </inkml:context>
    <inkml:brush xml:id="br0">
      <inkml:brushProperty name="width" value="0.04667" units="cm"/>
      <inkml:brushProperty name="height" value="0.04667" units="cm"/>
      <inkml:brushProperty name="color" value="#3165BB"/>
      <inkml:brushProperty name="fitToCurve" value="1"/>
    </inkml:brush>
  </inkml:definitions>
  <inkml:traceGroup>
    <inkml:annotationXML>
      <emma:emma xmlns:emma="http://www.w3.org/2003/04/emma" version="1.0">
        <emma:interpretation id="{22828355-72A6-4091-A100-FB24AB079601}" emma:medium="tactile" emma:mode="ink">
          <msink:context xmlns:msink="http://schemas.microsoft.com/ink/2010/main" type="inkDrawing" rotatedBoundingBox="15144,23626 15159,23626 15159,23641 15144,23641" shapeName="Other"/>
        </emma:interpretation>
      </emma:emma>
    </inkml:annotationXML>
    <inkml:trace contextRef="#ctx0" brushRef="#br0">0 0</inkml:trace>
  </inkml:traceGroup>
</inkml:ink>
</file>

<file path=ppt/ink/ink1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22T05:52:51.403"/>
    </inkml:context>
    <inkml:brush xml:id="br0">
      <inkml:brushProperty name="width" value="0.04667" units="cm"/>
      <inkml:brushProperty name="height" value="0.04667" units="cm"/>
      <inkml:brushProperty name="color" value="#3165BB"/>
      <inkml:brushProperty name="fitToCurve" value="1"/>
    </inkml:brush>
  </inkml:definitions>
  <inkml:traceGroup>
    <inkml:annotationXML>
      <emma:emma xmlns:emma="http://www.w3.org/2003/04/emma" version="1.0">
        <emma:interpretation id="{B7A4690B-0AED-46BB-A463-AD3CEEEFC6EB}" emma:medium="tactile" emma:mode="ink">
          <msink:context xmlns:msink="http://schemas.microsoft.com/ink/2010/main" type="writingRegion" rotatedBoundingBox="37237,7236 37252,7236 37252,7251 37237,7251"/>
        </emma:interpretation>
      </emma:emma>
    </inkml:annotationXML>
    <inkml:traceGroup>
      <inkml:annotationXML>
        <emma:emma xmlns:emma="http://www.w3.org/2003/04/emma" version="1.0">
          <emma:interpretation id="{5C736521-09A5-4D97-AE08-C679702B31BB}" emma:medium="tactile" emma:mode="ink">
            <msink:context xmlns:msink="http://schemas.microsoft.com/ink/2010/main" type="paragraph" rotatedBoundingBox="37237,7236 37252,7236 37252,7251 37237,7251" alignmentLevel="1"/>
          </emma:interpretation>
        </emma:emma>
      </inkml:annotationXML>
      <inkml:traceGroup>
        <inkml:annotationXML>
          <emma:emma xmlns:emma="http://www.w3.org/2003/04/emma" version="1.0">
            <emma:interpretation id="{0D5EAABC-BB00-477B-A75B-92B7A50ED00F}" emma:medium="tactile" emma:mode="ink">
              <msink:context xmlns:msink="http://schemas.microsoft.com/ink/2010/main" type="line" rotatedBoundingBox="37237,7236 37252,7236 37252,7251 37237,7251"/>
            </emma:interpretation>
          </emma:emma>
        </inkml:annotationXML>
        <inkml:traceGroup>
          <inkml:annotationXML>
            <emma:emma xmlns:emma="http://www.w3.org/2003/04/emma" version="1.0">
              <emma:interpretation id="{DDCC9ED8-68EE-41A4-A5BE-06495E7C5B3E}" emma:medium="tactile" emma:mode="ink">
                <msink:context xmlns:msink="http://schemas.microsoft.com/ink/2010/main" type="inkWord" rotatedBoundingBox="37237,7236 37252,7236 37252,7251 37237,7251"/>
              </emma:interpretation>
              <emma:one-of disjunction-type="recognition" id="oneOf0">
                <emma:interpretation id="interp0" emma:lang="en-US" emma:confidence="0">
                  <emma:literal>.</emma:literal>
                </emma:interpretation>
                <emma:interpretation id="interp1" emma:lang="en-US" emma:confidence="0">
                  <emma:literal>v</emma:literal>
                </emma:interpretation>
                <emma:interpretation id="interp2" emma:lang="en-US" emma:confidence="0">
                  <emma:literal>}</emma:literal>
                </emma:interpretation>
                <emma:interpretation id="interp3" emma:lang="en-US" emma:confidence="0">
                  <emma:literal>w</emma:literal>
                </emma:interpretation>
                <emma:interpretation id="interp4" emma:lang="en-US" emma:confidence="0">
                  <emma:literal>3</emma:literal>
                </emma:interpretation>
              </emma:one-of>
            </emma:emma>
          </inkml:annotationXML>
          <inkml:trace contextRef="#ctx0" brushRef="#br0">0 0</inkml:trace>
        </inkml:traceGroup>
      </inkml:traceGroup>
    </inkml:traceGroup>
  </inkml:traceGroup>
</inkml:ink>
</file>

<file path=ppt/ink/ink1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2-02-22T05:55:31.003"/>
    </inkml:context>
    <inkml:brush xml:id="br0">
      <inkml:brushProperty name="width" value="0.06667" units="cm"/>
      <inkml:brushProperty name="height" value="0.06667" units="cm"/>
      <inkml:brushProperty name="color" value="#ED1C24"/>
      <inkml:brushProperty name="fitToCurve" value="1"/>
    </inkml:brush>
  </inkml:definitions>
  <inkml:traceGroup>
    <inkml:annotationXML>
      <emma:emma xmlns:emma="http://www.w3.org/2003/04/emma" version="1.0">
        <emma:interpretation id="{A1888BF9-09EE-4F63-8BB7-124E89926043}" emma:medium="tactile" emma:mode="ink">
          <msink:context xmlns:msink="http://schemas.microsoft.com/ink/2010/main" type="inkDrawing" rotatedBoundingBox="13994,17348 14009,17348 14009,17363 13994,17363" shapeName="Other"/>
        </emma:interpretation>
      </emma:emma>
    </inkml:annotationXML>
    <inkml:trace contextRef="#ctx0" brushRef="#br0">0 0</inkml:trace>
  </inkml:traceGroup>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atin typeface="Book Antiqua"/>
              </a:defRPr>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atin typeface="Book Antiqua"/>
              </a:defRPr>
            </a:lvl1pPr>
          </a:lstStyle>
          <a:p>
            <a:fld id="{E1EEBE56-20E2-E74D-9035-27D8EAEB0526}" type="datetimeFigureOut">
              <a:rPr lang="en-US" smtClean="0"/>
              <a:pPr/>
              <a:t>10/22/2024</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atin typeface="Book Antiqua"/>
              </a:defRPr>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atin typeface="Book Antiqua"/>
              </a:defRPr>
            </a:lvl1pPr>
          </a:lstStyle>
          <a:p>
            <a:fld id="{AC742AA2-86C2-2445-8FBF-A051532B6693}" type="slidenum">
              <a:rPr lang="en-US" smtClean="0"/>
              <a:pPr/>
              <a:t>‹#›</a:t>
            </a:fld>
            <a:endParaRPr lang="en-US" dirty="0"/>
          </a:p>
        </p:txBody>
      </p:sp>
    </p:spTree>
    <p:extLst>
      <p:ext uri="{BB962C8B-B14F-4D97-AF65-F5344CB8AC3E}">
        <p14:creationId xmlns:p14="http://schemas.microsoft.com/office/powerpoint/2010/main" val="257785251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lvl1pPr algn="l" defTabSz="923925" eaLnBrk="0" hangingPunct="0">
              <a:spcBef>
                <a:spcPct val="30000"/>
              </a:spcBef>
              <a:defRPr sz="1200">
                <a:solidFill>
                  <a:schemeClr val="tx1"/>
                </a:solidFill>
                <a:latin typeface="Arial" pitchFamily="34" charset="0"/>
                <a:cs typeface="Arial" pitchFamily="34" charset="0"/>
              </a:defRPr>
            </a:lvl1pPr>
            <a:lvl2pPr marL="742950" indent="-285750" algn="l" defTabSz="923925" eaLnBrk="0" hangingPunct="0">
              <a:spcBef>
                <a:spcPct val="30000"/>
              </a:spcBef>
              <a:defRPr sz="1200">
                <a:solidFill>
                  <a:schemeClr val="tx1"/>
                </a:solidFill>
                <a:latin typeface="Arial" pitchFamily="34" charset="0"/>
                <a:cs typeface="Arial" pitchFamily="34" charset="0"/>
              </a:defRPr>
            </a:lvl2pPr>
            <a:lvl3pPr marL="1143000" indent="-228600" algn="l" defTabSz="923925" eaLnBrk="0" hangingPunct="0">
              <a:spcBef>
                <a:spcPct val="30000"/>
              </a:spcBef>
              <a:defRPr sz="1200">
                <a:solidFill>
                  <a:schemeClr val="tx1"/>
                </a:solidFill>
                <a:latin typeface="Arial" pitchFamily="34" charset="0"/>
                <a:cs typeface="Arial" pitchFamily="34" charset="0"/>
              </a:defRPr>
            </a:lvl3pPr>
            <a:lvl4pPr marL="1600200" indent="-228600" algn="l" defTabSz="923925" eaLnBrk="0" hangingPunct="0">
              <a:spcBef>
                <a:spcPct val="30000"/>
              </a:spcBef>
              <a:defRPr sz="1200">
                <a:solidFill>
                  <a:schemeClr val="tx1"/>
                </a:solidFill>
                <a:latin typeface="Arial" pitchFamily="34" charset="0"/>
                <a:cs typeface="Arial" pitchFamily="34" charset="0"/>
              </a:defRPr>
            </a:lvl4pPr>
            <a:lvl5pPr marL="2057400" indent="-228600" algn="l" defTabSz="923925" eaLnBrk="0" hangingPunct="0">
              <a:spcBef>
                <a:spcPct val="30000"/>
              </a:spcBef>
              <a:defRPr sz="1200">
                <a:solidFill>
                  <a:schemeClr val="tx1"/>
                </a:solidFill>
                <a:latin typeface="Arial" pitchFamily="34" charset="0"/>
                <a:cs typeface="Arial" pitchFamily="34" charset="0"/>
              </a:defRPr>
            </a:lvl5pPr>
            <a:lvl6pPr marL="2514600" indent="-228600" defTabSz="923925" eaLnBrk="0" fontAlgn="base" hangingPunct="0">
              <a:spcBef>
                <a:spcPct val="30000"/>
              </a:spcBef>
              <a:spcAft>
                <a:spcPct val="0"/>
              </a:spcAft>
              <a:defRPr sz="1200">
                <a:solidFill>
                  <a:schemeClr val="tx1"/>
                </a:solidFill>
                <a:latin typeface="Arial" pitchFamily="34" charset="0"/>
                <a:cs typeface="Arial" pitchFamily="34" charset="0"/>
              </a:defRPr>
            </a:lvl6pPr>
            <a:lvl7pPr marL="2971800" indent="-228600" defTabSz="923925" eaLnBrk="0" fontAlgn="base" hangingPunct="0">
              <a:spcBef>
                <a:spcPct val="30000"/>
              </a:spcBef>
              <a:spcAft>
                <a:spcPct val="0"/>
              </a:spcAft>
              <a:defRPr sz="1200">
                <a:solidFill>
                  <a:schemeClr val="tx1"/>
                </a:solidFill>
                <a:latin typeface="Arial" pitchFamily="34" charset="0"/>
                <a:cs typeface="Arial" pitchFamily="34" charset="0"/>
              </a:defRPr>
            </a:lvl7pPr>
            <a:lvl8pPr marL="3429000" indent="-228600" defTabSz="923925" eaLnBrk="0" fontAlgn="base" hangingPunct="0">
              <a:spcBef>
                <a:spcPct val="30000"/>
              </a:spcBef>
              <a:spcAft>
                <a:spcPct val="0"/>
              </a:spcAft>
              <a:defRPr sz="1200">
                <a:solidFill>
                  <a:schemeClr val="tx1"/>
                </a:solidFill>
                <a:latin typeface="Arial" pitchFamily="34" charset="0"/>
                <a:cs typeface="Arial" pitchFamily="34" charset="0"/>
              </a:defRPr>
            </a:lvl8pPr>
            <a:lvl9pPr marL="3886200" indent="-228600" defTabSz="923925" eaLnBrk="0" fontAlgn="base" hangingPunct="0">
              <a:spcBef>
                <a:spcPct val="30000"/>
              </a:spcBef>
              <a:spcAft>
                <a:spcPct val="0"/>
              </a:spcAft>
              <a:defRPr sz="1200">
                <a:solidFill>
                  <a:schemeClr val="tx1"/>
                </a:solidFill>
                <a:latin typeface="Arial" pitchFamily="34" charset="0"/>
                <a:cs typeface="Arial" pitchFamily="34" charset="0"/>
              </a:defRPr>
            </a:lvl9pPr>
          </a:lstStyle>
          <a:p>
            <a:pPr algn="r" eaLnBrk="1" hangingPunct="1">
              <a:spcBef>
                <a:spcPct val="0"/>
              </a:spcBef>
            </a:pPr>
            <a:fld id="{23B136DA-9D63-4149-A750-4D56D93B1BDF}" type="slidenum">
              <a:rPr lang="en-US" altLang="en-US" smtClean="0"/>
              <a:pPr algn="r" eaLnBrk="1" hangingPunct="1">
                <a:spcBef>
                  <a:spcPct val="0"/>
                </a:spcBef>
              </a:pPr>
              <a:t>4</a:t>
            </a:fld>
            <a:endParaRPr lang="en-US" altLang="en-US" smtClean="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xfrm>
            <a:off x="1189038" y="703263"/>
            <a:ext cx="4632325" cy="347345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a:xfrm>
            <a:off x="1189038" y="703263"/>
            <a:ext cx="4632325" cy="347345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lvl1pPr algn="l" defTabSz="923925" eaLnBrk="0" hangingPunct="0">
              <a:spcBef>
                <a:spcPct val="30000"/>
              </a:spcBef>
              <a:defRPr sz="1200">
                <a:solidFill>
                  <a:schemeClr val="tx1"/>
                </a:solidFill>
                <a:latin typeface="Arial" pitchFamily="34" charset="0"/>
                <a:cs typeface="Arial" pitchFamily="34" charset="0"/>
              </a:defRPr>
            </a:lvl1pPr>
            <a:lvl2pPr marL="742950" indent="-285750" algn="l" defTabSz="923925" eaLnBrk="0" hangingPunct="0">
              <a:spcBef>
                <a:spcPct val="30000"/>
              </a:spcBef>
              <a:defRPr sz="1200">
                <a:solidFill>
                  <a:schemeClr val="tx1"/>
                </a:solidFill>
                <a:latin typeface="Arial" pitchFamily="34" charset="0"/>
                <a:cs typeface="Arial" pitchFamily="34" charset="0"/>
              </a:defRPr>
            </a:lvl2pPr>
            <a:lvl3pPr marL="1143000" indent="-228600" algn="l" defTabSz="923925" eaLnBrk="0" hangingPunct="0">
              <a:spcBef>
                <a:spcPct val="30000"/>
              </a:spcBef>
              <a:defRPr sz="1200">
                <a:solidFill>
                  <a:schemeClr val="tx1"/>
                </a:solidFill>
                <a:latin typeface="Arial" pitchFamily="34" charset="0"/>
                <a:cs typeface="Arial" pitchFamily="34" charset="0"/>
              </a:defRPr>
            </a:lvl3pPr>
            <a:lvl4pPr marL="1600200" indent="-228600" algn="l" defTabSz="923925" eaLnBrk="0" hangingPunct="0">
              <a:spcBef>
                <a:spcPct val="30000"/>
              </a:spcBef>
              <a:defRPr sz="1200">
                <a:solidFill>
                  <a:schemeClr val="tx1"/>
                </a:solidFill>
                <a:latin typeface="Arial" pitchFamily="34" charset="0"/>
                <a:cs typeface="Arial" pitchFamily="34" charset="0"/>
              </a:defRPr>
            </a:lvl4pPr>
            <a:lvl5pPr marL="2057400" indent="-228600" algn="l" defTabSz="923925" eaLnBrk="0" hangingPunct="0">
              <a:spcBef>
                <a:spcPct val="30000"/>
              </a:spcBef>
              <a:defRPr sz="1200">
                <a:solidFill>
                  <a:schemeClr val="tx1"/>
                </a:solidFill>
                <a:latin typeface="Arial" pitchFamily="34" charset="0"/>
                <a:cs typeface="Arial" pitchFamily="34" charset="0"/>
              </a:defRPr>
            </a:lvl5pPr>
            <a:lvl6pPr marL="2514600" indent="-228600" defTabSz="923925" eaLnBrk="0" fontAlgn="base" hangingPunct="0">
              <a:spcBef>
                <a:spcPct val="30000"/>
              </a:spcBef>
              <a:spcAft>
                <a:spcPct val="0"/>
              </a:spcAft>
              <a:defRPr sz="1200">
                <a:solidFill>
                  <a:schemeClr val="tx1"/>
                </a:solidFill>
                <a:latin typeface="Arial" pitchFamily="34" charset="0"/>
                <a:cs typeface="Arial" pitchFamily="34" charset="0"/>
              </a:defRPr>
            </a:lvl6pPr>
            <a:lvl7pPr marL="2971800" indent="-228600" defTabSz="923925" eaLnBrk="0" fontAlgn="base" hangingPunct="0">
              <a:spcBef>
                <a:spcPct val="30000"/>
              </a:spcBef>
              <a:spcAft>
                <a:spcPct val="0"/>
              </a:spcAft>
              <a:defRPr sz="1200">
                <a:solidFill>
                  <a:schemeClr val="tx1"/>
                </a:solidFill>
                <a:latin typeface="Arial" pitchFamily="34" charset="0"/>
                <a:cs typeface="Arial" pitchFamily="34" charset="0"/>
              </a:defRPr>
            </a:lvl7pPr>
            <a:lvl8pPr marL="3429000" indent="-228600" defTabSz="923925" eaLnBrk="0" fontAlgn="base" hangingPunct="0">
              <a:spcBef>
                <a:spcPct val="30000"/>
              </a:spcBef>
              <a:spcAft>
                <a:spcPct val="0"/>
              </a:spcAft>
              <a:defRPr sz="1200">
                <a:solidFill>
                  <a:schemeClr val="tx1"/>
                </a:solidFill>
                <a:latin typeface="Arial" pitchFamily="34" charset="0"/>
                <a:cs typeface="Arial" pitchFamily="34" charset="0"/>
              </a:defRPr>
            </a:lvl8pPr>
            <a:lvl9pPr marL="3886200" indent="-228600" defTabSz="923925" eaLnBrk="0" fontAlgn="base" hangingPunct="0">
              <a:spcBef>
                <a:spcPct val="30000"/>
              </a:spcBef>
              <a:spcAft>
                <a:spcPct val="0"/>
              </a:spcAft>
              <a:defRPr sz="1200">
                <a:solidFill>
                  <a:schemeClr val="tx1"/>
                </a:solidFill>
                <a:latin typeface="Arial" pitchFamily="34" charset="0"/>
                <a:cs typeface="Arial" pitchFamily="34" charset="0"/>
              </a:defRPr>
            </a:lvl9pPr>
          </a:lstStyle>
          <a:p>
            <a:pPr algn="r" eaLnBrk="1" hangingPunct="1">
              <a:spcBef>
                <a:spcPct val="0"/>
              </a:spcBef>
            </a:pPr>
            <a:fld id="{23B136DA-9D63-4149-A750-4D56D93B1BDF}" type="slidenum">
              <a:rPr lang="en-US" altLang="en-US" smtClean="0"/>
              <a:pPr algn="r" eaLnBrk="1" hangingPunct="1">
                <a:spcBef>
                  <a:spcPct val="0"/>
                </a:spcBef>
              </a:pPr>
              <a:t>11</a:t>
            </a:fld>
            <a:endParaRPr lang="en-US" altLang="en-US" smtClean="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p:nvPr>
        </p:nvSpPr>
        <p:spPr>
          <a:xfrm>
            <a:off x="1189038" y="703263"/>
            <a:ext cx="4632325" cy="347345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xfrm>
            <a:off x="1189038" y="703263"/>
            <a:ext cx="4632325" cy="3473450"/>
          </a:xfrm>
          <a:ln cap="flat"/>
          <a:extLst>
            <a:ext uri="{FAA26D3D-D897-4be2-8F04-BA451C77F1D7}">
              <ma14:placeholderFlag xmlns:ma14="http://schemas.microsoft.com/office/mac/drawingml/2011/main" xmlns="" val="1"/>
            </a:ext>
          </a:extLst>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xfrm>
            <a:off x="1189038" y="703263"/>
            <a:ext cx="4632325" cy="347345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xfrm>
            <a:off x="1189038" y="703263"/>
            <a:ext cx="4632325" cy="347345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a:xfrm>
            <a:off x="1189038" y="703263"/>
            <a:ext cx="4632325" cy="347345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1189038" y="703263"/>
            <a:ext cx="4632325" cy="347345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1189038" y="703263"/>
            <a:ext cx="4632325" cy="347345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1189038" y="703263"/>
            <a:ext cx="4632325" cy="347345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xfrm>
            <a:off x="1189038" y="703263"/>
            <a:ext cx="4632325" cy="347345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C742AA2-86C2-2445-8FBF-A051532B6693}" type="slidenum">
              <a:rPr lang="en-US" smtClean="0"/>
              <a:pPr/>
              <a:t>33</a:t>
            </a:fld>
            <a:endParaRPr lang="en-US" dirty="0"/>
          </a:p>
        </p:txBody>
      </p:sp>
    </p:spTree>
    <p:extLst>
      <p:ext uri="{BB962C8B-B14F-4D97-AF65-F5344CB8AC3E}">
        <p14:creationId xmlns:p14="http://schemas.microsoft.com/office/powerpoint/2010/main" val="2837301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1211263" y="-44450"/>
            <a:ext cx="4587875" cy="344170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1189038" y="703263"/>
            <a:ext cx="4632325" cy="347345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1189038" y="703263"/>
            <a:ext cx="4632325" cy="347345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xfrm>
            <a:off x="1189038" y="703263"/>
            <a:ext cx="4632325" cy="3473450"/>
          </a:xfrm>
          <a:ln cap="flat"/>
          <a:extLst>
            <a:ext uri="{FAA26D3D-D897-4be2-8F04-BA451C77F1D7}">
              <ma14:placeholderFlag xmlns="" xmlns:ma14="http://schemas.microsoft.com/office/mac/drawingml/2011/main" val="1"/>
            </a:ext>
          </a:extLst>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xfrm>
            <a:off x="1189038" y="703263"/>
            <a:ext cx="4632325" cy="3473450"/>
          </a:xfrm>
          <a:ln cap="flat"/>
          <a:extLst>
            <a:ext uri="{FAA26D3D-D897-4be2-8F04-BA451C77F1D7}">
              <ma14:placeholderFlag xmlns="" xmlns:ma14="http://schemas.microsoft.com/office/mac/drawingml/2011/main" val="1"/>
            </a:ext>
          </a:extLs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CA" smtClean="0"/>
              <a:t>Click to edit Master title style</a:t>
            </a:r>
            <a:endParaRPr 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CA" smtClean="0"/>
              <a:t>Click to edit Master subtitle style</a:t>
            </a:r>
            <a:endParaRPr lang="en-US"/>
          </a:p>
        </p:txBody>
      </p:sp>
      <p:sp>
        <p:nvSpPr>
          <p:cNvPr id="4" name="Slide Number Placeholder 3"/>
          <p:cNvSpPr>
            <a:spLocks noGrp="1"/>
          </p:cNvSpPr>
          <p:nvPr>
            <p:ph type="sldNum" sz="quarter" idx="10"/>
          </p:nvPr>
        </p:nvSpPr>
        <p:spPr>
          <a:xfrm>
            <a:off x="11758984" y="9499600"/>
            <a:ext cx="864816" cy="304800"/>
          </a:xfrm>
          <a:prstGeom prst="rect">
            <a:avLst/>
          </a:prstGeom>
        </p:spPr>
        <p:txBody>
          <a:bodyPr/>
          <a:lstStyle>
            <a:lvl1pPr>
              <a:defRPr/>
            </a:lvl1pPr>
          </a:lstStyle>
          <a:p>
            <a:r>
              <a:rPr lang="en-US" dirty="0" err="1" smtClean="0">
                <a:latin typeface="Book Antiqua"/>
              </a:rPr>
              <a:t>Ch.x</a:t>
            </a:r>
            <a:r>
              <a:rPr lang="en-US" dirty="0" smtClean="0">
                <a:latin typeface="Book Antiqua"/>
              </a:rPr>
              <a:t>/</a:t>
            </a:r>
            <a:fld id="{B9BE72AF-AF1A-1E41-B881-D8119A052D15}" type="slidenum">
              <a:rPr lang="en-US" smtClean="0">
                <a:latin typeface="Book Antiqua"/>
              </a:rPr>
              <a:pPr/>
              <a:t>‹#›</a:t>
            </a:fld>
            <a:endParaRPr lang="en-US" dirty="0">
              <a:latin typeface="Book Antiqua"/>
            </a:endParaRPr>
          </a:p>
        </p:txBody>
      </p:sp>
    </p:spTree>
    <p:extLst>
      <p:ext uri="{BB962C8B-B14F-4D97-AF65-F5344CB8AC3E}">
        <p14:creationId xmlns:p14="http://schemas.microsoft.com/office/powerpoint/2010/main" val="113165020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Content Placeholder 2"/>
          <p:cNvSpPr>
            <a:spLocks noGrp="1"/>
          </p:cNvSpPr>
          <p:nvPr>
            <p:ph idx="1"/>
          </p:nvPr>
        </p:nvSpPr>
        <p:spPr/>
        <p:txBody>
          <a:body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Slide Number Placeholder 3"/>
          <p:cNvSpPr>
            <a:spLocks noGrp="1"/>
          </p:cNvSpPr>
          <p:nvPr>
            <p:ph type="sldNum" sz="quarter" idx="10"/>
          </p:nvPr>
        </p:nvSpPr>
        <p:spPr>
          <a:xfrm>
            <a:off x="11758984" y="9499600"/>
            <a:ext cx="864816" cy="304800"/>
          </a:xfrm>
          <a:prstGeom prst="rect">
            <a:avLst/>
          </a:prstGeom>
        </p:spPr>
        <p:txBody>
          <a:bodyPr/>
          <a:lstStyle>
            <a:lvl1pPr>
              <a:defRPr/>
            </a:lvl1pPr>
          </a:lstStyle>
          <a:p>
            <a:r>
              <a:rPr lang="en-US" dirty="0" err="1" smtClean="0">
                <a:latin typeface="Book Antiqua"/>
              </a:rPr>
              <a:t>Ch.x</a:t>
            </a:r>
            <a:r>
              <a:rPr lang="en-US" dirty="0" smtClean="0">
                <a:latin typeface="Book Antiqua"/>
              </a:rPr>
              <a:t>/</a:t>
            </a:r>
            <a:fld id="{D01B99BC-F82C-D046-99BD-FBA1D66F1CB4}" type="slidenum">
              <a:rPr lang="en-US" smtClean="0">
                <a:latin typeface="Book Antiqua"/>
              </a:rPr>
              <a:pPr/>
              <a:t>‹#›</a:t>
            </a:fld>
            <a:endParaRPr lang="en-US" dirty="0">
              <a:latin typeface="Book Antiqua"/>
            </a:endParaRPr>
          </a:p>
        </p:txBody>
      </p:sp>
    </p:spTree>
    <p:extLst>
      <p:ext uri="{BB962C8B-B14F-4D97-AF65-F5344CB8AC3E}">
        <p14:creationId xmlns:p14="http://schemas.microsoft.com/office/powerpoint/2010/main" val="408700831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CA" smtClean="0"/>
              <a:t>Click to edit Master title style</a:t>
            </a:r>
            <a:endParaRPr 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CA" smtClean="0"/>
              <a:t>Click to edit Master text styles</a:t>
            </a:r>
          </a:p>
        </p:txBody>
      </p:sp>
      <p:sp>
        <p:nvSpPr>
          <p:cNvPr id="4" name="Slide Number Placeholder 3"/>
          <p:cNvSpPr>
            <a:spLocks noGrp="1"/>
          </p:cNvSpPr>
          <p:nvPr>
            <p:ph type="sldNum" sz="quarter" idx="10"/>
          </p:nvPr>
        </p:nvSpPr>
        <p:spPr>
          <a:xfrm>
            <a:off x="12357100" y="9499600"/>
            <a:ext cx="266700" cy="304800"/>
          </a:xfrm>
          <a:prstGeom prst="rect">
            <a:avLst/>
          </a:prstGeom>
        </p:spPr>
        <p:txBody>
          <a:bodyPr/>
          <a:lstStyle>
            <a:lvl1pPr>
              <a:defRPr>
                <a:latin typeface="Book Antiqua"/>
              </a:defRPr>
            </a:lvl1pPr>
          </a:lstStyle>
          <a:p>
            <a:fld id="{C12595A0-9662-7443-BA62-0D3B6483FF39}" type="slidenum">
              <a:rPr lang="en-US" smtClean="0"/>
              <a:pPr/>
              <a:t>‹#›</a:t>
            </a:fld>
            <a:endParaRPr lang="en-US" dirty="0"/>
          </a:p>
        </p:txBody>
      </p:sp>
    </p:spTree>
    <p:extLst>
      <p:ext uri="{BB962C8B-B14F-4D97-AF65-F5344CB8AC3E}">
        <p14:creationId xmlns:p14="http://schemas.microsoft.com/office/powerpoint/2010/main" val="1420794658"/>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Content Placeholder 2"/>
          <p:cNvSpPr>
            <a:spLocks noGrp="1"/>
          </p:cNvSpPr>
          <p:nvPr>
            <p:ph sz="half" idx="1"/>
          </p:nvPr>
        </p:nvSpPr>
        <p:spPr>
          <a:xfrm>
            <a:off x="342900" y="2489200"/>
            <a:ext cx="6070600" cy="6769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Content Placeholder 3"/>
          <p:cNvSpPr>
            <a:spLocks noGrp="1"/>
          </p:cNvSpPr>
          <p:nvPr>
            <p:ph sz="half" idx="2"/>
          </p:nvPr>
        </p:nvSpPr>
        <p:spPr>
          <a:xfrm>
            <a:off x="6565900" y="2489200"/>
            <a:ext cx="6070600" cy="6769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5" name="Slide Number Placeholder 4"/>
          <p:cNvSpPr>
            <a:spLocks noGrp="1"/>
          </p:cNvSpPr>
          <p:nvPr>
            <p:ph type="sldNum" sz="quarter" idx="10"/>
          </p:nvPr>
        </p:nvSpPr>
        <p:spPr>
          <a:xfrm>
            <a:off x="12357100" y="9499600"/>
            <a:ext cx="266700" cy="304800"/>
          </a:xfrm>
          <a:prstGeom prst="rect">
            <a:avLst/>
          </a:prstGeom>
        </p:spPr>
        <p:txBody>
          <a:bodyPr/>
          <a:lstStyle>
            <a:lvl1pPr>
              <a:defRPr>
                <a:latin typeface="Book Antiqua"/>
              </a:defRPr>
            </a:lvl1pPr>
          </a:lstStyle>
          <a:p>
            <a:fld id="{F0ED71BB-118A-9E4C-B08B-8FE12AFF2AE2}" type="slidenum">
              <a:rPr lang="en-US" smtClean="0"/>
              <a:pPr/>
              <a:t>‹#›</a:t>
            </a:fld>
            <a:endParaRPr lang="en-US" dirty="0"/>
          </a:p>
        </p:txBody>
      </p:sp>
    </p:spTree>
    <p:extLst>
      <p:ext uri="{BB962C8B-B14F-4D97-AF65-F5344CB8AC3E}">
        <p14:creationId xmlns:p14="http://schemas.microsoft.com/office/powerpoint/2010/main" val="291655384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CA" smtClean="0"/>
              <a:t>Click to edit Master title style</a:t>
            </a:r>
            <a:endParaRPr 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7" name="Slide Number Placeholder 6"/>
          <p:cNvSpPr>
            <a:spLocks noGrp="1"/>
          </p:cNvSpPr>
          <p:nvPr>
            <p:ph type="sldNum" sz="quarter" idx="10"/>
          </p:nvPr>
        </p:nvSpPr>
        <p:spPr>
          <a:xfrm>
            <a:off x="12357100" y="9499600"/>
            <a:ext cx="266700" cy="304800"/>
          </a:xfrm>
          <a:prstGeom prst="rect">
            <a:avLst/>
          </a:prstGeom>
        </p:spPr>
        <p:txBody>
          <a:bodyPr/>
          <a:lstStyle>
            <a:lvl1pPr>
              <a:defRPr>
                <a:latin typeface="Book Antiqua"/>
              </a:defRPr>
            </a:lvl1pPr>
          </a:lstStyle>
          <a:p>
            <a:fld id="{65069F6B-CB1A-844B-A44A-5B7ABA595AA7}" type="slidenum">
              <a:rPr lang="en-US" smtClean="0"/>
              <a:pPr/>
              <a:t>‹#›</a:t>
            </a:fld>
            <a:endParaRPr lang="en-US" dirty="0"/>
          </a:p>
        </p:txBody>
      </p:sp>
    </p:spTree>
    <p:extLst>
      <p:ext uri="{BB962C8B-B14F-4D97-AF65-F5344CB8AC3E}">
        <p14:creationId xmlns:p14="http://schemas.microsoft.com/office/powerpoint/2010/main" val="192605966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Slide Number Placeholder 2"/>
          <p:cNvSpPr>
            <a:spLocks noGrp="1"/>
          </p:cNvSpPr>
          <p:nvPr>
            <p:ph type="sldNum" sz="quarter" idx="10"/>
          </p:nvPr>
        </p:nvSpPr>
        <p:spPr>
          <a:xfrm>
            <a:off x="12357100" y="9499600"/>
            <a:ext cx="266700" cy="304800"/>
          </a:xfrm>
          <a:prstGeom prst="rect">
            <a:avLst/>
          </a:prstGeom>
        </p:spPr>
        <p:txBody>
          <a:bodyPr/>
          <a:lstStyle>
            <a:lvl1pPr>
              <a:defRPr>
                <a:latin typeface="Book Antiqua"/>
              </a:defRPr>
            </a:lvl1pPr>
          </a:lstStyle>
          <a:p>
            <a:fld id="{8801E1DC-9A09-2845-A773-BB78DAEA5475}" type="slidenum">
              <a:rPr lang="en-US" smtClean="0"/>
              <a:pPr/>
              <a:t>‹#›</a:t>
            </a:fld>
            <a:endParaRPr lang="en-US" dirty="0"/>
          </a:p>
        </p:txBody>
      </p:sp>
    </p:spTree>
    <p:extLst>
      <p:ext uri="{BB962C8B-B14F-4D97-AF65-F5344CB8AC3E}">
        <p14:creationId xmlns:p14="http://schemas.microsoft.com/office/powerpoint/2010/main" val="84965515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12357100" y="9499600"/>
            <a:ext cx="266700" cy="304800"/>
          </a:xfrm>
          <a:prstGeom prst="rect">
            <a:avLst/>
          </a:prstGeom>
        </p:spPr>
        <p:txBody>
          <a:bodyPr/>
          <a:lstStyle>
            <a:lvl1pPr>
              <a:defRPr>
                <a:latin typeface="Book Antiqua"/>
              </a:defRPr>
            </a:lvl1pPr>
          </a:lstStyle>
          <a:p>
            <a:fld id="{E37D4F0C-152B-054F-ABE3-C9D65816304B}" type="slidenum">
              <a:rPr lang="en-US" smtClean="0"/>
              <a:pPr/>
              <a:t>‹#›</a:t>
            </a:fld>
            <a:endParaRPr lang="en-US" dirty="0"/>
          </a:p>
        </p:txBody>
      </p:sp>
    </p:spTree>
    <p:extLst>
      <p:ext uri="{BB962C8B-B14F-4D97-AF65-F5344CB8AC3E}">
        <p14:creationId xmlns:p14="http://schemas.microsoft.com/office/powerpoint/2010/main" val="139933715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CA" smtClean="0"/>
              <a:t>Click to edit Master title style</a:t>
            </a:r>
            <a:endParaRPr 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smtClean="0"/>
              <a:t>Click to edit Master text styles</a:t>
            </a:r>
          </a:p>
        </p:txBody>
      </p:sp>
      <p:sp>
        <p:nvSpPr>
          <p:cNvPr id="5" name="Slide Number Placeholder 4"/>
          <p:cNvSpPr>
            <a:spLocks noGrp="1"/>
          </p:cNvSpPr>
          <p:nvPr>
            <p:ph type="sldNum" sz="quarter" idx="10"/>
          </p:nvPr>
        </p:nvSpPr>
        <p:spPr>
          <a:xfrm>
            <a:off x="12357100" y="9499600"/>
            <a:ext cx="266700" cy="304800"/>
          </a:xfrm>
          <a:prstGeom prst="rect">
            <a:avLst/>
          </a:prstGeom>
        </p:spPr>
        <p:txBody>
          <a:bodyPr/>
          <a:lstStyle>
            <a:lvl1pPr>
              <a:defRPr>
                <a:latin typeface="Book Antiqua"/>
              </a:defRPr>
            </a:lvl1pPr>
          </a:lstStyle>
          <a:p>
            <a:fld id="{97C1C413-B9D3-E347-8928-0B2F53448097}" type="slidenum">
              <a:rPr lang="en-US" smtClean="0"/>
              <a:pPr/>
              <a:t>‹#›</a:t>
            </a:fld>
            <a:endParaRPr lang="en-US" dirty="0"/>
          </a:p>
        </p:txBody>
      </p:sp>
    </p:spTree>
    <p:extLst>
      <p:ext uri="{BB962C8B-B14F-4D97-AF65-F5344CB8AC3E}">
        <p14:creationId xmlns:p14="http://schemas.microsoft.com/office/powerpoint/2010/main" val="271564622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CA" smtClean="0"/>
              <a:t>Click to edit Master title style</a:t>
            </a:r>
            <a:endParaRPr 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CA" smtClean="0"/>
              <a:t>Drag picture to placeholder or click icon to add</a:t>
            </a:r>
            <a:endParaRPr lang="en-US"/>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smtClean="0"/>
              <a:t>Click to edit Master text styles</a:t>
            </a:r>
          </a:p>
        </p:txBody>
      </p:sp>
      <p:sp>
        <p:nvSpPr>
          <p:cNvPr id="5" name="Slide Number Placeholder 4"/>
          <p:cNvSpPr>
            <a:spLocks noGrp="1"/>
          </p:cNvSpPr>
          <p:nvPr>
            <p:ph type="sldNum" sz="quarter" idx="10"/>
          </p:nvPr>
        </p:nvSpPr>
        <p:spPr>
          <a:xfrm>
            <a:off x="12357100" y="9499600"/>
            <a:ext cx="266700" cy="304800"/>
          </a:xfrm>
          <a:prstGeom prst="rect">
            <a:avLst/>
          </a:prstGeom>
        </p:spPr>
        <p:txBody>
          <a:bodyPr/>
          <a:lstStyle>
            <a:lvl1pPr>
              <a:defRPr>
                <a:latin typeface="Book Antiqua"/>
              </a:defRPr>
            </a:lvl1pPr>
          </a:lstStyle>
          <a:p>
            <a:fld id="{B604E31D-27C9-7146-8686-2BC96041BB70}" type="slidenum">
              <a:rPr lang="en-US" smtClean="0"/>
              <a:pPr/>
              <a:t>‹#›</a:t>
            </a:fld>
            <a:endParaRPr lang="en-US" dirty="0"/>
          </a:p>
        </p:txBody>
      </p:sp>
    </p:spTree>
    <p:extLst>
      <p:ext uri="{BB962C8B-B14F-4D97-AF65-F5344CB8AC3E}">
        <p14:creationId xmlns:p14="http://schemas.microsoft.com/office/powerpoint/2010/main" val="289469194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Slide Number Placeholder 3"/>
          <p:cNvSpPr>
            <a:spLocks noGrp="1"/>
          </p:cNvSpPr>
          <p:nvPr>
            <p:ph type="sldNum" sz="quarter" idx="10"/>
          </p:nvPr>
        </p:nvSpPr>
        <p:spPr>
          <a:xfrm>
            <a:off x="12357100" y="9499600"/>
            <a:ext cx="266700" cy="304800"/>
          </a:xfrm>
          <a:prstGeom prst="rect">
            <a:avLst/>
          </a:prstGeom>
        </p:spPr>
        <p:txBody>
          <a:bodyPr/>
          <a:lstStyle>
            <a:lvl1pPr>
              <a:defRPr>
                <a:latin typeface="Book Antiqua"/>
              </a:defRPr>
            </a:lvl1pPr>
          </a:lstStyle>
          <a:p>
            <a:fld id="{FDF4A1D1-6440-3F47-BC8E-C1E8499F2E5A}" type="slidenum">
              <a:rPr lang="en-US" smtClean="0"/>
              <a:pPr/>
              <a:t>‹#›</a:t>
            </a:fld>
            <a:endParaRPr lang="en-US" dirty="0"/>
          </a:p>
        </p:txBody>
      </p:sp>
    </p:spTree>
    <p:extLst>
      <p:ext uri="{BB962C8B-B14F-4D97-AF65-F5344CB8AC3E}">
        <p14:creationId xmlns:p14="http://schemas.microsoft.com/office/powerpoint/2010/main" val="160071350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72625" y="444500"/>
            <a:ext cx="3076575" cy="8813800"/>
          </a:xfrm>
        </p:spPr>
        <p:txBody>
          <a:bodyPr vert="eaVert"/>
          <a:lstStyle/>
          <a:p>
            <a:r>
              <a:rPr lang="en-CA" smtClean="0"/>
              <a:t>Click to edit Master title style</a:t>
            </a:r>
            <a:endParaRPr lang="en-US"/>
          </a:p>
        </p:txBody>
      </p:sp>
      <p:sp>
        <p:nvSpPr>
          <p:cNvPr id="3" name="Vertical Text Placeholder 2"/>
          <p:cNvSpPr>
            <a:spLocks noGrp="1"/>
          </p:cNvSpPr>
          <p:nvPr>
            <p:ph type="body" orient="vert" idx="1"/>
          </p:nvPr>
        </p:nvSpPr>
        <p:spPr>
          <a:xfrm>
            <a:off x="342900" y="444500"/>
            <a:ext cx="9077325" cy="8813800"/>
          </a:xfrm>
        </p:spPr>
        <p:txBody>
          <a:bodyPr vert="eaVert"/>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Slide Number Placeholder 3"/>
          <p:cNvSpPr>
            <a:spLocks noGrp="1"/>
          </p:cNvSpPr>
          <p:nvPr>
            <p:ph type="sldNum" sz="quarter" idx="10"/>
          </p:nvPr>
        </p:nvSpPr>
        <p:spPr>
          <a:xfrm>
            <a:off x="12357100" y="9499600"/>
            <a:ext cx="266700" cy="304800"/>
          </a:xfrm>
          <a:prstGeom prst="rect">
            <a:avLst/>
          </a:prstGeom>
        </p:spPr>
        <p:txBody>
          <a:bodyPr/>
          <a:lstStyle>
            <a:lvl1pPr>
              <a:defRPr>
                <a:latin typeface="Book Antiqua"/>
              </a:defRPr>
            </a:lvl1pPr>
          </a:lstStyle>
          <a:p>
            <a:fld id="{2F3FA9A2-5116-5544-A00E-FC7EF8204AF7}" type="slidenum">
              <a:rPr lang="en-US" smtClean="0"/>
              <a:pPr/>
              <a:t>‹#›</a:t>
            </a:fld>
            <a:endParaRPr lang="en-US" dirty="0"/>
          </a:p>
        </p:txBody>
      </p:sp>
    </p:spTree>
    <p:extLst>
      <p:ext uri="{BB962C8B-B14F-4D97-AF65-F5344CB8AC3E}">
        <p14:creationId xmlns:p14="http://schemas.microsoft.com/office/powerpoint/2010/main" val="126636442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body" idx="1"/>
          </p:nvPr>
        </p:nvSpPr>
        <p:spPr bwMode="auto">
          <a:xfrm>
            <a:off x="342900" y="2489200"/>
            <a:ext cx="12293600" cy="676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FAA26D3D-D897-4be2-8F04-BA451C77F1D7}">
              <ma14:placeholderFlag xmlns="" xmlns:ma14="http://schemas.microsoft.com/office/mac/drawingml/2011/main" val="1"/>
            </a:ext>
          </a:extLst>
        </p:spPr>
        <p:txBody>
          <a:bodyPr vert="horz" wrap="square" lIns="50800" tIns="50800" rIns="50800" bIns="50800" numCol="1" anchor="t" anchorCtr="0" compatLnSpc="1">
            <a:prstTxWarp prst="textNoShape">
              <a:avLst/>
            </a:prstTxWarp>
          </a:bodyPr>
          <a:lstStyle/>
          <a:p>
            <a:pPr lvl="0"/>
            <a:r>
              <a:rPr lang="en-CA" dirty="0" smtClean="0">
                <a:sym typeface="Palatino" charset="0"/>
              </a:rPr>
              <a:t>Click to edit Master text styles</a:t>
            </a:r>
          </a:p>
          <a:p>
            <a:pPr lvl="1"/>
            <a:r>
              <a:rPr lang="en-CA" dirty="0" smtClean="0">
                <a:sym typeface="Palatino" charset="0"/>
              </a:rPr>
              <a:t>Second level</a:t>
            </a:r>
          </a:p>
          <a:p>
            <a:pPr lvl="2"/>
            <a:r>
              <a:rPr lang="en-CA" dirty="0" smtClean="0">
                <a:sym typeface="Palatino" charset="0"/>
              </a:rPr>
              <a:t>Third level</a:t>
            </a:r>
          </a:p>
          <a:p>
            <a:pPr lvl="3"/>
            <a:r>
              <a:rPr lang="en-CA" dirty="0" smtClean="0">
                <a:sym typeface="Palatino" charset="0"/>
              </a:rPr>
              <a:t>Fourth level</a:t>
            </a:r>
          </a:p>
          <a:p>
            <a:pPr lvl="4"/>
            <a:r>
              <a:rPr lang="en-CA" dirty="0" smtClean="0">
                <a:sym typeface="Palatino" charset="0"/>
              </a:rPr>
              <a:t>Fifth level</a:t>
            </a:r>
            <a:endParaRPr lang="en-US" dirty="0">
              <a:sym typeface="Palatino" charset="0"/>
            </a:endParaRPr>
          </a:p>
        </p:txBody>
      </p:sp>
      <p:sp>
        <p:nvSpPr>
          <p:cNvPr id="2050" name="Rectangle 2"/>
          <p:cNvSpPr>
            <a:spLocks noGrp="1" noChangeArrowheads="1"/>
          </p:cNvSpPr>
          <p:nvPr>
            <p:ph type="title"/>
          </p:nvPr>
        </p:nvSpPr>
        <p:spPr bwMode="auto">
          <a:xfrm>
            <a:off x="355600" y="444500"/>
            <a:ext cx="12293600" cy="161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FAA26D3D-D897-4be2-8F04-BA451C77F1D7}">
              <ma14:placeholderFlag xmlns="" xmlns:ma14="http://schemas.microsoft.com/office/mac/drawingml/2011/main" val="1"/>
            </a:ext>
          </a:extLst>
        </p:spPr>
        <p:txBody>
          <a:bodyPr vert="horz" wrap="square" lIns="50800" tIns="50800" rIns="50800" bIns="50800" numCol="1" anchor="ctr" anchorCtr="0" compatLnSpc="1">
            <a:prstTxWarp prst="textNoShape">
              <a:avLst/>
            </a:prstTxWarp>
          </a:bodyPr>
          <a:lstStyle/>
          <a:p>
            <a:pPr lvl="0"/>
            <a:r>
              <a:rPr lang="en-CA" smtClean="0">
                <a:sym typeface="Didot" charset="0"/>
              </a:rPr>
              <a:t>Click to edit Master title style</a:t>
            </a:r>
            <a:endParaRPr lang="en-US">
              <a:sym typeface="Didot" charset="0"/>
            </a:endParaRPr>
          </a:p>
        </p:txBody>
      </p:sp>
      <p:grpSp>
        <p:nvGrpSpPr>
          <p:cNvPr id="2051" name="Group 3"/>
          <p:cNvGrpSpPr>
            <a:grpSpLocks/>
          </p:cNvGrpSpPr>
          <p:nvPr/>
        </p:nvGrpSpPr>
        <p:grpSpPr bwMode="auto">
          <a:xfrm>
            <a:off x="404813" y="2235200"/>
            <a:ext cx="12193587" cy="50800"/>
            <a:chOff x="0" y="0"/>
            <a:chExt cx="7680" cy="32"/>
          </a:xfrm>
        </p:grpSpPr>
        <p:sp>
          <p:nvSpPr>
            <p:cNvPr id="2052" name="Line 4"/>
            <p:cNvSpPr>
              <a:spLocks noChangeShapeType="1"/>
            </p:cNvSpPr>
            <p:nvPr/>
          </p:nvSpPr>
          <p:spPr bwMode="auto">
            <a:xfrm>
              <a:off x="0" y="0"/>
              <a:ext cx="7680" cy="0"/>
            </a:xfrm>
            <a:prstGeom prst="line">
              <a:avLst/>
            </a:prstGeom>
            <a:noFill/>
            <a:ln w="12700" cap="flat">
              <a:solidFill>
                <a:srgbClr val="6682AA"/>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en-US" dirty="0">
                <a:latin typeface="Book Antiqua"/>
              </a:endParaRPr>
            </a:p>
          </p:txBody>
        </p:sp>
        <p:sp>
          <p:nvSpPr>
            <p:cNvPr id="2053" name="Line 5"/>
            <p:cNvSpPr>
              <a:spLocks noChangeShapeType="1"/>
            </p:cNvSpPr>
            <p:nvPr/>
          </p:nvSpPr>
          <p:spPr bwMode="auto">
            <a:xfrm>
              <a:off x="0" y="32"/>
              <a:ext cx="7680" cy="0"/>
            </a:xfrm>
            <a:prstGeom prst="line">
              <a:avLst/>
            </a:prstGeom>
            <a:noFill/>
            <a:ln w="12700" cap="flat">
              <a:solidFill>
                <a:srgbClr val="6682AA"/>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en-US" dirty="0">
                <a:latin typeface="Book Antiqua"/>
              </a:endParaRPr>
            </a:p>
          </p:txBody>
        </p:sp>
      </p:grpSp>
      <p:grpSp>
        <p:nvGrpSpPr>
          <p:cNvPr id="2054" name="Group 6"/>
          <p:cNvGrpSpPr>
            <a:grpSpLocks/>
          </p:cNvGrpSpPr>
          <p:nvPr/>
        </p:nvGrpSpPr>
        <p:grpSpPr bwMode="auto">
          <a:xfrm>
            <a:off x="393700" y="9347200"/>
            <a:ext cx="12192000" cy="50800"/>
            <a:chOff x="0" y="0"/>
            <a:chExt cx="7680" cy="32"/>
          </a:xfrm>
        </p:grpSpPr>
        <p:sp>
          <p:nvSpPr>
            <p:cNvPr id="2055" name="Line 7"/>
            <p:cNvSpPr>
              <a:spLocks noChangeShapeType="1"/>
            </p:cNvSpPr>
            <p:nvPr/>
          </p:nvSpPr>
          <p:spPr bwMode="auto">
            <a:xfrm>
              <a:off x="0" y="0"/>
              <a:ext cx="7680" cy="0"/>
            </a:xfrm>
            <a:prstGeom prst="line">
              <a:avLst/>
            </a:prstGeom>
            <a:noFill/>
            <a:ln w="12700" cap="flat">
              <a:solidFill>
                <a:srgbClr val="6682AA"/>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en-US" dirty="0">
                <a:latin typeface="Book Antiqua"/>
              </a:endParaRPr>
            </a:p>
          </p:txBody>
        </p:sp>
        <p:sp>
          <p:nvSpPr>
            <p:cNvPr id="2056" name="Line 8"/>
            <p:cNvSpPr>
              <a:spLocks noChangeShapeType="1"/>
            </p:cNvSpPr>
            <p:nvPr/>
          </p:nvSpPr>
          <p:spPr bwMode="auto">
            <a:xfrm>
              <a:off x="0" y="32"/>
              <a:ext cx="7680" cy="0"/>
            </a:xfrm>
            <a:prstGeom prst="line">
              <a:avLst/>
            </a:prstGeom>
            <a:noFill/>
            <a:ln w="12700" cap="flat">
              <a:solidFill>
                <a:srgbClr val="6682AA"/>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en-US" dirty="0">
                <a:latin typeface="Book Antiqua"/>
              </a:endParaRPr>
            </a:p>
          </p:txBody>
        </p:sp>
      </p:grpSp>
      <p:sp>
        <p:nvSpPr>
          <p:cNvPr id="2057" name="Rectangle 9"/>
          <p:cNvSpPr>
            <a:spLocks/>
          </p:cNvSpPr>
          <p:nvPr/>
        </p:nvSpPr>
        <p:spPr bwMode="auto">
          <a:xfrm>
            <a:off x="425590" y="9521567"/>
            <a:ext cx="125860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r>
              <a:rPr lang="en-US" sz="1200" dirty="0">
                <a:solidFill>
                  <a:schemeClr val="tx1"/>
                </a:solidFill>
                <a:latin typeface="Book Antiqua"/>
                <a:ea typeface="ＭＳ Ｐゴシック" charset="0"/>
                <a:cs typeface="Book Antiqua"/>
              </a:rPr>
              <a:t>Distributed DBMS</a:t>
            </a:r>
          </a:p>
        </p:txBody>
      </p:sp>
      <p:sp>
        <p:nvSpPr>
          <p:cNvPr id="2058" name="Rectangle 10"/>
          <p:cNvSpPr>
            <a:spLocks/>
          </p:cNvSpPr>
          <p:nvPr/>
        </p:nvSpPr>
        <p:spPr bwMode="auto">
          <a:xfrm>
            <a:off x="5571333" y="9521567"/>
            <a:ext cx="190023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r>
              <a:rPr lang="en-US" sz="1200" dirty="0" smtClean="0">
                <a:solidFill>
                  <a:schemeClr val="tx1"/>
                </a:solidFill>
                <a:latin typeface="Book Antiqua"/>
                <a:ea typeface="ＭＳ Ｐゴシック" charset="0"/>
                <a:cs typeface="Book Antiqua"/>
              </a:rPr>
              <a:t>© </a:t>
            </a:r>
            <a:r>
              <a:rPr lang="en-US" sz="1200" dirty="0">
                <a:solidFill>
                  <a:schemeClr val="tx1"/>
                </a:solidFill>
                <a:latin typeface="Book Antiqua"/>
                <a:ea typeface="ＭＳ Ｐゴシック" charset="0"/>
                <a:cs typeface="Book Antiqua"/>
              </a:rPr>
              <a:t>M. T. </a:t>
            </a:r>
            <a:r>
              <a:rPr lang="en-US" sz="1200" dirty="0" err="1">
                <a:solidFill>
                  <a:schemeClr val="tx1"/>
                </a:solidFill>
                <a:latin typeface="Book Antiqua"/>
                <a:ea typeface="ＭＳ Ｐゴシック" charset="0"/>
                <a:cs typeface="Book Antiqua"/>
              </a:rPr>
              <a:t>Özsu</a:t>
            </a:r>
            <a:r>
              <a:rPr lang="en-US" sz="1200" dirty="0">
                <a:solidFill>
                  <a:schemeClr val="tx1"/>
                </a:solidFill>
                <a:latin typeface="Book Antiqua"/>
                <a:ea typeface="ＭＳ Ｐゴシック" charset="0"/>
                <a:cs typeface="Book Antiqua"/>
              </a:rPr>
              <a:t> &amp; P. </a:t>
            </a:r>
            <a:r>
              <a:rPr lang="en-US" sz="1200" dirty="0" err="1">
                <a:solidFill>
                  <a:schemeClr val="tx1"/>
                </a:solidFill>
                <a:latin typeface="Book Antiqua"/>
                <a:ea typeface="ＭＳ Ｐゴシック" charset="0"/>
                <a:cs typeface="Book Antiqua"/>
              </a:rPr>
              <a:t>Valduriez</a:t>
            </a:r>
            <a:endParaRPr lang="en-US" sz="1200" dirty="0">
              <a:solidFill>
                <a:schemeClr val="tx1"/>
              </a:solidFill>
              <a:latin typeface="Book Antiqua"/>
              <a:ea typeface="ＭＳ Ｐゴシック" charset="0"/>
              <a:cs typeface="Book Antiqua"/>
            </a:endParaRPr>
          </a:p>
        </p:txBody>
      </p:sp>
      <p:sp>
        <p:nvSpPr>
          <p:cNvPr id="13" name="Rectangle 10"/>
          <p:cNvSpPr>
            <a:spLocks/>
          </p:cNvSpPr>
          <p:nvPr/>
        </p:nvSpPr>
        <p:spPr bwMode="auto">
          <a:xfrm>
            <a:off x="11254928" y="9538899"/>
            <a:ext cx="140384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square" lIns="0" tIns="0" rIns="0" bIns="0" anchor="ctr">
            <a:spAutoFit/>
          </a:bodyPr>
          <a:lstStyle/>
          <a:p>
            <a:pPr algn="r"/>
            <a:r>
              <a:rPr lang="en-US" sz="1200" dirty="0" smtClean="0">
                <a:solidFill>
                  <a:schemeClr val="tx1"/>
                </a:solidFill>
                <a:latin typeface="Book Antiqua"/>
                <a:ea typeface="ＭＳ Ｐゴシック" charset="0"/>
                <a:cs typeface="Book Antiqua"/>
              </a:rPr>
              <a:t>Ch.3/</a:t>
            </a:r>
            <a:fld id="{5E48BB5D-946E-5F48-82DF-AC330131550D}" type="slidenum">
              <a:rPr lang="en-US" sz="1200" smtClean="0">
                <a:latin typeface="Book Antiqua"/>
              </a:rPr>
              <a:pPr algn="r"/>
              <a:t>‹#›</a:t>
            </a:fld>
            <a:endParaRPr lang="en-US" sz="1200" dirty="0">
              <a:solidFill>
                <a:schemeClr val="tx1"/>
              </a:solidFill>
              <a:latin typeface="Book Antiqua"/>
              <a:ea typeface="ＭＳ Ｐゴシック" charset="0"/>
              <a:cs typeface="Book Antiqua"/>
            </a:endParaRPr>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ransition/>
  <p:hf hdr="0" ftr="0" dt="0"/>
  <p:txStyles>
    <p:titleStyle>
      <a:lvl1pPr algn="l" rtl="0" eaLnBrk="1" fontAlgn="base" hangingPunct="1">
        <a:lnSpc>
          <a:spcPct val="90000"/>
        </a:lnSpc>
        <a:spcBef>
          <a:spcPct val="0"/>
        </a:spcBef>
        <a:spcAft>
          <a:spcPct val="0"/>
        </a:spcAft>
        <a:defRPr sz="6400">
          <a:solidFill>
            <a:srgbClr val="253750"/>
          </a:solidFill>
          <a:latin typeface="+mj-lt"/>
          <a:ea typeface="+mj-ea"/>
          <a:cs typeface="+mj-cs"/>
          <a:sym typeface="Didot" charset="0"/>
        </a:defRPr>
      </a:lvl1pPr>
      <a:lvl2pPr algn="l" rtl="0" eaLnBrk="1" fontAlgn="base" hangingPunct="1">
        <a:lnSpc>
          <a:spcPct val="90000"/>
        </a:lnSpc>
        <a:spcBef>
          <a:spcPct val="0"/>
        </a:spcBef>
        <a:spcAft>
          <a:spcPct val="0"/>
        </a:spcAft>
        <a:defRPr sz="6400">
          <a:solidFill>
            <a:srgbClr val="253750"/>
          </a:solidFill>
          <a:latin typeface="Didot" charset="0"/>
          <a:ea typeface="ヒラギノ明朝 ProN W3" charset="0"/>
          <a:cs typeface="ヒラギノ明朝 ProN W3" charset="0"/>
          <a:sym typeface="Didot" charset="0"/>
        </a:defRPr>
      </a:lvl2pPr>
      <a:lvl3pPr algn="l" rtl="0" eaLnBrk="1" fontAlgn="base" hangingPunct="1">
        <a:lnSpc>
          <a:spcPct val="90000"/>
        </a:lnSpc>
        <a:spcBef>
          <a:spcPct val="0"/>
        </a:spcBef>
        <a:spcAft>
          <a:spcPct val="0"/>
        </a:spcAft>
        <a:defRPr sz="6400">
          <a:solidFill>
            <a:srgbClr val="253750"/>
          </a:solidFill>
          <a:latin typeface="Didot" charset="0"/>
          <a:ea typeface="ヒラギノ明朝 ProN W3" charset="0"/>
          <a:cs typeface="ヒラギノ明朝 ProN W3" charset="0"/>
          <a:sym typeface="Didot" charset="0"/>
        </a:defRPr>
      </a:lvl3pPr>
      <a:lvl4pPr algn="l" rtl="0" eaLnBrk="1" fontAlgn="base" hangingPunct="1">
        <a:lnSpc>
          <a:spcPct val="90000"/>
        </a:lnSpc>
        <a:spcBef>
          <a:spcPct val="0"/>
        </a:spcBef>
        <a:spcAft>
          <a:spcPct val="0"/>
        </a:spcAft>
        <a:defRPr sz="6400">
          <a:solidFill>
            <a:srgbClr val="253750"/>
          </a:solidFill>
          <a:latin typeface="Didot" charset="0"/>
          <a:ea typeface="ヒラギノ明朝 ProN W3" charset="0"/>
          <a:cs typeface="ヒラギノ明朝 ProN W3" charset="0"/>
          <a:sym typeface="Didot" charset="0"/>
        </a:defRPr>
      </a:lvl4pPr>
      <a:lvl5pPr algn="l" rtl="0" eaLnBrk="1" fontAlgn="base" hangingPunct="1">
        <a:lnSpc>
          <a:spcPct val="90000"/>
        </a:lnSpc>
        <a:spcBef>
          <a:spcPct val="0"/>
        </a:spcBef>
        <a:spcAft>
          <a:spcPct val="0"/>
        </a:spcAft>
        <a:defRPr sz="6400">
          <a:solidFill>
            <a:srgbClr val="253750"/>
          </a:solidFill>
          <a:latin typeface="Didot" charset="0"/>
          <a:ea typeface="ヒラギノ明朝 ProN W3" charset="0"/>
          <a:cs typeface="ヒラギノ明朝 ProN W3" charset="0"/>
          <a:sym typeface="Didot" charset="0"/>
        </a:defRPr>
      </a:lvl5pPr>
      <a:lvl6pPr marL="457200" algn="l" rtl="0" eaLnBrk="1" fontAlgn="base" hangingPunct="1">
        <a:lnSpc>
          <a:spcPct val="90000"/>
        </a:lnSpc>
        <a:spcBef>
          <a:spcPct val="0"/>
        </a:spcBef>
        <a:spcAft>
          <a:spcPct val="0"/>
        </a:spcAft>
        <a:defRPr sz="6400">
          <a:solidFill>
            <a:srgbClr val="253750"/>
          </a:solidFill>
          <a:latin typeface="Didot" charset="0"/>
          <a:ea typeface="ヒラギノ明朝 ProN W3" charset="0"/>
          <a:cs typeface="ヒラギノ明朝 ProN W3" charset="0"/>
          <a:sym typeface="Didot" charset="0"/>
        </a:defRPr>
      </a:lvl6pPr>
      <a:lvl7pPr marL="914400" algn="l" rtl="0" eaLnBrk="1" fontAlgn="base" hangingPunct="1">
        <a:lnSpc>
          <a:spcPct val="90000"/>
        </a:lnSpc>
        <a:spcBef>
          <a:spcPct val="0"/>
        </a:spcBef>
        <a:spcAft>
          <a:spcPct val="0"/>
        </a:spcAft>
        <a:defRPr sz="6400">
          <a:solidFill>
            <a:srgbClr val="253750"/>
          </a:solidFill>
          <a:latin typeface="Didot" charset="0"/>
          <a:ea typeface="ヒラギノ明朝 ProN W3" charset="0"/>
          <a:cs typeface="ヒラギノ明朝 ProN W3" charset="0"/>
          <a:sym typeface="Didot" charset="0"/>
        </a:defRPr>
      </a:lvl7pPr>
      <a:lvl8pPr marL="1371600" algn="l" rtl="0" eaLnBrk="1" fontAlgn="base" hangingPunct="1">
        <a:lnSpc>
          <a:spcPct val="90000"/>
        </a:lnSpc>
        <a:spcBef>
          <a:spcPct val="0"/>
        </a:spcBef>
        <a:spcAft>
          <a:spcPct val="0"/>
        </a:spcAft>
        <a:defRPr sz="6400">
          <a:solidFill>
            <a:srgbClr val="253750"/>
          </a:solidFill>
          <a:latin typeface="Didot" charset="0"/>
          <a:ea typeface="ヒラギノ明朝 ProN W3" charset="0"/>
          <a:cs typeface="ヒラギノ明朝 ProN W3" charset="0"/>
          <a:sym typeface="Didot" charset="0"/>
        </a:defRPr>
      </a:lvl8pPr>
      <a:lvl9pPr marL="1828800" algn="l" rtl="0" eaLnBrk="1" fontAlgn="base" hangingPunct="1">
        <a:lnSpc>
          <a:spcPct val="90000"/>
        </a:lnSpc>
        <a:spcBef>
          <a:spcPct val="0"/>
        </a:spcBef>
        <a:spcAft>
          <a:spcPct val="0"/>
        </a:spcAft>
        <a:defRPr sz="6400">
          <a:solidFill>
            <a:srgbClr val="253750"/>
          </a:solidFill>
          <a:latin typeface="Didot" charset="0"/>
          <a:ea typeface="ヒラギノ明朝 ProN W3" charset="0"/>
          <a:cs typeface="ヒラギノ明朝 ProN W3" charset="0"/>
          <a:sym typeface="Didot" charset="0"/>
        </a:defRPr>
      </a:lvl9pPr>
    </p:titleStyle>
    <p:bodyStyle>
      <a:lvl1pPr marL="368300" indent="-368300" algn="l" rtl="0" eaLnBrk="1" fontAlgn="base" hangingPunct="1">
        <a:spcBef>
          <a:spcPts val="1200"/>
        </a:spcBef>
        <a:spcAft>
          <a:spcPct val="0"/>
        </a:spcAft>
        <a:buClr>
          <a:srgbClr val="4A71A9"/>
        </a:buClr>
        <a:buSzPct val="150000"/>
        <a:buFont typeface="Palatino" charset="0"/>
        <a:buChar char="•"/>
        <a:defRPr sz="2800">
          <a:solidFill>
            <a:srgbClr val="000000"/>
          </a:solidFill>
          <a:latin typeface="Book Antiqua"/>
          <a:ea typeface="+mn-ea"/>
          <a:cs typeface="+mn-cs"/>
          <a:sym typeface="Palatino" charset="0"/>
        </a:defRPr>
      </a:lvl1pPr>
      <a:lvl2pPr marL="762000" indent="-368300" algn="l" rtl="0" eaLnBrk="1" fontAlgn="base" hangingPunct="1">
        <a:spcBef>
          <a:spcPts val="1200"/>
        </a:spcBef>
        <a:spcAft>
          <a:spcPct val="0"/>
        </a:spcAft>
        <a:buClr>
          <a:srgbClr val="4A71A9"/>
        </a:buClr>
        <a:buSzPct val="85000"/>
        <a:buFont typeface="Zapf Dingbats" charset="0"/>
        <a:buChar char="➡"/>
        <a:defRPr sz="2600">
          <a:solidFill>
            <a:srgbClr val="000000"/>
          </a:solidFill>
          <a:latin typeface="Book Antiqua"/>
          <a:ea typeface="+mn-ea"/>
          <a:cs typeface="+mn-cs"/>
          <a:sym typeface="Palatino" charset="0"/>
        </a:defRPr>
      </a:lvl2pPr>
      <a:lvl3pPr marL="1206500" indent="-368300" algn="l" rtl="0" eaLnBrk="1" fontAlgn="base" hangingPunct="1">
        <a:spcBef>
          <a:spcPts val="1200"/>
        </a:spcBef>
        <a:spcAft>
          <a:spcPct val="0"/>
        </a:spcAft>
        <a:buClr>
          <a:srgbClr val="4A71A9"/>
        </a:buClr>
        <a:buSzPct val="80000"/>
        <a:buFont typeface="Zapf Dingbats" charset="0"/>
        <a:buChar char="✦"/>
        <a:defRPr sz="2400">
          <a:solidFill>
            <a:srgbClr val="000000"/>
          </a:solidFill>
          <a:latin typeface="Book Antiqua"/>
          <a:ea typeface="+mn-ea"/>
          <a:cs typeface="+mn-cs"/>
          <a:sym typeface="Palatino" charset="0"/>
        </a:defRPr>
      </a:lvl3pPr>
      <a:lvl4pPr marL="1651000" indent="-368300" algn="l" rtl="0" eaLnBrk="1" fontAlgn="base" hangingPunct="1">
        <a:spcBef>
          <a:spcPts val="1200"/>
        </a:spcBef>
        <a:spcAft>
          <a:spcPct val="0"/>
        </a:spcAft>
        <a:buClr>
          <a:srgbClr val="4A71A9"/>
        </a:buClr>
        <a:buSzPct val="69000"/>
        <a:buFont typeface="Lucida Grande" charset="0"/>
        <a:buChar char="✓"/>
        <a:defRPr sz="2000">
          <a:solidFill>
            <a:srgbClr val="000000"/>
          </a:solidFill>
          <a:latin typeface="Book Antiqua"/>
          <a:ea typeface="+mn-ea"/>
          <a:cs typeface="+mn-cs"/>
          <a:sym typeface="Palatino" charset="0"/>
        </a:defRPr>
      </a:lvl4pPr>
      <a:lvl5pPr marL="2095500" indent="-368300" algn="l" rtl="0" eaLnBrk="1" fontAlgn="base" hangingPunct="1">
        <a:spcBef>
          <a:spcPts val="1200"/>
        </a:spcBef>
        <a:spcAft>
          <a:spcPct val="0"/>
        </a:spcAft>
        <a:buClr>
          <a:srgbClr val="4A71A9"/>
        </a:buClr>
        <a:buSzPct val="50000"/>
        <a:buFont typeface="Zapf Dingbats" charset="0"/>
        <a:buChar char="✤"/>
        <a:defRPr>
          <a:solidFill>
            <a:srgbClr val="000000"/>
          </a:solidFill>
          <a:latin typeface="Book Antiqua"/>
          <a:ea typeface="+mn-ea"/>
          <a:cs typeface="+mn-cs"/>
          <a:sym typeface="Palatino" charset="0"/>
        </a:defRPr>
      </a:lvl5pPr>
      <a:lvl6pPr marL="2552700" indent="-368300" algn="l" rtl="0" eaLnBrk="1" fontAlgn="base" hangingPunct="1">
        <a:spcBef>
          <a:spcPts val="1200"/>
        </a:spcBef>
        <a:spcAft>
          <a:spcPct val="0"/>
        </a:spcAft>
        <a:buClr>
          <a:srgbClr val="4A71A9"/>
        </a:buClr>
        <a:buSzPct val="50000"/>
        <a:buFont typeface="Zapf Dingbats" charset="0"/>
        <a:buChar char="✤"/>
        <a:defRPr>
          <a:solidFill>
            <a:srgbClr val="000000"/>
          </a:solidFill>
          <a:latin typeface="+mn-lt"/>
          <a:ea typeface="+mn-ea"/>
          <a:cs typeface="+mn-cs"/>
          <a:sym typeface="Palatino" charset="0"/>
        </a:defRPr>
      </a:lvl6pPr>
      <a:lvl7pPr marL="3009900" indent="-368300" algn="l" rtl="0" eaLnBrk="1" fontAlgn="base" hangingPunct="1">
        <a:spcBef>
          <a:spcPts val="1200"/>
        </a:spcBef>
        <a:spcAft>
          <a:spcPct val="0"/>
        </a:spcAft>
        <a:buClr>
          <a:srgbClr val="4A71A9"/>
        </a:buClr>
        <a:buSzPct val="50000"/>
        <a:buFont typeface="Zapf Dingbats" charset="0"/>
        <a:buChar char="✤"/>
        <a:defRPr>
          <a:solidFill>
            <a:srgbClr val="000000"/>
          </a:solidFill>
          <a:latin typeface="+mn-lt"/>
          <a:ea typeface="+mn-ea"/>
          <a:cs typeface="+mn-cs"/>
          <a:sym typeface="Palatino" charset="0"/>
        </a:defRPr>
      </a:lvl7pPr>
      <a:lvl8pPr marL="3467100" indent="-368300" algn="l" rtl="0" eaLnBrk="1" fontAlgn="base" hangingPunct="1">
        <a:spcBef>
          <a:spcPts val="1200"/>
        </a:spcBef>
        <a:spcAft>
          <a:spcPct val="0"/>
        </a:spcAft>
        <a:buClr>
          <a:srgbClr val="4A71A9"/>
        </a:buClr>
        <a:buSzPct val="50000"/>
        <a:buFont typeface="Zapf Dingbats" charset="0"/>
        <a:buChar char="✤"/>
        <a:defRPr>
          <a:solidFill>
            <a:srgbClr val="000000"/>
          </a:solidFill>
          <a:latin typeface="+mn-lt"/>
          <a:ea typeface="+mn-ea"/>
          <a:cs typeface="+mn-cs"/>
          <a:sym typeface="Palatino" charset="0"/>
        </a:defRPr>
      </a:lvl8pPr>
      <a:lvl9pPr marL="3924300" indent="-368300" algn="l" rtl="0" eaLnBrk="1" fontAlgn="base" hangingPunct="1">
        <a:spcBef>
          <a:spcPts val="1200"/>
        </a:spcBef>
        <a:spcAft>
          <a:spcPct val="0"/>
        </a:spcAft>
        <a:buClr>
          <a:srgbClr val="4A71A9"/>
        </a:buClr>
        <a:buSzPct val="50000"/>
        <a:buFont typeface="Zapf Dingbats" charset="0"/>
        <a:buChar char="✤"/>
        <a:defRPr>
          <a:solidFill>
            <a:srgbClr val="000000"/>
          </a:solidFill>
          <a:latin typeface="+mn-lt"/>
          <a:ea typeface="+mn-ea"/>
          <a:cs typeface="+mn-cs"/>
          <a:sym typeface="Palatino"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1.xml"/><Relationship Id="rId21" Type="http://schemas.openxmlformats.org/officeDocument/2006/relationships/customXml" Target="../ink/ink3.xml"/><Relationship Id="rId17" Type="http://schemas.openxmlformats.org/officeDocument/2006/relationships/customXml" Target="../ink/ink2.xml"/><Relationship Id="rId2" Type="http://schemas.openxmlformats.org/officeDocument/2006/relationships/notesSlide" Target="../notesSlides/notesSlide7.xml"/><Relationship Id="rId16" Type="http://schemas.openxmlformats.org/officeDocument/2006/relationships/image" Target="../media/image75.emf"/><Relationship Id="rId20" Type="http://schemas.openxmlformats.org/officeDocument/2006/relationships/image" Target="../media/image77.emf"/><Relationship Id="rId1" Type="http://schemas.openxmlformats.org/officeDocument/2006/relationships/slideLayout" Target="../slideLayouts/slideLayout2.xml"/><Relationship Id="rId22" Type="http://schemas.openxmlformats.org/officeDocument/2006/relationships/image" Target="../media/image78.emf"/></Relationships>
</file>

<file path=ppt/slides/_rels/slide16.xml.rels><?xml version="1.0" encoding="UTF-8" standalone="yes"?>
<Relationships xmlns="http://schemas.openxmlformats.org/package/2006/relationships"><Relationship Id="rId3" Type="http://schemas.openxmlformats.org/officeDocument/2006/relationships/customXml" Target="../ink/ink4.xml"/><Relationship Id="rId25" Type="http://schemas.openxmlformats.org/officeDocument/2006/relationships/customXml" Target="../ink/ink5.xml"/><Relationship Id="rId2" Type="http://schemas.openxmlformats.org/officeDocument/2006/relationships/image" Target="../media/image4.png"/><Relationship Id="rId1" Type="http://schemas.openxmlformats.org/officeDocument/2006/relationships/slideLayout" Target="../slideLayouts/slideLayout7.xml"/><Relationship Id="rId24" Type="http://schemas.openxmlformats.org/officeDocument/2006/relationships/image" Target="../media/image129.emf"/><Relationship Id="rId28" Type="http://schemas.openxmlformats.org/officeDocument/2006/relationships/image" Target="../media/image131.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customXml" Target="../ink/ink6.xml"/><Relationship Id="rId12" Type="http://schemas.openxmlformats.org/officeDocument/2006/relationships/image" Target="../media/image145.emf"/><Relationship Id="rId2" Type="http://schemas.openxmlformats.org/officeDocument/2006/relationships/notesSlide" Target="../notesSlides/notesSlide10.xml"/><Relationship Id="rId1" Type="http://schemas.openxmlformats.org/officeDocument/2006/relationships/slideLayout" Target="../slideLayouts/slideLayout6.xml"/><Relationship Id="rId11" Type="http://schemas.openxmlformats.org/officeDocument/2006/relationships/customXml" Target="../ink/ink7.xml"/><Relationship Id="rId10" Type="http://schemas.openxmlformats.org/officeDocument/2006/relationships/image" Target="../media/image144.emf"/></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customXml" Target="../ink/ink8.xml"/><Relationship Id="rId12" Type="http://schemas.openxmlformats.org/officeDocument/2006/relationships/image" Target="../media/image171.emf"/><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7.emf"/><Relationship Id="rId4" Type="http://schemas.openxmlformats.org/officeDocument/2006/relationships/oleObject" Target="../embeddings/oleObject1.bin"/></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36.xml"/><Relationship Id="rId1" Type="http://schemas.openxmlformats.org/officeDocument/2006/relationships/slideLayout" Target="../slideLayouts/slideLayout2.xml"/><Relationship Id="rId58" Type="http://schemas.openxmlformats.org/officeDocument/2006/relationships/image" Target="../media/image262.emf"/></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7" Type="http://schemas.openxmlformats.org/officeDocument/2006/relationships/image" Target="../media/image322.emf"/><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8" Type="http://schemas.openxmlformats.org/officeDocument/2006/relationships/customXml" Target="../ink/ink12.xml"/><Relationship Id="rId17" Type="http://schemas.openxmlformats.org/officeDocument/2006/relationships/image" Target="../media/image347.emf"/><Relationship Id="rId2" Type="http://schemas.openxmlformats.org/officeDocument/2006/relationships/customXml" Target="../ink/ink11.xml"/><Relationship Id="rId29" Type="http://schemas.openxmlformats.org/officeDocument/2006/relationships/image" Target="../media/image353.emf"/><Relationship Id="rId75" Type="http://schemas.openxmlformats.org/officeDocument/2006/relationships/image" Target="../media/image376.emf"/><Relationship Id="rId1" Type="http://schemas.openxmlformats.org/officeDocument/2006/relationships/slideLayout" Target="../slideLayouts/slideLayout2.xml"/><Relationship Id="rId24" Type="http://schemas.openxmlformats.org/officeDocument/2006/relationships/customXml" Target="../ink/ink13.xml"/><Relationship Id="rId23" Type="http://schemas.openxmlformats.org/officeDocument/2006/relationships/image" Target="../media/image350.emf"/><Relationship Id="rId30" Type="http://schemas.openxmlformats.org/officeDocument/2006/relationships/customXml" Target="../ink/ink1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77.emf"/><Relationship Id="rId2" Type="http://schemas.openxmlformats.org/officeDocument/2006/relationships/customXml" Target="../ink/ink1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39.xml"/><Relationship Id="rId1" Type="http://schemas.openxmlformats.org/officeDocument/2006/relationships/slideLayout" Target="../slideLayouts/slideLayout2.xml"/><Relationship Id="rId40" Type="http://schemas.openxmlformats.org/officeDocument/2006/relationships/image" Target="../media/image442.emf"/></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customXml" Target="../ink/ink17.xml"/><Relationship Id="rId20" Type="http://schemas.openxmlformats.org/officeDocument/2006/relationships/customXml" Target="../ink/ink18.xml"/><Relationship Id="rId1" Type="http://schemas.openxmlformats.org/officeDocument/2006/relationships/slideLayout" Target="../slideLayouts/slideLayout2.xml"/><Relationship Id="rId23" Type="http://schemas.openxmlformats.org/officeDocument/2006/relationships/image" Target="../media/image477.emf"/><Relationship Id="rId19" Type="http://schemas.openxmlformats.org/officeDocument/2006/relationships/image" Target="../media/image475.emf"/></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3" Type="http://schemas.openxmlformats.org/officeDocument/2006/relationships/image" Target="../media/image483.emf"/><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b="1" dirty="0"/>
              <a:t>D</a:t>
            </a:r>
            <a:r>
              <a:rPr lang="en-US" sz="3200" b="1" dirty="0" smtClean="0"/>
              <a:t>istributed </a:t>
            </a:r>
            <a:r>
              <a:rPr lang="en-US" sz="3200" b="1" smtClean="0"/>
              <a:t>Database Design</a:t>
            </a:r>
            <a:endParaRPr lang="en-US" sz="3200" b="1" dirty="0"/>
          </a:p>
        </p:txBody>
      </p:sp>
      <p:sp>
        <p:nvSpPr>
          <p:cNvPr id="3" name="Subtitle 2"/>
          <p:cNvSpPr>
            <a:spLocks noGrp="1"/>
          </p:cNvSpPr>
          <p:nvPr>
            <p:ph type="subTitle"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smtClean="0">
                <a:latin typeface="Book Antiqua"/>
              </a:rPr>
              <a:t>Ch.x/</a:t>
            </a:r>
            <a:fld id="{B9BE72AF-AF1A-1E41-B881-D8119A052D15}" type="slidenum">
              <a:rPr lang="en-US" smtClean="0">
                <a:latin typeface="Book Antiqua"/>
              </a:rPr>
              <a:pPr/>
              <a:t>1</a:t>
            </a:fld>
            <a:endParaRPr lang="en-US" dirty="0">
              <a:latin typeface="Book Antiqua"/>
            </a:endParaRPr>
          </a:p>
        </p:txBody>
      </p:sp>
    </p:spTree>
    <p:extLst>
      <p:ext uri="{BB962C8B-B14F-4D97-AF65-F5344CB8AC3E}">
        <p14:creationId xmlns:p14="http://schemas.microsoft.com/office/powerpoint/2010/main" val="2408885813"/>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r>
              <a:rPr lang="en-IN" altLang="en-US" smtClean="0"/>
              <a:t>Storage </a:t>
            </a:r>
            <a:r>
              <a:rPr lang="en-IN" altLang="en-US" smtClean="0"/>
              <a:t>Disk</a:t>
            </a:r>
            <a:endParaRPr lang="en-IN" altLang="en-US" smtClean="0"/>
          </a:p>
        </p:txBody>
      </p:sp>
      <p:pic>
        <p:nvPicPr>
          <p:cNvPr id="9011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666046" y="2167467"/>
            <a:ext cx="11038275" cy="6836551"/>
          </a:xfrm>
        </p:spPr>
      </p:pic>
      <p:sp>
        <p:nvSpPr>
          <p:cNvPr id="90116" name="Slide Number Placeholder 3"/>
          <p:cNvSpPr>
            <a:spLocks noGrp="1"/>
          </p:cNvSpPr>
          <p:nvPr>
            <p:ph type="sldNum" sz="quarter" idx="4294967295"/>
          </p:nvPr>
        </p:nvSpPr>
        <p:spPr>
          <a:noFill/>
        </p:spPr>
        <p:txBody>
          <a:bodyPr/>
          <a:lstStyle>
            <a:lvl1pPr>
              <a:defRPr>
                <a:solidFill>
                  <a:schemeClr val="tx1"/>
                </a:solidFill>
                <a:latin typeface="Arial" panose="020B0604020202020204" pitchFamily="34" charset="0"/>
                <a:cs typeface="Arial" panose="020B0604020202020204" pitchFamily="34" charset="0"/>
              </a:defRPr>
            </a:lvl1pPr>
            <a:lvl2pPr marL="1056623" indent="-406394">
              <a:defRPr>
                <a:solidFill>
                  <a:schemeClr val="tx1"/>
                </a:solidFill>
                <a:latin typeface="Arial" panose="020B0604020202020204" pitchFamily="34" charset="0"/>
                <a:cs typeface="Arial" panose="020B0604020202020204" pitchFamily="34" charset="0"/>
              </a:defRPr>
            </a:lvl2pPr>
            <a:lvl3pPr marL="1625575" indent="-325115">
              <a:defRPr>
                <a:solidFill>
                  <a:schemeClr val="tx1"/>
                </a:solidFill>
                <a:latin typeface="Arial" panose="020B0604020202020204" pitchFamily="34" charset="0"/>
                <a:cs typeface="Arial" panose="020B0604020202020204" pitchFamily="34" charset="0"/>
              </a:defRPr>
            </a:lvl3pPr>
            <a:lvl4pPr marL="2275804" indent="-325115">
              <a:defRPr>
                <a:solidFill>
                  <a:schemeClr val="tx1"/>
                </a:solidFill>
                <a:latin typeface="Arial" panose="020B0604020202020204" pitchFamily="34" charset="0"/>
                <a:cs typeface="Arial" panose="020B0604020202020204" pitchFamily="34" charset="0"/>
              </a:defRPr>
            </a:lvl4pPr>
            <a:lvl5pPr marL="2926034" indent="-325115">
              <a:defRPr>
                <a:solidFill>
                  <a:schemeClr val="tx1"/>
                </a:solidFill>
                <a:latin typeface="Arial" panose="020B0604020202020204" pitchFamily="34" charset="0"/>
                <a:cs typeface="Arial" panose="020B0604020202020204" pitchFamily="34" charset="0"/>
              </a:defRPr>
            </a:lvl5pPr>
            <a:lvl6pPr marL="3576264" indent="-32511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226494" indent="-32511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876724" indent="-32511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5526954" indent="-32511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90151EB-C87E-4CAA-9CAF-18A657C6006B}" type="slidenum">
              <a:rPr lang="en-US" altLang="en-US" smtClean="0"/>
              <a:pPr/>
              <a:t>2</a:t>
            </a:fld>
            <a:endParaRPr lang="en-US" altLang="en-US" smtClean="0"/>
          </a:p>
        </p:txBody>
      </p:sp>
    </p:spTree>
    <p:extLst>
      <p:ext uri="{BB962C8B-B14F-4D97-AF65-F5344CB8AC3E}">
        <p14:creationId xmlns:p14="http://schemas.microsoft.com/office/powerpoint/2010/main" val="255977382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Select *</a:t>
            </a:r>
          </a:p>
          <a:p>
            <a:r>
              <a:rPr lang="en-US" dirty="0" smtClean="0"/>
              <a:t>From T1,T2</a:t>
            </a:r>
          </a:p>
          <a:p>
            <a:r>
              <a:rPr lang="en-US" dirty="0" smtClean="0"/>
              <a:t>Where C=c1</a:t>
            </a:r>
            <a:endParaRPr lang="en-US" dirty="0"/>
          </a:p>
          <a:p>
            <a:endParaRPr lang="en-US" dirty="0" smtClean="0"/>
          </a:p>
          <a:p>
            <a:r>
              <a:rPr lang="en-US" dirty="0" smtClean="0"/>
              <a:t>T1 X T2   </a:t>
            </a:r>
          </a:p>
          <a:p>
            <a:r>
              <a:rPr lang="en-US" dirty="0" smtClean="0"/>
              <a:t>C=c1</a:t>
            </a:r>
          </a:p>
          <a:p>
            <a:r>
              <a:rPr lang="en-US" dirty="0" smtClean="0">
                <a:solidFill>
                  <a:srgbClr val="FF0000"/>
                </a:solidFill>
              </a:rPr>
              <a:t>JOIN</a:t>
            </a:r>
          </a:p>
          <a:p>
            <a:r>
              <a:rPr lang="en-US" dirty="0" smtClean="0">
                <a:solidFill>
                  <a:srgbClr val="FF0000"/>
                </a:solidFill>
              </a:rPr>
              <a:t>1 </a:t>
            </a:r>
            <a:r>
              <a:rPr lang="en-US" dirty="0" err="1" smtClean="0">
                <a:solidFill>
                  <a:srgbClr val="FF0000"/>
                </a:solidFill>
              </a:rPr>
              <a:t>milion</a:t>
            </a:r>
            <a:r>
              <a:rPr lang="en-US" dirty="0" smtClean="0">
                <a:solidFill>
                  <a:srgbClr val="FF0000"/>
                </a:solidFill>
              </a:rPr>
              <a:t> x 100 million</a:t>
            </a:r>
            <a:endParaRPr lang="en-US" dirty="0">
              <a:solidFill>
                <a:srgbClr val="FF0000"/>
              </a:solidFill>
            </a:endParaRPr>
          </a:p>
        </p:txBody>
      </p:sp>
      <p:sp>
        <p:nvSpPr>
          <p:cNvPr id="4" name="Slide Number Placeholder 3"/>
          <p:cNvSpPr>
            <a:spLocks noGrp="1"/>
          </p:cNvSpPr>
          <p:nvPr>
            <p:ph type="sldNum" sz="quarter" idx="10"/>
          </p:nvPr>
        </p:nvSpPr>
        <p:spPr/>
        <p:txBody>
          <a:bodyPr/>
          <a:lstStyle/>
          <a:p>
            <a:r>
              <a:rPr lang="en-US" smtClean="0">
                <a:latin typeface="Book Antiqua"/>
              </a:rPr>
              <a:t>Ch.x/</a:t>
            </a:r>
            <a:fld id="{D01B99BC-F82C-D046-99BD-FBA1D66F1CB4}" type="slidenum">
              <a:rPr lang="en-US" smtClean="0">
                <a:latin typeface="Book Antiqua"/>
              </a:rPr>
              <a:pPr/>
              <a:t>3</a:t>
            </a:fld>
            <a:endParaRPr lang="en-US" dirty="0">
              <a:latin typeface="Book Antiqua"/>
            </a:endParaRPr>
          </a:p>
        </p:txBody>
      </p:sp>
    </p:spTree>
    <p:extLst>
      <p:ext uri="{BB962C8B-B14F-4D97-AF65-F5344CB8AC3E}">
        <p14:creationId xmlns:p14="http://schemas.microsoft.com/office/powerpoint/2010/main" val="29489491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sz="3200" dirty="0" smtClean="0"/>
              <a:t>Database Development </a:t>
            </a:r>
            <a:r>
              <a:rPr lang="en-US" altLang="en-US" sz="3200" dirty="0"/>
              <a:t>Lifecycle</a:t>
            </a:r>
          </a:p>
        </p:txBody>
      </p:sp>
      <p:sp>
        <p:nvSpPr>
          <p:cNvPr id="14339" name="Rectangle 3"/>
          <p:cNvSpPr>
            <a:spLocks noGrp="1" noChangeArrowheads="1"/>
          </p:cNvSpPr>
          <p:nvPr>
            <p:ph idx="1"/>
          </p:nvPr>
        </p:nvSpPr>
        <p:spPr/>
        <p:txBody>
          <a:bodyPr/>
          <a:lstStyle/>
          <a:p>
            <a:pPr eaLnBrk="1" hangingPunct="1"/>
            <a:r>
              <a:rPr lang="en-US" altLang="en-US" sz="2400" dirty="0">
                <a:solidFill>
                  <a:srgbClr val="00B0F0"/>
                </a:solidFill>
              </a:rPr>
              <a:t>Requirements Analysis: </a:t>
            </a:r>
            <a:r>
              <a:rPr lang="en-US" altLang="en-US" sz="2400" dirty="0">
                <a:solidFill>
                  <a:srgbClr val="00B050"/>
                </a:solidFill>
              </a:rPr>
              <a:t>SRS</a:t>
            </a:r>
          </a:p>
          <a:p>
            <a:pPr eaLnBrk="1" hangingPunct="1"/>
            <a:r>
              <a:rPr lang="en-US" altLang="en-US" sz="2400" dirty="0">
                <a:solidFill>
                  <a:srgbClr val="00B0F0"/>
                </a:solidFill>
              </a:rPr>
              <a:t>Design:</a:t>
            </a:r>
            <a:r>
              <a:rPr lang="en-US" altLang="en-US" sz="2400" dirty="0">
                <a:solidFill>
                  <a:schemeClr val="hlink"/>
                </a:solidFill>
              </a:rPr>
              <a:t> </a:t>
            </a:r>
            <a:r>
              <a:rPr lang="en-US" altLang="en-US" sz="2400" dirty="0">
                <a:solidFill>
                  <a:srgbClr val="00B050"/>
                </a:solidFill>
              </a:rPr>
              <a:t>Design </a:t>
            </a:r>
            <a:r>
              <a:rPr lang="en-US" altLang="en-US" sz="2400" dirty="0" smtClean="0">
                <a:solidFill>
                  <a:srgbClr val="00B050"/>
                </a:solidFill>
              </a:rPr>
              <a:t>Document  (E-R Model, E-R to Relational)</a:t>
            </a:r>
            <a:endParaRPr lang="en-US" altLang="en-US" sz="2400" dirty="0">
              <a:solidFill>
                <a:srgbClr val="00B050"/>
              </a:solidFill>
            </a:endParaRPr>
          </a:p>
          <a:p>
            <a:pPr eaLnBrk="1" hangingPunct="1"/>
            <a:r>
              <a:rPr lang="en-US" altLang="en-US" sz="2400" dirty="0">
                <a:solidFill>
                  <a:srgbClr val="00B0F0"/>
                </a:solidFill>
              </a:rPr>
              <a:t>Implementation: </a:t>
            </a:r>
            <a:r>
              <a:rPr lang="en-US" altLang="en-US" sz="2400" dirty="0">
                <a:solidFill>
                  <a:srgbClr val="00B050"/>
                </a:solidFill>
              </a:rPr>
              <a:t>Software  </a:t>
            </a:r>
            <a:r>
              <a:rPr lang="en-US" altLang="en-US" sz="2400" dirty="0" smtClean="0">
                <a:solidFill>
                  <a:srgbClr val="00B050"/>
                </a:solidFill>
              </a:rPr>
              <a:t>( DDL, DML)</a:t>
            </a:r>
            <a:endParaRPr lang="en-US" altLang="en-US" sz="2000" dirty="0">
              <a:solidFill>
                <a:srgbClr val="FF0000"/>
              </a:solidFill>
            </a:endParaRPr>
          </a:p>
          <a:p>
            <a:pPr eaLnBrk="1" hangingPunct="1"/>
            <a:r>
              <a:rPr lang="en-US" altLang="en-US" sz="2400" dirty="0" smtClean="0"/>
              <a:t>Testing</a:t>
            </a:r>
            <a:endParaRPr lang="en-US" altLang="en-US" sz="2400" dirty="0"/>
          </a:p>
          <a:p>
            <a:pPr eaLnBrk="1" hangingPunct="1"/>
            <a:r>
              <a:rPr lang="en-US" altLang="en-US" sz="2400" dirty="0"/>
              <a:t>Installation</a:t>
            </a:r>
          </a:p>
          <a:p>
            <a:pPr eaLnBrk="1" hangingPunct="1"/>
            <a:r>
              <a:rPr lang="en-US" altLang="en-US" sz="2400" dirty="0"/>
              <a:t>Maintenance</a:t>
            </a:r>
          </a:p>
          <a:p>
            <a:pPr eaLnBrk="1" hangingPunct="1">
              <a:buFontTx/>
              <a:buNone/>
            </a:pPr>
            <a:endParaRPr lang="en-US" altLang="en-US" sz="2400" dirty="0"/>
          </a:p>
        </p:txBody>
      </p:sp>
      <p:sp>
        <p:nvSpPr>
          <p:cNvPr id="14340" name="Date Placeholder 3"/>
          <p:cNvSpPr>
            <a:spLocks noGrp="1"/>
          </p:cNvSpPr>
          <p:nvPr>
            <p:ph type="dt" sz="quarter" idx="10"/>
          </p:nvPr>
        </p:nvSpPr>
        <p:spPr>
          <a:noFill/>
        </p:spPr>
        <p:txBody>
          <a:bodyPr lIns="130046" tIns="65023" rIns="130046" bIns="65023"/>
          <a:lstStyle>
            <a:lvl1pPr algn="l" eaLnBrk="0" hangingPunct="0">
              <a:spcBef>
                <a:spcPct val="20000"/>
              </a:spcBef>
              <a:buChar char="•"/>
              <a:defRPr sz="4600">
                <a:solidFill>
                  <a:schemeClr val="tx1"/>
                </a:solidFill>
                <a:latin typeface="Arial" pitchFamily="34" charset="0"/>
                <a:cs typeface="Arial" pitchFamily="34" charset="0"/>
              </a:defRPr>
            </a:lvl1pPr>
            <a:lvl2pPr marL="1056623" indent="-406394" algn="l" eaLnBrk="0" hangingPunct="0">
              <a:spcBef>
                <a:spcPct val="20000"/>
              </a:spcBef>
              <a:buChar char="–"/>
              <a:defRPr sz="4000">
                <a:solidFill>
                  <a:schemeClr val="tx1"/>
                </a:solidFill>
                <a:latin typeface="Arial" pitchFamily="34" charset="0"/>
                <a:cs typeface="Arial" pitchFamily="34" charset="0"/>
              </a:defRPr>
            </a:lvl2pPr>
            <a:lvl3pPr marL="1625575" indent="-325115" algn="l" eaLnBrk="0" hangingPunct="0">
              <a:spcBef>
                <a:spcPct val="20000"/>
              </a:spcBef>
              <a:buChar char="•"/>
              <a:defRPr sz="3400">
                <a:solidFill>
                  <a:schemeClr val="tx1"/>
                </a:solidFill>
                <a:latin typeface="Arial" pitchFamily="34" charset="0"/>
                <a:cs typeface="Arial" pitchFamily="34" charset="0"/>
              </a:defRPr>
            </a:lvl3pPr>
            <a:lvl4pPr marL="2275804" indent="-325115" algn="l" eaLnBrk="0" hangingPunct="0">
              <a:spcBef>
                <a:spcPct val="20000"/>
              </a:spcBef>
              <a:buChar char="–"/>
              <a:defRPr sz="2800">
                <a:solidFill>
                  <a:schemeClr val="tx1"/>
                </a:solidFill>
                <a:latin typeface="Arial" pitchFamily="34" charset="0"/>
                <a:cs typeface="Arial" pitchFamily="34" charset="0"/>
              </a:defRPr>
            </a:lvl4pPr>
            <a:lvl5pPr marL="2926034" indent="-325115" algn="l" eaLnBrk="0" hangingPunct="0">
              <a:spcBef>
                <a:spcPct val="20000"/>
              </a:spcBef>
              <a:buChar char="»"/>
              <a:defRPr sz="2800">
                <a:solidFill>
                  <a:schemeClr val="tx1"/>
                </a:solidFill>
                <a:latin typeface="Arial" pitchFamily="34" charset="0"/>
                <a:cs typeface="Arial" pitchFamily="34" charset="0"/>
              </a:defRPr>
            </a:lvl5pPr>
            <a:lvl6pPr marL="3576264" indent="-325115" eaLnBrk="0" fontAlgn="base" hangingPunct="0">
              <a:spcBef>
                <a:spcPct val="20000"/>
              </a:spcBef>
              <a:spcAft>
                <a:spcPct val="0"/>
              </a:spcAft>
              <a:buChar char="»"/>
              <a:defRPr sz="2800">
                <a:solidFill>
                  <a:schemeClr val="tx1"/>
                </a:solidFill>
                <a:latin typeface="Arial" pitchFamily="34" charset="0"/>
                <a:cs typeface="Arial" pitchFamily="34" charset="0"/>
              </a:defRPr>
            </a:lvl6pPr>
            <a:lvl7pPr marL="4226494" indent="-325115" eaLnBrk="0" fontAlgn="base" hangingPunct="0">
              <a:spcBef>
                <a:spcPct val="20000"/>
              </a:spcBef>
              <a:spcAft>
                <a:spcPct val="0"/>
              </a:spcAft>
              <a:buChar char="»"/>
              <a:defRPr sz="2800">
                <a:solidFill>
                  <a:schemeClr val="tx1"/>
                </a:solidFill>
                <a:latin typeface="Arial" pitchFamily="34" charset="0"/>
                <a:cs typeface="Arial" pitchFamily="34" charset="0"/>
              </a:defRPr>
            </a:lvl7pPr>
            <a:lvl8pPr marL="4876724" indent="-325115" eaLnBrk="0" fontAlgn="base" hangingPunct="0">
              <a:spcBef>
                <a:spcPct val="20000"/>
              </a:spcBef>
              <a:spcAft>
                <a:spcPct val="0"/>
              </a:spcAft>
              <a:buChar char="»"/>
              <a:defRPr sz="2800">
                <a:solidFill>
                  <a:schemeClr val="tx1"/>
                </a:solidFill>
                <a:latin typeface="Arial" pitchFamily="34" charset="0"/>
                <a:cs typeface="Arial" pitchFamily="34" charset="0"/>
              </a:defRPr>
            </a:lvl8pPr>
            <a:lvl9pPr marL="5526954" indent="-325115" eaLnBrk="0" fontAlgn="base" hangingPunct="0">
              <a:spcBef>
                <a:spcPct val="20000"/>
              </a:spcBef>
              <a:spcAft>
                <a:spcPct val="0"/>
              </a:spcAft>
              <a:buChar char="»"/>
              <a:defRPr sz="2800">
                <a:solidFill>
                  <a:schemeClr val="tx1"/>
                </a:solidFill>
                <a:latin typeface="Arial" pitchFamily="34" charset="0"/>
                <a:cs typeface="Arial" pitchFamily="34" charset="0"/>
              </a:defRPr>
            </a:lvl9pPr>
          </a:lstStyle>
          <a:p>
            <a:pPr eaLnBrk="1" hangingPunct="1">
              <a:spcBef>
                <a:spcPct val="0"/>
              </a:spcBef>
              <a:buFontTx/>
              <a:buNone/>
            </a:pPr>
            <a:r>
              <a:rPr lang="en-US" altLang="en-US" sz="2000"/>
              <a:t>9/18/2020</a:t>
            </a:r>
          </a:p>
        </p:txBody>
      </p:sp>
      <p:sp>
        <p:nvSpPr>
          <p:cNvPr id="14341" name="Slide Number Placeholder 5"/>
          <p:cNvSpPr>
            <a:spLocks noGrp="1"/>
          </p:cNvSpPr>
          <p:nvPr>
            <p:ph type="sldNum" sz="quarter" idx="4294967295"/>
          </p:nvPr>
        </p:nvSpPr>
        <p:spPr>
          <a:xfrm>
            <a:off x="9320107" y="8882098"/>
            <a:ext cx="3034453" cy="677333"/>
          </a:xfrm>
          <a:prstGeom prst="rect">
            <a:avLst/>
          </a:prstGeom>
          <a:noFill/>
        </p:spPr>
        <p:txBody>
          <a:bodyPr lIns="130046" tIns="65023" rIns="130046" bIns="65023"/>
          <a:lstStyle>
            <a:lvl1pPr algn="l" eaLnBrk="0" hangingPunct="0">
              <a:spcBef>
                <a:spcPct val="20000"/>
              </a:spcBef>
              <a:buChar char="•"/>
              <a:defRPr sz="4600">
                <a:solidFill>
                  <a:schemeClr val="tx1"/>
                </a:solidFill>
                <a:latin typeface="Arial" pitchFamily="34" charset="0"/>
                <a:cs typeface="Arial" pitchFamily="34" charset="0"/>
              </a:defRPr>
            </a:lvl1pPr>
            <a:lvl2pPr marL="1056623" indent="-406394" algn="l" eaLnBrk="0" hangingPunct="0">
              <a:spcBef>
                <a:spcPct val="20000"/>
              </a:spcBef>
              <a:buChar char="–"/>
              <a:defRPr sz="4000">
                <a:solidFill>
                  <a:schemeClr val="tx1"/>
                </a:solidFill>
                <a:latin typeface="Arial" pitchFamily="34" charset="0"/>
                <a:cs typeface="Arial" pitchFamily="34" charset="0"/>
              </a:defRPr>
            </a:lvl2pPr>
            <a:lvl3pPr marL="1625575" indent="-325115" algn="l" eaLnBrk="0" hangingPunct="0">
              <a:spcBef>
                <a:spcPct val="20000"/>
              </a:spcBef>
              <a:buChar char="•"/>
              <a:defRPr sz="3400">
                <a:solidFill>
                  <a:schemeClr val="tx1"/>
                </a:solidFill>
                <a:latin typeface="Arial" pitchFamily="34" charset="0"/>
                <a:cs typeface="Arial" pitchFamily="34" charset="0"/>
              </a:defRPr>
            </a:lvl3pPr>
            <a:lvl4pPr marL="2275804" indent="-325115" algn="l" eaLnBrk="0" hangingPunct="0">
              <a:spcBef>
                <a:spcPct val="20000"/>
              </a:spcBef>
              <a:buChar char="–"/>
              <a:defRPr sz="2800">
                <a:solidFill>
                  <a:schemeClr val="tx1"/>
                </a:solidFill>
                <a:latin typeface="Arial" pitchFamily="34" charset="0"/>
                <a:cs typeface="Arial" pitchFamily="34" charset="0"/>
              </a:defRPr>
            </a:lvl4pPr>
            <a:lvl5pPr marL="2926034" indent="-325115" algn="l" eaLnBrk="0" hangingPunct="0">
              <a:spcBef>
                <a:spcPct val="20000"/>
              </a:spcBef>
              <a:buChar char="»"/>
              <a:defRPr sz="2800">
                <a:solidFill>
                  <a:schemeClr val="tx1"/>
                </a:solidFill>
                <a:latin typeface="Arial" pitchFamily="34" charset="0"/>
                <a:cs typeface="Arial" pitchFamily="34" charset="0"/>
              </a:defRPr>
            </a:lvl5pPr>
            <a:lvl6pPr marL="3576264" indent="-325115" eaLnBrk="0" fontAlgn="base" hangingPunct="0">
              <a:spcBef>
                <a:spcPct val="20000"/>
              </a:spcBef>
              <a:spcAft>
                <a:spcPct val="0"/>
              </a:spcAft>
              <a:buChar char="»"/>
              <a:defRPr sz="2800">
                <a:solidFill>
                  <a:schemeClr val="tx1"/>
                </a:solidFill>
                <a:latin typeface="Arial" pitchFamily="34" charset="0"/>
                <a:cs typeface="Arial" pitchFamily="34" charset="0"/>
              </a:defRPr>
            </a:lvl6pPr>
            <a:lvl7pPr marL="4226494" indent="-325115" eaLnBrk="0" fontAlgn="base" hangingPunct="0">
              <a:spcBef>
                <a:spcPct val="20000"/>
              </a:spcBef>
              <a:spcAft>
                <a:spcPct val="0"/>
              </a:spcAft>
              <a:buChar char="»"/>
              <a:defRPr sz="2800">
                <a:solidFill>
                  <a:schemeClr val="tx1"/>
                </a:solidFill>
                <a:latin typeface="Arial" pitchFamily="34" charset="0"/>
                <a:cs typeface="Arial" pitchFamily="34" charset="0"/>
              </a:defRPr>
            </a:lvl7pPr>
            <a:lvl8pPr marL="4876724" indent="-325115" eaLnBrk="0" fontAlgn="base" hangingPunct="0">
              <a:spcBef>
                <a:spcPct val="20000"/>
              </a:spcBef>
              <a:spcAft>
                <a:spcPct val="0"/>
              </a:spcAft>
              <a:buChar char="»"/>
              <a:defRPr sz="2800">
                <a:solidFill>
                  <a:schemeClr val="tx1"/>
                </a:solidFill>
                <a:latin typeface="Arial" pitchFamily="34" charset="0"/>
                <a:cs typeface="Arial" pitchFamily="34" charset="0"/>
              </a:defRPr>
            </a:lvl8pPr>
            <a:lvl9pPr marL="5526954" indent="-325115" eaLnBrk="0" fontAlgn="base" hangingPunct="0">
              <a:spcBef>
                <a:spcPct val="20000"/>
              </a:spcBef>
              <a:spcAft>
                <a:spcPct val="0"/>
              </a:spcAft>
              <a:buChar char="»"/>
              <a:defRPr sz="2800">
                <a:solidFill>
                  <a:schemeClr val="tx1"/>
                </a:solidFill>
                <a:latin typeface="Arial" pitchFamily="34" charset="0"/>
                <a:cs typeface="Arial" pitchFamily="34" charset="0"/>
              </a:defRPr>
            </a:lvl9pPr>
          </a:lstStyle>
          <a:p>
            <a:pPr algn="r" eaLnBrk="1" hangingPunct="1">
              <a:spcBef>
                <a:spcPct val="0"/>
              </a:spcBef>
              <a:buFontTx/>
              <a:buNone/>
            </a:pPr>
            <a:fld id="{EE4E9EFF-59B0-4FC4-81C1-A9A3252EAF38}" type="slidenum">
              <a:rPr lang="en-US" altLang="en-US" sz="2000"/>
              <a:pPr algn="r" eaLnBrk="1" hangingPunct="1">
                <a:spcBef>
                  <a:spcPct val="0"/>
                </a:spcBef>
                <a:buFontTx/>
                <a:buNone/>
              </a:pPr>
              <a:t>4</a:t>
            </a:fld>
            <a:endParaRPr lang="en-US" altLang="en-US" sz="2000"/>
          </a:p>
        </p:txBody>
      </p:sp>
    </p:spTree>
    <p:extLst>
      <p:ext uri="{BB962C8B-B14F-4D97-AF65-F5344CB8AC3E}">
        <p14:creationId xmlns:p14="http://schemas.microsoft.com/office/powerpoint/2010/main" val="924486428"/>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a:ln/>
        </p:spPr>
        <p:txBody>
          <a:bodyPr/>
          <a:lstStyle/>
          <a:p>
            <a:r>
              <a:rPr lang="en-US" sz="3200" b="1" dirty="0" smtClean="0"/>
              <a:t>Outline</a:t>
            </a:r>
            <a:endParaRPr lang="en-US" sz="3200" b="1" dirty="0"/>
          </a:p>
        </p:txBody>
      </p:sp>
      <p:sp>
        <p:nvSpPr>
          <p:cNvPr id="15362" name="Rectangle 2"/>
          <p:cNvSpPr>
            <a:spLocks noGrp="1" noChangeArrowheads="1"/>
          </p:cNvSpPr>
          <p:nvPr>
            <p:ph type="body" idx="1"/>
          </p:nvPr>
        </p:nvSpPr>
        <p:spPr>
          <a:xfrm>
            <a:off x="342900" y="2288788"/>
            <a:ext cx="12293600" cy="7128792"/>
          </a:xfrm>
          <a:ln/>
        </p:spPr>
        <p:txBody>
          <a:bodyPr>
            <a:normAutofit fontScale="85000" lnSpcReduction="20000"/>
          </a:bodyPr>
          <a:lstStyle/>
          <a:p>
            <a:r>
              <a:rPr lang="en-US" dirty="0" smtClean="0"/>
              <a:t>Introduction</a:t>
            </a:r>
          </a:p>
          <a:p>
            <a:r>
              <a:rPr lang="en-US" dirty="0" smtClean="0"/>
              <a:t>Background</a:t>
            </a:r>
            <a:endParaRPr lang="en-US" dirty="0"/>
          </a:p>
          <a:p>
            <a:r>
              <a:rPr lang="en-US" dirty="0" smtClean="0">
                <a:solidFill>
                  <a:srgbClr val="1771A9"/>
                </a:solidFill>
              </a:rPr>
              <a:t>Distributed Database Design</a:t>
            </a:r>
          </a:p>
          <a:p>
            <a:pPr lvl="1"/>
            <a:r>
              <a:rPr lang="en-US" dirty="0" smtClean="0">
                <a:solidFill>
                  <a:srgbClr val="1771A9"/>
                </a:solidFill>
              </a:rPr>
              <a:t>Fragmentation</a:t>
            </a:r>
          </a:p>
          <a:p>
            <a:pPr lvl="1"/>
            <a:r>
              <a:rPr lang="en-US" dirty="0" smtClean="0">
                <a:solidFill>
                  <a:srgbClr val="1771A9"/>
                </a:solidFill>
              </a:rPr>
              <a:t>Data distribution</a:t>
            </a:r>
          </a:p>
          <a:p>
            <a:r>
              <a:rPr lang="en-US" dirty="0" smtClean="0"/>
              <a:t>Database Integration</a:t>
            </a:r>
          </a:p>
          <a:p>
            <a:r>
              <a:rPr lang="en-US" dirty="0" smtClean="0"/>
              <a:t>Semantic Data Control</a:t>
            </a:r>
          </a:p>
          <a:p>
            <a:r>
              <a:rPr lang="en-US" dirty="0" smtClean="0"/>
              <a:t>Distributed Query Processing</a:t>
            </a:r>
          </a:p>
          <a:p>
            <a:r>
              <a:rPr lang="en-US" dirty="0" smtClean="0"/>
              <a:t>Multidatabase Query Processing</a:t>
            </a:r>
          </a:p>
          <a:p>
            <a:r>
              <a:rPr lang="en-US" dirty="0" smtClean="0"/>
              <a:t>Distributed Transaction Management</a:t>
            </a:r>
          </a:p>
          <a:p>
            <a:r>
              <a:rPr lang="en-US" dirty="0" smtClean="0"/>
              <a:t>Data Replication</a:t>
            </a:r>
          </a:p>
          <a:p>
            <a:r>
              <a:rPr lang="en-US" dirty="0" smtClean="0"/>
              <a:t>Parallel Database Systems</a:t>
            </a:r>
          </a:p>
          <a:p>
            <a:r>
              <a:rPr lang="en-US" dirty="0" smtClean="0"/>
              <a:t>Distributed Object DBMS</a:t>
            </a:r>
          </a:p>
          <a:p>
            <a:r>
              <a:rPr lang="en-US" dirty="0" smtClean="0"/>
              <a:t>Peer-to-Peer Data Management</a:t>
            </a:r>
          </a:p>
          <a:p>
            <a:r>
              <a:rPr lang="en-US" dirty="0" smtClean="0"/>
              <a:t>Web Data Management </a:t>
            </a:r>
          </a:p>
          <a:p>
            <a:r>
              <a:rPr lang="en-US" dirty="0" smtClean="0"/>
              <a:t>Current Issues</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a:lstStyle/>
          <a:p>
            <a:r>
              <a:rPr lang="en-US" sz="3200" b="1" dirty="0"/>
              <a:t>Design Problem</a:t>
            </a:r>
          </a:p>
        </p:txBody>
      </p:sp>
      <p:sp>
        <p:nvSpPr>
          <p:cNvPr id="6147" name="Rectangle 3"/>
          <p:cNvSpPr>
            <a:spLocks noGrp="1" noChangeArrowheads="1"/>
          </p:cNvSpPr>
          <p:nvPr>
            <p:ph idx="1"/>
          </p:nvPr>
        </p:nvSpPr>
        <p:spPr>
          <a:noFill/>
          <a:ln/>
        </p:spPr>
        <p:txBody>
          <a:bodyPr/>
          <a:lstStyle/>
          <a:p>
            <a:pPr>
              <a:lnSpc>
                <a:spcPct val="100000"/>
              </a:lnSpc>
              <a:spcBef>
                <a:spcPct val="80000"/>
              </a:spcBef>
            </a:pPr>
            <a:r>
              <a:rPr lang="en-US" dirty="0"/>
              <a:t>In the general setting :</a:t>
            </a:r>
          </a:p>
          <a:p>
            <a:pPr lvl="1">
              <a:lnSpc>
                <a:spcPct val="100000"/>
              </a:lnSpc>
              <a:spcBef>
                <a:spcPct val="80000"/>
              </a:spcBef>
              <a:buFont typeface="Monotype Sorts" charset="0"/>
              <a:buNone/>
            </a:pPr>
            <a:r>
              <a:rPr lang="en-US" dirty="0"/>
              <a:t>   Making decisions about the placement of </a:t>
            </a:r>
            <a:r>
              <a:rPr lang="en-US" dirty="0">
                <a:solidFill>
                  <a:srgbClr val="FF0000"/>
                </a:solidFill>
              </a:rPr>
              <a:t>data </a:t>
            </a:r>
            <a:r>
              <a:rPr lang="en-US" dirty="0"/>
              <a:t>and </a:t>
            </a:r>
            <a:r>
              <a:rPr lang="en-US" dirty="0">
                <a:solidFill>
                  <a:srgbClr val="FF0000"/>
                </a:solidFill>
              </a:rPr>
              <a:t>programs </a:t>
            </a:r>
            <a:r>
              <a:rPr lang="en-US" dirty="0"/>
              <a:t>across the sites of a computer network as well as possibly designing the network itself.</a:t>
            </a:r>
          </a:p>
          <a:p>
            <a:pPr>
              <a:lnSpc>
                <a:spcPct val="100000"/>
              </a:lnSpc>
              <a:spcBef>
                <a:spcPct val="80000"/>
              </a:spcBef>
            </a:pPr>
            <a:r>
              <a:rPr lang="en-US" dirty="0"/>
              <a:t>In Distributed DBMS, the placement of applications entails</a:t>
            </a:r>
          </a:p>
          <a:p>
            <a:pPr lvl="1">
              <a:lnSpc>
                <a:spcPct val="100000"/>
              </a:lnSpc>
              <a:spcBef>
                <a:spcPct val="80000"/>
              </a:spcBef>
            </a:pPr>
            <a:r>
              <a:rPr lang="en-US" dirty="0"/>
              <a:t>placement of the distributed DBMS software; and</a:t>
            </a:r>
          </a:p>
          <a:p>
            <a:pPr lvl="1">
              <a:lnSpc>
                <a:spcPct val="100000"/>
              </a:lnSpc>
              <a:spcBef>
                <a:spcPct val="80000"/>
              </a:spcBef>
            </a:pPr>
            <a:r>
              <a:rPr lang="en-US" dirty="0"/>
              <a:t>placement of the applications that run on the database</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smtClean="0"/>
              <a:t>Dimensions of Distributed Systems </a:t>
            </a:r>
            <a:r>
              <a:rPr lang="en-US" sz="2000" b="1" dirty="0" smtClean="0"/>
              <a:t>(Levin and Morgan 1975)</a:t>
            </a:r>
            <a:endParaRPr lang="en-US" sz="2000" b="1" dirty="0"/>
          </a:p>
        </p:txBody>
      </p:sp>
      <p:sp>
        <p:nvSpPr>
          <p:cNvPr id="3" name="Content Placeholder 2"/>
          <p:cNvSpPr>
            <a:spLocks noGrp="1"/>
          </p:cNvSpPr>
          <p:nvPr>
            <p:ph idx="1"/>
          </p:nvPr>
        </p:nvSpPr>
        <p:spPr/>
        <p:txBody>
          <a:bodyPr/>
          <a:lstStyle/>
          <a:p>
            <a:r>
              <a:rPr lang="en-US" dirty="0" smtClean="0"/>
              <a:t>Organization of distributed system can be investigated along three orthogonal dimensions:</a:t>
            </a:r>
          </a:p>
          <a:p>
            <a:pPr lvl="1"/>
            <a:r>
              <a:rPr lang="en-US" dirty="0" smtClean="0"/>
              <a:t>Level of sharing</a:t>
            </a:r>
          </a:p>
          <a:p>
            <a:pPr lvl="2"/>
            <a:r>
              <a:rPr lang="en-US" dirty="0" smtClean="0"/>
              <a:t>No sharing, data sharing, data-plus-program sharing</a:t>
            </a:r>
          </a:p>
          <a:p>
            <a:pPr lvl="1"/>
            <a:r>
              <a:rPr lang="en-US" dirty="0" smtClean="0"/>
              <a:t>Behavior of access patterns</a:t>
            </a:r>
          </a:p>
          <a:p>
            <a:pPr lvl="2"/>
            <a:r>
              <a:rPr lang="en-US" dirty="0" smtClean="0"/>
              <a:t>Static, Dynamic</a:t>
            </a:r>
          </a:p>
          <a:p>
            <a:pPr lvl="1"/>
            <a:r>
              <a:rPr lang="en-US" dirty="0" smtClean="0"/>
              <a:t>Level of knowledge on access pattern </a:t>
            </a:r>
            <a:r>
              <a:rPr lang="en-US" dirty="0" err="1" smtClean="0"/>
              <a:t>behaviour</a:t>
            </a:r>
            <a:endParaRPr lang="en-US" dirty="0" smtClean="0"/>
          </a:p>
          <a:p>
            <a:pPr lvl="2"/>
            <a:r>
              <a:rPr lang="en-US" dirty="0" smtClean="0"/>
              <a:t>Partial Information, Complete Information</a:t>
            </a:r>
          </a:p>
          <a:p>
            <a:pPr marL="0" indent="0">
              <a:buNone/>
            </a:pPr>
            <a:endParaRPr lang="en-US" dirty="0"/>
          </a:p>
          <a:p>
            <a:endParaRPr lang="en-US" dirty="0" smtClean="0"/>
          </a:p>
          <a:p>
            <a:endParaRPr lang="en-US" dirty="0"/>
          </a:p>
        </p:txBody>
      </p:sp>
      <p:sp>
        <p:nvSpPr>
          <p:cNvPr id="4" name="Slide Number Placeholder 3"/>
          <p:cNvSpPr>
            <a:spLocks noGrp="1"/>
          </p:cNvSpPr>
          <p:nvPr>
            <p:ph type="sldNum" sz="quarter" idx="10"/>
          </p:nvPr>
        </p:nvSpPr>
        <p:spPr/>
        <p:txBody>
          <a:bodyPr/>
          <a:lstStyle/>
          <a:p>
            <a:r>
              <a:rPr lang="en-US" smtClean="0">
                <a:latin typeface="Book Antiqua"/>
              </a:rPr>
              <a:t>Ch.x/</a:t>
            </a:r>
            <a:fld id="{D01B99BC-F82C-D046-99BD-FBA1D66F1CB4}" type="slidenum">
              <a:rPr lang="en-US" smtClean="0">
                <a:latin typeface="Book Antiqua"/>
              </a:rPr>
              <a:pPr/>
              <a:t>7</a:t>
            </a:fld>
            <a:endParaRPr lang="en-US" dirty="0">
              <a:latin typeface="Book Antiqua"/>
            </a:endParaRPr>
          </a:p>
        </p:txBody>
      </p:sp>
    </p:spTree>
    <p:extLst>
      <p:ext uri="{BB962C8B-B14F-4D97-AF65-F5344CB8AC3E}">
        <p14:creationId xmlns:p14="http://schemas.microsoft.com/office/powerpoint/2010/main" val="327170087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smtClean="0"/>
              <a:t>Level of Sharing</a:t>
            </a:r>
            <a:endParaRPr lang="en-US" sz="2800" b="1" dirty="0"/>
          </a:p>
        </p:txBody>
      </p:sp>
      <p:sp>
        <p:nvSpPr>
          <p:cNvPr id="3" name="Content Placeholder 2"/>
          <p:cNvSpPr>
            <a:spLocks noGrp="1"/>
          </p:cNvSpPr>
          <p:nvPr>
            <p:ph idx="1"/>
          </p:nvPr>
        </p:nvSpPr>
        <p:spPr/>
        <p:txBody>
          <a:bodyPr/>
          <a:lstStyle/>
          <a:p>
            <a:r>
              <a:rPr lang="en-US" sz="2400" dirty="0" smtClean="0"/>
              <a:t>No Sharing</a:t>
            </a:r>
          </a:p>
          <a:p>
            <a:pPr lvl="1"/>
            <a:r>
              <a:rPr lang="en-US" sz="2400" dirty="0" smtClean="0"/>
              <a:t>each application and its data execute at one site. </a:t>
            </a:r>
          </a:p>
          <a:p>
            <a:pPr lvl="1"/>
            <a:r>
              <a:rPr lang="en-US" sz="2400" dirty="0" smtClean="0"/>
              <a:t>There is no communication with any other program or access to any data file at other sites.</a:t>
            </a:r>
          </a:p>
          <a:p>
            <a:r>
              <a:rPr lang="en-US" sz="2400" dirty="0" smtClean="0"/>
              <a:t>Data Sharing</a:t>
            </a:r>
          </a:p>
          <a:p>
            <a:pPr lvl="1"/>
            <a:r>
              <a:rPr lang="en-US" sz="2400" dirty="0" smtClean="0"/>
              <a:t>All the programs are replicated at all the sites, but data files are not</a:t>
            </a:r>
          </a:p>
          <a:p>
            <a:pPr lvl="1"/>
            <a:r>
              <a:rPr lang="en-US" sz="2400" dirty="0" smtClean="0"/>
              <a:t>User requests are handled at the site where they originate and the necessary files are moved around network</a:t>
            </a:r>
          </a:p>
          <a:p>
            <a:pPr lvl="1"/>
            <a:r>
              <a:rPr lang="en-US" sz="2400" dirty="0" smtClean="0"/>
              <a:t>Heterogeneous systems find it difficult to execute program on different hardware and O/S, but can move data easily</a:t>
            </a:r>
          </a:p>
          <a:p>
            <a:r>
              <a:rPr lang="en-US" sz="2400" dirty="0" smtClean="0"/>
              <a:t>Data-plus-program Sharing</a:t>
            </a:r>
          </a:p>
          <a:p>
            <a:pPr lvl="1"/>
            <a:r>
              <a:rPr lang="en-US" sz="2400" dirty="0" smtClean="0"/>
              <a:t>Both data and programs may be shared</a:t>
            </a:r>
          </a:p>
          <a:p>
            <a:pPr lvl="1"/>
            <a:r>
              <a:rPr lang="en-US" sz="2400" dirty="0" smtClean="0"/>
              <a:t>Program at a given site can request service from another program at other site which may need to access data at a third site</a:t>
            </a:r>
          </a:p>
          <a:p>
            <a:pPr lvl="1"/>
            <a:endParaRPr lang="en-US" sz="2400" dirty="0" smtClean="0"/>
          </a:p>
          <a:p>
            <a:endParaRPr lang="en-US" sz="2400" dirty="0"/>
          </a:p>
        </p:txBody>
      </p:sp>
    </p:spTree>
    <p:extLst>
      <p:ext uri="{BB962C8B-B14F-4D97-AF65-F5344CB8AC3E}">
        <p14:creationId xmlns:p14="http://schemas.microsoft.com/office/powerpoint/2010/main" val="100836009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a:lstStyle/>
          <a:p>
            <a:r>
              <a:rPr lang="en-US" sz="3200" b="1" dirty="0"/>
              <a:t>Dimensions of the Problem</a:t>
            </a:r>
          </a:p>
        </p:txBody>
      </p:sp>
      <p:sp>
        <p:nvSpPr>
          <p:cNvPr id="8195" name="Rectangle 3"/>
          <p:cNvSpPr>
            <a:spLocks noChangeArrowheads="1"/>
          </p:cNvSpPr>
          <p:nvPr/>
        </p:nvSpPr>
        <p:spPr bwMode="auto">
          <a:xfrm>
            <a:off x="2292494" y="8055752"/>
            <a:ext cx="2567652" cy="423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310" tIns="36124" rIns="90310" bIns="36124">
            <a:spAutoFit/>
          </a:bodyPr>
          <a:lstStyle/>
          <a:p>
            <a:pPr algn="ctr">
              <a:lnSpc>
                <a:spcPct val="85000"/>
              </a:lnSpc>
            </a:pPr>
            <a:r>
              <a:rPr lang="en-US" sz="2600" dirty="0">
                <a:solidFill>
                  <a:schemeClr val="hlink"/>
                </a:solidFill>
                <a:latin typeface="Book Antiqua"/>
              </a:rPr>
              <a:t>Level of sharing</a:t>
            </a:r>
          </a:p>
        </p:txBody>
      </p:sp>
      <p:sp>
        <p:nvSpPr>
          <p:cNvPr id="8196" name="Rectangle 4"/>
          <p:cNvSpPr>
            <a:spLocks noChangeArrowheads="1"/>
          </p:cNvSpPr>
          <p:nvPr/>
        </p:nvSpPr>
        <p:spPr bwMode="auto">
          <a:xfrm>
            <a:off x="8964324" y="5346418"/>
            <a:ext cx="3095779" cy="423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310" tIns="36124" rIns="90310" bIns="36124">
            <a:spAutoFit/>
          </a:bodyPr>
          <a:lstStyle/>
          <a:p>
            <a:pPr algn="ctr">
              <a:lnSpc>
                <a:spcPct val="85000"/>
              </a:lnSpc>
            </a:pPr>
            <a:r>
              <a:rPr lang="en-US" sz="2600" dirty="0">
                <a:solidFill>
                  <a:schemeClr val="hlink"/>
                </a:solidFill>
                <a:latin typeface="Book Antiqua"/>
              </a:rPr>
              <a:t>Level of knowledge</a:t>
            </a:r>
          </a:p>
        </p:txBody>
      </p:sp>
      <p:sp>
        <p:nvSpPr>
          <p:cNvPr id="8197" name="Rectangle 5"/>
          <p:cNvSpPr>
            <a:spLocks noChangeArrowheads="1"/>
          </p:cNvSpPr>
          <p:nvPr/>
        </p:nvSpPr>
        <p:spPr bwMode="auto">
          <a:xfrm>
            <a:off x="3774507" y="2745458"/>
            <a:ext cx="3721814" cy="423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310" tIns="36124" rIns="90310" bIns="36124">
            <a:spAutoFit/>
          </a:bodyPr>
          <a:lstStyle/>
          <a:p>
            <a:pPr algn="ctr">
              <a:lnSpc>
                <a:spcPct val="85000"/>
              </a:lnSpc>
            </a:pPr>
            <a:r>
              <a:rPr lang="en-US" sz="2600" dirty="0">
                <a:solidFill>
                  <a:schemeClr val="hlink"/>
                </a:solidFill>
                <a:latin typeface="Book Antiqua"/>
              </a:rPr>
              <a:t>Access pattern behavior</a:t>
            </a:r>
          </a:p>
        </p:txBody>
      </p:sp>
      <p:sp>
        <p:nvSpPr>
          <p:cNvPr id="8198" name="Line 6"/>
          <p:cNvSpPr>
            <a:spLocks noChangeShapeType="1"/>
          </p:cNvSpPr>
          <p:nvPr/>
        </p:nvSpPr>
        <p:spPr bwMode="auto">
          <a:xfrm>
            <a:off x="5671538" y="3576320"/>
            <a:ext cx="0" cy="1932658"/>
          </a:xfrm>
          <a:prstGeom prst="line">
            <a:avLst/>
          </a:prstGeom>
          <a:noFill/>
          <a:ln w="254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8199" name="Line 7"/>
          <p:cNvSpPr>
            <a:spLocks noChangeShapeType="1"/>
          </p:cNvSpPr>
          <p:nvPr/>
        </p:nvSpPr>
        <p:spPr bwMode="auto">
          <a:xfrm>
            <a:off x="5689600" y="5508978"/>
            <a:ext cx="3287324"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8200" name="Line 8"/>
          <p:cNvSpPr>
            <a:spLocks noChangeShapeType="1"/>
          </p:cNvSpPr>
          <p:nvPr/>
        </p:nvSpPr>
        <p:spPr bwMode="auto">
          <a:xfrm>
            <a:off x="5030329" y="4867769"/>
            <a:ext cx="0" cy="144497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grpSp>
        <p:nvGrpSpPr>
          <p:cNvPr id="8205" name="Group 13"/>
          <p:cNvGrpSpPr>
            <a:grpSpLocks/>
          </p:cNvGrpSpPr>
          <p:nvPr/>
        </p:nvGrpSpPr>
        <p:grpSpPr bwMode="auto">
          <a:xfrm>
            <a:off x="5030329" y="4867769"/>
            <a:ext cx="2691271" cy="1463040"/>
            <a:chOff x="2228" y="2156"/>
            <a:chExt cx="1192" cy="648"/>
          </a:xfrm>
        </p:grpSpPr>
        <p:sp>
          <p:nvSpPr>
            <p:cNvPr id="8201" name="Line 9"/>
            <p:cNvSpPr>
              <a:spLocks noChangeShapeType="1"/>
            </p:cNvSpPr>
            <p:nvPr/>
          </p:nvSpPr>
          <p:spPr bwMode="auto">
            <a:xfrm>
              <a:off x="3420" y="2156"/>
              <a:ext cx="0" cy="64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grpSp>
          <p:nvGrpSpPr>
            <p:cNvPr id="8204" name="Group 12"/>
            <p:cNvGrpSpPr>
              <a:grpSpLocks/>
            </p:cNvGrpSpPr>
            <p:nvPr/>
          </p:nvGrpSpPr>
          <p:grpSpPr bwMode="auto">
            <a:xfrm>
              <a:off x="2228" y="2156"/>
              <a:ext cx="1184" cy="648"/>
              <a:chOff x="2228" y="2156"/>
              <a:chExt cx="1184" cy="648"/>
            </a:xfrm>
          </p:grpSpPr>
          <p:sp>
            <p:nvSpPr>
              <p:cNvPr id="8202" name="Line 10"/>
              <p:cNvSpPr>
                <a:spLocks noChangeShapeType="1"/>
              </p:cNvSpPr>
              <p:nvPr/>
            </p:nvSpPr>
            <p:spPr bwMode="auto">
              <a:xfrm>
                <a:off x="2228" y="2156"/>
                <a:ext cx="118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8203" name="Line 11"/>
              <p:cNvSpPr>
                <a:spLocks noChangeShapeType="1"/>
              </p:cNvSpPr>
              <p:nvPr/>
            </p:nvSpPr>
            <p:spPr bwMode="auto">
              <a:xfrm>
                <a:off x="2228" y="2804"/>
                <a:ext cx="118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grpSp>
      </p:grpSp>
      <p:sp>
        <p:nvSpPr>
          <p:cNvPr id="8206" name="Line 14"/>
          <p:cNvSpPr>
            <a:spLocks noChangeShapeType="1"/>
          </p:cNvSpPr>
          <p:nvPr/>
        </p:nvSpPr>
        <p:spPr bwMode="auto">
          <a:xfrm flipH="1">
            <a:off x="3811129" y="5508978"/>
            <a:ext cx="1896533" cy="2257778"/>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grpSp>
        <p:nvGrpSpPr>
          <p:cNvPr id="8209" name="Group 17"/>
          <p:cNvGrpSpPr>
            <a:grpSpLocks/>
          </p:cNvGrpSpPr>
          <p:nvPr/>
        </p:nvGrpSpPr>
        <p:grpSpPr bwMode="auto">
          <a:xfrm>
            <a:off x="4334933" y="5671538"/>
            <a:ext cx="2711592" cy="1465298"/>
            <a:chOff x="1920" y="2512"/>
            <a:chExt cx="1201" cy="649"/>
          </a:xfrm>
        </p:grpSpPr>
        <p:sp>
          <p:nvSpPr>
            <p:cNvPr id="8207" name="Line 15"/>
            <p:cNvSpPr>
              <a:spLocks noChangeShapeType="1"/>
            </p:cNvSpPr>
            <p:nvPr/>
          </p:nvSpPr>
          <p:spPr bwMode="auto">
            <a:xfrm>
              <a:off x="1924" y="2516"/>
              <a:ext cx="0" cy="64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8208" name="Freeform 16"/>
            <p:cNvSpPr>
              <a:spLocks/>
            </p:cNvSpPr>
            <p:nvPr/>
          </p:nvSpPr>
          <p:spPr bwMode="auto">
            <a:xfrm>
              <a:off x="1920" y="2512"/>
              <a:ext cx="1201" cy="649"/>
            </a:xfrm>
            <a:custGeom>
              <a:avLst/>
              <a:gdLst>
                <a:gd name="T0" fmla="*/ 0 w 1201"/>
                <a:gd name="T1" fmla="*/ 0 h 649"/>
                <a:gd name="T2" fmla="*/ 1200 w 1201"/>
                <a:gd name="T3" fmla="*/ 0 h 649"/>
                <a:gd name="T4" fmla="*/ 1200 w 1201"/>
                <a:gd name="T5" fmla="*/ 648 h 649"/>
                <a:gd name="T6" fmla="*/ 0 w 1201"/>
                <a:gd name="T7" fmla="*/ 648 h 649"/>
              </a:gdLst>
              <a:ahLst/>
              <a:cxnLst>
                <a:cxn ang="0">
                  <a:pos x="T0" y="T1"/>
                </a:cxn>
                <a:cxn ang="0">
                  <a:pos x="T2" y="T3"/>
                </a:cxn>
                <a:cxn ang="0">
                  <a:pos x="T4" y="T5"/>
                </a:cxn>
                <a:cxn ang="0">
                  <a:pos x="T6" y="T7"/>
                </a:cxn>
              </a:cxnLst>
              <a:rect l="0" t="0" r="r" b="b"/>
              <a:pathLst>
                <a:path w="1201" h="649">
                  <a:moveTo>
                    <a:pt x="0" y="0"/>
                  </a:moveTo>
                  <a:lnTo>
                    <a:pt x="1200" y="0"/>
                  </a:lnTo>
                  <a:lnTo>
                    <a:pt x="1200" y="648"/>
                  </a:lnTo>
                  <a:lnTo>
                    <a:pt x="0" y="648"/>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dirty="0">
                <a:latin typeface="Book Antiqua"/>
              </a:endParaRPr>
            </a:p>
          </p:txBody>
        </p:sp>
      </p:grpSp>
      <p:sp>
        <p:nvSpPr>
          <p:cNvPr id="8210" name="Freeform 18"/>
          <p:cNvSpPr>
            <a:spLocks/>
          </p:cNvSpPr>
          <p:nvPr/>
        </p:nvSpPr>
        <p:spPr bwMode="auto">
          <a:xfrm>
            <a:off x="5689600" y="4045938"/>
            <a:ext cx="2711592" cy="1465298"/>
          </a:xfrm>
          <a:custGeom>
            <a:avLst/>
            <a:gdLst>
              <a:gd name="T0" fmla="*/ 0 w 1201"/>
              <a:gd name="T1" fmla="*/ 0 h 649"/>
              <a:gd name="T2" fmla="*/ 1200 w 1201"/>
              <a:gd name="T3" fmla="*/ 0 h 649"/>
              <a:gd name="T4" fmla="*/ 1200 w 1201"/>
              <a:gd name="T5" fmla="*/ 648 h 649"/>
            </a:gdLst>
            <a:ahLst/>
            <a:cxnLst>
              <a:cxn ang="0">
                <a:pos x="T0" y="T1"/>
              </a:cxn>
              <a:cxn ang="0">
                <a:pos x="T2" y="T3"/>
              </a:cxn>
              <a:cxn ang="0">
                <a:pos x="T4" y="T5"/>
              </a:cxn>
            </a:cxnLst>
            <a:rect l="0" t="0" r="r" b="b"/>
            <a:pathLst>
              <a:path w="1201" h="649">
                <a:moveTo>
                  <a:pt x="0" y="0"/>
                </a:moveTo>
                <a:lnTo>
                  <a:pt x="1200" y="0"/>
                </a:lnTo>
                <a:lnTo>
                  <a:pt x="1200" y="648"/>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30046" tIns="65023" rIns="130046" bIns="65023"/>
          <a:lstStyle/>
          <a:p>
            <a:endParaRPr lang="en-US" dirty="0">
              <a:latin typeface="Book Antiqua"/>
            </a:endParaRPr>
          </a:p>
        </p:txBody>
      </p:sp>
      <p:sp>
        <p:nvSpPr>
          <p:cNvPr id="8211" name="Line 19"/>
          <p:cNvSpPr>
            <a:spLocks noChangeShapeType="1"/>
          </p:cNvSpPr>
          <p:nvPr/>
        </p:nvSpPr>
        <p:spPr bwMode="auto">
          <a:xfrm flipH="1">
            <a:off x="4334933" y="4054969"/>
            <a:ext cx="1372729" cy="16256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8212" name="Line 20"/>
          <p:cNvSpPr>
            <a:spLocks noChangeShapeType="1"/>
          </p:cNvSpPr>
          <p:nvPr/>
        </p:nvSpPr>
        <p:spPr bwMode="auto">
          <a:xfrm flipH="1">
            <a:off x="7044267" y="4054969"/>
            <a:ext cx="1372729" cy="16256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8213" name="Line 21"/>
          <p:cNvSpPr>
            <a:spLocks noChangeShapeType="1"/>
          </p:cNvSpPr>
          <p:nvPr/>
        </p:nvSpPr>
        <p:spPr bwMode="auto">
          <a:xfrm flipH="1">
            <a:off x="7044267" y="5518009"/>
            <a:ext cx="1372729" cy="16256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8214" name="Line 22"/>
          <p:cNvSpPr>
            <a:spLocks noChangeShapeType="1"/>
          </p:cNvSpPr>
          <p:nvPr/>
        </p:nvSpPr>
        <p:spPr bwMode="auto">
          <a:xfrm flipH="1">
            <a:off x="5689600" y="4054969"/>
            <a:ext cx="1372729" cy="16256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8215" name="Line 23"/>
          <p:cNvSpPr>
            <a:spLocks noChangeShapeType="1"/>
          </p:cNvSpPr>
          <p:nvPr/>
        </p:nvSpPr>
        <p:spPr bwMode="auto">
          <a:xfrm flipH="1">
            <a:off x="5689600" y="5518009"/>
            <a:ext cx="1372729" cy="16256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8216" name="Line 24"/>
          <p:cNvSpPr>
            <a:spLocks noChangeShapeType="1"/>
          </p:cNvSpPr>
          <p:nvPr/>
        </p:nvSpPr>
        <p:spPr bwMode="auto">
          <a:xfrm>
            <a:off x="7053298" y="4054969"/>
            <a:ext cx="0" cy="144497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8217" name="Line 25"/>
          <p:cNvSpPr>
            <a:spLocks noChangeShapeType="1"/>
          </p:cNvSpPr>
          <p:nvPr/>
        </p:nvSpPr>
        <p:spPr bwMode="auto">
          <a:xfrm>
            <a:off x="5698631" y="5680569"/>
            <a:ext cx="0" cy="144497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8218" name="Rectangle 26"/>
          <p:cNvSpPr>
            <a:spLocks noChangeArrowheads="1"/>
          </p:cNvSpPr>
          <p:nvPr/>
        </p:nvSpPr>
        <p:spPr bwMode="auto">
          <a:xfrm>
            <a:off x="8938542" y="4061743"/>
            <a:ext cx="2172369"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28691" tIns="63217" rIns="128691" bIns="63217">
            <a:spAutoFit/>
          </a:bodyPr>
          <a:lstStyle/>
          <a:p>
            <a:r>
              <a:rPr lang="en-US" sz="2600" dirty="0">
                <a:solidFill>
                  <a:srgbClr val="000000"/>
                </a:solidFill>
                <a:latin typeface="Book Antiqua"/>
              </a:rPr>
              <a:t>partial</a:t>
            </a:r>
          </a:p>
          <a:p>
            <a:r>
              <a:rPr lang="en-US" sz="2600" dirty="0">
                <a:solidFill>
                  <a:srgbClr val="000000"/>
                </a:solidFill>
                <a:latin typeface="Book Antiqua"/>
              </a:rPr>
              <a:t>information </a:t>
            </a:r>
          </a:p>
        </p:txBody>
      </p:sp>
      <p:sp>
        <p:nvSpPr>
          <p:cNvPr id="8219" name="Line 27"/>
          <p:cNvSpPr>
            <a:spLocks noChangeShapeType="1"/>
          </p:cNvSpPr>
          <p:nvPr/>
        </p:nvSpPr>
        <p:spPr bwMode="auto">
          <a:xfrm flipV="1">
            <a:off x="5825067" y="3495040"/>
            <a:ext cx="505742" cy="478649"/>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8220" name="Line 28"/>
          <p:cNvSpPr>
            <a:spLocks noChangeShapeType="1"/>
          </p:cNvSpPr>
          <p:nvPr/>
        </p:nvSpPr>
        <p:spPr bwMode="auto">
          <a:xfrm flipH="1" flipV="1">
            <a:off x="4605867" y="4208498"/>
            <a:ext cx="1029547" cy="1210169"/>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8221" name="Line 29"/>
          <p:cNvSpPr>
            <a:spLocks noChangeShapeType="1"/>
          </p:cNvSpPr>
          <p:nvPr/>
        </p:nvSpPr>
        <p:spPr bwMode="auto">
          <a:xfrm flipV="1">
            <a:off x="7215858" y="4533618"/>
            <a:ext cx="1733973" cy="885049"/>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8222" name="Line 30"/>
          <p:cNvSpPr>
            <a:spLocks noChangeShapeType="1"/>
          </p:cNvSpPr>
          <p:nvPr/>
        </p:nvSpPr>
        <p:spPr bwMode="auto">
          <a:xfrm>
            <a:off x="8516338" y="5626382"/>
            <a:ext cx="433493" cy="541867"/>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8223" name="Line 31"/>
          <p:cNvSpPr>
            <a:spLocks noChangeShapeType="1"/>
          </p:cNvSpPr>
          <p:nvPr/>
        </p:nvSpPr>
        <p:spPr bwMode="auto">
          <a:xfrm flipH="1" flipV="1">
            <a:off x="3666631" y="5508978"/>
            <a:ext cx="1264356" cy="758613"/>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8224" name="Line 32"/>
          <p:cNvSpPr>
            <a:spLocks noChangeShapeType="1"/>
          </p:cNvSpPr>
          <p:nvPr/>
        </p:nvSpPr>
        <p:spPr bwMode="auto">
          <a:xfrm flipH="1" flipV="1">
            <a:off x="3702756" y="6592711"/>
            <a:ext cx="654756" cy="478649"/>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8225" name="Rectangle 33"/>
          <p:cNvSpPr>
            <a:spLocks noChangeArrowheads="1"/>
          </p:cNvSpPr>
          <p:nvPr/>
        </p:nvSpPr>
        <p:spPr bwMode="auto">
          <a:xfrm>
            <a:off x="6224539" y="3174435"/>
            <a:ext cx="154914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dynamic</a:t>
            </a:r>
          </a:p>
        </p:txBody>
      </p:sp>
      <p:sp>
        <p:nvSpPr>
          <p:cNvPr id="8226" name="Rectangle 34"/>
          <p:cNvSpPr>
            <a:spLocks noChangeArrowheads="1"/>
          </p:cNvSpPr>
          <p:nvPr/>
        </p:nvSpPr>
        <p:spPr bwMode="auto">
          <a:xfrm>
            <a:off x="4144830" y="3707271"/>
            <a:ext cx="1030451"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static</a:t>
            </a:r>
          </a:p>
        </p:txBody>
      </p:sp>
      <p:sp>
        <p:nvSpPr>
          <p:cNvPr id="8227" name="Rectangle 35"/>
          <p:cNvSpPr>
            <a:spLocks noChangeArrowheads="1"/>
          </p:cNvSpPr>
          <p:nvPr/>
        </p:nvSpPr>
        <p:spPr bwMode="auto">
          <a:xfrm>
            <a:off x="2997015" y="5016782"/>
            <a:ext cx="905743"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data</a:t>
            </a:r>
          </a:p>
        </p:txBody>
      </p:sp>
      <p:sp>
        <p:nvSpPr>
          <p:cNvPr id="8228" name="Rectangle 36"/>
          <p:cNvSpPr>
            <a:spLocks noChangeArrowheads="1"/>
          </p:cNvSpPr>
          <p:nvPr/>
        </p:nvSpPr>
        <p:spPr bwMode="auto">
          <a:xfrm>
            <a:off x="2351576" y="5847645"/>
            <a:ext cx="1546380"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data +</a:t>
            </a:r>
          </a:p>
          <a:p>
            <a:r>
              <a:rPr lang="en-US" sz="2600" dirty="0">
                <a:solidFill>
                  <a:srgbClr val="000000"/>
                </a:solidFill>
                <a:latin typeface="Book Antiqua"/>
              </a:rPr>
              <a:t>program</a:t>
            </a:r>
          </a:p>
        </p:txBody>
      </p:sp>
      <p:sp>
        <p:nvSpPr>
          <p:cNvPr id="8229" name="Rectangle 37"/>
          <p:cNvSpPr>
            <a:spLocks noChangeArrowheads="1"/>
          </p:cNvSpPr>
          <p:nvPr/>
        </p:nvSpPr>
        <p:spPr bwMode="auto">
          <a:xfrm>
            <a:off x="8789418" y="6001174"/>
            <a:ext cx="2018678"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complete</a:t>
            </a:r>
          </a:p>
          <a:p>
            <a:r>
              <a:rPr lang="en-US" sz="2600" dirty="0">
                <a:solidFill>
                  <a:srgbClr val="000000"/>
                </a:solidFill>
                <a:latin typeface="Book Antiqua"/>
              </a:rPr>
              <a:t>information</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noFill/>
          <a:ln/>
        </p:spPr>
        <p:txBody>
          <a:bodyPr/>
          <a:lstStyle/>
          <a:p>
            <a:r>
              <a:rPr lang="en-US" sz="3200" b="1" dirty="0"/>
              <a:t>Distribution Design</a:t>
            </a:r>
          </a:p>
        </p:txBody>
      </p:sp>
      <p:sp>
        <p:nvSpPr>
          <p:cNvPr id="9219" name="Rectangle 3"/>
          <p:cNvSpPr>
            <a:spLocks noGrp="1" noChangeArrowheads="1"/>
          </p:cNvSpPr>
          <p:nvPr>
            <p:ph idx="1"/>
          </p:nvPr>
        </p:nvSpPr>
        <p:spPr>
          <a:noFill/>
          <a:ln/>
        </p:spPr>
        <p:txBody>
          <a:bodyPr/>
          <a:lstStyle/>
          <a:p>
            <a:pPr>
              <a:lnSpc>
                <a:spcPct val="100000"/>
              </a:lnSpc>
              <a:spcBef>
                <a:spcPct val="80000"/>
              </a:spcBef>
            </a:pPr>
            <a:r>
              <a:rPr lang="en-US" dirty="0">
                <a:solidFill>
                  <a:schemeClr val="tx2"/>
                </a:solidFill>
              </a:rPr>
              <a:t>Top-down</a:t>
            </a:r>
            <a:endParaRPr lang="en-US" dirty="0"/>
          </a:p>
          <a:p>
            <a:pPr lvl="1">
              <a:lnSpc>
                <a:spcPct val="100000"/>
              </a:lnSpc>
              <a:spcBef>
                <a:spcPct val="80000"/>
              </a:spcBef>
            </a:pPr>
            <a:r>
              <a:rPr lang="en-US" dirty="0"/>
              <a:t>mostly in designing systems from scratch</a:t>
            </a:r>
          </a:p>
          <a:p>
            <a:pPr lvl="1">
              <a:lnSpc>
                <a:spcPct val="100000"/>
              </a:lnSpc>
              <a:spcBef>
                <a:spcPct val="80000"/>
              </a:spcBef>
            </a:pPr>
            <a:r>
              <a:rPr lang="en-US" dirty="0"/>
              <a:t>mostly in homogeneous systems</a:t>
            </a:r>
          </a:p>
          <a:p>
            <a:pPr>
              <a:lnSpc>
                <a:spcPct val="100000"/>
              </a:lnSpc>
              <a:spcBef>
                <a:spcPct val="80000"/>
              </a:spcBef>
            </a:pPr>
            <a:r>
              <a:rPr lang="en-US" dirty="0">
                <a:solidFill>
                  <a:schemeClr val="tx2"/>
                </a:solidFill>
              </a:rPr>
              <a:t>Bottom-up</a:t>
            </a:r>
            <a:endParaRPr lang="en-US" dirty="0"/>
          </a:p>
          <a:p>
            <a:pPr lvl="1">
              <a:lnSpc>
                <a:spcPct val="100000"/>
              </a:lnSpc>
              <a:spcBef>
                <a:spcPct val="80000"/>
              </a:spcBef>
            </a:pPr>
            <a:r>
              <a:rPr lang="en-US" dirty="0"/>
              <a:t>when the databases already exist at a number of sites</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sz="3200" dirty="0" smtClean="0"/>
              <a:t>Database Development </a:t>
            </a:r>
            <a:r>
              <a:rPr lang="en-US" altLang="en-US" sz="3200" dirty="0"/>
              <a:t>Lifecycle</a:t>
            </a:r>
          </a:p>
        </p:txBody>
      </p:sp>
      <p:sp>
        <p:nvSpPr>
          <p:cNvPr id="14339" name="Rectangle 3"/>
          <p:cNvSpPr>
            <a:spLocks noGrp="1" noChangeArrowheads="1"/>
          </p:cNvSpPr>
          <p:nvPr>
            <p:ph idx="1"/>
          </p:nvPr>
        </p:nvSpPr>
        <p:spPr/>
        <p:txBody>
          <a:bodyPr/>
          <a:lstStyle/>
          <a:p>
            <a:pPr eaLnBrk="1" hangingPunct="1"/>
            <a:r>
              <a:rPr lang="en-US" altLang="en-US" sz="2400" dirty="0">
                <a:solidFill>
                  <a:srgbClr val="00B0F0"/>
                </a:solidFill>
              </a:rPr>
              <a:t>Requirements Analysis: </a:t>
            </a:r>
            <a:r>
              <a:rPr lang="en-US" altLang="en-US" sz="2400" dirty="0">
                <a:solidFill>
                  <a:srgbClr val="00B050"/>
                </a:solidFill>
              </a:rPr>
              <a:t>SRS</a:t>
            </a:r>
          </a:p>
          <a:p>
            <a:pPr eaLnBrk="1" hangingPunct="1"/>
            <a:r>
              <a:rPr lang="en-US" altLang="en-US" sz="2400" dirty="0">
                <a:solidFill>
                  <a:srgbClr val="00B0F0"/>
                </a:solidFill>
              </a:rPr>
              <a:t>Design:</a:t>
            </a:r>
            <a:r>
              <a:rPr lang="en-US" altLang="en-US" sz="2400" dirty="0">
                <a:solidFill>
                  <a:schemeClr val="hlink"/>
                </a:solidFill>
              </a:rPr>
              <a:t> </a:t>
            </a:r>
            <a:r>
              <a:rPr lang="en-US" altLang="en-US" sz="2400" dirty="0">
                <a:solidFill>
                  <a:srgbClr val="00B050"/>
                </a:solidFill>
              </a:rPr>
              <a:t>Design </a:t>
            </a:r>
            <a:r>
              <a:rPr lang="en-US" altLang="en-US" sz="2400" dirty="0" smtClean="0">
                <a:solidFill>
                  <a:srgbClr val="00B050"/>
                </a:solidFill>
              </a:rPr>
              <a:t>Document  (E-R Model, E-R to Relational)</a:t>
            </a:r>
            <a:endParaRPr lang="en-US" altLang="en-US" sz="2400" dirty="0">
              <a:solidFill>
                <a:srgbClr val="00B050"/>
              </a:solidFill>
            </a:endParaRPr>
          </a:p>
          <a:p>
            <a:pPr eaLnBrk="1" hangingPunct="1"/>
            <a:r>
              <a:rPr lang="en-US" altLang="en-US" sz="2400" dirty="0">
                <a:solidFill>
                  <a:srgbClr val="00B0F0"/>
                </a:solidFill>
              </a:rPr>
              <a:t>Implementation: </a:t>
            </a:r>
            <a:r>
              <a:rPr lang="en-US" altLang="en-US" sz="2400" dirty="0">
                <a:solidFill>
                  <a:srgbClr val="00B050"/>
                </a:solidFill>
              </a:rPr>
              <a:t>Software  </a:t>
            </a:r>
            <a:r>
              <a:rPr lang="en-US" altLang="en-US" sz="2400" dirty="0" smtClean="0">
                <a:solidFill>
                  <a:srgbClr val="00B050"/>
                </a:solidFill>
              </a:rPr>
              <a:t>( DDL, DML)</a:t>
            </a:r>
            <a:endParaRPr lang="en-US" altLang="en-US" sz="2000" dirty="0">
              <a:solidFill>
                <a:srgbClr val="FF0000"/>
              </a:solidFill>
            </a:endParaRPr>
          </a:p>
          <a:p>
            <a:pPr eaLnBrk="1" hangingPunct="1"/>
            <a:r>
              <a:rPr lang="en-US" altLang="en-US" sz="2400" dirty="0" smtClean="0"/>
              <a:t>Testing</a:t>
            </a:r>
            <a:endParaRPr lang="en-US" altLang="en-US" sz="2400" dirty="0"/>
          </a:p>
          <a:p>
            <a:pPr eaLnBrk="1" hangingPunct="1"/>
            <a:r>
              <a:rPr lang="en-US" altLang="en-US" sz="2400" dirty="0"/>
              <a:t>Installation</a:t>
            </a:r>
          </a:p>
          <a:p>
            <a:pPr eaLnBrk="1" hangingPunct="1"/>
            <a:r>
              <a:rPr lang="en-US" altLang="en-US" sz="2400" dirty="0"/>
              <a:t>Maintenance</a:t>
            </a:r>
          </a:p>
          <a:p>
            <a:pPr eaLnBrk="1" hangingPunct="1">
              <a:buFontTx/>
              <a:buNone/>
            </a:pPr>
            <a:endParaRPr lang="en-US" altLang="en-US" sz="2400" dirty="0"/>
          </a:p>
        </p:txBody>
      </p:sp>
      <p:sp>
        <p:nvSpPr>
          <p:cNvPr id="14340" name="Date Placeholder 3"/>
          <p:cNvSpPr>
            <a:spLocks noGrp="1"/>
          </p:cNvSpPr>
          <p:nvPr>
            <p:ph type="dt" sz="quarter" idx="10"/>
          </p:nvPr>
        </p:nvSpPr>
        <p:spPr>
          <a:noFill/>
        </p:spPr>
        <p:txBody>
          <a:bodyPr lIns="130046" tIns="65023" rIns="130046" bIns="65023"/>
          <a:lstStyle>
            <a:lvl1pPr algn="l" eaLnBrk="0" hangingPunct="0">
              <a:spcBef>
                <a:spcPct val="20000"/>
              </a:spcBef>
              <a:buChar char="•"/>
              <a:defRPr sz="4600">
                <a:solidFill>
                  <a:schemeClr val="tx1"/>
                </a:solidFill>
                <a:latin typeface="Arial" pitchFamily="34" charset="0"/>
                <a:cs typeface="Arial" pitchFamily="34" charset="0"/>
              </a:defRPr>
            </a:lvl1pPr>
            <a:lvl2pPr marL="1056623" indent="-406394" algn="l" eaLnBrk="0" hangingPunct="0">
              <a:spcBef>
                <a:spcPct val="20000"/>
              </a:spcBef>
              <a:buChar char="–"/>
              <a:defRPr sz="4000">
                <a:solidFill>
                  <a:schemeClr val="tx1"/>
                </a:solidFill>
                <a:latin typeface="Arial" pitchFamily="34" charset="0"/>
                <a:cs typeface="Arial" pitchFamily="34" charset="0"/>
              </a:defRPr>
            </a:lvl2pPr>
            <a:lvl3pPr marL="1625575" indent="-325115" algn="l" eaLnBrk="0" hangingPunct="0">
              <a:spcBef>
                <a:spcPct val="20000"/>
              </a:spcBef>
              <a:buChar char="•"/>
              <a:defRPr sz="3400">
                <a:solidFill>
                  <a:schemeClr val="tx1"/>
                </a:solidFill>
                <a:latin typeface="Arial" pitchFamily="34" charset="0"/>
                <a:cs typeface="Arial" pitchFamily="34" charset="0"/>
              </a:defRPr>
            </a:lvl3pPr>
            <a:lvl4pPr marL="2275804" indent="-325115" algn="l" eaLnBrk="0" hangingPunct="0">
              <a:spcBef>
                <a:spcPct val="20000"/>
              </a:spcBef>
              <a:buChar char="–"/>
              <a:defRPr sz="2800">
                <a:solidFill>
                  <a:schemeClr val="tx1"/>
                </a:solidFill>
                <a:latin typeface="Arial" pitchFamily="34" charset="0"/>
                <a:cs typeface="Arial" pitchFamily="34" charset="0"/>
              </a:defRPr>
            </a:lvl4pPr>
            <a:lvl5pPr marL="2926034" indent="-325115" algn="l" eaLnBrk="0" hangingPunct="0">
              <a:spcBef>
                <a:spcPct val="20000"/>
              </a:spcBef>
              <a:buChar char="»"/>
              <a:defRPr sz="2800">
                <a:solidFill>
                  <a:schemeClr val="tx1"/>
                </a:solidFill>
                <a:latin typeface="Arial" pitchFamily="34" charset="0"/>
                <a:cs typeface="Arial" pitchFamily="34" charset="0"/>
              </a:defRPr>
            </a:lvl5pPr>
            <a:lvl6pPr marL="3576264" indent="-325115" eaLnBrk="0" fontAlgn="base" hangingPunct="0">
              <a:spcBef>
                <a:spcPct val="20000"/>
              </a:spcBef>
              <a:spcAft>
                <a:spcPct val="0"/>
              </a:spcAft>
              <a:buChar char="»"/>
              <a:defRPr sz="2800">
                <a:solidFill>
                  <a:schemeClr val="tx1"/>
                </a:solidFill>
                <a:latin typeface="Arial" pitchFamily="34" charset="0"/>
                <a:cs typeface="Arial" pitchFamily="34" charset="0"/>
              </a:defRPr>
            </a:lvl6pPr>
            <a:lvl7pPr marL="4226494" indent="-325115" eaLnBrk="0" fontAlgn="base" hangingPunct="0">
              <a:spcBef>
                <a:spcPct val="20000"/>
              </a:spcBef>
              <a:spcAft>
                <a:spcPct val="0"/>
              </a:spcAft>
              <a:buChar char="»"/>
              <a:defRPr sz="2800">
                <a:solidFill>
                  <a:schemeClr val="tx1"/>
                </a:solidFill>
                <a:latin typeface="Arial" pitchFamily="34" charset="0"/>
                <a:cs typeface="Arial" pitchFamily="34" charset="0"/>
              </a:defRPr>
            </a:lvl7pPr>
            <a:lvl8pPr marL="4876724" indent="-325115" eaLnBrk="0" fontAlgn="base" hangingPunct="0">
              <a:spcBef>
                <a:spcPct val="20000"/>
              </a:spcBef>
              <a:spcAft>
                <a:spcPct val="0"/>
              </a:spcAft>
              <a:buChar char="»"/>
              <a:defRPr sz="2800">
                <a:solidFill>
                  <a:schemeClr val="tx1"/>
                </a:solidFill>
                <a:latin typeface="Arial" pitchFamily="34" charset="0"/>
                <a:cs typeface="Arial" pitchFamily="34" charset="0"/>
              </a:defRPr>
            </a:lvl8pPr>
            <a:lvl9pPr marL="5526954" indent="-325115" eaLnBrk="0" fontAlgn="base" hangingPunct="0">
              <a:spcBef>
                <a:spcPct val="20000"/>
              </a:spcBef>
              <a:spcAft>
                <a:spcPct val="0"/>
              </a:spcAft>
              <a:buChar char="»"/>
              <a:defRPr sz="2800">
                <a:solidFill>
                  <a:schemeClr val="tx1"/>
                </a:solidFill>
                <a:latin typeface="Arial" pitchFamily="34" charset="0"/>
                <a:cs typeface="Arial" pitchFamily="34" charset="0"/>
              </a:defRPr>
            </a:lvl9pPr>
          </a:lstStyle>
          <a:p>
            <a:pPr eaLnBrk="1" hangingPunct="1">
              <a:spcBef>
                <a:spcPct val="0"/>
              </a:spcBef>
              <a:buFontTx/>
              <a:buNone/>
            </a:pPr>
            <a:r>
              <a:rPr lang="en-US" altLang="en-US" sz="2000"/>
              <a:t>9/18/2020</a:t>
            </a:r>
          </a:p>
        </p:txBody>
      </p:sp>
      <p:sp>
        <p:nvSpPr>
          <p:cNvPr id="14341" name="Slide Number Placeholder 5"/>
          <p:cNvSpPr>
            <a:spLocks noGrp="1"/>
          </p:cNvSpPr>
          <p:nvPr>
            <p:ph type="sldNum" sz="quarter" idx="4294967295"/>
          </p:nvPr>
        </p:nvSpPr>
        <p:spPr>
          <a:xfrm>
            <a:off x="9320107" y="8882098"/>
            <a:ext cx="3034453" cy="677333"/>
          </a:xfrm>
          <a:prstGeom prst="rect">
            <a:avLst/>
          </a:prstGeom>
          <a:noFill/>
        </p:spPr>
        <p:txBody>
          <a:bodyPr lIns="130046" tIns="65023" rIns="130046" bIns="65023"/>
          <a:lstStyle>
            <a:lvl1pPr algn="l" eaLnBrk="0" hangingPunct="0">
              <a:spcBef>
                <a:spcPct val="20000"/>
              </a:spcBef>
              <a:buChar char="•"/>
              <a:defRPr sz="4600">
                <a:solidFill>
                  <a:schemeClr val="tx1"/>
                </a:solidFill>
                <a:latin typeface="Arial" pitchFamily="34" charset="0"/>
                <a:cs typeface="Arial" pitchFamily="34" charset="0"/>
              </a:defRPr>
            </a:lvl1pPr>
            <a:lvl2pPr marL="1056623" indent="-406394" algn="l" eaLnBrk="0" hangingPunct="0">
              <a:spcBef>
                <a:spcPct val="20000"/>
              </a:spcBef>
              <a:buChar char="–"/>
              <a:defRPr sz="4000">
                <a:solidFill>
                  <a:schemeClr val="tx1"/>
                </a:solidFill>
                <a:latin typeface="Arial" pitchFamily="34" charset="0"/>
                <a:cs typeface="Arial" pitchFamily="34" charset="0"/>
              </a:defRPr>
            </a:lvl2pPr>
            <a:lvl3pPr marL="1625575" indent="-325115" algn="l" eaLnBrk="0" hangingPunct="0">
              <a:spcBef>
                <a:spcPct val="20000"/>
              </a:spcBef>
              <a:buChar char="•"/>
              <a:defRPr sz="3400">
                <a:solidFill>
                  <a:schemeClr val="tx1"/>
                </a:solidFill>
                <a:latin typeface="Arial" pitchFamily="34" charset="0"/>
                <a:cs typeface="Arial" pitchFamily="34" charset="0"/>
              </a:defRPr>
            </a:lvl3pPr>
            <a:lvl4pPr marL="2275804" indent="-325115" algn="l" eaLnBrk="0" hangingPunct="0">
              <a:spcBef>
                <a:spcPct val="20000"/>
              </a:spcBef>
              <a:buChar char="–"/>
              <a:defRPr sz="2800">
                <a:solidFill>
                  <a:schemeClr val="tx1"/>
                </a:solidFill>
                <a:latin typeface="Arial" pitchFamily="34" charset="0"/>
                <a:cs typeface="Arial" pitchFamily="34" charset="0"/>
              </a:defRPr>
            </a:lvl4pPr>
            <a:lvl5pPr marL="2926034" indent="-325115" algn="l" eaLnBrk="0" hangingPunct="0">
              <a:spcBef>
                <a:spcPct val="20000"/>
              </a:spcBef>
              <a:buChar char="»"/>
              <a:defRPr sz="2800">
                <a:solidFill>
                  <a:schemeClr val="tx1"/>
                </a:solidFill>
                <a:latin typeface="Arial" pitchFamily="34" charset="0"/>
                <a:cs typeface="Arial" pitchFamily="34" charset="0"/>
              </a:defRPr>
            </a:lvl5pPr>
            <a:lvl6pPr marL="3576264" indent="-325115" eaLnBrk="0" fontAlgn="base" hangingPunct="0">
              <a:spcBef>
                <a:spcPct val="20000"/>
              </a:spcBef>
              <a:spcAft>
                <a:spcPct val="0"/>
              </a:spcAft>
              <a:buChar char="»"/>
              <a:defRPr sz="2800">
                <a:solidFill>
                  <a:schemeClr val="tx1"/>
                </a:solidFill>
                <a:latin typeface="Arial" pitchFamily="34" charset="0"/>
                <a:cs typeface="Arial" pitchFamily="34" charset="0"/>
              </a:defRPr>
            </a:lvl6pPr>
            <a:lvl7pPr marL="4226494" indent="-325115" eaLnBrk="0" fontAlgn="base" hangingPunct="0">
              <a:spcBef>
                <a:spcPct val="20000"/>
              </a:spcBef>
              <a:spcAft>
                <a:spcPct val="0"/>
              </a:spcAft>
              <a:buChar char="»"/>
              <a:defRPr sz="2800">
                <a:solidFill>
                  <a:schemeClr val="tx1"/>
                </a:solidFill>
                <a:latin typeface="Arial" pitchFamily="34" charset="0"/>
                <a:cs typeface="Arial" pitchFamily="34" charset="0"/>
              </a:defRPr>
            </a:lvl7pPr>
            <a:lvl8pPr marL="4876724" indent="-325115" eaLnBrk="0" fontAlgn="base" hangingPunct="0">
              <a:spcBef>
                <a:spcPct val="20000"/>
              </a:spcBef>
              <a:spcAft>
                <a:spcPct val="0"/>
              </a:spcAft>
              <a:buChar char="»"/>
              <a:defRPr sz="2800">
                <a:solidFill>
                  <a:schemeClr val="tx1"/>
                </a:solidFill>
                <a:latin typeface="Arial" pitchFamily="34" charset="0"/>
                <a:cs typeface="Arial" pitchFamily="34" charset="0"/>
              </a:defRPr>
            </a:lvl8pPr>
            <a:lvl9pPr marL="5526954" indent="-325115" eaLnBrk="0" fontAlgn="base" hangingPunct="0">
              <a:spcBef>
                <a:spcPct val="20000"/>
              </a:spcBef>
              <a:spcAft>
                <a:spcPct val="0"/>
              </a:spcAft>
              <a:buChar char="»"/>
              <a:defRPr sz="2800">
                <a:solidFill>
                  <a:schemeClr val="tx1"/>
                </a:solidFill>
                <a:latin typeface="Arial" pitchFamily="34" charset="0"/>
                <a:cs typeface="Arial" pitchFamily="34" charset="0"/>
              </a:defRPr>
            </a:lvl9pPr>
          </a:lstStyle>
          <a:p>
            <a:pPr algn="r" eaLnBrk="1" hangingPunct="1">
              <a:spcBef>
                <a:spcPct val="0"/>
              </a:spcBef>
              <a:buFontTx/>
              <a:buNone/>
            </a:pPr>
            <a:fld id="{EE4E9EFF-59B0-4FC4-81C1-A9A3252EAF38}" type="slidenum">
              <a:rPr lang="en-US" altLang="en-US" sz="2000"/>
              <a:pPr algn="r" eaLnBrk="1" hangingPunct="1">
                <a:spcBef>
                  <a:spcPct val="0"/>
                </a:spcBef>
                <a:buFontTx/>
                <a:buNone/>
              </a:pPr>
              <a:t>11</a:t>
            </a:fld>
            <a:endParaRPr lang="en-US" altLang="en-US" sz="2000"/>
          </a:p>
        </p:txBody>
      </p:sp>
    </p:spTree>
    <p:extLst>
      <p:ext uri="{BB962C8B-B14F-4D97-AF65-F5344CB8AC3E}">
        <p14:creationId xmlns:p14="http://schemas.microsoft.com/office/powerpoint/2010/main" val="2591471647"/>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noFill/>
          <a:ln/>
        </p:spPr>
        <p:txBody>
          <a:bodyPr/>
          <a:lstStyle/>
          <a:p>
            <a:r>
              <a:rPr lang="en-US" sz="3200" b="1" dirty="0"/>
              <a:t>Top-Down Design</a:t>
            </a:r>
          </a:p>
        </p:txBody>
      </p:sp>
      <p:sp>
        <p:nvSpPr>
          <p:cNvPr id="11267" name="Rectangle 3"/>
          <p:cNvSpPr>
            <a:spLocks noChangeArrowheads="1"/>
          </p:cNvSpPr>
          <p:nvPr/>
        </p:nvSpPr>
        <p:spPr bwMode="auto">
          <a:xfrm>
            <a:off x="5314375" y="3545581"/>
            <a:ext cx="1491002"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nchorCtr="1">
            <a:spAutoFit/>
          </a:bodyPr>
          <a:lstStyle/>
          <a:p>
            <a:r>
              <a:rPr lang="en-US" sz="2000" dirty="0">
                <a:solidFill>
                  <a:srgbClr val="000000"/>
                </a:solidFill>
                <a:latin typeface="Book Antiqua"/>
              </a:rPr>
              <a:t>User Input</a:t>
            </a:r>
          </a:p>
        </p:txBody>
      </p:sp>
      <p:sp>
        <p:nvSpPr>
          <p:cNvPr id="11268" name="Rectangle 4"/>
          <p:cNvSpPr>
            <a:spLocks noChangeArrowheads="1"/>
          </p:cNvSpPr>
          <p:nvPr/>
        </p:nvSpPr>
        <p:spPr bwMode="auto">
          <a:xfrm>
            <a:off x="5025338" y="3954238"/>
            <a:ext cx="2170675"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nchorCtr="1">
            <a:spAutoFit/>
          </a:bodyPr>
          <a:lstStyle/>
          <a:p>
            <a:r>
              <a:rPr lang="en-US" sz="2000" dirty="0">
                <a:solidFill>
                  <a:srgbClr val="000000"/>
                </a:solidFill>
                <a:latin typeface="Book Antiqua"/>
              </a:rPr>
              <a:t>View Integration</a:t>
            </a:r>
          </a:p>
        </p:txBody>
      </p:sp>
      <p:sp>
        <p:nvSpPr>
          <p:cNvPr id="11269" name="Rectangle 5"/>
          <p:cNvSpPr>
            <a:spLocks noChangeArrowheads="1"/>
          </p:cNvSpPr>
          <p:nvPr/>
        </p:nvSpPr>
        <p:spPr bwMode="auto">
          <a:xfrm>
            <a:off x="10559193" y="6040425"/>
            <a:ext cx="1491002"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nchorCtr="1">
            <a:spAutoFit/>
          </a:bodyPr>
          <a:lstStyle/>
          <a:p>
            <a:r>
              <a:rPr lang="en-US" sz="2000" dirty="0">
                <a:solidFill>
                  <a:srgbClr val="000000"/>
                </a:solidFill>
                <a:latin typeface="Book Antiqua"/>
              </a:rPr>
              <a:t>User Input</a:t>
            </a:r>
          </a:p>
        </p:txBody>
      </p:sp>
      <p:sp>
        <p:nvSpPr>
          <p:cNvPr id="11270" name="Rectangle 6"/>
          <p:cNvSpPr>
            <a:spLocks noChangeArrowheads="1"/>
          </p:cNvSpPr>
          <p:nvPr/>
        </p:nvSpPr>
        <p:spPr bwMode="auto">
          <a:xfrm>
            <a:off x="5034845" y="2071251"/>
            <a:ext cx="1905564" cy="550898"/>
          </a:xfrm>
          <a:prstGeom prst="rect">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nchorCtr="1"/>
          <a:lstStyle/>
          <a:p>
            <a:pPr algn="ctr">
              <a:lnSpc>
                <a:spcPct val="80000"/>
              </a:lnSpc>
            </a:pPr>
            <a:r>
              <a:rPr lang="en-US" sz="2000" b="1" dirty="0">
                <a:latin typeface="Book Antiqua"/>
              </a:rPr>
              <a:t>Requirements</a:t>
            </a:r>
          </a:p>
          <a:p>
            <a:pPr algn="ctr">
              <a:lnSpc>
                <a:spcPct val="80000"/>
              </a:lnSpc>
            </a:pPr>
            <a:r>
              <a:rPr lang="en-US" sz="2000" b="1" dirty="0">
                <a:latin typeface="Book Antiqua"/>
              </a:rPr>
              <a:t>Analysis</a:t>
            </a:r>
          </a:p>
        </p:txBody>
      </p:sp>
      <p:sp>
        <p:nvSpPr>
          <p:cNvPr id="11271" name="AutoShape 7"/>
          <p:cNvSpPr>
            <a:spLocks noChangeArrowheads="1"/>
          </p:cNvSpPr>
          <p:nvPr/>
        </p:nvSpPr>
        <p:spPr bwMode="auto">
          <a:xfrm>
            <a:off x="4953565" y="3073704"/>
            <a:ext cx="2068124" cy="388338"/>
          </a:xfrm>
          <a:prstGeom prst="roundRect">
            <a:avLst>
              <a:gd name="adj" fmla="val 29282"/>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nchor="ctr" anchorCtr="1"/>
          <a:lstStyle/>
          <a:p>
            <a:pPr algn="ctr"/>
            <a:r>
              <a:rPr lang="en-US" sz="2000" b="1" dirty="0">
                <a:latin typeface="Book Antiqua"/>
              </a:rPr>
              <a:t>Objectives</a:t>
            </a:r>
          </a:p>
        </p:txBody>
      </p:sp>
      <p:sp>
        <p:nvSpPr>
          <p:cNvPr id="11272" name="Rectangle 8"/>
          <p:cNvSpPr>
            <a:spLocks noChangeArrowheads="1"/>
          </p:cNvSpPr>
          <p:nvPr/>
        </p:nvSpPr>
        <p:spPr bwMode="auto">
          <a:xfrm>
            <a:off x="2664178" y="3940691"/>
            <a:ext cx="1905564" cy="605084"/>
          </a:xfrm>
          <a:prstGeom prst="rect">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nchorCtr="1"/>
          <a:lstStyle/>
          <a:p>
            <a:pPr algn="ctr">
              <a:lnSpc>
                <a:spcPct val="80000"/>
              </a:lnSpc>
            </a:pPr>
            <a:r>
              <a:rPr lang="en-US" sz="2000" b="1" dirty="0">
                <a:latin typeface="Book Antiqua"/>
              </a:rPr>
              <a:t>Conceptual</a:t>
            </a:r>
          </a:p>
          <a:p>
            <a:pPr algn="ctr">
              <a:lnSpc>
                <a:spcPct val="80000"/>
              </a:lnSpc>
            </a:pPr>
            <a:r>
              <a:rPr lang="en-US" sz="2000" b="1" dirty="0">
                <a:latin typeface="Book Antiqua"/>
              </a:rPr>
              <a:t>Design</a:t>
            </a:r>
          </a:p>
        </p:txBody>
      </p:sp>
      <p:sp>
        <p:nvSpPr>
          <p:cNvPr id="11273" name="Rectangle 9"/>
          <p:cNvSpPr>
            <a:spLocks noChangeArrowheads="1"/>
          </p:cNvSpPr>
          <p:nvPr/>
        </p:nvSpPr>
        <p:spPr bwMode="auto">
          <a:xfrm>
            <a:off x="7676445" y="3886505"/>
            <a:ext cx="1905564" cy="605084"/>
          </a:xfrm>
          <a:prstGeom prst="rect">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nchor="ctr" anchorCtr="1"/>
          <a:lstStyle/>
          <a:p>
            <a:pPr algn="ctr">
              <a:lnSpc>
                <a:spcPct val="80000"/>
              </a:lnSpc>
            </a:pPr>
            <a:r>
              <a:rPr lang="en-US" sz="2000" b="1" dirty="0">
                <a:latin typeface="Book Antiqua"/>
              </a:rPr>
              <a:t>View Design</a:t>
            </a:r>
          </a:p>
        </p:txBody>
      </p:sp>
      <p:sp>
        <p:nvSpPr>
          <p:cNvPr id="11274" name="AutoShape 10"/>
          <p:cNvSpPr>
            <a:spLocks noChangeArrowheads="1"/>
          </p:cNvSpPr>
          <p:nvPr/>
        </p:nvSpPr>
        <p:spPr bwMode="auto">
          <a:xfrm>
            <a:off x="6403058" y="4956691"/>
            <a:ext cx="2068124" cy="550898"/>
          </a:xfrm>
          <a:prstGeom prst="roundRect">
            <a:avLst>
              <a:gd name="adj" fmla="val 29282"/>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949" tIns="0" rIns="130949" bIns="0" anchor="ctr" anchorCtr="1"/>
          <a:lstStyle/>
          <a:p>
            <a:pPr algn="ctr">
              <a:lnSpc>
                <a:spcPct val="75000"/>
              </a:lnSpc>
            </a:pPr>
            <a:r>
              <a:rPr lang="en-US" sz="2000" b="1" dirty="0">
                <a:latin typeface="Book Antiqua"/>
              </a:rPr>
              <a:t>Access</a:t>
            </a:r>
          </a:p>
          <a:p>
            <a:pPr algn="ctr">
              <a:lnSpc>
                <a:spcPct val="75000"/>
              </a:lnSpc>
            </a:pPr>
            <a:r>
              <a:rPr lang="en-US" sz="2000" b="1" dirty="0">
                <a:latin typeface="Book Antiqua"/>
              </a:rPr>
              <a:t>Information</a:t>
            </a:r>
          </a:p>
        </p:txBody>
      </p:sp>
      <p:sp>
        <p:nvSpPr>
          <p:cNvPr id="11275" name="AutoShape 11"/>
          <p:cNvSpPr>
            <a:spLocks noChangeArrowheads="1"/>
          </p:cNvSpPr>
          <p:nvPr/>
        </p:nvSpPr>
        <p:spPr bwMode="auto">
          <a:xfrm>
            <a:off x="9274951" y="5051518"/>
            <a:ext cx="2068124" cy="442524"/>
          </a:xfrm>
          <a:prstGeom prst="roundRect">
            <a:avLst>
              <a:gd name="adj" fmla="val 29282"/>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nchor="ctr" anchorCtr="1"/>
          <a:lstStyle/>
          <a:p>
            <a:pPr algn="ctr"/>
            <a:r>
              <a:rPr lang="en-US" sz="2000" b="1" dirty="0">
                <a:latin typeface="Book Antiqua"/>
              </a:rPr>
              <a:t>ES’s</a:t>
            </a:r>
          </a:p>
        </p:txBody>
      </p:sp>
      <p:sp>
        <p:nvSpPr>
          <p:cNvPr id="11276" name="AutoShape 12"/>
          <p:cNvSpPr>
            <a:spLocks noChangeArrowheads="1"/>
          </p:cNvSpPr>
          <p:nvPr/>
        </p:nvSpPr>
        <p:spPr bwMode="auto">
          <a:xfrm>
            <a:off x="2582898" y="5051518"/>
            <a:ext cx="2068124" cy="442524"/>
          </a:xfrm>
          <a:prstGeom prst="roundRect">
            <a:avLst>
              <a:gd name="adj" fmla="val 29282"/>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nchor="ctr" anchorCtr="1"/>
          <a:lstStyle/>
          <a:p>
            <a:pPr algn="ctr"/>
            <a:r>
              <a:rPr lang="en-US" sz="2000" b="1" dirty="0">
                <a:latin typeface="Book Antiqua"/>
              </a:rPr>
              <a:t>GCS</a:t>
            </a:r>
          </a:p>
        </p:txBody>
      </p:sp>
      <p:sp>
        <p:nvSpPr>
          <p:cNvPr id="11277" name="Rectangle 13"/>
          <p:cNvSpPr>
            <a:spLocks noChangeArrowheads="1"/>
          </p:cNvSpPr>
          <p:nvPr/>
        </p:nvSpPr>
        <p:spPr bwMode="auto">
          <a:xfrm>
            <a:off x="5034845" y="5891411"/>
            <a:ext cx="1905564" cy="550898"/>
          </a:xfrm>
          <a:prstGeom prst="rect">
            <a:avLst/>
          </a:prstGeom>
          <a:solidFill>
            <a:schemeClr val="tx2"/>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nchorCtr="1"/>
          <a:lstStyle/>
          <a:p>
            <a:pPr algn="ctr">
              <a:lnSpc>
                <a:spcPct val="80000"/>
              </a:lnSpc>
            </a:pPr>
            <a:r>
              <a:rPr lang="en-US" sz="2000" b="1" dirty="0">
                <a:solidFill>
                  <a:schemeClr val="bg1"/>
                </a:solidFill>
                <a:latin typeface="Book Antiqua"/>
              </a:rPr>
              <a:t>Distribution</a:t>
            </a:r>
          </a:p>
          <a:p>
            <a:pPr algn="ctr">
              <a:lnSpc>
                <a:spcPct val="80000"/>
              </a:lnSpc>
            </a:pPr>
            <a:r>
              <a:rPr lang="en-US" sz="2000" b="1" dirty="0">
                <a:solidFill>
                  <a:schemeClr val="bg1"/>
                </a:solidFill>
                <a:latin typeface="Book Antiqua"/>
              </a:rPr>
              <a:t>Design</a:t>
            </a:r>
          </a:p>
        </p:txBody>
      </p:sp>
      <p:sp>
        <p:nvSpPr>
          <p:cNvPr id="11278" name="Rectangle 14"/>
          <p:cNvSpPr>
            <a:spLocks noChangeArrowheads="1"/>
          </p:cNvSpPr>
          <p:nvPr/>
        </p:nvSpPr>
        <p:spPr bwMode="auto">
          <a:xfrm>
            <a:off x="5034845" y="7842131"/>
            <a:ext cx="1905564" cy="550898"/>
          </a:xfrm>
          <a:prstGeom prst="rect">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nchorCtr="1"/>
          <a:lstStyle/>
          <a:p>
            <a:pPr algn="ctr">
              <a:lnSpc>
                <a:spcPct val="80000"/>
              </a:lnSpc>
            </a:pPr>
            <a:r>
              <a:rPr lang="en-US" sz="2000" b="1" dirty="0">
                <a:latin typeface="Book Antiqua"/>
              </a:rPr>
              <a:t>Physical</a:t>
            </a:r>
          </a:p>
          <a:p>
            <a:pPr algn="ctr">
              <a:lnSpc>
                <a:spcPct val="80000"/>
              </a:lnSpc>
            </a:pPr>
            <a:r>
              <a:rPr lang="en-US" sz="2000" b="1" dirty="0">
                <a:latin typeface="Book Antiqua"/>
              </a:rPr>
              <a:t>Design</a:t>
            </a:r>
          </a:p>
        </p:txBody>
      </p:sp>
      <p:sp>
        <p:nvSpPr>
          <p:cNvPr id="11279" name="AutoShape 15"/>
          <p:cNvSpPr>
            <a:spLocks noChangeArrowheads="1"/>
          </p:cNvSpPr>
          <p:nvPr/>
        </p:nvSpPr>
        <p:spPr bwMode="auto">
          <a:xfrm>
            <a:off x="4953565" y="6920958"/>
            <a:ext cx="2068124" cy="442524"/>
          </a:xfrm>
          <a:prstGeom prst="roundRect">
            <a:avLst>
              <a:gd name="adj" fmla="val 29282"/>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nchor="ctr" anchorCtr="1"/>
          <a:lstStyle/>
          <a:p>
            <a:pPr algn="ctr"/>
            <a:r>
              <a:rPr lang="en-US" sz="2000" b="1" dirty="0">
                <a:latin typeface="Book Antiqua"/>
              </a:rPr>
              <a:t>LCS’s</a:t>
            </a:r>
          </a:p>
        </p:txBody>
      </p:sp>
      <p:sp>
        <p:nvSpPr>
          <p:cNvPr id="11280" name="AutoShape 16"/>
          <p:cNvSpPr>
            <a:spLocks noChangeArrowheads="1"/>
          </p:cNvSpPr>
          <p:nvPr/>
        </p:nvSpPr>
        <p:spPr bwMode="auto">
          <a:xfrm>
            <a:off x="4940018" y="8925865"/>
            <a:ext cx="2095218" cy="415431"/>
          </a:xfrm>
          <a:prstGeom prst="roundRect">
            <a:avLst>
              <a:gd name="adj" fmla="val 29282"/>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nchor="ctr" anchorCtr="1"/>
          <a:lstStyle/>
          <a:p>
            <a:pPr algn="ctr"/>
            <a:r>
              <a:rPr lang="en-US" sz="2000" b="1" dirty="0">
                <a:latin typeface="Book Antiqua"/>
              </a:rPr>
              <a:t>LIS’s</a:t>
            </a:r>
          </a:p>
        </p:txBody>
      </p:sp>
      <p:sp>
        <p:nvSpPr>
          <p:cNvPr id="11281" name="Line 17"/>
          <p:cNvSpPr>
            <a:spLocks noChangeShapeType="1"/>
          </p:cNvSpPr>
          <p:nvPr/>
        </p:nvSpPr>
        <p:spPr bwMode="auto">
          <a:xfrm>
            <a:off x="5987627" y="8402060"/>
            <a:ext cx="0" cy="505742"/>
          </a:xfrm>
          <a:prstGeom prst="line">
            <a:avLst/>
          </a:prstGeom>
          <a:noFill/>
          <a:ln w="19050" cmpd="sng">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1282" name="Line 18"/>
          <p:cNvSpPr>
            <a:spLocks noChangeShapeType="1"/>
          </p:cNvSpPr>
          <p:nvPr/>
        </p:nvSpPr>
        <p:spPr bwMode="auto">
          <a:xfrm>
            <a:off x="5987627" y="7381544"/>
            <a:ext cx="0" cy="469618"/>
          </a:xfrm>
          <a:prstGeom prst="line">
            <a:avLst/>
          </a:prstGeom>
          <a:noFill/>
          <a:ln w="19050" cmpd="sng">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1283" name="Line 19"/>
          <p:cNvSpPr>
            <a:spLocks noChangeShapeType="1"/>
          </p:cNvSpPr>
          <p:nvPr/>
        </p:nvSpPr>
        <p:spPr bwMode="auto">
          <a:xfrm>
            <a:off x="5987627" y="6460371"/>
            <a:ext cx="0" cy="469618"/>
          </a:xfrm>
          <a:prstGeom prst="line">
            <a:avLst/>
          </a:prstGeom>
          <a:noFill/>
          <a:ln w="19050" cmpd="sng">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1284" name="Line 20"/>
          <p:cNvSpPr>
            <a:spLocks noChangeShapeType="1"/>
          </p:cNvSpPr>
          <p:nvPr/>
        </p:nvSpPr>
        <p:spPr bwMode="auto">
          <a:xfrm flipH="1">
            <a:off x="6096000" y="5512105"/>
            <a:ext cx="1345636" cy="361244"/>
          </a:xfrm>
          <a:prstGeom prst="line">
            <a:avLst/>
          </a:prstGeom>
          <a:noFill/>
          <a:ln w="19050" cmpd="sng">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1285" name="Line 21"/>
          <p:cNvSpPr>
            <a:spLocks noChangeShapeType="1"/>
          </p:cNvSpPr>
          <p:nvPr/>
        </p:nvSpPr>
        <p:spPr bwMode="auto">
          <a:xfrm flipH="1">
            <a:off x="6935893" y="5539198"/>
            <a:ext cx="3386667" cy="469618"/>
          </a:xfrm>
          <a:prstGeom prst="line">
            <a:avLst/>
          </a:prstGeom>
          <a:noFill/>
          <a:ln w="19050" cmpd="sng">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1286" name="Line 22"/>
          <p:cNvSpPr>
            <a:spLocks noChangeShapeType="1"/>
          </p:cNvSpPr>
          <p:nvPr/>
        </p:nvSpPr>
        <p:spPr bwMode="auto">
          <a:xfrm>
            <a:off x="3585351" y="5521136"/>
            <a:ext cx="1824284" cy="352213"/>
          </a:xfrm>
          <a:prstGeom prst="line">
            <a:avLst/>
          </a:prstGeom>
          <a:noFill/>
          <a:ln w="19050" cmpd="sng">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1287" name="Line 23"/>
          <p:cNvSpPr>
            <a:spLocks noChangeShapeType="1"/>
          </p:cNvSpPr>
          <p:nvPr/>
        </p:nvSpPr>
        <p:spPr bwMode="auto">
          <a:xfrm flipH="1">
            <a:off x="3576320" y="3480105"/>
            <a:ext cx="1842347" cy="442524"/>
          </a:xfrm>
          <a:prstGeom prst="line">
            <a:avLst/>
          </a:prstGeom>
          <a:noFill/>
          <a:ln w="19050" cmpd="sng">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1288" name="Line 24"/>
          <p:cNvSpPr>
            <a:spLocks noChangeShapeType="1"/>
          </p:cNvSpPr>
          <p:nvPr/>
        </p:nvSpPr>
        <p:spPr bwMode="auto">
          <a:xfrm>
            <a:off x="6673991" y="3480104"/>
            <a:ext cx="1905564" cy="388338"/>
          </a:xfrm>
          <a:prstGeom prst="line">
            <a:avLst/>
          </a:prstGeom>
          <a:noFill/>
          <a:ln w="19050" cmpd="sng">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1289" name="Line 25"/>
          <p:cNvSpPr>
            <a:spLocks noChangeShapeType="1"/>
          </p:cNvSpPr>
          <p:nvPr/>
        </p:nvSpPr>
        <p:spPr bwMode="auto">
          <a:xfrm>
            <a:off x="3576320" y="4563838"/>
            <a:ext cx="0" cy="469618"/>
          </a:xfrm>
          <a:prstGeom prst="line">
            <a:avLst/>
          </a:prstGeom>
          <a:noFill/>
          <a:ln w="19050" cmpd="sng">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1290" name="Line 26"/>
          <p:cNvSpPr>
            <a:spLocks noChangeShapeType="1"/>
          </p:cNvSpPr>
          <p:nvPr/>
        </p:nvSpPr>
        <p:spPr bwMode="auto">
          <a:xfrm flipH="1">
            <a:off x="7423573" y="4509651"/>
            <a:ext cx="921173" cy="415431"/>
          </a:xfrm>
          <a:prstGeom prst="line">
            <a:avLst/>
          </a:prstGeom>
          <a:noFill/>
          <a:ln w="19050" cmpd="sng">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1291" name="Line 27"/>
          <p:cNvSpPr>
            <a:spLocks noChangeShapeType="1"/>
          </p:cNvSpPr>
          <p:nvPr/>
        </p:nvSpPr>
        <p:spPr bwMode="auto">
          <a:xfrm>
            <a:off x="8922738" y="4509651"/>
            <a:ext cx="1309511" cy="523804"/>
          </a:xfrm>
          <a:prstGeom prst="line">
            <a:avLst/>
          </a:prstGeom>
          <a:noFill/>
          <a:ln w="19050" cmpd="sng">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1292" name="Line 28"/>
          <p:cNvSpPr>
            <a:spLocks noChangeShapeType="1"/>
          </p:cNvSpPr>
          <p:nvPr/>
        </p:nvSpPr>
        <p:spPr bwMode="auto">
          <a:xfrm>
            <a:off x="4587804" y="4392247"/>
            <a:ext cx="3070578" cy="0"/>
          </a:xfrm>
          <a:prstGeom prst="line">
            <a:avLst/>
          </a:prstGeom>
          <a:noFill/>
          <a:ln w="19050" cmpd="sng">
            <a:solidFill>
              <a:schemeClr val="tx2"/>
            </a:solidFill>
            <a:round/>
            <a:headEnd type="triangl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1293" name="Line 29"/>
          <p:cNvSpPr>
            <a:spLocks noChangeShapeType="1"/>
          </p:cNvSpPr>
          <p:nvPr/>
        </p:nvSpPr>
        <p:spPr bwMode="auto">
          <a:xfrm flipH="1">
            <a:off x="4578774" y="3805225"/>
            <a:ext cx="839893" cy="198684"/>
          </a:xfrm>
          <a:prstGeom prst="line">
            <a:avLst/>
          </a:prstGeom>
          <a:noFill/>
          <a:ln w="19050" cmpd="sng">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1294" name="Line 30"/>
          <p:cNvSpPr>
            <a:spLocks noChangeShapeType="1"/>
          </p:cNvSpPr>
          <p:nvPr/>
        </p:nvSpPr>
        <p:spPr bwMode="auto">
          <a:xfrm>
            <a:off x="6701084" y="3832318"/>
            <a:ext cx="957298" cy="144498"/>
          </a:xfrm>
          <a:prstGeom prst="line">
            <a:avLst/>
          </a:prstGeom>
          <a:noFill/>
          <a:ln w="19050" cmpd="sng">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1295" name="Line 31"/>
          <p:cNvSpPr>
            <a:spLocks noChangeShapeType="1"/>
          </p:cNvSpPr>
          <p:nvPr/>
        </p:nvSpPr>
        <p:spPr bwMode="auto">
          <a:xfrm>
            <a:off x="6972018" y="6234593"/>
            <a:ext cx="3449884" cy="0"/>
          </a:xfrm>
          <a:prstGeom prst="line">
            <a:avLst/>
          </a:prstGeom>
          <a:noFill/>
          <a:ln w="19050" cmpd="sng">
            <a:solidFill>
              <a:schemeClr val="tx2"/>
            </a:solidFill>
            <a:round/>
            <a:headEnd type="triangl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1296" name="Line 32"/>
          <p:cNvSpPr>
            <a:spLocks noChangeShapeType="1"/>
          </p:cNvSpPr>
          <p:nvPr/>
        </p:nvSpPr>
        <p:spPr bwMode="auto">
          <a:xfrm>
            <a:off x="5906347" y="2640211"/>
            <a:ext cx="0" cy="415431"/>
          </a:xfrm>
          <a:prstGeom prst="line">
            <a:avLst/>
          </a:prstGeom>
          <a:noFill/>
          <a:ln w="19050" cmpd="sng">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Distribution Design Process</a:t>
            </a:r>
            <a:endParaRPr lang="en-US" sz="3200" dirty="0"/>
          </a:p>
        </p:txBody>
      </p:sp>
      <p:sp>
        <p:nvSpPr>
          <p:cNvPr id="3" name="Slide Number Placeholder 2"/>
          <p:cNvSpPr>
            <a:spLocks noGrp="1"/>
          </p:cNvSpPr>
          <p:nvPr>
            <p:ph type="sldNum" sz="quarter" idx="10"/>
          </p:nvPr>
        </p:nvSpPr>
        <p:spPr/>
        <p:txBody>
          <a:bodyPr/>
          <a:lstStyle/>
          <a:p>
            <a:fld id="{8801E1DC-9A09-2845-A773-BB78DAEA5475}" type="slidenum">
              <a:rPr lang="en-US" smtClean="0"/>
              <a:pPr/>
              <a:t>13</a:t>
            </a:fld>
            <a:endParaRPr lang="en-US" dirty="0"/>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1920" y="2500536"/>
            <a:ext cx="8280921" cy="64918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781123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p:spPr>
        <p:txBody>
          <a:bodyPr/>
          <a:lstStyle/>
          <a:p>
            <a:r>
              <a:rPr lang="en-US" dirty="0"/>
              <a:t>Distribution </a:t>
            </a:r>
            <a:r>
              <a:rPr lang="en-US" dirty="0" smtClean="0"/>
              <a:t>Design</a:t>
            </a:r>
            <a:endParaRPr lang="en-US" dirty="0"/>
          </a:p>
        </p:txBody>
      </p:sp>
      <p:sp>
        <p:nvSpPr>
          <p:cNvPr id="13315" name="Rectangle 3"/>
          <p:cNvSpPr>
            <a:spLocks noGrp="1" noChangeArrowheads="1"/>
          </p:cNvSpPr>
          <p:nvPr>
            <p:ph idx="1"/>
          </p:nvPr>
        </p:nvSpPr>
        <p:spPr>
          <a:noFill/>
          <a:ln/>
        </p:spPr>
        <p:txBody>
          <a:bodyPr/>
          <a:lstStyle/>
          <a:p>
            <a:pPr>
              <a:lnSpc>
                <a:spcPct val="100000"/>
              </a:lnSpc>
              <a:spcBef>
                <a:spcPct val="100000"/>
              </a:spcBef>
              <a:buSzPct val="100000"/>
              <a:buFont typeface="Wingdings" pitchFamily="2" charset="2"/>
              <a:buChar char=""/>
            </a:pPr>
            <a:r>
              <a:rPr lang="en-US" dirty="0" smtClean="0"/>
              <a:t>Global  Conceptual  Schema GCS: logical structure of the data at all sites</a:t>
            </a:r>
          </a:p>
          <a:p>
            <a:pPr>
              <a:lnSpc>
                <a:spcPct val="100000"/>
              </a:lnSpc>
              <a:spcBef>
                <a:spcPct val="100000"/>
              </a:spcBef>
              <a:buSzPct val="100000"/>
              <a:buFont typeface="Wingdings" pitchFamily="2" charset="2"/>
              <a:buChar char=""/>
            </a:pPr>
            <a:r>
              <a:rPr lang="en-US" dirty="0" smtClean="0"/>
              <a:t>Local Conceptual  Schema LCS:</a:t>
            </a:r>
          </a:p>
          <a:p>
            <a:pPr>
              <a:lnSpc>
                <a:spcPct val="100000"/>
              </a:lnSpc>
              <a:spcBef>
                <a:spcPct val="100000"/>
              </a:spcBef>
              <a:buSzPct val="100000"/>
              <a:buFont typeface="Wingdings" pitchFamily="2" charset="2"/>
              <a:buChar char=""/>
            </a:pPr>
            <a:r>
              <a:rPr lang="en-US" dirty="0" smtClean="0"/>
              <a:t>External  Schema  ESs</a:t>
            </a:r>
            <a:r>
              <a:rPr lang="en-US" dirty="0"/>
              <a:t>:</a:t>
            </a:r>
            <a:endParaRPr lang="en-US" dirty="0" smtClean="0"/>
          </a:p>
          <a:p>
            <a:pPr>
              <a:lnSpc>
                <a:spcPct val="100000"/>
              </a:lnSpc>
              <a:spcBef>
                <a:spcPct val="100000"/>
              </a:spcBef>
              <a:buSzPct val="100000"/>
              <a:buFont typeface="Wingdings" pitchFamily="2" charset="2"/>
              <a:buChar char=""/>
            </a:pPr>
            <a:endParaRPr lang="en-US" dirty="0" smtClean="0"/>
          </a:p>
          <a:p>
            <a:pPr>
              <a:lnSpc>
                <a:spcPct val="100000"/>
              </a:lnSpc>
              <a:spcBef>
                <a:spcPct val="100000"/>
              </a:spcBef>
              <a:buSzPct val="100000"/>
              <a:buFont typeface="Wingdings" pitchFamily="2" charset="2"/>
              <a:buChar char=""/>
            </a:pPr>
            <a:endParaRPr lang="en-US" dirty="0"/>
          </a:p>
        </p:txBody>
      </p:sp>
    </p:spTree>
    <p:extLst>
      <p:ext uri="{BB962C8B-B14F-4D97-AF65-F5344CB8AC3E}">
        <p14:creationId xmlns:p14="http://schemas.microsoft.com/office/powerpoint/2010/main" val="163962417"/>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p:spPr>
        <p:txBody>
          <a:bodyPr/>
          <a:lstStyle/>
          <a:p>
            <a:r>
              <a:rPr lang="en-US" sz="3200" b="1" dirty="0"/>
              <a:t>Distribution Design Issues</a:t>
            </a:r>
          </a:p>
        </p:txBody>
      </p:sp>
      <p:sp>
        <p:nvSpPr>
          <p:cNvPr id="13315" name="Rectangle 3"/>
          <p:cNvSpPr>
            <a:spLocks noGrp="1" noChangeArrowheads="1"/>
          </p:cNvSpPr>
          <p:nvPr>
            <p:ph idx="1"/>
          </p:nvPr>
        </p:nvSpPr>
        <p:spPr>
          <a:noFill/>
          <a:ln/>
        </p:spPr>
        <p:txBody>
          <a:bodyPr/>
          <a:lstStyle/>
          <a:p>
            <a:pPr>
              <a:lnSpc>
                <a:spcPct val="100000"/>
              </a:lnSpc>
              <a:spcBef>
                <a:spcPct val="100000"/>
              </a:spcBef>
              <a:buSzPct val="100000"/>
              <a:buFont typeface="Wingdings" pitchFamily="2" charset="2"/>
              <a:buChar char=""/>
            </a:pPr>
            <a:r>
              <a:rPr lang="en-US" dirty="0"/>
              <a:t>Why fragment at all?</a:t>
            </a:r>
          </a:p>
          <a:p>
            <a:pPr>
              <a:lnSpc>
                <a:spcPct val="100000"/>
              </a:lnSpc>
              <a:spcBef>
                <a:spcPct val="100000"/>
              </a:spcBef>
              <a:buSzPct val="100000"/>
              <a:buFont typeface="Wingdings" pitchFamily="2" charset="2"/>
              <a:buChar char=""/>
            </a:pPr>
            <a:r>
              <a:rPr lang="en-US" dirty="0"/>
              <a:t>How to fragment?</a:t>
            </a:r>
          </a:p>
          <a:p>
            <a:pPr>
              <a:spcBef>
                <a:spcPct val="100000"/>
              </a:spcBef>
              <a:buSzPct val="100000"/>
              <a:buFont typeface="Wingdings" pitchFamily="2" charset="2"/>
              <a:buChar char=""/>
            </a:pPr>
            <a:r>
              <a:rPr lang="en-US" dirty="0"/>
              <a:t>How much to fragment?</a:t>
            </a:r>
          </a:p>
          <a:p>
            <a:pPr>
              <a:lnSpc>
                <a:spcPct val="100000"/>
              </a:lnSpc>
              <a:spcBef>
                <a:spcPct val="100000"/>
              </a:spcBef>
              <a:buSzPct val="100000"/>
              <a:buFont typeface="Wingdings" pitchFamily="2" charset="2"/>
              <a:buChar char=""/>
            </a:pPr>
            <a:r>
              <a:rPr lang="en-US" dirty="0"/>
              <a:t>How to test correctness?</a:t>
            </a:r>
          </a:p>
          <a:p>
            <a:pPr>
              <a:lnSpc>
                <a:spcPct val="100000"/>
              </a:lnSpc>
              <a:spcBef>
                <a:spcPct val="100000"/>
              </a:spcBef>
              <a:buSzPct val="100000"/>
              <a:buFont typeface="Wingdings" pitchFamily="2" charset="2"/>
              <a:buChar char=""/>
            </a:pPr>
            <a:r>
              <a:rPr lang="en-US" dirty="0"/>
              <a:t>How to allocate?</a:t>
            </a:r>
          </a:p>
          <a:p>
            <a:pPr>
              <a:lnSpc>
                <a:spcPct val="100000"/>
              </a:lnSpc>
              <a:spcBef>
                <a:spcPct val="100000"/>
              </a:spcBef>
              <a:buSzPct val="100000"/>
              <a:buFont typeface="Wingdings" pitchFamily="2" charset="2"/>
              <a:buChar char=""/>
            </a:pPr>
            <a:r>
              <a:rPr lang="en-US" dirty="0"/>
              <a:t>Information requirements?</a:t>
            </a:r>
          </a:p>
        </p:txBody>
      </p:sp>
      <mc:AlternateContent xmlns:mc="http://schemas.openxmlformats.org/markup-compatibility/2006" xmlns:p14="http://schemas.microsoft.com/office/powerpoint/2010/main">
        <mc:Choice Requires="p14">
          <p:contentPart p14:bwMode="auto" r:id="rId3">
            <p14:nvContentPartPr>
              <p14:cNvPr id="23" name="Ink 22"/>
              <p14:cNvContentPartPr/>
              <p14:nvPr/>
            </p14:nvContentPartPr>
            <p14:xfrm>
              <a:off x="465935" y="5607326"/>
              <a:ext cx="51840" cy="19440"/>
            </p14:xfrm>
          </p:contentPart>
        </mc:Choice>
        <mc:Fallback xmlns="">
          <p:pic>
            <p:nvPicPr>
              <p:cNvPr id="23" name="Ink 22"/>
              <p:cNvPicPr/>
              <p:nvPr/>
            </p:nvPicPr>
            <p:blipFill>
              <a:blip r:embed="rId16"/>
              <a:stretch>
                <a:fillRect/>
              </a:stretch>
            </p:blipFill>
            <p:spPr>
              <a:xfrm>
                <a:off x="454055" y="5595446"/>
                <a:ext cx="7560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7" name="Ink 26"/>
              <p14:cNvContentPartPr/>
              <p14:nvPr/>
            </p14:nvContentPartPr>
            <p14:xfrm>
              <a:off x="10662215" y="759206"/>
              <a:ext cx="360" cy="360"/>
            </p14:xfrm>
          </p:contentPart>
        </mc:Choice>
        <mc:Fallback xmlns="">
          <p:pic>
            <p:nvPicPr>
              <p:cNvPr id="27" name="Ink 26"/>
              <p:cNvPicPr/>
              <p:nvPr/>
            </p:nvPicPr>
            <p:blipFill>
              <a:blip r:embed="rId20"/>
              <a:stretch>
                <a:fillRect/>
              </a:stretch>
            </p:blipFill>
            <p:spPr>
              <a:xfrm>
                <a:off x="10650335" y="747326"/>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8" name="Ink 27"/>
              <p14:cNvContentPartPr/>
              <p14:nvPr/>
            </p14:nvContentPartPr>
            <p14:xfrm>
              <a:off x="12836255" y="1000766"/>
              <a:ext cx="360" cy="360"/>
            </p14:xfrm>
          </p:contentPart>
        </mc:Choice>
        <mc:Fallback xmlns="">
          <p:pic>
            <p:nvPicPr>
              <p:cNvPr id="28" name="Ink 27"/>
              <p:cNvPicPr/>
              <p:nvPr/>
            </p:nvPicPr>
            <p:blipFill>
              <a:blip r:embed="rId22"/>
              <a:stretch>
                <a:fillRect/>
              </a:stretch>
            </p:blipFill>
            <p:spPr>
              <a:xfrm>
                <a:off x="12824375" y="988886"/>
                <a:ext cx="24120" cy="24120"/>
              </a:xfrm>
              <a:prstGeom prst="rect">
                <a:avLst/>
              </a:prstGeom>
            </p:spPr>
          </p:pic>
        </mc:Fallback>
      </mc:AlternateContent>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E37D4F0C-152B-054F-ABE3-C9D65816304B}" type="slidenum">
              <a:rPr lang="en-US" smtClean="0"/>
              <a:pPr/>
              <a:t>16</a:t>
            </a:fld>
            <a:endParaRPr lang="en-US" dirty="0"/>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3768" y="883523"/>
            <a:ext cx="11449273" cy="83853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24585" name="Ink 24584"/>
              <p14:cNvContentPartPr/>
              <p14:nvPr/>
            </p14:nvContentPartPr>
            <p14:xfrm>
              <a:off x="14164655" y="4951406"/>
              <a:ext cx="360" cy="360"/>
            </p14:xfrm>
          </p:contentPart>
        </mc:Choice>
        <mc:Fallback xmlns="">
          <p:pic>
            <p:nvPicPr>
              <p:cNvPr id="24585" name="Ink 24584"/>
              <p:cNvPicPr/>
              <p:nvPr/>
            </p:nvPicPr>
            <p:blipFill>
              <a:blip r:embed="rId24"/>
              <a:stretch>
                <a:fillRect/>
              </a:stretch>
            </p:blipFill>
            <p:spPr>
              <a:xfrm>
                <a:off x="14156375" y="4943126"/>
                <a:ext cx="1692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4592" name="Ink 24591"/>
              <p14:cNvContentPartPr/>
              <p14:nvPr/>
            </p14:nvContentPartPr>
            <p14:xfrm>
              <a:off x="11680295" y="4382246"/>
              <a:ext cx="34560" cy="17640"/>
            </p14:xfrm>
          </p:contentPart>
        </mc:Choice>
        <mc:Fallback xmlns="">
          <p:pic>
            <p:nvPicPr>
              <p:cNvPr id="24592" name="Ink 24591"/>
              <p:cNvPicPr/>
              <p:nvPr/>
            </p:nvPicPr>
            <p:blipFill>
              <a:blip r:embed="rId28"/>
              <a:stretch>
                <a:fillRect/>
              </a:stretch>
            </p:blipFill>
            <p:spPr>
              <a:xfrm>
                <a:off x="11672015" y="4373966"/>
                <a:ext cx="51120" cy="34200"/>
              </a:xfrm>
              <a:prstGeom prst="rect">
                <a:avLst/>
              </a:prstGeom>
            </p:spPr>
          </p:pic>
        </mc:Fallback>
      </mc:AlternateContent>
    </p:spTree>
    <p:extLst>
      <p:ext uri="{BB962C8B-B14F-4D97-AF65-F5344CB8AC3E}">
        <p14:creationId xmlns:p14="http://schemas.microsoft.com/office/powerpoint/2010/main" val="291127263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p:cNvSpPr>
            <a:spLocks noGrp="1" noChangeArrowheads="1"/>
          </p:cNvSpPr>
          <p:nvPr>
            <p:ph type="title"/>
          </p:nvPr>
        </p:nvSpPr>
        <p:spPr/>
        <p:txBody>
          <a:bodyPr/>
          <a:lstStyle/>
          <a:p>
            <a:r>
              <a:rPr lang="en-US" sz="3200" b="1" dirty="0"/>
              <a:t>Fragmentation</a:t>
            </a:r>
          </a:p>
        </p:txBody>
      </p:sp>
      <p:sp>
        <p:nvSpPr>
          <p:cNvPr id="15365" name="Rectangle 5"/>
          <p:cNvSpPr>
            <a:spLocks noGrp="1" noChangeArrowheads="1"/>
          </p:cNvSpPr>
          <p:nvPr>
            <p:ph idx="1"/>
          </p:nvPr>
        </p:nvSpPr>
        <p:spPr/>
        <p:txBody>
          <a:bodyPr/>
          <a:lstStyle/>
          <a:p>
            <a:r>
              <a:rPr lang="en-US" dirty="0"/>
              <a:t>Can't we just distribute relations?</a:t>
            </a:r>
          </a:p>
          <a:p>
            <a:r>
              <a:rPr lang="en-US" dirty="0"/>
              <a:t>What is a reasonable unit of distribution?</a:t>
            </a:r>
          </a:p>
          <a:p>
            <a:pPr lvl="1"/>
            <a:r>
              <a:rPr lang="en-US" dirty="0"/>
              <a:t>relation</a:t>
            </a:r>
          </a:p>
          <a:p>
            <a:pPr lvl="2"/>
            <a:r>
              <a:rPr lang="en-US" dirty="0"/>
              <a:t>views are subsets of relations </a:t>
            </a:r>
            <a:r>
              <a:rPr lang="en-US" dirty="0" smtClean="0">
                <a:latin typeface="Wingdings"/>
                <a:ea typeface="Wingdings"/>
                <a:cs typeface="Wingdings"/>
                <a:sym typeface="Wingdings"/>
              </a:rPr>
              <a:t></a:t>
            </a:r>
            <a:r>
              <a:rPr lang="en-US" dirty="0" smtClean="0"/>
              <a:t>locality </a:t>
            </a:r>
            <a:endParaRPr lang="en-US" dirty="0"/>
          </a:p>
          <a:p>
            <a:pPr lvl="2"/>
            <a:r>
              <a:rPr lang="en-US" dirty="0"/>
              <a:t>extra communication</a:t>
            </a:r>
          </a:p>
          <a:p>
            <a:pPr lvl="1"/>
            <a:r>
              <a:rPr lang="en-US" dirty="0"/>
              <a:t>fragments of relations (sub-relations)</a:t>
            </a:r>
          </a:p>
          <a:p>
            <a:pPr lvl="2"/>
            <a:r>
              <a:rPr lang="en-US" dirty="0"/>
              <a:t>concurrent execution of a number of transactions that access different portions of a relation</a:t>
            </a:r>
          </a:p>
          <a:p>
            <a:pPr lvl="2"/>
            <a:r>
              <a:rPr lang="en-US" dirty="0"/>
              <a:t>views that cannot be defined on a single fragment will require extra processing</a:t>
            </a:r>
          </a:p>
          <a:p>
            <a:pPr lvl="2"/>
            <a:r>
              <a:rPr lang="en-US" dirty="0"/>
              <a:t>semantic data control (especially integrity enforcement) more difficult</a:t>
            </a: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02" name="Rectangle 94"/>
          <p:cNvSpPr>
            <a:spLocks noGrp="1" noChangeArrowheads="1"/>
          </p:cNvSpPr>
          <p:nvPr>
            <p:ph type="title"/>
          </p:nvPr>
        </p:nvSpPr>
        <p:spPr/>
        <p:txBody>
          <a:bodyPr/>
          <a:lstStyle/>
          <a:p>
            <a:r>
              <a:rPr lang="en-US" sz="3200" b="1" dirty="0"/>
              <a:t>Fragmentation Alternatives – Horizontal</a:t>
            </a:r>
          </a:p>
        </p:txBody>
      </p:sp>
      <p:sp>
        <p:nvSpPr>
          <p:cNvPr id="17411" name="Rectangle 3"/>
          <p:cNvSpPr>
            <a:spLocks noGrp="1" noChangeArrowheads="1"/>
          </p:cNvSpPr>
          <p:nvPr>
            <p:ph type="body" idx="4294967295"/>
          </p:nvPr>
        </p:nvSpPr>
        <p:spPr>
          <a:xfrm>
            <a:off x="165696" y="2788568"/>
            <a:ext cx="7070725" cy="2573338"/>
          </a:xfrm>
          <a:noFill/>
          <a:ln/>
        </p:spPr>
        <p:txBody>
          <a:bodyPr/>
          <a:lstStyle/>
          <a:p>
            <a:pPr marL="1700081" indent="-1700081">
              <a:buNone/>
            </a:pPr>
            <a:r>
              <a:rPr lang="en-US" dirty="0"/>
              <a:t>PROJ</a:t>
            </a:r>
            <a:r>
              <a:rPr lang="en-US" baseline="-25000" dirty="0"/>
              <a:t>1</a:t>
            </a:r>
            <a:r>
              <a:rPr lang="en-US" dirty="0"/>
              <a:t> :	projects with budgets less than $200,000</a:t>
            </a:r>
          </a:p>
          <a:p>
            <a:pPr marL="1700081" indent="-1700081">
              <a:buNone/>
            </a:pPr>
            <a:r>
              <a:rPr lang="en-US" dirty="0"/>
              <a:t>PROJ</a:t>
            </a:r>
            <a:r>
              <a:rPr lang="en-US" baseline="-25000" dirty="0"/>
              <a:t>2</a:t>
            </a:r>
            <a:r>
              <a:rPr lang="en-US" dirty="0"/>
              <a:t> :	projects with budgets greater than or equal to $200,000</a:t>
            </a:r>
          </a:p>
        </p:txBody>
      </p:sp>
      <p:sp>
        <p:nvSpPr>
          <p:cNvPr id="17439" name="Rectangle 31"/>
          <p:cNvSpPr>
            <a:spLocks noChangeArrowheads="1"/>
          </p:cNvSpPr>
          <p:nvPr/>
        </p:nvSpPr>
        <p:spPr bwMode="auto">
          <a:xfrm>
            <a:off x="762562" y="5827326"/>
            <a:ext cx="1098416" cy="497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400" dirty="0">
                <a:solidFill>
                  <a:srgbClr val="000000"/>
                </a:solidFill>
                <a:latin typeface="Book Antiqua"/>
              </a:rPr>
              <a:t>PROJ</a:t>
            </a:r>
            <a:r>
              <a:rPr lang="en-US" sz="2400" baseline="-25000" dirty="0">
                <a:solidFill>
                  <a:srgbClr val="000000"/>
                </a:solidFill>
                <a:latin typeface="Book Antiqua"/>
              </a:rPr>
              <a:t>1</a:t>
            </a:r>
          </a:p>
        </p:txBody>
      </p:sp>
      <p:sp>
        <p:nvSpPr>
          <p:cNvPr id="17440" name="Rectangle 32"/>
          <p:cNvSpPr>
            <a:spLocks noChangeArrowheads="1"/>
          </p:cNvSpPr>
          <p:nvPr/>
        </p:nvSpPr>
        <p:spPr bwMode="auto">
          <a:xfrm>
            <a:off x="7053298" y="6384996"/>
            <a:ext cx="5346418" cy="1950720"/>
          </a:xfrm>
          <a:prstGeom prst="rect">
            <a:avLst/>
          </a:prstGeom>
          <a:noFill/>
          <a:ln w="12700">
            <a:solidFill>
              <a:srgbClr val="000000"/>
            </a:solidFill>
            <a:miter lim="800000"/>
            <a:headEnd/>
            <a:tailEnd/>
          </a:ln>
          <a:effectLst/>
        </p:spPr>
        <p:txBody>
          <a:bodyPr wrap="none" lIns="130046" tIns="65023" rIns="130046" bIns="65023" anchor="ctr"/>
          <a:lstStyle/>
          <a:p>
            <a:endParaRPr lang="en-US" sz="2000" dirty="0">
              <a:latin typeface="Book Antiqua"/>
            </a:endParaRPr>
          </a:p>
        </p:txBody>
      </p:sp>
      <p:sp>
        <p:nvSpPr>
          <p:cNvPr id="17441" name="Line 33"/>
          <p:cNvSpPr>
            <a:spLocks noChangeShapeType="1"/>
          </p:cNvSpPr>
          <p:nvPr/>
        </p:nvSpPr>
        <p:spPr bwMode="auto">
          <a:xfrm>
            <a:off x="7775787" y="6384996"/>
            <a:ext cx="0" cy="52380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42" name="Line 34"/>
          <p:cNvSpPr>
            <a:spLocks noChangeShapeType="1"/>
          </p:cNvSpPr>
          <p:nvPr/>
        </p:nvSpPr>
        <p:spPr bwMode="auto">
          <a:xfrm>
            <a:off x="7775787" y="6384996"/>
            <a:ext cx="0" cy="52380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43" name="Line 35"/>
          <p:cNvSpPr>
            <a:spLocks noChangeShapeType="1"/>
          </p:cNvSpPr>
          <p:nvPr/>
        </p:nvSpPr>
        <p:spPr bwMode="auto">
          <a:xfrm>
            <a:off x="7775787" y="6384996"/>
            <a:ext cx="0" cy="52380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44" name="Line 36"/>
          <p:cNvSpPr>
            <a:spLocks noChangeShapeType="1"/>
          </p:cNvSpPr>
          <p:nvPr/>
        </p:nvSpPr>
        <p:spPr bwMode="auto">
          <a:xfrm>
            <a:off x="7775787" y="6384996"/>
            <a:ext cx="0" cy="195072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45" name="Line 37"/>
          <p:cNvSpPr>
            <a:spLocks noChangeShapeType="1"/>
          </p:cNvSpPr>
          <p:nvPr/>
        </p:nvSpPr>
        <p:spPr bwMode="auto">
          <a:xfrm>
            <a:off x="9997440" y="6384995"/>
            <a:ext cx="0" cy="54186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46" name="Line 38"/>
          <p:cNvSpPr>
            <a:spLocks noChangeShapeType="1"/>
          </p:cNvSpPr>
          <p:nvPr/>
        </p:nvSpPr>
        <p:spPr bwMode="auto">
          <a:xfrm>
            <a:off x="9997440" y="6384995"/>
            <a:ext cx="0" cy="54186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47" name="Line 39"/>
          <p:cNvSpPr>
            <a:spLocks noChangeShapeType="1"/>
          </p:cNvSpPr>
          <p:nvPr/>
        </p:nvSpPr>
        <p:spPr bwMode="auto">
          <a:xfrm>
            <a:off x="9997440" y="6384995"/>
            <a:ext cx="0" cy="54186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48" name="Line 40"/>
          <p:cNvSpPr>
            <a:spLocks noChangeShapeType="1"/>
          </p:cNvSpPr>
          <p:nvPr/>
        </p:nvSpPr>
        <p:spPr bwMode="auto">
          <a:xfrm>
            <a:off x="9997440" y="6384996"/>
            <a:ext cx="0" cy="195072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49" name="Rectangle 41"/>
          <p:cNvSpPr>
            <a:spLocks noChangeArrowheads="1"/>
          </p:cNvSpPr>
          <p:nvPr/>
        </p:nvSpPr>
        <p:spPr bwMode="auto">
          <a:xfrm>
            <a:off x="7028791" y="6536268"/>
            <a:ext cx="836977"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dirty="0">
                <a:solidFill>
                  <a:srgbClr val="000000"/>
                </a:solidFill>
                <a:latin typeface="Book Antiqua"/>
              </a:rPr>
              <a:t>PNO</a:t>
            </a:r>
          </a:p>
        </p:txBody>
      </p:sp>
      <p:sp>
        <p:nvSpPr>
          <p:cNvPr id="17450" name="Rectangle 42"/>
          <p:cNvSpPr>
            <a:spLocks noChangeArrowheads="1"/>
          </p:cNvSpPr>
          <p:nvPr/>
        </p:nvSpPr>
        <p:spPr bwMode="auto">
          <a:xfrm>
            <a:off x="8272132" y="6536268"/>
            <a:ext cx="1226707"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dirty="0">
                <a:solidFill>
                  <a:srgbClr val="000000"/>
                </a:solidFill>
                <a:latin typeface="Book Antiqua"/>
              </a:rPr>
              <a:t>PNAME</a:t>
            </a:r>
          </a:p>
        </p:txBody>
      </p:sp>
      <p:sp>
        <p:nvSpPr>
          <p:cNvPr id="17451" name="Rectangle 43"/>
          <p:cNvSpPr>
            <a:spLocks noChangeArrowheads="1"/>
          </p:cNvSpPr>
          <p:nvPr/>
        </p:nvSpPr>
        <p:spPr bwMode="auto">
          <a:xfrm>
            <a:off x="9979892" y="6536268"/>
            <a:ext cx="1324289"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dirty="0">
                <a:solidFill>
                  <a:srgbClr val="000000"/>
                </a:solidFill>
                <a:latin typeface="Book Antiqua"/>
              </a:rPr>
              <a:t>BUDGET</a:t>
            </a:r>
          </a:p>
        </p:txBody>
      </p:sp>
      <p:sp>
        <p:nvSpPr>
          <p:cNvPr id="17452" name="Rectangle 44"/>
          <p:cNvSpPr>
            <a:spLocks noChangeArrowheads="1"/>
          </p:cNvSpPr>
          <p:nvPr/>
        </p:nvSpPr>
        <p:spPr bwMode="auto">
          <a:xfrm>
            <a:off x="11455576" y="6482081"/>
            <a:ext cx="800032"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dirty="0">
                <a:solidFill>
                  <a:srgbClr val="000000"/>
                </a:solidFill>
                <a:latin typeface="Book Antiqua"/>
              </a:rPr>
              <a:t>LOC</a:t>
            </a:r>
          </a:p>
        </p:txBody>
      </p:sp>
      <p:sp>
        <p:nvSpPr>
          <p:cNvPr id="17453" name="Rectangle 45"/>
          <p:cNvSpPr>
            <a:spLocks noChangeArrowheads="1"/>
          </p:cNvSpPr>
          <p:nvPr/>
        </p:nvSpPr>
        <p:spPr bwMode="auto">
          <a:xfrm>
            <a:off x="7200056" y="6969759"/>
            <a:ext cx="46510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P3 </a:t>
            </a:r>
          </a:p>
        </p:txBody>
      </p:sp>
      <p:sp>
        <p:nvSpPr>
          <p:cNvPr id="17454" name="Rectangle 46"/>
          <p:cNvSpPr>
            <a:spLocks noChangeArrowheads="1"/>
          </p:cNvSpPr>
          <p:nvPr/>
        </p:nvSpPr>
        <p:spPr bwMode="auto">
          <a:xfrm>
            <a:off x="7806550" y="6969759"/>
            <a:ext cx="154206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CAD/CAM</a:t>
            </a:r>
          </a:p>
        </p:txBody>
      </p:sp>
      <p:sp>
        <p:nvSpPr>
          <p:cNvPr id="17455" name="Rectangle 47"/>
          <p:cNvSpPr>
            <a:spLocks noChangeArrowheads="1"/>
          </p:cNvSpPr>
          <p:nvPr/>
        </p:nvSpPr>
        <p:spPr bwMode="auto">
          <a:xfrm>
            <a:off x="10094526" y="6969759"/>
            <a:ext cx="95278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250000</a:t>
            </a:r>
          </a:p>
        </p:txBody>
      </p:sp>
      <p:sp>
        <p:nvSpPr>
          <p:cNvPr id="17456" name="Rectangle 48"/>
          <p:cNvSpPr>
            <a:spLocks noChangeArrowheads="1"/>
          </p:cNvSpPr>
          <p:nvPr/>
        </p:nvSpPr>
        <p:spPr bwMode="auto">
          <a:xfrm>
            <a:off x="11137619" y="6969759"/>
            <a:ext cx="1323058"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New York</a:t>
            </a:r>
          </a:p>
        </p:txBody>
      </p:sp>
      <p:sp>
        <p:nvSpPr>
          <p:cNvPr id="17458" name="Rectangle 50"/>
          <p:cNvSpPr>
            <a:spLocks noChangeArrowheads="1"/>
          </p:cNvSpPr>
          <p:nvPr/>
        </p:nvSpPr>
        <p:spPr bwMode="auto">
          <a:xfrm>
            <a:off x="7200056" y="7457439"/>
            <a:ext cx="46510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P4</a:t>
            </a:r>
          </a:p>
        </p:txBody>
      </p:sp>
      <p:sp>
        <p:nvSpPr>
          <p:cNvPr id="17459" name="Rectangle 51"/>
          <p:cNvSpPr>
            <a:spLocks noChangeArrowheads="1"/>
          </p:cNvSpPr>
          <p:nvPr/>
        </p:nvSpPr>
        <p:spPr bwMode="auto">
          <a:xfrm>
            <a:off x="7806550" y="7457439"/>
            <a:ext cx="1648178"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Maintenance</a:t>
            </a:r>
          </a:p>
        </p:txBody>
      </p:sp>
      <p:sp>
        <p:nvSpPr>
          <p:cNvPr id="17460" name="Rectangle 52"/>
          <p:cNvSpPr>
            <a:spLocks noChangeArrowheads="1"/>
          </p:cNvSpPr>
          <p:nvPr/>
        </p:nvSpPr>
        <p:spPr bwMode="auto">
          <a:xfrm>
            <a:off x="10094527" y="7457439"/>
            <a:ext cx="95278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310000</a:t>
            </a:r>
          </a:p>
        </p:txBody>
      </p:sp>
      <p:sp>
        <p:nvSpPr>
          <p:cNvPr id="17461" name="Rectangle 53"/>
          <p:cNvSpPr>
            <a:spLocks noChangeArrowheads="1"/>
          </p:cNvSpPr>
          <p:nvPr/>
        </p:nvSpPr>
        <p:spPr bwMode="auto">
          <a:xfrm>
            <a:off x="11162456" y="7457439"/>
            <a:ext cx="74958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Paris</a:t>
            </a:r>
          </a:p>
        </p:txBody>
      </p:sp>
      <p:sp>
        <p:nvSpPr>
          <p:cNvPr id="17463" name="Rectangle 55"/>
          <p:cNvSpPr>
            <a:spLocks noChangeArrowheads="1"/>
          </p:cNvSpPr>
          <p:nvPr/>
        </p:nvSpPr>
        <p:spPr bwMode="auto">
          <a:xfrm>
            <a:off x="7200056" y="7915767"/>
            <a:ext cx="46510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P5</a:t>
            </a:r>
          </a:p>
        </p:txBody>
      </p:sp>
      <p:sp>
        <p:nvSpPr>
          <p:cNvPr id="17464" name="Rectangle 56"/>
          <p:cNvSpPr>
            <a:spLocks noChangeArrowheads="1"/>
          </p:cNvSpPr>
          <p:nvPr/>
        </p:nvSpPr>
        <p:spPr bwMode="auto">
          <a:xfrm>
            <a:off x="7806550" y="7915767"/>
            <a:ext cx="1542063"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CAD/CAM</a:t>
            </a:r>
          </a:p>
        </p:txBody>
      </p:sp>
      <p:sp>
        <p:nvSpPr>
          <p:cNvPr id="17465" name="Rectangle 57"/>
          <p:cNvSpPr>
            <a:spLocks noChangeArrowheads="1"/>
          </p:cNvSpPr>
          <p:nvPr/>
        </p:nvSpPr>
        <p:spPr bwMode="auto">
          <a:xfrm>
            <a:off x="10094528" y="7915767"/>
            <a:ext cx="95278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500000</a:t>
            </a:r>
          </a:p>
        </p:txBody>
      </p:sp>
      <p:sp>
        <p:nvSpPr>
          <p:cNvPr id="17466" name="Rectangle 58"/>
          <p:cNvSpPr>
            <a:spLocks noChangeArrowheads="1"/>
          </p:cNvSpPr>
          <p:nvPr/>
        </p:nvSpPr>
        <p:spPr bwMode="auto">
          <a:xfrm>
            <a:off x="11162457" y="7915767"/>
            <a:ext cx="964071"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Boston</a:t>
            </a:r>
          </a:p>
        </p:txBody>
      </p:sp>
      <p:sp>
        <p:nvSpPr>
          <p:cNvPr id="17468" name="Rectangle 60"/>
          <p:cNvSpPr>
            <a:spLocks noChangeArrowheads="1"/>
          </p:cNvSpPr>
          <p:nvPr/>
        </p:nvSpPr>
        <p:spPr bwMode="auto">
          <a:xfrm>
            <a:off x="767644" y="6384995"/>
            <a:ext cx="5346418" cy="1535289"/>
          </a:xfrm>
          <a:prstGeom prst="rect">
            <a:avLst/>
          </a:prstGeom>
          <a:noFill/>
          <a:ln w="12700">
            <a:solidFill>
              <a:srgbClr val="000000"/>
            </a:solidFill>
            <a:miter lim="800000"/>
            <a:headEnd/>
            <a:tailEnd/>
          </a:ln>
          <a:effectLst/>
        </p:spPr>
        <p:txBody>
          <a:bodyPr wrap="none" lIns="130046" tIns="65023" rIns="130046" bIns="65023" anchor="ctr"/>
          <a:lstStyle/>
          <a:p>
            <a:endParaRPr lang="en-US" sz="2000" dirty="0">
              <a:latin typeface="Book Antiqua"/>
            </a:endParaRPr>
          </a:p>
        </p:txBody>
      </p:sp>
      <p:sp>
        <p:nvSpPr>
          <p:cNvPr id="17469" name="Line 61"/>
          <p:cNvSpPr>
            <a:spLocks noChangeShapeType="1"/>
          </p:cNvSpPr>
          <p:nvPr/>
        </p:nvSpPr>
        <p:spPr bwMode="auto">
          <a:xfrm>
            <a:off x="785706" y="6917831"/>
            <a:ext cx="53283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70" name="Line 62"/>
          <p:cNvSpPr>
            <a:spLocks noChangeShapeType="1"/>
          </p:cNvSpPr>
          <p:nvPr/>
        </p:nvSpPr>
        <p:spPr bwMode="auto">
          <a:xfrm>
            <a:off x="4940018" y="6384995"/>
            <a:ext cx="0" cy="153528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71" name="Rectangle 63"/>
          <p:cNvSpPr>
            <a:spLocks noChangeArrowheads="1"/>
          </p:cNvSpPr>
          <p:nvPr/>
        </p:nvSpPr>
        <p:spPr bwMode="auto">
          <a:xfrm>
            <a:off x="743138" y="6536268"/>
            <a:ext cx="836977"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dirty="0">
                <a:solidFill>
                  <a:srgbClr val="000000"/>
                </a:solidFill>
                <a:latin typeface="Book Antiqua"/>
              </a:rPr>
              <a:t>PNO</a:t>
            </a:r>
          </a:p>
        </p:txBody>
      </p:sp>
      <p:sp>
        <p:nvSpPr>
          <p:cNvPr id="17472" name="Rectangle 64"/>
          <p:cNvSpPr>
            <a:spLocks noChangeArrowheads="1"/>
          </p:cNvSpPr>
          <p:nvPr/>
        </p:nvSpPr>
        <p:spPr bwMode="auto">
          <a:xfrm>
            <a:off x="1986479" y="6536268"/>
            <a:ext cx="1226707"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dirty="0">
                <a:solidFill>
                  <a:srgbClr val="000000"/>
                </a:solidFill>
                <a:latin typeface="Book Antiqua"/>
              </a:rPr>
              <a:t>PNAME</a:t>
            </a:r>
          </a:p>
        </p:txBody>
      </p:sp>
      <p:sp>
        <p:nvSpPr>
          <p:cNvPr id="17473" name="Rectangle 65"/>
          <p:cNvSpPr>
            <a:spLocks noChangeArrowheads="1"/>
          </p:cNvSpPr>
          <p:nvPr/>
        </p:nvSpPr>
        <p:spPr bwMode="auto">
          <a:xfrm>
            <a:off x="5169922" y="6482081"/>
            <a:ext cx="800032"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dirty="0">
                <a:solidFill>
                  <a:srgbClr val="000000"/>
                </a:solidFill>
                <a:latin typeface="Book Antiqua"/>
              </a:rPr>
              <a:t>LOC</a:t>
            </a:r>
          </a:p>
        </p:txBody>
      </p:sp>
      <p:grpSp>
        <p:nvGrpSpPr>
          <p:cNvPr id="17478" name="Group 70"/>
          <p:cNvGrpSpPr>
            <a:grpSpLocks/>
          </p:cNvGrpSpPr>
          <p:nvPr/>
        </p:nvGrpSpPr>
        <p:grpSpPr bwMode="auto">
          <a:xfrm>
            <a:off x="914401" y="6969759"/>
            <a:ext cx="5154506" cy="397369"/>
            <a:chOff x="405" y="3087"/>
            <a:chExt cx="2283" cy="176"/>
          </a:xfrm>
        </p:grpSpPr>
        <p:sp>
          <p:nvSpPr>
            <p:cNvPr id="17474" name="Rectangle 66"/>
            <p:cNvSpPr>
              <a:spLocks noChangeArrowheads="1"/>
            </p:cNvSpPr>
            <p:nvPr/>
          </p:nvSpPr>
          <p:spPr bwMode="auto">
            <a:xfrm>
              <a:off x="405" y="3087"/>
              <a:ext cx="206"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P1</a:t>
              </a:r>
            </a:p>
          </p:txBody>
        </p:sp>
        <p:sp>
          <p:nvSpPr>
            <p:cNvPr id="17475" name="Rectangle 67"/>
            <p:cNvSpPr>
              <a:spLocks noChangeArrowheads="1"/>
            </p:cNvSpPr>
            <p:nvPr/>
          </p:nvSpPr>
          <p:spPr bwMode="auto">
            <a:xfrm>
              <a:off x="631" y="3087"/>
              <a:ext cx="899"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Instrumentation</a:t>
              </a:r>
            </a:p>
          </p:txBody>
        </p:sp>
        <p:sp>
          <p:nvSpPr>
            <p:cNvPr id="17476" name="Rectangle 68"/>
            <p:cNvSpPr>
              <a:spLocks noChangeArrowheads="1"/>
            </p:cNvSpPr>
            <p:nvPr/>
          </p:nvSpPr>
          <p:spPr bwMode="auto">
            <a:xfrm>
              <a:off x="1655" y="3087"/>
              <a:ext cx="494"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7" tIns="44450" rIns="90487" bIns="44450">
              <a:spAutoFit/>
            </a:bodyPr>
            <a:lstStyle/>
            <a:p>
              <a:r>
                <a:rPr lang="en-US" sz="2000" dirty="0">
                  <a:solidFill>
                    <a:srgbClr val="000000"/>
                  </a:solidFill>
                  <a:latin typeface="Book Antiqua"/>
                </a:rPr>
                <a:t>150000</a:t>
              </a:r>
            </a:p>
          </p:txBody>
        </p:sp>
        <p:sp>
          <p:nvSpPr>
            <p:cNvPr id="17477" name="Rectangle 69"/>
            <p:cNvSpPr>
              <a:spLocks noChangeArrowheads="1"/>
            </p:cNvSpPr>
            <p:nvPr/>
          </p:nvSpPr>
          <p:spPr bwMode="auto">
            <a:xfrm>
              <a:off x="2147" y="3087"/>
              <a:ext cx="541"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Montreal</a:t>
              </a:r>
            </a:p>
          </p:txBody>
        </p:sp>
      </p:grpSp>
      <p:grpSp>
        <p:nvGrpSpPr>
          <p:cNvPr id="17483" name="Group 75"/>
          <p:cNvGrpSpPr>
            <a:grpSpLocks/>
          </p:cNvGrpSpPr>
          <p:nvPr/>
        </p:nvGrpSpPr>
        <p:grpSpPr bwMode="auto">
          <a:xfrm>
            <a:off x="914401" y="7457439"/>
            <a:ext cx="5260622" cy="397369"/>
            <a:chOff x="405" y="3303"/>
            <a:chExt cx="2330" cy="176"/>
          </a:xfrm>
        </p:grpSpPr>
        <p:sp>
          <p:nvSpPr>
            <p:cNvPr id="17479" name="Rectangle 71"/>
            <p:cNvSpPr>
              <a:spLocks noChangeArrowheads="1"/>
            </p:cNvSpPr>
            <p:nvPr/>
          </p:nvSpPr>
          <p:spPr bwMode="auto">
            <a:xfrm>
              <a:off x="405" y="3303"/>
              <a:ext cx="206"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P2</a:t>
              </a:r>
            </a:p>
          </p:txBody>
        </p:sp>
        <p:sp>
          <p:nvSpPr>
            <p:cNvPr id="17480" name="Rectangle 72"/>
            <p:cNvSpPr>
              <a:spLocks noChangeArrowheads="1"/>
            </p:cNvSpPr>
            <p:nvPr/>
          </p:nvSpPr>
          <p:spPr bwMode="auto">
            <a:xfrm>
              <a:off x="651" y="3303"/>
              <a:ext cx="1023"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Database Develop.</a:t>
              </a:r>
            </a:p>
          </p:txBody>
        </p:sp>
        <p:sp>
          <p:nvSpPr>
            <p:cNvPr id="17481" name="Rectangle 73"/>
            <p:cNvSpPr>
              <a:spLocks noChangeArrowheads="1"/>
            </p:cNvSpPr>
            <p:nvPr/>
          </p:nvSpPr>
          <p:spPr bwMode="auto">
            <a:xfrm>
              <a:off x="1687" y="3303"/>
              <a:ext cx="422"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135000</a:t>
              </a:r>
            </a:p>
          </p:txBody>
        </p:sp>
        <p:sp>
          <p:nvSpPr>
            <p:cNvPr id="17482" name="Rectangle 74"/>
            <p:cNvSpPr>
              <a:spLocks noChangeArrowheads="1"/>
            </p:cNvSpPr>
            <p:nvPr/>
          </p:nvSpPr>
          <p:spPr bwMode="auto">
            <a:xfrm>
              <a:off x="2149" y="3303"/>
              <a:ext cx="586"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New York</a:t>
              </a:r>
            </a:p>
          </p:txBody>
        </p:sp>
      </p:grpSp>
      <p:sp>
        <p:nvSpPr>
          <p:cNvPr id="17484" name="Rectangle 76"/>
          <p:cNvSpPr>
            <a:spLocks noChangeArrowheads="1"/>
          </p:cNvSpPr>
          <p:nvPr/>
        </p:nvSpPr>
        <p:spPr bwMode="auto">
          <a:xfrm>
            <a:off x="3694238" y="6536268"/>
            <a:ext cx="1324289"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dirty="0">
                <a:solidFill>
                  <a:srgbClr val="000000"/>
                </a:solidFill>
                <a:latin typeface="Book Antiqua"/>
              </a:rPr>
              <a:t>BUDGET</a:t>
            </a:r>
          </a:p>
        </p:txBody>
      </p:sp>
      <p:sp>
        <p:nvSpPr>
          <p:cNvPr id="17485" name="Line 77"/>
          <p:cNvSpPr>
            <a:spLocks noChangeShapeType="1"/>
          </p:cNvSpPr>
          <p:nvPr/>
        </p:nvSpPr>
        <p:spPr bwMode="auto">
          <a:xfrm>
            <a:off x="1490133" y="6384996"/>
            <a:ext cx="0" cy="52380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86" name="Line 78"/>
          <p:cNvSpPr>
            <a:spLocks noChangeShapeType="1"/>
          </p:cNvSpPr>
          <p:nvPr/>
        </p:nvSpPr>
        <p:spPr bwMode="auto">
          <a:xfrm>
            <a:off x="1490133" y="6384996"/>
            <a:ext cx="0" cy="52380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87" name="Line 79"/>
          <p:cNvSpPr>
            <a:spLocks noChangeShapeType="1"/>
          </p:cNvSpPr>
          <p:nvPr/>
        </p:nvSpPr>
        <p:spPr bwMode="auto">
          <a:xfrm>
            <a:off x="1490133" y="6384996"/>
            <a:ext cx="0" cy="52380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88" name="Line 80"/>
          <p:cNvSpPr>
            <a:spLocks noChangeShapeType="1"/>
          </p:cNvSpPr>
          <p:nvPr/>
        </p:nvSpPr>
        <p:spPr bwMode="auto">
          <a:xfrm>
            <a:off x="1490133" y="6384995"/>
            <a:ext cx="0" cy="153528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89" name="Line 81"/>
          <p:cNvSpPr>
            <a:spLocks noChangeShapeType="1"/>
          </p:cNvSpPr>
          <p:nvPr/>
        </p:nvSpPr>
        <p:spPr bwMode="auto">
          <a:xfrm>
            <a:off x="3711787" y="6384995"/>
            <a:ext cx="0" cy="153528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90" name="Line 82"/>
          <p:cNvSpPr>
            <a:spLocks noChangeShapeType="1"/>
          </p:cNvSpPr>
          <p:nvPr/>
        </p:nvSpPr>
        <p:spPr bwMode="auto">
          <a:xfrm>
            <a:off x="3711787" y="6384995"/>
            <a:ext cx="0" cy="54186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91" name="Line 83"/>
          <p:cNvSpPr>
            <a:spLocks noChangeShapeType="1"/>
          </p:cNvSpPr>
          <p:nvPr/>
        </p:nvSpPr>
        <p:spPr bwMode="auto">
          <a:xfrm>
            <a:off x="3711787" y="6384995"/>
            <a:ext cx="0" cy="54186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92" name="Line 84"/>
          <p:cNvSpPr>
            <a:spLocks noChangeShapeType="1"/>
          </p:cNvSpPr>
          <p:nvPr/>
        </p:nvSpPr>
        <p:spPr bwMode="auto">
          <a:xfrm>
            <a:off x="3711787" y="6384995"/>
            <a:ext cx="0" cy="54186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93" name="Line 85"/>
          <p:cNvSpPr>
            <a:spLocks noChangeShapeType="1"/>
          </p:cNvSpPr>
          <p:nvPr/>
        </p:nvSpPr>
        <p:spPr bwMode="auto">
          <a:xfrm>
            <a:off x="7064588" y="6917831"/>
            <a:ext cx="53125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94" name="Line 86"/>
          <p:cNvSpPr>
            <a:spLocks noChangeShapeType="1"/>
          </p:cNvSpPr>
          <p:nvPr/>
        </p:nvSpPr>
        <p:spPr bwMode="auto">
          <a:xfrm>
            <a:off x="11194062" y="6384996"/>
            <a:ext cx="0" cy="195072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7495" name="Rectangle 87"/>
          <p:cNvSpPr>
            <a:spLocks noChangeArrowheads="1"/>
          </p:cNvSpPr>
          <p:nvPr/>
        </p:nvSpPr>
        <p:spPr bwMode="auto">
          <a:xfrm>
            <a:off x="7145299" y="5827326"/>
            <a:ext cx="1098416" cy="497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400" dirty="0">
                <a:solidFill>
                  <a:srgbClr val="000000"/>
                </a:solidFill>
                <a:latin typeface="Book Antiqua"/>
              </a:rPr>
              <a:t>PROJ</a:t>
            </a:r>
            <a:r>
              <a:rPr lang="en-US" sz="2400" baseline="-25000" dirty="0">
                <a:solidFill>
                  <a:srgbClr val="000000"/>
                </a:solidFill>
                <a:latin typeface="Book Antiqua"/>
              </a:rPr>
              <a:t>2</a:t>
            </a:r>
          </a:p>
        </p:txBody>
      </p:sp>
      <p:sp>
        <p:nvSpPr>
          <p:cNvPr id="17425" name="Rectangle 17"/>
          <p:cNvSpPr>
            <a:spLocks noChangeArrowheads="1"/>
          </p:cNvSpPr>
          <p:nvPr/>
        </p:nvSpPr>
        <p:spPr bwMode="auto">
          <a:xfrm>
            <a:off x="11451455" y="4034649"/>
            <a:ext cx="1323058"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New York</a:t>
            </a:r>
          </a:p>
        </p:txBody>
      </p:sp>
      <p:sp>
        <p:nvSpPr>
          <p:cNvPr id="17429" name="Rectangle 21"/>
          <p:cNvSpPr>
            <a:spLocks noChangeArrowheads="1"/>
          </p:cNvSpPr>
          <p:nvPr/>
        </p:nvSpPr>
        <p:spPr bwMode="auto">
          <a:xfrm>
            <a:off x="11451455" y="3745654"/>
            <a:ext cx="1323058"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New York</a:t>
            </a:r>
          </a:p>
        </p:txBody>
      </p:sp>
      <p:sp>
        <p:nvSpPr>
          <p:cNvPr id="17412" name="Rectangle 4"/>
          <p:cNvSpPr>
            <a:spLocks noChangeArrowheads="1"/>
          </p:cNvSpPr>
          <p:nvPr/>
        </p:nvSpPr>
        <p:spPr bwMode="auto">
          <a:xfrm>
            <a:off x="7378423" y="2862862"/>
            <a:ext cx="5346420" cy="2122312"/>
          </a:xfrm>
          <a:prstGeom prst="rect">
            <a:avLst/>
          </a:prstGeom>
          <a:noFill/>
          <a:ln w="1270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000" dirty="0">
              <a:latin typeface="Book Antiqua"/>
            </a:endParaRPr>
          </a:p>
        </p:txBody>
      </p:sp>
      <p:sp>
        <p:nvSpPr>
          <p:cNvPr id="17413" name="Rectangle 5"/>
          <p:cNvSpPr>
            <a:spLocks noChangeArrowheads="1"/>
          </p:cNvSpPr>
          <p:nvPr/>
        </p:nvSpPr>
        <p:spPr bwMode="auto">
          <a:xfrm>
            <a:off x="7378423" y="2384213"/>
            <a:ext cx="918916" cy="458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400" dirty="0">
                <a:solidFill>
                  <a:srgbClr val="000000"/>
                </a:solidFill>
                <a:latin typeface="Book Antiqua"/>
              </a:rPr>
              <a:t>PROJ</a:t>
            </a:r>
            <a:endParaRPr lang="en-US" sz="1600" dirty="0">
              <a:solidFill>
                <a:srgbClr val="000000"/>
              </a:solidFill>
              <a:latin typeface="Book Antiqua"/>
            </a:endParaRPr>
          </a:p>
        </p:txBody>
      </p:sp>
      <p:sp>
        <p:nvSpPr>
          <p:cNvPr id="17414" name="Rectangle 6"/>
          <p:cNvSpPr>
            <a:spLocks noChangeArrowheads="1"/>
          </p:cNvSpPr>
          <p:nvPr/>
        </p:nvSpPr>
        <p:spPr bwMode="auto">
          <a:xfrm>
            <a:off x="7373907" y="2937369"/>
            <a:ext cx="760871"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PNO</a:t>
            </a:r>
          </a:p>
        </p:txBody>
      </p:sp>
      <p:sp>
        <p:nvSpPr>
          <p:cNvPr id="17415" name="Rectangle 7"/>
          <p:cNvSpPr>
            <a:spLocks noChangeArrowheads="1"/>
          </p:cNvSpPr>
          <p:nvPr/>
        </p:nvSpPr>
        <p:spPr bwMode="auto">
          <a:xfrm>
            <a:off x="8586334" y="2937369"/>
            <a:ext cx="1149209"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PNAME</a:t>
            </a:r>
          </a:p>
        </p:txBody>
      </p:sp>
      <p:sp>
        <p:nvSpPr>
          <p:cNvPr id="17416" name="Rectangle 8"/>
          <p:cNvSpPr>
            <a:spLocks noChangeArrowheads="1"/>
          </p:cNvSpPr>
          <p:nvPr/>
        </p:nvSpPr>
        <p:spPr bwMode="auto">
          <a:xfrm>
            <a:off x="10295473" y="2937369"/>
            <a:ext cx="1246294"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BUDGET</a:t>
            </a:r>
          </a:p>
        </p:txBody>
      </p:sp>
      <p:sp>
        <p:nvSpPr>
          <p:cNvPr id="17417" name="Rectangle 9"/>
          <p:cNvSpPr>
            <a:spLocks noChangeArrowheads="1"/>
          </p:cNvSpPr>
          <p:nvPr/>
        </p:nvSpPr>
        <p:spPr bwMode="auto">
          <a:xfrm>
            <a:off x="11769802" y="2937369"/>
            <a:ext cx="722489"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LOC</a:t>
            </a:r>
          </a:p>
        </p:txBody>
      </p:sp>
      <p:sp>
        <p:nvSpPr>
          <p:cNvPr id="17418" name="Rectangle 10"/>
          <p:cNvSpPr>
            <a:spLocks noChangeArrowheads="1"/>
          </p:cNvSpPr>
          <p:nvPr/>
        </p:nvSpPr>
        <p:spPr bwMode="auto">
          <a:xfrm>
            <a:off x="7525178" y="3447627"/>
            <a:ext cx="46510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P1</a:t>
            </a:r>
          </a:p>
        </p:txBody>
      </p:sp>
      <p:sp>
        <p:nvSpPr>
          <p:cNvPr id="17419" name="Rectangle 11"/>
          <p:cNvSpPr>
            <a:spLocks noChangeArrowheads="1"/>
          </p:cNvSpPr>
          <p:nvPr/>
        </p:nvSpPr>
        <p:spPr bwMode="auto">
          <a:xfrm>
            <a:off x="8012858" y="3447627"/>
            <a:ext cx="202940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Instrumentation</a:t>
            </a:r>
          </a:p>
        </p:txBody>
      </p:sp>
      <p:sp>
        <p:nvSpPr>
          <p:cNvPr id="17420" name="Rectangle 12"/>
          <p:cNvSpPr>
            <a:spLocks noChangeArrowheads="1"/>
          </p:cNvSpPr>
          <p:nvPr/>
        </p:nvSpPr>
        <p:spPr bwMode="auto">
          <a:xfrm>
            <a:off x="10426424" y="3447627"/>
            <a:ext cx="952783"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r"/>
            <a:r>
              <a:rPr lang="en-US" sz="2000" dirty="0">
                <a:solidFill>
                  <a:srgbClr val="000000"/>
                </a:solidFill>
                <a:latin typeface="Book Antiqua"/>
              </a:rPr>
              <a:t>150000</a:t>
            </a:r>
          </a:p>
        </p:txBody>
      </p:sp>
      <p:sp>
        <p:nvSpPr>
          <p:cNvPr id="17421" name="Rectangle 13"/>
          <p:cNvSpPr>
            <a:spLocks noChangeArrowheads="1"/>
          </p:cNvSpPr>
          <p:nvPr/>
        </p:nvSpPr>
        <p:spPr bwMode="auto">
          <a:xfrm>
            <a:off x="11451455" y="3447627"/>
            <a:ext cx="1221458"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Montreal</a:t>
            </a:r>
          </a:p>
        </p:txBody>
      </p:sp>
      <p:sp>
        <p:nvSpPr>
          <p:cNvPr id="17422" name="Rectangle 14"/>
          <p:cNvSpPr>
            <a:spLocks noChangeArrowheads="1"/>
          </p:cNvSpPr>
          <p:nvPr/>
        </p:nvSpPr>
        <p:spPr bwMode="auto">
          <a:xfrm>
            <a:off x="7510512" y="3980463"/>
            <a:ext cx="46510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P3 </a:t>
            </a:r>
          </a:p>
        </p:txBody>
      </p:sp>
      <p:sp>
        <p:nvSpPr>
          <p:cNvPr id="17423" name="Rectangle 15"/>
          <p:cNvSpPr>
            <a:spLocks noChangeArrowheads="1"/>
          </p:cNvSpPr>
          <p:nvPr/>
        </p:nvSpPr>
        <p:spPr bwMode="auto">
          <a:xfrm>
            <a:off x="8012858" y="3980463"/>
            <a:ext cx="154208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CAD/CAM</a:t>
            </a:r>
          </a:p>
        </p:txBody>
      </p:sp>
      <p:sp>
        <p:nvSpPr>
          <p:cNvPr id="17424" name="Rectangle 16"/>
          <p:cNvSpPr>
            <a:spLocks noChangeArrowheads="1"/>
          </p:cNvSpPr>
          <p:nvPr/>
        </p:nvSpPr>
        <p:spPr bwMode="auto">
          <a:xfrm>
            <a:off x="10426424" y="3980463"/>
            <a:ext cx="952783"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r"/>
            <a:r>
              <a:rPr lang="en-US" sz="2000" dirty="0">
                <a:solidFill>
                  <a:srgbClr val="000000"/>
                </a:solidFill>
                <a:latin typeface="Book Antiqua"/>
              </a:rPr>
              <a:t>250000</a:t>
            </a:r>
          </a:p>
        </p:txBody>
      </p:sp>
      <p:sp>
        <p:nvSpPr>
          <p:cNvPr id="17426" name="Rectangle 18"/>
          <p:cNvSpPr>
            <a:spLocks noChangeArrowheads="1"/>
          </p:cNvSpPr>
          <p:nvPr/>
        </p:nvSpPr>
        <p:spPr bwMode="auto">
          <a:xfrm>
            <a:off x="7525178" y="3727591"/>
            <a:ext cx="46510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P2</a:t>
            </a:r>
          </a:p>
        </p:txBody>
      </p:sp>
      <p:sp>
        <p:nvSpPr>
          <p:cNvPr id="17427" name="Rectangle 19"/>
          <p:cNvSpPr>
            <a:spLocks noChangeArrowheads="1"/>
          </p:cNvSpPr>
          <p:nvPr/>
        </p:nvSpPr>
        <p:spPr bwMode="auto">
          <a:xfrm>
            <a:off x="8012858" y="3727591"/>
            <a:ext cx="23644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Database Develop.</a:t>
            </a:r>
          </a:p>
        </p:txBody>
      </p:sp>
      <p:sp>
        <p:nvSpPr>
          <p:cNvPr id="17428" name="Rectangle 20"/>
          <p:cNvSpPr>
            <a:spLocks noChangeArrowheads="1"/>
          </p:cNvSpPr>
          <p:nvPr/>
        </p:nvSpPr>
        <p:spPr bwMode="auto">
          <a:xfrm>
            <a:off x="10426424" y="3727591"/>
            <a:ext cx="952783"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r"/>
            <a:r>
              <a:rPr lang="en-US" sz="2000" dirty="0">
                <a:solidFill>
                  <a:srgbClr val="000000"/>
                </a:solidFill>
                <a:latin typeface="Book Antiqua"/>
              </a:rPr>
              <a:t>135000</a:t>
            </a:r>
          </a:p>
        </p:txBody>
      </p:sp>
      <p:sp>
        <p:nvSpPr>
          <p:cNvPr id="17430" name="Rectangle 22"/>
          <p:cNvSpPr>
            <a:spLocks noChangeArrowheads="1"/>
          </p:cNvSpPr>
          <p:nvPr/>
        </p:nvSpPr>
        <p:spPr bwMode="auto">
          <a:xfrm>
            <a:off x="7525178" y="4278489"/>
            <a:ext cx="46510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P4</a:t>
            </a:r>
          </a:p>
        </p:txBody>
      </p:sp>
      <p:sp>
        <p:nvSpPr>
          <p:cNvPr id="17431" name="Rectangle 23"/>
          <p:cNvSpPr>
            <a:spLocks noChangeArrowheads="1"/>
          </p:cNvSpPr>
          <p:nvPr/>
        </p:nvSpPr>
        <p:spPr bwMode="auto">
          <a:xfrm>
            <a:off x="8012858" y="4278489"/>
            <a:ext cx="1648178"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Maintenance</a:t>
            </a:r>
          </a:p>
        </p:txBody>
      </p:sp>
      <p:sp>
        <p:nvSpPr>
          <p:cNvPr id="17432" name="Rectangle 24"/>
          <p:cNvSpPr>
            <a:spLocks noChangeArrowheads="1"/>
          </p:cNvSpPr>
          <p:nvPr/>
        </p:nvSpPr>
        <p:spPr bwMode="auto">
          <a:xfrm>
            <a:off x="10426424" y="4278489"/>
            <a:ext cx="952783"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r"/>
            <a:r>
              <a:rPr lang="en-US" sz="2000" dirty="0">
                <a:solidFill>
                  <a:srgbClr val="000000"/>
                </a:solidFill>
                <a:latin typeface="Book Antiqua"/>
              </a:rPr>
              <a:t>310000</a:t>
            </a:r>
          </a:p>
        </p:txBody>
      </p:sp>
      <p:sp>
        <p:nvSpPr>
          <p:cNvPr id="17433" name="Rectangle 25"/>
          <p:cNvSpPr>
            <a:spLocks noChangeArrowheads="1"/>
          </p:cNvSpPr>
          <p:nvPr/>
        </p:nvSpPr>
        <p:spPr bwMode="auto">
          <a:xfrm>
            <a:off x="11451455" y="4278489"/>
            <a:ext cx="74958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Paris</a:t>
            </a:r>
          </a:p>
        </p:txBody>
      </p:sp>
      <p:sp>
        <p:nvSpPr>
          <p:cNvPr id="17434" name="Rectangle 26"/>
          <p:cNvSpPr>
            <a:spLocks noChangeArrowheads="1"/>
          </p:cNvSpPr>
          <p:nvPr/>
        </p:nvSpPr>
        <p:spPr bwMode="auto">
          <a:xfrm>
            <a:off x="7525178" y="4567485"/>
            <a:ext cx="46510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P5</a:t>
            </a:r>
          </a:p>
        </p:txBody>
      </p:sp>
      <p:sp>
        <p:nvSpPr>
          <p:cNvPr id="17435" name="Rectangle 27"/>
          <p:cNvSpPr>
            <a:spLocks noChangeArrowheads="1"/>
          </p:cNvSpPr>
          <p:nvPr/>
        </p:nvSpPr>
        <p:spPr bwMode="auto">
          <a:xfrm>
            <a:off x="8012858" y="4567485"/>
            <a:ext cx="154208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CAD/CAM</a:t>
            </a:r>
          </a:p>
        </p:txBody>
      </p:sp>
      <p:sp>
        <p:nvSpPr>
          <p:cNvPr id="17436" name="Rectangle 28"/>
          <p:cNvSpPr>
            <a:spLocks noChangeArrowheads="1"/>
          </p:cNvSpPr>
          <p:nvPr/>
        </p:nvSpPr>
        <p:spPr bwMode="auto">
          <a:xfrm>
            <a:off x="10426424" y="4567485"/>
            <a:ext cx="952783"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r"/>
            <a:r>
              <a:rPr lang="en-US" sz="2000" dirty="0">
                <a:solidFill>
                  <a:srgbClr val="000000"/>
                </a:solidFill>
                <a:latin typeface="Book Antiqua"/>
              </a:rPr>
              <a:t>500000</a:t>
            </a:r>
          </a:p>
        </p:txBody>
      </p:sp>
      <p:sp>
        <p:nvSpPr>
          <p:cNvPr id="17437" name="Rectangle 29"/>
          <p:cNvSpPr>
            <a:spLocks noChangeArrowheads="1"/>
          </p:cNvSpPr>
          <p:nvPr/>
        </p:nvSpPr>
        <p:spPr bwMode="auto">
          <a:xfrm>
            <a:off x="11451455" y="4567485"/>
            <a:ext cx="964071"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Boston</a:t>
            </a:r>
          </a:p>
        </p:txBody>
      </p:sp>
      <p:sp>
        <p:nvSpPr>
          <p:cNvPr id="17496" name="Line 88"/>
          <p:cNvSpPr>
            <a:spLocks noChangeShapeType="1"/>
          </p:cNvSpPr>
          <p:nvPr/>
        </p:nvSpPr>
        <p:spPr bwMode="auto">
          <a:xfrm>
            <a:off x="7378423" y="3379893"/>
            <a:ext cx="5353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000" dirty="0">
              <a:latin typeface="Book Antiqua"/>
            </a:endParaRPr>
          </a:p>
        </p:txBody>
      </p:sp>
      <p:sp>
        <p:nvSpPr>
          <p:cNvPr id="17497" name="Line 89"/>
          <p:cNvSpPr>
            <a:spLocks noChangeShapeType="1"/>
          </p:cNvSpPr>
          <p:nvPr/>
        </p:nvSpPr>
        <p:spPr bwMode="auto">
          <a:xfrm>
            <a:off x="8067045" y="2860604"/>
            <a:ext cx="0" cy="212457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000" dirty="0">
              <a:latin typeface="Book Antiqua"/>
            </a:endParaRPr>
          </a:p>
        </p:txBody>
      </p:sp>
      <p:sp>
        <p:nvSpPr>
          <p:cNvPr id="17498" name="Line 90"/>
          <p:cNvSpPr>
            <a:spLocks noChangeShapeType="1"/>
          </p:cNvSpPr>
          <p:nvPr/>
        </p:nvSpPr>
        <p:spPr bwMode="auto">
          <a:xfrm>
            <a:off x="10354175" y="2860604"/>
            <a:ext cx="0" cy="212457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000" dirty="0">
              <a:latin typeface="Book Antiqua"/>
            </a:endParaRPr>
          </a:p>
        </p:txBody>
      </p:sp>
      <p:sp>
        <p:nvSpPr>
          <p:cNvPr id="17499" name="Line 91"/>
          <p:cNvSpPr>
            <a:spLocks noChangeShapeType="1"/>
          </p:cNvSpPr>
          <p:nvPr/>
        </p:nvSpPr>
        <p:spPr bwMode="auto">
          <a:xfrm>
            <a:off x="11442424" y="2860604"/>
            <a:ext cx="0" cy="212457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000" dirty="0">
              <a:latin typeface="Book Antiqua"/>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a:ln/>
        </p:spPr>
        <p:txBody>
          <a:bodyPr/>
          <a:lstStyle/>
          <a:p>
            <a:r>
              <a:rPr lang="en-US" sz="3200" b="1" dirty="0"/>
              <a:t>Fragmentation Alternatives – Vertical</a:t>
            </a:r>
          </a:p>
        </p:txBody>
      </p:sp>
      <p:sp>
        <p:nvSpPr>
          <p:cNvPr id="19459" name="Rectangle 3"/>
          <p:cNvSpPr>
            <a:spLocks noGrp="1" noChangeArrowheads="1"/>
          </p:cNvSpPr>
          <p:nvPr>
            <p:ph type="body" idx="4294967295"/>
          </p:nvPr>
        </p:nvSpPr>
        <p:spPr>
          <a:xfrm>
            <a:off x="224978" y="2790825"/>
            <a:ext cx="6421438" cy="2736850"/>
          </a:xfrm>
          <a:noFill/>
          <a:ln/>
        </p:spPr>
        <p:txBody>
          <a:bodyPr/>
          <a:lstStyle/>
          <a:p>
            <a:pPr marL="1537523" indent="-1537523">
              <a:buNone/>
            </a:pPr>
            <a:r>
              <a:rPr lang="en-US" dirty="0"/>
              <a:t>PROJ</a:t>
            </a:r>
            <a:r>
              <a:rPr lang="en-US" baseline="-25000" dirty="0"/>
              <a:t>1</a:t>
            </a:r>
            <a:r>
              <a:rPr lang="en-US" dirty="0"/>
              <a:t>:	information about project budgets</a:t>
            </a:r>
          </a:p>
          <a:p>
            <a:pPr marL="1537523" indent="-1537523">
              <a:buNone/>
            </a:pPr>
            <a:r>
              <a:rPr lang="en-US" dirty="0"/>
              <a:t>PROJ</a:t>
            </a:r>
            <a:r>
              <a:rPr lang="en-US" baseline="-25000" dirty="0"/>
              <a:t>2</a:t>
            </a:r>
            <a:r>
              <a:rPr lang="en-US" dirty="0"/>
              <a:t>:	information about project names and locations</a:t>
            </a:r>
          </a:p>
        </p:txBody>
      </p:sp>
      <p:sp>
        <p:nvSpPr>
          <p:cNvPr id="19492" name="Rectangle 36"/>
          <p:cNvSpPr>
            <a:spLocks noChangeArrowheads="1"/>
          </p:cNvSpPr>
          <p:nvPr/>
        </p:nvSpPr>
        <p:spPr bwMode="auto">
          <a:xfrm>
            <a:off x="1934916" y="6644641"/>
            <a:ext cx="2174239" cy="2122311"/>
          </a:xfrm>
          <a:prstGeom prst="rect">
            <a:avLst/>
          </a:prstGeom>
          <a:noFill/>
          <a:ln w="12700">
            <a:solidFill>
              <a:srgbClr val="000000"/>
            </a:solidFill>
            <a:miter lim="800000"/>
            <a:headEnd/>
            <a:tailEnd/>
          </a:ln>
          <a:effectLst/>
        </p:spPr>
        <p:txBody>
          <a:bodyPr wrap="none" lIns="130046" tIns="65023" rIns="130046" bIns="65023" anchor="ctr"/>
          <a:lstStyle/>
          <a:p>
            <a:endParaRPr lang="en-US" sz="2000" dirty="0">
              <a:latin typeface="Book Antiqua"/>
            </a:endParaRPr>
          </a:p>
        </p:txBody>
      </p:sp>
      <p:sp>
        <p:nvSpPr>
          <p:cNvPr id="19493" name="Rectangle 37"/>
          <p:cNvSpPr>
            <a:spLocks noChangeArrowheads="1"/>
          </p:cNvSpPr>
          <p:nvPr/>
        </p:nvSpPr>
        <p:spPr bwMode="auto">
          <a:xfrm>
            <a:off x="1892347" y="6719147"/>
            <a:ext cx="836977"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dirty="0">
                <a:solidFill>
                  <a:srgbClr val="000000"/>
                </a:solidFill>
                <a:latin typeface="Book Antiqua"/>
              </a:rPr>
              <a:t>PNO</a:t>
            </a:r>
          </a:p>
        </p:txBody>
      </p:sp>
      <p:sp>
        <p:nvSpPr>
          <p:cNvPr id="19494" name="Rectangle 38"/>
          <p:cNvSpPr>
            <a:spLocks noChangeArrowheads="1"/>
          </p:cNvSpPr>
          <p:nvPr/>
        </p:nvSpPr>
        <p:spPr bwMode="auto">
          <a:xfrm>
            <a:off x="2716620" y="6719147"/>
            <a:ext cx="1324289"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dirty="0">
                <a:solidFill>
                  <a:srgbClr val="000000"/>
                </a:solidFill>
                <a:latin typeface="Book Antiqua"/>
              </a:rPr>
              <a:t>BUDGET</a:t>
            </a:r>
          </a:p>
        </p:txBody>
      </p:sp>
      <p:sp>
        <p:nvSpPr>
          <p:cNvPr id="19495" name="Rectangle 39"/>
          <p:cNvSpPr>
            <a:spLocks noChangeArrowheads="1"/>
          </p:cNvSpPr>
          <p:nvPr/>
        </p:nvSpPr>
        <p:spPr bwMode="auto">
          <a:xfrm>
            <a:off x="2043826" y="7229405"/>
            <a:ext cx="543051"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pPr algn="l"/>
            <a:r>
              <a:rPr lang="en-US" sz="2000" dirty="0">
                <a:solidFill>
                  <a:srgbClr val="000000"/>
                </a:solidFill>
                <a:latin typeface="Book Antiqua"/>
              </a:rPr>
              <a:t>P1</a:t>
            </a:r>
          </a:p>
        </p:txBody>
      </p:sp>
      <p:sp>
        <p:nvSpPr>
          <p:cNvPr id="19496" name="Rectangle 40"/>
          <p:cNvSpPr>
            <a:spLocks noChangeArrowheads="1"/>
          </p:cNvSpPr>
          <p:nvPr/>
        </p:nvSpPr>
        <p:spPr bwMode="auto">
          <a:xfrm>
            <a:off x="2842647" y="7229405"/>
            <a:ext cx="1029337"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pPr algn="l"/>
            <a:r>
              <a:rPr lang="en-US" sz="2000" dirty="0">
                <a:solidFill>
                  <a:srgbClr val="000000"/>
                </a:solidFill>
                <a:latin typeface="Book Antiqua"/>
              </a:rPr>
              <a:t>150000</a:t>
            </a:r>
          </a:p>
        </p:txBody>
      </p:sp>
      <p:sp>
        <p:nvSpPr>
          <p:cNvPr id="19497" name="Rectangle 41"/>
          <p:cNvSpPr>
            <a:spLocks noChangeArrowheads="1"/>
          </p:cNvSpPr>
          <p:nvPr/>
        </p:nvSpPr>
        <p:spPr bwMode="auto">
          <a:xfrm>
            <a:off x="2043826" y="7789334"/>
            <a:ext cx="543051"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pPr algn="l"/>
            <a:r>
              <a:rPr lang="en-US" sz="2000" dirty="0">
                <a:solidFill>
                  <a:srgbClr val="000000"/>
                </a:solidFill>
                <a:latin typeface="Book Antiqua"/>
              </a:rPr>
              <a:t>P3 </a:t>
            </a:r>
          </a:p>
        </p:txBody>
      </p:sp>
      <p:sp>
        <p:nvSpPr>
          <p:cNvPr id="19498" name="Rectangle 42"/>
          <p:cNvSpPr>
            <a:spLocks noChangeArrowheads="1"/>
          </p:cNvSpPr>
          <p:nvPr/>
        </p:nvSpPr>
        <p:spPr bwMode="auto">
          <a:xfrm>
            <a:off x="2842647" y="7789334"/>
            <a:ext cx="1029337"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pPr algn="l"/>
            <a:r>
              <a:rPr lang="en-US" sz="2000" dirty="0">
                <a:solidFill>
                  <a:srgbClr val="000000"/>
                </a:solidFill>
                <a:latin typeface="Book Antiqua"/>
              </a:rPr>
              <a:t>250000</a:t>
            </a:r>
          </a:p>
        </p:txBody>
      </p:sp>
      <p:sp>
        <p:nvSpPr>
          <p:cNvPr id="19499" name="Rectangle 43"/>
          <p:cNvSpPr>
            <a:spLocks noChangeArrowheads="1"/>
          </p:cNvSpPr>
          <p:nvPr/>
        </p:nvSpPr>
        <p:spPr bwMode="auto">
          <a:xfrm>
            <a:off x="2043826" y="7500338"/>
            <a:ext cx="543051"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pPr algn="l"/>
            <a:r>
              <a:rPr lang="en-US" sz="2000" dirty="0">
                <a:solidFill>
                  <a:srgbClr val="000000"/>
                </a:solidFill>
                <a:latin typeface="Book Antiqua"/>
              </a:rPr>
              <a:t>P2</a:t>
            </a:r>
          </a:p>
        </p:txBody>
      </p:sp>
      <p:sp>
        <p:nvSpPr>
          <p:cNvPr id="19500" name="Rectangle 44"/>
          <p:cNvSpPr>
            <a:spLocks noChangeArrowheads="1"/>
          </p:cNvSpPr>
          <p:nvPr/>
        </p:nvSpPr>
        <p:spPr bwMode="auto">
          <a:xfrm>
            <a:off x="2842647" y="7500338"/>
            <a:ext cx="1029337"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pPr algn="l"/>
            <a:r>
              <a:rPr lang="en-US" sz="2000" dirty="0">
                <a:solidFill>
                  <a:srgbClr val="000000"/>
                </a:solidFill>
                <a:latin typeface="Book Antiqua"/>
              </a:rPr>
              <a:t>135000</a:t>
            </a:r>
          </a:p>
        </p:txBody>
      </p:sp>
      <p:sp>
        <p:nvSpPr>
          <p:cNvPr id="19501" name="Rectangle 45"/>
          <p:cNvSpPr>
            <a:spLocks noChangeArrowheads="1"/>
          </p:cNvSpPr>
          <p:nvPr/>
        </p:nvSpPr>
        <p:spPr bwMode="auto">
          <a:xfrm>
            <a:off x="2043826" y="8060267"/>
            <a:ext cx="543051"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pPr algn="l"/>
            <a:r>
              <a:rPr lang="en-US" sz="2000" dirty="0">
                <a:solidFill>
                  <a:srgbClr val="000000"/>
                </a:solidFill>
                <a:latin typeface="Book Antiqua"/>
              </a:rPr>
              <a:t>P4</a:t>
            </a:r>
          </a:p>
        </p:txBody>
      </p:sp>
      <p:sp>
        <p:nvSpPr>
          <p:cNvPr id="19502" name="Rectangle 46"/>
          <p:cNvSpPr>
            <a:spLocks noChangeArrowheads="1"/>
          </p:cNvSpPr>
          <p:nvPr/>
        </p:nvSpPr>
        <p:spPr bwMode="auto">
          <a:xfrm>
            <a:off x="2842647" y="8060267"/>
            <a:ext cx="1029337"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pPr algn="l"/>
            <a:r>
              <a:rPr lang="en-US" sz="2000" dirty="0">
                <a:solidFill>
                  <a:srgbClr val="000000"/>
                </a:solidFill>
                <a:latin typeface="Book Antiqua"/>
              </a:rPr>
              <a:t>310000</a:t>
            </a:r>
          </a:p>
        </p:txBody>
      </p:sp>
      <p:sp>
        <p:nvSpPr>
          <p:cNvPr id="19503" name="Rectangle 47"/>
          <p:cNvSpPr>
            <a:spLocks noChangeArrowheads="1"/>
          </p:cNvSpPr>
          <p:nvPr/>
        </p:nvSpPr>
        <p:spPr bwMode="auto">
          <a:xfrm>
            <a:off x="2043826" y="8349263"/>
            <a:ext cx="543051"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pPr algn="l"/>
            <a:r>
              <a:rPr lang="en-US" sz="2000" dirty="0">
                <a:solidFill>
                  <a:srgbClr val="000000"/>
                </a:solidFill>
                <a:latin typeface="Book Antiqua"/>
              </a:rPr>
              <a:t>P5</a:t>
            </a:r>
          </a:p>
        </p:txBody>
      </p:sp>
      <p:sp>
        <p:nvSpPr>
          <p:cNvPr id="19504" name="Rectangle 48"/>
          <p:cNvSpPr>
            <a:spLocks noChangeArrowheads="1"/>
          </p:cNvSpPr>
          <p:nvPr/>
        </p:nvSpPr>
        <p:spPr bwMode="auto">
          <a:xfrm>
            <a:off x="2842647" y="8349263"/>
            <a:ext cx="1029337"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pPr algn="l"/>
            <a:r>
              <a:rPr lang="en-US" sz="2000" dirty="0">
                <a:solidFill>
                  <a:srgbClr val="000000"/>
                </a:solidFill>
                <a:latin typeface="Book Antiqua"/>
              </a:rPr>
              <a:t>500000</a:t>
            </a:r>
          </a:p>
        </p:txBody>
      </p:sp>
      <p:sp>
        <p:nvSpPr>
          <p:cNvPr id="19505" name="Line 49"/>
          <p:cNvSpPr>
            <a:spLocks noChangeShapeType="1"/>
          </p:cNvSpPr>
          <p:nvPr/>
        </p:nvSpPr>
        <p:spPr bwMode="auto">
          <a:xfrm>
            <a:off x="1934916" y="7161671"/>
            <a:ext cx="217423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9506" name="Line 50"/>
          <p:cNvSpPr>
            <a:spLocks noChangeShapeType="1"/>
          </p:cNvSpPr>
          <p:nvPr/>
        </p:nvSpPr>
        <p:spPr bwMode="auto">
          <a:xfrm>
            <a:off x="2623538" y="6642382"/>
            <a:ext cx="0" cy="212457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19508" name="Rectangle 52"/>
          <p:cNvSpPr>
            <a:spLocks noChangeArrowheads="1"/>
          </p:cNvSpPr>
          <p:nvPr/>
        </p:nvSpPr>
        <p:spPr bwMode="auto">
          <a:xfrm>
            <a:off x="6269853" y="6644640"/>
            <a:ext cx="4413956" cy="2122311"/>
          </a:xfrm>
          <a:prstGeom prst="rect">
            <a:avLst/>
          </a:prstGeom>
          <a:noFill/>
          <a:ln w="12700">
            <a:solidFill>
              <a:srgbClr val="000000"/>
            </a:solidFill>
            <a:miter lim="800000"/>
            <a:headEnd/>
            <a:tailEnd/>
          </a:ln>
          <a:effectLst/>
        </p:spPr>
        <p:txBody>
          <a:bodyPr wrap="none" anchor="ctr"/>
          <a:lstStyle/>
          <a:p>
            <a:endParaRPr lang="en-US" sz="2000" dirty="0">
              <a:latin typeface="Book Antiqua"/>
            </a:endParaRPr>
          </a:p>
        </p:txBody>
      </p:sp>
      <p:sp>
        <p:nvSpPr>
          <p:cNvPr id="19509" name="Rectangle 53"/>
          <p:cNvSpPr>
            <a:spLocks noChangeArrowheads="1"/>
          </p:cNvSpPr>
          <p:nvPr/>
        </p:nvSpPr>
        <p:spPr bwMode="auto">
          <a:xfrm>
            <a:off x="6265337" y="6719146"/>
            <a:ext cx="760871"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PNO</a:t>
            </a:r>
          </a:p>
        </p:txBody>
      </p:sp>
      <p:sp>
        <p:nvSpPr>
          <p:cNvPr id="19510" name="Rectangle 54"/>
          <p:cNvSpPr>
            <a:spLocks noChangeArrowheads="1"/>
          </p:cNvSpPr>
          <p:nvPr/>
        </p:nvSpPr>
        <p:spPr bwMode="auto">
          <a:xfrm>
            <a:off x="7477764" y="6719146"/>
            <a:ext cx="1149209"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PNAME</a:t>
            </a:r>
          </a:p>
        </p:txBody>
      </p:sp>
      <p:sp>
        <p:nvSpPr>
          <p:cNvPr id="19511" name="Rectangle 55"/>
          <p:cNvSpPr>
            <a:spLocks noChangeArrowheads="1"/>
          </p:cNvSpPr>
          <p:nvPr/>
        </p:nvSpPr>
        <p:spPr bwMode="auto">
          <a:xfrm>
            <a:off x="9624911" y="6719146"/>
            <a:ext cx="722489"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LOC</a:t>
            </a:r>
          </a:p>
        </p:txBody>
      </p:sp>
      <p:sp>
        <p:nvSpPr>
          <p:cNvPr id="19512" name="Rectangle 56"/>
          <p:cNvSpPr>
            <a:spLocks noChangeArrowheads="1"/>
          </p:cNvSpPr>
          <p:nvPr/>
        </p:nvSpPr>
        <p:spPr bwMode="auto">
          <a:xfrm>
            <a:off x="6416608" y="7229404"/>
            <a:ext cx="46510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P1</a:t>
            </a:r>
          </a:p>
        </p:txBody>
      </p:sp>
      <p:sp>
        <p:nvSpPr>
          <p:cNvPr id="19513" name="Rectangle 57"/>
          <p:cNvSpPr>
            <a:spLocks noChangeArrowheads="1"/>
          </p:cNvSpPr>
          <p:nvPr/>
        </p:nvSpPr>
        <p:spPr bwMode="auto">
          <a:xfrm>
            <a:off x="7001005" y="7229404"/>
            <a:ext cx="2029743"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Instrumentation</a:t>
            </a:r>
          </a:p>
        </p:txBody>
      </p:sp>
      <p:sp>
        <p:nvSpPr>
          <p:cNvPr id="19514" name="Rectangle 58"/>
          <p:cNvSpPr>
            <a:spLocks noChangeArrowheads="1"/>
          </p:cNvSpPr>
          <p:nvPr/>
        </p:nvSpPr>
        <p:spPr bwMode="auto">
          <a:xfrm>
            <a:off x="9313338" y="7229404"/>
            <a:ext cx="1221458"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Montreal</a:t>
            </a:r>
          </a:p>
        </p:txBody>
      </p:sp>
      <p:sp>
        <p:nvSpPr>
          <p:cNvPr id="19515" name="Rectangle 59"/>
          <p:cNvSpPr>
            <a:spLocks noChangeArrowheads="1"/>
          </p:cNvSpPr>
          <p:nvPr/>
        </p:nvSpPr>
        <p:spPr bwMode="auto">
          <a:xfrm>
            <a:off x="6416608" y="7789333"/>
            <a:ext cx="46510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P3 </a:t>
            </a:r>
          </a:p>
        </p:txBody>
      </p:sp>
      <p:sp>
        <p:nvSpPr>
          <p:cNvPr id="19516" name="Rectangle 60"/>
          <p:cNvSpPr>
            <a:spLocks noChangeArrowheads="1"/>
          </p:cNvSpPr>
          <p:nvPr/>
        </p:nvSpPr>
        <p:spPr bwMode="auto">
          <a:xfrm>
            <a:off x="7001005" y="7789333"/>
            <a:ext cx="1542063"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CAD/CAM</a:t>
            </a:r>
          </a:p>
        </p:txBody>
      </p:sp>
      <p:sp>
        <p:nvSpPr>
          <p:cNvPr id="19517" name="Rectangle 61"/>
          <p:cNvSpPr>
            <a:spLocks noChangeArrowheads="1"/>
          </p:cNvSpPr>
          <p:nvPr/>
        </p:nvSpPr>
        <p:spPr bwMode="auto">
          <a:xfrm>
            <a:off x="9313338" y="7789333"/>
            <a:ext cx="1323058"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New York</a:t>
            </a:r>
          </a:p>
        </p:txBody>
      </p:sp>
      <p:sp>
        <p:nvSpPr>
          <p:cNvPr id="19518" name="Rectangle 62"/>
          <p:cNvSpPr>
            <a:spLocks noChangeArrowheads="1"/>
          </p:cNvSpPr>
          <p:nvPr/>
        </p:nvSpPr>
        <p:spPr bwMode="auto">
          <a:xfrm>
            <a:off x="6416608" y="7500338"/>
            <a:ext cx="46510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P2</a:t>
            </a:r>
          </a:p>
        </p:txBody>
      </p:sp>
      <p:sp>
        <p:nvSpPr>
          <p:cNvPr id="19519" name="Rectangle 63"/>
          <p:cNvSpPr>
            <a:spLocks noChangeArrowheads="1"/>
          </p:cNvSpPr>
          <p:nvPr/>
        </p:nvSpPr>
        <p:spPr bwMode="auto">
          <a:xfrm>
            <a:off x="7001005" y="7500338"/>
            <a:ext cx="2309707"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Database Develop.</a:t>
            </a:r>
          </a:p>
        </p:txBody>
      </p:sp>
      <p:sp>
        <p:nvSpPr>
          <p:cNvPr id="19520" name="Rectangle 64"/>
          <p:cNvSpPr>
            <a:spLocks noChangeArrowheads="1"/>
          </p:cNvSpPr>
          <p:nvPr/>
        </p:nvSpPr>
        <p:spPr bwMode="auto">
          <a:xfrm>
            <a:off x="9313338" y="7500338"/>
            <a:ext cx="1323058"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New York</a:t>
            </a:r>
          </a:p>
        </p:txBody>
      </p:sp>
      <p:sp>
        <p:nvSpPr>
          <p:cNvPr id="19521" name="Rectangle 65"/>
          <p:cNvSpPr>
            <a:spLocks noChangeArrowheads="1"/>
          </p:cNvSpPr>
          <p:nvPr/>
        </p:nvSpPr>
        <p:spPr bwMode="auto">
          <a:xfrm>
            <a:off x="6416608" y="8060267"/>
            <a:ext cx="46510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P4</a:t>
            </a:r>
          </a:p>
        </p:txBody>
      </p:sp>
      <p:sp>
        <p:nvSpPr>
          <p:cNvPr id="19522" name="Rectangle 66"/>
          <p:cNvSpPr>
            <a:spLocks noChangeArrowheads="1"/>
          </p:cNvSpPr>
          <p:nvPr/>
        </p:nvSpPr>
        <p:spPr bwMode="auto">
          <a:xfrm>
            <a:off x="7001005" y="8060267"/>
            <a:ext cx="1648178"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Maintenance</a:t>
            </a:r>
          </a:p>
        </p:txBody>
      </p:sp>
      <p:sp>
        <p:nvSpPr>
          <p:cNvPr id="19523" name="Rectangle 67"/>
          <p:cNvSpPr>
            <a:spLocks noChangeArrowheads="1"/>
          </p:cNvSpPr>
          <p:nvPr/>
        </p:nvSpPr>
        <p:spPr bwMode="auto">
          <a:xfrm>
            <a:off x="9313338" y="8060267"/>
            <a:ext cx="74958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Paris</a:t>
            </a:r>
          </a:p>
        </p:txBody>
      </p:sp>
      <p:sp>
        <p:nvSpPr>
          <p:cNvPr id="19524" name="Rectangle 68"/>
          <p:cNvSpPr>
            <a:spLocks noChangeArrowheads="1"/>
          </p:cNvSpPr>
          <p:nvPr/>
        </p:nvSpPr>
        <p:spPr bwMode="auto">
          <a:xfrm>
            <a:off x="6416608" y="8349262"/>
            <a:ext cx="46510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P5</a:t>
            </a:r>
          </a:p>
        </p:txBody>
      </p:sp>
      <p:sp>
        <p:nvSpPr>
          <p:cNvPr id="19525" name="Rectangle 69"/>
          <p:cNvSpPr>
            <a:spLocks noChangeArrowheads="1"/>
          </p:cNvSpPr>
          <p:nvPr/>
        </p:nvSpPr>
        <p:spPr bwMode="auto">
          <a:xfrm>
            <a:off x="7001005" y="8349262"/>
            <a:ext cx="1542063"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CAD/CAM</a:t>
            </a:r>
          </a:p>
        </p:txBody>
      </p:sp>
      <p:sp>
        <p:nvSpPr>
          <p:cNvPr id="19526" name="Rectangle 70"/>
          <p:cNvSpPr>
            <a:spLocks noChangeArrowheads="1"/>
          </p:cNvSpPr>
          <p:nvPr/>
        </p:nvSpPr>
        <p:spPr bwMode="auto">
          <a:xfrm>
            <a:off x="9313338" y="8349262"/>
            <a:ext cx="964071"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Boston</a:t>
            </a:r>
          </a:p>
        </p:txBody>
      </p:sp>
      <p:sp>
        <p:nvSpPr>
          <p:cNvPr id="19527" name="Line 71"/>
          <p:cNvSpPr>
            <a:spLocks noChangeShapeType="1"/>
          </p:cNvSpPr>
          <p:nvPr/>
        </p:nvSpPr>
        <p:spPr bwMode="auto">
          <a:xfrm>
            <a:off x="6269853" y="7161671"/>
            <a:ext cx="44139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000" dirty="0">
              <a:latin typeface="Book Antiqua"/>
            </a:endParaRPr>
          </a:p>
        </p:txBody>
      </p:sp>
      <p:sp>
        <p:nvSpPr>
          <p:cNvPr id="19528" name="Line 72"/>
          <p:cNvSpPr>
            <a:spLocks noChangeShapeType="1"/>
          </p:cNvSpPr>
          <p:nvPr/>
        </p:nvSpPr>
        <p:spPr bwMode="auto">
          <a:xfrm>
            <a:off x="6958475" y="6642382"/>
            <a:ext cx="0" cy="212456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000" dirty="0">
              <a:latin typeface="Book Antiqua"/>
            </a:endParaRPr>
          </a:p>
        </p:txBody>
      </p:sp>
      <p:sp>
        <p:nvSpPr>
          <p:cNvPr id="19529" name="Line 73"/>
          <p:cNvSpPr>
            <a:spLocks noChangeShapeType="1"/>
          </p:cNvSpPr>
          <p:nvPr/>
        </p:nvSpPr>
        <p:spPr bwMode="auto">
          <a:xfrm>
            <a:off x="9245604" y="6642382"/>
            <a:ext cx="0" cy="212456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000" dirty="0">
              <a:latin typeface="Book Antiqua"/>
            </a:endParaRPr>
          </a:p>
        </p:txBody>
      </p:sp>
      <p:sp>
        <p:nvSpPr>
          <p:cNvPr id="19531" name="Rectangle 75"/>
          <p:cNvSpPr>
            <a:spLocks noChangeArrowheads="1"/>
          </p:cNvSpPr>
          <p:nvPr/>
        </p:nvSpPr>
        <p:spPr bwMode="auto">
          <a:xfrm>
            <a:off x="1877904" y="6084713"/>
            <a:ext cx="1098416" cy="497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400" dirty="0">
                <a:solidFill>
                  <a:srgbClr val="000000"/>
                </a:solidFill>
                <a:latin typeface="Book Antiqua"/>
              </a:rPr>
              <a:t>PROJ</a:t>
            </a:r>
            <a:r>
              <a:rPr lang="en-US" sz="2400" baseline="-25000" dirty="0">
                <a:solidFill>
                  <a:srgbClr val="000000"/>
                </a:solidFill>
                <a:latin typeface="Book Antiqua"/>
              </a:rPr>
              <a:t>1</a:t>
            </a:r>
          </a:p>
        </p:txBody>
      </p:sp>
      <p:sp>
        <p:nvSpPr>
          <p:cNvPr id="19532" name="Rectangle 76"/>
          <p:cNvSpPr>
            <a:spLocks noChangeArrowheads="1"/>
          </p:cNvSpPr>
          <p:nvPr/>
        </p:nvSpPr>
        <p:spPr bwMode="auto">
          <a:xfrm>
            <a:off x="6276055" y="6084713"/>
            <a:ext cx="1098416" cy="497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400" dirty="0">
                <a:solidFill>
                  <a:srgbClr val="000000"/>
                </a:solidFill>
                <a:latin typeface="Book Antiqua"/>
              </a:rPr>
              <a:t>PROJ</a:t>
            </a:r>
            <a:r>
              <a:rPr lang="en-US" sz="2400" baseline="-25000" dirty="0">
                <a:solidFill>
                  <a:srgbClr val="000000"/>
                </a:solidFill>
                <a:latin typeface="Book Antiqua"/>
              </a:rPr>
              <a:t>2</a:t>
            </a:r>
          </a:p>
        </p:txBody>
      </p:sp>
      <p:sp>
        <p:nvSpPr>
          <p:cNvPr id="19563" name="Rectangle 107"/>
          <p:cNvSpPr>
            <a:spLocks noChangeArrowheads="1"/>
          </p:cNvSpPr>
          <p:nvPr/>
        </p:nvSpPr>
        <p:spPr bwMode="auto">
          <a:xfrm>
            <a:off x="11455971" y="4034649"/>
            <a:ext cx="1323058"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New York</a:t>
            </a:r>
          </a:p>
        </p:txBody>
      </p:sp>
      <p:sp>
        <p:nvSpPr>
          <p:cNvPr id="19564" name="Rectangle 108"/>
          <p:cNvSpPr>
            <a:spLocks noChangeArrowheads="1"/>
          </p:cNvSpPr>
          <p:nvPr/>
        </p:nvSpPr>
        <p:spPr bwMode="auto">
          <a:xfrm>
            <a:off x="11455971" y="3745654"/>
            <a:ext cx="1323058"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New York</a:t>
            </a:r>
          </a:p>
        </p:txBody>
      </p:sp>
      <p:sp>
        <p:nvSpPr>
          <p:cNvPr id="19565" name="Rectangle 109"/>
          <p:cNvSpPr>
            <a:spLocks noChangeArrowheads="1"/>
          </p:cNvSpPr>
          <p:nvPr/>
        </p:nvSpPr>
        <p:spPr bwMode="auto">
          <a:xfrm>
            <a:off x="7378423" y="2862862"/>
            <a:ext cx="5346420" cy="2122312"/>
          </a:xfrm>
          <a:prstGeom prst="rect">
            <a:avLst/>
          </a:prstGeom>
          <a:noFill/>
          <a:ln w="12700">
            <a:solidFill>
              <a:srgbClr val="000000"/>
            </a:solidFill>
            <a:miter lim="800000"/>
            <a:headEnd/>
            <a:tailEnd/>
          </a:ln>
          <a:effectLst/>
        </p:spPr>
        <p:txBody>
          <a:bodyPr wrap="none" anchor="ctr"/>
          <a:lstStyle/>
          <a:p>
            <a:endParaRPr lang="en-US" sz="2000" dirty="0">
              <a:latin typeface="Book Antiqua"/>
            </a:endParaRPr>
          </a:p>
        </p:txBody>
      </p:sp>
      <p:sp>
        <p:nvSpPr>
          <p:cNvPr id="19566" name="Rectangle 110"/>
          <p:cNvSpPr>
            <a:spLocks noChangeArrowheads="1"/>
          </p:cNvSpPr>
          <p:nvPr/>
        </p:nvSpPr>
        <p:spPr bwMode="auto">
          <a:xfrm>
            <a:off x="7378423" y="2384213"/>
            <a:ext cx="918916" cy="458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400" dirty="0">
                <a:solidFill>
                  <a:srgbClr val="000000"/>
                </a:solidFill>
                <a:latin typeface="Book Antiqua"/>
              </a:rPr>
              <a:t>PROJ</a:t>
            </a:r>
          </a:p>
        </p:txBody>
      </p:sp>
      <p:sp>
        <p:nvSpPr>
          <p:cNvPr id="19567" name="Rectangle 111"/>
          <p:cNvSpPr>
            <a:spLocks noChangeArrowheads="1"/>
          </p:cNvSpPr>
          <p:nvPr/>
        </p:nvSpPr>
        <p:spPr bwMode="auto">
          <a:xfrm>
            <a:off x="7373907" y="2937369"/>
            <a:ext cx="760871"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PNO</a:t>
            </a:r>
          </a:p>
        </p:txBody>
      </p:sp>
      <p:sp>
        <p:nvSpPr>
          <p:cNvPr id="19568" name="Rectangle 112"/>
          <p:cNvSpPr>
            <a:spLocks noChangeArrowheads="1"/>
          </p:cNvSpPr>
          <p:nvPr/>
        </p:nvSpPr>
        <p:spPr bwMode="auto">
          <a:xfrm>
            <a:off x="8586334" y="2937369"/>
            <a:ext cx="1149209"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PNAME</a:t>
            </a:r>
          </a:p>
        </p:txBody>
      </p:sp>
      <p:sp>
        <p:nvSpPr>
          <p:cNvPr id="19569" name="Rectangle 113"/>
          <p:cNvSpPr>
            <a:spLocks noChangeArrowheads="1"/>
          </p:cNvSpPr>
          <p:nvPr/>
        </p:nvSpPr>
        <p:spPr bwMode="auto">
          <a:xfrm>
            <a:off x="10295473" y="2937369"/>
            <a:ext cx="1246294"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BUDGET</a:t>
            </a:r>
          </a:p>
        </p:txBody>
      </p:sp>
      <p:sp>
        <p:nvSpPr>
          <p:cNvPr id="19570" name="Rectangle 114"/>
          <p:cNvSpPr>
            <a:spLocks noChangeArrowheads="1"/>
          </p:cNvSpPr>
          <p:nvPr/>
        </p:nvSpPr>
        <p:spPr bwMode="auto">
          <a:xfrm>
            <a:off x="11769802" y="2937369"/>
            <a:ext cx="722489"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LOC</a:t>
            </a:r>
          </a:p>
        </p:txBody>
      </p:sp>
      <p:sp>
        <p:nvSpPr>
          <p:cNvPr id="19571" name="Rectangle 115"/>
          <p:cNvSpPr>
            <a:spLocks noChangeArrowheads="1"/>
          </p:cNvSpPr>
          <p:nvPr/>
        </p:nvSpPr>
        <p:spPr bwMode="auto">
          <a:xfrm>
            <a:off x="7525178" y="3447627"/>
            <a:ext cx="46510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P1</a:t>
            </a:r>
          </a:p>
        </p:txBody>
      </p:sp>
      <p:sp>
        <p:nvSpPr>
          <p:cNvPr id="19572" name="Rectangle 116"/>
          <p:cNvSpPr>
            <a:spLocks noChangeArrowheads="1"/>
          </p:cNvSpPr>
          <p:nvPr/>
        </p:nvSpPr>
        <p:spPr bwMode="auto">
          <a:xfrm>
            <a:off x="8153132" y="3447627"/>
            <a:ext cx="2029743"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Instrumentation</a:t>
            </a:r>
          </a:p>
        </p:txBody>
      </p:sp>
      <p:sp>
        <p:nvSpPr>
          <p:cNvPr id="19573" name="Rectangle 117"/>
          <p:cNvSpPr>
            <a:spLocks noChangeArrowheads="1"/>
          </p:cNvSpPr>
          <p:nvPr/>
        </p:nvSpPr>
        <p:spPr bwMode="auto">
          <a:xfrm>
            <a:off x="10437713" y="3447627"/>
            <a:ext cx="952783"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150000</a:t>
            </a:r>
          </a:p>
        </p:txBody>
      </p:sp>
      <p:sp>
        <p:nvSpPr>
          <p:cNvPr id="19574" name="Rectangle 118"/>
          <p:cNvSpPr>
            <a:spLocks noChangeArrowheads="1"/>
          </p:cNvSpPr>
          <p:nvPr/>
        </p:nvSpPr>
        <p:spPr bwMode="auto">
          <a:xfrm>
            <a:off x="11451455" y="3447627"/>
            <a:ext cx="1221458"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Montreal</a:t>
            </a:r>
          </a:p>
        </p:txBody>
      </p:sp>
      <p:sp>
        <p:nvSpPr>
          <p:cNvPr id="19575" name="Rectangle 119"/>
          <p:cNvSpPr>
            <a:spLocks noChangeArrowheads="1"/>
          </p:cNvSpPr>
          <p:nvPr/>
        </p:nvSpPr>
        <p:spPr bwMode="auto">
          <a:xfrm>
            <a:off x="7527445" y="3980463"/>
            <a:ext cx="46510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P3 </a:t>
            </a:r>
          </a:p>
        </p:txBody>
      </p:sp>
      <p:sp>
        <p:nvSpPr>
          <p:cNvPr id="19576" name="Rectangle 120"/>
          <p:cNvSpPr>
            <a:spLocks noChangeArrowheads="1"/>
          </p:cNvSpPr>
          <p:nvPr/>
        </p:nvSpPr>
        <p:spPr bwMode="auto">
          <a:xfrm>
            <a:off x="8153132" y="3980463"/>
            <a:ext cx="1542063"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CAD/CAM</a:t>
            </a:r>
          </a:p>
        </p:txBody>
      </p:sp>
      <p:sp>
        <p:nvSpPr>
          <p:cNvPr id="19577" name="Rectangle 121"/>
          <p:cNvSpPr>
            <a:spLocks noChangeArrowheads="1"/>
          </p:cNvSpPr>
          <p:nvPr/>
        </p:nvSpPr>
        <p:spPr bwMode="auto">
          <a:xfrm>
            <a:off x="10426424" y="3980463"/>
            <a:ext cx="952783"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r"/>
            <a:r>
              <a:rPr lang="en-US" sz="2000" dirty="0">
                <a:solidFill>
                  <a:srgbClr val="000000"/>
                </a:solidFill>
                <a:latin typeface="Book Antiqua"/>
              </a:rPr>
              <a:t>250000</a:t>
            </a:r>
          </a:p>
        </p:txBody>
      </p:sp>
      <p:sp>
        <p:nvSpPr>
          <p:cNvPr id="19578" name="Rectangle 122"/>
          <p:cNvSpPr>
            <a:spLocks noChangeArrowheads="1"/>
          </p:cNvSpPr>
          <p:nvPr/>
        </p:nvSpPr>
        <p:spPr bwMode="auto">
          <a:xfrm>
            <a:off x="7525178" y="3727591"/>
            <a:ext cx="46510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P2</a:t>
            </a:r>
          </a:p>
        </p:txBody>
      </p:sp>
      <p:sp>
        <p:nvSpPr>
          <p:cNvPr id="19579" name="Rectangle 123"/>
          <p:cNvSpPr>
            <a:spLocks noChangeArrowheads="1"/>
          </p:cNvSpPr>
          <p:nvPr/>
        </p:nvSpPr>
        <p:spPr bwMode="auto">
          <a:xfrm>
            <a:off x="8153132" y="3727591"/>
            <a:ext cx="2309708"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Database Develop.</a:t>
            </a:r>
          </a:p>
        </p:txBody>
      </p:sp>
      <p:sp>
        <p:nvSpPr>
          <p:cNvPr id="19580" name="Rectangle 124"/>
          <p:cNvSpPr>
            <a:spLocks noChangeArrowheads="1"/>
          </p:cNvSpPr>
          <p:nvPr/>
        </p:nvSpPr>
        <p:spPr bwMode="auto">
          <a:xfrm>
            <a:off x="10437713" y="3727591"/>
            <a:ext cx="952783"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135000</a:t>
            </a:r>
          </a:p>
        </p:txBody>
      </p:sp>
      <p:sp>
        <p:nvSpPr>
          <p:cNvPr id="19581" name="Rectangle 125"/>
          <p:cNvSpPr>
            <a:spLocks noChangeArrowheads="1"/>
          </p:cNvSpPr>
          <p:nvPr/>
        </p:nvSpPr>
        <p:spPr bwMode="auto">
          <a:xfrm>
            <a:off x="7525178" y="4278489"/>
            <a:ext cx="46510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P4</a:t>
            </a:r>
          </a:p>
        </p:txBody>
      </p:sp>
      <p:sp>
        <p:nvSpPr>
          <p:cNvPr id="19582" name="Rectangle 126"/>
          <p:cNvSpPr>
            <a:spLocks noChangeArrowheads="1"/>
          </p:cNvSpPr>
          <p:nvPr/>
        </p:nvSpPr>
        <p:spPr bwMode="auto">
          <a:xfrm>
            <a:off x="8153132" y="4278489"/>
            <a:ext cx="1648178"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Maintenance</a:t>
            </a:r>
          </a:p>
        </p:txBody>
      </p:sp>
      <p:sp>
        <p:nvSpPr>
          <p:cNvPr id="19583" name="Rectangle 127"/>
          <p:cNvSpPr>
            <a:spLocks noChangeArrowheads="1"/>
          </p:cNvSpPr>
          <p:nvPr/>
        </p:nvSpPr>
        <p:spPr bwMode="auto">
          <a:xfrm>
            <a:off x="10437713" y="4278489"/>
            <a:ext cx="952783"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310000</a:t>
            </a:r>
          </a:p>
        </p:txBody>
      </p:sp>
      <p:sp>
        <p:nvSpPr>
          <p:cNvPr id="19584" name="Rectangle 128"/>
          <p:cNvSpPr>
            <a:spLocks noChangeArrowheads="1"/>
          </p:cNvSpPr>
          <p:nvPr/>
        </p:nvSpPr>
        <p:spPr bwMode="auto">
          <a:xfrm>
            <a:off x="11480806" y="4278489"/>
            <a:ext cx="74958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Paris</a:t>
            </a:r>
          </a:p>
        </p:txBody>
      </p:sp>
      <p:sp>
        <p:nvSpPr>
          <p:cNvPr id="19585" name="Rectangle 129"/>
          <p:cNvSpPr>
            <a:spLocks noChangeArrowheads="1"/>
          </p:cNvSpPr>
          <p:nvPr/>
        </p:nvSpPr>
        <p:spPr bwMode="auto">
          <a:xfrm>
            <a:off x="7525178" y="4567485"/>
            <a:ext cx="465102"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P5</a:t>
            </a:r>
          </a:p>
        </p:txBody>
      </p:sp>
      <p:sp>
        <p:nvSpPr>
          <p:cNvPr id="19586" name="Rectangle 130"/>
          <p:cNvSpPr>
            <a:spLocks noChangeArrowheads="1"/>
          </p:cNvSpPr>
          <p:nvPr/>
        </p:nvSpPr>
        <p:spPr bwMode="auto">
          <a:xfrm>
            <a:off x="8153132" y="4567485"/>
            <a:ext cx="1542063"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CAD/CAM</a:t>
            </a:r>
          </a:p>
        </p:txBody>
      </p:sp>
      <p:sp>
        <p:nvSpPr>
          <p:cNvPr id="19587" name="Rectangle 131"/>
          <p:cNvSpPr>
            <a:spLocks noChangeArrowheads="1"/>
          </p:cNvSpPr>
          <p:nvPr/>
        </p:nvSpPr>
        <p:spPr bwMode="auto">
          <a:xfrm>
            <a:off x="10437713" y="4567485"/>
            <a:ext cx="952783"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000" dirty="0">
                <a:solidFill>
                  <a:srgbClr val="000000"/>
                </a:solidFill>
                <a:latin typeface="Book Antiqua"/>
              </a:rPr>
              <a:t>500000</a:t>
            </a:r>
          </a:p>
        </p:txBody>
      </p:sp>
      <p:sp>
        <p:nvSpPr>
          <p:cNvPr id="19588" name="Rectangle 132"/>
          <p:cNvSpPr>
            <a:spLocks noChangeArrowheads="1"/>
          </p:cNvSpPr>
          <p:nvPr/>
        </p:nvSpPr>
        <p:spPr bwMode="auto">
          <a:xfrm>
            <a:off x="11480806" y="4567485"/>
            <a:ext cx="964071" cy="39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Boston</a:t>
            </a:r>
          </a:p>
        </p:txBody>
      </p:sp>
      <p:sp>
        <p:nvSpPr>
          <p:cNvPr id="19589" name="Line 133"/>
          <p:cNvSpPr>
            <a:spLocks noChangeShapeType="1"/>
          </p:cNvSpPr>
          <p:nvPr/>
        </p:nvSpPr>
        <p:spPr bwMode="auto">
          <a:xfrm>
            <a:off x="7378423" y="3379893"/>
            <a:ext cx="5353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000" dirty="0">
              <a:latin typeface="Book Antiqua"/>
            </a:endParaRPr>
          </a:p>
        </p:txBody>
      </p:sp>
      <p:sp>
        <p:nvSpPr>
          <p:cNvPr id="19590" name="Line 134"/>
          <p:cNvSpPr>
            <a:spLocks noChangeShapeType="1"/>
          </p:cNvSpPr>
          <p:nvPr/>
        </p:nvSpPr>
        <p:spPr bwMode="auto">
          <a:xfrm>
            <a:off x="8067045" y="2860604"/>
            <a:ext cx="0" cy="212457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000" dirty="0">
              <a:latin typeface="Book Antiqua"/>
            </a:endParaRPr>
          </a:p>
        </p:txBody>
      </p:sp>
      <p:sp>
        <p:nvSpPr>
          <p:cNvPr id="19591" name="Line 135"/>
          <p:cNvSpPr>
            <a:spLocks noChangeShapeType="1"/>
          </p:cNvSpPr>
          <p:nvPr/>
        </p:nvSpPr>
        <p:spPr bwMode="auto">
          <a:xfrm>
            <a:off x="10354175" y="2860604"/>
            <a:ext cx="0" cy="212457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000" dirty="0">
              <a:latin typeface="Book Antiqua"/>
            </a:endParaRPr>
          </a:p>
        </p:txBody>
      </p:sp>
      <p:sp>
        <p:nvSpPr>
          <p:cNvPr id="19592" name="Line 136"/>
          <p:cNvSpPr>
            <a:spLocks noChangeShapeType="1"/>
          </p:cNvSpPr>
          <p:nvPr/>
        </p:nvSpPr>
        <p:spPr bwMode="auto">
          <a:xfrm>
            <a:off x="11442424" y="2860604"/>
            <a:ext cx="0" cy="212457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000" dirty="0">
              <a:latin typeface="Book Antiqua"/>
            </a:endParaRPr>
          </a:p>
        </p:txBody>
      </p:sp>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12197615" y="6193610"/>
              <a:ext cx="360" cy="360"/>
            </p14:xfrm>
          </p:contentPart>
        </mc:Choice>
        <mc:Fallback xmlns="">
          <p:pic>
            <p:nvPicPr>
              <p:cNvPr id="5" name="Ink 4"/>
              <p:cNvPicPr/>
              <p:nvPr/>
            </p:nvPicPr>
            <p:blipFill>
              <a:blip r:embed="rId10"/>
              <a:stretch>
                <a:fillRect/>
              </a:stretch>
            </p:blipFill>
            <p:spPr>
              <a:xfrm>
                <a:off x="12185735" y="6181730"/>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 name="Ink 5"/>
              <p14:cNvContentPartPr/>
              <p14:nvPr/>
            </p14:nvContentPartPr>
            <p14:xfrm>
              <a:off x="9592655" y="4261490"/>
              <a:ext cx="52200" cy="360"/>
            </p14:xfrm>
          </p:contentPart>
        </mc:Choice>
        <mc:Fallback xmlns="">
          <p:pic>
            <p:nvPicPr>
              <p:cNvPr id="6" name="Ink 5"/>
              <p:cNvPicPr/>
              <p:nvPr/>
            </p:nvPicPr>
            <p:blipFill>
              <a:blip r:embed="rId12"/>
              <a:stretch>
                <a:fillRect/>
              </a:stretch>
            </p:blipFill>
            <p:spPr>
              <a:xfrm>
                <a:off x="9580775" y="4249610"/>
                <a:ext cx="75960" cy="24120"/>
              </a:xfrm>
              <a:prstGeom prst="rect">
                <a:avLst/>
              </a:prstGeom>
            </p:spPr>
          </p:pic>
        </mc:Fallback>
      </mc:AlternateContent>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E37D4F0C-152B-054F-ABE3-C9D65816304B}" type="slidenum">
              <a:rPr lang="en-US" smtClean="0"/>
              <a:pPr/>
              <a:t>20</a:t>
            </a:fld>
            <a:endParaRPr lang="en-US" dirty="0"/>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760" y="725509"/>
            <a:ext cx="11377263" cy="81988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5146843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a:ln/>
        </p:spPr>
        <p:txBody>
          <a:bodyPr/>
          <a:lstStyle/>
          <a:p>
            <a:r>
              <a:rPr lang="en-US" sz="3200" b="1" dirty="0"/>
              <a:t>Degree of Fragmentation</a:t>
            </a:r>
          </a:p>
        </p:txBody>
      </p:sp>
      <p:sp>
        <p:nvSpPr>
          <p:cNvPr id="21507" name="Rectangle 3"/>
          <p:cNvSpPr>
            <a:spLocks noChangeArrowheads="1"/>
          </p:cNvSpPr>
          <p:nvPr/>
        </p:nvSpPr>
        <p:spPr bwMode="auto">
          <a:xfrm>
            <a:off x="2469952" y="7024827"/>
            <a:ext cx="8459894" cy="123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310" tIns="36124" rIns="90310" bIns="36124">
            <a:spAutoFit/>
          </a:bodyPr>
          <a:lstStyle/>
          <a:p>
            <a:pPr algn="l">
              <a:lnSpc>
                <a:spcPct val="85000"/>
              </a:lnSpc>
            </a:pPr>
            <a:r>
              <a:rPr lang="en-US" sz="2800" dirty="0">
                <a:solidFill>
                  <a:schemeClr val="tx2"/>
                </a:solidFill>
                <a:latin typeface="Book Antiqua"/>
              </a:rPr>
              <a:t>Finding the suitable level of partitioning within this range</a:t>
            </a:r>
          </a:p>
          <a:p>
            <a:pPr algn="l"/>
            <a:endParaRPr lang="en-US" sz="2800" dirty="0">
              <a:solidFill>
                <a:schemeClr val="tx2"/>
              </a:solidFill>
              <a:latin typeface="Book Antiqua"/>
            </a:endParaRPr>
          </a:p>
        </p:txBody>
      </p:sp>
      <p:sp>
        <p:nvSpPr>
          <p:cNvPr id="21508" name="Line 4"/>
          <p:cNvSpPr>
            <a:spLocks noChangeShapeType="1"/>
          </p:cNvSpPr>
          <p:nvPr/>
        </p:nvSpPr>
        <p:spPr bwMode="auto">
          <a:xfrm>
            <a:off x="3567289" y="4493107"/>
            <a:ext cx="5834098" cy="0"/>
          </a:xfrm>
          <a:prstGeom prst="line">
            <a:avLst/>
          </a:prstGeom>
          <a:noFill/>
          <a:ln w="19050" cmpd="sng">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21509" name="Line 5"/>
          <p:cNvSpPr>
            <a:spLocks noChangeShapeType="1"/>
          </p:cNvSpPr>
          <p:nvPr/>
        </p:nvSpPr>
        <p:spPr bwMode="auto">
          <a:xfrm>
            <a:off x="3567289" y="4330547"/>
            <a:ext cx="0" cy="30705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21510" name="Line 6"/>
          <p:cNvSpPr>
            <a:spLocks noChangeShapeType="1"/>
          </p:cNvSpPr>
          <p:nvPr/>
        </p:nvSpPr>
        <p:spPr bwMode="auto">
          <a:xfrm>
            <a:off x="9419449" y="4330547"/>
            <a:ext cx="0" cy="30705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21511" name="Rectangle 7"/>
          <p:cNvSpPr>
            <a:spLocks noChangeArrowheads="1"/>
          </p:cNvSpPr>
          <p:nvPr/>
        </p:nvSpPr>
        <p:spPr bwMode="auto">
          <a:xfrm>
            <a:off x="2797774" y="4818227"/>
            <a:ext cx="1699332" cy="1382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800" dirty="0" smtClean="0">
                <a:solidFill>
                  <a:srgbClr val="000000"/>
                </a:solidFill>
                <a:latin typeface="Book Antiqua"/>
              </a:rPr>
              <a:t>tuples</a:t>
            </a:r>
          </a:p>
          <a:p>
            <a:r>
              <a:rPr lang="en-US" sz="2800" dirty="0" smtClean="0">
                <a:solidFill>
                  <a:srgbClr val="000000"/>
                </a:solidFill>
                <a:latin typeface="Book Antiqua"/>
              </a:rPr>
              <a:t>or</a:t>
            </a:r>
          </a:p>
          <a:p>
            <a:r>
              <a:rPr lang="en-US" sz="2800" dirty="0" smtClean="0">
                <a:solidFill>
                  <a:srgbClr val="000000"/>
                </a:solidFill>
                <a:latin typeface="Book Antiqua"/>
              </a:rPr>
              <a:t>attributes</a:t>
            </a:r>
            <a:endParaRPr lang="en-US" sz="2800" dirty="0">
              <a:solidFill>
                <a:srgbClr val="000000"/>
              </a:solidFill>
              <a:latin typeface="Book Antiqua"/>
            </a:endParaRPr>
          </a:p>
        </p:txBody>
      </p:sp>
      <p:sp>
        <p:nvSpPr>
          <p:cNvPr id="21515" name="Rectangle 11"/>
          <p:cNvSpPr>
            <a:spLocks noChangeArrowheads="1"/>
          </p:cNvSpPr>
          <p:nvPr/>
        </p:nvSpPr>
        <p:spPr bwMode="auto">
          <a:xfrm>
            <a:off x="8845988" y="4818227"/>
            <a:ext cx="1630087" cy="55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800" dirty="0">
                <a:solidFill>
                  <a:srgbClr val="000000"/>
                </a:solidFill>
                <a:latin typeface="Book Antiqua"/>
              </a:rPr>
              <a:t>relations</a:t>
            </a:r>
          </a:p>
        </p:txBody>
      </p:sp>
      <p:sp>
        <p:nvSpPr>
          <p:cNvPr id="21524" name="Rectangle 20"/>
          <p:cNvSpPr>
            <a:spLocks noChangeArrowheads="1"/>
          </p:cNvSpPr>
          <p:nvPr/>
        </p:nvSpPr>
        <p:spPr bwMode="auto">
          <a:xfrm>
            <a:off x="4319669" y="2948787"/>
            <a:ext cx="4778636" cy="55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800" dirty="0">
                <a:solidFill>
                  <a:srgbClr val="000000"/>
                </a:solidFill>
                <a:latin typeface="Book Antiqua"/>
              </a:rPr>
              <a:t>finite number of alternatives</a:t>
            </a:r>
          </a:p>
        </p:txBody>
      </p:sp>
      <p:sp>
        <p:nvSpPr>
          <p:cNvPr id="2" name="Right Brace 1"/>
          <p:cNvSpPr/>
          <p:nvPr/>
        </p:nvSpPr>
        <p:spPr bwMode="auto">
          <a:xfrm rot="16200000">
            <a:off x="6070352" y="904147"/>
            <a:ext cx="792088" cy="5832648"/>
          </a:xfrm>
          <a:prstGeom prst="rightBrace">
            <a:avLst/>
          </a:prstGeom>
          <a:noFill/>
          <a:ln w="19050" cmpd="sng">
            <a:solidFill>
              <a:schemeClr val="tx2"/>
            </a:solid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000" b="0" i="0" u="none" strike="noStrike" cap="none" normalizeH="0" baseline="0" dirty="0">
              <a:ln>
                <a:noFill/>
              </a:ln>
              <a:solidFill>
                <a:srgbClr val="263750"/>
              </a:solidFill>
              <a:effectLst/>
              <a:latin typeface="Book Antiqua"/>
              <a:ea typeface="ヒラギノ明朝 ProN W3" charset="0"/>
              <a:cs typeface="ヒラギノ明朝 ProN W3" charset="0"/>
              <a:sym typeface="Palatino" charset="0"/>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0"/>
          </p:nvPr>
        </p:nvSpPr>
        <p:spPr/>
        <p:txBody>
          <a:bodyPr/>
          <a:lstStyle/>
          <a:p>
            <a:fld id="{8801E1DC-9A09-2845-A773-BB78DAEA5475}" type="slidenum">
              <a:rPr lang="en-US" smtClean="0"/>
              <a:pPr/>
              <a:t>22</a:t>
            </a:fld>
            <a:endParaRPr lang="en-US" dirty="0"/>
          </a:p>
        </p:txBody>
      </p:sp>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720" y="1564432"/>
            <a:ext cx="12165686" cy="6826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26641" name="Ink 26640"/>
              <p14:cNvContentPartPr/>
              <p14:nvPr/>
            </p14:nvContentPartPr>
            <p14:xfrm>
              <a:off x="2121935" y="3571506"/>
              <a:ext cx="229320" cy="103680"/>
            </p14:xfrm>
          </p:contentPart>
        </mc:Choice>
        <mc:Fallback xmlns="">
          <p:pic>
            <p:nvPicPr>
              <p:cNvPr id="26641" name="Ink 26640"/>
              <p:cNvPicPr/>
              <p:nvPr/>
            </p:nvPicPr>
            <p:blipFill>
              <a:blip r:embed="rId12"/>
              <a:stretch>
                <a:fillRect/>
              </a:stretch>
            </p:blipFill>
            <p:spPr>
              <a:xfrm>
                <a:off x="2110055" y="3559626"/>
                <a:ext cx="253080" cy="127440"/>
              </a:xfrm>
              <a:prstGeom prst="rect">
                <a:avLst/>
              </a:prstGeom>
            </p:spPr>
          </p:pic>
        </mc:Fallback>
      </mc:AlternateContent>
    </p:spTree>
    <p:extLst>
      <p:ext uri="{BB962C8B-B14F-4D97-AF65-F5344CB8AC3E}">
        <p14:creationId xmlns:p14="http://schemas.microsoft.com/office/powerpoint/2010/main" val="153137977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type="title"/>
          </p:nvPr>
        </p:nvSpPr>
        <p:spPr>
          <a:noFill/>
          <a:ln/>
        </p:spPr>
        <p:txBody>
          <a:bodyPr/>
          <a:lstStyle/>
          <a:p>
            <a:r>
              <a:rPr lang="en-US" sz="3200" b="1" dirty="0"/>
              <a:t>Correctness of Fragmentation</a:t>
            </a:r>
          </a:p>
        </p:txBody>
      </p:sp>
      <p:sp>
        <p:nvSpPr>
          <p:cNvPr id="23554" name="Rectangle 2"/>
          <p:cNvSpPr>
            <a:spLocks noGrp="1" noChangeArrowheads="1"/>
          </p:cNvSpPr>
          <p:nvPr>
            <p:ph idx="1"/>
          </p:nvPr>
        </p:nvSpPr>
        <p:spPr>
          <a:noFill/>
          <a:ln/>
        </p:spPr>
        <p:txBody>
          <a:bodyPr/>
          <a:lstStyle/>
          <a:p>
            <a:pPr>
              <a:lnSpc>
                <a:spcPct val="100000"/>
              </a:lnSpc>
            </a:pPr>
            <a:r>
              <a:rPr lang="en-US" sz="2400" b="1" dirty="0"/>
              <a:t>Completeness</a:t>
            </a:r>
          </a:p>
          <a:p>
            <a:pPr lvl="1">
              <a:lnSpc>
                <a:spcPct val="100000"/>
              </a:lnSpc>
            </a:pPr>
            <a:r>
              <a:rPr lang="en-US" sz="2400" dirty="0"/>
              <a:t>Decomposition of relation </a:t>
            </a:r>
            <a:r>
              <a:rPr lang="en-US" sz="2400" i="1" dirty="0"/>
              <a:t>R</a:t>
            </a:r>
            <a:r>
              <a:rPr lang="en-US" sz="2400" dirty="0"/>
              <a:t> into fragments </a:t>
            </a:r>
            <a:r>
              <a:rPr lang="en-US" sz="2400" i="1" dirty="0"/>
              <a:t>R</a:t>
            </a:r>
            <a:r>
              <a:rPr lang="en-US" sz="2400" baseline="-25000" dirty="0"/>
              <a:t>1</a:t>
            </a:r>
            <a:r>
              <a:rPr lang="en-US" sz="2400" dirty="0"/>
              <a:t>, </a:t>
            </a:r>
            <a:r>
              <a:rPr lang="en-US" sz="2400" i="1" dirty="0"/>
              <a:t>R</a:t>
            </a:r>
            <a:r>
              <a:rPr lang="en-US" sz="2400" baseline="-25000" dirty="0"/>
              <a:t>2</a:t>
            </a:r>
            <a:r>
              <a:rPr lang="en-US" sz="2400" dirty="0"/>
              <a:t>, ..., </a:t>
            </a:r>
            <a:r>
              <a:rPr lang="en-US" sz="2400" i="1" dirty="0"/>
              <a:t>R</a:t>
            </a:r>
            <a:r>
              <a:rPr lang="en-US" sz="2400" i="1" baseline="-25000" dirty="0"/>
              <a:t>n</a:t>
            </a:r>
            <a:r>
              <a:rPr lang="en-US" sz="2400" dirty="0"/>
              <a:t> is complete if and only if each data item in </a:t>
            </a:r>
            <a:r>
              <a:rPr lang="en-US" sz="2400" i="1" dirty="0"/>
              <a:t>R</a:t>
            </a:r>
            <a:r>
              <a:rPr lang="en-US" sz="2400" dirty="0"/>
              <a:t> can also be found in some </a:t>
            </a:r>
            <a:r>
              <a:rPr lang="en-US" sz="2400" i="1" dirty="0"/>
              <a:t>R</a:t>
            </a:r>
            <a:r>
              <a:rPr lang="en-US" sz="2400" i="1" baseline="-25000" dirty="0"/>
              <a:t>i</a:t>
            </a:r>
            <a:endParaRPr lang="en-US" sz="2400" i="1" dirty="0"/>
          </a:p>
          <a:p>
            <a:pPr>
              <a:lnSpc>
                <a:spcPct val="100000"/>
              </a:lnSpc>
            </a:pPr>
            <a:r>
              <a:rPr lang="en-US" sz="2400" b="1" dirty="0"/>
              <a:t>Reconstruction</a:t>
            </a:r>
          </a:p>
          <a:p>
            <a:pPr lvl="1"/>
            <a:r>
              <a:rPr lang="en-US" sz="2400" dirty="0"/>
              <a:t>If relation </a:t>
            </a:r>
            <a:r>
              <a:rPr lang="en-US" sz="2400" i="1" dirty="0"/>
              <a:t>R</a:t>
            </a:r>
            <a:r>
              <a:rPr lang="en-US" sz="2400" dirty="0"/>
              <a:t>  is </a:t>
            </a:r>
            <a:r>
              <a:rPr lang="en-US" sz="2400" dirty="0" smtClean="0"/>
              <a:t>Decomposed into </a:t>
            </a:r>
            <a:r>
              <a:rPr lang="en-US" sz="2400" dirty="0"/>
              <a:t>fragments </a:t>
            </a:r>
            <a:r>
              <a:rPr lang="en-US" sz="2400" i="1" dirty="0"/>
              <a:t>R</a:t>
            </a:r>
            <a:r>
              <a:rPr lang="en-US" sz="2400" baseline="-25000" dirty="0"/>
              <a:t>1</a:t>
            </a:r>
            <a:r>
              <a:rPr lang="en-US" sz="2400" dirty="0"/>
              <a:t>, </a:t>
            </a:r>
            <a:r>
              <a:rPr lang="en-US" sz="2400" i="1" dirty="0"/>
              <a:t>R</a:t>
            </a:r>
            <a:r>
              <a:rPr lang="en-US" sz="2400" baseline="-25000" dirty="0"/>
              <a:t>2</a:t>
            </a:r>
            <a:r>
              <a:rPr lang="en-US" sz="2400" dirty="0"/>
              <a:t>, ..., </a:t>
            </a:r>
            <a:r>
              <a:rPr lang="en-US" sz="2400" i="1" dirty="0"/>
              <a:t>R</a:t>
            </a:r>
            <a:r>
              <a:rPr lang="en-US" sz="2400" i="1" baseline="-25000" dirty="0"/>
              <a:t>n</a:t>
            </a:r>
            <a:r>
              <a:rPr lang="en-US" sz="2400" dirty="0"/>
              <a:t>, then there should exist some relational operator </a:t>
            </a:r>
            <a:r>
              <a:rPr lang="en-US" sz="2400" dirty="0" smtClean="0"/>
              <a:t>∇</a:t>
            </a:r>
            <a:r>
              <a:rPr lang="en-US" sz="2400" dirty="0" smtClean="0">
                <a:latin typeface="Symbol" charset="0"/>
              </a:rPr>
              <a:t> </a:t>
            </a:r>
            <a:r>
              <a:rPr lang="en-US" sz="2400" dirty="0" smtClean="0"/>
              <a:t>such </a:t>
            </a:r>
            <a:r>
              <a:rPr lang="en-US" sz="2400" dirty="0"/>
              <a:t>that</a:t>
            </a:r>
          </a:p>
          <a:p>
            <a:pPr lvl="4"/>
            <a:r>
              <a:rPr lang="en-US" sz="2400" i="1" dirty="0"/>
              <a:t>R = </a:t>
            </a:r>
            <a:r>
              <a:rPr lang="en-US" sz="2400" dirty="0"/>
              <a:t>∇</a:t>
            </a:r>
            <a:r>
              <a:rPr lang="en-US" sz="2400" baseline="-25000" dirty="0" smtClean="0"/>
              <a:t>1</a:t>
            </a:r>
            <a:r>
              <a:rPr lang="en-US" sz="2400" baseline="-25000" dirty="0"/>
              <a:t>≤</a:t>
            </a:r>
            <a:r>
              <a:rPr lang="en-US" sz="2400" i="1" baseline="-25000" dirty="0"/>
              <a:t>i</a:t>
            </a:r>
            <a:r>
              <a:rPr lang="en-US" sz="2400" baseline="-25000" dirty="0"/>
              <a:t>≤</a:t>
            </a:r>
            <a:r>
              <a:rPr lang="en-US" sz="2400" i="1" baseline="-25000" dirty="0" smtClean="0"/>
              <a:t>n</a:t>
            </a:r>
            <a:r>
              <a:rPr lang="en-US" sz="2400" i="1" dirty="0" smtClean="0"/>
              <a:t>R</a:t>
            </a:r>
            <a:r>
              <a:rPr lang="en-US" sz="2400" i="1" baseline="-25000" dirty="0" smtClean="0"/>
              <a:t>i</a:t>
            </a:r>
          </a:p>
          <a:p>
            <a:pPr lvl="1"/>
            <a:r>
              <a:rPr lang="en-US" sz="2000" dirty="0" err="1" smtClean="0"/>
              <a:t>Reconstructability</a:t>
            </a:r>
            <a:r>
              <a:rPr lang="en-US" sz="2000" dirty="0" smtClean="0"/>
              <a:t> of R from fragments ensures that constraints defined on the data in the form of the dependencies are preserved.</a:t>
            </a:r>
          </a:p>
          <a:p>
            <a:pPr>
              <a:lnSpc>
                <a:spcPct val="100000"/>
              </a:lnSpc>
            </a:pPr>
            <a:r>
              <a:rPr lang="en-US" sz="2400" b="1" dirty="0" smtClean="0"/>
              <a:t>Disjointness </a:t>
            </a:r>
            <a:endParaRPr lang="en-US" sz="2400" b="1" dirty="0"/>
          </a:p>
          <a:p>
            <a:pPr lvl="1">
              <a:lnSpc>
                <a:spcPct val="100000"/>
              </a:lnSpc>
            </a:pPr>
            <a:r>
              <a:rPr lang="en-US" sz="2400" dirty="0"/>
              <a:t>If relation </a:t>
            </a:r>
            <a:r>
              <a:rPr lang="en-US" sz="2400" i="1" dirty="0"/>
              <a:t>R</a:t>
            </a:r>
            <a:r>
              <a:rPr lang="en-US" sz="2400" dirty="0"/>
              <a:t> is decomposed into fragments </a:t>
            </a:r>
            <a:r>
              <a:rPr lang="en-US" sz="2400" i="1" dirty="0"/>
              <a:t>R</a:t>
            </a:r>
            <a:r>
              <a:rPr lang="en-US" sz="2400" baseline="-25000" dirty="0"/>
              <a:t>1</a:t>
            </a:r>
            <a:r>
              <a:rPr lang="en-US" sz="2400" dirty="0"/>
              <a:t>, </a:t>
            </a:r>
            <a:r>
              <a:rPr lang="en-US" sz="2400" i="1" dirty="0"/>
              <a:t>R</a:t>
            </a:r>
            <a:r>
              <a:rPr lang="en-US" sz="2400" baseline="-25000" dirty="0"/>
              <a:t>2</a:t>
            </a:r>
            <a:r>
              <a:rPr lang="en-US" sz="2400" dirty="0"/>
              <a:t>, ..., </a:t>
            </a:r>
            <a:r>
              <a:rPr lang="en-US" sz="2400" i="1" dirty="0"/>
              <a:t>R</a:t>
            </a:r>
            <a:r>
              <a:rPr lang="en-US" sz="2400" i="1" baseline="-25000" dirty="0"/>
              <a:t>n</a:t>
            </a:r>
            <a:r>
              <a:rPr lang="en-US" sz="2400" dirty="0"/>
              <a:t>, and data item </a:t>
            </a:r>
            <a:r>
              <a:rPr lang="en-US" sz="2400" i="1" dirty="0"/>
              <a:t>d</a:t>
            </a:r>
            <a:r>
              <a:rPr lang="en-US" sz="2400" i="1" baseline="-25000" dirty="0"/>
              <a:t>i</a:t>
            </a:r>
            <a:r>
              <a:rPr lang="en-US" sz="2400" dirty="0"/>
              <a:t> is in </a:t>
            </a:r>
            <a:r>
              <a:rPr lang="en-US" sz="2400" i="1" dirty="0" err="1"/>
              <a:t>R</a:t>
            </a:r>
            <a:r>
              <a:rPr lang="en-US" sz="2400" i="1" baseline="-25000" dirty="0" err="1"/>
              <a:t>j</a:t>
            </a:r>
            <a:r>
              <a:rPr lang="en-US" sz="2400" i="1" dirty="0"/>
              <a:t>, </a:t>
            </a:r>
            <a:r>
              <a:rPr lang="en-US" sz="2400" dirty="0"/>
              <a:t>then </a:t>
            </a:r>
            <a:r>
              <a:rPr lang="en-US" sz="2400" i="1" dirty="0"/>
              <a:t>d</a:t>
            </a:r>
            <a:r>
              <a:rPr lang="en-US" sz="2400" i="1" baseline="-25000" dirty="0"/>
              <a:t>i</a:t>
            </a:r>
            <a:r>
              <a:rPr lang="en-US" sz="2400" dirty="0"/>
              <a:t> should not be in any other fragment </a:t>
            </a:r>
            <a:r>
              <a:rPr lang="en-US" sz="2400" i="1" dirty="0" err="1"/>
              <a:t>R</a:t>
            </a:r>
            <a:r>
              <a:rPr lang="en-US" sz="2400" i="1" baseline="-25000" dirty="0" err="1"/>
              <a:t>k</a:t>
            </a:r>
            <a:r>
              <a:rPr lang="en-US" sz="2400" dirty="0"/>
              <a:t> (</a:t>
            </a:r>
            <a:r>
              <a:rPr lang="en-US" sz="2400" i="1" dirty="0"/>
              <a:t>k</a:t>
            </a:r>
            <a:r>
              <a:rPr lang="en-US" sz="2400" dirty="0"/>
              <a:t> ≠</a:t>
            </a:r>
            <a:r>
              <a:rPr lang="en-US" sz="2400" i="1" dirty="0"/>
              <a:t> j </a:t>
            </a:r>
            <a:r>
              <a:rPr lang="en-US" sz="2400" dirty="0" smtClean="0"/>
              <a:t>).</a:t>
            </a:r>
          </a:p>
          <a:p>
            <a:pPr lvl="1">
              <a:lnSpc>
                <a:spcPct val="100000"/>
              </a:lnSpc>
            </a:pPr>
            <a:r>
              <a:rPr lang="en-US" sz="2400" dirty="0" smtClean="0"/>
              <a:t>For HP : fragments are disjoint</a:t>
            </a:r>
          </a:p>
          <a:p>
            <a:pPr lvl="1">
              <a:lnSpc>
                <a:spcPct val="100000"/>
              </a:lnSpc>
            </a:pPr>
            <a:r>
              <a:rPr lang="en-US" sz="2400" dirty="0" smtClean="0"/>
              <a:t>For VP: fragments are disjoint on non primary key attributes of the relation as key attributes are repeated in all the fragments.</a:t>
            </a:r>
            <a:endParaRPr lang="en-US" sz="2400" dirty="0"/>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a:ln/>
        </p:spPr>
        <p:txBody>
          <a:bodyPr/>
          <a:lstStyle/>
          <a:p>
            <a:r>
              <a:rPr lang="en-US" sz="3200" b="1" dirty="0"/>
              <a:t>Allocation Alternatives</a:t>
            </a:r>
          </a:p>
        </p:txBody>
      </p:sp>
      <p:sp>
        <p:nvSpPr>
          <p:cNvPr id="25603" name="Rectangle 3"/>
          <p:cNvSpPr>
            <a:spLocks noGrp="1" noChangeArrowheads="1"/>
          </p:cNvSpPr>
          <p:nvPr>
            <p:ph idx="1"/>
          </p:nvPr>
        </p:nvSpPr>
        <p:spPr>
          <a:xfrm>
            <a:off x="381720" y="2356520"/>
            <a:ext cx="12293600" cy="6769100"/>
          </a:xfrm>
          <a:noFill/>
          <a:ln/>
        </p:spPr>
        <p:txBody>
          <a:bodyPr/>
          <a:lstStyle/>
          <a:p>
            <a:pPr>
              <a:lnSpc>
                <a:spcPct val="80000"/>
              </a:lnSpc>
            </a:pPr>
            <a:r>
              <a:rPr lang="en-US" b="1" dirty="0"/>
              <a:t>Non-replicated</a:t>
            </a:r>
          </a:p>
          <a:p>
            <a:pPr lvl="1">
              <a:lnSpc>
                <a:spcPct val="80000"/>
              </a:lnSpc>
            </a:pPr>
            <a:r>
              <a:rPr lang="en-US" dirty="0"/>
              <a:t>partitioned : each fragment resides at only one site</a:t>
            </a:r>
          </a:p>
          <a:p>
            <a:pPr>
              <a:lnSpc>
                <a:spcPct val="80000"/>
              </a:lnSpc>
            </a:pPr>
            <a:r>
              <a:rPr lang="en-US" b="1" dirty="0"/>
              <a:t>Replicated</a:t>
            </a:r>
          </a:p>
          <a:p>
            <a:pPr lvl="1">
              <a:lnSpc>
                <a:spcPct val="80000"/>
              </a:lnSpc>
            </a:pPr>
            <a:r>
              <a:rPr lang="en-US" dirty="0"/>
              <a:t>fully replicated : each fragment at each site</a:t>
            </a:r>
          </a:p>
          <a:p>
            <a:pPr lvl="1">
              <a:lnSpc>
                <a:spcPct val="80000"/>
              </a:lnSpc>
            </a:pPr>
            <a:r>
              <a:rPr lang="en-US" dirty="0"/>
              <a:t>partially replicated : each fragment at some of the </a:t>
            </a:r>
            <a:r>
              <a:rPr lang="en-US" dirty="0" smtClean="0"/>
              <a:t>sites</a:t>
            </a:r>
          </a:p>
          <a:p>
            <a:pPr lvl="1">
              <a:lnSpc>
                <a:spcPct val="80000"/>
              </a:lnSpc>
            </a:pPr>
            <a:r>
              <a:rPr lang="en-US" dirty="0" smtClean="0"/>
              <a:t>Reliability and efficiency of read only queries</a:t>
            </a:r>
            <a:endParaRPr lang="en-US" dirty="0"/>
          </a:p>
          <a:p>
            <a:pPr>
              <a:lnSpc>
                <a:spcPct val="80000"/>
              </a:lnSpc>
            </a:pPr>
            <a:endParaRPr lang="en-US" b="1" dirty="0"/>
          </a:p>
          <a:p>
            <a:pPr>
              <a:lnSpc>
                <a:spcPct val="80000"/>
              </a:lnSpc>
              <a:buFont typeface="Monotype Sorts" charset="0"/>
              <a:buNone/>
            </a:pPr>
            <a:endParaRPr lang="en-US" dirty="0" smtClean="0"/>
          </a:p>
          <a:p>
            <a:pPr>
              <a:lnSpc>
                <a:spcPct val="80000"/>
              </a:lnSpc>
              <a:buFont typeface="Monotype Sorts" charset="0"/>
              <a:buNone/>
            </a:pPr>
            <a:endParaRPr lang="en-US" dirty="0"/>
          </a:p>
          <a:p>
            <a:pPr lvl="3">
              <a:lnSpc>
                <a:spcPct val="80000"/>
              </a:lnSpc>
              <a:buFont typeface="Monotype Sorts" charset="0"/>
              <a:buNone/>
            </a:pPr>
            <a:r>
              <a:rPr lang="en-US" dirty="0"/>
              <a:t>	</a:t>
            </a:r>
          </a:p>
          <a:p>
            <a:pPr>
              <a:lnSpc>
                <a:spcPct val="80000"/>
              </a:lnSpc>
            </a:pPr>
            <a:endParaRPr lang="en-US" sz="2000" dirty="0"/>
          </a:p>
        </p:txBody>
      </p:sp>
      <p:pic>
        <p:nvPicPr>
          <p:cNvPr id="22579" name="Picture 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768" y="5380856"/>
            <a:ext cx="8712968" cy="28210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Purpose of Replication </a:t>
            </a:r>
            <a:endParaRPr lang="en-US" sz="3200" b="1" dirty="0"/>
          </a:p>
        </p:txBody>
      </p:sp>
      <p:sp>
        <p:nvSpPr>
          <p:cNvPr id="3" name="Content Placeholder 2"/>
          <p:cNvSpPr>
            <a:spLocks noGrp="1"/>
          </p:cNvSpPr>
          <p:nvPr>
            <p:ph idx="1"/>
          </p:nvPr>
        </p:nvSpPr>
        <p:spPr/>
        <p:txBody>
          <a:bodyPr/>
          <a:lstStyle/>
          <a:p>
            <a:r>
              <a:rPr lang="en-US" sz="2400" dirty="0" smtClean="0"/>
              <a:t>System Availability : data is available even when some site is down.</a:t>
            </a:r>
          </a:p>
          <a:p>
            <a:r>
              <a:rPr lang="en-US" sz="2400" dirty="0" smtClean="0"/>
              <a:t>Performance : replication enables the queries to locate the data closer to its access point.</a:t>
            </a:r>
          </a:p>
          <a:p>
            <a:r>
              <a:rPr lang="en-US" sz="2400" dirty="0" smtClean="0"/>
              <a:t>Scalability : systems grow in number of sites and also distributed sites.  Replication offers acceptable response times.</a:t>
            </a:r>
          </a:p>
          <a:p>
            <a:r>
              <a:rPr lang="en-US" sz="2400" dirty="0" smtClean="0"/>
              <a:t>Application Requirements : applications may require to maintain multiple copies of the data as per its operational specifications.</a:t>
            </a:r>
          </a:p>
          <a:p>
            <a:endParaRPr lang="en-US" sz="2400" dirty="0"/>
          </a:p>
          <a:p>
            <a:endParaRPr lang="en-US" sz="2400" dirty="0"/>
          </a:p>
        </p:txBody>
      </p:sp>
      <p:sp>
        <p:nvSpPr>
          <p:cNvPr id="4" name="Slide Number Placeholder 3"/>
          <p:cNvSpPr>
            <a:spLocks noGrp="1"/>
          </p:cNvSpPr>
          <p:nvPr>
            <p:ph type="sldNum" sz="quarter" idx="10"/>
          </p:nvPr>
        </p:nvSpPr>
        <p:spPr/>
        <p:txBody>
          <a:bodyPr/>
          <a:lstStyle/>
          <a:p>
            <a:r>
              <a:rPr lang="en-US" smtClean="0">
                <a:latin typeface="Book Antiqua"/>
              </a:rPr>
              <a:t>Ch.x/</a:t>
            </a:r>
            <a:fld id="{D01B99BC-F82C-D046-99BD-FBA1D66F1CB4}" type="slidenum">
              <a:rPr lang="en-US" smtClean="0">
                <a:latin typeface="Book Antiqua"/>
              </a:rPr>
              <a:pPr/>
              <a:t>25</a:t>
            </a:fld>
            <a:endParaRPr lang="en-US" dirty="0">
              <a:latin typeface="Book Antiqua"/>
            </a:endParaRPr>
          </a:p>
        </p:txBody>
      </p:sp>
    </p:spTree>
    <p:extLst>
      <p:ext uri="{BB962C8B-B14F-4D97-AF65-F5344CB8AC3E}">
        <p14:creationId xmlns:p14="http://schemas.microsoft.com/office/powerpoint/2010/main" val="159742745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Replication Issues</a:t>
            </a:r>
            <a:endParaRPr lang="en-US" sz="3200" b="1" dirty="0"/>
          </a:p>
        </p:txBody>
      </p:sp>
      <p:sp>
        <p:nvSpPr>
          <p:cNvPr id="3" name="Content Placeholder 2"/>
          <p:cNvSpPr>
            <a:spLocks noGrp="1"/>
          </p:cNvSpPr>
          <p:nvPr>
            <p:ph idx="1"/>
          </p:nvPr>
        </p:nvSpPr>
        <p:spPr/>
        <p:txBody>
          <a:bodyPr/>
          <a:lstStyle/>
          <a:p>
            <a:pPr marL="0" indent="0">
              <a:buNone/>
            </a:pPr>
            <a:r>
              <a:rPr lang="en-US" sz="2400" dirty="0" smtClean="0"/>
              <a:t>One logical and several physical copies of data item</a:t>
            </a:r>
          </a:p>
          <a:p>
            <a:r>
              <a:rPr lang="en-US" sz="2400" dirty="0" smtClean="0"/>
              <a:t>Synchronization of replicated copies.</a:t>
            </a:r>
          </a:p>
          <a:p>
            <a:r>
              <a:rPr lang="en-US" sz="2400" dirty="0" smtClean="0"/>
              <a:t>Partially replicated databases have local ( on non replicated data) and global (on replicated data) transactions.</a:t>
            </a:r>
          </a:p>
          <a:p>
            <a:r>
              <a:rPr lang="en-US" sz="2400" dirty="0" smtClean="0"/>
              <a:t>Database consistency: When update transaction </a:t>
            </a:r>
            <a:r>
              <a:rPr lang="en-US" sz="2400" dirty="0" err="1" smtClean="0"/>
              <a:t>commites</a:t>
            </a:r>
            <a:r>
              <a:rPr lang="en-US" sz="2400" dirty="0" smtClean="0"/>
              <a:t> </a:t>
            </a:r>
          </a:p>
          <a:p>
            <a:pPr lvl="1"/>
            <a:r>
              <a:rPr lang="en-US" sz="2200" dirty="0" smtClean="0"/>
              <a:t>strong consistency criteria (when all the replicas are consistent)</a:t>
            </a:r>
          </a:p>
          <a:p>
            <a:pPr lvl="1"/>
            <a:r>
              <a:rPr lang="en-US" sz="2200" dirty="0" smtClean="0"/>
              <a:t>Weak consistency criteria (not all replicas are consistent)</a:t>
            </a:r>
          </a:p>
          <a:p>
            <a:r>
              <a:rPr lang="en-US" sz="2400" dirty="0" smtClean="0"/>
              <a:t>Where the updates are performed? </a:t>
            </a:r>
          </a:p>
          <a:p>
            <a:pPr lvl="1"/>
            <a:r>
              <a:rPr lang="en-US" sz="2200" dirty="0" smtClean="0"/>
              <a:t>Master copy first ( centralized) – single master database or primary copy of each data item is different</a:t>
            </a:r>
          </a:p>
          <a:p>
            <a:pPr lvl="1"/>
            <a:r>
              <a:rPr lang="en-US" sz="2200" dirty="0" smtClean="0"/>
              <a:t>Any replica first (distributed)</a:t>
            </a:r>
          </a:p>
          <a:p>
            <a:pPr marL="393700" lvl="1" indent="0">
              <a:buNone/>
            </a:pPr>
            <a:endParaRPr lang="en-US" sz="2200" dirty="0" smtClean="0"/>
          </a:p>
          <a:p>
            <a:endParaRPr lang="en-US" sz="2400" dirty="0"/>
          </a:p>
        </p:txBody>
      </p:sp>
      <p:sp>
        <p:nvSpPr>
          <p:cNvPr id="4" name="Slide Number Placeholder 3"/>
          <p:cNvSpPr>
            <a:spLocks noGrp="1"/>
          </p:cNvSpPr>
          <p:nvPr>
            <p:ph type="sldNum" sz="quarter" idx="10"/>
          </p:nvPr>
        </p:nvSpPr>
        <p:spPr/>
        <p:txBody>
          <a:bodyPr/>
          <a:lstStyle/>
          <a:p>
            <a:r>
              <a:rPr lang="en-US" smtClean="0">
                <a:latin typeface="Book Antiqua"/>
              </a:rPr>
              <a:t>Ch.x/</a:t>
            </a:r>
            <a:fld id="{D01B99BC-F82C-D046-99BD-FBA1D66F1CB4}" type="slidenum">
              <a:rPr lang="en-US" smtClean="0">
                <a:latin typeface="Book Antiqua"/>
              </a:rPr>
              <a:pPr/>
              <a:t>26</a:t>
            </a:fld>
            <a:endParaRPr lang="en-US" dirty="0">
              <a:latin typeface="Book Antiqua"/>
            </a:endParaRPr>
          </a:p>
        </p:txBody>
      </p:sp>
    </p:spTree>
    <p:extLst>
      <p:ext uri="{BB962C8B-B14F-4D97-AF65-F5344CB8AC3E}">
        <p14:creationId xmlns:p14="http://schemas.microsoft.com/office/powerpoint/2010/main" val="237427196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Replication Issues (2)</a:t>
            </a:r>
            <a:endParaRPr lang="en-US" sz="3200" b="1" dirty="0"/>
          </a:p>
        </p:txBody>
      </p:sp>
      <p:sp>
        <p:nvSpPr>
          <p:cNvPr id="3" name="Content Placeholder 2"/>
          <p:cNvSpPr>
            <a:spLocks noGrp="1"/>
          </p:cNvSpPr>
          <p:nvPr>
            <p:ph idx="1"/>
          </p:nvPr>
        </p:nvSpPr>
        <p:spPr/>
        <p:txBody>
          <a:bodyPr/>
          <a:lstStyle/>
          <a:p>
            <a:r>
              <a:rPr lang="en-US" sz="2400" dirty="0"/>
              <a:t>Update propagation can </a:t>
            </a:r>
            <a:r>
              <a:rPr lang="en-US" sz="2400" dirty="0" smtClean="0"/>
              <a:t>be eager </a:t>
            </a:r>
            <a:r>
              <a:rPr lang="en-US" sz="2400" dirty="0"/>
              <a:t>(individual update or batch write is pushed) or lazy.</a:t>
            </a:r>
          </a:p>
          <a:p>
            <a:r>
              <a:rPr lang="en-US" sz="2400" dirty="0"/>
              <a:t>Replication transparency:</a:t>
            </a:r>
          </a:p>
          <a:p>
            <a:pPr lvl="1"/>
            <a:r>
              <a:rPr lang="en-US" sz="2200" dirty="0"/>
              <a:t>Limited replication transparency - Application requires to know the master site for </a:t>
            </a:r>
          </a:p>
          <a:p>
            <a:pPr marL="838200" lvl="2" indent="0">
              <a:buNone/>
            </a:pPr>
            <a:r>
              <a:rPr lang="en-US" sz="2200" dirty="0"/>
              <a:t>submitting transaction </a:t>
            </a:r>
            <a:r>
              <a:rPr lang="en-US" sz="2200" dirty="0" smtClean="0"/>
              <a:t>operations</a:t>
            </a:r>
          </a:p>
          <a:p>
            <a:pPr lvl="1"/>
            <a:r>
              <a:rPr lang="en-US" dirty="0"/>
              <a:t> </a:t>
            </a:r>
            <a:r>
              <a:rPr lang="en-US" sz="2200" dirty="0" smtClean="0"/>
              <a:t>Full replication transparency – user applications submit transactions to their local Transaction manager rather than the master site</a:t>
            </a:r>
          </a:p>
          <a:p>
            <a:pPr marL="838200" lvl="2" indent="0">
              <a:buNone/>
            </a:pPr>
            <a:endParaRPr lang="en-US" sz="2200" dirty="0"/>
          </a:p>
          <a:p>
            <a:endParaRPr lang="en-US" sz="2400" dirty="0"/>
          </a:p>
        </p:txBody>
      </p:sp>
      <p:sp>
        <p:nvSpPr>
          <p:cNvPr id="4" name="Slide Number Placeholder 3"/>
          <p:cNvSpPr>
            <a:spLocks noGrp="1"/>
          </p:cNvSpPr>
          <p:nvPr>
            <p:ph type="sldNum" sz="quarter" idx="10"/>
          </p:nvPr>
        </p:nvSpPr>
        <p:spPr/>
        <p:txBody>
          <a:bodyPr/>
          <a:lstStyle/>
          <a:p>
            <a:r>
              <a:rPr lang="en-US" smtClean="0">
                <a:latin typeface="Book Antiqua"/>
              </a:rPr>
              <a:t>Ch.x/</a:t>
            </a:r>
            <a:fld id="{D01B99BC-F82C-D046-99BD-FBA1D66F1CB4}" type="slidenum">
              <a:rPr lang="en-US" smtClean="0">
                <a:latin typeface="Book Antiqua"/>
              </a:rPr>
              <a:pPr/>
              <a:t>27</a:t>
            </a:fld>
            <a:endParaRPr lang="en-US" dirty="0">
              <a:latin typeface="Book Antiqua"/>
            </a:endParaRPr>
          </a:p>
        </p:txBody>
      </p:sp>
    </p:spTree>
    <p:extLst>
      <p:ext uri="{BB962C8B-B14F-4D97-AF65-F5344CB8AC3E}">
        <p14:creationId xmlns:p14="http://schemas.microsoft.com/office/powerpoint/2010/main" val="1808319555"/>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Line 3"/>
          <p:cNvSpPr>
            <a:spLocks noChangeShapeType="1"/>
          </p:cNvSpPr>
          <p:nvPr/>
        </p:nvSpPr>
        <p:spPr bwMode="auto">
          <a:xfrm>
            <a:off x="9473636" y="2382888"/>
            <a:ext cx="0" cy="680945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27652" name="Line 4"/>
          <p:cNvSpPr>
            <a:spLocks noChangeShapeType="1"/>
          </p:cNvSpPr>
          <p:nvPr/>
        </p:nvSpPr>
        <p:spPr bwMode="auto">
          <a:xfrm>
            <a:off x="3919502" y="2382888"/>
            <a:ext cx="0" cy="680945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27653" name="Line 5"/>
          <p:cNvSpPr>
            <a:spLocks noChangeShapeType="1"/>
          </p:cNvSpPr>
          <p:nvPr/>
        </p:nvSpPr>
        <p:spPr bwMode="auto">
          <a:xfrm>
            <a:off x="6520462" y="2382888"/>
            <a:ext cx="0" cy="680945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27654" name="Line 6"/>
          <p:cNvSpPr>
            <a:spLocks noChangeShapeType="1"/>
          </p:cNvSpPr>
          <p:nvPr/>
        </p:nvSpPr>
        <p:spPr bwMode="auto">
          <a:xfrm>
            <a:off x="1210169" y="3033128"/>
            <a:ext cx="10494151"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400" dirty="0">
              <a:latin typeface="Book Antiqua"/>
            </a:endParaRPr>
          </a:p>
        </p:txBody>
      </p:sp>
      <p:sp>
        <p:nvSpPr>
          <p:cNvPr id="27655" name="Line 7"/>
          <p:cNvSpPr>
            <a:spLocks noChangeShapeType="1"/>
          </p:cNvSpPr>
          <p:nvPr/>
        </p:nvSpPr>
        <p:spPr bwMode="auto">
          <a:xfrm>
            <a:off x="1183076" y="4333608"/>
            <a:ext cx="1052124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400" dirty="0">
              <a:latin typeface="Book Antiqua"/>
            </a:endParaRPr>
          </a:p>
        </p:txBody>
      </p:sp>
      <p:sp>
        <p:nvSpPr>
          <p:cNvPr id="27656" name="Line 8"/>
          <p:cNvSpPr>
            <a:spLocks noChangeShapeType="1"/>
          </p:cNvSpPr>
          <p:nvPr/>
        </p:nvSpPr>
        <p:spPr bwMode="auto">
          <a:xfrm>
            <a:off x="1183076" y="5634088"/>
            <a:ext cx="1052124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400" dirty="0">
              <a:latin typeface="Book Antiqua"/>
            </a:endParaRPr>
          </a:p>
        </p:txBody>
      </p:sp>
      <p:sp>
        <p:nvSpPr>
          <p:cNvPr id="27657" name="Line 9"/>
          <p:cNvSpPr>
            <a:spLocks noChangeShapeType="1"/>
          </p:cNvSpPr>
          <p:nvPr/>
        </p:nvSpPr>
        <p:spPr bwMode="auto">
          <a:xfrm>
            <a:off x="1155982" y="6934568"/>
            <a:ext cx="1022321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400" dirty="0">
              <a:latin typeface="Book Antiqua"/>
            </a:endParaRPr>
          </a:p>
        </p:txBody>
      </p:sp>
      <p:sp>
        <p:nvSpPr>
          <p:cNvPr id="27658" name="Line 10"/>
          <p:cNvSpPr>
            <a:spLocks noChangeShapeType="1"/>
          </p:cNvSpPr>
          <p:nvPr/>
        </p:nvSpPr>
        <p:spPr bwMode="auto">
          <a:xfrm>
            <a:off x="1101796" y="8235048"/>
            <a:ext cx="1060252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400" dirty="0">
              <a:latin typeface="Book Antiqua"/>
            </a:endParaRPr>
          </a:p>
        </p:txBody>
      </p:sp>
      <p:sp>
        <p:nvSpPr>
          <p:cNvPr id="27659" name="Rectangle 11"/>
          <p:cNvSpPr>
            <a:spLocks noChangeArrowheads="1"/>
          </p:cNvSpPr>
          <p:nvPr/>
        </p:nvSpPr>
        <p:spPr bwMode="auto">
          <a:xfrm>
            <a:off x="4105984" y="2500294"/>
            <a:ext cx="2266379"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Full-replication</a:t>
            </a:r>
          </a:p>
        </p:txBody>
      </p:sp>
      <p:sp>
        <p:nvSpPr>
          <p:cNvPr id="27660" name="Rectangle 12"/>
          <p:cNvSpPr>
            <a:spLocks noChangeArrowheads="1"/>
          </p:cNvSpPr>
          <p:nvPr/>
        </p:nvSpPr>
        <p:spPr bwMode="auto">
          <a:xfrm>
            <a:off x="6746087" y="2500294"/>
            <a:ext cx="2610299"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Partial-replication</a:t>
            </a:r>
          </a:p>
        </p:txBody>
      </p:sp>
      <p:sp>
        <p:nvSpPr>
          <p:cNvPr id="27661" name="Rectangle 13"/>
          <p:cNvSpPr>
            <a:spLocks noChangeArrowheads="1"/>
          </p:cNvSpPr>
          <p:nvPr/>
        </p:nvSpPr>
        <p:spPr bwMode="auto">
          <a:xfrm>
            <a:off x="9631390" y="2500294"/>
            <a:ext cx="1820350"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Partitioning</a:t>
            </a:r>
          </a:p>
        </p:txBody>
      </p:sp>
      <p:sp>
        <p:nvSpPr>
          <p:cNvPr id="27662" name="Rectangle 14"/>
          <p:cNvSpPr>
            <a:spLocks noChangeArrowheads="1"/>
          </p:cNvSpPr>
          <p:nvPr/>
        </p:nvSpPr>
        <p:spPr bwMode="auto">
          <a:xfrm>
            <a:off x="1448666" y="3231813"/>
            <a:ext cx="1787558" cy="681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800" dirty="0">
                <a:solidFill>
                  <a:srgbClr val="000000"/>
                </a:solidFill>
                <a:latin typeface="Book Antiqua"/>
              </a:rPr>
              <a:t>QUERY</a:t>
            </a:r>
          </a:p>
          <a:p>
            <a:r>
              <a:rPr lang="en-US" sz="1800" dirty="0">
                <a:solidFill>
                  <a:srgbClr val="000000"/>
                </a:solidFill>
                <a:latin typeface="Book Antiqua"/>
              </a:rPr>
              <a:t> PROCESSING</a:t>
            </a:r>
          </a:p>
        </p:txBody>
      </p:sp>
      <p:sp>
        <p:nvSpPr>
          <p:cNvPr id="27663" name="Rectangle 15"/>
          <p:cNvSpPr>
            <a:spLocks noChangeArrowheads="1"/>
          </p:cNvSpPr>
          <p:nvPr/>
        </p:nvSpPr>
        <p:spPr bwMode="auto">
          <a:xfrm>
            <a:off x="4867974" y="3405663"/>
            <a:ext cx="742399" cy="404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800" dirty="0">
                <a:solidFill>
                  <a:srgbClr val="000000"/>
                </a:solidFill>
                <a:latin typeface="Book Antiqua"/>
              </a:rPr>
              <a:t>Easy</a:t>
            </a:r>
          </a:p>
        </p:txBody>
      </p:sp>
      <p:sp>
        <p:nvSpPr>
          <p:cNvPr id="27664" name="Rectangle 16"/>
          <p:cNvSpPr>
            <a:spLocks noChangeArrowheads="1"/>
          </p:cNvSpPr>
          <p:nvPr/>
        </p:nvSpPr>
        <p:spPr bwMode="auto">
          <a:xfrm>
            <a:off x="8501987" y="3276969"/>
            <a:ext cx="1848471" cy="404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800" dirty="0">
                <a:solidFill>
                  <a:srgbClr val="000000"/>
                </a:solidFill>
                <a:latin typeface="Book Antiqua"/>
              </a:rPr>
              <a:t>Same Difficulty</a:t>
            </a:r>
          </a:p>
        </p:txBody>
      </p:sp>
      <p:sp>
        <p:nvSpPr>
          <p:cNvPr id="27665" name="Rectangle 17"/>
          <p:cNvSpPr>
            <a:spLocks noChangeArrowheads="1"/>
          </p:cNvSpPr>
          <p:nvPr/>
        </p:nvSpPr>
        <p:spPr bwMode="auto">
          <a:xfrm>
            <a:off x="8501987" y="4586480"/>
            <a:ext cx="1848471" cy="404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800" dirty="0">
                <a:solidFill>
                  <a:srgbClr val="000000"/>
                </a:solidFill>
                <a:latin typeface="Book Antiqua"/>
              </a:rPr>
              <a:t>Same Difficulty</a:t>
            </a:r>
          </a:p>
        </p:txBody>
      </p:sp>
      <p:sp>
        <p:nvSpPr>
          <p:cNvPr id="27666" name="Rectangle 18"/>
          <p:cNvSpPr>
            <a:spLocks noChangeArrowheads="1"/>
          </p:cNvSpPr>
          <p:nvPr/>
        </p:nvSpPr>
        <p:spPr bwMode="auto">
          <a:xfrm>
            <a:off x="1433958" y="4586480"/>
            <a:ext cx="2096937" cy="681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800" dirty="0">
                <a:solidFill>
                  <a:srgbClr val="000000"/>
                </a:solidFill>
                <a:latin typeface="Book Antiqua"/>
              </a:rPr>
              <a:t>DIRECTORY</a:t>
            </a:r>
          </a:p>
          <a:p>
            <a:r>
              <a:rPr lang="en-US" sz="1800" dirty="0">
                <a:solidFill>
                  <a:srgbClr val="000000"/>
                </a:solidFill>
                <a:latin typeface="Book Antiqua"/>
              </a:rPr>
              <a:t>MANAGEMENT </a:t>
            </a:r>
          </a:p>
        </p:txBody>
      </p:sp>
      <p:sp>
        <p:nvSpPr>
          <p:cNvPr id="27667" name="Rectangle 19"/>
          <p:cNvSpPr>
            <a:spLocks noChangeArrowheads="1"/>
          </p:cNvSpPr>
          <p:nvPr/>
        </p:nvSpPr>
        <p:spPr bwMode="auto">
          <a:xfrm>
            <a:off x="4447512" y="4586480"/>
            <a:ext cx="1585579" cy="681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pPr algn="ctr"/>
            <a:r>
              <a:rPr lang="en-US" sz="1800" dirty="0">
                <a:solidFill>
                  <a:srgbClr val="000000"/>
                </a:solidFill>
                <a:latin typeface="Book Antiqua"/>
              </a:rPr>
              <a:t>Easy or</a:t>
            </a:r>
          </a:p>
          <a:p>
            <a:pPr algn="ctr"/>
            <a:r>
              <a:rPr lang="en-US" sz="1800" dirty="0">
                <a:solidFill>
                  <a:srgbClr val="000000"/>
                </a:solidFill>
                <a:latin typeface="Book Antiqua"/>
              </a:rPr>
              <a:t>Non-</a:t>
            </a:r>
            <a:r>
              <a:rPr lang="en-US" sz="1800" dirty="0" err="1">
                <a:solidFill>
                  <a:srgbClr val="000000"/>
                </a:solidFill>
                <a:latin typeface="Book Antiqua"/>
              </a:rPr>
              <a:t>existant</a:t>
            </a:r>
            <a:endParaRPr lang="en-US" sz="1800" dirty="0">
              <a:solidFill>
                <a:srgbClr val="000000"/>
              </a:solidFill>
              <a:latin typeface="Book Antiqua"/>
            </a:endParaRPr>
          </a:p>
        </p:txBody>
      </p:sp>
      <p:sp>
        <p:nvSpPr>
          <p:cNvPr id="27668" name="Rectangle 20"/>
          <p:cNvSpPr>
            <a:spLocks noChangeArrowheads="1"/>
          </p:cNvSpPr>
          <p:nvPr/>
        </p:nvSpPr>
        <p:spPr bwMode="auto">
          <a:xfrm>
            <a:off x="1450090" y="5859866"/>
            <a:ext cx="2098540" cy="681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800" dirty="0">
                <a:solidFill>
                  <a:srgbClr val="000000"/>
                </a:solidFill>
                <a:latin typeface="Book Antiqua"/>
              </a:rPr>
              <a:t>CONCURRENCY</a:t>
            </a:r>
          </a:p>
          <a:p>
            <a:r>
              <a:rPr lang="en-US" sz="1800" dirty="0">
                <a:solidFill>
                  <a:srgbClr val="000000"/>
                </a:solidFill>
                <a:latin typeface="Book Antiqua"/>
              </a:rPr>
              <a:t>CONTROL</a:t>
            </a:r>
          </a:p>
        </p:txBody>
      </p:sp>
      <p:sp>
        <p:nvSpPr>
          <p:cNvPr id="27669" name="Rectangle 21"/>
          <p:cNvSpPr>
            <a:spLocks noChangeArrowheads="1"/>
          </p:cNvSpPr>
          <p:nvPr/>
        </p:nvSpPr>
        <p:spPr bwMode="auto">
          <a:xfrm>
            <a:off x="10169236" y="6033717"/>
            <a:ext cx="742399" cy="404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800" dirty="0">
                <a:solidFill>
                  <a:srgbClr val="000000"/>
                </a:solidFill>
                <a:latin typeface="Book Antiqua"/>
              </a:rPr>
              <a:t>Easy</a:t>
            </a:r>
          </a:p>
        </p:txBody>
      </p:sp>
      <p:sp>
        <p:nvSpPr>
          <p:cNvPr id="27670" name="Rectangle 22"/>
          <p:cNvSpPr>
            <a:spLocks noChangeArrowheads="1"/>
          </p:cNvSpPr>
          <p:nvPr/>
        </p:nvSpPr>
        <p:spPr bwMode="auto">
          <a:xfrm>
            <a:off x="7496820" y="6033717"/>
            <a:ext cx="1111090" cy="404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800" dirty="0">
                <a:solidFill>
                  <a:srgbClr val="000000"/>
                </a:solidFill>
                <a:latin typeface="Book Antiqua"/>
              </a:rPr>
              <a:t>Difficult</a:t>
            </a:r>
          </a:p>
        </p:txBody>
      </p:sp>
      <p:sp>
        <p:nvSpPr>
          <p:cNvPr id="27671" name="Rectangle 23"/>
          <p:cNvSpPr>
            <a:spLocks noChangeArrowheads="1"/>
          </p:cNvSpPr>
          <p:nvPr/>
        </p:nvSpPr>
        <p:spPr bwMode="auto">
          <a:xfrm>
            <a:off x="4616957" y="6033717"/>
            <a:ext cx="1248949" cy="404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800" dirty="0">
                <a:solidFill>
                  <a:srgbClr val="000000"/>
                </a:solidFill>
                <a:latin typeface="Book Antiqua"/>
              </a:rPr>
              <a:t>Moderate</a:t>
            </a:r>
          </a:p>
        </p:txBody>
      </p:sp>
      <p:sp>
        <p:nvSpPr>
          <p:cNvPr id="27672" name="Rectangle 24"/>
          <p:cNvSpPr>
            <a:spLocks noChangeArrowheads="1"/>
          </p:cNvSpPr>
          <p:nvPr/>
        </p:nvSpPr>
        <p:spPr bwMode="auto">
          <a:xfrm>
            <a:off x="1446429" y="7377094"/>
            <a:ext cx="1688171" cy="404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800" dirty="0">
                <a:solidFill>
                  <a:srgbClr val="000000"/>
                </a:solidFill>
                <a:latin typeface="Book Antiqua"/>
              </a:rPr>
              <a:t>RELIABILITY</a:t>
            </a:r>
          </a:p>
        </p:txBody>
      </p:sp>
      <p:sp>
        <p:nvSpPr>
          <p:cNvPr id="27673" name="Rectangle 25"/>
          <p:cNvSpPr>
            <a:spLocks noChangeArrowheads="1"/>
          </p:cNvSpPr>
          <p:nvPr/>
        </p:nvSpPr>
        <p:spPr bwMode="auto">
          <a:xfrm>
            <a:off x="4601729" y="7377094"/>
            <a:ext cx="1279405" cy="404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800" dirty="0">
                <a:solidFill>
                  <a:srgbClr val="000000"/>
                </a:solidFill>
                <a:latin typeface="Book Antiqua"/>
              </a:rPr>
              <a:t>Very high</a:t>
            </a:r>
          </a:p>
        </p:txBody>
      </p:sp>
      <p:sp>
        <p:nvSpPr>
          <p:cNvPr id="27674" name="Rectangle 26"/>
          <p:cNvSpPr>
            <a:spLocks noChangeArrowheads="1"/>
          </p:cNvSpPr>
          <p:nvPr/>
        </p:nvSpPr>
        <p:spPr bwMode="auto">
          <a:xfrm>
            <a:off x="7659998" y="7377094"/>
            <a:ext cx="782474" cy="404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800" dirty="0">
                <a:solidFill>
                  <a:srgbClr val="000000"/>
                </a:solidFill>
                <a:latin typeface="Book Antiqua"/>
              </a:rPr>
              <a:t>High</a:t>
            </a:r>
          </a:p>
        </p:txBody>
      </p:sp>
      <p:sp>
        <p:nvSpPr>
          <p:cNvPr id="27675" name="Rectangle 27"/>
          <p:cNvSpPr>
            <a:spLocks noChangeArrowheads="1"/>
          </p:cNvSpPr>
          <p:nvPr/>
        </p:nvSpPr>
        <p:spPr bwMode="auto">
          <a:xfrm>
            <a:off x="10182716" y="7377094"/>
            <a:ext cx="719957" cy="404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800" dirty="0">
                <a:solidFill>
                  <a:srgbClr val="000000"/>
                </a:solidFill>
                <a:latin typeface="Book Antiqua"/>
              </a:rPr>
              <a:t>Low</a:t>
            </a:r>
          </a:p>
        </p:txBody>
      </p:sp>
      <p:sp>
        <p:nvSpPr>
          <p:cNvPr id="27676" name="Rectangle 28"/>
          <p:cNvSpPr>
            <a:spLocks noChangeArrowheads="1"/>
          </p:cNvSpPr>
          <p:nvPr/>
        </p:nvSpPr>
        <p:spPr bwMode="auto">
          <a:xfrm>
            <a:off x="1348824" y="8607583"/>
            <a:ext cx="1248949" cy="404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800" dirty="0">
                <a:solidFill>
                  <a:srgbClr val="000000"/>
                </a:solidFill>
                <a:latin typeface="Book Antiqua"/>
              </a:rPr>
              <a:t>REALITY</a:t>
            </a:r>
          </a:p>
        </p:txBody>
      </p:sp>
      <p:sp>
        <p:nvSpPr>
          <p:cNvPr id="27677" name="Rectangle 29"/>
          <p:cNvSpPr>
            <a:spLocks noChangeArrowheads="1"/>
          </p:cNvSpPr>
          <p:nvPr/>
        </p:nvSpPr>
        <p:spPr bwMode="auto">
          <a:xfrm>
            <a:off x="4536006" y="8433733"/>
            <a:ext cx="1410852" cy="681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pPr algn="ctr"/>
            <a:r>
              <a:rPr lang="en-US" sz="1800" dirty="0">
                <a:solidFill>
                  <a:srgbClr val="000000"/>
                </a:solidFill>
                <a:latin typeface="Book Antiqua"/>
              </a:rPr>
              <a:t>Possible</a:t>
            </a:r>
          </a:p>
          <a:p>
            <a:pPr algn="ctr"/>
            <a:r>
              <a:rPr lang="en-US" sz="1800" dirty="0">
                <a:solidFill>
                  <a:srgbClr val="000000"/>
                </a:solidFill>
                <a:latin typeface="Book Antiqua"/>
              </a:rPr>
              <a:t>application</a:t>
            </a:r>
          </a:p>
        </p:txBody>
      </p:sp>
      <p:sp>
        <p:nvSpPr>
          <p:cNvPr id="27678" name="Rectangle 30"/>
          <p:cNvSpPr>
            <a:spLocks noChangeArrowheads="1"/>
          </p:cNvSpPr>
          <p:nvPr/>
        </p:nvSpPr>
        <p:spPr bwMode="auto">
          <a:xfrm>
            <a:off x="7491356" y="8607583"/>
            <a:ext cx="1117503" cy="404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800" dirty="0">
                <a:solidFill>
                  <a:srgbClr val="000000"/>
                </a:solidFill>
                <a:latin typeface="Book Antiqua"/>
              </a:rPr>
              <a:t>Realistic</a:t>
            </a:r>
          </a:p>
        </p:txBody>
      </p:sp>
      <p:sp>
        <p:nvSpPr>
          <p:cNvPr id="27679" name="Rectangle 31"/>
          <p:cNvSpPr>
            <a:spLocks noChangeArrowheads="1"/>
          </p:cNvSpPr>
          <p:nvPr/>
        </p:nvSpPr>
        <p:spPr bwMode="auto">
          <a:xfrm>
            <a:off x="9837268" y="8433733"/>
            <a:ext cx="1410852" cy="681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pPr algn="ctr"/>
            <a:r>
              <a:rPr lang="en-US" sz="1800" dirty="0">
                <a:solidFill>
                  <a:srgbClr val="000000"/>
                </a:solidFill>
                <a:latin typeface="Book Antiqua"/>
              </a:rPr>
              <a:t>Possible</a:t>
            </a:r>
          </a:p>
          <a:p>
            <a:pPr algn="ctr"/>
            <a:r>
              <a:rPr lang="en-US" sz="1800" dirty="0">
                <a:solidFill>
                  <a:srgbClr val="000000"/>
                </a:solidFill>
                <a:latin typeface="Book Antiqua"/>
              </a:rPr>
              <a:t>application</a:t>
            </a:r>
          </a:p>
        </p:txBody>
      </p:sp>
      <p:sp>
        <p:nvSpPr>
          <p:cNvPr id="27680" name="Arc 32"/>
          <p:cNvSpPr>
            <a:spLocks/>
          </p:cNvSpPr>
          <p:nvPr/>
        </p:nvSpPr>
        <p:spPr bwMode="auto">
          <a:xfrm>
            <a:off x="10902810" y="3597573"/>
            <a:ext cx="171591" cy="137725"/>
          </a:xfrm>
          <a:custGeom>
            <a:avLst/>
            <a:gdLst>
              <a:gd name="G0" fmla="+- 21600 0 0"/>
              <a:gd name="G1" fmla="+- 8746 0 0"/>
              <a:gd name="G2" fmla="+- 21600 0 0"/>
              <a:gd name="T0" fmla="*/ 1747 w 21600"/>
              <a:gd name="T1" fmla="*/ 17254 h 17254"/>
              <a:gd name="T2" fmla="*/ 1851 w 21600"/>
              <a:gd name="T3" fmla="*/ 0 h 17254"/>
              <a:gd name="T4" fmla="*/ 21600 w 21600"/>
              <a:gd name="T5" fmla="*/ 8746 h 17254"/>
            </a:gdLst>
            <a:ahLst/>
            <a:cxnLst>
              <a:cxn ang="0">
                <a:pos x="T0" y="T1"/>
              </a:cxn>
              <a:cxn ang="0">
                <a:pos x="T2" y="T3"/>
              </a:cxn>
              <a:cxn ang="0">
                <a:pos x="T4" y="T5"/>
              </a:cxn>
            </a:cxnLst>
            <a:rect l="0" t="0" r="r" b="b"/>
            <a:pathLst>
              <a:path w="21600" h="17254" fill="none" extrusionOk="0">
                <a:moveTo>
                  <a:pt x="1746" y="17254"/>
                </a:moveTo>
                <a:cubicBezTo>
                  <a:pt x="594" y="14565"/>
                  <a:pt x="0" y="11671"/>
                  <a:pt x="0" y="8746"/>
                </a:cubicBezTo>
                <a:cubicBezTo>
                  <a:pt x="0" y="5733"/>
                  <a:pt x="630" y="2754"/>
                  <a:pt x="1850" y="-1"/>
                </a:cubicBezTo>
              </a:path>
              <a:path w="21600" h="17254" stroke="0" extrusionOk="0">
                <a:moveTo>
                  <a:pt x="1746" y="17254"/>
                </a:moveTo>
                <a:cubicBezTo>
                  <a:pt x="594" y="14565"/>
                  <a:pt x="0" y="11671"/>
                  <a:pt x="0" y="8746"/>
                </a:cubicBezTo>
                <a:cubicBezTo>
                  <a:pt x="0" y="5733"/>
                  <a:pt x="630" y="2754"/>
                  <a:pt x="1850" y="-1"/>
                </a:cubicBezTo>
                <a:lnTo>
                  <a:pt x="21600" y="8746"/>
                </a:lnTo>
                <a:close/>
              </a:path>
            </a:pathLst>
          </a:custGeom>
          <a:solidFill>
            <a:srgbClr val="000000"/>
          </a:solidFill>
          <a:ln>
            <a:noFill/>
          </a:ln>
          <a:effectLst/>
          <a:extLst>
            <a:ext uri="{91240B29-F687-4F45-9708-019B960494DF}">
              <a14:hiddenLine xmlns:a14="http://schemas.microsoft.com/office/drawing/2010/main" w="127000" cap="rnd">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400" dirty="0">
              <a:latin typeface="Book Antiqua"/>
            </a:endParaRPr>
          </a:p>
        </p:txBody>
      </p:sp>
      <p:sp>
        <p:nvSpPr>
          <p:cNvPr id="27681" name="Arc 33"/>
          <p:cNvSpPr>
            <a:spLocks/>
          </p:cNvSpPr>
          <p:nvPr/>
        </p:nvSpPr>
        <p:spPr bwMode="auto">
          <a:xfrm>
            <a:off x="7495822" y="3597573"/>
            <a:ext cx="171591" cy="137725"/>
          </a:xfrm>
          <a:custGeom>
            <a:avLst/>
            <a:gdLst>
              <a:gd name="G0" fmla="+- 0 0 0"/>
              <a:gd name="G1" fmla="+- 8852 0 0"/>
              <a:gd name="G2" fmla="+- 21600 0 0"/>
              <a:gd name="T0" fmla="*/ 19702 w 21600"/>
              <a:gd name="T1" fmla="*/ 0 h 17464"/>
              <a:gd name="T2" fmla="*/ 19808 w 21600"/>
              <a:gd name="T3" fmla="*/ 17464 h 17464"/>
              <a:gd name="T4" fmla="*/ 0 w 21600"/>
              <a:gd name="T5" fmla="*/ 8852 h 17464"/>
            </a:gdLst>
            <a:ahLst/>
            <a:cxnLst>
              <a:cxn ang="0">
                <a:pos x="T0" y="T1"/>
              </a:cxn>
              <a:cxn ang="0">
                <a:pos x="T2" y="T3"/>
              </a:cxn>
              <a:cxn ang="0">
                <a:pos x="T4" y="T5"/>
              </a:cxn>
            </a:cxnLst>
            <a:rect l="0" t="0" r="r" b="b"/>
            <a:pathLst>
              <a:path w="21600" h="17464" fill="none" extrusionOk="0">
                <a:moveTo>
                  <a:pt x="19702" y="-1"/>
                </a:moveTo>
                <a:cubicBezTo>
                  <a:pt x="20953" y="2783"/>
                  <a:pt x="21600" y="5800"/>
                  <a:pt x="21600" y="8852"/>
                </a:cubicBezTo>
                <a:cubicBezTo>
                  <a:pt x="21600" y="11815"/>
                  <a:pt x="20990" y="14746"/>
                  <a:pt x="19808" y="17464"/>
                </a:cubicBezTo>
              </a:path>
              <a:path w="21600" h="17464" stroke="0" extrusionOk="0">
                <a:moveTo>
                  <a:pt x="19702" y="-1"/>
                </a:moveTo>
                <a:cubicBezTo>
                  <a:pt x="20953" y="2783"/>
                  <a:pt x="21600" y="5800"/>
                  <a:pt x="21600" y="8852"/>
                </a:cubicBezTo>
                <a:cubicBezTo>
                  <a:pt x="21600" y="11815"/>
                  <a:pt x="20990" y="14746"/>
                  <a:pt x="19808" y="17464"/>
                </a:cubicBezTo>
                <a:lnTo>
                  <a:pt x="0" y="8852"/>
                </a:lnTo>
                <a:close/>
              </a:path>
            </a:pathLst>
          </a:custGeom>
          <a:solidFill>
            <a:srgbClr val="000000"/>
          </a:solidFill>
          <a:ln>
            <a:noFill/>
          </a:ln>
          <a:effectLst/>
          <a:extLst>
            <a:ext uri="{91240B29-F687-4F45-9708-019B960494DF}">
              <a14:hiddenLine xmlns:a14="http://schemas.microsoft.com/office/drawing/2010/main" w="127000" cap="rnd">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400" dirty="0">
              <a:latin typeface="Book Antiqua"/>
            </a:endParaRPr>
          </a:p>
        </p:txBody>
      </p:sp>
      <p:sp>
        <p:nvSpPr>
          <p:cNvPr id="27682" name="Line 34"/>
          <p:cNvSpPr>
            <a:spLocks noChangeShapeType="1"/>
          </p:cNvSpPr>
          <p:nvPr/>
        </p:nvSpPr>
        <p:spPr bwMode="auto">
          <a:xfrm>
            <a:off x="7640320" y="3683368"/>
            <a:ext cx="3269262"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400" dirty="0">
              <a:latin typeface="Book Antiqua"/>
            </a:endParaRPr>
          </a:p>
        </p:txBody>
      </p:sp>
      <p:sp>
        <p:nvSpPr>
          <p:cNvPr id="27683" name="Arc 35"/>
          <p:cNvSpPr>
            <a:spLocks/>
          </p:cNvSpPr>
          <p:nvPr/>
        </p:nvSpPr>
        <p:spPr bwMode="auto">
          <a:xfrm>
            <a:off x="10902810" y="4898053"/>
            <a:ext cx="171591" cy="137725"/>
          </a:xfrm>
          <a:custGeom>
            <a:avLst/>
            <a:gdLst>
              <a:gd name="G0" fmla="+- 21600 0 0"/>
              <a:gd name="G1" fmla="+- 8746 0 0"/>
              <a:gd name="G2" fmla="+- 21600 0 0"/>
              <a:gd name="T0" fmla="*/ 1747 w 21600"/>
              <a:gd name="T1" fmla="*/ 17254 h 17254"/>
              <a:gd name="T2" fmla="*/ 1851 w 21600"/>
              <a:gd name="T3" fmla="*/ 0 h 17254"/>
              <a:gd name="T4" fmla="*/ 21600 w 21600"/>
              <a:gd name="T5" fmla="*/ 8746 h 17254"/>
            </a:gdLst>
            <a:ahLst/>
            <a:cxnLst>
              <a:cxn ang="0">
                <a:pos x="T0" y="T1"/>
              </a:cxn>
              <a:cxn ang="0">
                <a:pos x="T2" y="T3"/>
              </a:cxn>
              <a:cxn ang="0">
                <a:pos x="T4" y="T5"/>
              </a:cxn>
            </a:cxnLst>
            <a:rect l="0" t="0" r="r" b="b"/>
            <a:pathLst>
              <a:path w="21600" h="17254" fill="none" extrusionOk="0">
                <a:moveTo>
                  <a:pt x="1746" y="17254"/>
                </a:moveTo>
                <a:cubicBezTo>
                  <a:pt x="594" y="14565"/>
                  <a:pt x="0" y="11671"/>
                  <a:pt x="0" y="8746"/>
                </a:cubicBezTo>
                <a:cubicBezTo>
                  <a:pt x="0" y="5733"/>
                  <a:pt x="630" y="2754"/>
                  <a:pt x="1850" y="-1"/>
                </a:cubicBezTo>
              </a:path>
              <a:path w="21600" h="17254" stroke="0" extrusionOk="0">
                <a:moveTo>
                  <a:pt x="1746" y="17254"/>
                </a:moveTo>
                <a:cubicBezTo>
                  <a:pt x="594" y="14565"/>
                  <a:pt x="0" y="11671"/>
                  <a:pt x="0" y="8746"/>
                </a:cubicBezTo>
                <a:cubicBezTo>
                  <a:pt x="0" y="5733"/>
                  <a:pt x="630" y="2754"/>
                  <a:pt x="1850" y="-1"/>
                </a:cubicBezTo>
                <a:lnTo>
                  <a:pt x="21600" y="8746"/>
                </a:lnTo>
                <a:close/>
              </a:path>
            </a:pathLst>
          </a:custGeom>
          <a:solidFill>
            <a:srgbClr val="000000"/>
          </a:solidFill>
          <a:ln>
            <a:noFill/>
          </a:ln>
          <a:effectLst/>
          <a:extLst>
            <a:ext uri="{91240B29-F687-4F45-9708-019B960494DF}">
              <a14:hiddenLine xmlns:a14="http://schemas.microsoft.com/office/drawing/2010/main" w="127000" cap="rnd">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400" dirty="0">
              <a:latin typeface="Book Antiqua"/>
            </a:endParaRPr>
          </a:p>
        </p:txBody>
      </p:sp>
      <p:sp>
        <p:nvSpPr>
          <p:cNvPr id="27684" name="Arc 36"/>
          <p:cNvSpPr>
            <a:spLocks/>
          </p:cNvSpPr>
          <p:nvPr/>
        </p:nvSpPr>
        <p:spPr bwMode="auto">
          <a:xfrm>
            <a:off x="7495822" y="4898053"/>
            <a:ext cx="171591" cy="137725"/>
          </a:xfrm>
          <a:custGeom>
            <a:avLst/>
            <a:gdLst>
              <a:gd name="G0" fmla="+- 0 0 0"/>
              <a:gd name="G1" fmla="+- 8852 0 0"/>
              <a:gd name="G2" fmla="+- 21600 0 0"/>
              <a:gd name="T0" fmla="*/ 19702 w 21600"/>
              <a:gd name="T1" fmla="*/ 0 h 17464"/>
              <a:gd name="T2" fmla="*/ 19808 w 21600"/>
              <a:gd name="T3" fmla="*/ 17464 h 17464"/>
              <a:gd name="T4" fmla="*/ 0 w 21600"/>
              <a:gd name="T5" fmla="*/ 8852 h 17464"/>
            </a:gdLst>
            <a:ahLst/>
            <a:cxnLst>
              <a:cxn ang="0">
                <a:pos x="T0" y="T1"/>
              </a:cxn>
              <a:cxn ang="0">
                <a:pos x="T2" y="T3"/>
              </a:cxn>
              <a:cxn ang="0">
                <a:pos x="T4" y="T5"/>
              </a:cxn>
            </a:cxnLst>
            <a:rect l="0" t="0" r="r" b="b"/>
            <a:pathLst>
              <a:path w="21600" h="17464" fill="none" extrusionOk="0">
                <a:moveTo>
                  <a:pt x="19702" y="-1"/>
                </a:moveTo>
                <a:cubicBezTo>
                  <a:pt x="20953" y="2783"/>
                  <a:pt x="21600" y="5800"/>
                  <a:pt x="21600" y="8852"/>
                </a:cubicBezTo>
                <a:cubicBezTo>
                  <a:pt x="21600" y="11815"/>
                  <a:pt x="20990" y="14746"/>
                  <a:pt x="19808" y="17464"/>
                </a:cubicBezTo>
              </a:path>
              <a:path w="21600" h="17464" stroke="0" extrusionOk="0">
                <a:moveTo>
                  <a:pt x="19702" y="-1"/>
                </a:moveTo>
                <a:cubicBezTo>
                  <a:pt x="20953" y="2783"/>
                  <a:pt x="21600" y="5800"/>
                  <a:pt x="21600" y="8852"/>
                </a:cubicBezTo>
                <a:cubicBezTo>
                  <a:pt x="21600" y="11815"/>
                  <a:pt x="20990" y="14746"/>
                  <a:pt x="19808" y="17464"/>
                </a:cubicBezTo>
                <a:lnTo>
                  <a:pt x="0" y="8852"/>
                </a:lnTo>
                <a:close/>
              </a:path>
            </a:pathLst>
          </a:custGeom>
          <a:solidFill>
            <a:srgbClr val="000000"/>
          </a:solidFill>
          <a:ln>
            <a:noFill/>
          </a:ln>
          <a:effectLst/>
          <a:extLst>
            <a:ext uri="{91240B29-F687-4F45-9708-019B960494DF}">
              <a14:hiddenLine xmlns:a14="http://schemas.microsoft.com/office/drawing/2010/main" w="127000" cap="rnd">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400" dirty="0">
              <a:latin typeface="Book Antiqua"/>
            </a:endParaRPr>
          </a:p>
        </p:txBody>
      </p:sp>
      <p:sp>
        <p:nvSpPr>
          <p:cNvPr id="27685" name="Line 37"/>
          <p:cNvSpPr>
            <a:spLocks noChangeShapeType="1"/>
          </p:cNvSpPr>
          <p:nvPr/>
        </p:nvSpPr>
        <p:spPr bwMode="auto">
          <a:xfrm>
            <a:off x="7640320" y="4983848"/>
            <a:ext cx="3269262"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400" dirty="0">
              <a:latin typeface="Book Antiqua"/>
            </a:endParaRPr>
          </a:p>
        </p:txBody>
      </p:sp>
      <p:sp>
        <p:nvSpPr>
          <p:cNvPr id="4" name="Title 3"/>
          <p:cNvSpPr>
            <a:spLocks noGrp="1"/>
          </p:cNvSpPr>
          <p:nvPr>
            <p:ph type="title"/>
          </p:nvPr>
        </p:nvSpPr>
        <p:spPr/>
        <p:txBody>
          <a:bodyPr/>
          <a:lstStyle/>
          <a:p>
            <a:r>
              <a:rPr lang="en-US" sz="3200" b="1" dirty="0" smtClean="0"/>
              <a:t>Comparison of Replication Alternatives</a:t>
            </a:r>
            <a:endParaRPr lang="en-US" sz="3200" b="1" dirty="0"/>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title"/>
          </p:nvPr>
        </p:nvSpPr>
        <p:spPr>
          <a:noFill/>
          <a:ln/>
        </p:spPr>
        <p:txBody>
          <a:bodyPr/>
          <a:lstStyle/>
          <a:p>
            <a:r>
              <a:rPr lang="en-US" sz="3200" b="1" dirty="0"/>
              <a:t>Fragmentation</a:t>
            </a:r>
            <a:endParaRPr lang="en-US" b="1" dirty="0"/>
          </a:p>
        </p:txBody>
      </p:sp>
      <p:sp>
        <p:nvSpPr>
          <p:cNvPr id="31746" name="Rectangle 2"/>
          <p:cNvSpPr>
            <a:spLocks noGrp="1" noChangeArrowheads="1"/>
          </p:cNvSpPr>
          <p:nvPr>
            <p:ph idx="1"/>
          </p:nvPr>
        </p:nvSpPr>
        <p:spPr>
          <a:noFill/>
          <a:ln/>
        </p:spPr>
        <p:txBody>
          <a:bodyPr/>
          <a:lstStyle/>
          <a:p>
            <a:pPr>
              <a:lnSpc>
                <a:spcPct val="100000"/>
              </a:lnSpc>
              <a:spcBef>
                <a:spcPct val="60000"/>
              </a:spcBef>
            </a:pPr>
            <a:r>
              <a:rPr lang="en-US" sz="2400" dirty="0"/>
              <a:t>Horizontal Fragmentation (HF</a:t>
            </a:r>
            <a:r>
              <a:rPr lang="en-US" sz="2400" dirty="0" smtClean="0"/>
              <a:t>)</a:t>
            </a:r>
          </a:p>
          <a:p>
            <a:pPr lvl="1">
              <a:spcBef>
                <a:spcPct val="60000"/>
              </a:spcBef>
            </a:pPr>
            <a:r>
              <a:rPr lang="en-US" sz="2200" dirty="0" smtClean="0"/>
              <a:t>Partitions relation along its tuples</a:t>
            </a:r>
            <a:endParaRPr lang="en-US" sz="2200" dirty="0"/>
          </a:p>
          <a:p>
            <a:pPr lvl="2">
              <a:spcBef>
                <a:spcPct val="60000"/>
              </a:spcBef>
            </a:pPr>
            <a:r>
              <a:rPr lang="en-US" sz="2200" dirty="0"/>
              <a:t>Primary Horizontal Fragmentation (PHF</a:t>
            </a:r>
            <a:r>
              <a:rPr lang="en-US" sz="2200" dirty="0" smtClean="0"/>
              <a:t>) is performed using predicates defined on that relation.</a:t>
            </a:r>
            <a:endParaRPr lang="en-US" sz="2200" dirty="0"/>
          </a:p>
          <a:p>
            <a:pPr lvl="2">
              <a:spcBef>
                <a:spcPct val="60000"/>
              </a:spcBef>
            </a:pPr>
            <a:r>
              <a:rPr lang="en-US" sz="2200" dirty="0"/>
              <a:t>Derived Horizontal Fragmentation (DHF</a:t>
            </a:r>
            <a:r>
              <a:rPr lang="en-US" sz="2200" dirty="0" smtClean="0"/>
              <a:t>) is performed based on predicates defined on another relation.</a:t>
            </a:r>
            <a:endParaRPr lang="en-US" sz="2200" dirty="0"/>
          </a:p>
          <a:p>
            <a:pPr>
              <a:lnSpc>
                <a:spcPct val="100000"/>
              </a:lnSpc>
              <a:spcBef>
                <a:spcPct val="60000"/>
              </a:spcBef>
            </a:pPr>
            <a:r>
              <a:rPr lang="en-US" sz="2400" dirty="0"/>
              <a:t>Vertical Fragmentation (VF)</a:t>
            </a:r>
          </a:p>
          <a:p>
            <a:pPr>
              <a:lnSpc>
                <a:spcPct val="100000"/>
              </a:lnSpc>
              <a:spcBef>
                <a:spcPct val="60000"/>
              </a:spcBef>
            </a:pPr>
            <a:r>
              <a:rPr lang="en-US" sz="2400" dirty="0"/>
              <a:t>Hybrid Fragmentation (</a:t>
            </a:r>
            <a:r>
              <a:rPr lang="en-US" sz="2400" dirty="0" err="1" smtClean="0"/>
              <a:t>HyF</a:t>
            </a:r>
            <a:r>
              <a:rPr lang="en-US" sz="2400" dirty="0"/>
              <a:t>)</a:t>
            </a: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title"/>
          </p:nvPr>
        </p:nvSpPr>
        <p:spPr>
          <a:noFill/>
          <a:ln/>
        </p:spPr>
        <p:txBody>
          <a:bodyPr/>
          <a:lstStyle/>
          <a:p>
            <a:r>
              <a:rPr lang="en-US" sz="3200" b="1" dirty="0"/>
              <a:t>Information Requirements</a:t>
            </a:r>
          </a:p>
        </p:txBody>
      </p:sp>
      <p:sp>
        <p:nvSpPr>
          <p:cNvPr id="29698" name="Rectangle 2"/>
          <p:cNvSpPr>
            <a:spLocks noGrp="1" noChangeArrowheads="1"/>
          </p:cNvSpPr>
          <p:nvPr>
            <p:ph idx="1"/>
          </p:nvPr>
        </p:nvSpPr>
        <p:spPr>
          <a:noFill/>
          <a:ln/>
        </p:spPr>
        <p:txBody>
          <a:bodyPr/>
          <a:lstStyle/>
          <a:p>
            <a:pPr>
              <a:lnSpc>
                <a:spcPct val="100000"/>
              </a:lnSpc>
              <a:spcBef>
                <a:spcPct val="50000"/>
              </a:spcBef>
            </a:pPr>
            <a:r>
              <a:rPr lang="en-US" dirty="0"/>
              <a:t>Four categories</a:t>
            </a:r>
            <a:r>
              <a:rPr lang="en-US" dirty="0" smtClean="0"/>
              <a:t>:</a:t>
            </a:r>
            <a:endParaRPr lang="en-US" dirty="0"/>
          </a:p>
          <a:p>
            <a:pPr lvl="1">
              <a:spcBef>
                <a:spcPct val="50000"/>
              </a:spcBef>
            </a:pPr>
            <a:r>
              <a:rPr lang="en-US" dirty="0"/>
              <a:t>	Database </a:t>
            </a:r>
            <a:r>
              <a:rPr lang="en-US" dirty="0" smtClean="0"/>
              <a:t>information - logical </a:t>
            </a:r>
            <a:r>
              <a:rPr lang="en-US" dirty="0"/>
              <a:t>organization of </a:t>
            </a:r>
            <a:r>
              <a:rPr lang="en-US" dirty="0" smtClean="0"/>
              <a:t>database</a:t>
            </a:r>
            <a:endParaRPr lang="en-US" dirty="0"/>
          </a:p>
          <a:p>
            <a:pPr lvl="1">
              <a:lnSpc>
                <a:spcPct val="100000"/>
              </a:lnSpc>
              <a:spcBef>
                <a:spcPct val="50000"/>
              </a:spcBef>
            </a:pPr>
            <a:r>
              <a:rPr lang="en-US" dirty="0"/>
              <a:t>	Application </a:t>
            </a:r>
            <a:r>
              <a:rPr lang="en-US" dirty="0" smtClean="0"/>
              <a:t>information - location of applications</a:t>
            </a:r>
            <a:endParaRPr lang="en-US" dirty="0"/>
          </a:p>
          <a:p>
            <a:pPr lvl="1">
              <a:lnSpc>
                <a:spcPct val="100000"/>
              </a:lnSpc>
              <a:spcBef>
                <a:spcPct val="50000"/>
              </a:spcBef>
            </a:pPr>
            <a:r>
              <a:rPr lang="en-US" dirty="0"/>
              <a:t>	Communication network </a:t>
            </a:r>
            <a:r>
              <a:rPr lang="en-US" dirty="0" smtClean="0"/>
              <a:t>information - access characteristics of the applications to the database (quantitative, used in allocation models)</a:t>
            </a:r>
            <a:endParaRPr lang="en-US" dirty="0"/>
          </a:p>
          <a:p>
            <a:pPr lvl="1">
              <a:spcBef>
                <a:spcPct val="50000"/>
              </a:spcBef>
            </a:pPr>
            <a:r>
              <a:rPr lang="en-US" dirty="0"/>
              <a:t>	Computer system </a:t>
            </a:r>
            <a:r>
              <a:rPr lang="en-US" dirty="0" smtClean="0"/>
              <a:t>information  - properties or capabilities of computer systems at each </a:t>
            </a:r>
            <a:r>
              <a:rPr lang="en-US" dirty="0"/>
              <a:t>site (quantitative, used in allocation models)</a:t>
            </a:r>
          </a:p>
          <a:p>
            <a:pPr lvl="1">
              <a:lnSpc>
                <a:spcPct val="100000"/>
              </a:lnSpc>
              <a:spcBef>
                <a:spcPct val="50000"/>
              </a:spcBef>
            </a:pPr>
            <a:endParaRPr lang="en-US" dirty="0"/>
          </a:p>
        </p:txBody>
      </p:sp>
    </p:spTree>
    <p:extLst>
      <p:ext uri="{BB962C8B-B14F-4D97-AF65-F5344CB8AC3E}">
        <p14:creationId xmlns:p14="http://schemas.microsoft.com/office/powerpoint/2010/main" val="2498437715"/>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E37D4F0C-152B-054F-ABE3-C9D65816304B}" type="slidenum">
              <a:rPr lang="en-US" smtClean="0"/>
              <a:pPr/>
              <a:t>31</a:t>
            </a:fld>
            <a:endParaRPr lang="en-US" dirty="0"/>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704" y="955888"/>
            <a:ext cx="12477498" cy="78093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2932942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E37D4F0C-152B-054F-ABE3-C9D65816304B}" type="slidenum">
              <a:rPr lang="en-US" smtClean="0"/>
              <a:pPr/>
              <a:t>32</a:t>
            </a:fld>
            <a:endParaRPr lang="en-US" dirty="0"/>
          </a:p>
        </p:txBody>
      </p:sp>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36" y="2228850"/>
            <a:ext cx="11593288" cy="73795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123578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E37D4F0C-152B-054F-ABE3-C9D65816304B}" type="slidenum">
              <a:rPr lang="en-US" smtClean="0"/>
              <a:pPr/>
              <a:t>33</a:t>
            </a:fld>
            <a:endParaRPr lang="en-US" dirty="0"/>
          </a:p>
        </p:txBody>
      </p:sp>
      <p:pic>
        <p:nvPicPr>
          <p:cNvPr id="286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728" y="1132384"/>
            <a:ext cx="11953328" cy="70562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6800281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E37D4F0C-152B-054F-ABE3-C9D65816304B}" type="slidenum">
              <a:rPr lang="en-US" smtClean="0"/>
              <a:pPr/>
              <a:t>34</a:t>
            </a:fld>
            <a:endParaRPr lang="en-US" dirty="0"/>
          </a:p>
        </p:txBody>
      </p:sp>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08448"/>
            <a:ext cx="12191032" cy="70590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1182547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E37D4F0C-152B-054F-ABE3-C9D65816304B}" type="slidenum">
              <a:rPr lang="en-US" smtClean="0"/>
              <a:pPr/>
              <a:t>35</a:t>
            </a:fld>
            <a:endParaRPr lang="en-US" dirty="0"/>
          </a:p>
        </p:txBody>
      </p:sp>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4464" y="1636440"/>
            <a:ext cx="13631564" cy="66666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6291199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type="title"/>
          </p:nvPr>
        </p:nvSpPr>
        <p:spPr>
          <a:noFill/>
          <a:ln/>
        </p:spPr>
        <p:txBody>
          <a:bodyPr/>
          <a:lstStyle/>
          <a:p>
            <a:r>
              <a:rPr lang="en-US" sz="3200" b="1" dirty="0"/>
              <a:t>PHF - Information Requirements</a:t>
            </a:r>
          </a:p>
        </p:txBody>
      </p:sp>
      <p:sp>
        <p:nvSpPr>
          <p:cNvPr id="35842" name="Rectangle 2"/>
          <p:cNvSpPr>
            <a:spLocks noGrp="1" noChangeArrowheads="1"/>
          </p:cNvSpPr>
          <p:nvPr>
            <p:ph idx="1"/>
          </p:nvPr>
        </p:nvSpPr>
        <p:spPr>
          <a:noFill/>
          <a:ln/>
        </p:spPr>
        <p:txBody>
          <a:bodyPr/>
          <a:lstStyle/>
          <a:p>
            <a:r>
              <a:rPr lang="en-US" dirty="0"/>
              <a:t>Application Information</a:t>
            </a:r>
          </a:p>
          <a:p>
            <a:pPr lvl="1"/>
            <a:r>
              <a:rPr lang="en-US" b="1" dirty="0">
                <a:solidFill>
                  <a:schemeClr val="tx2"/>
                </a:solidFill>
              </a:rPr>
              <a:t>simple predicates</a:t>
            </a:r>
            <a:r>
              <a:rPr lang="en-US" dirty="0">
                <a:solidFill>
                  <a:schemeClr val="tx2"/>
                </a:solidFill>
              </a:rPr>
              <a:t> </a:t>
            </a:r>
            <a:r>
              <a:rPr lang="en-US" dirty="0"/>
              <a:t>: Given </a:t>
            </a:r>
            <a:r>
              <a:rPr lang="en-US" i="1" dirty="0"/>
              <a:t>R</a:t>
            </a:r>
            <a:r>
              <a:rPr lang="en-US" dirty="0"/>
              <a:t>[</a:t>
            </a:r>
            <a:r>
              <a:rPr lang="en-US" i="1" dirty="0"/>
              <a:t>A</a:t>
            </a:r>
            <a:r>
              <a:rPr lang="en-US" baseline="-25000" dirty="0"/>
              <a:t>1</a:t>
            </a:r>
            <a:r>
              <a:rPr lang="en-US" dirty="0"/>
              <a:t>, </a:t>
            </a:r>
            <a:r>
              <a:rPr lang="en-US" i="1" dirty="0"/>
              <a:t>A</a:t>
            </a:r>
            <a:r>
              <a:rPr lang="en-US" baseline="-25000" dirty="0"/>
              <a:t>2</a:t>
            </a:r>
            <a:r>
              <a:rPr lang="en-US" dirty="0"/>
              <a:t>, …, </a:t>
            </a:r>
            <a:r>
              <a:rPr lang="en-US" i="1" dirty="0"/>
              <a:t>A</a:t>
            </a:r>
            <a:r>
              <a:rPr lang="en-US" i="1" baseline="-25000" dirty="0"/>
              <a:t>n</a:t>
            </a:r>
            <a:r>
              <a:rPr lang="en-US" dirty="0"/>
              <a:t>], a simple predicate </a:t>
            </a:r>
            <a:r>
              <a:rPr lang="en-US" i="1" dirty="0" err="1"/>
              <a:t>p</a:t>
            </a:r>
            <a:r>
              <a:rPr lang="en-US" i="1" baseline="-25000" dirty="0" err="1"/>
              <a:t>j</a:t>
            </a:r>
            <a:r>
              <a:rPr lang="en-US" dirty="0"/>
              <a:t>  is</a:t>
            </a:r>
          </a:p>
          <a:p>
            <a:pPr lvl="2">
              <a:buFont typeface="Monotype Sorts" charset="0"/>
              <a:buNone/>
            </a:pPr>
            <a:r>
              <a:rPr lang="en-US" dirty="0"/>
              <a:t>		</a:t>
            </a:r>
            <a:r>
              <a:rPr lang="en-US" sz="2800" i="1" dirty="0" err="1"/>
              <a:t>p</a:t>
            </a:r>
            <a:r>
              <a:rPr lang="en-US" sz="2800" i="1" baseline="-25000" dirty="0" err="1"/>
              <a:t>j</a:t>
            </a:r>
            <a:r>
              <a:rPr lang="en-US" sz="2800" dirty="0"/>
              <a:t> : </a:t>
            </a:r>
            <a:r>
              <a:rPr lang="en-US" sz="2800" i="1" dirty="0"/>
              <a:t>A</a:t>
            </a:r>
            <a:r>
              <a:rPr lang="en-US" sz="2800" i="1" baseline="-25000" dirty="0"/>
              <a:t>i</a:t>
            </a:r>
            <a:r>
              <a:rPr lang="en-US" sz="2800" i="1" dirty="0"/>
              <a:t> </a:t>
            </a:r>
            <a:r>
              <a:rPr lang="en-US" sz="2800" dirty="0" err="1" smtClean="0">
                <a:cs typeface="Book Antiqua"/>
              </a:rPr>
              <a:t>θ</a:t>
            </a:r>
            <a:r>
              <a:rPr lang="en-US" sz="2800" i="1" dirty="0" err="1" smtClean="0"/>
              <a:t>Value</a:t>
            </a:r>
            <a:endParaRPr lang="en-US" i="1" dirty="0">
              <a:cs typeface="Book Antiqua"/>
            </a:endParaRPr>
          </a:p>
          <a:p>
            <a:pPr lvl="1">
              <a:buFont typeface="Monotype Sorts" charset="0"/>
              <a:buNone/>
            </a:pPr>
            <a:r>
              <a:rPr lang="en-US" dirty="0"/>
              <a:t>	where </a:t>
            </a:r>
            <a:r>
              <a:rPr lang="en-US" sz="2400" dirty="0" err="1" smtClean="0">
                <a:cs typeface="Book Antiqua"/>
              </a:rPr>
              <a:t>θ</a:t>
            </a:r>
            <a:r>
              <a:rPr lang="en-US" sz="2400" i="1" dirty="0" smtClean="0">
                <a:cs typeface="Book Antiqua"/>
              </a:rPr>
              <a:t> </a:t>
            </a:r>
            <a:r>
              <a:rPr lang="en-US" dirty="0" smtClean="0">
                <a:latin typeface="Symbol" charset="0"/>
                <a:sym typeface="Symbol"/>
              </a:rPr>
              <a:t> </a:t>
            </a:r>
            <a:r>
              <a:rPr lang="en-US" dirty="0" smtClean="0"/>
              <a:t>{=,&lt;,</a:t>
            </a:r>
            <a:r>
              <a:rPr lang="en-US" dirty="0"/>
              <a:t>≤,&gt;,≥,≠}, </a:t>
            </a:r>
            <a:r>
              <a:rPr lang="en-US" i="1" dirty="0" smtClean="0"/>
              <a:t>Value </a:t>
            </a:r>
            <a:r>
              <a:rPr lang="en-US" dirty="0" smtClean="0">
                <a:latin typeface="Symbol" charset="0"/>
                <a:sym typeface="Symbol"/>
              </a:rPr>
              <a:t> </a:t>
            </a:r>
            <a:r>
              <a:rPr lang="en-US" i="1" dirty="0" smtClean="0"/>
              <a:t>D</a:t>
            </a:r>
            <a:r>
              <a:rPr lang="en-US" i="1" baseline="-25000" dirty="0" smtClean="0"/>
              <a:t>i</a:t>
            </a:r>
            <a:r>
              <a:rPr lang="en-US" b="1" dirty="0" smtClean="0"/>
              <a:t>  </a:t>
            </a:r>
            <a:r>
              <a:rPr lang="en-US" dirty="0"/>
              <a:t>and </a:t>
            </a:r>
            <a:r>
              <a:rPr lang="en-US" i="1" dirty="0"/>
              <a:t>D</a:t>
            </a:r>
            <a:r>
              <a:rPr lang="en-US" i="1" baseline="-25000" dirty="0"/>
              <a:t>i</a:t>
            </a:r>
            <a:r>
              <a:rPr lang="en-US" b="1" dirty="0"/>
              <a:t> </a:t>
            </a:r>
            <a:r>
              <a:rPr lang="en-US" dirty="0"/>
              <a:t> is the domain of </a:t>
            </a:r>
            <a:r>
              <a:rPr lang="en-US" i="1" dirty="0"/>
              <a:t>A</a:t>
            </a:r>
            <a:r>
              <a:rPr lang="en-US" i="1" baseline="-25000" dirty="0"/>
              <a:t>i</a:t>
            </a:r>
            <a:r>
              <a:rPr lang="en-US" dirty="0"/>
              <a:t>.</a:t>
            </a:r>
          </a:p>
          <a:p>
            <a:pPr lvl="1">
              <a:buFont typeface="Monotype Sorts" charset="0"/>
              <a:buNone/>
            </a:pPr>
            <a:r>
              <a:rPr lang="en-US" dirty="0"/>
              <a:t>	For  relation </a:t>
            </a:r>
            <a:r>
              <a:rPr lang="en-US" i="1" dirty="0"/>
              <a:t>R</a:t>
            </a:r>
            <a:r>
              <a:rPr lang="en-US" dirty="0"/>
              <a:t>  we define </a:t>
            </a:r>
            <a:r>
              <a:rPr lang="en-US" i="1" dirty="0" err="1"/>
              <a:t>Pr</a:t>
            </a:r>
            <a:r>
              <a:rPr lang="en-US" i="1" dirty="0"/>
              <a:t> </a:t>
            </a:r>
            <a:r>
              <a:rPr lang="en-US" dirty="0"/>
              <a:t>= {</a:t>
            </a:r>
            <a:r>
              <a:rPr lang="en-US" i="1" dirty="0"/>
              <a:t>p</a:t>
            </a:r>
            <a:r>
              <a:rPr lang="en-US" baseline="-25000" dirty="0"/>
              <a:t>1</a:t>
            </a:r>
            <a:r>
              <a:rPr lang="en-US" dirty="0"/>
              <a:t>, </a:t>
            </a:r>
            <a:r>
              <a:rPr lang="en-US" i="1" dirty="0"/>
              <a:t>p</a:t>
            </a:r>
            <a:r>
              <a:rPr lang="en-US" i="1" baseline="-25000" dirty="0"/>
              <a:t>2</a:t>
            </a:r>
            <a:r>
              <a:rPr lang="en-US" dirty="0"/>
              <a:t>, …,</a:t>
            </a:r>
            <a:r>
              <a:rPr lang="en-US" i="1" dirty="0"/>
              <a:t>p</a:t>
            </a:r>
            <a:r>
              <a:rPr lang="en-US" i="1" baseline="-25000" dirty="0"/>
              <a:t>m</a:t>
            </a:r>
            <a:r>
              <a:rPr lang="en-US" dirty="0"/>
              <a:t>}</a:t>
            </a:r>
          </a:p>
          <a:p>
            <a:pPr lvl="1">
              <a:buFont typeface="Monotype Sorts" charset="0"/>
              <a:buNone/>
            </a:pPr>
            <a:r>
              <a:rPr lang="en-US" dirty="0"/>
              <a:t>	Example :</a:t>
            </a:r>
          </a:p>
          <a:p>
            <a:pPr lvl="3">
              <a:buFont typeface="Monotype Sorts" charset="0"/>
              <a:buNone/>
            </a:pPr>
            <a:r>
              <a:rPr lang="en-US" sz="2600" dirty="0"/>
              <a:t>PNAME = "Maintenance"</a:t>
            </a:r>
          </a:p>
          <a:p>
            <a:pPr lvl="3">
              <a:buFont typeface="Monotype Sorts" charset="0"/>
              <a:buNone/>
            </a:pPr>
            <a:r>
              <a:rPr lang="en-US" sz="2600" dirty="0"/>
              <a:t>BUDGET ≤ 200000</a:t>
            </a:r>
          </a:p>
          <a:p>
            <a:pPr lvl="1"/>
            <a:r>
              <a:rPr lang="en-US" b="1" dirty="0" err="1">
                <a:solidFill>
                  <a:schemeClr val="tx2"/>
                </a:solidFill>
              </a:rPr>
              <a:t>minterm</a:t>
            </a:r>
            <a:r>
              <a:rPr lang="en-US" b="1" dirty="0">
                <a:solidFill>
                  <a:schemeClr val="tx2"/>
                </a:solidFill>
              </a:rPr>
              <a:t> predicates</a:t>
            </a:r>
            <a:r>
              <a:rPr lang="en-US" dirty="0">
                <a:solidFill>
                  <a:schemeClr val="tx2"/>
                </a:solidFill>
              </a:rPr>
              <a:t> </a:t>
            </a:r>
            <a:r>
              <a:rPr lang="en-US" dirty="0"/>
              <a:t>: Given  </a:t>
            </a:r>
            <a:r>
              <a:rPr lang="en-US" i="1" dirty="0"/>
              <a:t>R</a:t>
            </a:r>
            <a:r>
              <a:rPr lang="en-US" dirty="0"/>
              <a:t> and </a:t>
            </a:r>
            <a:r>
              <a:rPr lang="en-US" i="1" dirty="0" smtClean="0"/>
              <a:t>Pr </a:t>
            </a:r>
            <a:r>
              <a:rPr lang="en-US" dirty="0" smtClean="0"/>
              <a:t>= {</a:t>
            </a:r>
            <a:r>
              <a:rPr lang="en-US" i="1" dirty="0"/>
              <a:t>p</a:t>
            </a:r>
            <a:r>
              <a:rPr lang="en-US" i="1" baseline="-25000" dirty="0"/>
              <a:t>1</a:t>
            </a:r>
            <a:r>
              <a:rPr lang="en-US" dirty="0"/>
              <a:t>, </a:t>
            </a:r>
            <a:r>
              <a:rPr lang="en-US" i="1" dirty="0"/>
              <a:t>p</a:t>
            </a:r>
            <a:r>
              <a:rPr lang="en-US" i="1" baseline="-25000" dirty="0"/>
              <a:t>2</a:t>
            </a:r>
            <a:r>
              <a:rPr lang="en-US" dirty="0"/>
              <a:t>, …,</a:t>
            </a:r>
            <a:r>
              <a:rPr lang="en-US" i="1" dirty="0"/>
              <a:t>p</a:t>
            </a:r>
            <a:r>
              <a:rPr lang="en-US" i="1" baseline="-25000" dirty="0"/>
              <a:t>m</a:t>
            </a:r>
            <a:r>
              <a:rPr lang="en-US" dirty="0"/>
              <a:t>}</a:t>
            </a:r>
          </a:p>
          <a:p>
            <a:pPr lvl="1">
              <a:buFont typeface="Monotype Sorts" charset="0"/>
              <a:buNone/>
            </a:pPr>
            <a:r>
              <a:rPr lang="en-US" dirty="0"/>
              <a:t>	define </a:t>
            </a:r>
            <a:r>
              <a:rPr lang="en-US" i="1" dirty="0" smtClean="0"/>
              <a:t>M </a:t>
            </a:r>
            <a:r>
              <a:rPr lang="en-US" dirty="0" smtClean="0"/>
              <a:t>= {</a:t>
            </a:r>
            <a:r>
              <a:rPr lang="en-US" i="1" dirty="0"/>
              <a:t>m</a:t>
            </a:r>
            <a:r>
              <a:rPr lang="en-US" i="1" baseline="-25000" dirty="0"/>
              <a:t>1</a:t>
            </a:r>
            <a:r>
              <a:rPr lang="en-US" dirty="0"/>
              <a:t>,</a:t>
            </a:r>
            <a:r>
              <a:rPr lang="en-US" i="1" dirty="0"/>
              <a:t>m</a:t>
            </a:r>
            <a:r>
              <a:rPr lang="en-US" i="1" baseline="-25000" dirty="0"/>
              <a:t>2</a:t>
            </a:r>
            <a:r>
              <a:rPr lang="en-US" dirty="0"/>
              <a:t>,…,</a:t>
            </a:r>
            <a:r>
              <a:rPr lang="en-US" i="1" dirty="0" err="1"/>
              <a:t>m</a:t>
            </a:r>
            <a:r>
              <a:rPr lang="en-US" i="1" baseline="-25000" dirty="0" err="1"/>
              <a:t>r</a:t>
            </a:r>
            <a:r>
              <a:rPr lang="en-US" dirty="0"/>
              <a:t>} as</a:t>
            </a:r>
          </a:p>
          <a:p>
            <a:pPr lvl="1">
              <a:spcBef>
                <a:spcPts val="0"/>
              </a:spcBef>
              <a:buFont typeface="Monotype Sorts" charset="0"/>
              <a:buNone/>
            </a:pPr>
            <a:r>
              <a:rPr lang="en-US" i="1" dirty="0"/>
              <a:t>			</a:t>
            </a:r>
            <a:r>
              <a:rPr lang="en-US" i="1" dirty="0" smtClean="0"/>
              <a:t>M </a:t>
            </a:r>
            <a:r>
              <a:rPr lang="en-US" dirty="0" smtClean="0"/>
              <a:t>= { </a:t>
            </a:r>
            <a:r>
              <a:rPr lang="en-US" i="1" dirty="0" smtClean="0"/>
              <a:t>m</a:t>
            </a:r>
            <a:r>
              <a:rPr lang="en-US" i="1" baseline="-25000" dirty="0" smtClean="0"/>
              <a:t>i </a:t>
            </a:r>
            <a:r>
              <a:rPr lang="en-US" dirty="0" smtClean="0"/>
              <a:t>| </a:t>
            </a:r>
            <a:r>
              <a:rPr lang="en-US" i="1" dirty="0" smtClean="0"/>
              <a:t>m</a:t>
            </a:r>
            <a:r>
              <a:rPr lang="en-US" i="1" baseline="-25000" dirty="0" smtClean="0"/>
              <a:t>i</a:t>
            </a:r>
            <a:r>
              <a:rPr lang="en-US" dirty="0" smtClean="0"/>
              <a:t> </a:t>
            </a:r>
            <a:r>
              <a:rPr lang="en-US" dirty="0"/>
              <a:t>=  </a:t>
            </a:r>
            <a:r>
              <a:rPr lang="en-US" sz="4400" dirty="0" smtClean="0">
                <a:latin typeface="Symbol" charset="2"/>
                <a:cs typeface="Symbol" charset="2"/>
                <a:sym typeface="Symbol"/>
              </a:rPr>
              <a:t></a:t>
            </a:r>
            <a:r>
              <a:rPr lang="en-US" i="1" baseline="-25000" dirty="0" err="1" smtClean="0"/>
              <a:t>p</a:t>
            </a:r>
            <a:r>
              <a:rPr lang="en-US" i="1" baseline="-50000" dirty="0" err="1" smtClean="0"/>
              <a:t>j</a:t>
            </a:r>
            <a:r>
              <a:rPr lang="en-US" baseline="-25000" dirty="0" err="1" smtClean="0">
                <a:latin typeface="Symbol" charset="0"/>
                <a:sym typeface="Symbol"/>
              </a:rPr>
              <a:t></a:t>
            </a:r>
            <a:r>
              <a:rPr lang="en-US" i="1" baseline="-25000" dirty="0" err="1" smtClean="0"/>
              <a:t>Pr</a:t>
            </a:r>
            <a:r>
              <a:rPr lang="en-US" dirty="0" smtClean="0">
                <a:latin typeface="Symbol" charset="0"/>
              </a:rPr>
              <a:t> </a:t>
            </a:r>
            <a:r>
              <a:rPr lang="en-US" i="1" dirty="0" err="1" smtClean="0"/>
              <a:t>p</a:t>
            </a:r>
            <a:r>
              <a:rPr lang="en-US" i="1" baseline="-25000" dirty="0" err="1" smtClean="0"/>
              <a:t>j</a:t>
            </a:r>
            <a:r>
              <a:rPr lang="en-US" dirty="0"/>
              <a:t>* }, 1≤</a:t>
            </a:r>
            <a:r>
              <a:rPr lang="en-US" i="1" dirty="0"/>
              <a:t>j</a:t>
            </a:r>
            <a:r>
              <a:rPr lang="en-US" dirty="0"/>
              <a:t>≤</a:t>
            </a:r>
            <a:r>
              <a:rPr lang="en-US" i="1" dirty="0"/>
              <a:t>m</a:t>
            </a:r>
            <a:r>
              <a:rPr lang="en-US" dirty="0"/>
              <a:t>, 1≤</a:t>
            </a:r>
            <a:r>
              <a:rPr lang="en-US" i="1" dirty="0"/>
              <a:t>i</a:t>
            </a:r>
            <a:r>
              <a:rPr lang="en-US" dirty="0"/>
              <a:t>≤</a:t>
            </a:r>
            <a:r>
              <a:rPr lang="en-US" i="1" dirty="0"/>
              <a:t>z</a:t>
            </a:r>
          </a:p>
          <a:p>
            <a:pPr lvl="1">
              <a:buFont typeface="Monotype Sorts" charset="0"/>
              <a:buNone/>
            </a:pPr>
            <a:r>
              <a:rPr lang="en-US" dirty="0"/>
              <a:t>	where</a:t>
            </a:r>
            <a:r>
              <a:rPr lang="en-US" i="1" dirty="0"/>
              <a:t> </a:t>
            </a:r>
            <a:r>
              <a:rPr lang="en-US" i="1" dirty="0" err="1"/>
              <a:t>p</a:t>
            </a:r>
            <a:r>
              <a:rPr lang="en-US" i="1" baseline="-25000" dirty="0" err="1"/>
              <a:t>j</a:t>
            </a:r>
            <a:r>
              <a:rPr lang="en-US" dirty="0"/>
              <a:t>* = </a:t>
            </a:r>
            <a:r>
              <a:rPr lang="en-US" i="1" dirty="0" err="1"/>
              <a:t>p</a:t>
            </a:r>
            <a:r>
              <a:rPr lang="en-US" i="1" baseline="-25000" dirty="0" err="1"/>
              <a:t>j</a:t>
            </a:r>
            <a:r>
              <a:rPr lang="en-US" dirty="0"/>
              <a:t> or</a:t>
            </a:r>
            <a:r>
              <a:rPr lang="en-US" i="1" dirty="0"/>
              <a:t> </a:t>
            </a:r>
            <a:r>
              <a:rPr lang="en-US" i="1" dirty="0" err="1"/>
              <a:t>p</a:t>
            </a:r>
            <a:r>
              <a:rPr lang="en-US" i="1" baseline="-25000" dirty="0" err="1"/>
              <a:t>j</a:t>
            </a:r>
            <a:r>
              <a:rPr lang="en-US" dirty="0"/>
              <a:t>* = ¬(</a:t>
            </a:r>
            <a:r>
              <a:rPr lang="en-US" i="1" dirty="0" err="1"/>
              <a:t>p</a:t>
            </a:r>
            <a:r>
              <a:rPr lang="en-US" i="1" baseline="-25000" dirty="0" err="1"/>
              <a:t>j</a:t>
            </a:r>
            <a:r>
              <a:rPr lang="en-US" dirty="0"/>
              <a:t>).</a:t>
            </a:r>
          </a:p>
          <a:p>
            <a:endParaRPr lang="en-US" dirty="0"/>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type="title"/>
          </p:nvPr>
        </p:nvSpPr>
        <p:spPr>
          <a:xfrm>
            <a:off x="309712" y="444500"/>
            <a:ext cx="12649200" cy="1612900"/>
          </a:xfrm>
          <a:noFill/>
          <a:ln/>
        </p:spPr>
        <p:txBody>
          <a:bodyPr/>
          <a:lstStyle/>
          <a:p>
            <a:r>
              <a:rPr lang="en-US" sz="3200" b="1" dirty="0"/>
              <a:t>PHF – Information Requirements</a:t>
            </a:r>
          </a:p>
        </p:txBody>
      </p:sp>
      <p:sp>
        <p:nvSpPr>
          <p:cNvPr id="37890" name="Rectangle 2"/>
          <p:cNvSpPr>
            <a:spLocks noGrp="1" noChangeArrowheads="1"/>
          </p:cNvSpPr>
          <p:nvPr>
            <p:ph idx="1"/>
          </p:nvPr>
        </p:nvSpPr>
        <p:spPr>
          <a:xfrm>
            <a:off x="630932" y="2489200"/>
            <a:ext cx="11560100" cy="6769100"/>
          </a:xfrm>
          <a:noFill/>
          <a:ln/>
        </p:spPr>
        <p:txBody>
          <a:bodyPr/>
          <a:lstStyle/>
          <a:p>
            <a:pPr>
              <a:lnSpc>
                <a:spcPct val="100000"/>
              </a:lnSpc>
              <a:spcBef>
                <a:spcPct val="75000"/>
              </a:spcBef>
              <a:buFont typeface="Monotype Sorts" charset="0"/>
              <a:buNone/>
            </a:pPr>
            <a:r>
              <a:rPr lang="en-US" dirty="0">
                <a:solidFill>
                  <a:schemeClr val="hlink"/>
                </a:solidFill>
              </a:rPr>
              <a:t>Example</a:t>
            </a:r>
            <a:endParaRPr lang="en-US" dirty="0"/>
          </a:p>
          <a:p>
            <a:pPr lvl="1">
              <a:lnSpc>
                <a:spcPct val="100000"/>
              </a:lnSpc>
              <a:spcBef>
                <a:spcPct val="75000"/>
              </a:spcBef>
              <a:buFont typeface="Monotype Sorts" charset="0"/>
              <a:buNone/>
            </a:pPr>
            <a:r>
              <a:rPr lang="en-US" i="1" dirty="0"/>
              <a:t>m</a:t>
            </a:r>
            <a:r>
              <a:rPr lang="en-US" baseline="-25000" dirty="0"/>
              <a:t>1</a:t>
            </a:r>
            <a:r>
              <a:rPr lang="en-US" dirty="0"/>
              <a:t>: PNAME="Maintenance</a:t>
            </a:r>
            <a:r>
              <a:rPr lang="en-US" dirty="0" smtClean="0"/>
              <a:t>"</a:t>
            </a:r>
            <a:r>
              <a:rPr lang="en-US" sz="2800" dirty="0" smtClean="0">
                <a:latin typeface="Symbol" charset="2"/>
                <a:cs typeface="Symbol" charset="2"/>
                <a:sym typeface="Symbol"/>
              </a:rPr>
              <a:t> </a:t>
            </a:r>
            <a:r>
              <a:rPr lang="en-US" dirty="0" smtClean="0"/>
              <a:t> </a:t>
            </a:r>
            <a:r>
              <a:rPr lang="en-US" dirty="0"/>
              <a:t>BUDGET≤200000</a:t>
            </a:r>
          </a:p>
          <a:p>
            <a:pPr lvl="1">
              <a:lnSpc>
                <a:spcPct val="100000"/>
              </a:lnSpc>
              <a:spcBef>
                <a:spcPct val="75000"/>
              </a:spcBef>
              <a:buFont typeface="Monotype Sorts" charset="0"/>
              <a:buNone/>
            </a:pPr>
            <a:r>
              <a:rPr lang="en-US" i="1" dirty="0"/>
              <a:t>m</a:t>
            </a:r>
            <a:r>
              <a:rPr lang="en-US" baseline="-25000" dirty="0"/>
              <a:t>2</a:t>
            </a:r>
            <a:r>
              <a:rPr lang="en-US" dirty="0"/>
              <a:t>: </a:t>
            </a:r>
            <a:r>
              <a:rPr lang="en-US" b="1" dirty="0"/>
              <a:t>NOT</a:t>
            </a:r>
            <a:r>
              <a:rPr lang="en-US" dirty="0"/>
              <a:t>(PNAME="Maintenance"</a:t>
            </a:r>
            <a:r>
              <a:rPr lang="en-US" dirty="0" smtClean="0"/>
              <a:t>)</a:t>
            </a:r>
            <a:r>
              <a:rPr lang="en-US" sz="2800" dirty="0">
                <a:latin typeface="Symbol" charset="2"/>
                <a:cs typeface="Symbol" charset="2"/>
              </a:rPr>
              <a:t> </a:t>
            </a:r>
            <a:r>
              <a:rPr lang="en-US" sz="2800" dirty="0" smtClean="0">
                <a:latin typeface="Symbol" charset="2"/>
                <a:cs typeface="Symbol" charset="2"/>
                <a:sym typeface="Symbol"/>
              </a:rPr>
              <a:t></a:t>
            </a:r>
            <a:r>
              <a:rPr lang="en-US" dirty="0" smtClean="0"/>
              <a:t> </a:t>
            </a:r>
            <a:r>
              <a:rPr lang="en-US" dirty="0"/>
              <a:t>BUDGET≤200000</a:t>
            </a:r>
          </a:p>
          <a:p>
            <a:pPr lvl="1">
              <a:lnSpc>
                <a:spcPct val="100000"/>
              </a:lnSpc>
              <a:spcBef>
                <a:spcPct val="75000"/>
              </a:spcBef>
              <a:buFont typeface="Monotype Sorts" charset="0"/>
              <a:buNone/>
            </a:pPr>
            <a:r>
              <a:rPr lang="en-US" i="1" dirty="0"/>
              <a:t>m</a:t>
            </a:r>
            <a:r>
              <a:rPr lang="en-US" baseline="-25000" dirty="0"/>
              <a:t>3</a:t>
            </a:r>
            <a:r>
              <a:rPr lang="en-US" dirty="0"/>
              <a:t>: PNAME= "Maintenance</a:t>
            </a:r>
            <a:r>
              <a:rPr lang="en-US" dirty="0" smtClean="0"/>
              <a:t>"</a:t>
            </a:r>
            <a:r>
              <a:rPr lang="en-US" sz="2800" dirty="0" smtClean="0">
                <a:latin typeface="Symbol" charset="2"/>
                <a:cs typeface="Symbol" charset="2"/>
                <a:sym typeface="Symbol"/>
              </a:rPr>
              <a:t> </a:t>
            </a:r>
            <a:r>
              <a:rPr lang="en-US" dirty="0" smtClean="0"/>
              <a:t> </a:t>
            </a:r>
            <a:r>
              <a:rPr lang="en-US" b="1" dirty="0"/>
              <a:t>NOT</a:t>
            </a:r>
            <a:r>
              <a:rPr lang="en-US" dirty="0"/>
              <a:t>(BUDGET≤200000)</a:t>
            </a:r>
          </a:p>
          <a:p>
            <a:pPr lvl="1">
              <a:lnSpc>
                <a:spcPct val="100000"/>
              </a:lnSpc>
              <a:spcBef>
                <a:spcPct val="75000"/>
              </a:spcBef>
              <a:buFont typeface="Monotype Sorts" charset="0"/>
              <a:buNone/>
            </a:pPr>
            <a:r>
              <a:rPr lang="en-US" i="1" dirty="0"/>
              <a:t>m</a:t>
            </a:r>
            <a:r>
              <a:rPr lang="en-US" baseline="-25000" dirty="0"/>
              <a:t>4</a:t>
            </a:r>
            <a:r>
              <a:rPr lang="en-US" dirty="0"/>
              <a:t>: </a:t>
            </a:r>
            <a:r>
              <a:rPr lang="en-US" b="1" dirty="0"/>
              <a:t>NOT</a:t>
            </a:r>
            <a:r>
              <a:rPr lang="en-US" dirty="0"/>
              <a:t>(PNAME="Maintenance"</a:t>
            </a:r>
            <a:r>
              <a:rPr lang="en-US" dirty="0" smtClean="0"/>
              <a:t>)</a:t>
            </a:r>
            <a:r>
              <a:rPr lang="en-US" sz="2800" dirty="0">
                <a:latin typeface="Symbol" charset="2"/>
                <a:cs typeface="Symbol" charset="2"/>
              </a:rPr>
              <a:t> </a:t>
            </a:r>
            <a:r>
              <a:rPr lang="en-US" sz="2800" dirty="0" smtClean="0">
                <a:latin typeface="Symbol" charset="2"/>
                <a:cs typeface="Symbol" charset="2"/>
                <a:sym typeface="Symbol"/>
              </a:rPr>
              <a:t></a:t>
            </a:r>
            <a:r>
              <a:rPr lang="en-US" dirty="0" smtClean="0"/>
              <a:t> </a:t>
            </a:r>
            <a:r>
              <a:rPr lang="en-US" b="1" dirty="0"/>
              <a:t>NOT</a:t>
            </a:r>
            <a:r>
              <a:rPr lang="en-US" dirty="0"/>
              <a:t>(BUDGET≤200000)</a:t>
            </a: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type="title"/>
          </p:nvPr>
        </p:nvSpPr>
        <p:spPr>
          <a:xfrm>
            <a:off x="309712" y="444500"/>
            <a:ext cx="12649200" cy="1612900"/>
          </a:xfrm>
          <a:noFill/>
          <a:ln/>
        </p:spPr>
        <p:txBody>
          <a:bodyPr/>
          <a:lstStyle/>
          <a:p>
            <a:r>
              <a:rPr lang="en-US" sz="3200" b="1" dirty="0"/>
              <a:t>PHF – </a:t>
            </a:r>
            <a:r>
              <a:rPr lang="en-US" sz="3200" b="1" dirty="0" smtClean="0"/>
              <a:t>Information Requirements</a:t>
            </a:r>
            <a:endParaRPr lang="en-US" sz="3200" b="1" dirty="0"/>
          </a:p>
        </p:txBody>
      </p:sp>
      <p:sp>
        <p:nvSpPr>
          <p:cNvPr id="39938" name="Rectangle 2"/>
          <p:cNvSpPr>
            <a:spLocks noGrp="1" noChangeArrowheads="1"/>
          </p:cNvSpPr>
          <p:nvPr>
            <p:ph idx="1"/>
          </p:nvPr>
        </p:nvSpPr>
        <p:spPr>
          <a:noFill/>
          <a:ln/>
        </p:spPr>
        <p:txBody>
          <a:bodyPr/>
          <a:lstStyle/>
          <a:p>
            <a:pPr>
              <a:lnSpc>
                <a:spcPct val="100000"/>
              </a:lnSpc>
              <a:spcBef>
                <a:spcPct val="50000"/>
              </a:spcBef>
            </a:pPr>
            <a:r>
              <a:rPr lang="en-US" dirty="0"/>
              <a:t>Application Information</a:t>
            </a:r>
          </a:p>
          <a:p>
            <a:pPr lvl="1">
              <a:lnSpc>
                <a:spcPct val="100000"/>
              </a:lnSpc>
              <a:spcBef>
                <a:spcPct val="50000"/>
              </a:spcBef>
            </a:pPr>
            <a:r>
              <a:rPr lang="en-US" b="1" dirty="0" err="1">
                <a:solidFill>
                  <a:schemeClr val="tx2"/>
                </a:solidFill>
              </a:rPr>
              <a:t>minterm</a:t>
            </a:r>
            <a:r>
              <a:rPr lang="en-US" b="1" dirty="0">
                <a:solidFill>
                  <a:schemeClr val="tx2"/>
                </a:solidFill>
              </a:rPr>
              <a:t> </a:t>
            </a:r>
            <a:r>
              <a:rPr lang="en-US" b="1" dirty="0" err="1">
                <a:solidFill>
                  <a:schemeClr val="tx2"/>
                </a:solidFill>
              </a:rPr>
              <a:t>selectivitie</a:t>
            </a:r>
            <a:r>
              <a:rPr lang="en-US" dirty="0" err="1">
                <a:solidFill>
                  <a:schemeClr val="tx2"/>
                </a:solidFill>
              </a:rPr>
              <a:t>s</a:t>
            </a:r>
            <a:r>
              <a:rPr lang="en-US" dirty="0"/>
              <a:t>: </a:t>
            </a:r>
            <a:r>
              <a:rPr lang="en-US" i="1" dirty="0" err="1"/>
              <a:t>sel</a:t>
            </a:r>
            <a:r>
              <a:rPr lang="en-US" dirty="0"/>
              <a:t>(</a:t>
            </a:r>
            <a:r>
              <a:rPr lang="en-US" i="1" dirty="0"/>
              <a:t>m</a:t>
            </a:r>
            <a:r>
              <a:rPr lang="en-US" i="1" baseline="-25000" dirty="0"/>
              <a:t>i</a:t>
            </a:r>
            <a:r>
              <a:rPr lang="en-US" dirty="0"/>
              <a:t>)</a:t>
            </a:r>
          </a:p>
          <a:p>
            <a:pPr lvl="2">
              <a:lnSpc>
                <a:spcPct val="100000"/>
              </a:lnSpc>
              <a:spcBef>
                <a:spcPct val="50000"/>
              </a:spcBef>
            </a:pPr>
            <a:r>
              <a:rPr lang="en-US" dirty="0"/>
              <a:t>The number of tuples of the relation that would be accessed by a user query which is specified according to a given </a:t>
            </a:r>
            <a:r>
              <a:rPr lang="en-US" dirty="0" err="1"/>
              <a:t>minterm</a:t>
            </a:r>
            <a:r>
              <a:rPr lang="en-US" dirty="0"/>
              <a:t> predicate </a:t>
            </a:r>
            <a:r>
              <a:rPr lang="en-US" i="1" dirty="0"/>
              <a:t>m</a:t>
            </a:r>
            <a:r>
              <a:rPr lang="en-US" i="1" baseline="-25000" dirty="0"/>
              <a:t>i</a:t>
            </a:r>
            <a:r>
              <a:rPr lang="en-US" dirty="0"/>
              <a:t>.</a:t>
            </a:r>
          </a:p>
          <a:p>
            <a:pPr lvl="1">
              <a:lnSpc>
                <a:spcPct val="100000"/>
              </a:lnSpc>
              <a:spcBef>
                <a:spcPct val="50000"/>
              </a:spcBef>
            </a:pPr>
            <a:r>
              <a:rPr lang="en-US" b="1" dirty="0">
                <a:solidFill>
                  <a:schemeClr val="tx2"/>
                </a:solidFill>
              </a:rPr>
              <a:t>access frequencies</a:t>
            </a:r>
            <a:r>
              <a:rPr lang="en-US" dirty="0"/>
              <a:t>: </a:t>
            </a:r>
            <a:r>
              <a:rPr lang="en-US" i="1" dirty="0" err="1"/>
              <a:t>acc</a:t>
            </a:r>
            <a:r>
              <a:rPr lang="en-US" dirty="0"/>
              <a:t>(</a:t>
            </a:r>
            <a:r>
              <a:rPr lang="en-US" i="1" dirty="0"/>
              <a:t>q</a:t>
            </a:r>
            <a:r>
              <a:rPr lang="en-US" i="1" baseline="-25000" dirty="0"/>
              <a:t>i</a:t>
            </a:r>
            <a:r>
              <a:rPr lang="en-US" dirty="0"/>
              <a:t>)</a:t>
            </a:r>
          </a:p>
          <a:p>
            <a:pPr lvl="2">
              <a:lnSpc>
                <a:spcPct val="100000"/>
              </a:lnSpc>
              <a:spcBef>
                <a:spcPct val="50000"/>
              </a:spcBef>
            </a:pPr>
            <a:r>
              <a:rPr lang="en-US" dirty="0"/>
              <a:t>The frequency with which a user application </a:t>
            </a:r>
            <a:r>
              <a:rPr lang="en-US" i="1" dirty="0"/>
              <a:t>qi</a:t>
            </a:r>
            <a:r>
              <a:rPr lang="en-US" dirty="0"/>
              <a:t>  accesses data.</a:t>
            </a:r>
          </a:p>
          <a:p>
            <a:pPr lvl="2">
              <a:lnSpc>
                <a:spcPct val="100000"/>
              </a:lnSpc>
              <a:spcBef>
                <a:spcPct val="50000"/>
              </a:spcBef>
            </a:pPr>
            <a:r>
              <a:rPr lang="en-US" dirty="0"/>
              <a:t>Access frequency for a </a:t>
            </a:r>
            <a:r>
              <a:rPr lang="en-US" dirty="0" err="1"/>
              <a:t>minterm</a:t>
            </a:r>
            <a:r>
              <a:rPr lang="en-US" dirty="0"/>
              <a:t> predicate can also be defined.</a:t>
            </a: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type="title"/>
          </p:nvPr>
        </p:nvSpPr>
        <p:spPr>
          <a:xfrm>
            <a:off x="237704" y="444500"/>
            <a:ext cx="12767096" cy="1612900"/>
          </a:xfrm>
          <a:noFill/>
          <a:ln/>
        </p:spPr>
        <p:txBody>
          <a:bodyPr/>
          <a:lstStyle/>
          <a:p>
            <a:r>
              <a:rPr lang="en-US" sz="3200" b="1" dirty="0"/>
              <a:t>Primary </a:t>
            </a:r>
            <a:r>
              <a:rPr lang="en-US" sz="3200" b="1" dirty="0" smtClean="0"/>
              <a:t>Horizontal Fragmentation</a:t>
            </a:r>
            <a:endParaRPr lang="en-US" sz="3200" b="1" dirty="0"/>
          </a:p>
        </p:txBody>
      </p:sp>
      <p:sp>
        <p:nvSpPr>
          <p:cNvPr id="41986" name="Rectangle 2"/>
          <p:cNvSpPr>
            <a:spLocks noGrp="1" noChangeArrowheads="1"/>
          </p:cNvSpPr>
          <p:nvPr>
            <p:ph idx="1"/>
          </p:nvPr>
        </p:nvSpPr>
        <p:spPr>
          <a:xfrm>
            <a:off x="473496" y="2489200"/>
            <a:ext cx="12293600" cy="6769100"/>
          </a:xfrm>
          <a:noFill/>
          <a:ln/>
        </p:spPr>
        <p:txBody>
          <a:bodyPr/>
          <a:lstStyle/>
          <a:p>
            <a:pPr>
              <a:buNone/>
              <a:tabLst>
                <a:tab pos="4714166" algn="l"/>
              </a:tabLst>
            </a:pPr>
            <a:r>
              <a:rPr lang="en-US" dirty="0"/>
              <a:t>Definition :</a:t>
            </a:r>
          </a:p>
          <a:p>
            <a:pPr lvl="3">
              <a:buNone/>
              <a:tabLst>
                <a:tab pos="4714166" algn="l"/>
              </a:tabLst>
            </a:pPr>
            <a:r>
              <a:rPr lang="en-US" sz="2600" i="1" dirty="0" err="1"/>
              <a:t>R</a:t>
            </a:r>
            <a:r>
              <a:rPr lang="en-US" sz="2600" i="1" baseline="-25000" dirty="0" err="1"/>
              <a:t>j</a:t>
            </a:r>
            <a:r>
              <a:rPr lang="en-US" sz="2600" dirty="0"/>
              <a:t> = </a:t>
            </a:r>
            <a:r>
              <a:rPr lang="en-US" sz="2600" dirty="0" smtClean="0">
                <a:latin typeface="Symbol" charset="0"/>
                <a:sym typeface="Symbol"/>
              </a:rPr>
              <a:t></a:t>
            </a:r>
            <a:r>
              <a:rPr lang="en-US" sz="2600" i="1" baseline="-25000" dirty="0" err="1" smtClean="0"/>
              <a:t>F</a:t>
            </a:r>
            <a:r>
              <a:rPr lang="en-US" sz="2600" i="1" baseline="-50000" dirty="0" err="1" smtClean="0"/>
              <a:t>j</a:t>
            </a:r>
            <a:r>
              <a:rPr lang="en-US" sz="2600" dirty="0" smtClean="0"/>
              <a:t>(</a:t>
            </a:r>
            <a:r>
              <a:rPr lang="en-US" sz="2600" i="1" dirty="0" smtClean="0"/>
              <a:t>R</a:t>
            </a:r>
            <a:r>
              <a:rPr lang="en-US" sz="2600" dirty="0" smtClean="0"/>
              <a:t>)</a:t>
            </a:r>
            <a:r>
              <a:rPr lang="en-US" sz="2600" dirty="0"/>
              <a:t>,  1 ≤ </a:t>
            </a:r>
            <a:r>
              <a:rPr lang="en-US" sz="2600" i="1" dirty="0"/>
              <a:t>j</a:t>
            </a:r>
            <a:r>
              <a:rPr lang="en-US" sz="2600" dirty="0"/>
              <a:t> ≤ </a:t>
            </a:r>
            <a:r>
              <a:rPr lang="en-US" sz="2600" i="1" dirty="0"/>
              <a:t>w</a:t>
            </a:r>
            <a:endParaRPr lang="en-US" sz="2600" dirty="0"/>
          </a:p>
          <a:p>
            <a:pPr marL="731509" lvl="1" indent="0">
              <a:buNone/>
              <a:tabLst>
                <a:tab pos="4714166" algn="l"/>
              </a:tabLst>
            </a:pPr>
            <a:r>
              <a:rPr lang="en-US" dirty="0"/>
              <a:t>where </a:t>
            </a:r>
            <a:r>
              <a:rPr lang="en-US" i="1" dirty="0" err="1"/>
              <a:t>F</a:t>
            </a:r>
            <a:r>
              <a:rPr lang="en-US" i="1" baseline="-25000" dirty="0" err="1"/>
              <a:t>j</a:t>
            </a:r>
            <a:r>
              <a:rPr lang="en-US" dirty="0"/>
              <a:t> is a selection formula, which is (preferably) a </a:t>
            </a:r>
            <a:r>
              <a:rPr lang="en-US" dirty="0" err="1"/>
              <a:t>minterm</a:t>
            </a:r>
            <a:r>
              <a:rPr lang="en-US" dirty="0"/>
              <a:t> predicate.</a:t>
            </a:r>
          </a:p>
          <a:p>
            <a:pPr>
              <a:buNone/>
              <a:tabLst>
                <a:tab pos="4714166" algn="l"/>
              </a:tabLst>
            </a:pPr>
            <a:r>
              <a:rPr lang="en-US" dirty="0"/>
              <a:t>Therefore,</a:t>
            </a:r>
          </a:p>
          <a:p>
            <a:pPr marL="731509" lvl="1" indent="0">
              <a:buNone/>
              <a:tabLst>
                <a:tab pos="4714166" algn="l"/>
              </a:tabLst>
            </a:pPr>
            <a:r>
              <a:rPr lang="en-US" dirty="0"/>
              <a:t>A horizontal fragment </a:t>
            </a:r>
            <a:r>
              <a:rPr lang="en-US" i="1" dirty="0"/>
              <a:t>R</a:t>
            </a:r>
            <a:r>
              <a:rPr lang="en-US" i="1" baseline="-25000" dirty="0"/>
              <a:t>i</a:t>
            </a:r>
            <a:r>
              <a:rPr lang="en-US" i="1" dirty="0"/>
              <a:t> </a:t>
            </a:r>
            <a:r>
              <a:rPr lang="en-US" dirty="0"/>
              <a:t>of relation </a:t>
            </a:r>
            <a:r>
              <a:rPr lang="en-US" i="1" dirty="0"/>
              <a:t>R</a:t>
            </a:r>
            <a:r>
              <a:rPr lang="en-US" dirty="0"/>
              <a:t> consists of all the tuples of </a:t>
            </a:r>
            <a:r>
              <a:rPr lang="en-US" i="1" dirty="0"/>
              <a:t>R</a:t>
            </a:r>
            <a:r>
              <a:rPr lang="en-US" dirty="0"/>
              <a:t> which satisfy a </a:t>
            </a:r>
            <a:r>
              <a:rPr lang="en-US" dirty="0" err="1"/>
              <a:t>minterm</a:t>
            </a:r>
            <a:r>
              <a:rPr lang="en-US" dirty="0"/>
              <a:t> predicate </a:t>
            </a:r>
            <a:r>
              <a:rPr lang="en-US" i="1" dirty="0"/>
              <a:t>m</a:t>
            </a:r>
            <a:r>
              <a:rPr lang="en-US" i="1" baseline="-25000" dirty="0"/>
              <a:t>i</a:t>
            </a:r>
            <a:r>
              <a:rPr lang="en-US" dirty="0"/>
              <a:t>. </a:t>
            </a:r>
          </a:p>
          <a:p>
            <a:pPr>
              <a:buNone/>
              <a:tabLst>
                <a:tab pos="4714166" algn="l"/>
              </a:tabLst>
            </a:pPr>
            <a:r>
              <a:rPr lang="en-US" dirty="0">
                <a:latin typeface="Symbol" charset="0"/>
              </a:rPr>
              <a:t>		</a:t>
            </a:r>
            <a:r>
              <a:rPr lang="en-US" sz="4600" dirty="0" smtClean="0">
                <a:latin typeface="Wingdings"/>
                <a:ea typeface="Wingdings"/>
                <a:cs typeface="Wingdings"/>
                <a:sym typeface="Wingdings"/>
              </a:rPr>
              <a:t></a:t>
            </a:r>
            <a:endParaRPr lang="en-US" dirty="0">
              <a:latin typeface="Symbol" charset="0"/>
            </a:endParaRPr>
          </a:p>
          <a:p>
            <a:pPr marL="731509" lvl="1" indent="0">
              <a:buNone/>
              <a:tabLst>
                <a:tab pos="4714166" algn="l"/>
              </a:tabLst>
            </a:pPr>
            <a:r>
              <a:rPr lang="en-US" dirty="0"/>
              <a:t>Given a set of </a:t>
            </a:r>
            <a:r>
              <a:rPr lang="en-US" dirty="0" err="1"/>
              <a:t>minterm</a:t>
            </a:r>
            <a:r>
              <a:rPr lang="en-US" dirty="0"/>
              <a:t> predicates </a:t>
            </a:r>
            <a:r>
              <a:rPr lang="en-US" i="1" dirty="0"/>
              <a:t>M,</a:t>
            </a:r>
            <a:r>
              <a:rPr lang="en-US" dirty="0"/>
              <a:t> there are as many horizontal fragments of relation </a:t>
            </a:r>
            <a:r>
              <a:rPr lang="en-US" i="1" dirty="0"/>
              <a:t>R</a:t>
            </a:r>
            <a:r>
              <a:rPr lang="en-US" dirty="0"/>
              <a:t> as there are </a:t>
            </a:r>
            <a:r>
              <a:rPr lang="en-US" dirty="0" err="1"/>
              <a:t>minterm</a:t>
            </a:r>
            <a:r>
              <a:rPr lang="en-US" dirty="0"/>
              <a:t> predicates. </a:t>
            </a:r>
          </a:p>
          <a:p>
            <a:pPr marL="731509" lvl="1" indent="0">
              <a:buNone/>
              <a:tabLst>
                <a:tab pos="4714166" algn="l"/>
              </a:tabLst>
            </a:pPr>
            <a:r>
              <a:rPr lang="en-US" dirty="0"/>
              <a:t>Set of horizontal fragments also referred to as </a:t>
            </a:r>
            <a:r>
              <a:rPr lang="en-US" dirty="0" err="1">
                <a:solidFill>
                  <a:srgbClr val="FF0000"/>
                </a:solidFill>
              </a:rPr>
              <a:t>minterm</a:t>
            </a:r>
            <a:r>
              <a:rPr lang="en-US" dirty="0">
                <a:solidFill>
                  <a:srgbClr val="FF0000"/>
                </a:solidFill>
              </a:rPr>
              <a:t> fragments</a:t>
            </a:r>
            <a:r>
              <a:rPr lang="en-US" i="1" dirty="0"/>
              <a:t>.</a:t>
            </a: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0"/>
          </p:nvPr>
        </p:nvSpPr>
        <p:spPr/>
        <p:txBody>
          <a:bodyPr/>
          <a:lstStyle/>
          <a:p>
            <a:r>
              <a:rPr lang="en-US" smtClean="0">
                <a:latin typeface="Book Antiqua"/>
              </a:rPr>
              <a:t>Ch.x/</a:t>
            </a:r>
            <a:fld id="{D01B99BC-F82C-D046-99BD-FBA1D66F1CB4}" type="slidenum">
              <a:rPr lang="en-US" smtClean="0">
                <a:latin typeface="Book Antiqua"/>
              </a:rPr>
              <a:pPr/>
              <a:t>40</a:t>
            </a:fld>
            <a:endParaRPr lang="en-US" dirty="0">
              <a:latin typeface="Book Antiqua"/>
            </a:endParaRPr>
          </a:p>
        </p:txBody>
      </p:sp>
      <p:pic>
        <p:nvPicPr>
          <p:cNvPr id="317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9712" y="844352"/>
            <a:ext cx="12911588" cy="7992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66852142"/>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type="title"/>
          </p:nvPr>
        </p:nvSpPr>
        <p:spPr>
          <a:noFill/>
          <a:ln/>
        </p:spPr>
        <p:txBody>
          <a:bodyPr/>
          <a:lstStyle/>
          <a:p>
            <a:r>
              <a:rPr lang="en-US" sz="3200" b="1" dirty="0"/>
              <a:t>PHF – Algorithm</a:t>
            </a:r>
          </a:p>
        </p:txBody>
      </p:sp>
      <p:sp>
        <p:nvSpPr>
          <p:cNvPr id="44034" name="Rectangle 2"/>
          <p:cNvSpPr>
            <a:spLocks noGrp="1" noChangeArrowheads="1"/>
          </p:cNvSpPr>
          <p:nvPr>
            <p:ph idx="1"/>
          </p:nvPr>
        </p:nvSpPr>
        <p:spPr>
          <a:noFill/>
          <a:ln/>
        </p:spPr>
        <p:txBody>
          <a:bodyPr/>
          <a:lstStyle/>
          <a:p>
            <a:pPr>
              <a:buNone/>
              <a:tabLst>
                <a:tab pos="1788132" algn="l"/>
              </a:tabLst>
            </a:pPr>
            <a:r>
              <a:rPr lang="en-US" dirty="0">
                <a:solidFill>
                  <a:schemeClr val="hlink"/>
                </a:solidFill>
              </a:rPr>
              <a:t>Given:</a:t>
            </a:r>
            <a:r>
              <a:rPr lang="en-US" dirty="0"/>
              <a:t>	A relation </a:t>
            </a:r>
            <a:r>
              <a:rPr lang="en-US" i="1" dirty="0"/>
              <a:t>R,</a:t>
            </a:r>
            <a:r>
              <a:rPr lang="en-US" dirty="0"/>
              <a:t> the set of simple predicates </a:t>
            </a:r>
            <a:r>
              <a:rPr lang="en-US" i="1" dirty="0" err="1"/>
              <a:t>Pr</a:t>
            </a:r>
            <a:endParaRPr lang="en-US" i="1" dirty="0"/>
          </a:p>
          <a:p>
            <a:pPr marL="1790700" indent="-1790700">
              <a:buNone/>
              <a:tabLst>
                <a:tab pos="1788132" algn="l"/>
              </a:tabLst>
            </a:pPr>
            <a:r>
              <a:rPr lang="en-US" dirty="0">
                <a:solidFill>
                  <a:schemeClr val="hlink"/>
                </a:solidFill>
              </a:rPr>
              <a:t>Output:</a:t>
            </a:r>
            <a:r>
              <a:rPr lang="en-US" dirty="0"/>
              <a:t>	The set of fragments of </a:t>
            </a:r>
            <a:r>
              <a:rPr lang="en-US" i="1" dirty="0"/>
              <a:t>R</a:t>
            </a:r>
            <a:r>
              <a:rPr lang="en-US" dirty="0"/>
              <a:t> = {</a:t>
            </a:r>
            <a:r>
              <a:rPr lang="en-US" i="1" dirty="0"/>
              <a:t>R</a:t>
            </a:r>
            <a:r>
              <a:rPr lang="en-US" i="1" baseline="-25000" dirty="0"/>
              <a:t>1</a:t>
            </a:r>
            <a:r>
              <a:rPr lang="en-US" i="1" dirty="0"/>
              <a:t>,</a:t>
            </a:r>
            <a:r>
              <a:rPr lang="en-US" dirty="0"/>
              <a:t> </a:t>
            </a:r>
            <a:r>
              <a:rPr lang="en-US" i="1" dirty="0"/>
              <a:t>R</a:t>
            </a:r>
            <a:r>
              <a:rPr lang="en-US" i="1" baseline="-25000" dirty="0"/>
              <a:t>2</a:t>
            </a:r>
            <a:r>
              <a:rPr lang="en-US" i="1" dirty="0"/>
              <a:t>,</a:t>
            </a:r>
            <a:r>
              <a:rPr lang="en-US" dirty="0"/>
              <a:t>…,</a:t>
            </a:r>
            <a:r>
              <a:rPr lang="en-US" i="1" dirty="0" err="1"/>
              <a:t>R</a:t>
            </a:r>
            <a:r>
              <a:rPr lang="en-US" i="1" baseline="-25000" dirty="0" err="1"/>
              <a:t>w</a:t>
            </a:r>
            <a:r>
              <a:rPr lang="en-US" dirty="0"/>
              <a:t>} </a:t>
            </a:r>
            <a:r>
              <a:rPr lang="en-US" dirty="0" smtClean="0"/>
              <a:t>which </a:t>
            </a:r>
            <a:r>
              <a:rPr lang="en-US" dirty="0"/>
              <a:t>obey the fragmentation rules.</a:t>
            </a:r>
          </a:p>
          <a:p>
            <a:pPr>
              <a:spcBef>
                <a:spcPct val="55000"/>
              </a:spcBef>
              <a:buNone/>
              <a:tabLst>
                <a:tab pos="1788132" algn="l"/>
              </a:tabLst>
            </a:pPr>
            <a:endParaRPr lang="en-US" dirty="0"/>
          </a:p>
          <a:p>
            <a:pPr>
              <a:spcBef>
                <a:spcPct val="55000"/>
              </a:spcBef>
              <a:buNone/>
              <a:tabLst>
                <a:tab pos="1788132" algn="l"/>
              </a:tabLst>
            </a:pPr>
            <a:r>
              <a:rPr lang="en-US" dirty="0"/>
              <a:t>Preliminaries :</a:t>
            </a:r>
          </a:p>
          <a:p>
            <a:pPr marL="975345" lvl="1" indent="-325115">
              <a:spcBef>
                <a:spcPct val="55000"/>
              </a:spcBef>
              <a:tabLst>
                <a:tab pos="1788132" algn="l"/>
              </a:tabLst>
            </a:pPr>
            <a:r>
              <a:rPr lang="en-US" i="1" dirty="0" err="1"/>
              <a:t>Pr</a:t>
            </a:r>
            <a:r>
              <a:rPr lang="en-US" dirty="0"/>
              <a:t>  should be </a:t>
            </a:r>
            <a:r>
              <a:rPr lang="en-US" i="1" dirty="0" smtClean="0"/>
              <a:t>complete</a:t>
            </a:r>
          </a:p>
          <a:p>
            <a:pPr marL="1419845" lvl="2" indent="-325115">
              <a:spcBef>
                <a:spcPct val="55000"/>
              </a:spcBef>
              <a:tabLst>
                <a:tab pos="1788132" algn="l"/>
              </a:tabLst>
            </a:pPr>
            <a:r>
              <a:rPr lang="en-US" i="1" dirty="0" smtClean="0"/>
              <a:t>A set of simple predicates </a:t>
            </a:r>
            <a:r>
              <a:rPr lang="en-US" i="1" dirty="0" err="1" smtClean="0"/>
              <a:t>Pr</a:t>
            </a:r>
            <a:r>
              <a:rPr lang="en-US" i="1" dirty="0" smtClean="0"/>
              <a:t> is said to be  complete if and only if there is an equal probability of access by every application to any tuple belonging to any </a:t>
            </a:r>
            <a:r>
              <a:rPr lang="en-US" i="1" dirty="0" err="1" smtClean="0"/>
              <a:t>minterm</a:t>
            </a:r>
            <a:r>
              <a:rPr lang="en-US" i="1" dirty="0" smtClean="0"/>
              <a:t> fragment that is defined according to Pr. </a:t>
            </a:r>
            <a:endParaRPr lang="en-US" i="1" dirty="0"/>
          </a:p>
          <a:p>
            <a:pPr marL="975345" lvl="1" indent="-325115">
              <a:spcBef>
                <a:spcPct val="55000"/>
              </a:spcBef>
              <a:tabLst>
                <a:tab pos="1788132" algn="l"/>
              </a:tabLst>
            </a:pPr>
            <a:r>
              <a:rPr lang="en-US" i="1" dirty="0" err="1"/>
              <a:t>Pr</a:t>
            </a:r>
            <a:r>
              <a:rPr lang="en-US" dirty="0"/>
              <a:t>  should be </a:t>
            </a:r>
            <a:r>
              <a:rPr lang="en-US" i="1" dirty="0"/>
              <a:t>minimal</a:t>
            </a: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0"/>
          </p:nvPr>
        </p:nvSpPr>
        <p:spPr/>
        <p:txBody>
          <a:bodyPr/>
          <a:lstStyle/>
          <a:p>
            <a:r>
              <a:rPr lang="en-US" smtClean="0">
                <a:latin typeface="Book Antiqua"/>
              </a:rPr>
              <a:t>Ch.x/</a:t>
            </a:r>
            <a:fld id="{D01B99BC-F82C-D046-99BD-FBA1D66F1CB4}" type="slidenum">
              <a:rPr lang="en-US" smtClean="0">
                <a:latin typeface="Book Antiqua"/>
              </a:rPr>
              <a:pPr/>
              <a:t>42</a:t>
            </a:fld>
            <a:endParaRPr lang="en-US" dirty="0">
              <a:latin typeface="Book Antiqua"/>
            </a:endParaRPr>
          </a:p>
        </p:txBody>
      </p:sp>
      <p:pic>
        <p:nvPicPr>
          <p:cNvPr id="327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9712" y="916360"/>
            <a:ext cx="12224544" cy="69127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4211649"/>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type="title"/>
          </p:nvPr>
        </p:nvSpPr>
        <p:spPr>
          <a:noFill/>
          <a:ln/>
        </p:spPr>
        <p:txBody>
          <a:bodyPr/>
          <a:lstStyle/>
          <a:p>
            <a:r>
              <a:rPr lang="en-US" sz="3200" b="1" dirty="0"/>
              <a:t>Completeness of Simple Predicates</a:t>
            </a:r>
          </a:p>
        </p:txBody>
      </p:sp>
      <p:sp>
        <p:nvSpPr>
          <p:cNvPr id="46082" name="Rectangle 2"/>
          <p:cNvSpPr>
            <a:spLocks noGrp="1" noChangeArrowheads="1"/>
          </p:cNvSpPr>
          <p:nvPr>
            <p:ph idx="1"/>
          </p:nvPr>
        </p:nvSpPr>
        <p:spPr>
          <a:noFill/>
          <a:ln/>
        </p:spPr>
        <p:txBody>
          <a:bodyPr/>
          <a:lstStyle/>
          <a:p>
            <a:pPr>
              <a:tabLst>
                <a:tab pos="9103218" algn="l"/>
              </a:tabLst>
            </a:pPr>
            <a:r>
              <a:rPr lang="en-US" dirty="0"/>
              <a:t>A set of simple predicates </a:t>
            </a:r>
            <a:r>
              <a:rPr lang="en-US" i="1" dirty="0" err="1"/>
              <a:t>Pr</a:t>
            </a:r>
            <a:r>
              <a:rPr lang="en-US" dirty="0"/>
              <a:t> is said to be </a:t>
            </a:r>
            <a:r>
              <a:rPr lang="en-US" i="1" dirty="0">
                <a:solidFill>
                  <a:schemeClr val="hlink"/>
                </a:solidFill>
              </a:rPr>
              <a:t>complete</a:t>
            </a:r>
            <a:r>
              <a:rPr lang="en-US" dirty="0"/>
              <a:t> if and only if the accesses to the tuples of the </a:t>
            </a:r>
            <a:r>
              <a:rPr lang="en-US" dirty="0" err="1"/>
              <a:t>minterm</a:t>
            </a:r>
            <a:r>
              <a:rPr lang="en-US" dirty="0"/>
              <a:t> fragments defined on </a:t>
            </a:r>
            <a:r>
              <a:rPr lang="en-US" i="1" dirty="0" err="1"/>
              <a:t>Pr</a:t>
            </a:r>
            <a:r>
              <a:rPr lang="en-US" dirty="0"/>
              <a:t> requires that two tuples of the same </a:t>
            </a:r>
            <a:r>
              <a:rPr lang="en-US" dirty="0" err="1"/>
              <a:t>minterm</a:t>
            </a:r>
            <a:r>
              <a:rPr lang="en-US" dirty="0"/>
              <a:t> fragment have the same probability of being accessed by any application.</a:t>
            </a:r>
          </a:p>
          <a:p>
            <a:pPr>
              <a:buNone/>
              <a:tabLst>
                <a:tab pos="9103218" algn="l"/>
              </a:tabLst>
            </a:pPr>
            <a:endParaRPr lang="en-US" dirty="0"/>
          </a:p>
          <a:p>
            <a:pPr>
              <a:tabLst>
                <a:tab pos="9103218" algn="l"/>
              </a:tabLst>
            </a:pPr>
            <a:r>
              <a:rPr lang="en-US" dirty="0"/>
              <a:t>Example :</a:t>
            </a:r>
          </a:p>
          <a:p>
            <a:pPr marL="975345" lvl="1" indent="-325115">
              <a:tabLst>
                <a:tab pos="9103218" algn="l"/>
              </a:tabLst>
            </a:pPr>
            <a:r>
              <a:rPr lang="en-US" dirty="0"/>
              <a:t>Assume PROJ[PNO,PNAME,BUDGET,LOC] has two applications defined on it.</a:t>
            </a:r>
          </a:p>
          <a:p>
            <a:pPr marL="975345" lvl="1" indent="-325115">
              <a:tabLst>
                <a:tab pos="9103218" algn="l"/>
              </a:tabLst>
            </a:pPr>
            <a:r>
              <a:rPr lang="en-US" dirty="0"/>
              <a:t>Find the budgets of projects at each location.	(1)</a:t>
            </a:r>
          </a:p>
          <a:p>
            <a:pPr marL="975345" lvl="1" indent="-325115">
              <a:tabLst>
                <a:tab pos="9103218" algn="l"/>
              </a:tabLst>
            </a:pPr>
            <a:r>
              <a:rPr lang="en-US" dirty="0"/>
              <a:t>Find projects with budgets less than $200000.	(2)</a:t>
            </a: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0"/>
          </p:nvPr>
        </p:nvSpPr>
        <p:spPr/>
        <p:txBody>
          <a:bodyPr/>
          <a:lstStyle/>
          <a:p>
            <a:r>
              <a:rPr lang="en-US" smtClean="0">
                <a:latin typeface="Book Antiqua"/>
              </a:rPr>
              <a:t>Ch.x/</a:t>
            </a:r>
            <a:fld id="{D01B99BC-F82C-D046-99BD-FBA1D66F1CB4}" type="slidenum">
              <a:rPr lang="en-US" smtClean="0">
                <a:latin typeface="Book Antiqua"/>
              </a:rPr>
              <a:pPr/>
              <a:t>44</a:t>
            </a:fld>
            <a:endParaRPr lang="en-US" dirty="0">
              <a:latin typeface="Book Antiqua"/>
            </a:endParaRPr>
          </a:p>
        </p:txBody>
      </p:sp>
      <p:pic>
        <p:nvPicPr>
          <p:cNvPr id="337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7704" y="412304"/>
            <a:ext cx="12479300" cy="8507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69863634"/>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0"/>
          </p:nvPr>
        </p:nvSpPr>
        <p:spPr/>
        <p:txBody>
          <a:bodyPr/>
          <a:lstStyle/>
          <a:p>
            <a:r>
              <a:rPr lang="en-US" smtClean="0">
                <a:latin typeface="Book Antiqua"/>
              </a:rPr>
              <a:t>Ch.x/</a:t>
            </a:r>
            <a:fld id="{D01B99BC-F82C-D046-99BD-FBA1D66F1CB4}" type="slidenum">
              <a:rPr lang="en-US" smtClean="0">
                <a:latin typeface="Book Antiqua"/>
              </a:rPr>
              <a:pPr/>
              <a:t>45</a:t>
            </a:fld>
            <a:endParaRPr lang="en-US" dirty="0">
              <a:latin typeface="Book Antiqua"/>
            </a:endParaRPr>
          </a:p>
        </p:txBody>
      </p:sp>
      <p:pic>
        <p:nvPicPr>
          <p:cNvPr id="348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69752" y="772344"/>
            <a:ext cx="12066521" cy="80648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75763147"/>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type="title"/>
          </p:nvPr>
        </p:nvSpPr>
        <p:spPr>
          <a:noFill/>
          <a:ln/>
        </p:spPr>
        <p:txBody>
          <a:bodyPr/>
          <a:lstStyle/>
          <a:p>
            <a:r>
              <a:rPr lang="en-US" sz="3200" b="1" dirty="0"/>
              <a:t>Completeness of Simple Predicates</a:t>
            </a:r>
          </a:p>
        </p:txBody>
      </p:sp>
      <p:sp>
        <p:nvSpPr>
          <p:cNvPr id="48130" name="Rectangle 2"/>
          <p:cNvSpPr>
            <a:spLocks noGrp="1" noChangeArrowheads="1"/>
          </p:cNvSpPr>
          <p:nvPr>
            <p:ph idx="1"/>
          </p:nvPr>
        </p:nvSpPr>
        <p:spPr>
          <a:xfrm>
            <a:off x="473496" y="2489200"/>
            <a:ext cx="12293600" cy="6769100"/>
          </a:xfrm>
          <a:noFill/>
          <a:ln/>
        </p:spPr>
        <p:txBody>
          <a:bodyPr/>
          <a:lstStyle/>
          <a:p>
            <a:pPr>
              <a:spcBef>
                <a:spcPct val="60000"/>
              </a:spcBef>
              <a:buFont typeface="Monotype Sorts" charset="0"/>
              <a:buNone/>
            </a:pPr>
            <a:r>
              <a:rPr lang="en-US" dirty="0"/>
              <a:t>According to (1),</a:t>
            </a:r>
          </a:p>
          <a:p>
            <a:pPr lvl="1">
              <a:spcBef>
                <a:spcPct val="60000"/>
              </a:spcBef>
              <a:buFont typeface="Monotype Sorts" charset="0"/>
              <a:buNone/>
            </a:pPr>
            <a:r>
              <a:rPr lang="en-US" i="1" dirty="0" err="1"/>
              <a:t>Pr</a:t>
            </a:r>
            <a:r>
              <a:rPr lang="en-US" dirty="0"/>
              <a:t>={LOC=“</a:t>
            </a:r>
            <a:r>
              <a:rPr lang="en-US" dirty="0" err="1"/>
              <a:t>Montreal”,LOC</a:t>
            </a:r>
            <a:r>
              <a:rPr lang="en-US" dirty="0"/>
              <a:t>=“New </a:t>
            </a:r>
            <a:r>
              <a:rPr lang="en-US" dirty="0" err="1"/>
              <a:t>York”,LOC</a:t>
            </a:r>
            <a:r>
              <a:rPr lang="en-US" dirty="0"/>
              <a:t>=“Paris”} </a:t>
            </a:r>
          </a:p>
          <a:p>
            <a:pPr>
              <a:spcBef>
                <a:spcPct val="60000"/>
              </a:spcBef>
              <a:buFont typeface="Monotype Sorts" charset="0"/>
              <a:buNone/>
            </a:pPr>
            <a:r>
              <a:rPr lang="en-US" dirty="0"/>
              <a:t>which is not complete with respect to (2). </a:t>
            </a:r>
          </a:p>
          <a:p>
            <a:pPr>
              <a:spcBef>
                <a:spcPct val="60000"/>
              </a:spcBef>
              <a:buFont typeface="Monotype Sorts" charset="0"/>
              <a:buNone/>
            </a:pPr>
            <a:r>
              <a:rPr lang="en-US" dirty="0"/>
              <a:t>Modify</a:t>
            </a:r>
          </a:p>
          <a:p>
            <a:pPr lvl="1">
              <a:spcBef>
                <a:spcPct val="60000"/>
              </a:spcBef>
              <a:buFont typeface="Monotype Sorts" charset="0"/>
              <a:buNone/>
            </a:pPr>
            <a:r>
              <a:rPr lang="en-US" i="1" dirty="0" err="1"/>
              <a:t>Pr</a:t>
            </a:r>
            <a:r>
              <a:rPr lang="en-US" dirty="0"/>
              <a:t> ={LOC=“</a:t>
            </a:r>
            <a:r>
              <a:rPr lang="en-US" dirty="0" err="1"/>
              <a:t>Montreal”,LOC</a:t>
            </a:r>
            <a:r>
              <a:rPr lang="en-US" dirty="0"/>
              <a:t>=“New </a:t>
            </a:r>
            <a:r>
              <a:rPr lang="en-US" dirty="0" err="1"/>
              <a:t>York”,LOC</a:t>
            </a:r>
            <a:r>
              <a:rPr lang="en-US" dirty="0"/>
              <a:t>=“Paris”, BUDGET≤200000,BUDGET&gt;200000}</a:t>
            </a:r>
          </a:p>
          <a:p>
            <a:pPr>
              <a:spcBef>
                <a:spcPct val="60000"/>
              </a:spcBef>
              <a:buFont typeface="Monotype Sorts" charset="0"/>
              <a:buNone/>
            </a:pPr>
            <a:r>
              <a:rPr lang="en-US" dirty="0"/>
              <a:t> which is complete</a:t>
            </a:r>
            <a:r>
              <a:rPr lang="en-US" dirty="0" smtClean="0"/>
              <a:t>.</a:t>
            </a:r>
          </a:p>
          <a:p>
            <a:pPr>
              <a:spcBef>
                <a:spcPct val="60000"/>
              </a:spcBef>
              <a:buFont typeface="Monotype Sorts" charset="0"/>
              <a:buNone/>
            </a:pPr>
            <a:r>
              <a:rPr lang="en-US" dirty="0" smtClean="0"/>
              <a:t>Resulting fragments result in a balanced load across all the fragments.</a:t>
            </a:r>
          </a:p>
          <a:p>
            <a:pPr>
              <a:spcBef>
                <a:spcPct val="60000"/>
              </a:spcBef>
              <a:buFont typeface="Monotype Sorts" charset="0"/>
              <a:buNone/>
            </a:pPr>
            <a:endParaRPr lang="en-US" dirty="0"/>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2" name="Rectangle 6"/>
          <p:cNvSpPr>
            <a:spLocks noGrp="1" noChangeArrowheads="1"/>
          </p:cNvSpPr>
          <p:nvPr>
            <p:ph type="title"/>
          </p:nvPr>
        </p:nvSpPr>
        <p:spPr>
          <a:noFill/>
          <a:ln/>
        </p:spPr>
        <p:txBody>
          <a:bodyPr/>
          <a:lstStyle/>
          <a:p>
            <a:r>
              <a:rPr lang="en-US" sz="3200" b="1" dirty="0" err="1"/>
              <a:t>Minimality</a:t>
            </a:r>
            <a:r>
              <a:rPr lang="en-US" sz="3200" b="1" dirty="0"/>
              <a:t> of Simple Predicates</a:t>
            </a:r>
          </a:p>
        </p:txBody>
      </p:sp>
      <p:sp>
        <p:nvSpPr>
          <p:cNvPr id="50178" name="Rectangle 2"/>
          <p:cNvSpPr>
            <a:spLocks noGrp="1" noChangeArrowheads="1"/>
          </p:cNvSpPr>
          <p:nvPr>
            <p:ph idx="1"/>
          </p:nvPr>
        </p:nvSpPr>
        <p:spPr>
          <a:noFill/>
          <a:ln/>
        </p:spPr>
        <p:txBody>
          <a:bodyPr/>
          <a:lstStyle/>
          <a:p>
            <a:r>
              <a:rPr lang="en-US" dirty="0"/>
              <a:t>If a predicate influences how fragmentation is performed, (i.e., causes a fragment </a:t>
            </a:r>
            <a:r>
              <a:rPr lang="en-US" i="1" dirty="0"/>
              <a:t>f</a:t>
            </a:r>
            <a:r>
              <a:rPr lang="en-US" dirty="0"/>
              <a:t> to be further fragmented into, say,</a:t>
            </a:r>
            <a:r>
              <a:rPr lang="en-US" i="1" dirty="0"/>
              <a:t> f</a:t>
            </a:r>
            <a:r>
              <a:rPr lang="en-US" i="1" baseline="-25000" dirty="0"/>
              <a:t>i</a:t>
            </a:r>
            <a:r>
              <a:rPr lang="en-US" i="1" dirty="0"/>
              <a:t> </a:t>
            </a:r>
            <a:r>
              <a:rPr lang="en-US" dirty="0"/>
              <a:t>and</a:t>
            </a:r>
            <a:r>
              <a:rPr lang="en-US" i="1" dirty="0"/>
              <a:t> </a:t>
            </a:r>
            <a:r>
              <a:rPr lang="en-US" i="1" dirty="0" err="1"/>
              <a:t>f</a:t>
            </a:r>
            <a:r>
              <a:rPr lang="en-US" i="1" baseline="-25000" dirty="0" err="1"/>
              <a:t>j</a:t>
            </a:r>
            <a:r>
              <a:rPr lang="en-US" dirty="0"/>
              <a:t>) then there should be at least one application that accesses </a:t>
            </a:r>
            <a:r>
              <a:rPr lang="en-US" i="1" dirty="0"/>
              <a:t>f</a:t>
            </a:r>
            <a:r>
              <a:rPr lang="en-US" i="1" baseline="-25000" dirty="0"/>
              <a:t>i</a:t>
            </a:r>
            <a:r>
              <a:rPr lang="en-US" i="1" dirty="0"/>
              <a:t> </a:t>
            </a:r>
            <a:r>
              <a:rPr lang="en-US" dirty="0"/>
              <a:t> and</a:t>
            </a:r>
            <a:r>
              <a:rPr lang="en-US" i="1" dirty="0"/>
              <a:t> </a:t>
            </a:r>
            <a:r>
              <a:rPr lang="en-US" i="1" dirty="0" err="1"/>
              <a:t>f</a:t>
            </a:r>
            <a:r>
              <a:rPr lang="en-US" i="1" baseline="-25000" dirty="0" err="1"/>
              <a:t>j</a:t>
            </a:r>
            <a:r>
              <a:rPr lang="en-US" dirty="0"/>
              <a:t> differently. </a:t>
            </a:r>
          </a:p>
          <a:p>
            <a:r>
              <a:rPr lang="en-US" dirty="0"/>
              <a:t>In other words, the simple predicate should be </a:t>
            </a:r>
            <a:r>
              <a:rPr lang="en-US" i="1" dirty="0"/>
              <a:t>relevant</a:t>
            </a:r>
            <a:r>
              <a:rPr lang="en-US" dirty="0"/>
              <a:t> in determining a fragmentation. </a:t>
            </a:r>
          </a:p>
          <a:p>
            <a:r>
              <a:rPr lang="en-US" dirty="0"/>
              <a:t>If all the predicates of a set </a:t>
            </a:r>
            <a:r>
              <a:rPr lang="en-US" i="1" dirty="0" err="1"/>
              <a:t>Pr</a:t>
            </a:r>
            <a:r>
              <a:rPr lang="en-US" dirty="0"/>
              <a:t> are relevant, then </a:t>
            </a:r>
            <a:r>
              <a:rPr lang="en-US" i="1" dirty="0" err="1"/>
              <a:t>Pr</a:t>
            </a:r>
            <a:r>
              <a:rPr lang="en-US" dirty="0"/>
              <a:t> is </a:t>
            </a:r>
            <a:r>
              <a:rPr lang="en-US" i="1" dirty="0"/>
              <a:t>minimal</a:t>
            </a:r>
            <a:r>
              <a:rPr lang="en-US" dirty="0"/>
              <a:t>.</a:t>
            </a:r>
          </a:p>
        </p:txBody>
      </p:sp>
      <p:graphicFrame>
        <p:nvGraphicFramePr>
          <p:cNvPr id="3" name="Object 2"/>
          <p:cNvGraphicFramePr>
            <a:graphicFrameLocks noChangeAspect="1"/>
          </p:cNvGraphicFramePr>
          <p:nvPr>
            <p:extLst>
              <p:ext uri="{D42A27DB-BD31-4B8C-83A1-F6EECF244321}">
                <p14:modId xmlns:p14="http://schemas.microsoft.com/office/powerpoint/2010/main" val="153895805"/>
              </p:ext>
            </p:extLst>
          </p:nvPr>
        </p:nvGraphicFramePr>
        <p:xfrm>
          <a:off x="4198144" y="6172944"/>
          <a:ext cx="3920436" cy="1440160"/>
        </p:xfrm>
        <a:graphic>
          <a:graphicData uri="http://schemas.openxmlformats.org/presentationml/2006/ole">
            <mc:AlternateContent xmlns:mc="http://schemas.openxmlformats.org/markup-compatibility/2006">
              <mc:Choice xmlns:v="urn:schemas-microsoft-com:vml" Requires="v">
                <p:oleObj spid="_x0000_s1095" name="Equation" r:id="rId4" imgW="1244600" imgH="457200" progId="Equation.3">
                  <p:embed/>
                </p:oleObj>
              </mc:Choice>
              <mc:Fallback>
                <p:oleObj name="Equation" r:id="rId4" imgW="1244600" imgH="457200" progId="Equation.3">
                  <p:embed/>
                  <p:pic>
                    <p:nvPicPr>
                      <p:cNvPr id="0" name=""/>
                      <p:cNvPicPr/>
                      <p:nvPr/>
                    </p:nvPicPr>
                    <p:blipFill>
                      <a:blip r:embed="rId5"/>
                      <a:stretch>
                        <a:fillRect/>
                      </a:stretch>
                    </p:blipFill>
                    <p:spPr>
                      <a:xfrm>
                        <a:off x="4198144" y="6172944"/>
                        <a:ext cx="3920436" cy="1440160"/>
                      </a:xfrm>
                      <a:prstGeom prst="rect">
                        <a:avLst/>
                      </a:prstGeom>
                    </p:spPr>
                  </p:pic>
                </p:oleObj>
              </mc:Fallback>
            </mc:AlternateContent>
          </a:graphicData>
        </a:graphic>
      </p:graphicFrame>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type="title"/>
          </p:nvPr>
        </p:nvSpPr>
        <p:spPr>
          <a:noFill/>
          <a:ln/>
        </p:spPr>
        <p:txBody>
          <a:bodyPr/>
          <a:lstStyle/>
          <a:p>
            <a:r>
              <a:rPr lang="en-US" sz="3200" b="1" dirty="0" err="1"/>
              <a:t>Minimality</a:t>
            </a:r>
            <a:r>
              <a:rPr lang="en-US" sz="3200" b="1" dirty="0"/>
              <a:t> of Simple Predicates</a:t>
            </a:r>
          </a:p>
        </p:txBody>
      </p:sp>
      <p:sp>
        <p:nvSpPr>
          <p:cNvPr id="52226" name="Rectangle 2"/>
          <p:cNvSpPr>
            <a:spLocks noGrp="1" noChangeArrowheads="1"/>
          </p:cNvSpPr>
          <p:nvPr>
            <p:ph idx="1"/>
          </p:nvPr>
        </p:nvSpPr>
        <p:spPr>
          <a:xfrm>
            <a:off x="473496" y="2489200"/>
            <a:ext cx="12293600" cy="6769100"/>
          </a:xfrm>
          <a:noFill/>
          <a:ln/>
        </p:spPr>
        <p:txBody>
          <a:bodyPr/>
          <a:lstStyle/>
          <a:p>
            <a:pPr marL="0" indent="0">
              <a:spcBef>
                <a:spcPct val="70000"/>
              </a:spcBef>
              <a:buNone/>
            </a:pPr>
            <a:r>
              <a:rPr lang="en-US" dirty="0"/>
              <a:t>Example :</a:t>
            </a:r>
          </a:p>
          <a:p>
            <a:pPr marL="975345" lvl="1" indent="-325115">
              <a:spcBef>
                <a:spcPct val="70000"/>
              </a:spcBef>
              <a:buNone/>
            </a:pPr>
            <a:r>
              <a:rPr lang="en-US" i="1" dirty="0" err="1"/>
              <a:t>Pr</a:t>
            </a:r>
            <a:r>
              <a:rPr lang="en-US" dirty="0"/>
              <a:t> ={LOC=“</a:t>
            </a:r>
            <a:r>
              <a:rPr lang="en-US" dirty="0" err="1"/>
              <a:t>Montreal”,LOC</a:t>
            </a:r>
            <a:r>
              <a:rPr lang="en-US" dirty="0"/>
              <a:t>=“New York”, LOC=“Paris”, </a:t>
            </a:r>
          </a:p>
          <a:p>
            <a:pPr lvl="2">
              <a:lnSpc>
                <a:spcPct val="100000"/>
              </a:lnSpc>
              <a:spcBef>
                <a:spcPct val="40000"/>
              </a:spcBef>
              <a:buFont typeface="Monotype Sorts" charset="0"/>
              <a:buNone/>
            </a:pPr>
            <a:r>
              <a:rPr lang="en-US" dirty="0"/>
              <a:t>BUDGET≤200000,BUDGET&gt;200000}</a:t>
            </a:r>
          </a:p>
          <a:p>
            <a:pPr marL="0" indent="0">
              <a:spcBef>
                <a:spcPct val="70000"/>
              </a:spcBef>
              <a:buNone/>
            </a:pPr>
            <a:r>
              <a:rPr lang="en-US" dirty="0"/>
              <a:t>is minimal (in addition to being complete). However, if we add</a:t>
            </a:r>
          </a:p>
          <a:p>
            <a:pPr marL="975345" lvl="1" indent="-325115">
              <a:spcBef>
                <a:spcPct val="70000"/>
              </a:spcBef>
              <a:buNone/>
            </a:pPr>
            <a:r>
              <a:rPr lang="en-US" dirty="0"/>
              <a:t>PNAME = “Instrumentation”</a:t>
            </a:r>
          </a:p>
          <a:p>
            <a:pPr marL="0" indent="0">
              <a:spcBef>
                <a:spcPct val="70000"/>
              </a:spcBef>
              <a:buNone/>
            </a:pPr>
            <a:r>
              <a:rPr lang="en-US" dirty="0"/>
              <a:t>then </a:t>
            </a:r>
            <a:r>
              <a:rPr lang="en-US" i="1" dirty="0" err="1"/>
              <a:t>Pr</a:t>
            </a:r>
            <a:r>
              <a:rPr lang="en-US" dirty="0"/>
              <a:t>  is not minimal.</a:t>
            </a: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type="title"/>
          </p:nvPr>
        </p:nvSpPr>
        <p:spPr>
          <a:noFill/>
          <a:ln/>
        </p:spPr>
        <p:txBody>
          <a:bodyPr/>
          <a:lstStyle/>
          <a:p>
            <a:r>
              <a:rPr lang="en-US" sz="3200" b="1" dirty="0"/>
              <a:t>COM_MIN Algorithm</a:t>
            </a:r>
          </a:p>
        </p:txBody>
      </p:sp>
      <p:sp>
        <p:nvSpPr>
          <p:cNvPr id="54274" name="Rectangle 2"/>
          <p:cNvSpPr>
            <a:spLocks noGrp="1" noChangeArrowheads="1"/>
          </p:cNvSpPr>
          <p:nvPr>
            <p:ph idx="1"/>
          </p:nvPr>
        </p:nvSpPr>
        <p:spPr>
          <a:noFill/>
          <a:ln/>
        </p:spPr>
        <p:txBody>
          <a:bodyPr/>
          <a:lstStyle/>
          <a:p>
            <a:pPr marL="1706853" indent="-1706853">
              <a:buNone/>
            </a:pPr>
            <a:r>
              <a:rPr lang="en-US" dirty="0">
                <a:solidFill>
                  <a:schemeClr val="hlink"/>
                </a:solidFill>
              </a:rPr>
              <a:t>Given:</a:t>
            </a:r>
            <a:r>
              <a:rPr lang="en-US" dirty="0"/>
              <a:t>	a relation </a:t>
            </a:r>
            <a:r>
              <a:rPr lang="en-US" i="1" dirty="0"/>
              <a:t>R </a:t>
            </a:r>
            <a:r>
              <a:rPr lang="en-US" dirty="0"/>
              <a:t>and a set of simple predicates </a:t>
            </a:r>
            <a:r>
              <a:rPr lang="en-US" i="1" dirty="0" err="1"/>
              <a:t>Pr</a:t>
            </a:r>
            <a:r>
              <a:rPr lang="en-US" dirty="0"/>
              <a:t> </a:t>
            </a:r>
          </a:p>
          <a:p>
            <a:pPr marL="1706853" indent="-1706853">
              <a:buNone/>
            </a:pPr>
            <a:r>
              <a:rPr lang="en-US" dirty="0">
                <a:solidFill>
                  <a:schemeClr val="hlink"/>
                </a:solidFill>
              </a:rPr>
              <a:t>Output:</a:t>
            </a:r>
            <a:r>
              <a:rPr lang="en-US" dirty="0"/>
              <a:t>	a </a:t>
            </a:r>
            <a:r>
              <a:rPr lang="en-US" i="1" dirty="0"/>
              <a:t>complete</a:t>
            </a:r>
            <a:r>
              <a:rPr lang="en-US" dirty="0"/>
              <a:t> and </a:t>
            </a:r>
            <a:r>
              <a:rPr lang="en-US" i="1" dirty="0"/>
              <a:t>minimal</a:t>
            </a:r>
            <a:r>
              <a:rPr lang="en-US" dirty="0"/>
              <a:t> set of simple </a:t>
            </a:r>
            <a:r>
              <a:rPr lang="en-US" dirty="0" smtClean="0"/>
              <a:t>predicates </a:t>
            </a:r>
            <a:r>
              <a:rPr lang="en-US" i="1" dirty="0" smtClean="0"/>
              <a:t>Pr</a:t>
            </a:r>
            <a:r>
              <a:rPr lang="en-US" i="1" dirty="0"/>
              <a:t>' </a:t>
            </a:r>
            <a:r>
              <a:rPr lang="en-US" dirty="0"/>
              <a:t>for </a:t>
            </a:r>
            <a:r>
              <a:rPr lang="en-US" i="1" dirty="0"/>
              <a:t>Pr	</a:t>
            </a:r>
          </a:p>
          <a:p>
            <a:pPr marL="1706853" indent="-1706853">
              <a:buNone/>
            </a:pPr>
            <a:endParaRPr lang="en-US" dirty="0"/>
          </a:p>
          <a:p>
            <a:pPr marL="1706853" indent="-1706853">
              <a:buNone/>
            </a:pPr>
            <a:endParaRPr lang="en-US" dirty="0"/>
          </a:p>
          <a:p>
            <a:pPr marL="1706853" indent="-1706853">
              <a:buNone/>
            </a:pPr>
            <a:r>
              <a:rPr lang="en-US" i="1" dirty="0">
                <a:solidFill>
                  <a:schemeClr val="hlink"/>
                </a:solidFill>
              </a:rPr>
              <a:t>Rule 1</a:t>
            </a:r>
            <a:r>
              <a:rPr lang="en-US" dirty="0">
                <a:solidFill>
                  <a:schemeClr val="hlink"/>
                </a:solidFill>
              </a:rPr>
              <a:t>:</a:t>
            </a:r>
            <a:r>
              <a:rPr lang="en-US" dirty="0"/>
              <a:t>	a relation or fragment is partitioned into at least two parts which are accessed differently by at least one application.</a:t>
            </a: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type="title"/>
          </p:nvPr>
        </p:nvSpPr>
        <p:spPr>
          <a:noFill/>
          <a:ln/>
        </p:spPr>
        <p:txBody>
          <a:bodyPr/>
          <a:lstStyle/>
          <a:p>
            <a:r>
              <a:rPr lang="en-US" sz="3200" b="1" dirty="0"/>
              <a:t>COM_MIN Algorithm</a:t>
            </a:r>
          </a:p>
        </p:txBody>
      </p:sp>
      <p:sp>
        <p:nvSpPr>
          <p:cNvPr id="56322" name="Rectangle 2"/>
          <p:cNvSpPr>
            <a:spLocks noGrp="1" noChangeArrowheads="1"/>
          </p:cNvSpPr>
          <p:nvPr>
            <p:ph idx="1"/>
          </p:nvPr>
        </p:nvSpPr>
        <p:spPr>
          <a:noFill/>
          <a:ln/>
        </p:spPr>
        <p:txBody>
          <a:bodyPr/>
          <a:lstStyle/>
          <a:p>
            <a:pPr>
              <a:buSzPct val="95000"/>
              <a:buFont typeface="Wingdings" pitchFamily="2" charset="2"/>
              <a:buChar char=""/>
            </a:pPr>
            <a:r>
              <a:rPr lang="en-US" dirty="0"/>
              <a:t>Initialization :</a:t>
            </a:r>
          </a:p>
          <a:p>
            <a:pPr lvl="1">
              <a:buSzPct val="80000"/>
            </a:pPr>
            <a:r>
              <a:rPr lang="en-US" dirty="0"/>
              <a:t>find a </a:t>
            </a:r>
            <a:r>
              <a:rPr lang="en-US" i="1" dirty="0"/>
              <a:t>p</a:t>
            </a:r>
            <a:r>
              <a:rPr lang="en-US" i="1" baseline="-25000" dirty="0"/>
              <a:t>i</a:t>
            </a:r>
            <a:r>
              <a:rPr lang="en-US" i="1" dirty="0"/>
              <a:t> </a:t>
            </a:r>
            <a:r>
              <a:rPr lang="en-US" sz="2400" dirty="0" smtClean="0">
                <a:latin typeface="Symbol" charset="2"/>
                <a:cs typeface="Symbol" charset="2"/>
                <a:sym typeface="Symbol"/>
              </a:rPr>
              <a:t> </a:t>
            </a:r>
            <a:r>
              <a:rPr lang="en-US" i="1" dirty="0" err="1" smtClean="0"/>
              <a:t>Pr</a:t>
            </a:r>
            <a:r>
              <a:rPr lang="en-US" dirty="0" smtClean="0"/>
              <a:t> </a:t>
            </a:r>
            <a:r>
              <a:rPr lang="en-US" dirty="0"/>
              <a:t>such that </a:t>
            </a:r>
            <a:r>
              <a:rPr lang="en-US" i="1" dirty="0"/>
              <a:t>p</a:t>
            </a:r>
            <a:r>
              <a:rPr lang="en-US" i="1" baseline="-25000" dirty="0"/>
              <a:t>i</a:t>
            </a:r>
            <a:r>
              <a:rPr lang="en-US" dirty="0"/>
              <a:t> partitions </a:t>
            </a:r>
            <a:r>
              <a:rPr lang="en-US" i="1" dirty="0"/>
              <a:t>R</a:t>
            </a:r>
            <a:r>
              <a:rPr lang="en-US" dirty="0"/>
              <a:t> according to </a:t>
            </a:r>
            <a:r>
              <a:rPr lang="en-US" i="1" dirty="0"/>
              <a:t>Rule 1</a:t>
            </a:r>
          </a:p>
          <a:p>
            <a:pPr lvl="1">
              <a:buSzPct val="80000"/>
            </a:pPr>
            <a:r>
              <a:rPr lang="en-US" dirty="0"/>
              <a:t>set </a:t>
            </a:r>
            <a:r>
              <a:rPr lang="en-US" i="1" dirty="0"/>
              <a:t>Pr' </a:t>
            </a:r>
            <a:r>
              <a:rPr lang="en-US" dirty="0"/>
              <a:t>= </a:t>
            </a:r>
            <a:r>
              <a:rPr lang="en-US" i="1" dirty="0"/>
              <a:t>p</a:t>
            </a:r>
            <a:r>
              <a:rPr lang="en-US" i="1" baseline="-25000" dirty="0"/>
              <a:t>i</a:t>
            </a:r>
            <a:r>
              <a:rPr lang="en-US" i="1" dirty="0"/>
              <a:t> </a:t>
            </a:r>
            <a:r>
              <a:rPr lang="en-US" dirty="0"/>
              <a:t> ; </a:t>
            </a:r>
            <a:r>
              <a:rPr lang="en-US" i="1" dirty="0"/>
              <a:t>Pr</a:t>
            </a:r>
            <a:r>
              <a:rPr lang="en-US" dirty="0"/>
              <a:t> </a:t>
            </a:r>
            <a:r>
              <a:rPr lang="en-US" dirty="0" smtClean="0">
                <a:latin typeface="Symbol" charset="0"/>
                <a:sym typeface="Symbol"/>
              </a:rPr>
              <a:t></a:t>
            </a:r>
            <a:r>
              <a:rPr lang="en-US" i="1" dirty="0" smtClean="0"/>
              <a:t>Pr</a:t>
            </a:r>
            <a:r>
              <a:rPr lang="en-US" dirty="0" smtClean="0"/>
              <a:t> </a:t>
            </a:r>
            <a:r>
              <a:rPr lang="en-US" dirty="0"/>
              <a:t>– </a:t>
            </a:r>
            <a:r>
              <a:rPr lang="en-US" dirty="0" smtClean="0"/>
              <a:t>{</a:t>
            </a:r>
            <a:r>
              <a:rPr lang="en-US" i="1" dirty="0" smtClean="0"/>
              <a:t>p</a:t>
            </a:r>
            <a:r>
              <a:rPr lang="en-US" i="1" baseline="-25000" dirty="0" smtClean="0"/>
              <a:t>i</a:t>
            </a:r>
            <a:r>
              <a:rPr lang="en-US" dirty="0" smtClean="0"/>
              <a:t>}</a:t>
            </a:r>
            <a:r>
              <a:rPr lang="en-US" i="1" dirty="0" smtClean="0"/>
              <a:t> </a:t>
            </a:r>
            <a:r>
              <a:rPr lang="en-US" dirty="0"/>
              <a:t>; </a:t>
            </a:r>
            <a:r>
              <a:rPr lang="en-US" i="1" dirty="0"/>
              <a:t>F</a:t>
            </a:r>
            <a:r>
              <a:rPr lang="en-US" dirty="0"/>
              <a:t> </a:t>
            </a:r>
            <a:r>
              <a:rPr lang="en-US" dirty="0" smtClean="0">
                <a:latin typeface="Symbol" charset="0"/>
                <a:sym typeface="Symbol"/>
              </a:rPr>
              <a:t> </a:t>
            </a:r>
            <a:r>
              <a:rPr lang="en-US" dirty="0" smtClean="0">
                <a:sym typeface="Symbol"/>
              </a:rPr>
              <a:t>{</a:t>
            </a:r>
            <a:r>
              <a:rPr lang="en-US" i="1" dirty="0" err="1" smtClean="0"/>
              <a:t>f</a:t>
            </a:r>
            <a:r>
              <a:rPr lang="en-US" i="1" baseline="-25000" dirty="0" err="1" smtClean="0"/>
              <a:t>i</a:t>
            </a:r>
            <a:r>
              <a:rPr lang="en-US" dirty="0" smtClean="0"/>
              <a:t>}</a:t>
            </a:r>
            <a:endParaRPr lang="en-US" dirty="0">
              <a:latin typeface="Symbol" charset="2"/>
              <a:cs typeface="Symbol" charset="2"/>
            </a:endParaRPr>
          </a:p>
          <a:p>
            <a:pPr>
              <a:buSzPct val="95000"/>
              <a:buFont typeface="Wingdings" pitchFamily="2" charset="2"/>
              <a:buChar char=""/>
            </a:pPr>
            <a:r>
              <a:rPr lang="en-US" dirty="0"/>
              <a:t>Iteratively add predicates to </a:t>
            </a:r>
            <a:r>
              <a:rPr lang="en-US" i="1" dirty="0" err="1"/>
              <a:t>Pr</a:t>
            </a:r>
            <a:r>
              <a:rPr lang="en-US" i="1" dirty="0"/>
              <a:t>' </a:t>
            </a:r>
            <a:r>
              <a:rPr lang="en-US" dirty="0"/>
              <a:t> until it is complete</a:t>
            </a:r>
          </a:p>
          <a:p>
            <a:pPr lvl="1">
              <a:buSzPct val="80000"/>
            </a:pPr>
            <a:r>
              <a:rPr lang="en-US" dirty="0"/>
              <a:t>find a </a:t>
            </a:r>
            <a:r>
              <a:rPr lang="en-US" i="1" dirty="0" err="1"/>
              <a:t>p</a:t>
            </a:r>
            <a:r>
              <a:rPr lang="en-US" i="1" baseline="-25000" dirty="0" err="1"/>
              <a:t>j</a:t>
            </a:r>
            <a:r>
              <a:rPr lang="en-US" i="1" dirty="0"/>
              <a:t> </a:t>
            </a:r>
            <a:r>
              <a:rPr lang="en-US" sz="2400" dirty="0" smtClean="0">
                <a:latin typeface="Symbol" charset="2"/>
                <a:cs typeface="Symbol" charset="2"/>
                <a:sym typeface="Symbol"/>
              </a:rPr>
              <a:t> </a:t>
            </a:r>
            <a:r>
              <a:rPr lang="en-US" i="1" dirty="0" smtClean="0"/>
              <a:t>Pr</a:t>
            </a:r>
            <a:r>
              <a:rPr lang="en-US" dirty="0" smtClean="0"/>
              <a:t> </a:t>
            </a:r>
            <a:r>
              <a:rPr lang="en-US" dirty="0"/>
              <a:t>such that </a:t>
            </a:r>
            <a:r>
              <a:rPr lang="en-US" i="1" dirty="0" err="1"/>
              <a:t>p</a:t>
            </a:r>
            <a:r>
              <a:rPr lang="en-US" i="1" baseline="-25000" dirty="0" err="1"/>
              <a:t>j</a:t>
            </a:r>
            <a:r>
              <a:rPr lang="en-US" dirty="0"/>
              <a:t> partitions some </a:t>
            </a:r>
            <a:r>
              <a:rPr lang="en-US" i="1" dirty="0" err="1"/>
              <a:t>f</a:t>
            </a:r>
            <a:r>
              <a:rPr lang="en-US" i="1" baseline="-25000" dirty="0" err="1"/>
              <a:t>k</a:t>
            </a:r>
            <a:r>
              <a:rPr lang="en-US" dirty="0"/>
              <a:t>  defined according to </a:t>
            </a:r>
            <a:r>
              <a:rPr lang="en-US" dirty="0" err="1"/>
              <a:t>minterm</a:t>
            </a:r>
            <a:r>
              <a:rPr lang="en-US" dirty="0"/>
              <a:t> predicate over </a:t>
            </a:r>
            <a:r>
              <a:rPr lang="en-US" i="1" dirty="0"/>
              <a:t>Pr' </a:t>
            </a:r>
            <a:r>
              <a:rPr lang="en-US" dirty="0"/>
              <a:t>according to </a:t>
            </a:r>
            <a:r>
              <a:rPr lang="en-US" i="1" dirty="0"/>
              <a:t>Rule 1</a:t>
            </a:r>
          </a:p>
          <a:p>
            <a:pPr lvl="1">
              <a:buSzPct val="80000"/>
            </a:pPr>
            <a:r>
              <a:rPr lang="en-US" dirty="0"/>
              <a:t>set </a:t>
            </a:r>
            <a:r>
              <a:rPr lang="en-US" i="1" dirty="0"/>
              <a:t>Pr'</a:t>
            </a:r>
            <a:r>
              <a:rPr lang="en-US" dirty="0"/>
              <a:t> = </a:t>
            </a:r>
            <a:r>
              <a:rPr lang="en-US" i="1" dirty="0"/>
              <a:t>Pr' </a:t>
            </a:r>
            <a:r>
              <a:rPr lang="en-US" dirty="0" smtClean="0">
                <a:latin typeface="Symbol" charset="0"/>
                <a:sym typeface="Symbol"/>
              </a:rPr>
              <a:t></a:t>
            </a:r>
            <a:r>
              <a:rPr lang="en-US" dirty="0" smtClean="0"/>
              <a:t> {</a:t>
            </a:r>
            <a:r>
              <a:rPr lang="en-US" i="1" dirty="0" smtClean="0"/>
              <a:t>p</a:t>
            </a:r>
            <a:r>
              <a:rPr lang="en-US" i="1" baseline="-25000" dirty="0" smtClean="0"/>
              <a:t>i</a:t>
            </a:r>
            <a:r>
              <a:rPr lang="en-US" dirty="0" smtClean="0"/>
              <a:t>}; </a:t>
            </a:r>
            <a:r>
              <a:rPr lang="en-US" i="1" dirty="0"/>
              <a:t>Pr </a:t>
            </a:r>
            <a:r>
              <a:rPr lang="en-US" dirty="0" smtClean="0">
                <a:latin typeface="Symbol" charset="0"/>
                <a:sym typeface="Symbol"/>
              </a:rPr>
              <a:t></a:t>
            </a:r>
            <a:r>
              <a:rPr lang="en-US" i="1" dirty="0" smtClean="0"/>
              <a:t>Pr</a:t>
            </a:r>
            <a:r>
              <a:rPr lang="en-US" dirty="0" smtClean="0"/>
              <a:t> </a:t>
            </a:r>
            <a:r>
              <a:rPr lang="en-US" dirty="0"/>
              <a:t>– </a:t>
            </a:r>
            <a:r>
              <a:rPr lang="en-US" dirty="0" smtClean="0"/>
              <a:t>{</a:t>
            </a:r>
            <a:r>
              <a:rPr lang="en-US" i="1" dirty="0" smtClean="0"/>
              <a:t>p</a:t>
            </a:r>
            <a:r>
              <a:rPr lang="en-US" i="1" baseline="-25000" dirty="0" smtClean="0"/>
              <a:t>i</a:t>
            </a:r>
            <a:r>
              <a:rPr lang="en-US" dirty="0" smtClean="0"/>
              <a:t>}; </a:t>
            </a:r>
            <a:r>
              <a:rPr lang="en-US" i="1" dirty="0"/>
              <a:t>F </a:t>
            </a:r>
            <a:r>
              <a:rPr lang="en-US" dirty="0" smtClean="0">
                <a:latin typeface="Symbol" charset="0"/>
                <a:sym typeface="Symbol"/>
              </a:rPr>
              <a:t></a:t>
            </a:r>
            <a:r>
              <a:rPr lang="en-US" dirty="0" smtClean="0"/>
              <a:t> </a:t>
            </a:r>
            <a:r>
              <a:rPr lang="en-US" i="1" dirty="0"/>
              <a:t>F </a:t>
            </a:r>
            <a:r>
              <a:rPr lang="en-US" dirty="0" smtClean="0">
                <a:latin typeface="Symbol" charset="0"/>
                <a:sym typeface="Symbol"/>
              </a:rPr>
              <a:t></a:t>
            </a:r>
            <a:r>
              <a:rPr lang="en-US" dirty="0" smtClean="0"/>
              <a:t> </a:t>
            </a:r>
            <a:r>
              <a:rPr lang="en-US" dirty="0" smtClean="0">
                <a:sym typeface="Symbol"/>
              </a:rPr>
              <a:t>{</a:t>
            </a:r>
            <a:r>
              <a:rPr lang="en-US" i="1" dirty="0" err="1" smtClean="0"/>
              <a:t>f</a:t>
            </a:r>
            <a:r>
              <a:rPr lang="en-US" i="1" baseline="-25000" dirty="0" err="1" smtClean="0"/>
              <a:t>i</a:t>
            </a:r>
            <a:r>
              <a:rPr lang="en-US" dirty="0" smtClean="0"/>
              <a:t>}        </a:t>
            </a:r>
            <a:endParaRPr lang="en-US" dirty="0"/>
          </a:p>
          <a:p>
            <a:pPr lvl="1">
              <a:buSzPct val="80000"/>
            </a:pPr>
            <a:r>
              <a:rPr lang="en-US" dirty="0"/>
              <a:t>if </a:t>
            </a:r>
            <a:r>
              <a:rPr lang="en-US" dirty="0" smtClean="0">
                <a:latin typeface="Symbol" charset="0"/>
                <a:sym typeface="Symbol"/>
              </a:rPr>
              <a:t></a:t>
            </a:r>
            <a:r>
              <a:rPr lang="en-US" i="1" dirty="0" err="1" smtClean="0"/>
              <a:t>p</a:t>
            </a:r>
            <a:r>
              <a:rPr lang="en-US" i="1" baseline="-25000" dirty="0" err="1" smtClean="0"/>
              <a:t>k</a:t>
            </a:r>
            <a:r>
              <a:rPr lang="en-US" dirty="0" smtClean="0"/>
              <a:t> </a:t>
            </a:r>
            <a:r>
              <a:rPr lang="en-US" sz="2400" dirty="0" smtClean="0">
                <a:latin typeface="Symbol" charset="0"/>
                <a:sym typeface="Symbol"/>
              </a:rPr>
              <a:t> </a:t>
            </a:r>
            <a:r>
              <a:rPr lang="en-US" i="1" dirty="0" err="1" smtClean="0"/>
              <a:t>Pr</a:t>
            </a:r>
            <a:r>
              <a:rPr lang="en-US" i="1" dirty="0"/>
              <a:t>' </a:t>
            </a:r>
            <a:r>
              <a:rPr lang="en-US" dirty="0"/>
              <a:t>which is </a:t>
            </a:r>
            <a:r>
              <a:rPr lang="en-US" dirty="0" err="1"/>
              <a:t>nonrelevant</a:t>
            </a:r>
            <a:r>
              <a:rPr lang="en-US" dirty="0"/>
              <a:t> then</a:t>
            </a:r>
          </a:p>
          <a:p>
            <a:pPr lvl="3">
              <a:buFont typeface="Monotype Sorts" charset="0"/>
              <a:buNone/>
            </a:pPr>
            <a:r>
              <a:rPr lang="en-US" sz="2600" i="1" dirty="0"/>
              <a:t>Pr'</a:t>
            </a:r>
            <a:r>
              <a:rPr lang="en-US" sz="2600" dirty="0"/>
              <a:t> </a:t>
            </a:r>
            <a:r>
              <a:rPr lang="en-US" sz="2600" dirty="0" smtClean="0">
                <a:latin typeface="Symbol" charset="0"/>
                <a:sym typeface="Symbol"/>
              </a:rPr>
              <a:t></a:t>
            </a:r>
            <a:r>
              <a:rPr lang="en-US" sz="2600" dirty="0" smtClean="0"/>
              <a:t> </a:t>
            </a:r>
            <a:r>
              <a:rPr lang="en-US" sz="2800" i="1" dirty="0" smtClean="0"/>
              <a:t>Pr</a:t>
            </a:r>
            <a:r>
              <a:rPr lang="en-US" sz="2800" dirty="0" smtClean="0"/>
              <a:t> – {</a:t>
            </a:r>
            <a:r>
              <a:rPr lang="en-US" sz="2800" i="1" dirty="0" smtClean="0"/>
              <a:t>p</a:t>
            </a:r>
            <a:r>
              <a:rPr lang="en-US" sz="2800" i="1" baseline="-25000" dirty="0" smtClean="0"/>
              <a:t>i</a:t>
            </a:r>
            <a:r>
              <a:rPr lang="en-US" sz="2800" dirty="0" smtClean="0"/>
              <a:t>}</a:t>
            </a:r>
            <a:endParaRPr lang="en-US" sz="2600" i="1" dirty="0"/>
          </a:p>
          <a:p>
            <a:pPr lvl="3">
              <a:buFont typeface="Monotype Sorts" charset="0"/>
              <a:buNone/>
            </a:pPr>
            <a:r>
              <a:rPr lang="en-US" sz="2600" i="1" dirty="0"/>
              <a:t>F</a:t>
            </a:r>
            <a:r>
              <a:rPr lang="en-US" sz="2600" dirty="0"/>
              <a:t> </a:t>
            </a:r>
            <a:r>
              <a:rPr lang="en-US" sz="2800" dirty="0" smtClean="0">
                <a:latin typeface="Symbol" charset="0"/>
                <a:sym typeface="Symbol"/>
              </a:rPr>
              <a:t></a:t>
            </a:r>
            <a:r>
              <a:rPr lang="en-US" sz="2600" dirty="0" smtClean="0"/>
              <a:t>  </a:t>
            </a:r>
            <a:r>
              <a:rPr lang="en-US" sz="2600" i="1" dirty="0"/>
              <a:t>F</a:t>
            </a:r>
            <a:r>
              <a:rPr lang="en-US" sz="2600" dirty="0"/>
              <a:t> – </a:t>
            </a:r>
            <a:r>
              <a:rPr lang="en-US" sz="2800" dirty="0" smtClean="0">
                <a:sym typeface="Symbol"/>
              </a:rPr>
              <a:t>{</a:t>
            </a:r>
            <a:r>
              <a:rPr lang="en-US" sz="2800" i="1" dirty="0" err="1" smtClean="0"/>
              <a:t>f</a:t>
            </a:r>
            <a:r>
              <a:rPr lang="en-US" sz="2800" i="1" baseline="-25000" dirty="0" err="1" smtClean="0"/>
              <a:t>i</a:t>
            </a:r>
            <a:r>
              <a:rPr lang="en-US" sz="2800" dirty="0" smtClean="0"/>
              <a:t>}</a:t>
            </a:r>
            <a:endParaRPr lang="en-US" sz="2600" i="1" baseline="-25000" dirty="0"/>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title"/>
          </p:nvPr>
        </p:nvSpPr>
        <p:spPr>
          <a:noFill/>
          <a:ln/>
        </p:spPr>
        <p:txBody>
          <a:bodyPr/>
          <a:lstStyle/>
          <a:p>
            <a:r>
              <a:rPr lang="en-US" sz="3200" b="1" dirty="0"/>
              <a:t>PHORIZONTAL Algorithm</a:t>
            </a:r>
          </a:p>
        </p:txBody>
      </p:sp>
      <p:sp>
        <p:nvSpPr>
          <p:cNvPr id="58370" name="Rectangle 2"/>
          <p:cNvSpPr>
            <a:spLocks noGrp="1" noChangeArrowheads="1"/>
          </p:cNvSpPr>
          <p:nvPr>
            <p:ph idx="1"/>
          </p:nvPr>
        </p:nvSpPr>
        <p:spPr>
          <a:noFill/>
          <a:ln/>
        </p:spPr>
        <p:txBody>
          <a:bodyPr/>
          <a:lstStyle/>
          <a:p>
            <a:pPr marL="1788132" indent="-1788132">
              <a:buNone/>
              <a:tabLst>
                <a:tab pos="650230" algn="l"/>
              </a:tabLst>
            </a:pPr>
            <a:r>
              <a:rPr lang="en-US" dirty="0"/>
              <a:t>Makes use of COM_MIN to perform fragmentation.</a:t>
            </a:r>
          </a:p>
          <a:p>
            <a:pPr marL="1788132" indent="-1788132">
              <a:buNone/>
              <a:tabLst>
                <a:tab pos="650230" algn="l"/>
              </a:tabLst>
            </a:pPr>
            <a:r>
              <a:rPr lang="en-US" dirty="0">
                <a:solidFill>
                  <a:schemeClr val="hlink"/>
                </a:solidFill>
              </a:rPr>
              <a:t>Input:</a:t>
            </a:r>
            <a:r>
              <a:rPr lang="en-US" dirty="0"/>
              <a:t>	a relation </a:t>
            </a:r>
            <a:r>
              <a:rPr lang="en-US" i="1" dirty="0"/>
              <a:t>R </a:t>
            </a:r>
            <a:r>
              <a:rPr lang="en-US" dirty="0"/>
              <a:t> and a set of simple predicates </a:t>
            </a:r>
            <a:r>
              <a:rPr lang="en-US" i="1" dirty="0"/>
              <a:t>Pr</a:t>
            </a:r>
          </a:p>
          <a:p>
            <a:pPr marL="1788132" indent="-1788132">
              <a:buNone/>
              <a:tabLst>
                <a:tab pos="650230" algn="l"/>
              </a:tabLst>
            </a:pPr>
            <a:r>
              <a:rPr lang="en-US" dirty="0">
                <a:solidFill>
                  <a:schemeClr val="hlink"/>
                </a:solidFill>
              </a:rPr>
              <a:t>Output:</a:t>
            </a:r>
            <a:r>
              <a:rPr lang="en-US" dirty="0"/>
              <a:t>	a set of </a:t>
            </a:r>
            <a:r>
              <a:rPr lang="en-US" dirty="0" err="1"/>
              <a:t>minterm</a:t>
            </a:r>
            <a:r>
              <a:rPr lang="en-US" dirty="0"/>
              <a:t> predicates </a:t>
            </a:r>
            <a:r>
              <a:rPr lang="en-US" i="1" dirty="0"/>
              <a:t>M </a:t>
            </a:r>
            <a:r>
              <a:rPr lang="en-US" dirty="0"/>
              <a:t>according to which  relation </a:t>
            </a:r>
            <a:r>
              <a:rPr lang="en-US" i="1" dirty="0"/>
              <a:t>R</a:t>
            </a:r>
            <a:r>
              <a:rPr lang="en-US" dirty="0"/>
              <a:t> is to be fragmented</a:t>
            </a:r>
          </a:p>
          <a:p>
            <a:pPr marL="1788132" indent="-1788132">
              <a:buNone/>
              <a:tabLst>
                <a:tab pos="650230" algn="l"/>
              </a:tabLst>
            </a:pPr>
            <a:endParaRPr lang="en-US" i="1" dirty="0"/>
          </a:p>
          <a:p>
            <a:pPr marL="447675" indent="-447675">
              <a:buSzPct val="95000"/>
              <a:buFont typeface="Wingdings" pitchFamily="2" charset="2"/>
              <a:buChar char=""/>
              <a:tabLst>
                <a:tab pos="650230" algn="l"/>
              </a:tabLst>
            </a:pPr>
            <a:r>
              <a:rPr lang="en-US" i="1" dirty="0" smtClean="0"/>
              <a:t>Pr</a:t>
            </a:r>
            <a:r>
              <a:rPr lang="en-US" dirty="0"/>
              <a:t>' </a:t>
            </a:r>
            <a:r>
              <a:rPr lang="en-US" dirty="0" smtClean="0">
                <a:latin typeface="Symbol" charset="0"/>
                <a:sym typeface="Symbol"/>
              </a:rPr>
              <a:t> </a:t>
            </a:r>
            <a:r>
              <a:rPr lang="en-US" dirty="0" smtClean="0"/>
              <a:t>COM_MIN </a:t>
            </a:r>
            <a:r>
              <a:rPr lang="en-US" dirty="0"/>
              <a:t>(</a:t>
            </a:r>
            <a:r>
              <a:rPr lang="en-US" i="1" dirty="0" err="1" smtClean="0"/>
              <a:t>R</a:t>
            </a:r>
            <a:r>
              <a:rPr lang="en-US" dirty="0" err="1" smtClean="0"/>
              <a:t>,</a:t>
            </a:r>
            <a:r>
              <a:rPr lang="en-US" i="1" dirty="0" err="1" smtClean="0"/>
              <a:t>Pr</a:t>
            </a:r>
            <a:r>
              <a:rPr lang="en-US" dirty="0" smtClean="0"/>
              <a:t>)</a:t>
            </a:r>
          </a:p>
          <a:p>
            <a:pPr marL="447675" indent="-447675">
              <a:buSzPct val="95000"/>
              <a:buFont typeface="Wingdings" pitchFamily="2" charset="2"/>
              <a:buChar char=""/>
              <a:tabLst>
                <a:tab pos="650230" algn="l"/>
              </a:tabLst>
            </a:pPr>
            <a:r>
              <a:rPr lang="en-US" dirty="0" smtClean="0"/>
              <a:t>determine </a:t>
            </a:r>
            <a:r>
              <a:rPr lang="en-US" dirty="0"/>
              <a:t>the set </a:t>
            </a:r>
            <a:r>
              <a:rPr lang="en-US" i="1" dirty="0"/>
              <a:t>M </a:t>
            </a:r>
            <a:r>
              <a:rPr lang="en-US" dirty="0"/>
              <a:t>of </a:t>
            </a:r>
            <a:r>
              <a:rPr lang="en-US" dirty="0" err="1"/>
              <a:t>minterm</a:t>
            </a:r>
            <a:r>
              <a:rPr lang="en-US" dirty="0"/>
              <a:t> </a:t>
            </a:r>
            <a:r>
              <a:rPr lang="en-US" dirty="0" smtClean="0"/>
              <a:t>predicates</a:t>
            </a:r>
          </a:p>
          <a:p>
            <a:pPr marL="447675" indent="-447675">
              <a:buSzPct val="95000"/>
              <a:buFont typeface="Wingdings" pitchFamily="2" charset="2"/>
              <a:buChar char=""/>
              <a:tabLst>
                <a:tab pos="650230" algn="l"/>
              </a:tabLst>
            </a:pPr>
            <a:r>
              <a:rPr lang="en-US" dirty="0" smtClean="0"/>
              <a:t>determine </a:t>
            </a:r>
            <a:r>
              <a:rPr lang="en-US" dirty="0"/>
              <a:t>the set </a:t>
            </a:r>
            <a:r>
              <a:rPr lang="en-US" i="1" dirty="0"/>
              <a:t>I </a:t>
            </a:r>
            <a:r>
              <a:rPr lang="en-US" dirty="0"/>
              <a:t>of implications among </a:t>
            </a:r>
            <a:r>
              <a:rPr lang="en-US" i="1" dirty="0"/>
              <a:t>p</a:t>
            </a:r>
            <a:r>
              <a:rPr lang="en-US" i="1" baseline="-25000" dirty="0"/>
              <a:t>i</a:t>
            </a:r>
            <a:r>
              <a:rPr lang="en-US" i="1" dirty="0"/>
              <a:t> </a:t>
            </a:r>
            <a:r>
              <a:rPr lang="en-US" dirty="0" smtClean="0">
                <a:latin typeface="Symbol" charset="0"/>
                <a:sym typeface="Symbol"/>
              </a:rPr>
              <a:t></a:t>
            </a:r>
            <a:r>
              <a:rPr lang="en-US" dirty="0" smtClean="0"/>
              <a:t> </a:t>
            </a:r>
            <a:r>
              <a:rPr lang="en-US" i="1" dirty="0" smtClean="0"/>
              <a:t>Pr</a:t>
            </a:r>
          </a:p>
          <a:p>
            <a:pPr marL="447675" indent="-447675">
              <a:buSzPct val="95000"/>
              <a:buFont typeface="Wingdings" pitchFamily="2" charset="2"/>
              <a:buChar char=""/>
              <a:tabLst>
                <a:tab pos="650230" algn="l"/>
              </a:tabLst>
            </a:pPr>
            <a:r>
              <a:rPr lang="en-US" dirty="0" smtClean="0"/>
              <a:t>eliminate </a:t>
            </a:r>
            <a:r>
              <a:rPr lang="en-US" dirty="0"/>
              <a:t>the contradictory </a:t>
            </a:r>
            <a:r>
              <a:rPr lang="en-US" dirty="0" err="1"/>
              <a:t>minterms</a:t>
            </a:r>
            <a:r>
              <a:rPr lang="en-US" dirty="0"/>
              <a:t> from </a:t>
            </a:r>
            <a:r>
              <a:rPr lang="en-US" i="1" dirty="0"/>
              <a:t>M </a:t>
            </a: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type="title"/>
          </p:nvPr>
        </p:nvSpPr>
        <p:spPr>
          <a:noFill/>
          <a:ln/>
        </p:spPr>
        <p:txBody>
          <a:bodyPr/>
          <a:lstStyle/>
          <a:p>
            <a:r>
              <a:rPr lang="en-US"/>
              <a:t>PHF – Example</a:t>
            </a:r>
          </a:p>
        </p:txBody>
      </p:sp>
      <p:sp>
        <p:nvSpPr>
          <p:cNvPr id="60418" name="Rectangle 2"/>
          <p:cNvSpPr>
            <a:spLocks noGrp="1" noChangeArrowheads="1"/>
          </p:cNvSpPr>
          <p:nvPr>
            <p:ph idx="1"/>
          </p:nvPr>
        </p:nvSpPr>
        <p:spPr>
          <a:noFill/>
          <a:ln/>
        </p:spPr>
        <p:txBody>
          <a:bodyPr/>
          <a:lstStyle/>
          <a:p>
            <a:r>
              <a:rPr lang="en-US" dirty="0"/>
              <a:t>Two candidate relations : PAY and PROJ.</a:t>
            </a:r>
          </a:p>
          <a:p>
            <a:r>
              <a:rPr lang="en-US" dirty="0">
                <a:solidFill>
                  <a:schemeClr val="tx2"/>
                </a:solidFill>
              </a:rPr>
              <a:t>Fragmentation of relation PAY</a:t>
            </a:r>
            <a:r>
              <a:rPr lang="en-US" dirty="0">
                <a:solidFill>
                  <a:schemeClr val="bg2"/>
                </a:solidFill>
              </a:rPr>
              <a:t> </a:t>
            </a:r>
            <a:endParaRPr lang="en-US" dirty="0"/>
          </a:p>
          <a:p>
            <a:pPr lvl="1"/>
            <a:r>
              <a:rPr lang="en-US" dirty="0"/>
              <a:t>Application: Check the salary info and determine raise.</a:t>
            </a:r>
          </a:p>
          <a:p>
            <a:pPr lvl="1"/>
            <a:r>
              <a:rPr lang="en-US" dirty="0"/>
              <a:t>Employee records kept at two sites </a:t>
            </a:r>
            <a:r>
              <a:rPr lang="en-US" dirty="0">
                <a:latin typeface="Symbol" charset="0"/>
              </a:rPr>
              <a:t></a:t>
            </a:r>
            <a:r>
              <a:rPr lang="en-US" dirty="0"/>
              <a:t> application run at two sites</a:t>
            </a:r>
          </a:p>
          <a:p>
            <a:pPr lvl="1"/>
            <a:r>
              <a:rPr lang="en-US" dirty="0"/>
              <a:t>Simple predicates</a:t>
            </a:r>
          </a:p>
          <a:p>
            <a:pPr lvl="2">
              <a:buFont typeface="Monotype Sorts" charset="0"/>
              <a:buNone/>
            </a:pPr>
            <a:r>
              <a:rPr lang="en-US" i="1" dirty="0"/>
              <a:t>p</a:t>
            </a:r>
            <a:r>
              <a:rPr lang="en-US" baseline="-25000" dirty="0"/>
              <a:t>1</a:t>
            </a:r>
            <a:r>
              <a:rPr lang="en-US" dirty="0"/>
              <a:t> :  SAL ≤ 30000</a:t>
            </a:r>
          </a:p>
          <a:p>
            <a:pPr lvl="2">
              <a:buFont typeface="Monotype Sorts" charset="0"/>
              <a:buNone/>
            </a:pPr>
            <a:r>
              <a:rPr lang="en-US" i="1" dirty="0"/>
              <a:t>p</a:t>
            </a:r>
            <a:r>
              <a:rPr lang="en-US" baseline="-25000" dirty="0"/>
              <a:t>2</a:t>
            </a:r>
            <a:r>
              <a:rPr lang="en-US" dirty="0"/>
              <a:t> :  SAL &gt; 30000</a:t>
            </a:r>
          </a:p>
          <a:p>
            <a:pPr lvl="2">
              <a:buFont typeface="Monotype Sorts" charset="0"/>
              <a:buNone/>
            </a:pPr>
            <a:r>
              <a:rPr lang="en-US" i="1" dirty="0"/>
              <a:t>Pr</a:t>
            </a:r>
            <a:r>
              <a:rPr lang="en-US" dirty="0"/>
              <a:t> = {</a:t>
            </a:r>
            <a:r>
              <a:rPr lang="en-US" i="1" dirty="0"/>
              <a:t>p</a:t>
            </a:r>
            <a:r>
              <a:rPr lang="en-US" baseline="-25000" dirty="0"/>
              <a:t>1</a:t>
            </a:r>
            <a:r>
              <a:rPr lang="en-US" dirty="0"/>
              <a:t>,</a:t>
            </a:r>
            <a:r>
              <a:rPr lang="en-US" i="1" dirty="0"/>
              <a:t>p</a:t>
            </a:r>
            <a:r>
              <a:rPr lang="en-US" baseline="-25000" dirty="0"/>
              <a:t>2</a:t>
            </a:r>
            <a:r>
              <a:rPr lang="en-US" dirty="0"/>
              <a:t>} which is complete and minimal </a:t>
            </a:r>
            <a:r>
              <a:rPr lang="en-US" i="1" dirty="0"/>
              <a:t>Pr'</a:t>
            </a:r>
            <a:r>
              <a:rPr lang="en-US" dirty="0"/>
              <a:t>=</a:t>
            </a:r>
            <a:r>
              <a:rPr lang="en-US" i="1" dirty="0"/>
              <a:t>Pr</a:t>
            </a:r>
          </a:p>
          <a:p>
            <a:pPr lvl="1"/>
            <a:r>
              <a:rPr lang="en-US" dirty="0" err="1"/>
              <a:t>Minterm</a:t>
            </a:r>
            <a:r>
              <a:rPr lang="en-US" dirty="0"/>
              <a:t> predicates</a:t>
            </a:r>
          </a:p>
          <a:p>
            <a:pPr lvl="2">
              <a:buFont typeface="Monotype Sorts" charset="0"/>
              <a:buNone/>
            </a:pPr>
            <a:r>
              <a:rPr lang="en-US" i="1" dirty="0"/>
              <a:t>m</a:t>
            </a:r>
            <a:r>
              <a:rPr lang="en-US" baseline="-25000" dirty="0"/>
              <a:t>1</a:t>
            </a:r>
            <a:r>
              <a:rPr lang="en-US" dirty="0"/>
              <a:t> : (SAL ≤ 30000)</a:t>
            </a:r>
          </a:p>
          <a:p>
            <a:pPr lvl="2">
              <a:buFont typeface="Monotype Sorts" charset="0"/>
              <a:buNone/>
            </a:pPr>
            <a:r>
              <a:rPr lang="en-US" i="1" dirty="0"/>
              <a:t>m</a:t>
            </a:r>
            <a:r>
              <a:rPr lang="en-US" baseline="-25000" dirty="0"/>
              <a:t>2</a:t>
            </a:r>
            <a:r>
              <a:rPr lang="en-US" dirty="0"/>
              <a:t> : </a:t>
            </a:r>
            <a:r>
              <a:rPr lang="en-US" b="1" dirty="0"/>
              <a:t>NOT</a:t>
            </a:r>
            <a:r>
              <a:rPr lang="en-US" dirty="0"/>
              <a:t>(SAL ≤ 30000) </a:t>
            </a:r>
            <a:r>
              <a:rPr lang="en-US" dirty="0">
                <a:latin typeface="Symbol" charset="0"/>
              </a:rPr>
              <a:t>=</a:t>
            </a:r>
            <a:r>
              <a:rPr lang="en-US" dirty="0"/>
              <a:t> (SAL &gt; 30000)</a:t>
            </a: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type="title"/>
          </p:nvPr>
        </p:nvSpPr>
        <p:spPr>
          <a:noFill/>
          <a:ln/>
        </p:spPr>
        <p:txBody>
          <a:bodyPr/>
          <a:lstStyle/>
          <a:p>
            <a:r>
              <a:rPr lang="en-US"/>
              <a:t>PHF – Example</a:t>
            </a:r>
          </a:p>
        </p:txBody>
      </p:sp>
      <p:grpSp>
        <p:nvGrpSpPr>
          <p:cNvPr id="62477" name="Group 13"/>
          <p:cNvGrpSpPr>
            <a:grpSpLocks/>
          </p:cNvGrpSpPr>
          <p:nvPr/>
        </p:nvGrpSpPr>
        <p:grpSpPr bwMode="auto">
          <a:xfrm>
            <a:off x="2377441" y="4319129"/>
            <a:ext cx="3314418" cy="1770098"/>
            <a:chOff x="1216" y="3232"/>
            <a:chExt cx="1468" cy="784"/>
          </a:xfrm>
          <a:noFill/>
        </p:grpSpPr>
        <p:sp>
          <p:nvSpPr>
            <p:cNvPr id="62468" name="Rectangle 4"/>
            <p:cNvSpPr>
              <a:spLocks noChangeArrowheads="1"/>
            </p:cNvSpPr>
            <p:nvPr/>
          </p:nvSpPr>
          <p:spPr bwMode="auto">
            <a:xfrm>
              <a:off x="1216" y="3232"/>
              <a:ext cx="1468" cy="784"/>
            </a:xfrm>
            <a:prstGeom prst="rect">
              <a:avLst/>
            </a:prstGeom>
            <a:grpFill/>
            <a:ln w="1270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62469" name="Line 5"/>
            <p:cNvSpPr>
              <a:spLocks noChangeShapeType="1"/>
            </p:cNvSpPr>
            <p:nvPr/>
          </p:nvSpPr>
          <p:spPr bwMode="auto">
            <a:xfrm>
              <a:off x="1216" y="3520"/>
              <a:ext cx="1468" cy="0"/>
            </a:xfrm>
            <a:prstGeom prst="line">
              <a:avLst/>
            </a:prstGeom>
            <a:grpFill/>
            <a:ln w="1270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62470" name="Line 6"/>
            <p:cNvSpPr>
              <a:spLocks noChangeShapeType="1"/>
            </p:cNvSpPr>
            <p:nvPr/>
          </p:nvSpPr>
          <p:spPr bwMode="auto">
            <a:xfrm>
              <a:off x="2128" y="3240"/>
              <a:ext cx="0" cy="776"/>
            </a:xfrm>
            <a:prstGeom prst="line">
              <a:avLst/>
            </a:prstGeom>
            <a:grpFill/>
            <a:ln w="1270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62471" name="Rectangle 7"/>
            <p:cNvSpPr>
              <a:spLocks noChangeArrowheads="1"/>
            </p:cNvSpPr>
            <p:nvPr/>
          </p:nvSpPr>
          <p:spPr bwMode="auto">
            <a:xfrm>
              <a:off x="1306" y="3262"/>
              <a:ext cx="492" cy="21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TITLE</a:t>
              </a:r>
            </a:p>
          </p:txBody>
        </p:sp>
        <p:sp>
          <p:nvSpPr>
            <p:cNvPr id="62472" name="Rectangle 8"/>
            <p:cNvSpPr>
              <a:spLocks noChangeArrowheads="1"/>
            </p:cNvSpPr>
            <p:nvPr/>
          </p:nvSpPr>
          <p:spPr bwMode="auto">
            <a:xfrm>
              <a:off x="1242" y="3510"/>
              <a:ext cx="812" cy="21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Mech. Eng.</a:t>
              </a:r>
            </a:p>
          </p:txBody>
        </p:sp>
        <p:sp>
          <p:nvSpPr>
            <p:cNvPr id="62473" name="Rectangle 9"/>
            <p:cNvSpPr>
              <a:spLocks noChangeArrowheads="1"/>
            </p:cNvSpPr>
            <p:nvPr/>
          </p:nvSpPr>
          <p:spPr bwMode="auto">
            <a:xfrm>
              <a:off x="1229" y="3750"/>
              <a:ext cx="911" cy="21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Programmer</a:t>
              </a:r>
            </a:p>
          </p:txBody>
        </p:sp>
        <p:sp>
          <p:nvSpPr>
            <p:cNvPr id="62474" name="Rectangle 10"/>
            <p:cNvSpPr>
              <a:spLocks noChangeArrowheads="1"/>
            </p:cNvSpPr>
            <p:nvPr/>
          </p:nvSpPr>
          <p:spPr bwMode="auto">
            <a:xfrm>
              <a:off x="2214" y="3250"/>
              <a:ext cx="364" cy="21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SAL</a:t>
              </a:r>
            </a:p>
          </p:txBody>
        </p:sp>
        <p:sp>
          <p:nvSpPr>
            <p:cNvPr id="62475" name="Rectangle 11"/>
            <p:cNvSpPr>
              <a:spLocks noChangeArrowheads="1"/>
            </p:cNvSpPr>
            <p:nvPr/>
          </p:nvSpPr>
          <p:spPr bwMode="auto">
            <a:xfrm>
              <a:off x="2191" y="3510"/>
              <a:ext cx="450" cy="21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27000</a:t>
              </a:r>
            </a:p>
          </p:txBody>
        </p:sp>
        <p:sp>
          <p:nvSpPr>
            <p:cNvPr id="62476" name="Rectangle 12"/>
            <p:cNvSpPr>
              <a:spLocks noChangeArrowheads="1"/>
            </p:cNvSpPr>
            <p:nvPr/>
          </p:nvSpPr>
          <p:spPr bwMode="auto">
            <a:xfrm>
              <a:off x="2191" y="3750"/>
              <a:ext cx="450" cy="21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24000</a:t>
              </a:r>
            </a:p>
          </p:txBody>
        </p:sp>
      </p:grpSp>
      <p:sp>
        <p:nvSpPr>
          <p:cNvPr id="62478" name="Rectangle 14"/>
          <p:cNvSpPr>
            <a:spLocks noChangeArrowheads="1"/>
          </p:cNvSpPr>
          <p:nvPr/>
        </p:nvSpPr>
        <p:spPr bwMode="auto">
          <a:xfrm>
            <a:off x="2370689" y="3793067"/>
            <a:ext cx="1002279"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chemeClr val="tx2"/>
                </a:solidFill>
                <a:latin typeface="Book Antiqua"/>
              </a:rPr>
              <a:t>PAY</a:t>
            </a:r>
            <a:r>
              <a:rPr lang="en-US" sz="2600" baseline="-25000" dirty="0">
                <a:solidFill>
                  <a:schemeClr val="tx2"/>
                </a:solidFill>
                <a:latin typeface="Book Antiqua"/>
              </a:rPr>
              <a:t>1</a:t>
            </a:r>
          </a:p>
        </p:txBody>
      </p:sp>
      <p:sp>
        <p:nvSpPr>
          <p:cNvPr id="62480" name="Rectangle 16"/>
          <p:cNvSpPr>
            <a:spLocks noChangeArrowheads="1"/>
          </p:cNvSpPr>
          <p:nvPr/>
        </p:nvSpPr>
        <p:spPr bwMode="auto">
          <a:xfrm>
            <a:off x="7247489" y="3793067"/>
            <a:ext cx="1002279"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chemeClr val="tx2"/>
                </a:solidFill>
                <a:latin typeface="Book Antiqua"/>
              </a:rPr>
              <a:t>PAY</a:t>
            </a:r>
            <a:r>
              <a:rPr lang="en-US" sz="2600" baseline="-25000" dirty="0">
                <a:solidFill>
                  <a:schemeClr val="tx2"/>
                </a:solidFill>
                <a:latin typeface="Book Antiqua"/>
              </a:rPr>
              <a:t>2</a:t>
            </a:r>
          </a:p>
        </p:txBody>
      </p:sp>
      <p:sp>
        <p:nvSpPr>
          <p:cNvPr id="62481" name="Rectangle 17"/>
          <p:cNvSpPr>
            <a:spLocks noChangeArrowheads="1"/>
          </p:cNvSpPr>
          <p:nvPr/>
        </p:nvSpPr>
        <p:spPr bwMode="auto">
          <a:xfrm>
            <a:off x="7200054" y="4319129"/>
            <a:ext cx="3314418" cy="1770098"/>
          </a:xfrm>
          <a:prstGeom prst="rect">
            <a:avLst/>
          </a:prstGeom>
          <a:noFill/>
          <a:ln w="12700">
            <a:solidFill>
              <a:srgbClr val="000000"/>
            </a:solidFill>
            <a:miter lim="800000"/>
            <a:headEnd/>
            <a:tailEnd/>
          </a:ln>
          <a:effectLst/>
          <a:extLst/>
        </p:spPr>
        <p:txBody>
          <a:bodyPr wrap="none" lIns="130046" tIns="65023" rIns="130046" bIns="65023" anchor="ctr"/>
          <a:lstStyle/>
          <a:p>
            <a:endParaRPr lang="en-US" dirty="0">
              <a:latin typeface="Book Antiqua"/>
            </a:endParaRPr>
          </a:p>
        </p:txBody>
      </p:sp>
      <p:sp>
        <p:nvSpPr>
          <p:cNvPr id="62482" name="Line 18"/>
          <p:cNvSpPr>
            <a:spLocks noChangeShapeType="1"/>
          </p:cNvSpPr>
          <p:nvPr/>
        </p:nvSpPr>
        <p:spPr bwMode="auto">
          <a:xfrm>
            <a:off x="7200054" y="4969370"/>
            <a:ext cx="331441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62483" name="Line 19"/>
          <p:cNvSpPr>
            <a:spLocks noChangeShapeType="1"/>
          </p:cNvSpPr>
          <p:nvPr/>
        </p:nvSpPr>
        <p:spPr bwMode="auto">
          <a:xfrm>
            <a:off x="9259147" y="4337192"/>
            <a:ext cx="0" cy="17520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62484" name="Rectangle 20"/>
          <p:cNvSpPr>
            <a:spLocks noChangeArrowheads="1"/>
          </p:cNvSpPr>
          <p:nvPr/>
        </p:nvSpPr>
        <p:spPr bwMode="auto">
          <a:xfrm>
            <a:off x="7364562" y="4386864"/>
            <a:ext cx="118821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TITLE</a:t>
            </a:r>
          </a:p>
        </p:txBody>
      </p:sp>
      <p:sp>
        <p:nvSpPr>
          <p:cNvPr id="62485" name="Rectangle 21"/>
          <p:cNvSpPr>
            <a:spLocks noChangeArrowheads="1"/>
          </p:cNvSpPr>
          <p:nvPr/>
        </p:nvSpPr>
        <p:spPr bwMode="auto">
          <a:xfrm>
            <a:off x="7234146" y="4946793"/>
            <a:ext cx="1810287"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Elect. Eng.</a:t>
            </a:r>
          </a:p>
        </p:txBody>
      </p:sp>
      <p:sp>
        <p:nvSpPr>
          <p:cNvPr id="62486" name="Rectangle 22"/>
          <p:cNvSpPr>
            <a:spLocks noChangeArrowheads="1"/>
          </p:cNvSpPr>
          <p:nvPr/>
        </p:nvSpPr>
        <p:spPr bwMode="auto">
          <a:xfrm>
            <a:off x="7217544" y="5488659"/>
            <a:ext cx="182542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Syst. Anal.</a:t>
            </a:r>
          </a:p>
        </p:txBody>
      </p:sp>
      <p:sp>
        <p:nvSpPr>
          <p:cNvPr id="62487" name="Rectangle 23"/>
          <p:cNvSpPr>
            <a:spLocks noChangeArrowheads="1"/>
          </p:cNvSpPr>
          <p:nvPr/>
        </p:nvSpPr>
        <p:spPr bwMode="auto">
          <a:xfrm>
            <a:off x="9415268" y="4359771"/>
            <a:ext cx="89792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SAL</a:t>
            </a:r>
          </a:p>
        </p:txBody>
      </p:sp>
      <p:sp>
        <p:nvSpPr>
          <p:cNvPr id="62488" name="Rectangle 24"/>
          <p:cNvSpPr>
            <a:spLocks noChangeArrowheads="1"/>
          </p:cNvSpPr>
          <p:nvPr/>
        </p:nvSpPr>
        <p:spPr bwMode="auto">
          <a:xfrm>
            <a:off x="9362658" y="4946793"/>
            <a:ext cx="1093457"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40000</a:t>
            </a:r>
          </a:p>
        </p:txBody>
      </p:sp>
      <p:sp>
        <p:nvSpPr>
          <p:cNvPr id="62489" name="Rectangle 25"/>
          <p:cNvSpPr>
            <a:spLocks noChangeArrowheads="1"/>
          </p:cNvSpPr>
          <p:nvPr/>
        </p:nvSpPr>
        <p:spPr bwMode="auto">
          <a:xfrm>
            <a:off x="9362658" y="5488659"/>
            <a:ext cx="1093457"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34000</a:t>
            </a: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title"/>
          </p:nvPr>
        </p:nvSpPr>
        <p:spPr>
          <a:noFill/>
          <a:ln/>
        </p:spPr>
        <p:txBody>
          <a:bodyPr/>
          <a:lstStyle/>
          <a:p>
            <a:r>
              <a:rPr lang="en-US"/>
              <a:t>PHF – Example</a:t>
            </a:r>
          </a:p>
        </p:txBody>
      </p:sp>
      <p:sp>
        <p:nvSpPr>
          <p:cNvPr id="64514" name="Rectangle 2"/>
          <p:cNvSpPr>
            <a:spLocks noGrp="1" noChangeArrowheads="1"/>
          </p:cNvSpPr>
          <p:nvPr>
            <p:ph idx="1"/>
          </p:nvPr>
        </p:nvSpPr>
        <p:spPr>
          <a:noFill/>
          <a:ln/>
        </p:spPr>
        <p:txBody>
          <a:bodyPr/>
          <a:lstStyle/>
          <a:p>
            <a:pPr>
              <a:lnSpc>
                <a:spcPct val="80000"/>
              </a:lnSpc>
            </a:pPr>
            <a:r>
              <a:rPr lang="en-US" dirty="0">
                <a:solidFill>
                  <a:schemeClr val="tx2"/>
                </a:solidFill>
              </a:rPr>
              <a:t>Fragmentation of relation PROJ </a:t>
            </a:r>
            <a:endParaRPr lang="en-US" dirty="0"/>
          </a:p>
          <a:p>
            <a:pPr marL="1056623" lvl="1">
              <a:lnSpc>
                <a:spcPct val="80000"/>
              </a:lnSpc>
            </a:pPr>
            <a:r>
              <a:rPr lang="en-US" dirty="0"/>
              <a:t>Applications:</a:t>
            </a:r>
          </a:p>
          <a:p>
            <a:pPr marL="1544296" lvl="2">
              <a:lnSpc>
                <a:spcPct val="80000"/>
              </a:lnSpc>
            </a:pPr>
            <a:r>
              <a:rPr lang="en-US" dirty="0"/>
              <a:t>Find the name and budget of projects given their no.</a:t>
            </a:r>
          </a:p>
          <a:p>
            <a:pPr marL="1950690" lvl="3">
              <a:lnSpc>
                <a:spcPct val="80000"/>
              </a:lnSpc>
            </a:pPr>
            <a:r>
              <a:rPr lang="en-US" sz="2600" dirty="0"/>
              <a:t>Issued at three sites</a:t>
            </a:r>
          </a:p>
          <a:p>
            <a:pPr marL="1544296" lvl="2">
              <a:lnSpc>
                <a:spcPct val="80000"/>
              </a:lnSpc>
            </a:pPr>
            <a:r>
              <a:rPr lang="en-US" dirty="0"/>
              <a:t>Access project information according to budget 	</a:t>
            </a:r>
          </a:p>
          <a:p>
            <a:pPr marL="1950690" lvl="3">
              <a:lnSpc>
                <a:spcPct val="80000"/>
              </a:lnSpc>
            </a:pPr>
            <a:r>
              <a:rPr lang="en-US" sz="2600" dirty="0"/>
              <a:t>one site accesses ≤200000 other accesses &gt;200000</a:t>
            </a:r>
          </a:p>
          <a:p>
            <a:pPr marL="1056623" lvl="1">
              <a:lnSpc>
                <a:spcPct val="80000"/>
              </a:lnSpc>
            </a:pPr>
            <a:r>
              <a:rPr lang="en-US" dirty="0"/>
              <a:t>Simple predicates</a:t>
            </a:r>
          </a:p>
          <a:p>
            <a:pPr marL="1056623" lvl="1">
              <a:lnSpc>
                <a:spcPct val="80000"/>
              </a:lnSpc>
            </a:pPr>
            <a:r>
              <a:rPr lang="en-US" dirty="0"/>
              <a:t>For application (1)</a:t>
            </a:r>
          </a:p>
          <a:p>
            <a:pPr marL="1544296" lvl="2">
              <a:lnSpc>
                <a:spcPct val="80000"/>
              </a:lnSpc>
              <a:buNone/>
            </a:pPr>
            <a:r>
              <a:rPr lang="en-US" i="1" dirty="0"/>
              <a:t>p</a:t>
            </a:r>
            <a:r>
              <a:rPr lang="en-US" baseline="-25000" dirty="0"/>
              <a:t>1</a:t>
            </a:r>
            <a:r>
              <a:rPr lang="en-US" dirty="0"/>
              <a:t> : LOC = “Montreal”</a:t>
            </a:r>
          </a:p>
          <a:p>
            <a:pPr marL="1544296" lvl="2">
              <a:lnSpc>
                <a:spcPct val="80000"/>
              </a:lnSpc>
              <a:buNone/>
            </a:pPr>
            <a:r>
              <a:rPr lang="en-US" i="1" dirty="0"/>
              <a:t>p</a:t>
            </a:r>
            <a:r>
              <a:rPr lang="en-US" baseline="-25000" dirty="0"/>
              <a:t>2</a:t>
            </a:r>
            <a:r>
              <a:rPr lang="en-US" dirty="0"/>
              <a:t> : LOC = “New York”</a:t>
            </a:r>
          </a:p>
          <a:p>
            <a:pPr marL="1544296" lvl="2">
              <a:lnSpc>
                <a:spcPct val="80000"/>
              </a:lnSpc>
              <a:buNone/>
            </a:pPr>
            <a:r>
              <a:rPr lang="en-US" i="1" dirty="0"/>
              <a:t>p</a:t>
            </a:r>
            <a:r>
              <a:rPr lang="en-US" baseline="-25000" dirty="0"/>
              <a:t>3</a:t>
            </a:r>
            <a:r>
              <a:rPr lang="en-US" dirty="0"/>
              <a:t> : LOC = “Paris”</a:t>
            </a:r>
          </a:p>
          <a:p>
            <a:pPr marL="1056623" lvl="1">
              <a:lnSpc>
                <a:spcPct val="80000"/>
              </a:lnSpc>
            </a:pPr>
            <a:r>
              <a:rPr lang="en-US" dirty="0"/>
              <a:t>For application (2)</a:t>
            </a:r>
          </a:p>
          <a:p>
            <a:pPr marL="1544296" lvl="2">
              <a:lnSpc>
                <a:spcPct val="80000"/>
              </a:lnSpc>
              <a:buNone/>
            </a:pPr>
            <a:r>
              <a:rPr lang="en-US" i="1" dirty="0"/>
              <a:t>p</a:t>
            </a:r>
            <a:r>
              <a:rPr lang="en-US" baseline="-25000" dirty="0"/>
              <a:t>4</a:t>
            </a:r>
            <a:r>
              <a:rPr lang="en-US" dirty="0"/>
              <a:t> : BUDGET ≤ 200000</a:t>
            </a:r>
          </a:p>
          <a:p>
            <a:pPr marL="1544296" lvl="2">
              <a:lnSpc>
                <a:spcPct val="80000"/>
              </a:lnSpc>
              <a:buNone/>
            </a:pPr>
            <a:r>
              <a:rPr lang="en-US" i="1" dirty="0"/>
              <a:t>p</a:t>
            </a:r>
            <a:r>
              <a:rPr lang="en-US" baseline="-25000" dirty="0"/>
              <a:t>5</a:t>
            </a:r>
            <a:r>
              <a:rPr lang="en-US" dirty="0"/>
              <a:t> : BUDGET &gt; 200000</a:t>
            </a:r>
          </a:p>
          <a:p>
            <a:pPr marL="1056623" lvl="1">
              <a:lnSpc>
                <a:spcPct val="80000"/>
              </a:lnSpc>
            </a:pPr>
            <a:r>
              <a:rPr lang="en-US" i="1" dirty="0" err="1"/>
              <a:t>Pr</a:t>
            </a:r>
            <a:r>
              <a:rPr lang="en-US" dirty="0"/>
              <a:t> = </a:t>
            </a:r>
            <a:r>
              <a:rPr lang="en-US" i="1" dirty="0" err="1"/>
              <a:t>Pr</a:t>
            </a:r>
            <a:r>
              <a:rPr lang="en-US" i="1" dirty="0"/>
              <a:t>'</a:t>
            </a:r>
            <a:r>
              <a:rPr lang="en-US" dirty="0"/>
              <a:t> = {</a:t>
            </a:r>
            <a:r>
              <a:rPr lang="en-US" i="1" dirty="0"/>
              <a:t>p</a:t>
            </a:r>
            <a:r>
              <a:rPr lang="en-US" baseline="-25000" dirty="0"/>
              <a:t>1</a:t>
            </a:r>
            <a:r>
              <a:rPr lang="en-US" dirty="0"/>
              <a:t>,</a:t>
            </a:r>
            <a:r>
              <a:rPr lang="en-US" i="1" dirty="0"/>
              <a:t>p</a:t>
            </a:r>
            <a:r>
              <a:rPr lang="en-US" baseline="-25000" dirty="0"/>
              <a:t>2</a:t>
            </a:r>
            <a:r>
              <a:rPr lang="en-US" dirty="0"/>
              <a:t>,</a:t>
            </a:r>
            <a:r>
              <a:rPr lang="en-US" i="1" dirty="0"/>
              <a:t>p</a:t>
            </a:r>
            <a:r>
              <a:rPr lang="en-US" baseline="-25000" dirty="0"/>
              <a:t>3</a:t>
            </a:r>
            <a:r>
              <a:rPr lang="en-US" dirty="0"/>
              <a:t>,</a:t>
            </a:r>
            <a:r>
              <a:rPr lang="en-US" i="1" dirty="0"/>
              <a:t>p</a:t>
            </a:r>
            <a:r>
              <a:rPr lang="en-US" baseline="-25000" dirty="0"/>
              <a:t>4</a:t>
            </a:r>
            <a:r>
              <a:rPr lang="en-US" dirty="0"/>
              <a:t>,</a:t>
            </a:r>
            <a:r>
              <a:rPr lang="en-US" i="1" dirty="0"/>
              <a:t>p</a:t>
            </a:r>
            <a:r>
              <a:rPr lang="en-US" baseline="-25000" dirty="0"/>
              <a:t>5</a:t>
            </a:r>
            <a:r>
              <a:rPr lang="en-US" dirty="0"/>
              <a:t>}</a:t>
            </a: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body" idx="1"/>
          </p:nvPr>
        </p:nvSpPr>
        <p:spPr>
          <a:noFill/>
          <a:ln/>
        </p:spPr>
        <p:txBody>
          <a:bodyPr/>
          <a:lstStyle/>
          <a:p>
            <a:pPr>
              <a:lnSpc>
                <a:spcPct val="100000"/>
              </a:lnSpc>
              <a:spcBef>
                <a:spcPct val="50000"/>
              </a:spcBef>
            </a:pPr>
            <a:r>
              <a:rPr lang="en-US" dirty="0">
                <a:solidFill>
                  <a:schemeClr val="tx2"/>
                </a:solidFill>
              </a:rPr>
              <a:t>Fragmentation of relation PROJ continued</a:t>
            </a:r>
            <a:endParaRPr lang="en-US" dirty="0"/>
          </a:p>
          <a:p>
            <a:pPr lvl="1">
              <a:lnSpc>
                <a:spcPct val="100000"/>
              </a:lnSpc>
              <a:spcBef>
                <a:spcPct val="50000"/>
              </a:spcBef>
            </a:pPr>
            <a:r>
              <a:rPr lang="en-US" dirty="0" err="1"/>
              <a:t>Minterm</a:t>
            </a:r>
            <a:r>
              <a:rPr lang="en-US" dirty="0"/>
              <a:t> fragments left after elimination</a:t>
            </a:r>
          </a:p>
          <a:p>
            <a:pPr lvl="2">
              <a:lnSpc>
                <a:spcPct val="100000"/>
              </a:lnSpc>
              <a:spcBef>
                <a:spcPct val="50000"/>
              </a:spcBef>
              <a:buFont typeface="Monotype Sorts" charset="0"/>
              <a:buNone/>
            </a:pPr>
            <a:r>
              <a:rPr lang="en-US" i="1" dirty="0"/>
              <a:t>m</a:t>
            </a:r>
            <a:r>
              <a:rPr lang="en-US" baseline="-25000" dirty="0"/>
              <a:t>1</a:t>
            </a:r>
            <a:r>
              <a:rPr lang="en-US" dirty="0"/>
              <a:t> : (LOC = “Montreal”) </a:t>
            </a:r>
            <a:r>
              <a:rPr lang="en-US" dirty="0" smtClean="0">
                <a:latin typeface="Symbol" charset="0"/>
                <a:sym typeface="Symbol"/>
              </a:rPr>
              <a:t></a:t>
            </a:r>
            <a:r>
              <a:rPr lang="en-US" dirty="0" smtClean="0"/>
              <a:t> </a:t>
            </a:r>
            <a:r>
              <a:rPr lang="en-US" dirty="0"/>
              <a:t>(BUDGET ≤ 200000)</a:t>
            </a:r>
          </a:p>
          <a:p>
            <a:pPr lvl="2">
              <a:lnSpc>
                <a:spcPct val="100000"/>
              </a:lnSpc>
              <a:spcBef>
                <a:spcPct val="50000"/>
              </a:spcBef>
              <a:buFont typeface="Monotype Sorts" charset="0"/>
              <a:buNone/>
            </a:pPr>
            <a:r>
              <a:rPr lang="en-US" i="1" dirty="0"/>
              <a:t>m</a:t>
            </a:r>
            <a:r>
              <a:rPr lang="en-US" baseline="-25000" dirty="0"/>
              <a:t>2</a:t>
            </a:r>
            <a:r>
              <a:rPr lang="en-US" dirty="0"/>
              <a:t> : (LOC = “Montreal”) </a:t>
            </a:r>
            <a:r>
              <a:rPr lang="en-US" dirty="0" smtClean="0">
                <a:latin typeface="Symbol" charset="0"/>
                <a:sym typeface="Symbol"/>
              </a:rPr>
              <a:t></a:t>
            </a:r>
            <a:r>
              <a:rPr lang="en-US" dirty="0" smtClean="0"/>
              <a:t> </a:t>
            </a:r>
            <a:r>
              <a:rPr lang="en-US" dirty="0"/>
              <a:t>(BUDGET &gt; 200000)</a:t>
            </a:r>
          </a:p>
          <a:p>
            <a:pPr lvl="2">
              <a:lnSpc>
                <a:spcPct val="100000"/>
              </a:lnSpc>
              <a:spcBef>
                <a:spcPct val="50000"/>
              </a:spcBef>
              <a:buFont typeface="Monotype Sorts" charset="0"/>
              <a:buNone/>
            </a:pPr>
            <a:r>
              <a:rPr lang="en-US" i="1" dirty="0"/>
              <a:t>m</a:t>
            </a:r>
            <a:r>
              <a:rPr lang="en-US" baseline="-25000" dirty="0"/>
              <a:t>3</a:t>
            </a:r>
            <a:r>
              <a:rPr lang="en-US" dirty="0"/>
              <a:t> : (LOC = “New York”) </a:t>
            </a:r>
            <a:r>
              <a:rPr lang="en-US" dirty="0" smtClean="0">
                <a:latin typeface="Symbol" charset="0"/>
                <a:sym typeface="Symbol"/>
              </a:rPr>
              <a:t></a:t>
            </a:r>
            <a:r>
              <a:rPr lang="en-US" dirty="0" smtClean="0"/>
              <a:t> </a:t>
            </a:r>
            <a:r>
              <a:rPr lang="en-US" dirty="0"/>
              <a:t>(BUDGET ≤ 200000)</a:t>
            </a:r>
          </a:p>
          <a:p>
            <a:pPr lvl="2">
              <a:lnSpc>
                <a:spcPct val="100000"/>
              </a:lnSpc>
              <a:spcBef>
                <a:spcPct val="50000"/>
              </a:spcBef>
              <a:buFont typeface="Monotype Sorts" charset="0"/>
              <a:buNone/>
            </a:pPr>
            <a:r>
              <a:rPr lang="en-US" i="1" dirty="0"/>
              <a:t>m</a:t>
            </a:r>
            <a:r>
              <a:rPr lang="en-US" baseline="-25000" dirty="0"/>
              <a:t>4</a:t>
            </a:r>
            <a:r>
              <a:rPr lang="en-US" dirty="0"/>
              <a:t> : (LOC = “New York”) </a:t>
            </a:r>
            <a:r>
              <a:rPr lang="en-US" dirty="0" smtClean="0">
                <a:latin typeface="Symbol" charset="0"/>
                <a:sym typeface="Symbol"/>
              </a:rPr>
              <a:t></a:t>
            </a:r>
            <a:r>
              <a:rPr lang="en-US" dirty="0" smtClean="0"/>
              <a:t> </a:t>
            </a:r>
            <a:r>
              <a:rPr lang="en-US" dirty="0"/>
              <a:t>(BUDGET &gt; 200000)</a:t>
            </a:r>
          </a:p>
          <a:p>
            <a:pPr lvl="2">
              <a:lnSpc>
                <a:spcPct val="100000"/>
              </a:lnSpc>
              <a:spcBef>
                <a:spcPct val="50000"/>
              </a:spcBef>
              <a:buFont typeface="Monotype Sorts" charset="0"/>
              <a:buNone/>
            </a:pPr>
            <a:r>
              <a:rPr lang="en-US" i="1" dirty="0"/>
              <a:t>m</a:t>
            </a:r>
            <a:r>
              <a:rPr lang="en-US" baseline="-25000" dirty="0"/>
              <a:t>5</a:t>
            </a:r>
            <a:r>
              <a:rPr lang="en-US" dirty="0"/>
              <a:t> : (LOC = “Paris”) </a:t>
            </a:r>
            <a:r>
              <a:rPr lang="en-US" dirty="0" smtClean="0">
                <a:latin typeface="Symbol" charset="0"/>
                <a:sym typeface="Symbol"/>
              </a:rPr>
              <a:t></a:t>
            </a:r>
            <a:r>
              <a:rPr lang="en-US" dirty="0" smtClean="0"/>
              <a:t> </a:t>
            </a:r>
            <a:r>
              <a:rPr lang="en-US" dirty="0"/>
              <a:t>(BUDGET ≤ 200000)</a:t>
            </a:r>
          </a:p>
          <a:p>
            <a:pPr lvl="2">
              <a:lnSpc>
                <a:spcPct val="100000"/>
              </a:lnSpc>
              <a:spcBef>
                <a:spcPct val="50000"/>
              </a:spcBef>
              <a:buFont typeface="Monotype Sorts" charset="0"/>
              <a:buNone/>
            </a:pPr>
            <a:r>
              <a:rPr lang="en-US" i="1" dirty="0"/>
              <a:t>m</a:t>
            </a:r>
            <a:r>
              <a:rPr lang="en-US" baseline="-25000" dirty="0"/>
              <a:t>6</a:t>
            </a:r>
            <a:r>
              <a:rPr lang="en-US" dirty="0"/>
              <a:t> : (LOC = “Paris”) </a:t>
            </a:r>
            <a:r>
              <a:rPr lang="en-US" dirty="0" smtClean="0">
                <a:latin typeface="Symbol" charset="0"/>
                <a:sym typeface="Symbol"/>
              </a:rPr>
              <a:t></a:t>
            </a:r>
            <a:r>
              <a:rPr lang="en-US" dirty="0" smtClean="0"/>
              <a:t> </a:t>
            </a:r>
            <a:r>
              <a:rPr lang="en-US" dirty="0"/>
              <a:t>(BUDGET &gt; 200000)</a:t>
            </a:r>
          </a:p>
        </p:txBody>
      </p:sp>
      <p:sp>
        <p:nvSpPr>
          <p:cNvPr id="66563" name="Rectangle 3"/>
          <p:cNvSpPr>
            <a:spLocks noGrp="1" noChangeArrowheads="1"/>
          </p:cNvSpPr>
          <p:nvPr>
            <p:ph type="title"/>
          </p:nvPr>
        </p:nvSpPr>
        <p:spPr>
          <a:noFill/>
          <a:ln/>
        </p:spPr>
        <p:txBody>
          <a:bodyPr/>
          <a:lstStyle/>
          <a:p>
            <a:r>
              <a:rPr lang="en-US"/>
              <a:t>PHF – Example</a:t>
            </a: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noFill/>
          <a:ln/>
        </p:spPr>
        <p:txBody>
          <a:bodyPr/>
          <a:lstStyle/>
          <a:p>
            <a:r>
              <a:rPr lang="en-US"/>
              <a:t>PHF – Example</a:t>
            </a:r>
          </a:p>
        </p:txBody>
      </p:sp>
      <p:sp>
        <p:nvSpPr>
          <p:cNvPr id="68611" name="Rectangle 3"/>
          <p:cNvSpPr>
            <a:spLocks noChangeArrowheads="1"/>
          </p:cNvSpPr>
          <p:nvPr/>
        </p:nvSpPr>
        <p:spPr bwMode="auto">
          <a:xfrm>
            <a:off x="661019" y="2880924"/>
            <a:ext cx="1168293"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PROJ</a:t>
            </a:r>
            <a:r>
              <a:rPr lang="en-US" sz="2600" baseline="-25000" dirty="0">
                <a:solidFill>
                  <a:srgbClr val="000000"/>
                </a:solidFill>
                <a:latin typeface="Book Antiqua"/>
              </a:rPr>
              <a:t>1</a:t>
            </a:r>
          </a:p>
        </p:txBody>
      </p:sp>
      <p:sp>
        <p:nvSpPr>
          <p:cNvPr id="68612" name="Rectangle 4"/>
          <p:cNvSpPr>
            <a:spLocks noChangeArrowheads="1"/>
          </p:cNvSpPr>
          <p:nvPr/>
        </p:nvSpPr>
        <p:spPr bwMode="auto">
          <a:xfrm>
            <a:off x="526063" y="3526649"/>
            <a:ext cx="6048345" cy="1476587"/>
          </a:xfrm>
          <a:prstGeom prst="rect">
            <a:avLst/>
          </a:prstGeom>
          <a:noFill/>
          <a:ln w="12700">
            <a:solidFill>
              <a:srgbClr val="000000"/>
            </a:solidFill>
            <a:miter lim="800000"/>
            <a:headEnd/>
            <a:tailEnd/>
          </a:ln>
          <a:effectLst/>
          <a:extLst/>
        </p:spPr>
        <p:txBody>
          <a:bodyPr wrap="none" anchor="ctr"/>
          <a:lstStyle/>
          <a:p>
            <a:endParaRPr lang="en-US" dirty="0">
              <a:latin typeface="Book Antiqua"/>
            </a:endParaRPr>
          </a:p>
        </p:txBody>
      </p:sp>
      <p:sp>
        <p:nvSpPr>
          <p:cNvPr id="68613" name="Rectangle 5"/>
          <p:cNvSpPr>
            <a:spLocks noChangeArrowheads="1"/>
          </p:cNvSpPr>
          <p:nvPr/>
        </p:nvSpPr>
        <p:spPr bwMode="auto">
          <a:xfrm>
            <a:off x="627663" y="3662116"/>
            <a:ext cx="837636" cy="444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PNO</a:t>
            </a:r>
          </a:p>
        </p:txBody>
      </p:sp>
      <p:sp>
        <p:nvSpPr>
          <p:cNvPr id="68614" name="Rectangle 6"/>
          <p:cNvSpPr>
            <a:spLocks noChangeArrowheads="1"/>
          </p:cNvSpPr>
          <p:nvPr/>
        </p:nvSpPr>
        <p:spPr bwMode="auto">
          <a:xfrm>
            <a:off x="1589476" y="3662116"/>
            <a:ext cx="1293707" cy="444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PNAME</a:t>
            </a:r>
          </a:p>
        </p:txBody>
      </p:sp>
      <p:sp>
        <p:nvSpPr>
          <p:cNvPr id="68615" name="Rectangle 7"/>
          <p:cNvSpPr>
            <a:spLocks noChangeArrowheads="1"/>
          </p:cNvSpPr>
          <p:nvPr/>
        </p:nvSpPr>
        <p:spPr bwMode="auto">
          <a:xfrm>
            <a:off x="3822418" y="3662116"/>
            <a:ext cx="1406596" cy="444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BUDGET</a:t>
            </a:r>
          </a:p>
        </p:txBody>
      </p:sp>
      <p:sp>
        <p:nvSpPr>
          <p:cNvPr id="68616" name="Rectangle 8"/>
          <p:cNvSpPr>
            <a:spLocks noChangeArrowheads="1"/>
          </p:cNvSpPr>
          <p:nvPr/>
        </p:nvSpPr>
        <p:spPr bwMode="auto">
          <a:xfrm>
            <a:off x="5391574" y="3662116"/>
            <a:ext cx="803769" cy="444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LOC</a:t>
            </a:r>
          </a:p>
        </p:txBody>
      </p:sp>
      <p:sp>
        <p:nvSpPr>
          <p:cNvPr id="68617" name="Line 9"/>
          <p:cNvSpPr>
            <a:spLocks noChangeShapeType="1"/>
          </p:cNvSpPr>
          <p:nvPr/>
        </p:nvSpPr>
        <p:spPr bwMode="auto">
          <a:xfrm>
            <a:off x="1548836" y="3531165"/>
            <a:ext cx="0" cy="147207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68618" name="Line 10"/>
          <p:cNvSpPr>
            <a:spLocks noChangeShapeType="1"/>
          </p:cNvSpPr>
          <p:nvPr/>
        </p:nvSpPr>
        <p:spPr bwMode="auto">
          <a:xfrm>
            <a:off x="3788552" y="3558258"/>
            <a:ext cx="0" cy="14449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68619" name="Line 11"/>
          <p:cNvSpPr>
            <a:spLocks noChangeShapeType="1"/>
          </p:cNvSpPr>
          <p:nvPr/>
        </p:nvSpPr>
        <p:spPr bwMode="auto">
          <a:xfrm>
            <a:off x="5244818" y="3531165"/>
            <a:ext cx="0" cy="147207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68620" name="Line 12"/>
          <p:cNvSpPr>
            <a:spLocks noChangeShapeType="1"/>
          </p:cNvSpPr>
          <p:nvPr/>
        </p:nvSpPr>
        <p:spPr bwMode="auto">
          <a:xfrm>
            <a:off x="523805" y="4280747"/>
            <a:ext cx="605060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68622" name="Rectangle 14"/>
          <p:cNvSpPr>
            <a:spLocks noChangeArrowheads="1"/>
          </p:cNvSpPr>
          <p:nvPr/>
        </p:nvSpPr>
        <p:spPr bwMode="auto">
          <a:xfrm>
            <a:off x="6757530" y="3526649"/>
            <a:ext cx="5994399" cy="1476587"/>
          </a:xfrm>
          <a:prstGeom prst="rect">
            <a:avLst/>
          </a:prstGeom>
          <a:noFill/>
          <a:ln w="12700">
            <a:solidFill>
              <a:srgbClr val="000000"/>
            </a:solidFill>
            <a:miter lim="800000"/>
            <a:headEnd/>
            <a:tailEnd/>
          </a:ln>
          <a:effectLst/>
          <a:extLst/>
        </p:spPr>
        <p:txBody>
          <a:bodyPr wrap="none" lIns="130046" tIns="65023" rIns="130046" bIns="65023" anchor="ctr"/>
          <a:lstStyle/>
          <a:p>
            <a:endParaRPr lang="en-US" dirty="0">
              <a:latin typeface="Book Antiqua"/>
            </a:endParaRPr>
          </a:p>
        </p:txBody>
      </p:sp>
      <p:sp>
        <p:nvSpPr>
          <p:cNvPr id="68623" name="Rectangle 15"/>
          <p:cNvSpPr>
            <a:spLocks noChangeArrowheads="1"/>
          </p:cNvSpPr>
          <p:nvPr/>
        </p:nvSpPr>
        <p:spPr bwMode="auto">
          <a:xfrm>
            <a:off x="6822684" y="3635023"/>
            <a:ext cx="915042"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PNO</a:t>
            </a:r>
          </a:p>
        </p:txBody>
      </p:sp>
      <p:sp>
        <p:nvSpPr>
          <p:cNvPr id="68624" name="Rectangle 16"/>
          <p:cNvSpPr>
            <a:spLocks noChangeArrowheads="1"/>
          </p:cNvSpPr>
          <p:nvPr/>
        </p:nvSpPr>
        <p:spPr bwMode="auto">
          <a:xfrm>
            <a:off x="7794349" y="3635023"/>
            <a:ext cx="1371728"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PNAME</a:t>
            </a:r>
          </a:p>
        </p:txBody>
      </p:sp>
      <p:sp>
        <p:nvSpPr>
          <p:cNvPr id="68625" name="Rectangle 17"/>
          <p:cNvSpPr>
            <a:spLocks noChangeArrowheads="1"/>
          </p:cNvSpPr>
          <p:nvPr/>
        </p:nvSpPr>
        <p:spPr bwMode="auto">
          <a:xfrm>
            <a:off x="9991589" y="3635023"/>
            <a:ext cx="1483776"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BUDGET</a:t>
            </a:r>
          </a:p>
        </p:txBody>
      </p:sp>
      <p:sp>
        <p:nvSpPr>
          <p:cNvPr id="68626" name="Rectangle 18"/>
          <p:cNvSpPr>
            <a:spLocks noChangeArrowheads="1"/>
          </p:cNvSpPr>
          <p:nvPr/>
        </p:nvSpPr>
        <p:spPr bwMode="auto">
          <a:xfrm>
            <a:off x="11630683" y="3635023"/>
            <a:ext cx="881053"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LOC</a:t>
            </a:r>
          </a:p>
        </p:txBody>
      </p:sp>
      <p:sp>
        <p:nvSpPr>
          <p:cNvPr id="68627" name="Line 19"/>
          <p:cNvSpPr>
            <a:spLocks noChangeShapeType="1"/>
          </p:cNvSpPr>
          <p:nvPr/>
        </p:nvSpPr>
        <p:spPr bwMode="auto">
          <a:xfrm>
            <a:off x="7789333" y="3504071"/>
            <a:ext cx="0" cy="147207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68628" name="Line 20"/>
          <p:cNvSpPr>
            <a:spLocks noChangeShapeType="1"/>
          </p:cNvSpPr>
          <p:nvPr/>
        </p:nvSpPr>
        <p:spPr bwMode="auto">
          <a:xfrm>
            <a:off x="10049370" y="3531164"/>
            <a:ext cx="0" cy="14449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68629" name="Line 21"/>
          <p:cNvSpPr>
            <a:spLocks noChangeShapeType="1"/>
          </p:cNvSpPr>
          <p:nvPr/>
        </p:nvSpPr>
        <p:spPr bwMode="auto">
          <a:xfrm>
            <a:off x="11383716" y="3504071"/>
            <a:ext cx="0" cy="147207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68630" name="Line 22"/>
          <p:cNvSpPr>
            <a:spLocks noChangeShapeType="1"/>
          </p:cNvSpPr>
          <p:nvPr/>
        </p:nvSpPr>
        <p:spPr bwMode="auto">
          <a:xfrm>
            <a:off x="6755271" y="4253653"/>
            <a:ext cx="599665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68631" name="Rectangle 23"/>
          <p:cNvSpPr>
            <a:spLocks noChangeArrowheads="1"/>
          </p:cNvSpPr>
          <p:nvPr/>
        </p:nvSpPr>
        <p:spPr bwMode="auto">
          <a:xfrm>
            <a:off x="655506" y="4404926"/>
            <a:ext cx="585524"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P1</a:t>
            </a:r>
          </a:p>
        </p:txBody>
      </p:sp>
      <p:sp>
        <p:nvSpPr>
          <p:cNvPr id="68632" name="Rectangle 24"/>
          <p:cNvSpPr>
            <a:spLocks noChangeArrowheads="1"/>
          </p:cNvSpPr>
          <p:nvPr/>
        </p:nvSpPr>
        <p:spPr bwMode="auto">
          <a:xfrm>
            <a:off x="1468287" y="4404926"/>
            <a:ext cx="2375978"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Instrumentation</a:t>
            </a:r>
          </a:p>
        </p:txBody>
      </p:sp>
      <p:sp>
        <p:nvSpPr>
          <p:cNvPr id="68633" name="Rectangle 25"/>
          <p:cNvSpPr>
            <a:spLocks noChangeArrowheads="1"/>
          </p:cNvSpPr>
          <p:nvPr/>
        </p:nvSpPr>
        <p:spPr bwMode="auto">
          <a:xfrm>
            <a:off x="3807712" y="4404926"/>
            <a:ext cx="1144753"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150000</a:t>
            </a:r>
          </a:p>
        </p:txBody>
      </p:sp>
      <p:sp>
        <p:nvSpPr>
          <p:cNvPr id="68634" name="Rectangle 26"/>
          <p:cNvSpPr>
            <a:spLocks noChangeArrowheads="1"/>
          </p:cNvSpPr>
          <p:nvPr/>
        </p:nvSpPr>
        <p:spPr bwMode="auto">
          <a:xfrm>
            <a:off x="5152249" y="4404926"/>
            <a:ext cx="1494167"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28691" tIns="63217" rIns="128691" bIns="63217">
            <a:spAutoFit/>
          </a:bodyPr>
          <a:lstStyle/>
          <a:p>
            <a:r>
              <a:rPr lang="en-US" sz="2300" dirty="0">
                <a:solidFill>
                  <a:srgbClr val="000000"/>
                </a:solidFill>
                <a:latin typeface="Book Antiqua"/>
              </a:rPr>
              <a:t>Montreal</a:t>
            </a:r>
          </a:p>
        </p:txBody>
      </p:sp>
      <p:sp>
        <p:nvSpPr>
          <p:cNvPr id="68635" name="Rectangle 27"/>
          <p:cNvSpPr>
            <a:spLocks noChangeArrowheads="1"/>
          </p:cNvSpPr>
          <p:nvPr/>
        </p:nvSpPr>
        <p:spPr bwMode="auto">
          <a:xfrm>
            <a:off x="6986315" y="4393636"/>
            <a:ext cx="585524"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P2</a:t>
            </a:r>
          </a:p>
        </p:txBody>
      </p:sp>
      <p:sp>
        <p:nvSpPr>
          <p:cNvPr id="68636" name="Rectangle 28"/>
          <p:cNvSpPr>
            <a:spLocks noChangeArrowheads="1"/>
          </p:cNvSpPr>
          <p:nvPr/>
        </p:nvSpPr>
        <p:spPr bwMode="auto">
          <a:xfrm>
            <a:off x="7893191" y="4219787"/>
            <a:ext cx="1456268" cy="835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Database</a:t>
            </a:r>
          </a:p>
          <a:p>
            <a:r>
              <a:rPr lang="en-US" sz="2300" dirty="0">
                <a:solidFill>
                  <a:srgbClr val="000000"/>
                </a:solidFill>
                <a:latin typeface="Book Antiqua"/>
              </a:rPr>
              <a:t>Develop.</a:t>
            </a:r>
          </a:p>
        </p:txBody>
      </p:sp>
      <p:sp>
        <p:nvSpPr>
          <p:cNvPr id="68637" name="Rectangle 29"/>
          <p:cNvSpPr>
            <a:spLocks noChangeArrowheads="1"/>
          </p:cNvSpPr>
          <p:nvPr/>
        </p:nvSpPr>
        <p:spPr bwMode="auto">
          <a:xfrm>
            <a:off x="10039179" y="4393636"/>
            <a:ext cx="1144753"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135000</a:t>
            </a:r>
          </a:p>
        </p:txBody>
      </p:sp>
      <p:sp>
        <p:nvSpPr>
          <p:cNvPr id="68638" name="Rectangle 30"/>
          <p:cNvSpPr>
            <a:spLocks noChangeArrowheads="1"/>
          </p:cNvSpPr>
          <p:nvPr/>
        </p:nvSpPr>
        <p:spPr bwMode="auto">
          <a:xfrm>
            <a:off x="11239055" y="4393636"/>
            <a:ext cx="1580770"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New York</a:t>
            </a:r>
          </a:p>
        </p:txBody>
      </p:sp>
      <p:sp>
        <p:nvSpPr>
          <p:cNvPr id="68639" name="Rectangle 31"/>
          <p:cNvSpPr>
            <a:spLocks noChangeArrowheads="1"/>
          </p:cNvSpPr>
          <p:nvPr/>
        </p:nvSpPr>
        <p:spPr bwMode="auto">
          <a:xfrm>
            <a:off x="6865392" y="2853831"/>
            <a:ext cx="1168293"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PROJ</a:t>
            </a:r>
            <a:r>
              <a:rPr lang="en-US" sz="2600" baseline="-25000" dirty="0">
                <a:solidFill>
                  <a:srgbClr val="000000"/>
                </a:solidFill>
                <a:latin typeface="Book Antiqua"/>
              </a:rPr>
              <a:t>2</a:t>
            </a:r>
          </a:p>
        </p:txBody>
      </p:sp>
      <p:sp>
        <p:nvSpPr>
          <p:cNvPr id="68640" name="Rectangle 32"/>
          <p:cNvSpPr>
            <a:spLocks noChangeArrowheads="1"/>
          </p:cNvSpPr>
          <p:nvPr/>
        </p:nvSpPr>
        <p:spPr bwMode="auto">
          <a:xfrm>
            <a:off x="714151" y="5373511"/>
            <a:ext cx="1170401"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PROJ</a:t>
            </a:r>
            <a:r>
              <a:rPr lang="en-US" sz="2600" baseline="-25000" dirty="0">
                <a:solidFill>
                  <a:srgbClr val="000000"/>
                </a:solidFill>
                <a:latin typeface="Book Antiqua"/>
              </a:rPr>
              <a:t>4</a:t>
            </a:r>
          </a:p>
        </p:txBody>
      </p:sp>
      <p:sp>
        <p:nvSpPr>
          <p:cNvPr id="68641" name="Rectangle 33"/>
          <p:cNvSpPr>
            <a:spLocks noChangeArrowheads="1"/>
          </p:cNvSpPr>
          <p:nvPr/>
        </p:nvSpPr>
        <p:spPr bwMode="auto">
          <a:xfrm>
            <a:off x="7000859" y="5373511"/>
            <a:ext cx="1168293"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PROJ</a:t>
            </a:r>
            <a:r>
              <a:rPr lang="en-US" sz="2600" baseline="-25000" dirty="0">
                <a:solidFill>
                  <a:srgbClr val="000000"/>
                </a:solidFill>
                <a:latin typeface="Book Antiqua"/>
              </a:rPr>
              <a:t>6</a:t>
            </a:r>
          </a:p>
        </p:txBody>
      </p:sp>
      <p:grpSp>
        <p:nvGrpSpPr>
          <p:cNvPr id="2" name="Group 1"/>
          <p:cNvGrpSpPr/>
          <p:nvPr/>
        </p:nvGrpSpPr>
        <p:grpSpPr>
          <a:xfrm>
            <a:off x="381720" y="6073423"/>
            <a:ext cx="6194620" cy="1476587"/>
            <a:chOff x="523804" y="6073423"/>
            <a:chExt cx="6194620" cy="1476587"/>
          </a:xfrm>
          <a:noFill/>
        </p:grpSpPr>
        <p:sp>
          <p:nvSpPr>
            <p:cNvPr id="68642" name="Rectangle 34"/>
            <p:cNvSpPr>
              <a:spLocks noChangeArrowheads="1"/>
            </p:cNvSpPr>
            <p:nvPr/>
          </p:nvSpPr>
          <p:spPr bwMode="auto">
            <a:xfrm>
              <a:off x="526106" y="6073423"/>
              <a:ext cx="6192318" cy="1476587"/>
            </a:xfrm>
            <a:prstGeom prst="rect">
              <a:avLst/>
            </a:prstGeom>
            <a:grpFill/>
            <a:ln w="1270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68643" name="Rectangle 35"/>
            <p:cNvSpPr>
              <a:spLocks noChangeArrowheads="1"/>
            </p:cNvSpPr>
            <p:nvPr/>
          </p:nvSpPr>
          <p:spPr bwMode="auto">
            <a:xfrm>
              <a:off x="629704" y="6208890"/>
              <a:ext cx="837994" cy="444782"/>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PNO</a:t>
              </a:r>
            </a:p>
          </p:txBody>
        </p:sp>
        <p:sp>
          <p:nvSpPr>
            <p:cNvPr id="68644" name="Rectangle 36"/>
            <p:cNvSpPr>
              <a:spLocks noChangeArrowheads="1"/>
            </p:cNvSpPr>
            <p:nvPr/>
          </p:nvSpPr>
          <p:spPr bwMode="auto">
            <a:xfrm>
              <a:off x="1615038" y="6208890"/>
              <a:ext cx="1293826" cy="444782"/>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PNAME</a:t>
              </a:r>
            </a:p>
          </p:txBody>
        </p:sp>
        <p:sp>
          <p:nvSpPr>
            <p:cNvPr id="68645" name="Rectangle 37"/>
            <p:cNvSpPr>
              <a:spLocks noChangeArrowheads="1"/>
            </p:cNvSpPr>
            <p:nvPr/>
          </p:nvSpPr>
          <p:spPr bwMode="auto">
            <a:xfrm>
              <a:off x="3905709" y="6208890"/>
              <a:ext cx="1406633" cy="444782"/>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BUDGET</a:t>
              </a:r>
            </a:p>
          </p:txBody>
        </p:sp>
        <p:sp>
          <p:nvSpPr>
            <p:cNvPr id="68646" name="Rectangle 38"/>
            <p:cNvSpPr>
              <a:spLocks noChangeArrowheads="1"/>
            </p:cNvSpPr>
            <p:nvPr/>
          </p:nvSpPr>
          <p:spPr bwMode="auto">
            <a:xfrm>
              <a:off x="5510330" y="6208890"/>
              <a:ext cx="803461" cy="444782"/>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LOC</a:t>
              </a:r>
            </a:p>
          </p:txBody>
        </p:sp>
        <p:sp>
          <p:nvSpPr>
            <p:cNvPr id="68647" name="Line 39"/>
            <p:cNvSpPr>
              <a:spLocks noChangeShapeType="1"/>
            </p:cNvSpPr>
            <p:nvPr/>
          </p:nvSpPr>
          <p:spPr bwMode="auto">
            <a:xfrm>
              <a:off x="1573599" y="6077939"/>
              <a:ext cx="0" cy="1472071"/>
            </a:xfrm>
            <a:prstGeom prst="line">
              <a:avLst/>
            </a:prstGeom>
            <a:grp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68648" name="Line 40"/>
            <p:cNvSpPr>
              <a:spLocks noChangeShapeType="1"/>
            </p:cNvSpPr>
            <p:nvPr/>
          </p:nvSpPr>
          <p:spPr bwMode="auto">
            <a:xfrm>
              <a:off x="3868874" y="6105032"/>
              <a:ext cx="0" cy="1444978"/>
            </a:xfrm>
            <a:prstGeom prst="line">
              <a:avLst/>
            </a:prstGeom>
            <a:grp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68649" name="Line 41"/>
            <p:cNvSpPr>
              <a:spLocks noChangeShapeType="1"/>
            </p:cNvSpPr>
            <p:nvPr/>
          </p:nvSpPr>
          <p:spPr bwMode="auto">
            <a:xfrm>
              <a:off x="5360688" y="6077939"/>
              <a:ext cx="0" cy="1472071"/>
            </a:xfrm>
            <a:prstGeom prst="line">
              <a:avLst/>
            </a:prstGeom>
            <a:grp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68650" name="Line 42"/>
            <p:cNvSpPr>
              <a:spLocks noChangeShapeType="1"/>
            </p:cNvSpPr>
            <p:nvPr/>
          </p:nvSpPr>
          <p:spPr bwMode="auto">
            <a:xfrm>
              <a:off x="523804" y="6827521"/>
              <a:ext cx="6194620" cy="0"/>
            </a:xfrm>
            <a:prstGeom prst="line">
              <a:avLst/>
            </a:prstGeom>
            <a:grp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grpSp>
      <p:sp>
        <p:nvSpPr>
          <p:cNvPr id="68652" name="Rectangle 44"/>
          <p:cNvSpPr>
            <a:spLocks noChangeArrowheads="1"/>
          </p:cNvSpPr>
          <p:nvPr/>
        </p:nvSpPr>
        <p:spPr bwMode="auto">
          <a:xfrm>
            <a:off x="590187" y="6899770"/>
            <a:ext cx="585524"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P3 </a:t>
            </a:r>
          </a:p>
        </p:txBody>
      </p:sp>
      <p:sp>
        <p:nvSpPr>
          <p:cNvPr id="68653" name="Rectangle 45"/>
          <p:cNvSpPr>
            <a:spLocks noChangeArrowheads="1"/>
          </p:cNvSpPr>
          <p:nvPr/>
        </p:nvSpPr>
        <p:spPr bwMode="auto">
          <a:xfrm>
            <a:off x="1439098" y="6899770"/>
            <a:ext cx="1822942"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CAD/CAM</a:t>
            </a:r>
          </a:p>
        </p:txBody>
      </p:sp>
      <p:sp>
        <p:nvSpPr>
          <p:cNvPr id="68654" name="Rectangle 46"/>
          <p:cNvSpPr>
            <a:spLocks noChangeArrowheads="1"/>
          </p:cNvSpPr>
          <p:nvPr/>
        </p:nvSpPr>
        <p:spPr bwMode="auto">
          <a:xfrm>
            <a:off x="3728846" y="6899770"/>
            <a:ext cx="1144753"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250000</a:t>
            </a:r>
          </a:p>
        </p:txBody>
      </p:sp>
      <p:sp>
        <p:nvSpPr>
          <p:cNvPr id="68655" name="Rectangle 47"/>
          <p:cNvSpPr>
            <a:spLocks noChangeArrowheads="1"/>
          </p:cNvSpPr>
          <p:nvPr/>
        </p:nvSpPr>
        <p:spPr bwMode="auto">
          <a:xfrm>
            <a:off x="5098219" y="6899770"/>
            <a:ext cx="1582702"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28691" tIns="63217" rIns="128691" bIns="63217">
            <a:spAutoFit/>
          </a:bodyPr>
          <a:lstStyle/>
          <a:p>
            <a:r>
              <a:rPr lang="en-US" sz="2300" dirty="0">
                <a:solidFill>
                  <a:srgbClr val="000000"/>
                </a:solidFill>
                <a:latin typeface="Book Antiqua"/>
              </a:rPr>
              <a:t>New York</a:t>
            </a:r>
          </a:p>
        </p:txBody>
      </p:sp>
      <p:grpSp>
        <p:nvGrpSpPr>
          <p:cNvPr id="68665" name="Group 57"/>
          <p:cNvGrpSpPr>
            <a:grpSpLocks/>
          </p:cNvGrpSpPr>
          <p:nvPr/>
        </p:nvGrpSpPr>
        <p:grpSpPr bwMode="auto">
          <a:xfrm>
            <a:off x="6757530" y="6073423"/>
            <a:ext cx="5942471" cy="1476587"/>
            <a:chOff x="2993" y="2690"/>
            <a:chExt cx="2632" cy="654"/>
          </a:xfrm>
          <a:noFill/>
        </p:grpSpPr>
        <p:sp>
          <p:nvSpPr>
            <p:cNvPr id="68656" name="Rectangle 48"/>
            <p:cNvSpPr>
              <a:spLocks noChangeArrowheads="1"/>
            </p:cNvSpPr>
            <p:nvPr/>
          </p:nvSpPr>
          <p:spPr bwMode="auto">
            <a:xfrm>
              <a:off x="2994" y="2690"/>
              <a:ext cx="2631" cy="654"/>
            </a:xfrm>
            <a:prstGeom prst="rect">
              <a:avLst/>
            </a:prstGeom>
            <a:grpFill/>
            <a:ln w="1270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68657" name="Rectangle 49"/>
            <p:cNvSpPr>
              <a:spLocks noChangeArrowheads="1"/>
            </p:cNvSpPr>
            <p:nvPr/>
          </p:nvSpPr>
          <p:spPr bwMode="auto">
            <a:xfrm>
              <a:off x="3039" y="2750"/>
              <a:ext cx="371" cy="19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PNO</a:t>
              </a:r>
            </a:p>
          </p:txBody>
        </p:sp>
        <p:sp>
          <p:nvSpPr>
            <p:cNvPr id="68658" name="Rectangle 50"/>
            <p:cNvSpPr>
              <a:spLocks noChangeArrowheads="1"/>
            </p:cNvSpPr>
            <p:nvPr/>
          </p:nvSpPr>
          <p:spPr bwMode="auto">
            <a:xfrm>
              <a:off x="3465" y="2750"/>
              <a:ext cx="573" cy="19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PNAME</a:t>
              </a:r>
            </a:p>
          </p:txBody>
        </p:sp>
        <p:sp>
          <p:nvSpPr>
            <p:cNvPr id="68659" name="Rectangle 51"/>
            <p:cNvSpPr>
              <a:spLocks noChangeArrowheads="1"/>
            </p:cNvSpPr>
            <p:nvPr/>
          </p:nvSpPr>
          <p:spPr bwMode="auto">
            <a:xfrm>
              <a:off x="4454" y="2750"/>
              <a:ext cx="623" cy="19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BUDGET</a:t>
              </a:r>
            </a:p>
          </p:txBody>
        </p:sp>
        <p:sp>
          <p:nvSpPr>
            <p:cNvPr id="68660" name="Rectangle 52"/>
            <p:cNvSpPr>
              <a:spLocks noChangeArrowheads="1"/>
            </p:cNvSpPr>
            <p:nvPr/>
          </p:nvSpPr>
          <p:spPr bwMode="auto">
            <a:xfrm>
              <a:off x="5149" y="2750"/>
              <a:ext cx="356" cy="19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LOC</a:t>
              </a:r>
            </a:p>
          </p:txBody>
        </p:sp>
        <p:sp>
          <p:nvSpPr>
            <p:cNvPr id="68661" name="Line 53"/>
            <p:cNvSpPr>
              <a:spLocks noChangeShapeType="1"/>
            </p:cNvSpPr>
            <p:nvPr/>
          </p:nvSpPr>
          <p:spPr bwMode="auto">
            <a:xfrm>
              <a:off x="3447" y="2692"/>
              <a:ext cx="0" cy="652"/>
            </a:xfrm>
            <a:prstGeom prst="line">
              <a:avLst/>
            </a:prstGeom>
            <a:grp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68662" name="Line 54"/>
            <p:cNvSpPr>
              <a:spLocks noChangeShapeType="1"/>
            </p:cNvSpPr>
            <p:nvPr/>
          </p:nvSpPr>
          <p:spPr bwMode="auto">
            <a:xfrm>
              <a:off x="4439" y="2704"/>
              <a:ext cx="0" cy="640"/>
            </a:xfrm>
            <a:prstGeom prst="line">
              <a:avLst/>
            </a:prstGeom>
            <a:grp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68663" name="Line 55"/>
            <p:cNvSpPr>
              <a:spLocks noChangeShapeType="1"/>
            </p:cNvSpPr>
            <p:nvPr/>
          </p:nvSpPr>
          <p:spPr bwMode="auto">
            <a:xfrm>
              <a:off x="5084" y="2692"/>
              <a:ext cx="0" cy="652"/>
            </a:xfrm>
            <a:prstGeom prst="line">
              <a:avLst/>
            </a:prstGeom>
            <a:grp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68664" name="Line 56"/>
            <p:cNvSpPr>
              <a:spLocks noChangeShapeType="1"/>
            </p:cNvSpPr>
            <p:nvPr/>
          </p:nvSpPr>
          <p:spPr bwMode="auto">
            <a:xfrm>
              <a:off x="2993" y="3024"/>
              <a:ext cx="2632" cy="0"/>
            </a:xfrm>
            <a:prstGeom prst="line">
              <a:avLst/>
            </a:prstGeom>
            <a:grpFill/>
            <a:ln w="127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grpSp>
      <p:sp>
        <p:nvSpPr>
          <p:cNvPr id="68666" name="Rectangle 58"/>
          <p:cNvSpPr>
            <a:spLocks noChangeArrowheads="1"/>
          </p:cNvSpPr>
          <p:nvPr/>
        </p:nvSpPr>
        <p:spPr bwMode="auto">
          <a:xfrm>
            <a:off x="7927986" y="6911059"/>
            <a:ext cx="1944351"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Maintenance</a:t>
            </a:r>
          </a:p>
        </p:txBody>
      </p:sp>
      <p:sp>
        <p:nvSpPr>
          <p:cNvPr id="68667" name="Rectangle 59"/>
          <p:cNvSpPr>
            <a:spLocks noChangeArrowheads="1"/>
          </p:cNvSpPr>
          <p:nvPr/>
        </p:nvSpPr>
        <p:spPr bwMode="auto">
          <a:xfrm>
            <a:off x="6984674" y="6911059"/>
            <a:ext cx="593320"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P4</a:t>
            </a:r>
          </a:p>
        </p:txBody>
      </p:sp>
      <p:sp>
        <p:nvSpPr>
          <p:cNvPr id="68668" name="Rectangle 60"/>
          <p:cNvSpPr>
            <a:spLocks noChangeArrowheads="1"/>
          </p:cNvSpPr>
          <p:nvPr/>
        </p:nvSpPr>
        <p:spPr bwMode="auto">
          <a:xfrm>
            <a:off x="10203997" y="6911059"/>
            <a:ext cx="1144753"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310000</a:t>
            </a:r>
          </a:p>
        </p:txBody>
      </p:sp>
      <p:sp>
        <p:nvSpPr>
          <p:cNvPr id="68669" name="Rectangle 61"/>
          <p:cNvSpPr>
            <a:spLocks noChangeArrowheads="1"/>
          </p:cNvSpPr>
          <p:nvPr/>
        </p:nvSpPr>
        <p:spPr bwMode="auto">
          <a:xfrm>
            <a:off x="11623800" y="6911059"/>
            <a:ext cx="912881" cy="4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300" dirty="0">
                <a:solidFill>
                  <a:srgbClr val="000000"/>
                </a:solidFill>
                <a:latin typeface="Book Antiqua"/>
              </a:rPr>
              <a:t>Paris</a:t>
            </a: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body" idx="1"/>
          </p:nvPr>
        </p:nvSpPr>
        <p:spPr>
          <a:noFill/>
          <a:ln/>
        </p:spPr>
        <p:txBody>
          <a:bodyPr/>
          <a:lstStyle/>
          <a:p>
            <a:pPr>
              <a:lnSpc>
                <a:spcPct val="100000"/>
              </a:lnSpc>
              <a:spcBef>
                <a:spcPct val="60000"/>
              </a:spcBef>
            </a:pPr>
            <a:r>
              <a:rPr lang="en-US" dirty="0">
                <a:solidFill>
                  <a:schemeClr val="tx2"/>
                </a:solidFill>
              </a:rPr>
              <a:t>Completeness</a:t>
            </a:r>
            <a:endParaRPr lang="en-US" dirty="0"/>
          </a:p>
          <a:p>
            <a:pPr lvl="1">
              <a:lnSpc>
                <a:spcPct val="100000"/>
              </a:lnSpc>
              <a:spcBef>
                <a:spcPct val="60000"/>
              </a:spcBef>
            </a:pPr>
            <a:r>
              <a:rPr lang="en-US" dirty="0"/>
              <a:t>Since </a:t>
            </a:r>
            <a:r>
              <a:rPr lang="en-US" i="1" dirty="0"/>
              <a:t>Pr</a:t>
            </a:r>
            <a:r>
              <a:rPr lang="en-US" dirty="0"/>
              <a:t>' is complete and minimal, the selection predicates are complete</a:t>
            </a:r>
          </a:p>
          <a:p>
            <a:pPr>
              <a:lnSpc>
                <a:spcPct val="100000"/>
              </a:lnSpc>
              <a:spcBef>
                <a:spcPct val="60000"/>
              </a:spcBef>
            </a:pPr>
            <a:r>
              <a:rPr lang="en-US" dirty="0">
                <a:solidFill>
                  <a:schemeClr val="tx2"/>
                </a:solidFill>
              </a:rPr>
              <a:t>Reconstruction</a:t>
            </a:r>
            <a:endParaRPr lang="en-US" dirty="0"/>
          </a:p>
          <a:p>
            <a:pPr lvl="1">
              <a:lnSpc>
                <a:spcPct val="100000"/>
              </a:lnSpc>
              <a:spcBef>
                <a:spcPct val="60000"/>
              </a:spcBef>
            </a:pPr>
            <a:r>
              <a:rPr lang="en-US" dirty="0"/>
              <a:t>If relation </a:t>
            </a:r>
            <a:r>
              <a:rPr lang="en-US" i="1" dirty="0"/>
              <a:t>R</a:t>
            </a:r>
            <a:r>
              <a:rPr lang="en-US" dirty="0"/>
              <a:t> is fragmented into </a:t>
            </a:r>
            <a:r>
              <a:rPr lang="en-US" i="1" dirty="0"/>
              <a:t>F</a:t>
            </a:r>
            <a:r>
              <a:rPr lang="en-US" i="1" baseline="-25000" dirty="0"/>
              <a:t>R</a:t>
            </a:r>
            <a:r>
              <a:rPr lang="en-US" i="1" dirty="0"/>
              <a:t> </a:t>
            </a:r>
            <a:r>
              <a:rPr lang="en-US" dirty="0"/>
              <a:t>= {</a:t>
            </a:r>
            <a:r>
              <a:rPr lang="en-US" i="1" dirty="0"/>
              <a:t>R</a:t>
            </a:r>
            <a:r>
              <a:rPr lang="en-US" baseline="-25000" dirty="0"/>
              <a:t>1</a:t>
            </a:r>
            <a:r>
              <a:rPr lang="en-US" dirty="0"/>
              <a:t>,</a:t>
            </a:r>
            <a:r>
              <a:rPr lang="en-US" i="1" dirty="0"/>
              <a:t>R</a:t>
            </a:r>
            <a:r>
              <a:rPr lang="en-US" baseline="-25000" dirty="0"/>
              <a:t>2</a:t>
            </a:r>
            <a:r>
              <a:rPr lang="en-US" dirty="0"/>
              <a:t>,…,</a:t>
            </a:r>
            <a:r>
              <a:rPr lang="en-US" i="1" dirty="0" err="1"/>
              <a:t>R</a:t>
            </a:r>
            <a:r>
              <a:rPr lang="en-US" baseline="-25000" dirty="0" err="1"/>
              <a:t>r</a:t>
            </a:r>
            <a:r>
              <a:rPr lang="en-US" dirty="0"/>
              <a:t>}</a:t>
            </a:r>
          </a:p>
          <a:p>
            <a:pPr lvl="4">
              <a:lnSpc>
                <a:spcPct val="100000"/>
              </a:lnSpc>
              <a:spcBef>
                <a:spcPct val="60000"/>
              </a:spcBef>
              <a:buFontTx/>
              <a:buNone/>
            </a:pPr>
            <a:r>
              <a:rPr lang="en-US" sz="2600" i="1" dirty="0"/>
              <a:t>R</a:t>
            </a:r>
            <a:r>
              <a:rPr lang="en-US" sz="2600" dirty="0"/>
              <a:t>  =   </a:t>
            </a:r>
            <a:r>
              <a:rPr lang="en-US" sz="3600" dirty="0" smtClean="0">
                <a:latin typeface="Symbol" charset="0"/>
                <a:sym typeface="Symbol"/>
              </a:rPr>
              <a:t></a:t>
            </a:r>
            <a:r>
              <a:rPr lang="en-US" sz="2600" baseline="-25000" dirty="0" smtClean="0">
                <a:latin typeface="Symbol" charset="0"/>
                <a:sym typeface="Symbol"/>
              </a:rPr>
              <a:t></a:t>
            </a:r>
            <a:r>
              <a:rPr lang="en-US" sz="2600" i="1" baseline="-25000" dirty="0" smtClean="0"/>
              <a:t>R</a:t>
            </a:r>
            <a:r>
              <a:rPr lang="en-US" sz="2600" i="1" baseline="-50000" dirty="0" smtClean="0"/>
              <a:t>i</a:t>
            </a:r>
            <a:r>
              <a:rPr lang="en-US" sz="2600" i="1" baseline="-25000" dirty="0" smtClean="0"/>
              <a:t> </a:t>
            </a:r>
            <a:r>
              <a:rPr lang="en-US" sz="2600" baseline="-25000" dirty="0" smtClean="0">
                <a:latin typeface="Symbol" charset="0"/>
                <a:sym typeface="Symbol"/>
              </a:rPr>
              <a:t></a:t>
            </a:r>
            <a:r>
              <a:rPr lang="en-US" sz="2600" i="1" baseline="-25000" dirty="0" smtClean="0"/>
              <a:t>FR</a:t>
            </a:r>
            <a:r>
              <a:rPr lang="en-US" sz="2600" baseline="-25000" dirty="0" smtClean="0"/>
              <a:t> </a:t>
            </a:r>
            <a:r>
              <a:rPr lang="en-US" sz="2600" i="1" dirty="0"/>
              <a:t>R</a:t>
            </a:r>
            <a:r>
              <a:rPr lang="en-US" sz="2600" i="1" baseline="-25000" dirty="0"/>
              <a:t>i</a:t>
            </a:r>
            <a:r>
              <a:rPr lang="en-US" sz="2600" i="1" dirty="0"/>
              <a:t> </a:t>
            </a:r>
            <a:endParaRPr lang="en-US" dirty="0"/>
          </a:p>
          <a:p>
            <a:pPr>
              <a:lnSpc>
                <a:spcPct val="100000"/>
              </a:lnSpc>
              <a:spcBef>
                <a:spcPct val="60000"/>
              </a:spcBef>
            </a:pPr>
            <a:r>
              <a:rPr lang="en-US" dirty="0">
                <a:solidFill>
                  <a:schemeClr val="tx2"/>
                </a:solidFill>
              </a:rPr>
              <a:t>Disjointness</a:t>
            </a:r>
            <a:endParaRPr lang="en-US" dirty="0"/>
          </a:p>
          <a:p>
            <a:pPr lvl="1">
              <a:lnSpc>
                <a:spcPct val="100000"/>
              </a:lnSpc>
              <a:spcBef>
                <a:spcPct val="60000"/>
              </a:spcBef>
            </a:pPr>
            <a:r>
              <a:rPr lang="en-US" dirty="0" err="1"/>
              <a:t>Minterm</a:t>
            </a:r>
            <a:r>
              <a:rPr lang="en-US" dirty="0"/>
              <a:t> predicates that form the basis of fragmentation should be mutually exclusive.  </a:t>
            </a:r>
          </a:p>
        </p:txBody>
      </p:sp>
      <p:sp>
        <p:nvSpPr>
          <p:cNvPr id="70659" name="Rectangle 3"/>
          <p:cNvSpPr>
            <a:spLocks noGrp="1" noChangeArrowheads="1"/>
          </p:cNvSpPr>
          <p:nvPr>
            <p:ph type="title"/>
          </p:nvPr>
        </p:nvSpPr>
        <p:spPr>
          <a:noFill/>
          <a:ln/>
        </p:spPr>
        <p:txBody>
          <a:bodyPr/>
          <a:lstStyle/>
          <a:p>
            <a:r>
              <a:rPr lang="en-US"/>
              <a:t>PHF – Correctness</a:t>
            </a: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p:cNvSpPr>
            <a:spLocks noGrp="1" noChangeArrowheads="1"/>
          </p:cNvSpPr>
          <p:nvPr>
            <p:ph type="title"/>
          </p:nvPr>
        </p:nvSpPr>
        <p:spPr>
          <a:noFill/>
          <a:ln/>
        </p:spPr>
        <p:txBody>
          <a:bodyPr/>
          <a:lstStyle/>
          <a:p>
            <a:r>
              <a:rPr lang="en-US"/>
              <a:t>Derived Horizontal Fragmentation</a:t>
            </a:r>
          </a:p>
        </p:txBody>
      </p:sp>
      <p:sp>
        <p:nvSpPr>
          <p:cNvPr id="72706" name="Rectangle 2"/>
          <p:cNvSpPr>
            <a:spLocks noGrp="1" noChangeArrowheads="1"/>
          </p:cNvSpPr>
          <p:nvPr>
            <p:ph idx="1"/>
          </p:nvPr>
        </p:nvSpPr>
        <p:spPr>
          <a:xfrm>
            <a:off x="342900" y="2489200"/>
            <a:ext cx="12293600" cy="2101848"/>
          </a:xfrm>
          <a:noFill/>
          <a:ln/>
        </p:spPr>
        <p:txBody>
          <a:bodyPr/>
          <a:lstStyle/>
          <a:p>
            <a:r>
              <a:rPr lang="en-US" dirty="0"/>
              <a:t>Defined on a member relation of a link according to a selection operation specified on its owner.</a:t>
            </a:r>
            <a:endParaRPr lang="en-US" sz="2600" dirty="0"/>
          </a:p>
          <a:p>
            <a:pPr lvl="1"/>
            <a:r>
              <a:rPr lang="en-US" dirty="0"/>
              <a:t>Each link is an equijoin.</a:t>
            </a:r>
          </a:p>
          <a:p>
            <a:pPr lvl="1"/>
            <a:r>
              <a:rPr lang="en-US" dirty="0"/>
              <a:t>Equijoin can be implemented by means of </a:t>
            </a:r>
            <a:r>
              <a:rPr lang="en-US" dirty="0" err="1"/>
              <a:t>semijoins</a:t>
            </a:r>
            <a:r>
              <a:rPr lang="en-US" dirty="0"/>
              <a:t>.</a:t>
            </a:r>
          </a:p>
        </p:txBody>
      </p:sp>
      <p:sp>
        <p:nvSpPr>
          <p:cNvPr id="72708" name="Rectangle 4"/>
          <p:cNvSpPr>
            <a:spLocks noChangeArrowheads="1"/>
          </p:cNvSpPr>
          <p:nvPr/>
        </p:nvSpPr>
        <p:spPr bwMode="auto">
          <a:xfrm>
            <a:off x="3359573" y="5030738"/>
            <a:ext cx="2095218" cy="523804"/>
          </a:xfrm>
          <a:prstGeom prst="rect">
            <a:avLst/>
          </a:prstGeom>
          <a:noFill/>
          <a:ln w="12700">
            <a:solidFill>
              <a:srgbClr val="000000"/>
            </a:solidFill>
            <a:miter lim="800000"/>
            <a:headEnd/>
            <a:tailEnd/>
          </a:ln>
          <a:effectLst/>
          <a:extLst/>
        </p:spPr>
        <p:txBody>
          <a:bodyPr wrap="none" lIns="130046" tIns="65023" rIns="130046" bIns="65023" anchor="ctr"/>
          <a:lstStyle/>
          <a:p>
            <a:endParaRPr lang="en-US" sz="2000" dirty="0">
              <a:latin typeface="Book Antiqua"/>
            </a:endParaRPr>
          </a:p>
        </p:txBody>
      </p:sp>
      <p:sp>
        <p:nvSpPr>
          <p:cNvPr id="72709" name="Rectangle 5"/>
          <p:cNvSpPr>
            <a:spLocks noChangeArrowheads="1"/>
          </p:cNvSpPr>
          <p:nvPr/>
        </p:nvSpPr>
        <p:spPr bwMode="auto">
          <a:xfrm>
            <a:off x="3212819" y="6701085"/>
            <a:ext cx="2677724" cy="523804"/>
          </a:xfrm>
          <a:prstGeom prst="rect">
            <a:avLst/>
          </a:prstGeom>
          <a:noFill/>
          <a:ln w="12700">
            <a:solidFill>
              <a:srgbClr val="000000"/>
            </a:solidFill>
            <a:miter lim="800000"/>
            <a:headEnd/>
            <a:tailEnd/>
          </a:ln>
          <a:effectLst/>
          <a:extLst/>
        </p:spPr>
        <p:txBody>
          <a:bodyPr wrap="none" lIns="130046" tIns="65023" rIns="130046" bIns="65023" anchor="ctr"/>
          <a:lstStyle/>
          <a:p>
            <a:endParaRPr lang="en-US" sz="2000" dirty="0">
              <a:latin typeface="Book Antiqua"/>
            </a:endParaRPr>
          </a:p>
        </p:txBody>
      </p:sp>
      <p:sp>
        <p:nvSpPr>
          <p:cNvPr id="72710" name="Rectangle 6"/>
          <p:cNvSpPr>
            <a:spLocks noChangeArrowheads="1"/>
          </p:cNvSpPr>
          <p:nvPr/>
        </p:nvSpPr>
        <p:spPr bwMode="auto">
          <a:xfrm>
            <a:off x="4497493" y="8326685"/>
            <a:ext cx="2926080" cy="523804"/>
          </a:xfrm>
          <a:prstGeom prst="rect">
            <a:avLst/>
          </a:prstGeom>
          <a:noFill/>
          <a:ln w="12700">
            <a:solidFill>
              <a:srgbClr val="000000"/>
            </a:solidFill>
            <a:miter lim="800000"/>
            <a:headEnd/>
            <a:tailEnd/>
          </a:ln>
          <a:effectLst/>
          <a:extLst/>
        </p:spPr>
        <p:txBody>
          <a:bodyPr wrap="none" lIns="130046" tIns="65023" rIns="130046" bIns="65023" anchor="ctr"/>
          <a:lstStyle/>
          <a:p>
            <a:endParaRPr lang="en-US" sz="2000" dirty="0">
              <a:latin typeface="Book Antiqua"/>
            </a:endParaRPr>
          </a:p>
        </p:txBody>
      </p:sp>
      <p:sp>
        <p:nvSpPr>
          <p:cNvPr id="72711" name="Rectangle 7"/>
          <p:cNvSpPr>
            <a:spLocks noChangeArrowheads="1"/>
          </p:cNvSpPr>
          <p:nvPr/>
        </p:nvSpPr>
        <p:spPr bwMode="auto">
          <a:xfrm>
            <a:off x="6267591" y="6701085"/>
            <a:ext cx="3621476" cy="523804"/>
          </a:xfrm>
          <a:prstGeom prst="rect">
            <a:avLst/>
          </a:prstGeom>
          <a:noFill/>
          <a:ln w="12700">
            <a:solidFill>
              <a:srgbClr val="000000"/>
            </a:solidFill>
            <a:miter lim="800000"/>
            <a:headEnd/>
            <a:tailEnd/>
          </a:ln>
          <a:effectLst/>
          <a:extLst/>
        </p:spPr>
        <p:txBody>
          <a:bodyPr wrap="none" lIns="130046" tIns="65023" rIns="130046" bIns="65023" anchor="ctr"/>
          <a:lstStyle/>
          <a:p>
            <a:endParaRPr lang="en-US" sz="2000" dirty="0">
              <a:latin typeface="Book Antiqua"/>
            </a:endParaRPr>
          </a:p>
        </p:txBody>
      </p:sp>
      <p:sp>
        <p:nvSpPr>
          <p:cNvPr id="72712" name="Rectangle 8"/>
          <p:cNvSpPr>
            <a:spLocks noChangeArrowheads="1"/>
          </p:cNvSpPr>
          <p:nvPr/>
        </p:nvSpPr>
        <p:spPr bwMode="auto">
          <a:xfrm>
            <a:off x="3439952" y="5092824"/>
            <a:ext cx="1038103"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u="sng" dirty="0">
                <a:solidFill>
                  <a:srgbClr val="000000"/>
                </a:solidFill>
                <a:latin typeface="Book Antiqua"/>
              </a:rPr>
              <a:t>TITLE</a:t>
            </a:r>
            <a:r>
              <a:rPr lang="en-US" sz="2000" dirty="0">
                <a:solidFill>
                  <a:srgbClr val="000000"/>
                </a:solidFill>
                <a:latin typeface="Book Antiqua"/>
              </a:rPr>
              <a:t>,</a:t>
            </a:r>
          </a:p>
        </p:txBody>
      </p:sp>
      <p:sp>
        <p:nvSpPr>
          <p:cNvPr id="72713" name="Rectangle 9"/>
          <p:cNvSpPr>
            <a:spLocks noChangeArrowheads="1"/>
          </p:cNvSpPr>
          <p:nvPr/>
        </p:nvSpPr>
        <p:spPr bwMode="auto">
          <a:xfrm>
            <a:off x="4239542" y="5092824"/>
            <a:ext cx="750690"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dirty="0">
                <a:solidFill>
                  <a:srgbClr val="000000"/>
                </a:solidFill>
                <a:latin typeface="Book Antiqua"/>
              </a:rPr>
              <a:t>SAL</a:t>
            </a:r>
          </a:p>
        </p:txBody>
      </p:sp>
      <p:sp>
        <p:nvSpPr>
          <p:cNvPr id="72714" name="Rectangle 10"/>
          <p:cNvSpPr>
            <a:spLocks noChangeArrowheads="1"/>
          </p:cNvSpPr>
          <p:nvPr/>
        </p:nvSpPr>
        <p:spPr bwMode="auto">
          <a:xfrm>
            <a:off x="3276856" y="4666828"/>
            <a:ext cx="980495"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dirty="0">
                <a:solidFill>
                  <a:srgbClr val="000000"/>
                </a:solidFill>
                <a:latin typeface="Book Antiqua"/>
              </a:rPr>
              <a:t>SKILL</a:t>
            </a:r>
          </a:p>
        </p:txBody>
      </p:sp>
      <p:sp>
        <p:nvSpPr>
          <p:cNvPr id="72715" name="Rectangle 11"/>
          <p:cNvSpPr>
            <a:spLocks noChangeArrowheads="1"/>
          </p:cNvSpPr>
          <p:nvPr/>
        </p:nvSpPr>
        <p:spPr bwMode="auto">
          <a:xfrm>
            <a:off x="3160360" y="6749008"/>
            <a:ext cx="2773404"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u="sng" dirty="0">
                <a:solidFill>
                  <a:srgbClr val="000000"/>
                </a:solidFill>
                <a:latin typeface="Book Antiqua"/>
              </a:rPr>
              <a:t>ENO</a:t>
            </a:r>
            <a:r>
              <a:rPr lang="en-US" sz="2000" dirty="0">
                <a:solidFill>
                  <a:srgbClr val="000000"/>
                </a:solidFill>
                <a:latin typeface="Book Antiqua"/>
              </a:rPr>
              <a:t>, ENAME, TITLE</a:t>
            </a:r>
          </a:p>
        </p:txBody>
      </p:sp>
      <p:sp>
        <p:nvSpPr>
          <p:cNvPr id="72717" name="Rectangle 13"/>
          <p:cNvSpPr>
            <a:spLocks noChangeArrowheads="1"/>
          </p:cNvSpPr>
          <p:nvPr/>
        </p:nvSpPr>
        <p:spPr bwMode="auto">
          <a:xfrm>
            <a:off x="6223256" y="6749008"/>
            <a:ext cx="3766590"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u="sng" dirty="0">
                <a:solidFill>
                  <a:srgbClr val="000000"/>
                </a:solidFill>
                <a:latin typeface="Book Antiqua"/>
              </a:rPr>
              <a:t>PNO</a:t>
            </a:r>
            <a:r>
              <a:rPr lang="en-US" sz="2000" dirty="0">
                <a:solidFill>
                  <a:srgbClr val="000000"/>
                </a:solidFill>
                <a:latin typeface="Book Antiqua"/>
              </a:rPr>
              <a:t>, PNAME, BUDGET, LOC</a:t>
            </a:r>
          </a:p>
        </p:txBody>
      </p:sp>
      <p:sp>
        <p:nvSpPr>
          <p:cNvPr id="72719" name="Rectangle 15"/>
          <p:cNvSpPr>
            <a:spLocks noChangeArrowheads="1"/>
          </p:cNvSpPr>
          <p:nvPr/>
        </p:nvSpPr>
        <p:spPr bwMode="auto">
          <a:xfrm>
            <a:off x="4399580" y="8405192"/>
            <a:ext cx="1593393"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u="sng" dirty="0">
                <a:solidFill>
                  <a:srgbClr val="000000"/>
                </a:solidFill>
                <a:latin typeface="Book Antiqua"/>
              </a:rPr>
              <a:t>ENO, PNO</a:t>
            </a:r>
            <a:r>
              <a:rPr lang="en-US" sz="2000" dirty="0">
                <a:solidFill>
                  <a:srgbClr val="000000"/>
                </a:solidFill>
                <a:latin typeface="Book Antiqua"/>
              </a:rPr>
              <a:t>,</a:t>
            </a:r>
          </a:p>
        </p:txBody>
      </p:sp>
      <p:sp>
        <p:nvSpPr>
          <p:cNvPr id="72720" name="Rectangle 16"/>
          <p:cNvSpPr>
            <a:spLocks noChangeArrowheads="1"/>
          </p:cNvSpPr>
          <p:nvPr/>
        </p:nvSpPr>
        <p:spPr bwMode="auto">
          <a:xfrm>
            <a:off x="5833981" y="8405192"/>
            <a:ext cx="1542298"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dirty="0">
                <a:solidFill>
                  <a:srgbClr val="000000"/>
                </a:solidFill>
                <a:latin typeface="Book Antiqua"/>
              </a:rPr>
              <a:t>RESP, DUR</a:t>
            </a:r>
          </a:p>
        </p:txBody>
      </p:sp>
      <p:sp>
        <p:nvSpPr>
          <p:cNvPr id="72721" name="Rectangle 17"/>
          <p:cNvSpPr>
            <a:spLocks noChangeArrowheads="1"/>
          </p:cNvSpPr>
          <p:nvPr/>
        </p:nvSpPr>
        <p:spPr bwMode="auto">
          <a:xfrm>
            <a:off x="3290082" y="6292428"/>
            <a:ext cx="814059"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dirty="0">
                <a:solidFill>
                  <a:srgbClr val="000000"/>
                </a:solidFill>
                <a:latin typeface="Book Antiqua"/>
              </a:rPr>
              <a:t>EMP</a:t>
            </a:r>
          </a:p>
        </p:txBody>
      </p:sp>
      <p:sp>
        <p:nvSpPr>
          <p:cNvPr id="72722" name="Rectangle 18"/>
          <p:cNvSpPr>
            <a:spLocks noChangeArrowheads="1"/>
          </p:cNvSpPr>
          <p:nvPr/>
        </p:nvSpPr>
        <p:spPr bwMode="auto">
          <a:xfrm>
            <a:off x="6266747" y="6292428"/>
            <a:ext cx="875449"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dirty="0">
                <a:solidFill>
                  <a:srgbClr val="000000"/>
                </a:solidFill>
                <a:latin typeface="Book Antiqua"/>
              </a:rPr>
              <a:t>PROJ</a:t>
            </a:r>
          </a:p>
        </p:txBody>
      </p:sp>
      <p:sp>
        <p:nvSpPr>
          <p:cNvPr id="72723" name="Rectangle 19"/>
          <p:cNvSpPr>
            <a:spLocks noChangeArrowheads="1"/>
          </p:cNvSpPr>
          <p:nvPr/>
        </p:nvSpPr>
        <p:spPr bwMode="auto">
          <a:xfrm>
            <a:off x="4336292" y="7918028"/>
            <a:ext cx="789763"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dirty="0">
                <a:solidFill>
                  <a:srgbClr val="000000"/>
                </a:solidFill>
                <a:latin typeface="Book Antiqua"/>
              </a:rPr>
              <a:t>ASG</a:t>
            </a:r>
          </a:p>
        </p:txBody>
      </p:sp>
      <p:sp>
        <p:nvSpPr>
          <p:cNvPr id="72733" name="Rectangle 29"/>
          <p:cNvSpPr>
            <a:spLocks noChangeArrowheads="1"/>
          </p:cNvSpPr>
          <p:nvPr/>
        </p:nvSpPr>
        <p:spPr bwMode="auto">
          <a:xfrm>
            <a:off x="4273739" y="5913121"/>
            <a:ext cx="515243"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i="1" dirty="0">
                <a:solidFill>
                  <a:srgbClr val="000000"/>
                </a:solidFill>
                <a:latin typeface="Book Antiqua"/>
              </a:rPr>
              <a:t>L</a:t>
            </a:r>
            <a:r>
              <a:rPr lang="en-US" sz="2000" baseline="-25000" dirty="0">
                <a:solidFill>
                  <a:srgbClr val="000000"/>
                </a:solidFill>
                <a:latin typeface="Book Antiqua"/>
              </a:rPr>
              <a:t>1</a:t>
            </a:r>
          </a:p>
        </p:txBody>
      </p:sp>
      <p:sp>
        <p:nvSpPr>
          <p:cNvPr id="72734" name="Rectangle 30"/>
          <p:cNvSpPr>
            <a:spLocks noChangeArrowheads="1"/>
          </p:cNvSpPr>
          <p:nvPr/>
        </p:nvSpPr>
        <p:spPr bwMode="auto">
          <a:xfrm>
            <a:off x="4725294" y="7430348"/>
            <a:ext cx="515243"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i="1" dirty="0">
                <a:solidFill>
                  <a:srgbClr val="000000"/>
                </a:solidFill>
                <a:latin typeface="Book Antiqua"/>
              </a:rPr>
              <a:t>L</a:t>
            </a:r>
            <a:r>
              <a:rPr lang="en-US" sz="2000" baseline="-25000" dirty="0">
                <a:solidFill>
                  <a:srgbClr val="000000"/>
                </a:solidFill>
                <a:latin typeface="Book Antiqua"/>
              </a:rPr>
              <a:t>2</a:t>
            </a:r>
          </a:p>
        </p:txBody>
      </p:sp>
      <p:sp>
        <p:nvSpPr>
          <p:cNvPr id="72735" name="Rectangle 31"/>
          <p:cNvSpPr>
            <a:spLocks noChangeArrowheads="1"/>
          </p:cNvSpPr>
          <p:nvPr/>
        </p:nvSpPr>
        <p:spPr bwMode="auto">
          <a:xfrm>
            <a:off x="6423143" y="7448410"/>
            <a:ext cx="515243" cy="435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000" i="1" dirty="0">
                <a:solidFill>
                  <a:srgbClr val="000000"/>
                </a:solidFill>
                <a:latin typeface="Book Antiqua"/>
              </a:rPr>
              <a:t>L</a:t>
            </a:r>
            <a:r>
              <a:rPr lang="en-US" sz="2000" baseline="-25000" dirty="0">
                <a:solidFill>
                  <a:srgbClr val="000000"/>
                </a:solidFill>
                <a:latin typeface="Book Antiqua"/>
              </a:rPr>
              <a:t>3</a:t>
            </a:r>
          </a:p>
        </p:txBody>
      </p:sp>
      <p:sp>
        <p:nvSpPr>
          <p:cNvPr id="72736" name="Line 32"/>
          <p:cNvSpPr>
            <a:spLocks noChangeShapeType="1"/>
          </p:cNvSpPr>
          <p:nvPr/>
        </p:nvSpPr>
        <p:spPr bwMode="auto">
          <a:xfrm>
            <a:off x="4342160" y="5554354"/>
            <a:ext cx="0" cy="1131147"/>
          </a:xfrm>
          <a:prstGeom prst="line">
            <a:avLst/>
          </a:prstGeom>
          <a:noFill/>
          <a:ln w="19050">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72739" name="Line 35"/>
          <p:cNvSpPr>
            <a:spLocks noChangeShapeType="1"/>
          </p:cNvSpPr>
          <p:nvPr/>
        </p:nvSpPr>
        <p:spPr bwMode="auto">
          <a:xfrm>
            <a:off x="4226560" y="7261014"/>
            <a:ext cx="1192107" cy="1083733"/>
          </a:xfrm>
          <a:prstGeom prst="line">
            <a:avLst/>
          </a:prstGeom>
          <a:noFill/>
          <a:ln w="19050">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p:sp>
        <p:nvSpPr>
          <p:cNvPr id="72740" name="Line 36"/>
          <p:cNvSpPr>
            <a:spLocks noChangeShapeType="1"/>
          </p:cNvSpPr>
          <p:nvPr/>
        </p:nvSpPr>
        <p:spPr bwMode="auto">
          <a:xfrm flipH="1">
            <a:off x="6394027" y="7261014"/>
            <a:ext cx="1192107" cy="1083733"/>
          </a:xfrm>
          <a:prstGeom prst="line">
            <a:avLst/>
          </a:prstGeom>
          <a:noFill/>
          <a:ln w="19050">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sz="2000" dirty="0">
              <a:latin typeface="Book Antiqua"/>
            </a:endParaRPr>
          </a:p>
        </p:txBody>
      </p:sp>
      <mc:AlternateContent xmlns:mc="http://schemas.openxmlformats.org/markup-compatibility/2006" xmlns:p14="http://schemas.microsoft.com/office/powerpoint/2010/main">
        <mc:Choice Requires="p14">
          <p:contentPart p14:bwMode="auto" r:id="rId3">
            <p14:nvContentPartPr>
              <p14:cNvPr id="72748" name="Ink 72747"/>
              <p14:cNvContentPartPr/>
              <p14:nvPr/>
            </p14:nvContentPartPr>
            <p14:xfrm>
              <a:off x="2242868" y="3916386"/>
              <a:ext cx="360" cy="360"/>
            </p14:xfrm>
          </p:contentPart>
        </mc:Choice>
        <mc:Fallback xmlns="">
          <p:pic>
            <p:nvPicPr>
              <p:cNvPr id="72748" name="Ink 72747"/>
              <p:cNvPicPr/>
              <p:nvPr/>
            </p:nvPicPr>
            <p:blipFill>
              <a:blip r:embed="rId58"/>
              <a:stretch>
                <a:fillRect/>
              </a:stretch>
            </p:blipFill>
            <p:spPr>
              <a:xfrm>
                <a:off x="2230988" y="3904506"/>
                <a:ext cx="24120" cy="24120"/>
              </a:xfrm>
              <a:prstGeom prst="rect">
                <a:avLst/>
              </a:prstGeom>
            </p:spPr>
          </p:pic>
        </mc:Fallback>
      </mc:AlternateContent>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3"/>
          <p:cNvSpPr>
            <a:spLocks noGrp="1" noChangeArrowheads="1"/>
          </p:cNvSpPr>
          <p:nvPr>
            <p:ph type="title"/>
          </p:nvPr>
        </p:nvSpPr>
        <p:spPr>
          <a:noFill/>
          <a:ln/>
        </p:spPr>
        <p:txBody>
          <a:bodyPr/>
          <a:lstStyle/>
          <a:p>
            <a:r>
              <a:rPr lang="en-US" dirty="0"/>
              <a:t>DHF – Definition</a:t>
            </a:r>
          </a:p>
        </p:txBody>
      </p:sp>
      <p:sp>
        <p:nvSpPr>
          <p:cNvPr id="74754" name="Rectangle 2"/>
          <p:cNvSpPr>
            <a:spLocks noGrp="1" noChangeArrowheads="1"/>
          </p:cNvSpPr>
          <p:nvPr>
            <p:ph idx="1"/>
          </p:nvPr>
        </p:nvSpPr>
        <p:spPr>
          <a:noFill/>
          <a:ln/>
        </p:spPr>
        <p:txBody>
          <a:bodyPr/>
          <a:lstStyle/>
          <a:p>
            <a:pPr marL="0" indent="0">
              <a:spcBef>
                <a:spcPct val="60000"/>
              </a:spcBef>
              <a:buNone/>
            </a:pPr>
            <a:r>
              <a:rPr lang="en-US" dirty="0"/>
              <a:t>Given a link </a:t>
            </a:r>
            <a:r>
              <a:rPr lang="en-US" i="1" dirty="0"/>
              <a:t>L</a:t>
            </a:r>
            <a:r>
              <a:rPr lang="en-US" dirty="0"/>
              <a:t> where </a:t>
            </a:r>
            <a:r>
              <a:rPr lang="en-US" i="1" dirty="0"/>
              <a:t>owner</a:t>
            </a:r>
            <a:r>
              <a:rPr lang="en-US" dirty="0"/>
              <a:t>(</a:t>
            </a:r>
            <a:r>
              <a:rPr lang="en-US" i="1" dirty="0"/>
              <a:t>L</a:t>
            </a:r>
            <a:r>
              <a:rPr lang="en-US" dirty="0"/>
              <a:t>)=</a:t>
            </a:r>
            <a:r>
              <a:rPr lang="en-US" i="1" dirty="0"/>
              <a:t>S</a:t>
            </a:r>
            <a:r>
              <a:rPr lang="en-US" dirty="0"/>
              <a:t> and </a:t>
            </a:r>
            <a:r>
              <a:rPr lang="en-US" i="1" dirty="0"/>
              <a:t>member</a:t>
            </a:r>
            <a:r>
              <a:rPr lang="en-US" dirty="0"/>
              <a:t>(</a:t>
            </a:r>
            <a:r>
              <a:rPr lang="en-US" i="1" dirty="0"/>
              <a:t>L</a:t>
            </a:r>
            <a:r>
              <a:rPr lang="en-US" dirty="0"/>
              <a:t>)=</a:t>
            </a:r>
            <a:r>
              <a:rPr lang="en-US" i="1" dirty="0"/>
              <a:t>R</a:t>
            </a:r>
            <a:r>
              <a:rPr lang="en-US" dirty="0"/>
              <a:t>, the derived horizontal fragments of </a:t>
            </a:r>
            <a:r>
              <a:rPr lang="en-US" i="1" dirty="0"/>
              <a:t>R</a:t>
            </a:r>
            <a:r>
              <a:rPr lang="en-US" dirty="0"/>
              <a:t> are defined as</a:t>
            </a:r>
          </a:p>
          <a:p>
            <a:pPr marL="487672" lvl="1" indent="-325115">
              <a:spcBef>
                <a:spcPct val="60000"/>
              </a:spcBef>
              <a:buNone/>
            </a:pPr>
            <a:r>
              <a:rPr lang="en-US" sz="3400" i="1" dirty="0"/>
              <a:t>		R</a:t>
            </a:r>
            <a:r>
              <a:rPr lang="en-US" sz="3400" i="1" baseline="-25000" dirty="0"/>
              <a:t>i</a:t>
            </a:r>
            <a:r>
              <a:rPr lang="en-US" sz="3400" dirty="0"/>
              <a:t> = </a:t>
            </a:r>
            <a:r>
              <a:rPr lang="en-US" sz="3400" i="1" dirty="0"/>
              <a:t>R </a:t>
            </a:r>
            <a:r>
              <a:rPr lang="en-US" sz="3600" dirty="0" smtClean="0">
                <a:latin typeface="MS PGothic"/>
                <a:ea typeface="MS PGothic"/>
              </a:rPr>
              <a:t>⋉</a:t>
            </a:r>
            <a:r>
              <a:rPr lang="en-US" sz="3400" i="1" baseline="-25000" dirty="0" smtClean="0"/>
              <a:t>F </a:t>
            </a:r>
            <a:r>
              <a:rPr lang="en-US" sz="3400" dirty="0" smtClean="0">
                <a:latin typeface="NSymbol" charset="0"/>
              </a:rPr>
              <a:t> </a:t>
            </a:r>
            <a:r>
              <a:rPr lang="en-US" sz="3400" i="1" dirty="0"/>
              <a:t>S</a:t>
            </a:r>
            <a:r>
              <a:rPr lang="en-US" sz="3400" i="1" baseline="-25000" dirty="0"/>
              <a:t>i</a:t>
            </a:r>
            <a:r>
              <a:rPr lang="en-US" sz="3400" dirty="0"/>
              <a:t>, 1≤</a:t>
            </a:r>
            <a:r>
              <a:rPr lang="en-US" sz="3400" i="1" dirty="0"/>
              <a:t>i</a:t>
            </a:r>
            <a:r>
              <a:rPr lang="en-US" sz="3400" dirty="0"/>
              <a:t>≤</a:t>
            </a:r>
            <a:r>
              <a:rPr lang="en-US" sz="3400" i="1" dirty="0"/>
              <a:t>w</a:t>
            </a:r>
          </a:p>
          <a:p>
            <a:pPr marL="0" indent="0">
              <a:spcBef>
                <a:spcPct val="60000"/>
              </a:spcBef>
              <a:buNone/>
            </a:pPr>
            <a:r>
              <a:rPr lang="en-US" dirty="0"/>
              <a:t>where </a:t>
            </a:r>
            <a:r>
              <a:rPr lang="en-US" i="1" dirty="0"/>
              <a:t>w</a:t>
            </a:r>
            <a:r>
              <a:rPr lang="en-US" dirty="0"/>
              <a:t> is the maximum number of fragments that will be defined on </a:t>
            </a:r>
            <a:r>
              <a:rPr lang="en-US" i="1" dirty="0"/>
              <a:t>R</a:t>
            </a:r>
            <a:r>
              <a:rPr lang="en-US" dirty="0"/>
              <a:t> and</a:t>
            </a:r>
          </a:p>
          <a:p>
            <a:pPr marL="975345" lvl="2">
              <a:spcBef>
                <a:spcPct val="60000"/>
              </a:spcBef>
              <a:spcAft>
                <a:spcPct val="20000"/>
              </a:spcAft>
              <a:buNone/>
            </a:pPr>
            <a:r>
              <a:rPr lang="en-US" sz="3400" i="1" dirty="0"/>
              <a:t>S</a:t>
            </a:r>
            <a:r>
              <a:rPr lang="en-US" sz="3400" i="1" baseline="-25000" dirty="0"/>
              <a:t>i</a:t>
            </a:r>
            <a:r>
              <a:rPr lang="en-US" sz="3400" i="1" dirty="0"/>
              <a:t> </a:t>
            </a:r>
            <a:r>
              <a:rPr lang="en-US" sz="3400" dirty="0"/>
              <a:t>= </a:t>
            </a:r>
            <a:r>
              <a:rPr lang="en-US" sz="3400" dirty="0" smtClean="0">
                <a:latin typeface="Symbol" charset="0"/>
                <a:sym typeface="Symbol"/>
              </a:rPr>
              <a:t></a:t>
            </a:r>
            <a:r>
              <a:rPr lang="en-US" sz="3400" i="1" baseline="-25000" dirty="0" err="1" smtClean="0"/>
              <a:t>F</a:t>
            </a:r>
            <a:r>
              <a:rPr lang="en-US" sz="3400" i="1" baseline="-50000" dirty="0" err="1" smtClean="0"/>
              <a:t>i</a:t>
            </a:r>
            <a:r>
              <a:rPr lang="en-US" sz="3400" dirty="0" smtClean="0">
                <a:latin typeface="Symbol" charset="0"/>
              </a:rPr>
              <a:t> </a:t>
            </a:r>
            <a:r>
              <a:rPr lang="en-US" sz="3400" dirty="0" smtClean="0"/>
              <a:t>(</a:t>
            </a:r>
            <a:r>
              <a:rPr lang="en-US" sz="3400" i="1" dirty="0"/>
              <a:t>S</a:t>
            </a:r>
            <a:r>
              <a:rPr lang="en-US" sz="3400" dirty="0"/>
              <a:t>)</a:t>
            </a:r>
          </a:p>
          <a:p>
            <a:pPr marL="0" indent="0">
              <a:spcBef>
                <a:spcPct val="60000"/>
              </a:spcBef>
              <a:buNone/>
            </a:pPr>
            <a:r>
              <a:rPr lang="en-US" dirty="0"/>
              <a:t>where </a:t>
            </a:r>
            <a:r>
              <a:rPr lang="en-US" i="1" dirty="0"/>
              <a:t>F</a:t>
            </a:r>
            <a:r>
              <a:rPr lang="en-US" i="1" baseline="-25000" dirty="0"/>
              <a:t>i</a:t>
            </a:r>
            <a:r>
              <a:rPr lang="en-US" dirty="0"/>
              <a:t> is the formula according to which the primary horizontal fragment </a:t>
            </a:r>
            <a:r>
              <a:rPr lang="en-US" i="1" dirty="0"/>
              <a:t>S</a:t>
            </a:r>
            <a:r>
              <a:rPr lang="en-US" i="1" baseline="-25000" dirty="0"/>
              <a:t>i</a:t>
            </a:r>
            <a:r>
              <a:rPr lang="en-US" dirty="0"/>
              <a:t> is defined.</a:t>
            </a: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body" idx="1"/>
          </p:nvPr>
        </p:nvSpPr>
        <p:spPr>
          <a:xfrm>
            <a:off x="525736" y="2428528"/>
            <a:ext cx="11270827" cy="3312368"/>
          </a:xfrm>
          <a:noFill/>
          <a:ln/>
        </p:spPr>
        <p:txBody>
          <a:bodyPr/>
          <a:lstStyle/>
          <a:p>
            <a:pPr marL="2258" indent="-2258">
              <a:spcBef>
                <a:spcPct val="20000"/>
              </a:spcBef>
              <a:buNone/>
            </a:pPr>
            <a:r>
              <a:rPr lang="en-US" dirty="0"/>
              <a:t>Given link </a:t>
            </a:r>
            <a:r>
              <a:rPr lang="en-US" i="1" dirty="0"/>
              <a:t>L</a:t>
            </a:r>
            <a:r>
              <a:rPr lang="en-US" baseline="-25000" dirty="0"/>
              <a:t>1</a:t>
            </a:r>
            <a:r>
              <a:rPr lang="en-US" dirty="0"/>
              <a:t> where owner(</a:t>
            </a:r>
            <a:r>
              <a:rPr lang="en-US" i="1" dirty="0"/>
              <a:t>L</a:t>
            </a:r>
            <a:r>
              <a:rPr lang="en-US" baseline="-25000" dirty="0"/>
              <a:t>1</a:t>
            </a:r>
            <a:r>
              <a:rPr lang="en-US" dirty="0"/>
              <a:t>)=SKILL and member(</a:t>
            </a:r>
            <a:r>
              <a:rPr lang="en-US" i="1" dirty="0"/>
              <a:t>L</a:t>
            </a:r>
            <a:r>
              <a:rPr lang="en-US" baseline="-25000" dirty="0"/>
              <a:t>1</a:t>
            </a:r>
            <a:r>
              <a:rPr lang="en-US" dirty="0"/>
              <a:t>)=EMP</a:t>
            </a:r>
          </a:p>
          <a:p>
            <a:pPr lvl="2">
              <a:lnSpc>
                <a:spcPct val="100000"/>
              </a:lnSpc>
              <a:spcBef>
                <a:spcPct val="20000"/>
              </a:spcBef>
              <a:buFont typeface="Monotype Sorts" charset="0"/>
              <a:buNone/>
            </a:pPr>
            <a:r>
              <a:rPr lang="en-US" dirty="0"/>
              <a:t>EMP</a:t>
            </a:r>
            <a:r>
              <a:rPr lang="en-US" baseline="-25000" dirty="0"/>
              <a:t>1</a:t>
            </a:r>
            <a:r>
              <a:rPr lang="en-US" dirty="0"/>
              <a:t> = EMP </a:t>
            </a:r>
            <a:r>
              <a:rPr lang="en-US" sz="2800" dirty="0" smtClean="0">
                <a:latin typeface="MS PGothic"/>
                <a:ea typeface="MS PGothic"/>
              </a:rPr>
              <a:t>⋉</a:t>
            </a:r>
            <a:r>
              <a:rPr lang="en-US" dirty="0" smtClean="0"/>
              <a:t> </a:t>
            </a:r>
            <a:r>
              <a:rPr lang="en-US" dirty="0"/>
              <a:t>SKILL</a:t>
            </a:r>
            <a:r>
              <a:rPr lang="en-US" baseline="-25000" dirty="0"/>
              <a:t>1</a:t>
            </a:r>
            <a:endParaRPr lang="en-US" dirty="0"/>
          </a:p>
          <a:p>
            <a:pPr lvl="2">
              <a:lnSpc>
                <a:spcPct val="100000"/>
              </a:lnSpc>
              <a:spcBef>
                <a:spcPct val="20000"/>
              </a:spcBef>
              <a:buFont typeface="Monotype Sorts" charset="0"/>
              <a:buNone/>
            </a:pPr>
            <a:r>
              <a:rPr lang="en-US" dirty="0"/>
              <a:t>EMP</a:t>
            </a:r>
            <a:r>
              <a:rPr lang="en-US" baseline="-25000" dirty="0"/>
              <a:t>2</a:t>
            </a:r>
            <a:r>
              <a:rPr lang="en-US" dirty="0"/>
              <a:t> = EMP </a:t>
            </a:r>
            <a:r>
              <a:rPr lang="en-US" sz="2800" dirty="0" smtClean="0">
                <a:latin typeface="MS PGothic"/>
                <a:ea typeface="MS PGothic"/>
              </a:rPr>
              <a:t>⋉</a:t>
            </a:r>
            <a:r>
              <a:rPr lang="en-US" dirty="0" smtClean="0"/>
              <a:t> </a:t>
            </a:r>
            <a:r>
              <a:rPr lang="en-US" dirty="0"/>
              <a:t>SKILL</a:t>
            </a:r>
            <a:r>
              <a:rPr lang="en-US" baseline="-25000" dirty="0"/>
              <a:t>2</a:t>
            </a:r>
            <a:endParaRPr lang="en-US" dirty="0"/>
          </a:p>
          <a:p>
            <a:pPr marL="2258" indent="-2258">
              <a:spcBef>
                <a:spcPct val="20000"/>
              </a:spcBef>
              <a:buNone/>
            </a:pPr>
            <a:r>
              <a:rPr lang="en-US" dirty="0"/>
              <a:t>where</a:t>
            </a:r>
          </a:p>
          <a:p>
            <a:pPr lvl="2">
              <a:lnSpc>
                <a:spcPct val="100000"/>
              </a:lnSpc>
              <a:spcBef>
                <a:spcPct val="20000"/>
              </a:spcBef>
              <a:buFont typeface="Monotype Sorts" charset="0"/>
              <a:buNone/>
            </a:pPr>
            <a:r>
              <a:rPr lang="en-US" dirty="0"/>
              <a:t>SKILL</a:t>
            </a:r>
            <a:r>
              <a:rPr lang="en-US" baseline="-25000" dirty="0"/>
              <a:t>1</a:t>
            </a:r>
            <a:r>
              <a:rPr lang="en-US" dirty="0"/>
              <a:t> = </a:t>
            </a:r>
            <a:r>
              <a:rPr lang="en-US" sz="2800" dirty="0" smtClean="0">
                <a:latin typeface="Symbol" charset="0"/>
                <a:sym typeface="Symbol"/>
              </a:rPr>
              <a:t></a:t>
            </a:r>
            <a:r>
              <a:rPr lang="en-US" baseline="-25000" dirty="0" smtClean="0"/>
              <a:t>SAL</a:t>
            </a:r>
            <a:r>
              <a:rPr lang="en-US" baseline="-25000" dirty="0"/>
              <a:t>≤</a:t>
            </a:r>
            <a:r>
              <a:rPr lang="en-US" baseline="-25000" dirty="0" smtClean="0"/>
              <a:t>30000</a:t>
            </a:r>
            <a:r>
              <a:rPr lang="en-US" dirty="0" smtClean="0"/>
              <a:t>(SKILL</a:t>
            </a:r>
            <a:r>
              <a:rPr lang="en-US" dirty="0"/>
              <a:t>)</a:t>
            </a:r>
          </a:p>
          <a:p>
            <a:pPr lvl="2">
              <a:lnSpc>
                <a:spcPct val="100000"/>
              </a:lnSpc>
              <a:spcBef>
                <a:spcPct val="20000"/>
              </a:spcBef>
              <a:buFont typeface="Monotype Sorts" charset="0"/>
              <a:buNone/>
            </a:pPr>
            <a:r>
              <a:rPr lang="en-US" dirty="0"/>
              <a:t>SKILL</a:t>
            </a:r>
            <a:r>
              <a:rPr lang="en-US" baseline="-25000" dirty="0"/>
              <a:t>2</a:t>
            </a:r>
            <a:r>
              <a:rPr lang="en-US" dirty="0"/>
              <a:t> = </a:t>
            </a:r>
            <a:r>
              <a:rPr lang="en-US" sz="2800" dirty="0" smtClean="0">
                <a:latin typeface="Symbol" charset="0"/>
                <a:sym typeface="Symbol"/>
              </a:rPr>
              <a:t></a:t>
            </a:r>
            <a:r>
              <a:rPr lang="en-US" baseline="-25000" dirty="0" smtClean="0"/>
              <a:t>SAL&gt;30000</a:t>
            </a:r>
            <a:r>
              <a:rPr lang="en-US" dirty="0" smtClean="0"/>
              <a:t>(SKILL)</a:t>
            </a:r>
            <a:endParaRPr lang="en-US" dirty="0"/>
          </a:p>
        </p:txBody>
      </p:sp>
      <p:sp>
        <p:nvSpPr>
          <p:cNvPr id="76803" name="Rectangle 3"/>
          <p:cNvSpPr>
            <a:spLocks noGrp="1" noChangeArrowheads="1"/>
          </p:cNvSpPr>
          <p:nvPr>
            <p:ph type="title"/>
          </p:nvPr>
        </p:nvSpPr>
        <p:spPr>
          <a:noFill/>
          <a:ln/>
        </p:spPr>
        <p:txBody>
          <a:bodyPr/>
          <a:lstStyle/>
          <a:p>
            <a:r>
              <a:rPr lang="en-US"/>
              <a:t>DHF – Example</a:t>
            </a:r>
          </a:p>
        </p:txBody>
      </p:sp>
      <p:grpSp>
        <p:nvGrpSpPr>
          <p:cNvPr id="76821" name="Group 21"/>
          <p:cNvGrpSpPr>
            <a:grpSpLocks/>
          </p:cNvGrpSpPr>
          <p:nvPr/>
        </p:nvGrpSpPr>
        <p:grpSpPr bwMode="auto">
          <a:xfrm>
            <a:off x="1250811" y="5884912"/>
            <a:ext cx="4917439" cy="2571609"/>
            <a:chOff x="554" y="2526"/>
            <a:chExt cx="2178" cy="1139"/>
          </a:xfrm>
          <a:noFill/>
        </p:grpSpPr>
        <p:sp>
          <p:nvSpPr>
            <p:cNvPr id="76804" name="Rectangle 4"/>
            <p:cNvSpPr>
              <a:spLocks noChangeArrowheads="1"/>
            </p:cNvSpPr>
            <p:nvPr/>
          </p:nvSpPr>
          <p:spPr bwMode="auto">
            <a:xfrm>
              <a:off x="592" y="2800"/>
              <a:ext cx="2140" cy="856"/>
            </a:xfrm>
            <a:prstGeom prst="rect">
              <a:avLst/>
            </a:prstGeom>
            <a:grpFill/>
            <a:ln w="1270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76805" name="Line 5"/>
            <p:cNvSpPr>
              <a:spLocks noChangeShapeType="1"/>
            </p:cNvSpPr>
            <p:nvPr/>
          </p:nvSpPr>
          <p:spPr bwMode="auto">
            <a:xfrm>
              <a:off x="592" y="3088"/>
              <a:ext cx="2140" cy="0"/>
            </a:xfrm>
            <a:prstGeom prst="line">
              <a:avLst/>
            </a:prstGeom>
            <a:grpFill/>
            <a:ln w="1270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76806" name="Line 6"/>
            <p:cNvSpPr>
              <a:spLocks noChangeShapeType="1"/>
            </p:cNvSpPr>
            <p:nvPr/>
          </p:nvSpPr>
          <p:spPr bwMode="auto">
            <a:xfrm>
              <a:off x="952" y="2800"/>
              <a:ext cx="0" cy="856"/>
            </a:xfrm>
            <a:prstGeom prst="line">
              <a:avLst/>
            </a:prstGeom>
            <a:grpFill/>
            <a:ln w="1270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76807" name="Line 7"/>
            <p:cNvSpPr>
              <a:spLocks noChangeShapeType="1"/>
            </p:cNvSpPr>
            <p:nvPr/>
          </p:nvSpPr>
          <p:spPr bwMode="auto">
            <a:xfrm>
              <a:off x="1744" y="2800"/>
              <a:ext cx="0" cy="856"/>
            </a:xfrm>
            <a:prstGeom prst="line">
              <a:avLst/>
            </a:prstGeom>
            <a:grpFill/>
            <a:ln w="1270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76808" name="Rectangle 8"/>
            <p:cNvSpPr>
              <a:spLocks noChangeArrowheads="1"/>
            </p:cNvSpPr>
            <p:nvPr/>
          </p:nvSpPr>
          <p:spPr bwMode="auto">
            <a:xfrm>
              <a:off x="596" y="2820"/>
              <a:ext cx="372" cy="19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ENO</a:t>
              </a:r>
            </a:p>
          </p:txBody>
        </p:sp>
        <p:sp>
          <p:nvSpPr>
            <p:cNvPr id="76809" name="Rectangle 9"/>
            <p:cNvSpPr>
              <a:spLocks noChangeArrowheads="1"/>
            </p:cNvSpPr>
            <p:nvPr/>
          </p:nvSpPr>
          <p:spPr bwMode="auto">
            <a:xfrm>
              <a:off x="1104" y="2820"/>
              <a:ext cx="574" cy="19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ENAME</a:t>
              </a:r>
            </a:p>
          </p:txBody>
        </p:sp>
        <p:sp>
          <p:nvSpPr>
            <p:cNvPr id="76810" name="Rectangle 10"/>
            <p:cNvSpPr>
              <a:spLocks noChangeArrowheads="1"/>
            </p:cNvSpPr>
            <p:nvPr/>
          </p:nvSpPr>
          <p:spPr bwMode="auto">
            <a:xfrm>
              <a:off x="2020" y="2820"/>
              <a:ext cx="445" cy="19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TITLE</a:t>
              </a:r>
            </a:p>
          </p:txBody>
        </p:sp>
        <p:sp>
          <p:nvSpPr>
            <p:cNvPr id="76811" name="Rectangle 11"/>
            <p:cNvSpPr>
              <a:spLocks noChangeArrowheads="1"/>
            </p:cNvSpPr>
            <p:nvPr/>
          </p:nvSpPr>
          <p:spPr bwMode="auto">
            <a:xfrm>
              <a:off x="649" y="3108"/>
              <a:ext cx="226" cy="19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E3</a:t>
              </a:r>
            </a:p>
          </p:txBody>
        </p:sp>
        <p:sp>
          <p:nvSpPr>
            <p:cNvPr id="76812" name="Rectangle 12"/>
            <p:cNvSpPr>
              <a:spLocks noChangeArrowheads="1"/>
            </p:cNvSpPr>
            <p:nvPr/>
          </p:nvSpPr>
          <p:spPr bwMode="auto">
            <a:xfrm>
              <a:off x="1131" y="3108"/>
              <a:ext cx="453" cy="19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A. Lee</a:t>
              </a:r>
            </a:p>
          </p:txBody>
        </p:sp>
        <p:sp>
          <p:nvSpPr>
            <p:cNvPr id="76813" name="Rectangle 13"/>
            <p:cNvSpPr>
              <a:spLocks noChangeArrowheads="1"/>
            </p:cNvSpPr>
            <p:nvPr/>
          </p:nvSpPr>
          <p:spPr bwMode="auto">
            <a:xfrm>
              <a:off x="1924" y="3108"/>
              <a:ext cx="728" cy="19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Mech. Eng.</a:t>
              </a:r>
            </a:p>
          </p:txBody>
        </p:sp>
        <p:sp>
          <p:nvSpPr>
            <p:cNvPr id="76814" name="Rectangle 14"/>
            <p:cNvSpPr>
              <a:spLocks noChangeArrowheads="1"/>
            </p:cNvSpPr>
            <p:nvPr/>
          </p:nvSpPr>
          <p:spPr bwMode="auto">
            <a:xfrm>
              <a:off x="648" y="3288"/>
              <a:ext cx="229" cy="19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E4</a:t>
              </a:r>
            </a:p>
          </p:txBody>
        </p:sp>
        <p:sp>
          <p:nvSpPr>
            <p:cNvPr id="76815" name="Rectangle 15"/>
            <p:cNvSpPr>
              <a:spLocks noChangeArrowheads="1"/>
            </p:cNvSpPr>
            <p:nvPr/>
          </p:nvSpPr>
          <p:spPr bwMode="auto">
            <a:xfrm>
              <a:off x="1122" y="3288"/>
              <a:ext cx="542" cy="19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J. Miller</a:t>
              </a:r>
            </a:p>
          </p:txBody>
        </p:sp>
        <p:sp>
          <p:nvSpPr>
            <p:cNvPr id="76816" name="Rectangle 16"/>
            <p:cNvSpPr>
              <a:spLocks noChangeArrowheads="1"/>
            </p:cNvSpPr>
            <p:nvPr/>
          </p:nvSpPr>
          <p:spPr bwMode="auto">
            <a:xfrm>
              <a:off x="1913" y="3288"/>
              <a:ext cx="815" cy="19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Programmer</a:t>
              </a:r>
            </a:p>
          </p:txBody>
        </p:sp>
        <p:sp>
          <p:nvSpPr>
            <p:cNvPr id="76817" name="Rectangle 17"/>
            <p:cNvSpPr>
              <a:spLocks noChangeArrowheads="1"/>
            </p:cNvSpPr>
            <p:nvPr/>
          </p:nvSpPr>
          <p:spPr bwMode="auto">
            <a:xfrm>
              <a:off x="648" y="3468"/>
              <a:ext cx="229" cy="19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E7</a:t>
              </a:r>
            </a:p>
          </p:txBody>
        </p:sp>
        <p:sp>
          <p:nvSpPr>
            <p:cNvPr id="76818" name="Rectangle 18"/>
            <p:cNvSpPr>
              <a:spLocks noChangeArrowheads="1"/>
            </p:cNvSpPr>
            <p:nvPr/>
          </p:nvSpPr>
          <p:spPr bwMode="auto">
            <a:xfrm>
              <a:off x="1130" y="3468"/>
              <a:ext cx="567" cy="19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R. Davis</a:t>
              </a:r>
            </a:p>
          </p:txBody>
        </p:sp>
        <p:sp>
          <p:nvSpPr>
            <p:cNvPr id="76819" name="Rectangle 19"/>
            <p:cNvSpPr>
              <a:spLocks noChangeArrowheads="1"/>
            </p:cNvSpPr>
            <p:nvPr/>
          </p:nvSpPr>
          <p:spPr bwMode="auto">
            <a:xfrm>
              <a:off x="1924" y="3468"/>
              <a:ext cx="728" cy="19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Mech. Eng.</a:t>
              </a:r>
            </a:p>
          </p:txBody>
        </p:sp>
        <p:sp>
          <p:nvSpPr>
            <p:cNvPr id="76820" name="Rectangle 20"/>
            <p:cNvSpPr>
              <a:spLocks noChangeArrowheads="1"/>
            </p:cNvSpPr>
            <p:nvPr/>
          </p:nvSpPr>
          <p:spPr bwMode="auto">
            <a:xfrm>
              <a:off x="554" y="2526"/>
              <a:ext cx="449" cy="21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EMP</a:t>
              </a:r>
              <a:r>
                <a:rPr lang="en-US" sz="2600" baseline="-25000" dirty="0">
                  <a:solidFill>
                    <a:srgbClr val="000000"/>
                  </a:solidFill>
                  <a:latin typeface="Book Antiqua"/>
                </a:rPr>
                <a:t>1</a:t>
              </a:r>
            </a:p>
          </p:txBody>
        </p:sp>
      </p:grpSp>
      <p:sp>
        <p:nvSpPr>
          <p:cNvPr id="76822" name="Rectangle 22"/>
          <p:cNvSpPr>
            <a:spLocks noChangeArrowheads="1"/>
          </p:cNvSpPr>
          <p:nvPr/>
        </p:nvSpPr>
        <p:spPr bwMode="auto">
          <a:xfrm>
            <a:off x="7324235" y="6503542"/>
            <a:ext cx="4533617" cy="2707945"/>
          </a:xfrm>
          <a:prstGeom prst="rect">
            <a:avLst/>
          </a:prstGeom>
          <a:noFill/>
          <a:ln w="12700">
            <a:solidFill>
              <a:srgbClr val="000000"/>
            </a:solidFill>
            <a:miter lim="800000"/>
            <a:headEnd/>
            <a:tailEnd/>
          </a:ln>
          <a:effectLst/>
          <a:extLst/>
        </p:spPr>
        <p:txBody>
          <a:bodyPr wrap="none" anchor="ctr"/>
          <a:lstStyle/>
          <a:p>
            <a:endParaRPr lang="en-US" dirty="0">
              <a:latin typeface="Book Antiqua"/>
            </a:endParaRPr>
          </a:p>
        </p:txBody>
      </p:sp>
      <p:sp>
        <p:nvSpPr>
          <p:cNvPr id="76823" name="Line 23"/>
          <p:cNvSpPr>
            <a:spLocks noChangeShapeType="1"/>
          </p:cNvSpPr>
          <p:nvPr/>
        </p:nvSpPr>
        <p:spPr bwMode="auto">
          <a:xfrm>
            <a:off x="8137034" y="6532984"/>
            <a:ext cx="0" cy="270794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76824" name="Line 24"/>
          <p:cNvSpPr>
            <a:spLocks noChangeShapeType="1"/>
          </p:cNvSpPr>
          <p:nvPr/>
        </p:nvSpPr>
        <p:spPr bwMode="auto">
          <a:xfrm>
            <a:off x="9925194" y="6532984"/>
            <a:ext cx="0" cy="270794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76825" name="Line 25"/>
          <p:cNvSpPr>
            <a:spLocks noChangeShapeType="1"/>
          </p:cNvSpPr>
          <p:nvPr/>
        </p:nvSpPr>
        <p:spPr bwMode="auto">
          <a:xfrm>
            <a:off x="7324235" y="7153783"/>
            <a:ext cx="4533617"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76826" name="Rectangle 26"/>
          <p:cNvSpPr>
            <a:spLocks noChangeArrowheads="1"/>
          </p:cNvSpPr>
          <p:nvPr/>
        </p:nvSpPr>
        <p:spPr bwMode="auto">
          <a:xfrm>
            <a:off x="7333266" y="6548699"/>
            <a:ext cx="839893" cy="444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ENO</a:t>
            </a:r>
          </a:p>
        </p:txBody>
      </p:sp>
      <p:sp>
        <p:nvSpPr>
          <p:cNvPr id="76827" name="Rectangle 27"/>
          <p:cNvSpPr>
            <a:spLocks noChangeArrowheads="1"/>
          </p:cNvSpPr>
          <p:nvPr/>
        </p:nvSpPr>
        <p:spPr bwMode="auto">
          <a:xfrm>
            <a:off x="8480217" y="6548699"/>
            <a:ext cx="1295964" cy="444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ENAME</a:t>
            </a:r>
          </a:p>
        </p:txBody>
      </p:sp>
      <p:sp>
        <p:nvSpPr>
          <p:cNvPr id="76828" name="Rectangle 28"/>
          <p:cNvSpPr>
            <a:spLocks noChangeArrowheads="1"/>
          </p:cNvSpPr>
          <p:nvPr/>
        </p:nvSpPr>
        <p:spPr bwMode="auto">
          <a:xfrm>
            <a:off x="10548341" y="6548699"/>
            <a:ext cx="1004711" cy="444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TITLE</a:t>
            </a:r>
          </a:p>
        </p:txBody>
      </p:sp>
      <p:sp>
        <p:nvSpPr>
          <p:cNvPr id="76829" name="Rectangle 29"/>
          <p:cNvSpPr>
            <a:spLocks noChangeArrowheads="1"/>
          </p:cNvSpPr>
          <p:nvPr/>
        </p:nvSpPr>
        <p:spPr bwMode="auto">
          <a:xfrm>
            <a:off x="7452928" y="7123256"/>
            <a:ext cx="510258" cy="444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E1</a:t>
            </a:r>
          </a:p>
        </p:txBody>
      </p:sp>
      <p:sp>
        <p:nvSpPr>
          <p:cNvPr id="76830" name="Rectangle 30"/>
          <p:cNvSpPr>
            <a:spLocks noChangeArrowheads="1"/>
          </p:cNvSpPr>
          <p:nvPr/>
        </p:nvSpPr>
        <p:spPr bwMode="auto">
          <a:xfrm>
            <a:off x="8572786" y="7123256"/>
            <a:ext cx="959555" cy="444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J. Doe</a:t>
            </a:r>
          </a:p>
        </p:txBody>
      </p:sp>
      <p:sp>
        <p:nvSpPr>
          <p:cNvPr id="76831" name="Rectangle 31"/>
          <p:cNvSpPr>
            <a:spLocks noChangeArrowheads="1"/>
          </p:cNvSpPr>
          <p:nvPr/>
        </p:nvSpPr>
        <p:spPr bwMode="auto">
          <a:xfrm>
            <a:off x="10342883" y="7123256"/>
            <a:ext cx="1553351" cy="444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Elect. Eng.</a:t>
            </a:r>
          </a:p>
        </p:txBody>
      </p:sp>
      <p:grpSp>
        <p:nvGrpSpPr>
          <p:cNvPr id="76835" name="Group 35"/>
          <p:cNvGrpSpPr>
            <a:grpSpLocks/>
          </p:cNvGrpSpPr>
          <p:nvPr/>
        </p:nvGrpSpPr>
        <p:grpSpPr bwMode="auto">
          <a:xfrm>
            <a:off x="7452928" y="7555304"/>
            <a:ext cx="4443306" cy="444782"/>
            <a:chOff x="3301" y="3276"/>
            <a:chExt cx="1968" cy="197"/>
          </a:xfrm>
        </p:grpSpPr>
        <p:sp>
          <p:nvSpPr>
            <p:cNvPr id="76832" name="Rectangle 32"/>
            <p:cNvSpPr>
              <a:spLocks noChangeArrowheads="1"/>
            </p:cNvSpPr>
            <p:nvPr/>
          </p:nvSpPr>
          <p:spPr bwMode="auto">
            <a:xfrm>
              <a:off x="3301" y="3276"/>
              <a:ext cx="226"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E2</a:t>
              </a:r>
            </a:p>
          </p:txBody>
        </p:sp>
        <p:sp>
          <p:nvSpPr>
            <p:cNvPr id="76833" name="Rectangle 33"/>
            <p:cNvSpPr>
              <a:spLocks noChangeArrowheads="1"/>
            </p:cNvSpPr>
            <p:nvPr/>
          </p:nvSpPr>
          <p:spPr bwMode="auto">
            <a:xfrm>
              <a:off x="3772" y="3276"/>
              <a:ext cx="610"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M. Smith</a:t>
              </a:r>
            </a:p>
          </p:txBody>
        </p:sp>
        <p:sp>
          <p:nvSpPr>
            <p:cNvPr id="76834" name="Rectangle 34"/>
            <p:cNvSpPr>
              <a:spLocks noChangeArrowheads="1"/>
            </p:cNvSpPr>
            <p:nvPr/>
          </p:nvSpPr>
          <p:spPr bwMode="auto">
            <a:xfrm>
              <a:off x="4575" y="3276"/>
              <a:ext cx="694"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Syst. Anal.</a:t>
              </a:r>
            </a:p>
          </p:txBody>
        </p:sp>
      </p:grpSp>
      <p:grpSp>
        <p:nvGrpSpPr>
          <p:cNvPr id="76839" name="Group 39"/>
          <p:cNvGrpSpPr>
            <a:grpSpLocks/>
          </p:cNvGrpSpPr>
          <p:nvPr/>
        </p:nvGrpSpPr>
        <p:grpSpPr bwMode="auto">
          <a:xfrm>
            <a:off x="7452928" y="7957552"/>
            <a:ext cx="4443306" cy="444782"/>
            <a:chOff x="3301" y="3444"/>
            <a:chExt cx="1968" cy="197"/>
          </a:xfrm>
        </p:grpSpPr>
        <p:sp>
          <p:nvSpPr>
            <p:cNvPr id="76836" name="Rectangle 36"/>
            <p:cNvSpPr>
              <a:spLocks noChangeArrowheads="1"/>
            </p:cNvSpPr>
            <p:nvPr/>
          </p:nvSpPr>
          <p:spPr bwMode="auto">
            <a:xfrm>
              <a:off x="3301" y="3444"/>
              <a:ext cx="226"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E5</a:t>
              </a:r>
            </a:p>
          </p:txBody>
        </p:sp>
        <p:sp>
          <p:nvSpPr>
            <p:cNvPr id="76837" name="Rectangle 37"/>
            <p:cNvSpPr>
              <a:spLocks noChangeArrowheads="1"/>
            </p:cNvSpPr>
            <p:nvPr/>
          </p:nvSpPr>
          <p:spPr bwMode="auto">
            <a:xfrm>
              <a:off x="3796" y="3444"/>
              <a:ext cx="575"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B. Casey</a:t>
              </a:r>
            </a:p>
          </p:txBody>
        </p:sp>
        <p:sp>
          <p:nvSpPr>
            <p:cNvPr id="76838" name="Rectangle 38"/>
            <p:cNvSpPr>
              <a:spLocks noChangeArrowheads="1"/>
            </p:cNvSpPr>
            <p:nvPr/>
          </p:nvSpPr>
          <p:spPr bwMode="auto">
            <a:xfrm>
              <a:off x="4575" y="3444"/>
              <a:ext cx="694"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Syst. Anal.</a:t>
              </a:r>
            </a:p>
          </p:txBody>
        </p:sp>
      </p:grpSp>
      <p:sp>
        <p:nvSpPr>
          <p:cNvPr id="76840" name="Rectangle 40"/>
          <p:cNvSpPr>
            <a:spLocks noChangeArrowheads="1"/>
          </p:cNvSpPr>
          <p:nvPr/>
        </p:nvSpPr>
        <p:spPr bwMode="auto">
          <a:xfrm>
            <a:off x="7238439" y="5884912"/>
            <a:ext cx="1013742" cy="48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EMP</a:t>
            </a:r>
            <a:r>
              <a:rPr lang="en-US" sz="2600" baseline="-25000" dirty="0">
                <a:solidFill>
                  <a:srgbClr val="000000"/>
                </a:solidFill>
                <a:latin typeface="Book Antiqua"/>
              </a:rPr>
              <a:t>2</a:t>
            </a:r>
          </a:p>
        </p:txBody>
      </p:sp>
      <p:grpSp>
        <p:nvGrpSpPr>
          <p:cNvPr id="76844" name="Group 44"/>
          <p:cNvGrpSpPr>
            <a:grpSpLocks/>
          </p:cNvGrpSpPr>
          <p:nvPr/>
        </p:nvGrpSpPr>
        <p:grpSpPr bwMode="auto">
          <a:xfrm>
            <a:off x="7452928" y="8336859"/>
            <a:ext cx="4443306" cy="444782"/>
            <a:chOff x="3301" y="3612"/>
            <a:chExt cx="1968" cy="197"/>
          </a:xfrm>
        </p:grpSpPr>
        <p:sp>
          <p:nvSpPr>
            <p:cNvPr id="76841" name="Rectangle 41"/>
            <p:cNvSpPr>
              <a:spLocks noChangeArrowheads="1"/>
            </p:cNvSpPr>
            <p:nvPr/>
          </p:nvSpPr>
          <p:spPr bwMode="auto">
            <a:xfrm>
              <a:off x="3301" y="3612"/>
              <a:ext cx="226"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E6</a:t>
              </a:r>
            </a:p>
          </p:txBody>
        </p:sp>
        <p:sp>
          <p:nvSpPr>
            <p:cNvPr id="76842" name="Rectangle 42"/>
            <p:cNvSpPr>
              <a:spLocks noChangeArrowheads="1"/>
            </p:cNvSpPr>
            <p:nvPr/>
          </p:nvSpPr>
          <p:spPr bwMode="auto">
            <a:xfrm>
              <a:off x="3776" y="3612"/>
              <a:ext cx="473"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L. Chu</a:t>
              </a:r>
            </a:p>
          </p:txBody>
        </p:sp>
        <p:sp>
          <p:nvSpPr>
            <p:cNvPr id="76843" name="Rectangle 43"/>
            <p:cNvSpPr>
              <a:spLocks noChangeArrowheads="1"/>
            </p:cNvSpPr>
            <p:nvPr/>
          </p:nvSpPr>
          <p:spPr bwMode="auto">
            <a:xfrm>
              <a:off x="4581" y="3612"/>
              <a:ext cx="688"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Elect. Eng.</a:t>
              </a:r>
            </a:p>
          </p:txBody>
        </p:sp>
      </p:grpSp>
      <p:grpSp>
        <p:nvGrpSpPr>
          <p:cNvPr id="76848" name="Group 48"/>
          <p:cNvGrpSpPr>
            <a:grpSpLocks/>
          </p:cNvGrpSpPr>
          <p:nvPr/>
        </p:nvGrpSpPr>
        <p:grpSpPr bwMode="auto">
          <a:xfrm>
            <a:off x="7452928" y="8765232"/>
            <a:ext cx="4443306" cy="444782"/>
            <a:chOff x="3301" y="3780"/>
            <a:chExt cx="1968" cy="197"/>
          </a:xfrm>
        </p:grpSpPr>
        <p:sp>
          <p:nvSpPr>
            <p:cNvPr id="76845" name="Rectangle 45"/>
            <p:cNvSpPr>
              <a:spLocks noChangeArrowheads="1"/>
            </p:cNvSpPr>
            <p:nvPr/>
          </p:nvSpPr>
          <p:spPr bwMode="auto">
            <a:xfrm>
              <a:off x="3301" y="3780"/>
              <a:ext cx="226"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E8</a:t>
              </a:r>
            </a:p>
          </p:txBody>
        </p:sp>
        <p:sp>
          <p:nvSpPr>
            <p:cNvPr id="76846" name="Rectangle 46"/>
            <p:cNvSpPr>
              <a:spLocks noChangeArrowheads="1"/>
            </p:cNvSpPr>
            <p:nvPr/>
          </p:nvSpPr>
          <p:spPr bwMode="auto">
            <a:xfrm>
              <a:off x="3813" y="3780"/>
              <a:ext cx="499"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J. Jones</a:t>
              </a:r>
            </a:p>
          </p:txBody>
        </p:sp>
        <p:sp>
          <p:nvSpPr>
            <p:cNvPr id="76847" name="Rectangle 47"/>
            <p:cNvSpPr>
              <a:spLocks noChangeArrowheads="1"/>
            </p:cNvSpPr>
            <p:nvPr/>
          </p:nvSpPr>
          <p:spPr bwMode="auto">
            <a:xfrm>
              <a:off x="4575" y="3780"/>
              <a:ext cx="694"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300" dirty="0">
                  <a:solidFill>
                    <a:srgbClr val="000000"/>
                  </a:solidFill>
                  <a:latin typeface="Book Antiqua"/>
                </a:rPr>
                <a:t>Syst. Anal.</a:t>
              </a:r>
            </a:p>
          </p:txBody>
        </p:sp>
      </p:gr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noChangeArrowheads="1"/>
          </p:cNvSpPr>
          <p:nvPr>
            <p:ph type="title"/>
          </p:nvPr>
        </p:nvSpPr>
        <p:spPr>
          <a:noFill/>
          <a:ln/>
        </p:spPr>
        <p:txBody>
          <a:bodyPr/>
          <a:lstStyle/>
          <a:p>
            <a:r>
              <a:rPr lang="en-US"/>
              <a:t>DHF – Correctness</a:t>
            </a:r>
          </a:p>
        </p:txBody>
      </p:sp>
      <p:sp>
        <p:nvSpPr>
          <p:cNvPr id="78850" name="Rectangle 2"/>
          <p:cNvSpPr>
            <a:spLocks noGrp="1" noChangeArrowheads="1"/>
          </p:cNvSpPr>
          <p:nvPr>
            <p:ph idx="1"/>
          </p:nvPr>
        </p:nvSpPr>
        <p:spPr>
          <a:noFill/>
          <a:ln/>
        </p:spPr>
        <p:txBody>
          <a:bodyPr/>
          <a:lstStyle/>
          <a:p>
            <a:r>
              <a:rPr lang="en-US" dirty="0">
                <a:solidFill>
                  <a:schemeClr val="tx2"/>
                </a:solidFill>
              </a:rPr>
              <a:t>Completeness</a:t>
            </a:r>
            <a:endParaRPr lang="en-US" dirty="0"/>
          </a:p>
          <a:p>
            <a:pPr lvl="1"/>
            <a:r>
              <a:rPr lang="en-US" dirty="0"/>
              <a:t>Referential integrity</a:t>
            </a:r>
          </a:p>
          <a:p>
            <a:pPr lvl="1"/>
            <a:r>
              <a:rPr lang="en-US" dirty="0"/>
              <a:t>Let </a:t>
            </a:r>
            <a:r>
              <a:rPr lang="en-US" i="1" dirty="0"/>
              <a:t>R</a:t>
            </a:r>
            <a:r>
              <a:rPr lang="en-US" dirty="0"/>
              <a:t> be the member relation of a link whose owner is relation </a:t>
            </a:r>
            <a:r>
              <a:rPr lang="en-US" i="1" dirty="0"/>
              <a:t>S</a:t>
            </a:r>
            <a:r>
              <a:rPr lang="en-US" dirty="0"/>
              <a:t> which is fragmented as </a:t>
            </a:r>
            <a:r>
              <a:rPr lang="en-US" i="1" dirty="0"/>
              <a:t>F</a:t>
            </a:r>
            <a:r>
              <a:rPr lang="en-US" i="1" baseline="-25000" dirty="0"/>
              <a:t>S</a:t>
            </a:r>
            <a:r>
              <a:rPr lang="en-US" i="1" dirty="0"/>
              <a:t> </a:t>
            </a:r>
            <a:r>
              <a:rPr lang="en-US" dirty="0"/>
              <a:t>= {</a:t>
            </a:r>
            <a:r>
              <a:rPr lang="en-US" i="1" dirty="0"/>
              <a:t>S</a:t>
            </a:r>
            <a:r>
              <a:rPr lang="en-US" baseline="-25000" dirty="0"/>
              <a:t>1</a:t>
            </a:r>
            <a:r>
              <a:rPr lang="en-US" dirty="0"/>
              <a:t>, </a:t>
            </a:r>
            <a:r>
              <a:rPr lang="en-US" i="1" dirty="0"/>
              <a:t>S</a:t>
            </a:r>
            <a:r>
              <a:rPr lang="en-US" baseline="-25000" dirty="0"/>
              <a:t>2</a:t>
            </a:r>
            <a:r>
              <a:rPr lang="en-US" dirty="0"/>
              <a:t>, ..., </a:t>
            </a:r>
            <a:r>
              <a:rPr lang="en-US" i="1" dirty="0" err="1"/>
              <a:t>S</a:t>
            </a:r>
            <a:r>
              <a:rPr lang="en-US" i="1" baseline="-25000" dirty="0" err="1"/>
              <a:t>n</a:t>
            </a:r>
            <a:r>
              <a:rPr lang="en-US" dirty="0"/>
              <a:t>}. Furthermore, let </a:t>
            </a:r>
            <a:r>
              <a:rPr lang="en-US" i="1" dirty="0"/>
              <a:t>A</a:t>
            </a:r>
            <a:r>
              <a:rPr lang="en-US" dirty="0"/>
              <a:t> be the join attribute between </a:t>
            </a:r>
            <a:r>
              <a:rPr lang="en-US" i="1" dirty="0"/>
              <a:t>R</a:t>
            </a:r>
            <a:r>
              <a:rPr lang="en-US" dirty="0"/>
              <a:t> and </a:t>
            </a:r>
            <a:r>
              <a:rPr lang="en-US" i="1" dirty="0"/>
              <a:t>S</a:t>
            </a:r>
            <a:r>
              <a:rPr lang="en-US" dirty="0"/>
              <a:t>. Then, for each </a:t>
            </a:r>
            <a:r>
              <a:rPr lang="en-US" dirty="0" err="1"/>
              <a:t>tuple</a:t>
            </a:r>
            <a:r>
              <a:rPr lang="en-US" dirty="0"/>
              <a:t> </a:t>
            </a:r>
            <a:r>
              <a:rPr lang="en-US" i="1" dirty="0"/>
              <a:t>t</a:t>
            </a:r>
            <a:r>
              <a:rPr lang="en-US" dirty="0"/>
              <a:t> of </a:t>
            </a:r>
            <a:r>
              <a:rPr lang="en-US" i="1" dirty="0"/>
              <a:t>R,</a:t>
            </a:r>
            <a:r>
              <a:rPr lang="en-US" dirty="0"/>
              <a:t> there should be a </a:t>
            </a:r>
            <a:r>
              <a:rPr lang="en-US" dirty="0" err="1"/>
              <a:t>tuple</a:t>
            </a:r>
            <a:r>
              <a:rPr lang="en-US" dirty="0"/>
              <a:t> </a:t>
            </a:r>
            <a:r>
              <a:rPr lang="en-US" i="1" dirty="0"/>
              <a:t>t' </a:t>
            </a:r>
            <a:r>
              <a:rPr lang="en-US" dirty="0"/>
              <a:t>of </a:t>
            </a:r>
            <a:r>
              <a:rPr lang="en-US" i="1" dirty="0"/>
              <a:t>S</a:t>
            </a:r>
            <a:r>
              <a:rPr lang="en-US" dirty="0"/>
              <a:t> such that</a:t>
            </a:r>
          </a:p>
          <a:p>
            <a:pPr lvl="3">
              <a:buFont typeface="Monotype Sorts" charset="0"/>
              <a:buNone/>
            </a:pPr>
            <a:r>
              <a:rPr lang="en-US" sz="2800" i="1" dirty="0"/>
              <a:t>t</a:t>
            </a:r>
            <a:r>
              <a:rPr lang="en-US" sz="2800" dirty="0"/>
              <a:t>[</a:t>
            </a:r>
            <a:r>
              <a:rPr lang="en-US" sz="2800" i="1" dirty="0"/>
              <a:t>A</a:t>
            </a:r>
            <a:r>
              <a:rPr lang="en-US" sz="2800" dirty="0" smtClean="0"/>
              <a:t>] = </a:t>
            </a:r>
            <a:r>
              <a:rPr lang="en-US" sz="2800" i="1" dirty="0" smtClean="0"/>
              <a:t>t' </a:t>
            </a:r>
            <a:r>
              <a:rPr lang="en-US" sz="2800" dirty="0" smtClean="0"/>
              <a:t>[</a:t>
            </a:r>
            <a:r>
              <a:rPr lang="en-US" sz="2800" i="1" dirty="0"/>
              <a:t>A</a:t>
            </a:r>
            <a:r>
              <a:rPr lang="en-US" sz="2800" dirty="0"/>
              <a:t>]</a:t>
            </a:r>
          </a:p>
          <a:p>
            <a:r>
              <a:rPr lang="en-US" dirty="0">
                <a:solidFill>
                  <a:schemeClr val="tx2"/>
                </a:solidFill>
              </a:rPr>
              <a:t>Reconstruction</a:t>
            </a:r>
            <a:endParaRPr lang="en-US" dirty="0"/>
          </a:p>
          <a:p>
            <a:pPr lvl="1"/>
            <a:r>
              <a:rPr lang="en-US" dirty="0"/>
              <a:t>Same as primary horizontal fragmentation.</a:t>
            </a:r>
          </a:p>
          <a:p>
            <a:r>
              <a:rPr lang="en-US" dirty="0">
                <a:solidFill>
                  <a:schemeClr val="tx2"/>
                </a:solidFill>
              </a:rPr>
              <a:t>Disjointness</a:t>
            </a:r>
            <a:endParaRPr lang="en-US" dirty="0"/>
          </a:p>
          <a:p>
            <a:pPr lvl="1"/>
            <a:r>
              <a:rPr lang="en-US" dirty="0"/>
              <a:t>Simple join graphs between the owner and the member fragments.</a:t>
            </a: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body" idx="1"/>
          </p:nvPr>
        </p:nvSpPr>
        <p:spPr>
          <a:noFill/>
          <a:ln/>
        </p:spPr>
        <p:txBody>
          <a:bodyPr/>
          <a:lstStyle/>
          <a:p>
            <a:r>
              <a:rPr lang="en-US" dirty="0"/>
              <a:t>Has been studied within the centralized context</a:t>
            </a:r>
          </a:p>
          <a:p>
            <a:pPr lvl="1"/>
            <a:r>
              <a:rPr lang="en-US" dirty="0"/>
              <a:t>design methodology</a:t>
            </a:r>
          </a:p>
          <a:p>
            <a:pPr lvl="1"/>
            <a:r>
              <a:rPr lang="en-US" dirty="0"/>
              <a:t>physical clustering</a:t>
            </a:r>
          </a:p>
          <a:p>
            <a:r>
              <a:rPr lang="en-US" dirty="0"/>
              <a:t>More difficult than horizontal, because more alternatives exist.</a:t>
            </a:r>
          </a:p>
          <a:p>
            <a:pPr>
              <a:buFont typeface="Monotype Sorts" charset="0"/>
              <a:buNone/>
            </a:pPr>
            <a:r>
              <a:rPr lang="en-US" dirty="0"/>
              <a:t>	Two approaches :</a:t>
            </a:r>
          </a:p>
          <a:p>
            <a:pPr lvl="1"/>
            <a:r>
              <a:rPr lang="en-US" dirty="0"/>
              <a:t>grouping</a:t>
            </a:r>
          </a:p>
          <a:p>
            <a:pPr lvl="2"/>
            <a:r>
              <a:rPr lang="en-US" dirty="0"/>
              <a:t>attributes to fragments</a:t>
            </a:r>
          </a:p>
          <a:p>
            <a:pPr lvl="1"/>
            <a:r>
              <a:rPr lang="en-US" dirty="0"/>
              <a:t>splitting</a:t>
            </a:r>
          </a:p>
          <a:p>
            <a:pPr lvl="2"/>
            <a:r>
              <a:rPr lang="en-US" dirty="0"/>
              <a:t>relation to fragments</a:t>
            </a:r>
          </a:p>
        </p:txBody>
      </p:sp>
      <p:sp>
        <p:nvSpPr>
          <p:cNvPr id="79875" name="Rectangle 3"/>
          <p:cNvSpPr>
            <a:spLocks noGrp="1" noChangeArrowheads="1"/>
          </p:cNvSpPr>
          <p:nvPr>
            <p:ph type="title"/>
          </p:nvPr>
        </p:nvSpPr>
        <p:spPr>
          <a:noFill/>
          <a:ln/>
        </p:spPr>
        <p:txBody>
          <a:bodyPr/>
          <a:lstStyle/>
          <a:p>
            <a:r>
              <a:rPr lang="en-US"/>
              <a:t>Vertical Fragmentation</a:t>
            </a:r>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body" idx="1"/>
          </p:nvPr>
        </p:nvSpPr>
        <p:spPr>
          <a:noFill/>
          <a:ln/>
        </p:spPr>
        <p:txBody>
          <a:bodyPr/>
          <a:lstStyle/>
          <a:p>
            <a:pPr>
              <a:lnSpc>
                <a:spcPct val="100000"/>
              </a:lnSpc>
              <a:spcBef>
                <a:spcPct val="50000"/>
              </a:spcBef>
            </a:pPr>
            <a:r>
              <a:rPr lang="en-US" dirty="0"/>
              <a:t>Overlapping fragments</a:t>
            </a:r>
          </a:p>
          <a:p>
            <a:pPr lvl="1">
              <a:lnSpc>
                <a:spcPct val="100000"/>
              </a:lnSpc>
              <a:spcBef>
                <a:spcPct val="50000"/>
              </a:spcBef>
            </a:pPr>
            <a:r>
              <a:rPr lang="en-US" dirty="0"/>
              <a:t>grouping</a:t>
            </a:r>
          </a:p>
          <a:p>
            <a:pPr>
              <a:lnSpc>
                <a:spcPct val="100000"/>
              </a:lnSpc>
              <a:spcBef>
                <a:spcPct val="50000"/>
              </a:spcBef>
            </a:pPr>
            <a:r>
              <a:rPr lang="en-US" dirty="0"/>
              <a:t>Non-overlapping fragments</a:t>
            </a:r>
          </a:p>
          <a:p>
            <a:pPr lvl="1">
              <a:lnSpc>
                <a:spcPct val="100000"/>
              </a:lnSpc>
              <a:spcBef>
                <a:spcPct val="50000"/>
              </a:spcBef>
            </a:pPr>
            <a:r>
              <a:rPr lang="en-US" dirty="0"/>
              <a:t>splitting</a:t>
            </a:r>
          </a:p>
          <a:p>
            <a:pPr>
              <a:lnSpc>
                <a:spcPct val="100000"/>
              </a:lnSpc>
              <a:spcBef>
                <a:spcPct val="50000"/>
              </a:spcBef>
              <a:buFont typeface="Monotype Sorts" charset="0"/>
              <a:buNone/>
            </a:pPr>
            <a:r>
              <a:rPr lang="en-US" dirty="0"/>
              <a:t>We do not consider the replicated key attributes to be overlapping.</a:t>
            </a:r>
          </a:p>
          <a:p>
            <a:pPr>
              <a:lnSpc>
                <a:spcPct val="100000"/>
              </a:lnSpc>
              <a:spcBef>
                <a:spcPct val="50000"/>
              </a:spcBef>
              <a:buFont typeface="Monotype Sorts" charset="0"/>
              <a:buNone/>
            </a:pPr>
            <a:r>
              <a:rPr lang="en-US" dirty="0"/>
              <a:t>	Advantage:</a:t>
            </a:r>
          </a:p>
          <a:p>
            <a:pPr lvl="1">
              <a:lnSpc>
                <a:spcPct val="100000"/>
              </a:lnSpc>
              <a:spcBef>
                <a:spcPct val="50000"/>
              </a:spcBef>
              <a:buFont typeface="Monotype Sorts" charset="0"/>
              <a:buNone/>
            </a:pPr>
            <a:r>
              <a:rPr lang="en-US" dirty="0"/>
              <a:t>	Easier to enforce functional dependencies </a:t>
            </a:r>
          </a:p>
          <a:p>
            <a:pPr lvl="1">
              <a:lnSpc>
                <a:spcPct val="100000"/>
              </a:lnSpc>
              <a:spcBef>
                <a:spcPct val="50000"/>
              </a:spcBef>
              <a:buFont typeface="Monotype Sorts" charset="0"/>
              <a:buNone/>
            </a:pPr>
            <a:r>
              <a:rPr lang="en-US" dirty="0"/>
              <a:t>	(for integrity checking etc.)</a:t>
            </a:r>
          </a:p>
        </p:txBody>
      </p:sp>
      <p:sp>
        <p:nvSpPr>
          <p:cNvPr id="80899" name="Rectangle 3"/>
          <p:cNvSpPr>
            <a:spLocks noGrp="1" noChangeArrowheads="1"/>
          </p:cNvSpPr>
          <p:nvPr>
            <p:ph type="title"/>
          </p:nvPr>
        </p:nvSpPr>
        <p:spPr>
          <a:noFill/>
          <a:ln/>
        </p:spPr>
        <p:txBody>
          <a:bodyPr/>
          <a:lstStyle/>
          <a:p>
            <a:r>
              <a:rPr lang="en-US"/>
              <a:t>Vertical Fragmentation</a:t>
            </a:r>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p:cNvSpPr>
            <a:spLocks noGrp="1" noChangeArrowheads="1"/>
          </p:cNvSpPr>
          <p:nvPr>
            <p:ph type="title"/>
          </p:nvPr>
        </p:nvSpPr>
        <p:spPr>
          <a:noFill/>
          <a:ln/>
        </p:spPr>
        <p:txBody>
          <a:bodyPr/>
          <a:lstStyle/>
          <a:p>
            <a:r>
              <a:rPr lang="en-US"/>
              <a:t>VF – Information Requirements</a:t>
            </a:r>
          </a:p>
        </p:txBody>
      </p:sp>
      <p:sp>
        <p:nvSpPr>
          <p:cNvPr id="81922" name="Rectangle 2"/>
          <p:cNvSpPr>
            <a:spLocks noGrp="1" noChangeArrowheads="1"/>
          </p:cNvSpPr>
          <p:nvPr>
            <p:ph idx="1"/>
          </p:nvPr>
        </p:nvSpPr>
        <p:spPr>
          <a:xfrm>
            <a:off x="342900" y="2489200"/>
            <a:ext cx="11632108" cy="6769100"/>
          </a:xfrm>
          <a:noFill/>
          <a:ln/>
        </p:spPr>
        <p:txBody>
          <a:bodyPr/>
          <a:lstStyle/>
          <a:p>
            <a:r>
              <a:rPr lang="en-US" dirty="0"/>
              <a:t>Application Information</a:t>
            </a:r>
          </a:p>
          <a:p>
            <a:pPr marL="1056623" lvl="1"/>
            <a:r>
              <a:rPr lang="en-US" dirty="0">
                <a:solidFill>
                  <a:schemeClr val="tx2"/>
                </a:solidFill>
              </a:rPr>
              <a:t>Attribute affinities</a:t>
            </a:r>
            <a:endParaRPr lang="en-US" dirty="0"/>
          </a:p>
          <a:p>
            <a:pPr marL="1544296" lvl="2"/>
            <a:r>
              <a:rPr lang="en-US" dirty="0"/>
              <a:t>a measure that indicates how closely related the attributes are</a:t>
            </a:r>
          </a:p>
          <a:p>
            <a:pPr marL="1544296" lvl="2"/>
            <a:r>
              <a:rPr lang="en-US" dirty="0"/>
              <a:t>This is obtained from more primitive usage data</a:t>
            </a:r>
          </a:p>
          <a:p>
            <a:pPr marL="1056623" lvl="1"/>
            <a:r>
              <a:rPr lang="en-US" dirty="0">
                <a:solidFill>
                  <a:schemeClr val="tx2"/>
                </a:solidFill>
              </a:rPr>
              <a:t>Attribute usage values</a:t>
            </a:r>
            <a:endParaRPr lang="en-US" dirty="0"/>
          </a:p>
          <a:p>
            <a:pPr marL="1544296" lvl="2"/>
            <a:r>
              <a:rPr lang="en-US" dirty="0"/>
              <a:t>Given a set of queries </a:t>
            </a:r>
            <a:r>
              <a:rPr lang="en-US" i="1" dirty="0"/>
              <a:t>Q</a:t>
            </a:r>
            <a:r>
              <a:rPr lang="en-US" dirty="0"/>
              <a:t> = {</a:t>
            </a:r>
            <a:r>
              <a:rPr lang="en-US" i="1" dirty="0"/>
              <a:t>q</a:t>
            </a:r>
            <a:r>
              <a:rPr lang="en-US" baseline="-25000" dirty="0"/>
              <a:t>1</a:t>
            </a:r>
            <a:r>
              <a:rPr lang="en-US" dirty="0"/>
              <a:t>, </a:t>
            </a:r>
            <a:r>
              <a:rPr lang="en-US" i="1" dirty="0"/>
              <a:t>q</a:t>
            </a:r>
            <a:r>
              <a:rPr lang="en-US" baseline="-25000" dirty="0"/>
              <a:t>2</a:t>
            </a:r>
            <a:r>
              <a:rPr lang="en-US" dirty="0"/>
              <a:t>,…, </a:t>
            </a:r>
            <a:r>
              <a:rPr lang="en-US" i="1" dirty="0" err="1"/>
              <a:t>q</a:t>
            </a:r>
            <a:r>
              <a:rPr lang="en-US" i="1" baseline="-25000" dirty="0" err="1"/>
              <a:t>q</a:t>
            </a:r>
            <a:r>
              <a:rPr lang="en-US" dirty="0"/>
              <a:t>} that will run on the </a:t>
            </a:r>
            <a:r>
              <a:rPr lang="en-US" dirty="0" smtClean="0"/>
              <a:t>relation           </a:t>
            </a:r>
            <a:r>
              <a:rPr lang="en-US" i="1" dirty="0"/>
              <a:t>R</a:t>
            </a:r>
            <a:r>
              <a:rPr lang="en-US" dirty="0"/>
              <a:t>[</a:t>
            </a:r>
            <a:r>
              <a:rPr lang="en-US" i="1" dirty="0"/>
              <a:t>A</a:t>
            </a:r>
            <a:r>
              <a:rPr lang="en-US" baseline="-25000" dirty="0"/>
              <a:t>1</a:t>
            </a:r>
            <a:r>
              <a:rPr lang="en-US" dirty="0"/>
              <a:t>, </a:t>
            </a:r>
            <a:r>
              <a:rPr lang="en-US" i="1" dirty="0"/>
              <a:t>A</a:t>
            </a:r>
            <a:r>
              <a:rPr lang="en-US" baseline="-25000" dirty="0"/>
              <a:t>2</a:t>
            </a:r>
            <a:r>
              <a:rPr lang="en-US" dirty="0"/>
              <a:t>,…, </a:t>
            </a:r>
            <a:r>
              <a:rPr lang="en-US" i="1" dirty="0"/>
              <a:t>A</a:t>
            </a:r>
            <a:r>
              <a:rPr lang="en-US" i="1" baseline="-25000" dirty="0"/>
              <a:t>n</a:t>
            </a:r>
            <a:r>
              <a:rPr lang="en-US" dirty="0"/>
              <a:t>],</a:t>
            </a:r>
          </a:p>
          <a:p>
            <a:pPr marL="1544296" lvl="2">
              <a:buNone/>
            </a:pPr>
            <a:endParaRPr lang="en-US" dirty="0"/>
          </a:p>
          <a:p>
            <a:pPr marL="1544296" lvl="2">
              <a:buNone/>
            </a:pPr>
            <a:endParaRPr lang="en-US" dirty="0"/>
          </a:p>
          <a:p>
            <a:pPr marL="1544296" lvl="2">
              <a:buNone/>
            </a:pPr>
            <a:endParaRPr lang="en-US" dirty="0"/>
          </a:p>
          <a:p>
            <a:pPr marL="1544296" lvl="2">
              <a:buNone/>
            </a:pPr>
            <a:r>
              <a:rPr lang="en-US" dirty="0"/>
              <a:t>	</a:t>
            </a:r>
          </a:p>
          <a:p>
            <a:pPr marL="1544296" lvl="2">
              <a:buNone/>
            </a:pPr>
            <a:r>
              <a:rPr lang="en-US" i="1" dirty="0"/>
              <a:t>	use</a:t>
            </a:r>
            <a:r>
              <a:rPr lang="en-US" dirty="0"/>
              <a:t>(</a:t>
            </a:r>
            <a:r>
              <a:rPr lang="en-US" i="1" dirty="0"/>
              <a:t>q</a:t>
            </a:r>
            <a:r>
              <a:rPr lang="en-US" i="1" baseline="-25000" dirty="0"/>
              <a:t>i</a:t>
            </a:r>
            <a:r>
              <a:rPr lang="en-US" i="1" dirty="0"/>
              <a:t>,•</a:t>
            </a:r>
            <a:r>
              <a:rPr lang="en-US" dirty="0"/>
              <a:t>)</a:t>
            </a:r>
            <a:r>
              <a:rPr lang="en-US" i="1" dirty="0"/>
              <a:t> </a:t>
            </a:r>
            <a:r>
              <a:rPr lang="en-US" dirty="0"/>
              <a:t>can be defined accordingly</a:t>
            </a:r>
          </a:p>
        </p:txBody>
      </p:sp>
      <p:sp>
        <p:nvSpPr>
          <p:cNvPr id="81926" name="Rectangle 6"/>
          <p:cNvSpPr>
            <a:spLocks noChangeArrowheads="1"/>
          </p:cNvSpPr>
          <p:nvPr/>
        </p:nvSpPr>
        <p:spPr bwMode="auto">
          <a:xfrm>
            <a:off x="4622777" y="6825264"/>
            <a:ext cx="42500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pPr algn="l"/>
            <a:r>
              <a:rPr lang="en-US" sz="2600" dirty="0" smtClean="0">
                <a:solidFill>
                  <a:srgbClr val="000000"/>
                </a:solidFill>
                <a:latin typeface="Symbol" charset="0"/>
                <a:sym typeface="Symbol"/>
              </a:rPr>
              <a:t></a:t>
            </a:r>
            <a:endParaRPr lang="en-US" sz="2600" dirty="0">
              <a:solidFill>
                <a:srgbClr val="000000"/>
              </a:solidFill>
              <a:latin typeface="Symbol" charset="0"/>
            </a:endParaRPr>
          </a:p>
        </p:txBody>
      </p:sp>
      <p:sp>
        <p:nvSpPr>
          <p:cNvPr id="81927" name="Rectangle 7"/>
          <p:cNvSpPr>
            <a:spLocks noChangeArrowheads="1"/>
          </p:cNvSpPr>
          <p:nvPr/>
        </p:nvSpPr>
        <p:spPr bwMode="auto">
          <a:xfrm>
            <a:off x="2980151" y="6807203"/>
            <a:ext cx="1856086" cy="489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87" tIns="44450" rIns="90487" bIns="44450">
            <a:spAutoFit/>
          </a:bodyPr>
          <a:lstStyle/>
          <a:p>
            <a:r>
              <a:rPr lang="en-US" sz="2600" i="1" dirty="0">
                <a:solidFill>
                  <a:srgbClr val="000000"/>
                </a:solidFill>
                <a:latin typeface="Book Antiqua"/>
              </a:rPr>
              <a:t>use</a:t>
            </a:r>
            <a:r>
              <a:rPr lang="en-US" sz="2600" dirty="0">
                <a:solidFill>
                  <a:srgbClr val="000000"/>
                </a:solidFill>
                <a:latin typeface="Book Antiqua"/>
              </a:rPr>
              <a:t>(</a:t>
            </a:r>
            <a:r>
              <a:rPr lang="en-US" sz="2600" i="1" dirty="0" err="1">
                <a:latin typeface="Book Antiqua"/>
              </a:rPr>
              <a:t>q</a:t>
            </a:r>
            <a:r>
              <a:rPr lang="en-US" sz="2600" i="1" baseline="-25000" dirty="0" err="1">
                <a:latin typeface="Book Antiqua"/>
              </a:rPr>
              <a:t>i</a:t>
            </a:r>
            <a:r>
              <a:rPr lang="en-US" sz="2600" i="1" dirty="0" err="1">
                <a:latin typeface="Book Antiqua"/>
              </a:rPr>
              <a:t>,A</a:t>
            </a:r>
            <a:r>
              <a:rPr lang="en-US" sz="2600" i="1" baseline="-25000" dirty="0" err="1">
                <a:latin typeface="Book Antiqua"/>
              </a:rPr>
              <a:t>j</a:t>
            </a:r>
            <a:r>
              <a:rPr lang="en-US" sz="2600" dirty="0">
                <a:latin typeface="Book Antiqua"/>
              </a:rPr>
              <a:t>) =</a:t>
            </a:r>
          </a:p>
        </p:txBody>
      </p:sp>
      <p:sp>
        <p:nvSpPr>
          <p:cNvPr id="81928" name="Rectangle 8"/>
          <p:cNvSpPr>
            <a:spLocks noChangeArrowheads="1"/>
          </p:cNvSpPr>
          <p:nvPr/>
        </p:nvSpPr>
        <p:spPr bwMode="auto">
          <a:xfrm>
            <a:off x="5062240" y="6590456"/>
            <a:ext cx="6127385" cy="489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1 if attribute </a:t>
            </a:r>
            <a:r>
              <a:rPr lang="en-US" sz="2600" i="1" dirty="0" err="1">
                <a:solidFill>
                  <a:srgbClr val="000000"/>
                </a:solidFill>
                <a:latin typeface="Book Antiqua"/>
              </a:rPr>
              <a:t>A</a:t>
            </a:r>
            <a:r>
              <a:rPr lang="en-US" i="1" baseline="-25000" dirty="0" err="1">
                <a:solidFill>
                  <a:srgbClr val="000000"/>
                </a:solidFill>
                <a:latin typeface="Book Antiqua"/>
              </a:rPr>
              <a:t>j</a:t>
            </a:r>
            <a:r>
              <a:rPr lang="en-US" sz="2600" dirty="0">
                <a:solidFill>
                  <a:srgbClr val="000000"/>
                </a:solidFill>
                <a:latin typeface="Book Antiqua"/>
              </a:rPr>
              <a:t> is referenced by query </a:t>
            </a:r>
            <a:r>
              <a:rPr lang="en-US" sz="2600" i="1" dirty="0">
                <a:solidFill>
                  <a:srgbClr val="000000"/>
                </a:solidFill>
                <a:latin typeface="Book Antiqua"/>
              </a:rPr>
              <a:t>q</a:t>
            </a:r>
            <a:r>
              <a:rPr lang="en-US" sz="2600" i="1" baseline="-25000" dirty="0">
                <a:solidFill>
                  <a:srgbClr val="000000"/>
                </a:solidFill>
                <a:latin typeface="Book Antiqua"/>
              </a:rPr>
              <a:t>i</a:t>
            </a:r>
          </a:p>
        </p:txBody>
      </p:sp>
      <p:sp>
        <p:nvSpPr>
          <p:cNvPr id="81929" name="Rectangle 9"/>
          <p:cNvSpPr>
            <a:spLocks noChangeArrowheads="1"/>
          </p:cNvSpPr>
          <p:nvPr/>
        </p:nvSpPr>
        <p:spPr bwMode="auto">
          <a:xfrm>
            <a:off x="5128638" y="7078136"/>
            <a:ext cx="1885193" cy="489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0 otherwise</a:t>
            </a:r>
          </a:p>
        </p:txBody>
      </p:sp>
      <p:sp>
        <p:nvSpPr>
          <p:cNvPr id="81930" name="Rectangle 10"/>
          <p:cNvSpPr>
            <a:spLocks noChangeArrowheads="1"/>
          </p:cNvSpPr>
          <p:nvPr/>
        </p:nvSpPr>
        <p:spPr bwMode="auto">
          <a:xfrm>
            <a:off x="4662312" y="6554332"/>
            <a:ext cx="347850" cy="489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600" dirty="0" smtClean="0">
                <a:solidFill>
                  <a:srgbClr val="000000"/>
                </a:solidFill>
                <a:latin typeface="Symbol" charset="0"/>
                <a:sym typeface="Symbol"/>
              </a:rPr>
              <a:t></a:t>
            </a:r>
            <a:endParaRPr lang="en-US" sz="2600" dirty="0">
              <a:solidFill>
                <a:srgbClr val="000000"/>
              </a:solidFill>
              <a:latin typeface="Symbol" charset="0"/>
            </a:endParaRPr>
          </a:p>
        </p:txBody>
      </p:sp>
      <p:sp>
        <p:nvSpPr>
          <p:cNvPr id="81931" name="Rectangle 11"/>
          <p:cNvSpPr>
            <a:spLocks noChangeArrowheads="1"/>
          </p:cNvSpPr>
          <p:nvPr/>
        </p:nvSpPr>
        <p:spPr bwMode="auto">
          <a:xfrm>
            <a:off x="4662312" y="7162816"/>
            <a:ext cx="347850" cy="489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lgn="l"/>
            <a:r>
              <a:rPr lang="en-US" sz="2600" dirty="0" smtClean="0">
                <a:solidFill>
                  <a:srgbClr val="000000"/>
                </a:solidFill>
                <a:latin typeface="Symbol" charset="0"/>
                <a:sym typeface="Symbol"/>
              </a:rPr>
              <a:t></a:t>
            </a:r>
            <a:endParaRPr lang="en-US" sz="2600" dirty="0">
              <a:solidFill>
                <a:srgbClr val="000000"/>
              </a:solidFill>
              <a:latin typeface="Symbol" charset="0"/>
            </a:endParaRPr>
          </a:p>
        </p:txBody>
      </p:sp>
      <mc:AlternateContent xmlns:mc="http://schemas.openxmlformats.org/markup-compatibility/2006" xmlns:p14="http://schemas.microsoft.com/office/powerpoint/2010/main">
        <mc:Choice Requires="p14">
          <p:contentPart p14:bwMode="auto" r:id="rId2">
            <p14:nvContentPartPr>
              <p14:cNvPr id="18" name="Ink 17"/>
              <p14:cNvContentPartPr/>
              <p14:nvPr/>
            </p14:nvContentPartPr>
            <p14:xfrm>
              <a:off x="845348" y="3088386"/>
              <a:ext cx="1363320" cy="679680"/>
            </p14:xfrm>
          </p:contentPart>
        </mc:Choice>
        <mc:Fallback xmlns="">
          <p:pic>
            <p:nvPicPr>
              <p:cNvPr id="18" name="Ink 17"/>
              <p:cNvPicPr/>
              <p:nvPr/>
            </p:nvPicPr>
            <p:blipFill>
              <a:blip r:embed="rId17"/>
              <a:stretch>
                <a:fillRect/>
              </a:stretch>
            </p:blipFill>
            <p:spPr>
              <a:xfrm>
                <a:off x="833468" y="3076506"/>
                <a:ext cx="1387080" cy="703440"/>
              </a:xfrm>
              <a:prstGeom prst="rect">
                <a:avLst/>
              </a:prstGeom>
            </p:spPr>
          </p:pic>
        </mc:Fallback>
      </mc:AlternateContent>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p:cNvSpPr>
            <a:spLocks noGrp="1" noChangeArrowheads="1"/>
          </p:cNvSpPr>
          <p:nvPr>
            <p:ph type="title"/>
          </p:nvPr>
        </p:nvSpPr>
        <p:spPr>
          <a:noFill/>
          <a:ln/>
        </p:spPr>
        <p:txBody>
          <a:bodyPr/>
          <a:lstStyle/>
          <a:p>
            <a:r>
              <a:rPr lang="en-US"/>
              <a:t>VF – Definition of </a:t>
            </a:r>
            <a:r>
              <a:rPr lang="en-US" i="1"/>
              <a:t>use</a:t>
            </a:r>
            <a:r>
              <a:rPr lang="en-US"/>
              <a:t>(</a:t>
            </a:r>
            <a:r>
              <a:rPr lang="en-US" i="1"/>
              <a:t>q</a:t>
            </a:r>
            <a:r>
              <a:rPr lang="en-US" i="1" baseline="-25000"/>
              <a:t>i</a:t>
            </a:r>
            <a:r>
              <a:rPr lang="en-US"/>
              <a:t>,</a:t>
            </a:r>
            <a:r>
              <a:rPr lang="en-US" i="1"/>
              <a:t>A</a:t>
            </a:r>
            <a:r>
              <a:rPr lang="en-US" i="1" baseline="-25000"/>
              <a:t>j</a:t>
            </a:r>
            <a:r>
              <a:rPr lang="en-US"/>
              <a:t>)</a:t>
            </a:r>
          </a:p>
        </p:txBody>
      </p:sp>
      <p:sp>
        <p:nvSpPr>
          <p:cNvPr id="82946" name="Rectangle 2"/>
          <p:cNvSpPr>
            <a:spLocks noGrp="1" noChangeArrowheads="1"/>
          </p:cNvSpPr>
          <p:nvPr>
            <p:ph idx="1"/>
          </p:nvPr>
        </p:nvSpPr>
        <p:spPr>
          <a:noFill/>
          <a:ln/>
        </p:spPr>
        <p:txBody>
          <a:bodyPr/>
          <a:lstStyle/>
          <a:p>
            <a:pPr>
              <a:spcBef>
                <a:spcPct val="20000"/>
              </a:spcBef>
              <a:buNone/>
              <a:tabLst>
                <a:tab pos="812787" algn="l"/>
                <a:tab pos="2519641" algn="l"/>
                <a:tab pos="5039281" algn="l"/>
                <a:tab pos="5608232" algn="l"/>
                <a:tab pos="7315086" algn="l"/>
              </a:tabLst>
            </a:pPr>
            <a:r>
              <a:rPr lang="en-US" dirty="0"/>
              <a:t>Consider the following 4 queries for relation PROJ</a:t>
            </a:r>
          </a:p>
          <a:p>
            <a:pPr>
              <a:spcBef>
                <a:spcPct val="20000"/>
              </a:spcBef>
              <a:buNone/>
              <a:tabLst>
                <a:tab pos="812787" algn="l"/>
                <a:tab pos="2519641" algn="l"/>
                <a:tab pos="5039281" algn="l"/>
                <a:tab pos="5608232" algn="l"/>
                <a:tab pos="7315086" algn="l"/>
              </a:tabLst>
            </a:pPr>
            <a:r>
              <a:rPr lang="en-US" sz="2600" i="1" dirty="0"/>
              <a:t>q</a:t>
            </a:r>
            <a:r>
              <a:rPr lang="en-US" sz="2600" baseline="-25000" dirty="0"/>
              <a:t>1</a:t>
            </a:r>
            <a:r>
              <a:rPr lang="en-US" sz="2600" dirty="0"/>
              <a:t>:	</a:t>
            </a:r>
            <a:r>
              <a:rPr lang="en-US" sz="2600" b="1" dirty="0" smtClean="0"/>
              <a:t>SELECT</a:t>
            </a:r>
            <a:r>
              <a:rPr lang="en-US" sz="2600" dirty="0"/>
              <a:t>	BUDGET	</a:t>
            </a:r>
            <a:r>
              <a:rPr lang="en-US" sz="2600" i="1" dirty="0"/>
              <a:t>q</a:t>
            </a:r>
            <a:r>
              <a:rPr lang="en-US" sz="2600" baseline="-25000" dirty="0"/>
              <a:t>2</a:t>
            </a:r>
            <a:r>
              <a:rPr lang="en-US" sz="2600" dirty="0"/>
              <a:t>:	</a:t>
            </a:r>
            <a:r>
              <a:rPr lang="en-US" sz="2600" b="1" dirty="0"/>
              <a:t>SELECT</a:t>
            </a:r>
            <a:r>
              <a:rPr lang="en-US" sz="2600" dirty="0"/>
              <a:t>	PNAME,BUDGET</a:t>
            </a:r>
          </a:p>
          <a:p>
            <a:pPr>
              <a:spcBef>
                <a:spcPct val="20000"/>
              </a:spcBef>
              <a:buNone/>
              <a:tabLst>
                <a:tab pos="812787" algn="l"/>
                <a:tab pos="2519641" algn="l"/>
                <a:tab pos="5039281" algn="l"/>
                <a:tab pos="5608232" algn="l"/>
                <a:tab pos="7315086" algn="l"/>
              </a:tabLst>
            </a:pPr>
            <a:r>
              <a:rPr lang="en-US" sz="2600" dirty="0"/>
              <a:t>		</a:t>
            </a:r>
            <a:r>
              <a:rPr lang="en-US" sz="2600" b="1" dirty="0"/>
              <a:t>FROM</a:t>
            </a:r>
            <a:r>
              <a:rPr lang="en-US" sz="2600" dirty="0"/>
              <a:t>	PROJ		</a:t>
            </a:r>
            <a:r>
              <a:rPr lang="en-US" sz="2600" b="1" dirty="0"/>
              <a:t>FROM</a:t>
            </a:r>
            <a:r>
              <a:rPr lang="en-US" sz="2600" dirty="0"/>
              <a:t>	PROJ</a:t>
            </a:r>
          </a:p>
          <a:p>
            <a:pPr>
              <a:spcBef>
                <a:spcPct val="20000"/>
              </a:spcBef>
              <a:buNone/>
              <a:tabLst>
                <a:tab pos="812787" algn="l"/>
                <a:tab pos="2519641" algn="l"/>
                <a:tab pos="5039281" algn="l"/>
                <a:tab pos="5608232" algn="l"/>
                <a:tab pos="7315086" algn="l"/>
              </a:tabLst>
            </a:pPr>
            <a:r>
              <a:rPr lang="en-US" sz="2600" dirty="0"/>
              <a:t>		</a:t>
            </a:r>
            <a:r>
              <a:rPr lang="en-US" sz="2600" b="1" dirty="0"/>
              <a:t>WHERE</a:t>
            </a:r>
            <a:r>
              <a:rPr lang="en-US" sz="2600" dirty="0"/>
              <a:t>	PNO=Value</a:t>
            </a:r>
          </a:p>
          <a:p>
            <a:pPr>
              <a:spcBef>
                <a:spcPct val="20000"/>
              </a:spcBef>
              <a:buNone/>
              <a:tabLst>
                <a:tab pos="812787" algn="l"/>
                <a:tab pos="2519641" algn="l"/>
                <a:tab pos="5039281" algn="l"/>
                <a:tab pos="5608232" algn="l"/>
                <a:tab pos="7315086" algn="l"/>
              </a:tabLst>
            </a:pPr>
            <a:r>
              <a:rPr lang="en-US" sz="2600" i="1" dirty="0"/>
              <a:t>q</a:t>
            </a:r>
            <a:r>
              <a:rPr lang="en-US" sz="2600" baseline="-25000" dirty="0"/>
              <a:t>3</a:t>
            </a:r>
            <a:r>
              <a:rPr lang="en-US" sz="2600" dirty="0"/>
              <a:t>:	</a:t>
            </a:r>
            <a:r>
              <a:rPr lang="en-US" sz="2600" b="1" dirty="0" smtClean="0"/>
              <a:t>SELECT</a:t>
            </a:r>
            <a:r>
              <a:rPr lang="en-US" sz="2600" dirty="0"/>
              <a:t>	PNAME	</a:t>
            </a:r>
            <a:r>
              <a:rPr lang="en-US" sz="2600" i="1" dirty="0"/>
              <a:t>q</a:t>
            </a:r>
            <a:r>
              <a:rPr lang="en-US" sz="2600" baseline="-25000" dirty="0"/>
              <a:t>4</a:t>
            </a:r>
            <a:r>
              <a:rPr lang="en-US" sz="2600" dirty="0"/>
              <a:t>:	</a:t>
            </a:r>
            <a:r>
              <a:rPr lang="en-US" sz="2600" b="1" dirty="0"/>
              <a:t>SELECT	SUM</a:t>
            </a:r>
            <a:r>
              <a:rPr lang="en-US" sz="2600" dirty="0"/>
              <a:t>(BUDGET)</a:t>
            </a:r>
          </a:p>
          <a:p>
            <a:pPr>
              <a:spcBef>
                <a:spcPct val="20000"/>
              </a:spcBef>
              <a:buNone/>
              <a:tabLst>
                <a:tab pos="812787" algn="l"/>
                <a:tab pos="2519641" algn="l"/>
                <a:tab pos="5039281" algn="l"/>
                <a:tab pos="5608232" algn="l"/>
                <a:tab pos="7315086" algn="l"/>
              </a:tabLst>
            </a:pPr>
            <a:r>
              <a:rPr lang="en-US" sz="2600" dirty="0"/>
              <a:t>		</a:t>
            </a:r>
            <a:r>
              <a:rPr lang="en-US" sz="2600" b="1" dirty="0"/>
              <a:t>FROM</a:t>
            </a:r>
            <a:r>
              <a:rPr lang="en-US" sz="2600" dirty="0"/>
              <a:t>	PROJ		</a:t>
            </a:r>
            <a:r>
              <a:rPr lang="en-US" sz="2600" b="1" dirty="0"/>
              <a:t>FROM	</a:t>
            </a:r>
            <a:r>
              <a:rPr lang="en-US" sz="2600" dirty="0"/>
              <a:t>PROJ</a:t>
            </a:r>
          </a:p>
          <a:p>
            <a:pPr>
              <a:spcBef>
                <a:spcPct val="20000"/>
              </a:spcBef>
              <a:buNone/>
              <a:tabLst>
                <a:tab pos="812787" algn="l"/>
                <a:tab pos="2519641" algn="l"/>
                <a:tab pos="5039281" algn="l"/>
                <a:tab pos="5608232" algn="l"/>
                <a:tab pos="7315086" algn="l"/>
              </a:tabLst>
            </a:pPr>
            <a:r>
              <a:rPr lang="en-US" sz="2600" dirty="0"/>
              <a:t>		</a:t>
            </a:r>
            <a:r>
              <a:rPr lang="en-US" sz="2600" b="1" dirty="0"/>
              <a:t>WHERE</a:t>
            </a:r>
            <a:r>
              <a:rPr lang="en-US" sz="2600" dirty="0"/>
              <a:t>	LOC=Value		</a:t>
            </a:r>
            <a:r>
              <a:rPr lang="en-US" sz="2600" b="1" dirty="0"/>
              <a:t>WHERE</a:t>
            </a:r>
            <a:r>
              <a:rPr lang="en-US" sz="2600" dirty="0"/>
              <a:t>	LOC=Value</a:t>
            </a:r>
          </a:p>
          <a:p>
            <a:pPr>
              <a:spcBef>
                <a:spcPct val="20000"/>
              </a:spcBef>
              <a:buNone/>
              <a:tabLst>
                <a:tab pos="812787" algn="l"/>
                <a:tab pos="2519641" algn="l"/>
                <a:tab pos="5039281" algn="l"/>
                <a:tab pos="5608232" algn="l"/>
                <a:tab pos="7315086" algn="l"/>
              </a:tabLst>
            </a:pPr>
            <a:r>
              <a:rPr lang="en-US" dirty="0"/>
              <a:t>Let </a:t>
            </a:r>
            <a:r>
              <a:rPr lang="en-US" i="1" dirty="0"/>
              <a:t>A</a:t>
            </a:r>
            <a:r>
              <a:rPr lang="en-US" baseline="-25000" dirty="0"/>
              <a:t>1</a:t>
            </a:r>
            <a:r>
              <a:rPr lang="en-US" dirty="0"/>
              <a:t>= PNO, </a:t>
            </a:r>
            <a:r>
              <a:rPr lang="en-US" i="1" dirty="0"/>
              <a:t>A</a:t>
            </a:r>
            <a:r>
              <a:rPr lang="en-US" baseline="-25000" dirty="0"/>
              <a:t>2</a:t>
            </a:r>
            <a:r>
              <a:rPr lang="en-US" dirty="0"/>
              <a:t>= PNAME, </a:t>
            </a:r>
            <a:r>
              <a:rPr lang="en-US" i="1" dirty="0"/>
              <a:t>A</a:t>
            </a:r>
            <a:r>
              <a:rPr lang="en-US" baseline="-25000" dirty="0"/>
              <a:t>3</a:t>
            </a:r>
            <a:r>
              <a:rPr lang="en-US" dirty="0"/>
              <a:t>= BUDGET, </a:t>
            </a:r>
            <a:r>
              <a:rPr lang="en-US" i="1" dirty="0"/>
              <a:t>A</a:t>
            </a:r>
            <a:r>
              <a:rPr lang="en-US" baseline="-25000" dirty="0"/>
              <a:t>4</a:t>
            </a:r>
            <a:r>
              <a:rPr lang="en-US" dirty="0"/>
              <a:t>= LOC</a:t>
            </a:r>
          </a:p>
        </p:txBody>
      </p:sp>
      <p:sp>
        <p:nvSpPr>
          <p:cNvPr id="82948" name="Rectangle 4"/>
          <p:cNvSpPr>
            <a:spLocks noChangeArrowheads="1"/>
          </p:cNvSpPr>
          <p:nvPr/>
        </p:nvSpPr>
        <p:spPr bwMode="auto">
          <a:xfrm>
            <a:off x="4206726" y="6953350"/>
            <a:ext cx="55670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q</a:t>
            </a:r>
            <a:r>
              <a:rPr lang="en-US" sz="2600" baseline="-25000" dirty="0">
                <a:solidFill>
                  <a:srgbClr val="000000"/>
                </a:solidFill>
                <a:latin typeface="Book Antiqua"/>
              </a:rPr>
              <a:t>1</a:t>
            </a:r>
          </a:p>
        </p:txBody>
      </p:sp>
      <p:sp>
        <p:nvSpPr>
          <p:cNvPr id="82949" name="Rectangle 5"/>
          <p:cNvSpPr>
            <a:spLocks noChangeArrowheads="1"/>
          </p:cNvSpPr>
          <p:nvPr/>
        </p:nvSpPr>
        <p:spPr bwMode="auto">
          <a:xfrm>
            <a:off x="4206726" y="7567465"/>
            <a:ext cx="55670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q</a:t>
            </a:r>
            <a:r>
              <a:rPr lang="en-US" sz="2600" baseline="-25000" dirty="0">
                <a:solidFill>
                  <a:srgbClr val="000000"/>
                </a:solidFill>
                <a:latin typeface="Book Antiqua"/>
              </a:rPr>
              <a:t>2</a:t>
            </a:r>
          </a:p>
        </p:txBody>
      </p:sp>
      <p:sp>
        <p:nvSpPr>
          <p:cNvPr id="82950" name="Rectangle 6"/>
          <p:cNvSpPr>
            <a:spLocks noChangeArrowheads="1"/>
          </p:cNvSpPr>
          <p:nvPr/>
        </p:nvSpPr>
        <p:spPr bwMode="auto">
          <a:xfrm>
            <a:off x="4188664" y="8127394"/>
            <a:ext cx="55670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q</a:t>
            </a:r>
            <a:r>
              <a:rPr lang="en-US" sz="2600" baseline="-25000" dirty="0">
                <a:solidFill>
                  <a:srgbClr val="000000"/>
                </a:solidFill>
                <a:latin typeface="Book Antiqua"/>
              </a:rPr>
              <a:t>3</a:t>
            </a:r>
          </a:p>
        </p:txBody>
      </p:sp>
      <p:sp>
        <p:nvSpPr>
          <p:cNvPr id="82951" name="Rectangle 7"/>
          <p:cNvSpPr>
            <a:spLocks noChangeArrowheads="1"/>
          </p:cNvSpPr>
          <p:nvPr/>
        </p:nvSpPr>
        <p:spPr bwMode="auto">
          <a:xfrm>
            <a:off x="4204814" y="8741510"/>
            <a:ext cx="560524"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q</a:t>
            </a:r>
            <a:r>
              <a:rPr lang="en-US" sz="2600" baseline="-25000" dirty="0">
                <a:solidFill>
                  <a:srgbClr val="000000"/>
                </a:solidFill>
                <a:latin typeface="Book Antiqua"/>
              </a:rPr>
              <a:t>4</a:t>
            </a:r>
          </a:p>
        </p:txBody>
      </p:sp>
      <p:grpSp>
        <p:nvGrpSpPr>
          <p:cNvPr id="82954" name="Group 10"/>
          <p:cNvGrpSpPr>
            <a:grpSpLocks/>
          </p:cNvGrpSpPr>
          <p:nvPr/>
        </p:nvGrpSpPr>
        <p:grpSpPr bwMode="auto">
          <a:xfrm>
            <a:off x="4967111" y="7057208"/>
            <a:ext cx="255130" cy="2133601"/>
            <a:chOff x="2200" y="3052"/>
            <a:chExt cx="113" cy="945"/>
          </a:xfrm>
        </p:grpSpPr>
        <p:sp>
          <p:nvSpPr>
            <p:cNvPr id="82952" name="Line 8"/>
            <p:cNvSpPr>
              <a:spLocks noChangeShapeType="1"/>
            </p:cNvSpPr>
            <p:nvPr/>
          </p:nvSpPr>
          <p:spPr bwMode="auto">
            <a:xfrm>
              <a:off x="2204" y="3056"/>
              <a:ext cx="10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82953" name="Freeform 9"/>
            <p:cNvSpPr>
              <a:spLocks/>
            </p:cNvSpPr>
            <p:nvPr/>
          </p:nvSpPr>
          <p:spPr bwMode="auto">
            <a:xfrm>
              <a:off x="2200" y="3052"/>
              <a:ext cx="113" cy="945"/>
            </a:xfrm>
            <a:custGeom>
              <a:avLst/>
              <a:gdLst>
                <a:gd name="T0" fmla="*/ 0 w 113"/>
                <a:gd name="T1" fmla="*/ 0 h 945"/>
                <a:gd name="T2" fmla="*/ 0 w 113"/>
                <a:gd name="T3" fmla="*/ 944 h 945"/>
                <a:gd name="T4" fmla="*/ 112 w 113"/>
                <a:gd name="T5" fmla="*/ 944 h 945"/>
              </a:gdLst>
              <a:ahLst/>
              <a:cxnLst>
                <a:cxn ang="0">
                  <a:pos x="T0" y="T1"/>
                </a:cxn>
                <a:cxn ang="0">
                  <a:pos x="T2" y="T3"/>
                </a:cxn>
                <a:cxn ang="0">
                  <a:pos x="T4" y="T5"/>
                </a:cxn>
              </a:cxnLst>
              <a:rect l="0" t="0" r="r" b="b"/>
              <a:pathLst>
                <a:path w="113" h="945">
                  <a:moveTo>
                    <a:pt x="0" y="0"/>
                  </a:moveTo>
                  <a:lnTo>
                    <a:pt x="0" y="944"/>
                  </a:lnTo>
                  <a:lnTo>
                    <a:pt x="112" y="944"/>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dirty="0">
                <a:latin typeface="Book Antiqua"/>
              </a:endParaRPr>
            </a:p>
          </p:txBody>
        </p:sp>
      </p:grpSp>
      <p:sp>
        <p:nvSpPr>
          <p:cNvPr id="82955" name="Rectangle 11"/>
          <p:cNvSpPr>
            <a:spLocks noChangeArrowheads="1"/>
          </p:cNvSpPr>
          <p:nvPr/>
        </p:nvSpPr>
        <p:spPr bwMode="auto">
          <a:xfrm>
            <a:off x="5193048" y="6395409"/>
            <a:ext cx="64315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A</a:t>
            </a:r>
            <a:r>
              <a:rPr lang="en-US" sz="2600" baseline="-25000" dirty="0">
                <a:solidFill>
                  <a:srgbClr val="000000"/>
                </a:solidFill>
                <a:latin typeface="Book Antiqua"/>
              </a:rPr>
              <a:t>1</a:t>
            </a:r>
          </a:p>
        </p:txBody>
      </p:sp>
      <p:grpSp>
        <p:nvGrpSpPr>
          <p:cNvPr id="82958" name="Group 14"/>
          <p:cNvGrpSpPr>
            <a:grpSpLocks/>
          </p:cNvGrpSpPr>
          <p:nvPr/>
        </p:nvGrpSpPr>
        <p:grpSpPr bwMode="auto">
          <a:xfrm>
            <a:off x="7965440" y="7057208"/>
            <a:ext cx="255130" cy="2133601"/>
            <a:chOff x="3528" y="3052"/>
            <a:chExt cx="113" cy="945"/>
          </a:xfrm>
        </p:grpSpPr>
        <p:sp>
          <p:nvSpPr>
            <p:cNvPr id="82956" name="Line 12"/>
            <p:cNvSpPr>
              <a:spLocks noChangeShapeType="1"/>
            </p:cNvSpPr>
            <p:nvPr/>
          </p:nvSpPr>
          <p:spPr bwMode="auto">
            <a:xfrm flipH="1">
              <a:off x="3528" y="3056"/>
              <a:ext cx="112"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82957" name="Freeform 13"/>
            <p:cNvSpPr>
              <a:spLocks/>
            </p:cNvSpPr>
            <p:nvPr/>
          </p:nvSpPr>
          <p:spPr bwMode="auto">
            <a:xfrm>
              <a:off x="3528" y="3052"/>
              <a:ext cx="113" cy="945"/>
            </a:xfrm>
            <a:custGeom>
              <a:avLst/>
              <a:gdLst>
                <a:gd name="T0" fmla="*/ 112 w 113"/>
                <a:gd name="T1" fmla="*/ 0 h 945"/>
                <a:gd name="T2" fmla="*/ 112 w 113"/>
                <a:gd name="T3" fmla="*/ 944 h 945"/>
                <a:gd name="T4" fmla="*/ 0 w 113"/>
                <a:gd name="T5" fmla="*/ 944 h 945"/>
              </a:gdLst>
              <a:ahLst/>
              <a:cxnLst>
                <a:cxn ang="0">
                  <a:pos x="T0" y="T1"/>
                </a:cxn>
                <a:cxn ang="0">
                  <a:pos x="T2" y="T3"/>
                </a:cxn>
                <a:cxn ang="0">
                  <a:pos x="T4" y="T5"/>
                </a:cxn>
              </a:cxnLst>
              <a:rect l="0" t="0" r="r" b="b"/>
              <a:pathLst>
                <a:path w="113" h="945">
                  <a:moveTo>
                    <a:pt x="112" y="0"/>
                  </a:moveTo>
                  <a:lnTo>
                    <a:pt x="112" y="944"/>
                  </a:lnTo>
                  <a:lnTo>
                    <a:pt x="0" y="944"/>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dirty="0">
                <a:latin typeface="Book Antiqua"/>
              </a:endParaRPr>
            </a:p>
          </p:txBody>
        </p:sp>
      </p:grpSp>
      <p:sp>
        <p:nvSpPr>
          <p:cNvPr id="82959" name="Rectangle 15"/>
          <p:cNvSpPr>
            <a:spLocks noChangeArrowheads="1"/>
          </p:cNvSpPr>
          <p:nvPr/>
        </p:nvSpPr>
        <p:spPr bwMode="auto">
          <a:xfrm>
            <a:off x="5313737" y="6953350"/>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1</a:t>
            </a:r>
          </a:p>
        </p:txBody>
      </p:sp>
      <p:sp>
        <p:nvSpPr>
          <p:cNvPr id="82960" name="Rectangle 16"/>
          <p:cNvSpPr>
            <a:spLocks noChangeArrowheads="1"/>
          </p:cNvSpPr>
          <p:nvPr/>
        </p:nvSpPr>
        <p:spPr bwMode="auto">
          <a:xfrm>
            <a:off x="6054288" y="6953350"/>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0</a:t>
            </a:r>
          </a:p>
        </p:txBody>
      </p:sp>
      <p:sp>
        <p:nvSpPr>
          <p:cNvPr id="82961" name="Rectangle 17"/>
          <p:cNvSpPr>
            <a:spLocks noChangeArrowheads="1"/>
          </p:cNvSpPr>
          <p:nvPr/>
        </p:nvSpPr>
        <p:spPr bwMode="auto">
          <a:xfrm>
            <a:off x="6867088" y="6953350"/>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1</a:t>
            </a:r>
          </a:p>
        </p:txBody>
      </p:sp>
      <p:sp>
        <p:nvSpPr>
          <p:cNvPr id="82962" name="Rectangle 18"/>
          <p:cNvSpPr>
            <a:spLocks noChangeArrowheads="1"/>
          </p:cNvSpPr>
          <p:nvPr/>
        </p:nvSpPr>
        <p:spPr bwMode="auto">
          <a:xfrm>
            <a:off x="7716012" y="6953350"/>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0</a:t>
            </a:r>
          </a:p>
        </p:txBody>
      </p:sp>
      <p:sp>
        <p:nvSpPr>
          <p:cNvPr id="82963" name="Rectangle 19"/>
          <p:cNvSpPr>
            <a:spLocks noChangeArrowheads="1"/>
          </p:cNvSpPr>
          <p:nvPr/>
        </p:nvSpPr>
        <p:spPr bwMode="auto">
          <a:xfrm>
            <a:off x="5295675" y="7567465"/>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0</a:t>
            </a:r>
          </a:p>
        </p:txBody>
      </p:sp>
      <p:sp>
        <p:nvSpPr>
          <p:cNvPr id="82964" name="Rectangle 20"/>
          <p:cNvSpPr>
            <a:spLocks noChangeArrowheads="1"/>
          </p:cNvSpPr>
          <p:nvPr/>
        </p:nvSpPr>
        <p:spPr bwMode="auto">
          <a:xfrm>
            <a:off x="7734075" y="7567465"/>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0</a:t>
            </a:r>
          </a:p>
        </p:txBody>
      </p:sp>
      <p:sp>
        <p:nvSpPr>
          <p:cNvPr id="82965" name="Rectangle 21"/>
          <p:cNvSpPr>
            <a:spLocks noChangeArrowheads="1"/>
          </p:cNvSpPr>
          <p:nvPr/>
        </p:nvSpPr>
        <p:spPr bwMode="auto">
          <a:xfrm>
            <a:off x="6054288" y="7567465"/>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1</a:t>
            </a:r>
          </a:p>
        </p:txBody>
      </p:sp>
      <p:sp>
        <p:nvSpPr>
          <p:cNvPr id="82966" name="Rectangle 22"/>
          <p:cNvSpPr>
            <a:spLocks noChangeArrowheads="1"/>
          </p:cNvSpPr>
          <p:nvPr/>
        </p:nvSpPr>
        <p:spPr bwMode="auto">
          <a:xfrm>
            <a:off x="6867088" y="7567465"/>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1</a:t>
            </a:r>
          </a:p>
        </p:txBody>
      </p:sp>
      <p:sp>
        <p:nvSpPr>
          <p:cNvPr id="82967" name="Rectangle 23"/>
          <p:cNvSpPr>
            <a:spLocks noChangeArrowheads="1"/>
          </p:cNvSpPr>
          <p:nvPr/>
        </p:nvSpPr>
        <p:spPr bwMode="auto">
          <a:xfrm>
            <a:off x="5295675" y="8127394"/>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0</a:t>
            </a:r>
          </a:p>
        </p:txBody>
      </p:sp>
      <p:sp>
        <p:nvSpPr>
          <p:cNvPr id="82968" name="Rectangle 24"/>
          <p:cNvSpPr>
            <a:spLocks noChangeArrowheads="1"/>
          </p:cNvSpPr>
          <p:nvPr/>
        </p:nvSpPr>
        <p:spPr bwMode="auto">
          <a:xfrm>
            <a:off x="6849026" y="8127394"/>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0</a:t>
            </a:r>
          </a:p>
        </p:txBody>
      </p:sp>
      <p:sp>
        <p:nvSpPr>
          <p:cNvPr id="82969" name="Rectangle 25"/>
          <p:cNvSpPr>
            <a:spLocks noChangeArrowheads="1"/>
          </p:cNvSpPr>
          <p:nvPr/>
        </p:nvSpPr>
        <p:spPr bwMode="auto">
          <a:xfrm>
            <a:off x="6036226" y="8127394"/>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1</a:t>
            </a:r>
          </a:p>
        </p:txBody>
      </p:sp>
      <p:sp>
        <p:nvSpPr>
          <p:cNvPr id="82970" name="Rectangle 26"/>
          <p:cNvSpPr>
            <a:spLocks noChangeArrowheads="1"/>
          </p:cNvSpPr>
          <p:nvPr/>
        </p:nvSpPr>
        <p:spPr bwMode="auto">
          <a:xfrm>
            <a:off x="7716012" y="8127394"/>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1</a:t>
            </a:r>
          </a:p>
        </p:txBody>
      </p:sp>
      <p:sp>
        <p:nvSpPr>
          <p:cNvPr id="82971" name="Rectangle 27"/>
          <p:cNvSpPr>
            <a:spLocks noChangeArrowheads="1"/>
          </p:cNvSpPr>
          <p:nvPr/>
        </p:nvSpPr>
        <p:spPr bwMode="auto">
          <a:xfrm>
            <a:off x="5277612" y="8741510"/>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0</a:t>
            </a:r>
          </a:p>
        </p:txBody>
      </p:sp>
      <p:sp>
        <p:nvSpPr>
          <p:cNvPr id="82972" name="Rectangle 28"/>
          <p:cNvSpPr>
            <a:spLocks noChangeArrowheads="1"/>
          </p:cNvSpPr>
          <p:nvPr/>
        </p:nvSpPr>
        <p:spPr bwMode="auto">
          <a:xfrm>
            <a:off x="6036226" y="8741510"/>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0</a:t>
            </a:r>
          </a:p>
        </p:txBody>
      </p:sp>
      <p:sp>
        <p:nvSpPr>
          <p:cNvPr id="82973" name="Rectangle 29"/>
          <p:cNvSpPr>
            <a:spLocks noChangeArrowheads="1"/>
          </p:cNvSpPr>
          <p:nvPr/>
        </p:nvSpPr>
        <p:spPr bwMode="auto">
          <a:xfrm>
            <a:off x="6849026" y="8741510"/>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1</a:t>
            </a:r>
          </a:p>
        </p:txBody>
      </p:sp>
      <p:sp>
        <p:nvSpPr>
          <p:cNvPr id="82974" name="Rectangle 30"/>
          <p:cNvSpPr>
            <a:spLocks noChangeArrowheads="1"/>
          </p:cNvSpPr>
          <p:nvPr/>
        </p:nvSpPr>
        <p:spPr bwMode="auto">
          <a:xfrm>
            <a:off x="7716012" y="8741510"/>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1</a:t>
            </a:r>
          </a:p>
        </p:txBody>
      </p:sp>
      <p:sp>
        <p:nvSpPr>
          <p:cNvPr id="82975" name="Rectangle 31"/>
          <p:cNvSpPr>
            <a:spLocks noChangeArrowheads="1"/>
          </p:cNvSpPr>
          <p:nvPr/>
        </p:nvSpPr>
        <p:spPr bwMode="auto">
          <a:xfrm>
            <a:off x="5940373" y="6395409"/>
            <a:ext cx="64315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A</a:t>
            </a:r>
            <a:r>
              <a:rPr lang="en-US" sz="2600" baseline="-25000" dirty="0">
                <a:solidFill>
                  <a:srgbClr val="000000"/>
                </a:solidFill>
                <a:latin typeface="Book Antiqua"/>
              </a:rPr>
              <a:t>2</a:t>
            </a:r>
          </a:p>
        </p:txBody>
      </p:sp>
      <p:sp>
        <p:nvSpPr>
          <p:cNvPr id="82976" name="Rectangle 32"/>
          <p:cNvSpPr>
            <a:spLocks noChangeArrowheads="1"/>
          </p:cNvSpPr>
          <p:nvPr/>
        </p:nvSpPr>
        <p:spPr bwMode="auto">
          <a:xfrm>
            <a:off x="6737368" y="6395409"/>
            <a:ext cx="64315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A</a:t>
            </a:r>
            <a:r>
              <a:rPr lang="en-US" sz="2600" baseline="-25000" dirty="0">
                <a:solidFill>
                  <a:srgbClr val="000000"/>
                </a:solidFill>
                <a:latin typeface="Book Antiqua"/>
              </a:rPr>
              <a:t>3</a:t>
            </a:r>
          </a:p>
        </p:txBody>
      </p:sp>
      <p:sp>
        <p:nvSpPr>
          <p:cNvPr id="82977" name="Rectangle 33"/>
          <p:cNvSpPr>
            <a:spLocks noChangeArrowheads="1"/>
          </p:cNvSpPr>
          <p:nvPr/>
        </p:nvSpPr>
        <p:spPr bwMode="auto">
          <a:xfrm>
            <a:off x="7530793" y="6395409"/>
            <a:ext cx="650292"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A</a:t>
            </a:r>
            <a:r>
              <a:rPr lang="en-US" sz="2600" baseline="-25000" dirty="0">
                <a:solidFill>
                  <a:srgbClr val="000000"/>
                </a:solidFill>
                <a:latin typeface="Book Antiqua"/>
              </a:rPr>
              <a:t>4</a:t>
            </a: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p:cNvSpPr>
            <a:spLocks noGrp="1" noChangeArrowheads="1"/>
          </p:cNvSpPr>
          <p:nvPr>
            <p:ph type="title"/>
          </p:nvPr>
        </p:nvSpPr>
        <p:spPr>
          <a:noFill/>
          <a:ln/>
        </p:spPr>
        <p:txBody>
          <a:bodyPr/>
          <a:lstStyle/>
          <a:p>
            <a:r>
              <a:rPr lang="en-US" dirty="0"/>
              <a:t>VF – Affinity Measure </a:t>
            </a:r>
            <a:r>
              <a:rPr lang="en-US" i="1" dirty="0" err="1"/>
              <a:t>aff</a:t>
            </a:r>
            <a:r>
              <a:rPr lang="en-US" dirty="0"/>
              <a:t>(</a:t>
            </a:r>
            <a:r>
              <a:rPr lang="en-US" i="1" dirty="0" err="1"/>
              <a:t>A</a:t>
            </a:r>
            <a:r>
              <a:rPr lang="en-US" i="1" baseline="-25000" dirty="0" err="1"/>
              <a:t>i</a:t>
            </a:r>
            <a:r>
              <a:rPr lang="en-US" dirty="0" err="1"/>
              <a:t>,</a:t>
            </a:r>
            <a:r>
              <a:rPr lang="en-US" i="1" dirty="0" err="1"/>
              <a:t>A</a:t>
            </a:r>
            <a:r>
              <a:rPr lang="en-US" i="1" baseline="-25000" dirty="0" err="1"/>
              <a:t>j</a:t>
            </a:r>
            <a:r>
              <a:rPr lang="en-US" dirty="0"/>
              <a:t>)</a:t>
            </a:r>
          </a:p>
        </p:txBody>
      </p:sp>
      <p:sp>
        <p:nvSpPr>
          <p:cNvPr id="83970" name="Rectangle 2"/>
          <p:cNvSpPr>
            <a:spLocks noGrp="1" noChangeArrowheads="1"/>
          </p:cNvSpPr>
          <p:nvPr>
            <p:ph idx="1"/>
          </p:nvPr>
        </p:nvSpPr>
        <p:spPr>
          <a:xfrm>
            <a:off x="381720" y="2428528"/>
            <a:ext cx="12293600" cy="2520280"/>
          </a:xfrm>
          <a:noFill/>
          <a:ln/>
        </p:spPr>
        <p:txBody>
          <a:bodyPr/>
          <a:lstStyle/>
          <a:p>
            <a:pPr marL="0" indent="0">
              <a:buNone/>
            </a:pPr>
            <a:r>
              <a:rPr lang="en-US" dirty="0"/>
              <a:t>The </a:t>
            </a:r>
            <a:r>
              <a:rPr lang="en-US" dirty="0">
                <a:solidFill>
                  <a:srgbClr val="FF0000"/>
                </a:solidFill>
              </a:rPr>
              <a:t>attribute affinity measure</a:t>
            </a:r>
            <a:r>
              <a:rPr lang="en-US" dirty="0">
                <a:solidFill>
                  <a:schemeClr val="hlink"/>
                </a:solidFill>
              </a:rPr>
              <a:t> </a:t>
            </a:r>
            <a:r>
              <a:rPr lang="en-US" dirty="0"/>
              <a:t>between two attributes </a:t>
            </a:r>
            <a:r>
              <a:rPr lang="en-US" i="1" dirty="0"/>
              <a:t>A</a:t>
            </a:r>
            <a:r>
              <a:rPr lang="en-US" i="1" baseline="-25000" dirty="0"/>
              <a:t>i</a:t>
            </a:r>
            <a:r>
              <a:rPr lang="en-US" dirty="0"/>
              <a:t> and </a:t>
            </a:r>
            <a:r>
              <a:rPr lang="en-US" i="1" dirty="0" err="1"/>
              <a:t>A</a:t>
            </a:r>
            <a:r>
              <a:rPr lang="en-US" i="1" baseline="-25000" dirty="0" err="1"/>
              <a:t>j</a:t>
            </a:r>
            <a:r>
              <a:rPr lang="en-US" dirty="0"/>
              <a:t> of a relation </a:t>
            </a:r>
            <a:r>
              <a:rPr lang="en-US" i="1" dirty="0"/>
              <a:t>R</a:t>
            </a:r>
            <a:r>
              <a:rPr lang="en-US" dirty="0"/>
              <a:t>[</a:t>
            </a:r>
            <a:r>
              <a:rPr lang="en-US" i="1" dirty="0"/>
              <a:t>A</a:t>
            </a:r>
            <a:r>
              <a:rPr lang="en-US" baseline="-25000" dirty="0"/>
              <a:t>1</a:t>
            </a:r>
            <a:r>
              <a:rPr lang="en-US" dirty="0"/>
              <a:t>, </a:t>
            </a:r>
            <a:r>
              <a:rPr lang="en-US" i="1" dirty="0"/>
              <a:t>A</a:t>
            </a:r>
            <a:r>
              <a:rPr lang="en-US" baseline="-25000" dirty="0"/>
              <a:t>2</a:t>
            </a:r>
            <a:r>
              <a:rPr lang="en-US" dirty="0"/>
              <a:t>, …, </a:t>
            </a:r>
            <a:r>
              <a:rPr lang="en-US" i="1" dirty="0"/>
              <a:t>A</a:t>
            </a:r>
            <a:r>
              <a:rPr lang="en-US" i="1" baseline="-25000" dirty="0"/>
              <a:t>n</a:t>
            </a:r>
            <a:r>
              <a:rPr lang="en-US" dirty="0"/>
              <a:t>] with respect to the set of applications </a:t>
            </a:r>
            <a:r>
              <a:rPr lang="en-US" dirty="0" smtClean="0"/>
              <a:t> </a:t>
            </a:r>
            <a:r>
              <a:rPr lang="en-US" i="1" dirty="0"/>
              <a:t>Q</a:t>
            </a:r>
            <a:r>
              <a:rPr lang="en-US" dirty="0"/>
              <a:t> = (</a:t>
            </a:r>
            <a:r>
              <a:rPr lang="en-US" i="1" dirty="0"/>
              <a:t>q</a:t>
            </a:r>
            <a:r>
              <a:rPr lang="en-US" baseline="-25000" dirty="0"/>
              <a:t>1</a:t>
            </a:r>
            <a:r>
              <a:rPr lang="en-US" dirty="0"/>
              <a:t>, </a:t>
            </a:r>
            <a:r>
              <a:rPr lang="en-US" i="1" dirty="0"/>
              <a:t>q</a:t>
            </a:r>
            <a:r>
              <a:rPr lang="en-US" baseline="-25000" dirty="0"/>
              <a:t>2</a:t>
            </a:r>
            <a:r>
              <a:rPr lang="en-US" dirty="0"/>
              <a:t>, …, </a:t>
            </a:r>
            <a:r>
              <a:rPr lang="en-US" i="1" dirty="0" err="1"/>
              <a:t>q</a:t>
            </a:r>
            <a:r>
              <a:rPr lang="en-US" i="1" baseline="-25000" dirty="0" err="1"/>
              <a:t>q</a:t>
            </a:r>
            <a:r>
              <a:rPr lang="en-US" dirty="0"/>
              <a:t>) is defined as follows : </a:t>
            </a:r>
          </a:p>
          <a:p>
            <a:pPr marL="0" indent="0"/>
            <a:endParaRPr lang="en-US" dirty="0"/>
          </a:p>
        </p:txBody>
      </p:sp>
      <p:grpSp>
        <p:nvGrpSpPr>
          <p:cNvPr id="4" name="Group 3"/>
          <p:cNvGrpSpPr/>
          <p:nvPr/>
        </p:nvGrpSpPr>
        <p:grpSpPr>
          <a:xfrm>
            <a:off x="1634952" y="5093547"/>
            <a:ext cx="6085165" cy="1223413"/>
            <a:chOff x="1634952" y="5093547"/>
            <a:chExt cx="6085165" cy="1223413"/>
          </a:xfrm>
        </p:grpSpPr>
        <p:sp>
          <p:nvSpPr>
            <p:cNvPr id="83974" name="Rectangle 6"/>
            <p:cNvSpPr>
              <a:spLocks noChangeArrowheads="1"/>
            </p:cNvSpPr>
            <p:nvPr/>
          </p:nvSpPr>
          <p:spPr bwMode="auto">
            <a:xfrm>
              <a:off x="1634952" y="5332872"/>
              <a:ext cx="1927680" cy="489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i="1" dirty="0" err="1">
                  <a:solidFill>
                    <a:srgbClr val="000000"/>
                  </a:solidFill>
                  <a:latin typeface="Book Antiqua"/>
                </a:rPr>
                <a:t>aff</a:t>
              </a:r>
              <a:r>
                <a:rPr lang="en-US" sz="2600" i="1" dirty="0">
                  <a:solidFill>
                    <a:srgbClr val="000000"/>
                  </a:solidFill>
                  <a:latin typeface="Book Antiqua"/>
                </a:rPr>
                <a:t> </a:t>
              </a:r>
              <a:r>
                <a:rPr lang="en-US" sz="2600" dirty="0">
                  <a:solidFill>
                    <a:srgbClr val="000000"/>
                  </a:solidFill>
                  <a:latin typeface="Book Antiqua"/>
                </a:rPr>
                <a:t>(</a:t>
              </a:r>
              <a:r>
                <a:rPr lang="en-US" sz="2600" i="1" dirty="0">
                  <a:solidFill>
                    <a:srgbClr val="000000"/>
                  </a:solidFill>
                  <a:latin typeface="Book Antiqua"/>
                </a:rPr>
                <a:t>A</a:t>
              </a:r>
              <a:r>
                <a:rPr lang="en-US" sz="2600" i="1" baseline="-25000" dirty="0">
                  <a:solidFill>
                    <a:srgbClr val="000000"/>
                  </a:solidFill>
                  <a:latin typeface="Book Antiqua"/>
                </a:rPr>
                <a:t>i</a:t>
              </a:r>
              <a:r>
                <a:rPr lang="en-US" sz="2600" i="1" dirty="0">
                  <a:solidFill>
                    <a:srgbClr val="000000"/>
                  </a:solidFill>
                  <a:latin typeface="Book Antiqua"/>
                </a:rPr>
                <a:t>, </a:t>
              </a:r>
              <a:r>
                <a:rPr lang="en-US" sz="2600" i="1" dirty="0" err="1">
                  <a:solidFill>
                    <a:srgbClr val="000000"/>
                  </a:solidFill>
                  <a:latin typeface="Book Antiqua"/>
                </a:rPr>
                <a:t>A</a:t>
              </a:r>
              <a:r>
                <a:rPr lang="en-US" sz="2600" i="1" baseline="-25000" dirty="0" err="1">
                  <a:solidFill>
                    <a:srgbClr val="000000"/>
                  </a:solidFill>
                  <a:latin typeface="Book Antiqua"/>
                </a:rPr>
                <a:t>j</a:t>
              </a:r>
              <a:r>
                <a:rPr lang="en-US" sz="2600" dirty="0">
                  <a:solidFill>
                    <a:srgbClr val="000000"/>
                  </a:solidFill>
                  <a:latin typeface="Book Antiqua"/>
                </a:rPr>
                <a:t>) </a:t>
              </a:r>
              <a:r>
                <a:rPr lang="en-US" sz="2600" dirty="0" smtClean="0">
                  <a:solidFill>
                    <a:srgbClr val="000000"/>
                  </a:solidFill>
                  <a:latin typeface="Symbol" charset="0"/>
                  <a:sym typeface="Symbol"/>
                </a:rPr>
                <a:t></a:t>
              </a:r>
              <a:endParaRPr lang="en-US" sz="2600" dirty="0">
                <a:solidFill>
                  <a:srgbClr val="000000"/>
                </a:solidFill>
                <a:latin typeface="Symbol" charset="0"/>
              </a:endParaRPr>
            </a:p>
          </p:txBody>
        </p:sp>
        <p:sp>
          <p:nvSpPr>
            <p:cNvPr id="83975" name="Rectangle 7"/>
            <p:cNvSpPr>
              <a:spLocks noChangeArrowheads="1"/>
            </p:cNvSpPr>
            <p:nvPr/>
          </p:nvSpPr>
          <p:spPr bwMode="auto">
            <a:xfrm>
              <a:off x="4846216" y="5332872"/>
              <a:ext cx="2336800" cy="48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(query access)</a:t>
              </a:r>
            </a:p>
          </p:txBody>
        </p:sp>
        <p:sp>
          <p:nvSpPr>
            <p:cNvPr id="83976" name="Rectangle 8"/>
            <p:cNvSpPr>
              <a:spLocks noChangeArrowheads="1"/>
            </p:cNvSpPr>
            <p:nvPr/>
          </p:nvSpPr>
          <p:spPr bwMode="auto">
            <a:xfrm>
              <a:off x="3305448" y="5857860"/>
              <a:ext cx="4414669"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400" dirty="0">
                  <a:solidFill>
                    <a:srgbClr val="000000"/>
                  </a:solidFill>
                  <a:latin typeface="Book Antiqua"/>
                </a:rPr>
                <a:t>all queries that access </a:t>
              </a:r>
              <a:r>
                <a:rPr lang="en-US" sz="2400" i="1" dirty="0">
                  <a:solidFill>
                    <a:srgbClr val="000000"/>
                  </a:solidFill>
                  <a:latin typeface="Book Antiqua"/>
                </a:rPr>
                <a:t>A</a:t>
              </a:r>
              <a:r>
                <a:rPr lang="en-US" sz="1400" i="1" baseline="-25000" dirty="0">
                  <a:solidFill>
                    <a:srgbClr val="000000"/>
                  </a:solidFill>
                  <a:latin typeface="Book Antiqua"/>
                </a:rPr>
                <a:t>i</a:t>
              </a:r>
              <a:r>
                <a:rPr lang="en-US" sz="2400" dirty="0">
                  <a:solidFill>
                    <a:srgbClr val="000000"/>
                  </a:solidFill>
                  <a:latin typeface="Book Antiqua"/>
                </a:rPr>
                <a:t> and </a:t>
              </a:r>
              <a:r>
                <a:rPr lang="en-US" sz="2400" i="1" dirty="0" err="1">
                  <a:solidFill>
                    <a:srgbClr val="000000"/>
                  </a:solidFill>
                  <a:latin typeface="Book Antiqua"/>
                </a:rPr>
                <a:t>A</a:t>
              </a:r>
              <a:r>
                <a:rPr lang="en-US" sz="1400" i="1" baseline="-25000" dirty="0" err="1">
                  <a:solidFill>
                    <a:srgbClr val="000000"/>
                  </a:solidFill>
                  <a:latin typeface="Book Antiqua"/>
                </a:rPr>
                <a:t>j</a:t>
              </a:r>
              <a:r>
                <a:rPr lang="en-US" sz="2400" dirty="0">
                  <a:solidFill>
                    <a:srgbClr val="000000"/>
                  </a:solidFill>
                  <a:latin typeface="Book Antiqua"/>
                </a:rPr>
                <a:t> </a:t>
              </a:r>
            </a:p>
          </p:txBody>
        </p:sp>
        <p:sp>
          <p:nvSpPr>
            <p:cNvPr id="83977" name="Rectangle 9"/>
            <p:cNvSpPr>
              <a:spLocks noChangeArrowheads="1"/>
            </p:cNvSpPr>
            <p:nvPr/>
          </p:nvSpPr>
          <p:spPr bwMode="auto">
            <a:xfrm>
              <a:off x="3327965" y="5093547"/>
              <a:ext cx="673260" cy="87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5100" dirty="0" smtClean="0">
                  <a:solidFill>
                    <a:srgbClr val="000000"/>
                  </a:solidFill>
                  <a:latin typeface="Symbol" charset="0"/>
                  <a:sym typeface="Symbol"/>
                </a:rPr>
                <a:t></a:t>
              </a:r>
              <a:endParaRPr lang="en-US" sz="5100" dirty="0">
                <a:solidFill>
                  <a:srgbClr val="000000"/>
                </a:solidFill>
                <a:latin typeface="Symbol" charset="0"/>
              </a:endParaRPr>
            </a:p>
          </p:txBody>
        </p:sp>
      </p:grpSp>
      <p:grpSp>
        <p:nvGrpSpPr>
          <p:cNvPr id="3" name="Group 2"/>
          <p:cNvGrpSpPr/>
          <p:nvPr/>
        </p:nvGrpSpPr>
        <p:grpSpPr>
          <a:xfrm>
            <a:off x="1664851" y="7518405"/>
            <a:ext cx="9106738" cy="1201871"/>
            <a:chOff x="1664851" y="7518405"/>
            <a:chExt cx="9106738" cy="1201871"/>
          </a:xfrm>
        </p:grpSpPr>
        <p:sp>
          <p:nvSpPr>
            <p:cNvPr id="83972" name="Rectangle 4"/>
            <p:cNvSpPr>
              <a:spLocks noChangeArrowheads="1"/>
            </p:cNvSpPr>
            <p:nvPr/>
          </p:nvSpPr>
          <p:spPr bwMode="auto">
            <a:xfrm>
              <a:off x="1770099" y="8042210"/>
              <a:ext cx="182880" cy="48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  </a:t>
              </a:r>
            </a:p>
          </p:txBody>
        </p:sp>
        <p:sp>
          <p:nvSpPr>
            <p:cNvPr id="83973" name="Rectangle 5"/>
            <p:cNvSpPr>
              <a:spLocks noChangeArrowheads="1"/>
            </p:cNvSpPr>
            <p:nvPr/>
          </p:nvSpPr>
          <p:spPr bwMode="auto">
            <a:xfrm>
              <a:off x="1770099" y="8042210"/>
              <a:ext cx="182880" cy="48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i="1" dirty="0">
                  <a:solidFill>
                    <a:srgbClr val="000000"/>
                  </a:solidFill>
                  <a:latin typeface="Book Antiqua"/>
                </a:rPr>
                <a:t>  </a:t>
              </a:r>
            </a:p>
          </p:txBody>
        </p:sp>
        <p:sp>
          <p:nvSpPr>
            <p:cNvPr id="83979" name="Rectangle 11"/>
            <p:cNvSpPr>
              <a:spLocks noChangeArrowheads="1"/>
            </p:cNvSpPr>
            <p:nvPr/>
          </p:nvSpPr>
          <p:spPr bwMode="auto">
            <a:xfrm>
              <a:off x="1664851" y="7762245"/>
              <a:ext cx="2302137" cy="489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query access </a:t>
              </a:r>
              <a:r>
                <a:rPr lang="en-US" sz="2600" dirty="0" smtClean="0">
                  <a:solidFill>
                    <a:srgbClr val="000000"/>
                  </a:solidFill>
                  <a:latin typeface="Symbol" charset="0"/>
                  <a:sym typeface="Symbol"/>
                </a:rPr>
                <a:t></a:t>
              </a:r>
              <a:endParaRPr lang="en-US" sz="2600" dirty="0">
                <a:solidFill>
                  <a:srgbClr val="000000"/>
                </a:solidFill>
                <a:latin typeface="Symbol" charset="0"/>
              </a:endParaRPr>
            </a:p>
          </p:txBody>
        </p:sp>
        <p:sp>
          <p:nvSpPr>
            <p:cNvPr id="83980" name="Rectangle 12"/>
            <p:cNvSpPr>
              <a:spLocks noChangeArrowheads="1"/>
            </p:cNvSpPr>
            <p:nvPr/>
          </p:nvSpPr>
          <p:spPr bwMode="auto">
            <a:xfrm>
              <a:off x="4656564" y="7721605"/>
              <a:ext cx="4431107" cy="489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access frequency of a query </a:t>
              </a:r>
              <a:r>
                <a:rPr lang="en-US" sz="2600" dirty="0" smtClean="0">
                  <a:solidFill>
                    <a:srgbClr val="000000"/>
                  </a:solidFill>
                  <a:latin typeface="Symbol" charset="0"/>
                  <a:sym typeface="Symbol"/>
                </a:rPr>
                <a:t></a:t>
              </a:r>
              <a:endParaRPr lang="en-US" sz="2600" dirty="0">
                <a:solidFill>
                  <a:srgbClr val="000000"/>
                </a:solidFill>
                <a:latin typeface="Symbol" charset="0"/>
              </a:endParaRPr>
            </a:p>
          </p:txBody>
        </p:sp>
        <p:sp>
          <p:nvSpPr>
            <p:cNvPr id="83981" name="Rectangle 13"/>
            <p:cNvSpPr>
              <a:spLocks noChangeArrowheads="1"/>
            </p:cNvSpPr>
            <p:nvPr/>
          </p:nvSpPr>
          <p:spPr bwMode="auto">
            <a:xfrm>
              <a:off x="9404742" y="7518405"/>
              <a:ext cx="1087774" cy="489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access</a:t>
              </a:r>
            </a:p>
          </p:txBody>
        </p:sp>
        <p:sp>
          <p:nvSpPr>
            <p:cNvPr id="83982" name="Rectangle 14"/>
            <p:cNvSpPr>
              <a:spLocks noChangeArrowheads="1"/>
            </p:cNvSpPr>
            <p:nvPr/>
          </p:nvSpPr>
          <p:spPr bwMode="auto">
            <a:xfrm>
              <a:off x="9118896" y="8006086"/>
              <a:ext cx="1652693" cy="48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execution</a:t>
              </a:r>
            </a:p>
          </p:txBody>
        </p:sp>
        <p:sp>
          <p:nvSpPr>
            <p:cNvPr id="83983" name="Line 15"/>
            <p:cNvSpPr>
              <a:spLocks noChangeShapeType="1"/>
            </p:cNvSpPr>
            <p:nvPr/>
          </p:nvSpPr>
          <p:spPr bwMode="auto">
            <a:xfrm>
              <a:off x="9285971" y="8010601"/>
              <a:ext cx="1318542"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83984" name="Rectangle 16"/>
            <p:cNvSpPr>
              <a:spLocks noChangeArrowheads="1"/>
            </p:cNvSpPr>
            <p:nvPr/>
          </p:nvSpPr>
          <p:spPr bwMode="auto">
            <a:xfrm>
              <a:off x="3598988" y="8261176"/>
              <a:ext cx="119098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400" dirty="0">
                  <a:solidFill>
                    <a:srgbClr val="000000"/>
                  </a:solidFill>
                  <a:latin typeface="Book Antiqua"/>
                </a:rPr>
                <a:t>all sites</a:t>
              </a:r>
            </a:p>
          </p:txBody>
        </p:sp>
        <p:sp>
          <p:nvSpPr>
            <p:cNvPr id="83985" name="Rectangle 17"/>
            <p:cNvSpPr>
              <a:spLocks noChangeArrowheads="1"/>
            </p:cNvSpPr>
            <p:nvPr/>
          </p:nvSpPr>
          <p:spPr bwMode="auto">
            <a:xfrm>
              <a:off x="3648570" y="7527436"/>
              <a:ext cx="673260" cy="87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5100" dirty="0" smtClean="0">
                  <a:solidFill>
                    <a:srgbClr val="000000"/>
                  </a:solidFill>
                  <a:latin typeface="Symbol" charset="0"/>
                  <a:sym typeface="Symbol"/>
                </a:rPr>
                <a:t></a:t>
              </a:r>
              <a:endParaRPr lang="en-US" sz="5100" dirty="0">
                <a:solidFill>
                  <a:srgbClr val="000000"/>
                </a:solidFill>
                <a:latin typeface="Symbol" charset="0"/>
              </a:endParaRPr>
            </a:p>
          </p:txBody>
        </p:sp>
      </p:gr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Line 3"/>
          <p:cNvSpPr>
            <a:spLocks noChangeShapeType="1"/>
          </p:cNvSpPr>
          <p:nvPr/>
        </p:nvSpPr>
        <p:spPr bwMode="auto">
          <a:xfrm>
            <a:off x="6350016" y="3652664"/>
            <a:ext cx="2438400" cy="0"/>
          </a:xfrm>
          <a:prstGeom prst="line">
            <a:avLst/>
          </a:prstGeom>
          <a:noFill/>
          <a:ln w="38100" cmpd="dbl">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84996" name="Line 4"/>
          <p:cNvSpPr>
            <a:spLocks noChangeShapeType="1"/>
          </p:cNvSpPr>
          <p:nvPr/>
        </p:nvSpPr>
        <p:spPr bwMode="auto">
          <a:xfrm>
            <a:off x="6512272" y="8045152"/>
            <a:ext cx="2438400" cy="0"/>
          </a:xfrm>
          <a:prstGeom prst="line">
            <a:avLst/>
          </a:prstGeom>
          <a:noFill/>
          <a:ln w="38100" cmpd="dbl">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84997" name="Rectangle 5"/>
          <p:cNvSpPr>
            <a:spLocks noGrp="1" noChangeArrowheads="1"/>
          </p:cNvSpPr>
          <p:nvPr>
            <p:ph type="title"/>
          </p:nvPr>
        </p:nvSpPr>
        <p:spPr>
          <a:xfrm>
            <a:off x="270934" y="54187"/>
            <a:ext cx="11732192" cy="1625600"/>
          </a:xfrm>
          <a:noFill/>
          <a:ln/>
        </p:spPr>
        <p:txBody>
          <a:bodyPr/>
          <a:lstStyle/>
          <a:p>
            <a:r>
              <a:rPr lang="en-US" dirty="0"/>
              <a:t>VF – Calculation of </a:t>
            </a:r>
            <a:r>
              <a:rPr lang="en-US" i="1" dirty="0" err="1"/>
              <a:t>aff</a:t>
            </a:r>
            <a:r>
              <a:rPr lang="en-US" dirty="0"/>
              <a:t>(</a:t>
            </a:r>
            <a:r>
              <a:rPr lang="en-US" i="1" dirty="0"/>
              <a:t>A</a:t>
            </a:r>
            <a:r>
              <a:rPr lang="en-US" i="1" baseline="-25000" dirty="0"/>
              <a:t>i</a:t>
            </a:r>
            <a:r>
              <a:rPr lang="en-US" dirty="0"/>
              <a:t>, </a:t>
            </a:r>
            <a:r>
              <a:rPr lang="en-US" i="1" dirty="0" err="1"/>
              <a:t>A</a:t>
            </a:r>
            <a:r>
              <a:rPr lang="en-US" i="1" baseline="-25000" dirty="0" err="1"/>
              <a:t>j</a:t>
            </a:r>
            <a:r>
              <a:rPr lang="en-US" dirty="0"/>
              <a:t>)</a:t>
            </a:r>
          </a:p>
        </p:txBody>
      </p:sp>
      <p:sp>
        <p:nvSpPr>
          <p:cNvPr id="85005" name="Rectangle 13"/>
          <p:cNvSpPr>
            <a:spLocks noChangeArrowheads="1"/>
          </p:cNvSpPr>
          <p:nvPr/>
        </p:nvSpPr>
        <p:spPr bwMode="auto">
          <a:xfrm>
            <a:off x="9317850" y="5784427"/>
            <a:ext cx="377048" cy="386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700" dirty="0">
                <a:solidFill>
                  <a:srgbClr val="000000"/>
                </a:solidFill>
                <a:latin typeface="Book Antiqua"/>
              </a:rPr>
              <a:t>4</a:t>
            </a:r>
          </a:p>
        </p:txBody>
      </p:sp>
      <p:grpSp>
        <p:nvGrpSpPr>
          <p:cNvPr id="2" name="Group 1"/>
          <p:cNvGrpSpPr/>
          <p:nvPr/>
        </p:nvGrpSpPr>
        <p:grpSpPr>
          <a:xfrm>
            <a:off x="9074858" y="2932584"/>
            <a:ext cx="3245836" cy="2839742"/>
            <a:chOff x="9074858" y="3282809"/>
            <a:chExt cx="3245836" cy="2839742"/>
          </a:xfrm>
        </p:grpSpPr>
        <p:sp>
          <p:nvSpPr>
            <p:cNvPr id="84998" name="Rectangle 6"/>
            <p:cNvSpPr>
              <a:spLocks noChangeArrowheads="1"/>
            </p:cNvSpPr>
            <p:nvPr/>
          </p:nvSpPr>
          <p:spPr bwMode="auto">
            <a:xfrm>
              <a:off x="9092920" y="3806613"/>
              <a:ext cx="490502"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q</a:t>
              </a:r>
            </a:p>
          </p:txBody>
        </p:sp>
        <p:sp>
          <p:nvSpPr>
            <p:cNvPr id="84999" name="Rectangle 7"/>
            <p:cNvSpPr>
              <a:spLocks noChangeArrowheads="1"/>
            </p:cNvSpPr>
            <p:nvPr/>
          </p:nvSpPr>
          <p:spPr bwMode="auto">
            <a:xfrm>
              <a:off x="9317850" y="3996267"/>
              <a:ext cx="377048" cy="386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700" dirty="0">
                  <a:solidFill>
                    <a:srgbClr val="000000"/>
                  </a:solidFill>
                  <a:latin typeface="Book Antiqua"/>
                </a:rPr>
                <a:t>1</a:t>
              </a:r>
            </a:p>
          </p:txBody>
        </p:sp>
        <p:sp>
          <p:nvSpPr>
            <p:cNvPr id="85000" name="Rectangle 8"/>
            <p:cNvSpPr>
              <a:spLocks noChangeArrowheads="1"/>
            </p:cNvSpPr>
            <p:nvPr/>
          </p:nvSpPr>
          <p:spPr bwMode="auto">
            <a:xfrm>
              <a:off x="9092920" y="4420729"/>
              <a:ext cx="490502"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q</a:t>
              </a:r>
            </a:p>
          </p:txBody>
        </p:sp>
        <p:sp>
          <p:nvSpPr>
            <p:cNvPr id="85001" name="Rectangle 9"/>
            <p:cNvSpPr>
              <a:spLocks noChangeArrowheads="1"/>
            </p:cNvSpPr>
            <p:nvPr/>
          </p:nvSpPr>
          <p:spPr bwMode="auto">
            <a:xfrm>
              <a:off x="9335912" y="4610383"/>
              <a:ext cx="377048" cy="386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700" dirty="0">
                  <a:solidFill>
                    <a:srgbClr val="000000"/>
                  </a:solidFill>
                  <a:latin typeface="Book Antiqua"/>
                </a:rPr>
                <a:t>2</a:t>
              </a:r>
            </a:p>
          </p:txBody>
        </p:sp>
        <p:sp>
          <p:nvSpPr>
            <p:cNvPr id="85002" name="Rectangle 10"/>
            <p:cNvSpPr>
              <a:spLocks noChangeArrowheads="1"/>
            </p:cNvSpPr>
            <p:nvPr/>
          </p:nvSpPr>
          <p:spPr bwMode="auto">
            <a:xfrm>
              <a:off x="9074858" y="4980658"/>
              <a:ext cx="490502"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q</a:t>
              </a:r>
            </a:p>
          </p:txBody>
        </p:sp>
        <p:sp>
          <p:nvSpPr>
            <p:cNvPr id="85003" name="Rectangle 11"/>
            <p:cNvSpPr>
              <a:spLocks noChangeArrowheads="1"/>
            </p:cNvSpPr>
            <p:nvPr/>
          </p:nvSpPr>
          <p:spPr bwMode="auto">
            <a:xfrm>
              <a:off x="9299787" y="5170312"/>
              <a:ext cx="377048" cy="386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700" dirty="0">
                  <a:solidFill>
                    <a:srgbClr val="000000"/>
                  </a:solidFill>
                  <a:latin typeface="Book Antiqua"/>
                </a:rPr>
                <a:t>3</a:t>
              </a:r>
            </a:p>
          </p:txBody>
        </p:sp>
        <p:sp>
          <p:nvSpPr>
            <p:cNvPr id="85004" name="Rectangle 12"/>
            <p:cNvSpPr>
              <a:spLocks noChangeArrowheads="1"/>
            </p:cNvSpPr>
            <p:nvPr/>
          </p:nvSpPr>
          <p:spPr bwMode="auto">
            <a:xfrm>
              <a:off x="9092920" y="5594773"/>
              <a:ext cx="490502"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q</a:t>
              </a:r>
            </a:p>
          </p:txBody>
        </p:sp>
        <p:grpSp>
          <p:nvGrpSpPr>
            <p:cNvPr id="85008" name="Group 16"/>
            <p:cNvGrpSpPr>
              <a:grpSpLocks/>
            </p:cNvGrpSpPr>
            <p:nvPr/>
          </p:nvGrpSpPr>
          <p:grpSpPr bwMode="auto">
            <a:xfrm>
              <a:off x="9880035" y="3910471"/>
              <a:ext cx="255130" cy="2133601"/>
              <a:chOff x="4376" y="1732"/>
              <a:chExt cx="113" cy="945"/>
            </a:xfrm>
          </p:grpSpPr>
          <p:sp>
            <p:nvSpPr>
              <p:cNvPr id="85006" name="Line 14"/>
              <p:cNvSpPr>
                <a:spLocks noChangeShapeType="1"/>
              </p:cNvSpPr>
              <p:nvPr/>
            </p:nvSpPr>
            <p:spPr bwMode="auto">
              <a:xfrm>
                <a:off x="4380" y="1736"/>
                <a:ext cx="10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85007" name="Freeform 15"/>
              <p:cNvSpPr>
                <a:spLocks/>
              </p:cNvSpPr>
              <p:nvPr/>
            </p:nvSpPr>
            <p:spPr bwMode="auto">
              <a:xfrm>
                <a:off x="4376" y="1732"/>
                <a:ext cx="113" cy="945"/>
              </a:xfrm>
              <a:custGeom>
                <a:avLst/>
                <a:gdLst>
                  <a:gd name="T0" fmla="*/ 0 w 113"/>
                  <a:gd name="T1" fmla="*/ 0 h 945"/>
                  <a:gd name="T2" fmla="*/ 0 w 113"/>
                  <a:gd name="T3" fmla="*/ 944 h 945"/>
                  <a:gd name="T4" fmla="*/ 112 w 113"/>
                  <a:gd name="T5" fmla="*/ 944 h 945"/>
                </a:gdLst>
                <a:ahLst/>
                <a:cxnLst>
                  <a:cxn ang="0">
                    <a:pos x="T0" y="T1"/>
                  </a:cxn>
                  <a:cxn ang="0">
                    <a:pos x="T2" y="T3"/>
                  </a:cxn>
                  <a:cxn ang="0">
                    <a:pos x="T4" y="T5"/>
                  </a:cxn>
                </a:cxnLst>
                <a:rect l="0" t="0" r="r" b="b"/>
                <a:pathLst>
                  <a:path w="113" h="945">
                    <a:moveTo>
                      <a:pt x="0" y="0"/>
                    </a:moveTo>
                    <a:lnTo>
                      <a:pt x="0" y="944"/>
                    </a:lnTo>
                    <a:lnTo>
                      <a:pt x="112" y="944"/>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dirty="0">
                  <a:latin typeface="Book Antiqua"/>
                </a:endParaRPr>
              </a:p>
            </p:txBody>
          </p:sp>
        </p:grpSp>
        <p:sp>
          <p:nvSpPr>
            <p:cNvPr id="85009" name="Rectangle 17"/>
            <p:cNvSpPr>
              <a:spLocks noChangeArrowheads="1"/>
            </p:cNvSpPr>
            <p:nvPr/>
          </p:nvSpPr>
          <p:spPr bwMode="auto">
            <a:xfrm>
              <a:off x="10106918" y="3282809"/>
              <a:ext cx="52159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S</a:t>
              </a:r>
            </a:p>
          </p:txBody>
        </p:sp>
        <p:sp>
          <p:nvSpPr>
            <p:cNvPr id="85010" name="Rectangle 18"/>
            <p:cNvSpPr>
              <a:spLocks noChangeArrowheads="1"/>
            </p:cNvSpPr>
            <p:nvPr/>
          </p:nvSpPr>
          <p:spPr bwMode="auto">
            <a:xfrm>
              <a:off x="10365459" y="3508587"/>
              <a:ext cx="377048" cy="386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700" dirty="0">
                  <a:solidFill>
                    <a:srgbClr val="000000"/>
                  </a:solidFill>
                  <a:latin typeface="Book Antiqua"/>
                </a:rPr>
                <a:t>1</a:t>
              </a:r>
            </a:p>
          </p:txBody>
        </p:sp>
        <p:sp>
          <p:nvSpPr>
            <p:cNvPr id="85011" name="Rectangle 19"/>
            <p:cNvSpPr>
              <a:spLocks noChangeArrowheads="1"/>
            </p:cNvSpPr>
            <p:nvPr/>
          </p:nvSpPr>
          <p:spPr bwMode="auto">
            <a:xfrm>
              <a:off x="10865532" y="3282809"/>
              <a:ext cx="52159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S</a:t>
              </a:r>
            </a:p>
          </p:txBody>
        </p:sp>
        <p:sp>
          <p:nvSpPr>
            <p:cNvPr id="85012" name="Rectangle 20"/>
            <p:cNvSpPr>
              <a:spLocks noChangeArrowheads="1"/>
            </p:cNvSpPr>
            <p:nvPr/>
          </p:nvSpPr>
          <p:spPr bwMode="auto">
            <a:xfrm>
              <a:off x="11124072" y="3508587"/>
              <a:ext cx="377048" cy="386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700" dirty="0">
                  <a:solidFill>
                    <a:srgbClr val="000000"/>
                  </a:solidFill>
                  <a:latin typeface="Book Antiqua"/>
                </a:rPr>
                <a:t>2</a:t>
              </a:r>
            </a:p>
          </p:txBody>
        </p:sp>
        <p:sp>
          <p:nvSpPr>
            <p:cNvPr id="85013" name="Rectangle 21"/>
            <p:cNvSpPr>
              <a:spLocks noChangeArrowheads="1"/>
            </p:cNvSpPr>
            <p:nvPr/>
          </p:nvSpPr>
          <p:spPr bwMode="auto">
            <a:xfrm>
              <a:off x="11678332" y="3282809"/>
              <a:ext cx="52159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S</a:t>
              </a:r>
            </a:p>
          </p:txBody>
        </p:sp>
        <p:sp>
          <p:nvSpPr>
            <p:cNvPr id="85014" name="Rectangle 22"/>
            <p:cNvSpPr>
              <a:spLocks noChangeArrowheads="1"/>
            </p:cNvSpPr>
            <p:nvPr/>
          </p:nvSpPr>
          <p:spPr bwMode="auto">
            <a:xfrm>
              <a:off x="11936872" y="3508587"/>
              <a:ext cx="377048" cy="386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1700" dirty="0">
                  <a:solidFill>
                    <a:srgbClr val="000000"/>
                  </a:solidFill>
                  <a:latin typeface="Book Antiqua"/>
                </a:rPr>
                <a:t>3</a:t>
              </a:r>
            </a:p>
          </p:txBody>
        </p:sp>
        <p:grpSp>
          <p:nvGrpSpPr>
            <p:cNvPr id="85017" name="Group 25"/>
            <p:cNvGrpSpPr>
              <a:grpSpLocks/>
            </p:cNvGrpSpPr>
            <p:nvPr/>
          </p:nvGrpSpPr>
          <p:grpSpPr bwMode="auto">
            <a:xfrm>
              <a:off x="12065564" y="3910471"/>
              <a:ext cx="255130" cy="2133601"/>
              <a:chOff x="5344" y="1732"/>
              <a:chExt cx="113" cy="945"/>
            </a:xfrm>
          </p:grpSpPr>
          <p:sp>
            <p:nvSpPr>
              <p:cNvPr id="85015" name="Line 23"/>
              <p:cNvSpPr>
                <a:spLocks noChangeShapeType="1"/>
              </p:cNvSpPr>
              <p:nvPr/>
            </p:nvSpPr>
            <p:spPr bwMode="auto">
              <a:xfrm flipH="1">
                <a:off x="5344" y="1736"/>
                <a:ext cx="112"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85016" name="Freeform 24"/>
              <p:cNvSpPr>
                <a:spLocks/>
              </p:cNvSpPr>
              <p:nvPr/>
            </p:nvSpPr>
            <p:spPr bwMode="auto">
              <a:xfrm>
                <a:off x="5344" y="1732"/>
                <a:ext cx="113" cy="945"/>
              </a:xfrm>
              <a:custGeom>
                <a:avLst/>
                <a:gdLst>
                  <a:gd name="T0" fmla="*/ 112 w 113"/>
                  <a:gd name="T1" fmla="*/ 0 h 945"/>
                  <a:gd name="T2" fmla="*/ 112 w 113"/>
                  <a:gd name="T3" fmla="*/ 944 h 945"/>
                  <a:gd name="T4" fmla="*/ 0 w 113"/>
                  <a:gd name="T5" fmla="*/ 944 h 945"/>
                </a:gdLst>
                <a:ahLst/>
                <a:cxnLst>
                  <a:cxn ang="0">
                    <a:pos x="T0" y="T1"/>
                  </a:cxn>
                  <a:cxn ang="0">
                    <a:pos x="T2" y="T3"/>
                  </a:cxn>
                  <a:cxn ang="0">
                    <a:pos x="T4" y="T5"/>
                  </a:cxn>
                </a:cxnLst>
                <a:rect l="0" t="0" r="r" b="b"/>
                <a:pathLst>
                  <a:path w="113" h="945">
                    <a:moveTo>
                      <a:pt x="112" y="0"/>
                    </a:moveTo>
                    <a:lnTo>
                      <a:pt x="112" y="944"/>
                    </a:lnTo>
                    <a:lnTo>
                      <a:pt x="0" y="944"/>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dirty="0">
                  <a:latin typeface="Book Antiqua"/>
                </a:endParaRPr>
              </a:p>
            </p:txBody>
          </p:sp>
        </p:grpSp>
        <p:sp>
          <p:nvSpPr>
            <p:cNvPr id="85018" name="Rectangle 26"/>
            <p:cNvSpPr>
              <a:spLocks noChangeArrowheads="1"/>
            </p:cNvSpPr>
            <p:nvPr/>
          </p:nvSpPr>
          <p:spPr bwMode="auto">
            <a:xfrm>
              <a:off x="10125243" y="3860800"/>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15</a:t>
              </a:r>
            </a:p>
          </p:txBody>
        </p:sp>
        <p:sp>
          <p:nvSpPr>
            <p:cNvPr id="85019" name="Rectangle 27"/>
            <p:cNvSpPr>
              <a:spLocks noChangeArrowheads="1"/>
            </p:cNvSpPr>
            <p:nvPr/>
          </p:nvSpPr>
          <p:spPr bwMode="auto">
            <a:xfrm>
              <a:off x="10865794" y="3860800"/>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20</a:t>
              </a:r>
            </a:p>
          </p:txBody>
        </p:sp>
        <p:sp>
          <p:nvSpPr>
            <p:cNvPr id="85020" name="Rectangle 28"/>
            <p:cNvSpPr>
              <a:spLocks noChangeArrowheads="1"/>
            </p:cNvSpPr>
            <p:nvPr/>
          </p:nvSpPr>
          <p:spPr bwMode="auto">
            <a:xfrm>
              <a:off x="11678594" y="3878862"/>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10</a:t>
              </a:r>
            </a:p>
          </p:txBody>
        </p:sp>
        <p:sp>
          <p:nvSpPr>
            <p:cNvPr id="85021" name="Rectangle 29"/>
            <p:cNvSpPr>
              <a:spLocks noChangeArrowheads="1"/>
            </p:cNvSpPr>
            <p:nvPr/>
          </p:nvSpPr>
          <p:spPr bwMode="auto">
            <a:xfrm>
              <a:off x="10298910" y="4474915"/>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5</a:t>
              </a:r>
            </a:p>
          </p:txBody>
        </p:sp>
        <p:sp>
          <p:nvSpPr>
            <p:cNvPr id="85022" name="Rectangle 30"/>
            <p:cNvSpPr>
              <a:spLocks noChangeArrowheads="1"/>
            </p:cNvSpPr>
            <p:nvPr/>
          </p:nvSpPr>
          <p:spPr bwMode="auto">
            <a:xfrm>
              <a:off x="11039461" y="4474915"/>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0</a:t>
              </a:r>
            </a:p>
          </p:txBody>
        </p:sp>
        <p:sp>
          <p:nvSpPr>
            <p:cNvPr id="85023" name="Rectangle 31"/>
            <p:cNvSpPr>
              <a:spLocks noChangeArrowheads="1"/>
            </p:cNvSpPr>
            <p:nvPr/>
          </p:nvSpPr>
          <p:spPr bwMode="auto">
            <a:xfrm>
              <a:off x="11852261" y="4474915"/>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0</a:t>
              </a:r>
            </a:p>
          </p:txBody>
        </p:sp>
        <p:sp>
          <p:nvSpPr>
            <p:cNvPr id="85024" name="Rectangle 32"/>
            <p:cNvSpPr>
              <a:spLocks noChangeArrowheads="1"/>
            </p:cNvSpPr>
            <p:nvPr/>
          </p:nvSpPr>
          <p:spPr bwMode="auto">
            <a:xfrm>
              <a:off x="10125243" y="5034844"/>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25</a:t>
              </a:r>
            </a:p>
          </p:txBody>
        </p:sp>
        <p:sp>
          <p:nvSpPr>
            <p:cNvPr id="85025" name="Rectangle 33"/>
            <p:cNvSpPr>
              <a:spLocks noChangeArrowheads="1"/>
            </p:cNvSpPr>
            <p:nvPr/>
          </p:nvSpPr>
          <p:spPr bwMode="auto">
            <a:xfrm>
              <a:off x="11678594" y="5034844"/>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25</a:t>
              </a:r>
            </a:p>
          </p:txBody>
        </p:sp>
        <p:sp>
          <p:nvSpPr>
            <p:cNvPr id="85026" name="Rectangle 34"/>
            <p:cNvSpPr>
              <a:spLocks noChangeArrowheads="1"/>
            </p:cNvSpPr>
            <p:nvPr/>
          </p:nvSpPr>
          <p:spPr bwMode="auto">
            <a:xfrm>
              <a:off x="10865794" y="5034844"/>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25</a:t>
              </a:r>
            </a:p>
          </p:txBody>
        </p:sp>
      </p:grpSp>
      <p:sp>
        <p:nvSpPr>
          <p:cNvPr id="85027" name="Rectangle 35"/>
          <p:cNvSpPr>
            <a:spLocks noChangeArrowheads="1"/>
          </p:cNvSpPr>
          <p:nvPr/>
        </p:nvSpPr>
        <p:spPr bwMode="auto">
          <a:xfrm>
            <a:off x="10298910" y="5648960"/>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3</a:t>
            </a:r>
          </a:p>
        </p:txBody>
      </p:sp>
      <p:sp>
        <p:nvSpPr>
          <p:cNvPr id="85028" name="Rectangle 36"/>
          <p:cNvSpPr>
            <a:spLocks noChangeArrowheads="1"/>
          </p:cNvSpPr>
          <p:nvPr/>
        </p:nvSpPr>
        <p:spPr bwMode="auto">
          <a:xfrm>
            <a:off x="11039461" y="5648960"/>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0</a:t>
            </a:r>
          </a:p>
        </p:txBody>
      </p:sp>
      <p:sp>
        <p:nvSpPr>
          <p:cNvPr id="85029" name="Rectangle 37"/>
          <p:cNvSpPr>
            <a:spLocks noChangeArrowheads="1"/>
          </p:cNvSpPr>
          <p:nvPr/>
        </p:nvSpPr>
        <p:spPr bwMode="auto">
          <a:xfrm>
            <a:off x="11852261" y="5630898"/>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0</a:t>
            </a:r>
          </a:p>
        </p:txBody>
      </p:sp>
      <p:sp>
        <p:nvSpPr>
          <p:cNvPr id="85030" name="Rectangle 38"/>
          <p:cNvSpPr>
            <a:spLocks noChangeArrowheads="1"/>
          </p:cNvSpPr>
          <p:nvPr/>
        </p:nvSpPr>
        <p:spPr bwMode="auto">
          <a:xfrm>
            <a:off x="9844433" y="6425635"/>
            <a:ext cx="576952"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A</a:t>
            </a:r>
          </a:p>
        </p:txBody>
      </p:sp>
      <p:sp>
        <p:nvSpPr>
          <p:cNvPr id="85031" name="Rectangle 39"/>
          <p:cNvSpPr>
            <a:spLocks noChangeArrowheads="1"/>
          </p:cNvSpPr>
          <p:nvPr/>
        </p:nvSpPr>
        <p:spPr bwMode="auto">
          <a:xfrm>
            <a:off x="10494673" y="6407573"/>
            <a:ext cx="576952"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A</a:t>
            </a:r>
          </a:p>
        </p:txBody>
      </p:sp>
      <p:sp>
        <p:nvSpPr>
          <p:cNvPr id="85032" name="Rectangle 40"/>
          <p:cNvSpPr>
            <a:spLocks noChangeArrowheads="1"/>
          </p:cNvSpPr>
          <p:nvPr/>
        </p:nvSpPr>
        <p:spPr bwMode="auto">
          <a:xfrm>
            <a:off x="11144913" y="6425635"/>
            <a:ext cx="576952"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A</a:t>
            </a:r>
          </a:p>
        </p:txBody>
      </p:sp>
      <p:sp>
        <p:nvSpPr>
          <p:cNvPr id="85033" name="Rectangle 41"/>
          <p:cNvSpPr>
            <a:spLocks noChangeArrowheads="1"/>
          </p:cNvSpPr>
          <p:nvPr/>
        </p:nvSpPr>
        <p:spPr bwMode="auto">
          <a:xfrm>
            <a:off x="11795153" y="6425635"/>
            <a:ext cx="576952"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A</a:t>
            </a:r>
          </a:p>
        </p:txBody>
      </p:sp>
      <p:grpSp>
        <p:nvGrpSpPr>
          <p:cNvPr id="85038" name="Group 46"/>
          <p:cNvGrpSpPr>
            <a:grpSpLocks/>
          </p:cNvGrpSpPr>
          <p:nvPr/>
        </p:nvGrpSpPr>
        <p:grpSpPr bwMode="auto">
          <a:xfrm>
            <a:off x="10191609" y="6615284"/>
            <a:ext cx="2244230" cy="352214"/>
            <a:chOff x="4514" y="2930"/>
            <a:chExt cx="994" cy="156"/>
          </a:xfrm>
        </p:grpSpPr>
        <p:sp>
          <p:nvSpPr>
            <p:cNvPr id="85034" name="Rectangle 42"/>
            <p:cNvSpPr>
              <a:spLocks noChangeArrowheads="1"/>
            </p:cNvSpPr>
            <p:nvPr/>
          </p:nvSpPr>
          <p:spPr bwMode="auto">
            <a:xfrm>
              <a:off x="4514" y="2930"/>
              <a:ext cx="129"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1700" dirty="0">
                  <a:solidFill>
                    <a:srgbClr val="000000"/>
                  </a:solidFill>
                  <a:latin typeface="Book Antiqua"/>
                </a:rPr>
                <a:t>1</a:t>
              </a:r>
            </a:p>
          </p:txBody>
        </p:sp>
        <p:sp>
          <p:nvSpPr>
            <p:cNvPr id="85035" name="Rectangle 43"/>
            <p:cNvSpPr>
              <a:spLocks noChangeArrowheads="1"/>
            </p:cNvSpPr>
            <p:nvPr/>
          </p:nvSpPr>
          <p:spPr bwMode="auto">
            <a:xfrm>
              <a:off x="4802" y="2930"/>
              <a:ext cx="129"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1700" dirty="0">
                  <a:solidFill>
                    <a:srgbClr val="000000"/>
                  </a:solidFill>
                  <a:latin typeface="Book Antiqua"/>
                </a:rPr>
                <a:t>2</a:t>
              </a:r>
            </a:p>
          </p:txBody>
        </p:sp>
        <p:sp>
          <p:nvSpPr>
            <p:cNvPr id="85036" name="Rectangle 44"/>
            <p:cNvSpPr>
              <a:spLocks noChangeArrowheads="1"/>
            </p:cNvSpPr>
            <p:nvPr/>
          </p:nvSpPr>
          <p:spPr bwMode="auto">
            <a:xfrm>
              <a:off x="5088" y="2930"/>
              <a:ext cx="132"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1700" dirty="0">
                  <a:solidFill>
                    <a:srgbClr val="000000"/>
                  </a:solidFill>
                  <a:latin typeface="Book Antiqua"/>
                </a:rPr>
                <a:t>3</a:t>
              </a:r>
            </a:p>
          </p:txBody>
        </p:sp>
        <p:sp>
          <p:nvSpPr>
            <p:cNvPr id="85037" name="Rectangle 45"/>
            <p:cNvSpPr>
              <a:spLocks noChangeArrowheads="1"/>
            </p:cNvSpPr>
            <p:nvPr/>
          </p:nvSpPr>
          <p:spPr bwMode="auto">
            <a:xfrm>
              <a:off x="5376" y="2930"/>
              <a:ext cx="132"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1700" dirty="0">
                  <a:solidFill>
                    <a:srgbClr val="000000"/>
                  </a:solidFill>
                  <a:latin typeface="Book Antiqua"/>
                </a:rPr>
                <a:t>4</a:t>
              </a:r>
            </a:p>
          </p:txBody>
        </p:sp>
      </p:grpSp>
      <p:sp>
        <p:nvSpPr>
          <p:cNvPr id="85039" name="Rectangle 47"/>
          <p:cNvSpPr>
            <a:spLocks noChangeArrowheads="1"/>
          </p:cNvSpPr>
          <p:nvPr/>
        </p:nvSpPr>
        <p:spPr bwMode="auto">
          <a:xfrm>
            <a:off x="9158068" y="6913315"/>
            <a:ext cx="576952"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A</a:t>
            </a:r>
          </a:p>
        </p:txBody>
      </p:sp>
      <p:sp>
        <p:nvSpPr>
          <p:cNvPr id="85040" name="Rectangle 48"/>
          <p:cNvSpPr>
            <a:spLocks noChangeArrowheads="1"/>
          </p:cNvSpPr>
          <p:nvPr/>
        </p:nvSpPr>
        <p:spPr bwMode="auto">
          <a:xfrm>
            <a:off x="9140006" y="7364871"/>
            <a:ext cx="576952"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A</a:t>
            </a:r>
          </a:p>
        </p:txBody>
      </p:sp>
      <p:sp>
        <p:nvSpPr>
          <p:cNvPr id="85041" name="Rectangle 49"/>
          <p:cNvSpPr>
            <a:spLocks noChangeArrowheads="1"/>
          </p:cNvSpPr>
          <p:nvPr/>
        </p:nvSpPr>
        <p:spPr bwMode="auto">
          <a:xfrm>
            <a:off x="9103881" y="7816427"/>
            <a:ext cx="576952"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A</a:t>
            </a:r>
          </a:p>
        </p:txBody>
      </p:sp>
      <p:sp>
        <p:nvSpPr>
          <p:cNvPr id="85042" name="Rectangle 50"/>
          <p:cNvSpPr>
            <a:spLocks noChangeArrowheads="1"/>
          </p:cNvSpPr>
          <p:nvPr/>
        </p:nvSpPr>
        <p:spPr bwMode="auto">
          <a:xfrm>
            <a:off x="9103881" y="8304107"/>
            <a:ext cx="576952"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A</a:t>
            </a:r>
          </a:p>
        </p:txBody>
      </p:sp>
      <p:grpSp>
        <p:nvGrpSpPr>
          <p:cNvPr id="85047" name="Group 55"/>
          <p:cNvGrpSpPr>
            <a:grpSpLocks/>
          </p:cNvGrpSpPr>
          <p:nvPr/>
        </p:nvGrpSpPr>
        <p:grpSpPr bwMode="auto">
          <a:xfrm>
            <a:off x="9500730" y="7121031"/>
            <a:ext cx="298026" cy="1724943"/>
            <a:chOff x="4208" y="3154"/>
            <a:chExt cx="132" cy="764"/>
          </a:xfrm>
        </p:grpSpPr>
        <p:sp>
          <p:nvSpPr>
            <p:cNvPr id="85043" name="Rectangle 51"/>
            <p:cNvSpPr>
              <a:spLocks noChangeArrowheads="1"/>
            </p:cNvSpPr>
            <p:nvPr/>
          </p:nvSpPr>
          <p:spPr bwMode="auto">
            <a:xfrm>
              <a:off x="4210" y="3154"/>
              <a:ext cx="129"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1700" dirty="0">
                  <a:solidFill>
                    <a:srgbClr val="000000"/>
                  </a:solidFill>
                  <a:latin typeface="Book Antiqua"/>
                </a:rPr>
                <a:t>1</a:t>
              </a:r>
            </a:p>
          </p:txBody>
        </p:sp>
        <p:sp>
          <p:nvSpPr>
            <p:cNvPr id="85044" name="Rectangle 52"/>
            <p:cNvSpPr>
              <a:spLocks noChangeArrowheads="1"/>
            </p:cNvSpPr>
            <p:nvPr/>
          </p:nvSpPr>
          <p:spPr bwMode="auto">
            <a:xfrm>
              <a:off x="4210" y="3346"/>
              <a:ext cx="129"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1700" dirty="0">
                  <a:solidFill>
                    <a:srgbClr val="000000"/>
                  </a:solidFill>
                  <a:latin typeface="Book Antiqua"/>
                </a:rPr>
                <a:t>2</a:t>
              </a:r>
            </a:p>
          </p:txBody>
        </p:sp>
        <p:sp>
          <p:nvSpPr>
            <p:cNvPr id="85045" name="Rectangle 53"/>
            <p:cNvSpPr>
              <a:spLocks noChangeArrowheads="1"/>
            </p:cNvSpPr>
            <p:nvPr/>
          </p:nvSpPr>
          <p:spPr bwMode="auto">
            <a:xfrm>
              <a:off x="4208" y="3546"/>
              <a:ext cx="132"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1700" dirty="0">
                  <a:solidFill>
                    <a:srgbClr val="000000"/>
                  </a:solidFill>
                  <a:latin typeface="Book Antiqua"/>
                </a:rPr>
                <a:t>3</a:t>
              </a:r>
            </a:p>
          </p:txBody>
        </p:sp>
        <p:sp>
          <p:nvSpPr>
            <p:cNvPr id="85046" name="Rectangle 54"/>
            <p:cNvSpPr>
              <a:spLocks noChangeArrowheads="1"/>
            </p:cNvSpPr>
            <p:nvPr/>
          </p:nvSpPr>
          <p:spPr bwMode="auto">
            <a:xfrm>
              <a:off x="4208" y="3762"/>
              <a:ext cx="132"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1700" dirty="0">
                  <a:solidFill>
                    <a:srgbClr val="000000"/>
                  </a:solidFill>
                  <a:latin typeface="Book Antiqua"/>
                </a:rPr>
                <a:t>4</a:t>
              </a:r>
            </a:p>
          </p:txBody>
        </p:sp>
      </p:grpSp>
      <p:grpSp>
        <p:nvGrpSpPr>
          <p:cNvPr id="85051" name="Group 59"/>
          <p:cNvGrpSpPr>
            <a:grpSpLocks/>
          </p:cNvGrpSpPr>
          <p:nvPr/>
        </p:nvGrpSpPr>
        <p:grpSpPr bwMode="auto">
          <a:xfrm>
            <a:off x="9852942" y="6935893"/>
            <a:ext cx="288996" cy="1914596"/>
            <a:chOff x="4364" y="3072"/>
            <a:chExt cx="128" cy="848"/>
          </a:xfrm>
        </p:grpSpPr>
        <p:sp>
          <p:nvSpPr>
            <p:cNvPr id="85048" name="Line 56"/>
            <p:cNvSpPr>
              <a:spLocks noChangeShapeType="1"/>
            </p:cNvSpPr>
            <p:nvPr/>
          </p:nvSpPr>
          <p:spPr bwMode="auto">
            <a:xfrm>
              <a:off x="4364" y="3072"/>
              <a:ext cx="0" cy="84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85049" name="Line 57"/>
            <p:cNvSpPr>
              <a:spLocks noChangeShapeType="1"/>
            </p:cNvSpPr>
            <p:nvPr/>
          </p:nvSpPr>
          <p:spPr bwMode="auto">
            <a:xfrm>
              <a:off x="4364" y="3072"/>
              <a:ext cx="12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85050" name="Line 58"/>
            <p:cNvSpPr>
              <a:spLocks noChangeShapeType="1"/>
            </p:cNvSpPr>
            <p:nvPr/>
          </p:nvSpPr>
          <p:spPr bwMode="auto">
            <a:xfrm>
              <a:off x="4364" y="3920"/>
              <a:ext cx="12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grpSp>
      <p:grpSp>
        <p:nvGrpSpPr>
          <p:cNvPr id="85055" name="Group 63"/>
          <p:cNvGrpSpPr>
            <a:grpSpLocks/>
          </p:cNvGrpSpPr>
          <p:nvPr/>
        </p:nvGrpSpPr>
        <p:grpSpPr bwMode="auto">
          <a:xfrm>
            <a:off x="12101689" y="6908800"/>
            <a:ext cx="316089" cy="1923627"/>
            <a:chOff x="5360" y="3060"/>
            <a:chExt cx="140" cy="852"/>
          </a:xfrm>
        </p:grpSpPr>
        <p:sp>
          <p:nvSpPr>
            <p:cNvPr id="85052" name="Line 60"/>
            <p:cNvSpPr>
              <a:spLocks noChangeShapeType="1"/>
            </p:cNvSpPr>
            <p:nvPr/>
          </p:nvSpPr>
          <p:spPr bwMode="auto">
            <a:xfrm flipV="1">
              <a:off x="5500" y="3060"/>
              <a:ext cx="0" cy="84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85053" name="Line 61"/>
            <p:cNvSpPr>
              <a:spLocks noChangeShapeType="1"/>
            </p:cNvSpPr>
            <p:nvPr/>
          </p:nvSpPr>
          <p:spPr bwMode="auto">
            <a:xfrm flipH="1">
              <a:off x="5360" y="3912"/>
              <a:ext cx="136"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85054" name="Line 62"/>
            <p:cNvSpPr>
              <a:spLocks noChangeShapeType="1"/>
            </p:cNvSpPr>
            <p:nvPr/>
          </p:nvSpPr>
          <p:spPr bwMode="auto">
            <a:xfrm flipH="1">
              <a:off x="5360" y="3064"/>
              <a:ext cx="136"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grpSp>
      <p:sp>
        <p:nvSpPr>
          <p:cNvPr id="85056" name="Rectangle 64"/>
          <p:cNvSpPr>
            <a:spLocks noChangeArrowheads="1"/>
          </p:cNvSpPr>
          <p:nvPr/>
        </p:nvSpPr>
        <p:spPr bwMode="auto">
          <a:xfrm>
            <a:off x="9872372" y="6913315"/>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45</a:t>
            </a:r>
          </a:p>
        </p:txBody>
      </p:sp>
      <p:sp>
        <p:nvSpPr>
          <p:cNvPr id="85057" name="Rectangle 65"/>
          <p:cNvSpPr>
            <a:spLocks noChangeArrowheads="1"/>
          </p:cNvSpPr>
          <p:nvPr/>
        </p:nvSpPr>
        <p:spPr bwMode="auto">
          <a:xfrm>
            <a:off x="10642092" y="6913315"/>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0</a:t>
            </a:r>
          </a:p>
        </p:txBody>
      </p:sp>
      <p:sp>
        <p:nvSpPr>
          <p:cNvPr id="85058" name="Rectangle 66"/>
          <p:cNvSpPr>
            <a:spLocks noChangeArrowheads="1"/>
          </p:cNvSpPr>
          <p:nvPr/>
        </p:nvSpPr>
        <p:spPr bwMode="auto">
          <a:xfrm>
            <a:off x="11190914" y="6913315"/>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45</a:t>
            </a:r>
          </a:p>
        </p:txBody>
      </p:sp>
      <p:sp>
        <p:nvSpPr>
          <p:cNvPr id="85059" name="Rectangle 67"/>
          <p:cNvSpPr>
            <a:spLocks noChangeArrowheads="1"/>
          </p:cNvSpPr>
          <p:nvPr/>
        </p:nvSpPr>
        <p:spPr bwMode="auto">
          <a:xfrm>
            <a:off x="11978697" y="6895253"/>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0</a:t>
            </a:r>
          </a:p>
        </p:txBody>
      </p:sp>
      <p:sp>
        <p:nvSpPr>
          <p:cNvPr id="85060" name="Rectangle 68"/>
          <p:cNvSpPr>
            <a:spLocks noChangeArrowheads="1"/>
          </p:cNvSpPr>
          <p:nvPr/>
        </p:nvSpPr>
        <p:spPr bwMode="auto">
          <a:xfrm>
            <a:off x="10046039" y="7364871"/>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0</a:t>
            </a:r>
          </a:p>
        </p:txBody>
      </p:sp>
      <p:sp>
        <p:nvSpPr>
          <p:cNvPr id="85061" name="Rectangle 69"/>
          <p:cNvSpPr>
            <a:spLocks noChangeArrowheads="1"/>
          </p:cNvSpPr>
          <p:nvPr/>
        </p:nvSpPr>
        <p:spPr bwMode="auto">
          <a:xfrm>
            <a:off x="10468425" y="7328747"/>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80</a:t>
            </a:r>
          </a:p>
        </p:txBody>
      </p:sp>
      <p:sp>
        <p:nvSpPr>
          <p:cNvPr id="85062" name="Rectangle 70"/>
          <p:cNvSpPr>
            <a:spLocks noChangeArrowheads="1"/>
          </p:cNvSpPr>
          <p:nvPr/>
        </p:nvSpPr>
        <p:spPr bwMode="auto">
          <a:xfrm>
            <a:off x="11364581" y="7328747"/>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5</a:t>
            </a:r>
          </a:p>
        </p:txBody>
      </p:sp>
      <p:sp>
        <p:nvSpPr>
          <p:cNvPr id="85063" name="Rectangle 71"/>
          <p:cNvSpPr>
            <a:spLocks noChangeArrowheads="1"/>
          </p:cNvSpPr>
          <p:nvPr/>
        </p:nvSpPr>
        <p:spPr bwMode="auto">
          <a:xfrm>
            <a:off x="11805030" y="7346809"/>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75</a:t>
            </a:r>
          </a:p>
        </p:txBody>
      </p:sp>
      <p:sp>
        <p:nvSpPr>
          <p:cNvPr id="85064" name="Rectangle 72"/>
          <p:cNvSpPr>
            <a:spLocks noChangeArrowheads="1"/>
          </p:cNvSpPr>
          <p:nvPr/>
        </p:nvSpPr>
        <p:spPr bwMode="auto">
          <a:xfrm>
            <a:off x="9872372" y="7816427"/>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45</a:t>
            </a:r>
          </a:p>
        </p:txBody>
      </p:sp>
      <p:sp>
        <p:nvSpPr>
          <p:cNvPr id="85065" name="Rectangle 73"/>
          <p:cNvSpPr>
            <a:spLocks noChangeArrowheads="1"/>
          </p:cNvSpPr>
          <p:nvPr/>
        </p:nvSpPr>
        <p:spPr bwMode="auto">
          <a:xfrm>
            <a:off x="10642092" y="7816427"/>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5</a:t>
            </a:r>
          </a:p>
        </p:txBody>
      </p:sp>
      <p:sp>
        <p:nvSpPr>
          <p:cNvPr id="85066" name="Rectangle 74"/>
          <p:cNvSpPr>
            <a:spLocks noChangeArrowheads="1"/>
          </p:cNvSpPr>
          <p:nvPr/>
        </p:nvSpPr>
        <p:spPr bwMode="auto">
          <a:xfrm>
            <a:off x="11190914" y="7816427"/>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53</a:t>
            </a:r>
          </a:p>
        </p:txBody>
      </p:sp>
      <p:sp>
        <p:nvSpPr>
          <p:cNvPr id="85067" name="Rectangle 75"/>
          <p:cNvSpPr>
            <a:spLocks noChangeArrowheads="1"/>
          </p:cNvSpPr>
          <p:nvPr/>
        </p:nvSpPr>
        <p:spPr bwMode="auto">
          <a:xfrm>
            <a:off x="11978697" y="7816427"/>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3</a:t>
            </a:r>
          </a:p>
        </p:txBody>
      </p:sp>
      <p:sp>
        <p:nvSpPr>
          <p:cNvPr id="85068" name="Rectangle 76"/>
          <p:cNvSpPr>
            <a:spLocks noChangeArrowheads="1"/>
          </p:cNvSpPr>
          <p:nvPr/>
        </p:nvSpPr>
        <p:spPr bwMode="auto">
          <a:xfrm>
            <a:off x="10046039" y="8286044"/>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0</a:t>
            </a:r>
          </a:p>
        </p:txBody>
      </p:sp>
      <p:sp>
        <p:nvSpPr>
          <p:cNvPr id="85069" name="Rectangle 77"/>
          <p:cNvSpPr>
            <a:spLocks noChangeArrowheads="1"/>
          </p:cNvSpPr>
          <p:nvPr/>
        </p:nvSpPr>
        <p:spPr bwMode="auto">
          <a:xfrm>
            <a:off x="10468425" y="8267982"/>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75</a:t>
            </a:r>
          </a:p>
        </p:txBody>
      </p:sp>
      <p:sp>
        <p:nvSpPr>
          <p:cNvPr id="85070" name="Rectangle 78"/>
          <p:cNvSpPr>
            <a:spLocks noChangeArrowheads="1"/>
          </p:cNvSpPr>
          <p:nvPr/>
        </p:nvSpPr>
        <p:spPr bwMode="auto">
          <a:xfrm>
            <a:off x="11364581" y="8267982"/>
            <a:ext cx="42660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3</a:t>
            </a:r>
          </a:p>
        </p:txBody>
      </p:sp>
      <p:sp>
        <p:nvSpPr>
          <p:cNvPr id="85071" name="Rectangle 79"/>
          <p:cNvSpPr>
            <a:spLocks noChangeArrowheads="1"/>
          </p:cNvSpPr>
          <p:nvPr/>
        </p:nvSpPr>
        <p:spPr bwMode="auto">
          <a:xfrm>
            <a:off x="11805030" y="8286044"/>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78</a:t>
            </a:r>
          </a:p>
        </p:txBody>
      </p:sp>
      <mc:AlternateContent xmlns:mc="http://schemas.openxmlformats.org/markup-compatibility/2006" xmlns:p14="http://schemas.microsoft.com/office/powerpoint/2010/main">
        <mc:Choice Requires="p14">
          <p:contentPart p14:bwMode="auto" r:id="rId2">
            <p14:nvContentPartPr>
              <p14:cNvPr id="21" name="Ink 20"/>
              <p14:cNvContentPartPr/>
              <p14:nvPr/>
            </p14:nvContentPartPr>
            <p14:xfrm>
              <a:off x="6279908" y="8971506"/>
              <a:ext cx="121320" cy="379800"/>
            </p14:xfrm>
          </p:contentPart>
        </mc:Choice>
        <mc:Fallback xmlns="">
          <p:pic>
            <p:nvPicPr>
              <p:cNvPr id="21" name="Ink 20"/>
              <p:cNvPicPr/>
              <p:nvPr/>
            </p:nvPicPr>
            <p:blipFill>
              <a:blip r:embed="rId17"/>
              <a:stretch>
                <a:fillRect/>
              </a:stretch>
            </p:blipFill>
            <p:spPr>
              <a:xfrm>
                <a:off x="6268028" y="8959626"/>
                <a:ext cx="145080" cy="4035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4" name="Ink 23"/>
              <p14:cNvContentPartPr/>
              <p14:nvPr/>
            </p14:nvContentPartPr>
            <p14:xfrm>
              <a:off x="7815668" y="9023346"/>
              <a:ext cx="414360" cy="69120"/>
            </p14:xfrm>
          </p:contentPart>
        </mc:Choice>
        <mc:Fallback xmlns="">
          <p:pic>
            <p:nvPicPr>
              <p:cNvPr id="24" name="Ink 23"/>
              <p:cNvPicPr/>
              <p:nvPr/>
            </p:nvPicPr>
            <p:blipFill>
              <a:blip r:embed="rId23"/>
              <a:stretch>
                <a:fillRect/>
              </a:stretch>
            </p:blipFill>
            <p:spPr>
              <a:xfrm>
                <a:off x="7803788" y="9011466"/>
                <a:ext cx="43812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7" name="Ink 26"/>
              <p14:cNvContentPartPr/>
              <p14:nvPr/>
            </p14:nvContentPartPr>
            <p14:xfrm>
              <a:off x="9868748" y="9092106"/>
              <a:ext cx="360" cy="86760"/>
            </p14:xfrm>
          </p:contentPart>
        </mc:Choice>
        <mc:Fallback xmlns="">
          <p:pic>
            <p:nvPicPr>
              <p:cNvPr id="27" name="Ink 26"/>
              <p:cNvPicPr/>
              <p:nvPr/>
            </p:nvPicPr>
            <p:blipFill>
              <a:blip r:embed="rId29"/>
              <a:stretch>
                <a:fillRect/>
              </a:stretch>
            </p:blipFill>
            <p:spPr>
              <a:xfrm>
                <a:off x="9856868" y="9080226"/>
                <a:ext cx="2412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85092" name="Ink 85091"/>
              <p14:cNvContentPartPr/>
              <p14:nvPr/>
            </p14:nvContentPartPr>
            <p14:xfrm>
              <a:off x="7867148" y="5762466"/>
              <a:ext cx="360" cy="360"/>
            </p14:xfrm>
          </p:contentPart>
        </mc:Choice>
        <mc:Fallback xmlns="">
          <p:pic>
            <p:nvPicPr>
              <p:cNvPr id="85092" name="Ink 85091"/>
              <p:cNvPicPr/>
              <p:nvPr/>
            </p:nvPicPr>
            <p:blipFill>
              <a:blip r:embed="rId75"/>
              <a:stretch>
                <a:fillRect/>
              </a:stretch>
            </p:blipFill>
            <p:spPr>
              <a:xfrm>
                <a:off x="7855268" y="5750586"/>
                <a:ext cx="24120" cy="24120"/>
              </a:xfrm>
              <a:prstGeom prst="rect">
                <a:avLst/>
              </a:prstGeom>
            </p:spPr>
          </p:pic>
        </mc:Fallback>
      </mc:AlternateContent>
      <p:sp>
        <p:nvSpPr>
          <p:cNvPr id="3" name="Content Placeholder 2"/>
          <p:cNvSpPr>
            <a:spLocks noGrp="1"/>
          </p:cNvSpPr>
          <p:nvPr>
            <p:ph idx="1"/>
          </p:nvPr>
        </p:nvSpPr>
        <p:spPr/>
        <p:txBody>
          <a:bodyPr/>
          <a:lstStyle/>
          <a:p>
            <a:endParaRPr lang="en-US" dirty="0"/>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body" idx="1"/>
          </p:nvPr>
        </p:nvSpPr>
        <p:spPr>
          <a:noFill/>
          <a:ln/>
        </p:spPr>
        <p:txBody>
          <a:bodyPr/>
          <a:lstStyle/>
          <a:p>
            <a:pPr>
              <a:lnSpc>
                <a:spcPct val="100000"/>
              </a:lnSpc>
            </a:pPr>
            <a:r>
              <a:rPr lang="en-US" dirty="0"/>
              <a:t>Take the attribute affinity matrix </a:t>
            </a:r>
            <a:r>
              <a:rPr lang="en-US" i="1" dirty="0"/>
              <a:t>AA</a:t>
            </a:r>
            <a:r>
              <a:rPr lang="en-US" dirty="0"/>
              <a:t> and reorganize the attribute orders to form clusters where the attributes in each cluster demonstrate high affinity to one another.</a:t>
            </a:r>
          </a:p>
          <a:p>
            <a:pPr>
              <a:lnSpc>
                <a:spcPct val="100000"/>
              </a:lnSpc>
            </a:pPr>
            <a:r>
              <a:rPr lang="en-US" dirty="0">
                <a:solidFill>
                  <a:schemeClr val="tx2"/>
                </a:solidFill>
              </a:rPr>
              <a:t>Bond Energy Algorithm </a:t>
            </a:r>
            <a:r>
              <a:rPr lang="en-US" dirty="0"/>
              <a:t>(BEA) has been used for clustering of entities.  BEA finds an ordering of entities (in our case attributes) such that the global affinity </a:t>
            </a:r>
            <a:r>
              <a:rPr lang="en-US" dirty="0" smtClean="0"/>
              <a:t>measure is </a:t>
            </a:r>
            <a:r>
              <a:rPr lang="en-US" dirty="0"/>
              <a:t>maximized.</a:t>
            </a:r>
          </a:p>
        </p:txBody>
      </p:sp>
      <p:sp>
        <p:nvSpPr>
          <p:cNvPr id="86019" name="Rectangle 3"/>
          <p:cNvSpPr>
            <a:spLocks noGrp="1" noChangeArrowheads="1"/>
          </p:cNvSpPr>
          <p:nvPr>
            <p:ph type="title"/>
          </p:nvPr>
        </p:nvSpPr>
        <p:spPr>
          <a:noFill/>
          <a:ln/>
        </p:spPr>
        <p:txBody>
          <a:bodyPr/>
          <a:lstStyle/>
          <a:p>
            <a:r>
              <a:rPr lang="en-US"/>
              <a:t>VF – Clustering Algorithm</a:t>
            </a:r>
          </a:p>
        </p:txBody>
      </p:sp>
      <p:sp>
        <p:nvSpPr>
          <p:cNvPr id="86020" name="Rectangle 4"/>
          <p:cNvSpPr>
            <a:spLocks noChangeArrowheads="1"/>
          </p:cNvSpPr>
          <p:nvPr/>
        </p:nvSpPr>
        <p:spPr bwMode="auto">
          <a:xfrm>
            <a:off x="2425858" y="7662898"/>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a:t>
            </a:r>
          </a:p>
        </p:txBody>
      </p:sp>
      <p:sp>
        <p:nvSpPr>
          <p:cNvPr id="86021" name="Rectangle 5"/>
          <p:cNvSpPr>
            <a:spLocks noChangeArrowheads="1"/>
          </p:cNvSpPr>
          <p:nvPr/>
        </p:nvSpPr>
        <p:spPr bwMode="auto">
          <a:xfrm>
            <a:off x="2425858" y="7662898"/>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  </a:t>
            </a:r>
          </a:p>
        </p:txBody>
      </p:sp>
      <p:grpSp>
        <p:nvGrpSpPr>
          <p:cNvPr id="86028" name="Group 12"/>
          <p:cNvGrpSpPr>
            <a:grpSpLocks/>
          </p:cNvGrpSpPr>
          <p:nvPr/>
        </p:nvGrpSpPr>
        <p:grpSpPr bwMode="auto">
          <a:xfrm>
            <a:off x="2280357" y="6019808"/>
            <a:ext cx="8520853" cy="1253067"/>
            <a:chOff x="1010" y="3072"/>
            <a:chExt cx="3774" cy="555"/>
          </a:xfrm>
        </p:grpSpPr>
        <p:sp>
          <p:nvSpPr>
            <p:cNvPr id="86022" name="Rectangle 6"/>
            <p:cNvSpPr>
              <a:spLocks noChangeArrowheads="1"/>
            </p:cNvSpPr>
            <p:nvPr/>
          </p:nvSpPr>
          <p:spPr bwMode="auto">
            <a:xfrm>
              <a:off x="1010" y="3154"/>
              <a:ext cx="453"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i="1" dirty="0">
                  <a:solidFill>
                    <a:srgbClr val="000000"/>
                  </a:solidFill>
                  <a:latin typeface="Book Antiqua"/>
                </a:rPr>
                <a:t>AM </a:t>
              </a:r>
              <a:r>
                <a:rPr lang="en-US" sz="2600" dirty="0" smtClean="0">
                  <a:solidFill>
                    <a:srgbClr val="000000"/>
                  </a:solidFill>
                  <a:latin typeface="Symbol" charset="0"/>
                  <a:sym typeface="Symbol"/>
                </a:rPr>
                <a:t></a:t>
              </a:r>
              <a:endParaRPr lang="en-US" sz="2600" dirty="0">
                <a:solidFill>
                  <a:srgbClr val="000000"/>
                </a:solidFill>
                <a:latin typeface="Symbol" charset="0"/>
              </a:endParaRPr>
            </a:p>
          </p:txBody>
        </p:sp>
        <p:sp>
          <p:nvSpPr>
            <p:cNvPr id="86023" name="Rectangle 7"/>
            <p:cNvSpPr>
              <a:spLocks noChangeArrowheads="1"/>
            </p:cNvSpPr>
            <p:nvPr/>
          </p:nvSpPr>
          <p:spPr bwMode="auto">
            <a:xfrm>
              <a:off x="1961" y="3154"/>
              <a:ext cx="2823"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(affinity of </a:t>
              </a:r>
              <a:r>
                <a:rPr lang="en-US" sz="2600" i="1" dirty="0">
                  <a:solidFill>
                    <a:srgbClr val="000000"/>
                  </a:solidFill>
                  <a:latin typeface="Book Antiqua"/>
                </a:rPr>
                <a:t>A</a:t>
              </a:r>
              <a:r>
                <a:rPr lang="en-US" i="1" baseline="-25000" dirty="0">
                  <a:solidFill>
                    <a:srgbClr val="000000"/>
                  </a:solidFill>
                  <a:latin typeface="Book Antiqua"/>
                </a:rPr>
                <a:t>i</a:t>
              </a:r>
              <a:r>
                <a:rPr lang="en-US" sz="2600" dirty="0">
                  <a:solidFill>
                    <a:srgbClr val="000000"/>
                  </a:solidFill>
                  <a:latin typeface="Book Antiqua"/>
                </a:rPr>
                <a:t> and </a:t>
              </a:r>
              <a:r>
                <a:rPr lang="en-US" sz="2600" i="1" dirty="0" err="1">
                  <a:solidFill>
                    <a:srgbClr val="000000"/>
                  </a:solidFill>
                  <a:latin typeface="Book Antiqua"/>
                </a:rPr>
                <a:t>A</a:t>
              </a:r>
              <a:r>
                <a:rPr lang="en-US" i="1" baseline="-25000" dirty="0" err="1">
                  <a:solidFill>
                    <a:srgbClr val="000000"/>
                  </a:solidFill>
                  <a:latin typeface="Book Antiqua"/>
                </a:rPr>
                <a:t>j</a:t>
              </a:r>
              <a:r>
                <a:rPr lang="en-US" sz="2600" dirty="0">
                  <a:solidFill>
                    <a:srgbClr val="000000"/>
                  </a:solidFill>
                  <a:latin typeface="Book Antiqua"/>
                </a:rPr>
                <a:t> with their neighbors) </a:t>
              </a:r>
            </a:p>
          </p:txBody>
        </p:sp>
        <p:sp>
          <p:nvSpPr>
            <p:cNvPr id="86024" name="Rectangle 8"/>
            <p:cNvSpPr>
              <a:spLocks noChangeArrowheads="1"/>
            </p:cNvSpPr>
            <p:nvPr/>
          </p:nvSpPr>
          <p:spPr bwMode="auto">
            <a:xfrm>
              <a:off x="1749" y="3383"/>
              <a:ext cx="178"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i="1" dirty="0">
                  <a:solidFill>
                    <a:srgbClr val="000000"/>
                  </a:solidFill>
                  <a:latin typeface="Book Antiqua"/>
                </a:rPr>
                <a:t>j</a:t>
              </a:r>
            </a:p>
          </p:txBody>
        </p:sp>
        <p:sp>
          <p:nvSpPr>
            <p:cNvPr id="86025" name="Rectangle 9"/>
            <p:cNvSpPr>
              <a:spLocks noChangeArrowheads="1"/>
            </p:cNvSpPr>
            <p:nvPr/>
          </p:nvSpPr>
          <p:spPr bwMode="auto">
            <a:xfrm>
              <a:off x="1628" y="3072"/>
              <a:ext cx="298" cy="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5100" dirty="0" smtClean="0">
                  <a:solidFill>
                    <a:srgbClr val="000000"/>
                  </a:solidFill>
                  <a:latin typeface="Symbol" charset="0"/>
                  <a:sym typeface="Symbol"/>
                </a:rPr>
                <a:t></a:t>
              </a:r>
              <a:endParaRPr lang="en-US" sz="5100" dirty="0">
                <a:solidFill>
                  <a:srgbClr val="000000"/>
                </a:solidFill>
                <a:latin typeface="Symbol" charset="0"/>
              </a:endParaRPr>
            </a:p>
          </p:txBody>
        </p:sp>
        <p:sp>
          <p:nvSpPr>
            <p:cNvPr id="86026" name="Rectangle 10"/>
            <p:cNvSpPr>
              <a:spLocks noChangeArrowheads="1"/>
            </p:cNvSpPr>
            <p:nvPr/>
          </p:nvSpPr>
          <p:spPr bwMode="auto">
            <a:xfrm>
              <a:off x="1525" y="3383"/>
              <a:ext cx="162"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i="1" dirty="0" err="1">
                  <a:solidFill>
                    <a:srgbClr val="000000"/>
                  </a:solidFill>
                  <a:latin typeface="Book Antiqua"/>
                </a:rPr>
                <a:t>i</a:t>
              </a:r>
              <a:endParaRPr lang="en-US" i="1" dirty="0">
                <a:solidFill>
                  <a:srgbClr val="000000"/>
                </a:solidFill>
                <a:latin typeface="Book Antiqua"/>
              </a:endParaRPr>
            </a:p>
          </p:txBody>
        </p:sp>
        <p:sp>
          <p:nvSpPr>
            <p:cNvPr id="86027" name="Rectangle 11"/>
            <p:cNvSpPr>
              <a:spLocks noChangeArrowheads="1"/>
            </p:cNvSpPr>
            <p:nvPr/>
          </p:nvSpPr>
          <p:spPr bwMode="auto">
            <a:xfrm>
              <a:off x="1396" y="3072"/>
              <a:ext cx="298" cy="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5100" dirty="0" smtClean="0">
                  <a:solidFill>
                    <a:srgbClr val="000000"/>
                  </a:solidFill>
                  <a:latin typeface="Symbol" charset="0"/>
                  <a:sym typeface="Symbol"/>
                </a:rPr>
                <a:t></a:t>
              </a:r>
              <a:endParaRPr lang="en-US" sz="5100" dirty="0">
                <a:solidFill>
                  <a:srgbClr val="000000"/>
                </a:solidFill>
                <a:latin typeface="Symbol" charset="0"/>
              </a:endParaRPr>
            </a:p>
          </p:txBody>
        </p:sp>
      </p:gr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noChangeArrowheads="1"/>
          </p:cNvSpPr>
          <p:nvPr>
            <p:ph type="title"/>
          </p:nvPr>
        </p:nvSpPr>
        <p:spPr>
          <a:noFill/>
          <a:ln/>
        </p:spPr>
        <p:txBody>
          <a:bodyPr/>
          <a:lstStyle/>
          <a:p>
            <a:r>
              <a:rPr lang="en-US"/>
              <a:t>Bond Energy Algorithm</a:t>
            </a:r>
          </a:p>
        </p:txBody>
      </p:sp>
      <p:sp>
        <p:nvSpPr>
          <p:cNvPr id="87042" name="Rectangle 2"/>
          <p:cNvSpPr>
            <a:spLocks noGrp="1" noChangeArrowheads="1"/>
          </p:cNvSpPr>
          <p:nvPr>
            <p:ph idx="1"/>
          </p:nvPr>
        </p:nvSpPr>
        <p:spPr>
          <a:noFill/>
          <a:ln/>
        </p:spPr>
        <p:txBody>
          <a:bodyPr/>
          <a:lstStyle/>
          <a:p>
            <a:pPr>
              <a:buNone/>
              <a:tabLst>
                <a:tab pos="1788132" algn="l"/>
              </a:tabLst>
            </a:pPr>
            <a:r>
              <a:rPr lang="en-US" dirty="0">
                <a:solidFill>
                  <a:schemeClr val="hlink"/>
                </a:solidFill>
              </a:rPr>
              <a:t>Input:</a:t>
            </a:r>
            <a:r>
              <a:rPr lang="en-US" dirty="0"/>
              <a:t>	The </a:t>
            </a:r>
            <a:r>
              <a:rPr lang="en-US" i="1" dirty="0"/>
              <a:t>AA</a:t>
            </a:r>
            <a:r>
              <a:rPr lang="en-US" dirty="0"/>
              <a:t> matrix</a:t>
            </a:r>
          </a:p>
          <a:p>
            <a:pPr>
              <a:buNone/>
              <a:tabLst>
                <a:tab pos="1788132" algn="l"/>
              </a:tabLst>
            </a:pPr>
            <a:r>
              <a:rPr lang="en-US" dirty="0">
                <a:solidFill>
                  <a:schemeClr val="hlink"/>
                </a:solidFill>
              </a:rPr>
              <a:t>Output:</a:t>
            </a:r>
            <a:r>
              <a:rPr lang="en-US" dirty="0"/>
              <a:t>	The clustered affinity matrix </a:t>
            </a:r>
            <a:r>
              <a:rPr lang="en-US" i="1" dirty="0"/>
              <a:t>CA</a:t>
            </a:r>
            <a:r>
              <a:rPr lang="en-US" dirty="0"/>
              <a:t>  which </a:t>
            </a:r>
            <a:r>
              <a:rPr lang="en-US" dirty="0" smtClean="0"/>
              <a:t>is </a:t>
            </a:r>
            <a:r>
              <a:rPr lang="en-US" dirty="0"/>
              <a:t>a perturbation	of </a:t>
            </a:r>
            <a:r>
              <a:rPr lang="en-US" i="1" dirty="0"/>
              <a:t>AA</a:t>
            </a:r>
            <a:r>
              <a:rPr lang="en-US" dirty="0"/>
              <a:t> </a:t>
            </a:r>
          </a:p>
          <a:p>
            <a:pPr>
              <a:buClr>
                <a:schemeClr val="hlink"/>
              </a:buClr>
              <a:buSzPct val="100000"/>
              <a:buFont typeface="Wingdings" pitchFamily="2" charset="2"/>
              <a:buChar char=""/>
              <a:tabLst>
                <a:tab pos="1788132" algn="l"/>
              </a:tabLst>
            </a:pPr>
            <a:r>
              <a:rPr lang="en-US" i="1" dirty="0">
                <a:solidFill>
                  <a:schemeClr val="tx2"/>
                </a:solidFill>
              </a:rPr>
              <a:t>Initialization</a:t>
            </a:r>
            <a:r>
              <a:rPr lang="en-US" dirty="0">
                <a:solidFill>
                  <a:schemeClr val="tx2"/>
                </a:solidFill>
              </a:rPr>
              <a:t>: </a:t>
            </a:r>
            <a:r>
              <a:rPr lang="en-US" dirty="0"/>
              <a:t>Place and fix one of the columns of </a:t>
            </a:r>
            <a:r>
              <a:rPr lang="en-US" i="1" dirty="0"/>
              <a:t>AA</a:t>
            </a:r>
            <a:r>
              <a:rPr lang="en-US" dirty="0"/>
              <a:t> in </a:t>
            </a:r>
            <a:r>
              <a:rPr lang="en-US" i="1" dirty="0"/>
              <a:t>CA</a:t>
            </a:r>
            <a:r>
              <a:rPr lang="en-US" dirty="0"/>
              <a:t>.</a:t>
            </a:r>
          </a:p>
          <a:p>
            <a:pPr>
              <a:buClr>
                <a:schemeClr val="hlink"/>
              </a:buClr>
              <a:buSzPct val="100000"/>
              <a:buFont typeface="Wingdings" pitchFamily="2" charset="2"/>
              <a:buChar char=""/>
              <a:tabLst>
                <a:tab pos="1788132" algn="l"/>
              </a:tabLst>
            </a:pPr>
            <a:r>
              <a:rPr lang="en-US" i="1" dirty="0">
                <a:solidFill>
                  <a:schemeClr val="tx2"/>
                </a:solidFill>
              </a:rPr>
              <a:t>Iteration</a:t>
            </a:r>
            <a:r>
              <a:rPr lang="en-US" dirty="0">
                <a:solidFill>
                  <a:schemeClr val="tx2"/>
                </a:solidFill>
              </a:rPr>
              <a:t>:</a:t>
            </a:r>
            <a:r>
              <a:rPr lang="en-US" dirty="0"/>
              <a:t> Place the remaining </a:t>
            </a:r>
            <a:r>
              <a:rPr lang="en-US" i="1" dirty="0"/>
              <a:t>n-</a:t>
            </a:r>
            <a:r>
              <a:rPr lang="en-US" i="1" dirty="0" err="1"/>
              <a:t>i</a:t>
            </a:r>
            <a:r>
              <a:rPr lang="en-US" dirty="0"/>
              <a:t> columns in the remaining </a:t>
            </a:r>
            <a:r>
              <a:rPr lang="en-US" i="1" dirty="0"/>
              <a:t>i</a:t>
            </a:r>
            <a:r>
              <a:rPr lang="en-US" dirty="0"/>
              <a:t>+1 positions in the </a:t>
            </a:r>
            <a:r>
              <a:rPr lang="en-US" i="1" dirty="0"/>
              <a:t>CA</a:t>
            </a:r>
            <a:r>
              <a:rPr lang="en-US" dirty="0"/>
              <a:t> matrix. For each column, choose the placement that makes the most contribution to the global affinity measure.</a:t>
            </a:r>
          </a:p>
          <a:p>
            <a:pPr>
              <a:buClr>
                <a:schemeClr val="hlink"/>
              </a:buClr>
              <a:buSzPct val="100000"/>
              <a:buFont typeface="Wingdings" pitchFamily="2" charset="2"/>
              <a:buChar char=""/>
              <a:tabLst>
                <a:tab pos="1788132" algn="l"/>
              </a:tabLst>
            </a:pPr>
            <a:r>
              <a:rPr lang="en-US" i="1" dirty="0">
                <a:solidFill>
                  <a:schemeClr val="tx2"/>
                </a:solidFill>
              </a:rPr>
              <a:t>Row </a:t>
            </a:r>
            <a:r>
              <a:rPr lang="en-US" i="1" dirty="0" smtClean="0">
                <a:solidFill>
                  <a:schemeClr val="tx2"/>
                </a:solidFill>
              </a:rPr>
              <a:t>order</a:t>
            </a:r>
            <a:r>
              <a:rPr lang="en-US" dirty="0" smtClean="0">
                <a:solidFill>
                  <a:schemeClr val="tx2"/>
                </a:solidFill>
              </a:rPr>
              <a:t>:</a:t>
            </a:r>
            <a:r>
              <a:rPr lang="en-US" dirty="0"/>
              <a:t> </a:t>
            </a:r>
            <a:r>
              <a:rPr lang="en-US" dirty="0" smtClean="0"/>
              <a:t>Order </a:t>
            </a:r>
            <a:r>
              <a:rPr lang="en-US" dirty="0"/>
              <a:t>the rows according to the column ordering.</a:t>
            </a:r>
          </a:p>
        </p:txBody>
      </p:sp>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Grp="1" noChangeArrowheads="1"/>
          </p:cNvSpPr>
          <p:nvPr>
            <p:ph type="title"/>
          </p:nvPr>
        </p:nvSpPr>
        <p:spPr>
          <a:noFill/>
          <a:ln/>
        </p:spPr>
        <p:txBody>
          <a:bodyPr/>
          <a:lstStyle/>
          <a:p>
            <a:r>
              <a:rPr lang="en-US"/>
              <a:t>Bond Energy Algorithm</a:t>
            </a:r>
          </a:p>
        </p:txBody>
      </p:sp>
      <p:sp>
        <p:nvSpPr>
          <p:cNvPr id="88066" name="Rectangle 2"/>
          <p:cNvSpPr>
            <a:spLocks noGrp="1" noChangeArrowheads="1"/>
          </p:cNvSpPr>
          <p:nvPr>
            <p:ph idx="1"/>
          </p:nvPr>
        </p:nvSpPr>
        <p:spPr>
          <a:noFill/>
          <a:ln/>
        </p:spPr>
        <p:txBody>
          <a:bodyPr/>
          <a:lstStyle/>
          <a:p>
            <a:pPr marL="0" indent="0">
              <a:buNone/>
            </a:pPr>
            <a:r>
              <a:rPr lang="en-US" dirty="0"/>
              <a:t>“Best” placement? Define contribution of a placement:</a:t>
            </a:r>
          </a:p>
          <a:p>
            <a:pPr marL="0" indent="0">
              <a:buNone/>
            </a:pPr>
            <a:endParaRPr lang="en-US" dirty="0"/>
          </a:p>
          <a:p>
            <a:pPr lvl="1">
              <a:buFont typeface="Monotype Sorts" charset="0"/>
              <a:buNone/>
            </a:pPr>
            <a:r>
              <a:rPr lang="en-US" i="1" dirty="0" err="1"/>
              <a:t>cont</a:t>
            </a:r>
            <a:r>
              <a:rPr lang="en-US" dirty="0"/>
              <a:t>(</a:t>
            </a:r>
            <a:r>
              <a:rPr lang="en-US" i="1" dirty="0"/>
              <a:t>A</a:t>
            </a:r>
            <a:r>
              <a:rPr lang="en-US" i="1" baseline="-25000" dirty="0"/>
              <a:t>i</a:t>
            </a:r>
            <a:r>
              <a:rPr lang="en-US" dirty="0"/>
              <a:t>, </a:t>
            </a:r>
            <a:r>
              <a:rPr lang="en-US" i="1" dirty="0" err="1"/>
              <a:t>A</a:t>
            </a:r>
            <a:r>
              <a:rPr lang="en-US" i="1" baseline="-25000" dirty="0" err="1"/>
              <a:t>k</a:t>
            </a:r>
            <a:r>
              <a:rPr lang="en-US" dirty="0"/>
              <a:t>, </a:t>
            </a:r>
            <a:r>
              <a:rPr lang="en-US" i="1" dirty="0" err="1"/>
              <a:t>A</a:t>
            </a:r>
            <a:r>
              <a:rPr lang="en-US" i="1" baseline="-25000" dirty="0" err="1"/>
              <a:t>j</a:t>
            </a:r>
            <a:r>
              <a:rPr lang="en-US" dirty="0"/>
              <a:t>) = 2</a:t>
            </a:r>
            <a:r>
              <a:rPr lang="en-US" i="1" dirty="0"/>
              <a:t>bond</a:t>
            </a:r>
            <a:r>
              <a:rPr lang="en-US" dirty="0"/>
              <a:t>(</a:t>
            </a:r>
            <a:r>
              <a:rPr lang="en-US" i="1" dirty="0"/>
              <a:t>A</a:t>
            </a:r>
            <a:r>
              <a:rPr lang="en-US" i="1" baseline="-25000" dirty="0"/>
              <a:t>i</a:t>
            </a:r>
            <a:r>
              <a:rPr lang="en-US" dirty="0"/>
              <a:t>, </a:t>
            </a:r>
            <a:r>
              <a:rPr lang="en-US" i="1" dirty="0" err="1"/>
              <a:t>A</a:t>
            </a:r>
            <a:r>
              <a:rPr lang="en-US" i="1" baseline="-25000" dirty="0" err="1"/>
              <a:t>k</a:t>
            </a:r>
            <a:r>
              <a:rPr lang="en-US" dirty="0"/>
              <a:t>)+2</a:t>
            </a:r>
            <a:r>
              <a:rPr lang="en-US" i="1" dirty="0"/>
              <a:t>bond</a:t>
            </a:r>
            <a:r>
              <a:rPr lang="en-US" dirty="0"/>
              <a:t>(</a:t>
            </a:r>
            <a:r>
              <a:rPr lang="en-US" i="1" dirty="0" err="1"/>
              <a:t>A</a:t>
            </a:r>
            <a:r>
              <a:rPr lang="en-US" i="1" baseline="-25000" dirty="0" err="1"/>
              <a:t>k</a:t>
            </a:r>
            <a:r>
              <a:rPr lang="en-US" dirty="0"/>
              <a:t>, </a:t>
            </a:r>
            <a:r>
              <a:rPr lang="en-US" i="1" dirty="0"/>
              <a:t>A</a:t>
            </a:r>
            <a:r>
              <a:rPr lang="en-US" i="1" baseline="-25000" dirty="0"/>
              <a:t>l</a:t>
            </a:r>
            <a:r>
              <a:rPr lang="en-US" dirty="0"/>
              <a:t>) –2</a:t>
            </a:r>
            <a:r>
              <a:rPr lang="en-US" i="1" dirty="0"/>
              <a:t>bond</a:t>
            </a:r>
            <a:r>
              <a:rPr lang="en-US" dirty="0"/>
              <a:t>(</a:t>
            </a:r>
            <a:r>
              <a:rPr lang="en-US" i="1" dirty="0"/>
              <a:t>A</a:t>
            </a:r>
            <a:r>
              <a:rPr lang="en-US" i="1" baseline="-25000" dirty="0"/>
              <a:t>i</a:t>
            </a:r>
            <a:r>
              <a:rPr lang="en-US" dirty="0"/>
              <a:t>, </a:t>
            </a:r>
            <a:r>
              <a:rPr lang="en-US" i="1" dirty="0" err="1"/>
              <a:t>A</a:t>
            </a:r>
            <a:r>
              <a:rPr lang="en-US" i="1" baseline="-25000" dirty="0" err="1"/>
              <a:t>j</a:t>
            </a:r>
            <a:r>
              <a:rPr lang="en-US" dirty="0"/>
              <a:t>)</a:t>
            </a:r>
          </a:p>
          <a:p>
            <a:pPr marL="0" indent="0">
              <a:buNone/>
            </a:pPr>
            <a:endParaRPr lang="en-US" dirty="0"/>
          </a:p>
          <a:p>
            <a:pPr marL="0" indent="0">
              <a:buNone/>
            </a:pPr>
            <a:r>
              <a:rPr lang="en-US" dirty="0"/>
              <a:t>where</a:t>
            </a:r>
          </a:p>
          <a:p>
            <a:pPr marL="0" indent="0"/>
            <a:endParaRPr lang="en-US" dirty="0"/>
          </a:p>
        </p:txBody>
      </p:sp>
      <p:sp>
        <p:nvSpPr>
          <p:cNvPr id="88068" name="Rectangle 4"/>
          <p:cNvSpPr>
            <a:spLocks noChangeArrowheads="1"/>
          </p:cNvSpPr>
          <p:nvPr/>
        </p:nvSpPr>
        <p:spPr bwMode="auto">
          <a:xfrm>
            <a:off x="1613058" y="6678507"/>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a:t>
            </a:r>
          </a:p>
        </p:txBody>
      </p:sp>
      <p:sp>
        <p:nvSpPr>
          <p:cNvPr id="88069" name="Rectangle 5"/>
          <p:cNvSpPr>
            <a:spLocks noChangeArrowheads="1"/>
          </p:cNvSpPr>
          <p:nvPr/>
        </p:nvSpPr>
        <p:spPr bwMode="auto">
          <a:xfrm>
            <a:off x="1613058" y="6678507"/>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  </a:t>
            </a:r>
          </a:p>
        </p:txBody>
      </p:sp>
      <p:sp>
        <p:nvSpPr>
          <p:cNvPr id="88070" name="Rectangle 6"/>
          <p:cNvSpPr>
            <a:spLocks noChangeArrowheads="1"/>
          </p:cNvSpPr>
          <p:nvPr/>
        </p:nvSpPr>
        <p:spPr bwMode="auto">
          <a:xfrm>
            <a:off x="1763014" y="6066651"/>
            <a:ext cx="223808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bond</a:t>
            </a:r>
            <a:r>
              <a:rPr lang="en-US" sz="2600" dirty="0">
                <a:solidFill>
                  <a:srgbClr val="000000"/>
                </a:solidFill>
                <a:latin typeface="Book Antiqua"/>
              </a:rPr>
              <a:t>(</a:t>
            </a:r>
            <a:r>
              <a:rPr lang="en-US" sz="2600" i="1" dirty="0" err="1">
                <a:solidFill>
                  <a:srgbClr val="000000"/>
                </a:solidFill>
                <a:latin typeface="Book Antiqua"/>
              </a:rPr>
              <a:t>A</a:t>
            </a:r>
            <a:r>
              <a:rPr lang="en-US" sz="2600" i="1" baseline="-25000" dirty="0" err="1">
                <a:solidFill>
                  <a:srgbClr val="000000"/>
                </a:solidFill>
                <a:latin typeface="Book Antiqua"/>
              </a:rPr>
              <a:t>x</a:t>
            </a:r>
            <a:r>
              <a:rPr lang="en-US" sz="2600" dirty="0" err="1">
                <a:solidFill>
                  <a:srgbClr val="000000"/>
                </a:solidFill>
                <a:latin typeface="Book Antiqua"/>
              </a:rPr>
              <a:t>,</a:t>
            </a:r>
            <a:r>
              <a:rPr lang="en-US" sz="2600" i="1" dirty="0" err="1">
                <a:solidFill>
                  <a:srgbClr val="000000"/>
                </a:solidFill>
                <a:latin typeface="Book Antiqua"/>
              </a:rPr>
              <a:t>A</a:t>
            </a:r>
            <a:r>
              <a:rPr lang="en-US" sz="2600" i="1" baseline="-25000" dirty="0" err="1">
                <a:solidFill>
                  <a:srgbClr val="000000"/>
                </a:solidFill>
                <a:latin typeface="Book Antiqua"/>
              </a:rPr>
              <a:t>y</a:t>
            </a:r>
            <a:r>
              <a:rPr lang="en-US" sz="2600" dirty="0">
                <a:solidFill>
                  <a:srgbClr val="000000"/>
                </a:solidFill>
                <a:latin typeface="Book Antiqua"/>
              </a:rPr>
              <a:t>) =</a:t>
            </a:r>
          </a:p>
        </p:txBody>
      </p:sp>
      <p:sp>
        <p:nvSpPr>
          <p:cNvPr id="88071" name="Rectangle 7"/>
          <p:cNvSpPr>
            <a:spLocks noChangeArrowheads="1"/>
          </p:cNvSpPr>
          <p:nvPr/>
        </p:nvSpPr>
        <p:spPr bwMode="auto">
          <a:xfrm>
            <a:off x="4516812" y="6046330"/>
            <a:ext cx="2946146" cy="561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pPr>
              <a:lnSpc>
                <a:spcPct val="110000"/>
              </a:lnSpc>
            </a:pPr>
            <a:r>
              <a:rPr lang="en-US" sz="2600" i="1" dirty="0" err="1">
                <a:solidFill>
                  <a:srgbClr val="000000"/>
                </a:solidFill>
                <a:latin typeface="Book Antiqua"/>
              </a:rPr>
              <a:t>aff</a:t>
            </a:r>
            <a:r>
              <a:rPr lang="en-US" sz="2600" dirty="0">
                <a:solidFill>
                  <a:srgbClr val="000000"/>
                </a:solidFill>
                <a:latin typeface="Book Antiqua"/>
              </a:rPr>
              <a:t>(</a:t>
            </a:r>
            <a:r>
              <a:rPr lang="en-US" sz="2600" i="1" dirty="0" err="1">
                <a:solidFill>
                  <a:srgbClr val="000000"/>
                </a:solidFill>
                <a:latin typeface="Book Antiqua"/>
              </a:rPr>
              <a:t>A</a:t>
            </a:r>
            <a:r>
              <a:rPr lang="en-US" sz="2600" i="1" baseline="-25000" dirty="0" err="1">
                <a:solidFill>
                  <a:srgbClr val="000000"/>
                </a:solidFill>
                <a:latin typeface="Book Antiqua"/>
              </a:rPr>
              <a:t>z</a:t>
            </a:r>
            <a:r>
              <a:rPr lang="en-US" sz="2600" dirty="0" err="1">
                <a:solidFill>
                  <a:srgbClr val="000000"/>
                </a:solidFill>
                <a:latin typeface="Book Antiqua"/>
              </a:rPr>
              <a:t>,</a:t>
            </a:r>
            <a:r>
              <a:rPr lang="en-US" sz="2600" i="1" dirty="0" err="1">
                <a:solidFill>
                  <a:srgbClr val="000000"/>
                </a:solidFill>
                <a:latin typeface="Book Antiqua"/>
              </a:rPr>
              <a:t>A</a:t>
            </a:r>
            <a:r>
              <a:rPr lang="en-US" sz="2600" i="1" baseline="-25000" dirty="0" err="1">
                <a:solidFill>
                  <a:srgbClr val="000000"/>
                </a:solidFill>
                <a:latin typeface="Book Antiqua"/>
              </a:rPr>
              <a:t>x</a:t>
            </a:r>
            <a:r>
              <a:rPr lang="en-US" sz="2600" dirty="0">
                <a:solidFill>
                  <a:srgbClr val="000000"/>
                </a:solidFill>
                <a:latin typeface="Book Antiqua"/>
              </a:rPr>
              <a:t>)</a:t>
            </a:r>
            <a:r>
              <a:rPr lang="en-US" sz="2600" i="1" dirty="0" err="1">
                <a:solidFill>
                  <a:srgbClr val="000000"/>
                </a:solidFill>
                <a:latin typeface="Book Antiqua"/>
              </a:rPr>
              <a:t>aff</a:t>
            </a:r>
            <a:r>
              <a:rPr lang="en-US" sz="2600" dirty="0">
                <a:solidFill>
                  <a:srgbClr val="000000"/>
                </a:solidFill>
                <a:latin typeface="Book Antiqua"/>
              </a:rPr>
              <a:t>(</a:t>
            </a:r>
            <a:r>
              <a:rPr lang="en-US" sz="2600" i="1" dirty="0" err="1">
                <a:solidFill>
                  <a:srgbClr val="000000"/>
                </a:solidFill>
                <a:latin typeface="Book Antiqua"/>
              </a:rPr>
              <a:t>A</a:t>
            </a:r>
            <a:r>
              <a:rPr lang="en-US" sz="2600" i="1" baseline="-25000" dirty="0" err="1">
                <a:solidFill>
                  <a:srgbClr val="000000"/>
                </a:solidFill>
                <a:latin typeface="Book Antiqua"/>
              </a:rPr>
              <a:t>z</a:t>
            </a:r>
            <a:r>
              <a:rPr lang="en-US" sz="2600" dirty="0" err="1">
                <a:solidFill>
                  <a:srgbClr val="000000"/>
                </a:solidFill>
                <a:latin typeface="Book Antiqua"/>
              </a:rPr>
              <a:t>,</a:t>
            </a:r>
            <a:r>
              <a:rPr lang="en-US" sz="2600" i="1" dirty="0" err="1">
                <a:solidFill>
                  <a:srgbClr val="000000"/>
                </a:solidFill>
                <a:latin typeface="Book Antiqua"/>
              </a:rPr>
              <a:t>A</a:t>
            </a:r>
            <a:r>
              <a:rPr lang="en-US" sz="2600" i="1" baseline="-25000" dirty="0" err="1">
                <a:solidFill>
                  <a:srgbClr val="000000"/>
                </a:solidFill>
                <a:latin typeface="Book Antiqua"/>
              </a:rPr>
              <a:t>y</a:t>
            </a:r>
            <a:r>
              <a:rPr lang="en-US" sz="2600" dirty="0">
                <a:solidFill>
                  <a:srgbClr val="000000"/>
                </a:solidFill>
                <a:latin typeface="Book Antiqua"/>
              </a:rPr>
              <a:t>)</a:t>
            </a:r>
          </a:p>
        </p:txBody>
      </p:sp>
      <p:sp>
        <p:nvSpPr>
          <p:cNvPr id="88072" name="Rectangle 8"/>
          <p:cNvSpPr>
            <a:spLocks noChangeArrowheads="1"/>
          </p:cNvSpPr>
          <p:nvPr/>
        </p:nvSpPr>
        <p:spPr bwMode="auto">
          <a:xfrm>
            <a:off x="3817863" y="6519874"/>
            <a:ext cx="970025" cy="589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i="1" dirty="0">
                <a:solidFill>
                  <a:srgbClr val="000000"/>
                </a:solidFill>
                <a:latin typeface="Book Antiqua"/>
              </a:rPr>
              <a:t>z </a:t>
            </a:r>
            <a:r>
              <a:rPr lang="en-US" dirty="0" smtClean="0">
                <a:solidFill>
                  <a:srgbClr val="000000"/>
                </a:solidFill>
                <a:latin typeface="Symbol" charset="0"/>
                <a:sym typeface="Symbol"/>
              </a:rPr>
              <a:t></a:t>
            </a:r>
            <a:r>
              <a:rPr lang="en-US" dirty="0" smtClean="0">
                <a:solidFill>
                  <a:srgbClr val="000000"/>
                </a:solidFill>
                <a:latin typeface="Book Antiqua"/>
              </a:rPr>
              <a:t>1</a:t>
            </a:r>
            <a:endParaRPr lang="en-US" dirty="0">
              <a:solidFill>
                <a:srgbClr val="000000"/>
              </a:solidFill>
              <a:latin typeface="Book Antiqua"/>
            </a:endParaRPr>
          </a:p>
        </p:txBody>
      </p:sp>
      <p:sp>
        <p:nvSpPr>
          <p:cNvPr id="88073" name="Rectangle 9"/>
          <p:cNvSpPr>
            <a:spLocks noChangeArrowheads="1"/>
          </p:cNvSpPr>
          <p:nvPr/>
        </p:nvSpPr>
        <p:spPr bwMode="auto">
          <a:xfrm>
            <a:off x="4054889" y="5596880"/>
            <a:ext cx="551060" cy="589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i="1" dirty="0">
                <a:solidFill>
                  <a:srgbClr val="000000"/>
                </a:solidFill>
                <a:latin typeface="Book Antiqua"/>
              </a:rPr>
              <a:t>n</a:t>
            </a:r>
          </a:p>
        </p:txBody>
      </p:sp>
      <p:sp>
        <p:nvSpPr>
          <p:cNvPr id="88074" name="Rectangle 10"/>
          <p:cNvSpPr>
            <a:spLocks noChangeArrowheads="1"/>
          </p:cNvSpPr>
          <p:nvPr/>
        </p:nvSpPr>
        <p:spPr bwMode="auto">
          <a:xfrm>
            <a:off x="3360820" y="5884912"/>
            <a:ext cx="1216888" cy="912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5100" dirty="0" smtClean="0">
                <a:solidFill>
                  <a:srgbClr val="000000"/>
                </a:solidFill>
                <a:latin typeface="Symbol" charset="0"/>
                <a:sym typeface="Symbol"/>
              </a:rPr>
              <a:t>   </a:t>
            </a:r>
            <a:endParaRPr lang="en-US" sz="5100" dirty="0">
              <a:solidFill>
                <a:srgbClr val="000000"/>
              </a:solidFill>
              <a:latin typeface="Symbol" charset="0"/>
            </a:endParaRPr>
          </a:p>
        </p:txBody>
      </p:sp>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3381548" y="4088826"/>
              <a:ext cx="655920" cy="36720"/>
            </p14:xfrm>
          </p:contentPart>
        </mc:Choice>
        <mc:Fallback xmlns="">
          <p:pic>
            <p:nvPicPr>
              <p:cNvPr id="5" name="Ink 4"/>
              <p:cNvPicPr/>
              <p:nvPr/>
            </p:nvPicPr>
            <p:blipFill>
              <a:blip r:embed="rId3"/>
              <a:stretch>
                <a:fillRect/>
              </a:stretch>
            </p:blipFill>
            <p:spPr>
              <a:xfrm>
                <a:off x="3373268" y="4080546"/>
                <a:ext cx="672480" cy="53280"/>
              </a:xfrm>
              <a:prstGeom prst="rect">
                <a:avLst/>
              </a:prstGeom>
            </p:spPr>
          </p:pic>
        </mc:Fallback>
      </mc:AlternateContent>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p:cNvSpPr>
            <a:spLocks noGrp="1" noChangeArrowheads="1"/>
          </p:cNvSpPr>
          <p:nvPr>
            <p:ph type="title"/>
          </p:nvPr>
        </p:nvSpPr>
        <p:spPr>
          <a:noFill/>
          <a:ln/>
        </p:spPr>
        <p:txBody>
          <a:bodyPr/>
          <a:lstStyle/>
          <a:p>
            <a:r>
              <a:rPr lang="en-US"/>
              <a:t>BEA – Example</a:t>
            </a:r>
          </a:p>
        </p:txBody>
      </p:sp>
      <p:sp>
        <p:nvSpPr>
          <p:cNvPr id="89090" name="Rectangle 2"/>
          <p:cNvSpPr>
            <a:spLocks noGrp="1" noChangeArrowheads="1"/>
          </p:cNvSpPr>
          <p:nvPr>
            <p:ph idx="1"/>
          </p:nvPr>
        </p:nvSpPr>
        <p:spPr>
          <a:xfrm>
            <a:off x="342900" y="2212504"/>
            <a:ext cx="12352188" cy="7200800"/>
          </a:xfrm>
          <a:noFill/>
          <a:ln/>
        </p:spPr>
        <p:txBody>
          <a:bodyPr/>
          <a:lstStyle/>
          <a:p>
            <a:pPr marL="0" indent="0">
              <a:spcBef>
                <a:spcPct val="15000"/>
              </a:spcBef>
              <a:buNone/>
              <a:tabLst>
                <a:tab pos="3088592" algn="l"/>
              </a:tabLst>
            </a:pPr>
            <a:r>
              <a:rPr lang="en-US" dirty="0"/>
              <a:t>Consider the following </a:t>
            </a:r>
            <a:r>
              <a:rPr lang="en-US" i="1" dirty="0"/>
              <a:t>AA</a:t>
            </a:r>
            <a:r>
              <a:rPr lang="en-US" dirty="0"/>
              <a:t> matrix and the corresponding </a:t>
            </a:r>
            <a:r>
              <a:rPr lang="en-US" i="1" dirty="0"/>
              <a:t>CA</a:t>
            </a:r>
            <a:r>
              <a:rPr lang="en-US" dirty="0"/>
              <a:t> matrix where </a:t>
            </a:r>
            <a:r>
              <a:rPr lang="en-US" i="1" dirty="0"/>
              <a:t>A</a:t>
            </a:r>
            <a:r>
              <a:rPr lang="en-US" baseline="-25000" dirty="0"/>
              <a:t>1</a:t>
            </a:r>
            <a:r>
              <a:rPr lang="en-US" dirty="0"/>
              <a:t> and </a:t>
            </a:r>
            <a:r>
              <a:rPr lang="en-US" i="1" dirty="0"/>
              <a:t>A</a:t>
            </a:r>
            <a:r>
              <a:rPr lang="en-US" baseline="-25000" dirty="0"/>
              <a:t>2</a:t>
            </a:r>
            <a:r>
              <a:rPr lang="en-US" dirty="0"/>
              <a:t> have been placed.  Place </a:t>
            </a:r>
            <a:r>
              <a:rPr lang="en-US" i="1" dirty="0"/>
              <a:t>A</a:t>
            </a:r>
            <a:r>
              <a:rPr lang="en-US" baseline="-25000" dirty="0"/>
              <a:t>3</a:t>
            </a:r>
            <a:r>
              <a:rPr lang="en-US" dirty="0"/>
              <a:t>:</a:t>
            </a:r>
          </a:p>
          <a:p>
            <a:pPr marL="0" indent="0">
              <a:spcBef>
                <a:spcPct val="15000"/>
              </a:spcBef>
              <a:buNone/>
              <a:tabLst>
                <a:tab pos="3088592" algn="l"/>
              </a:tabLst>
            </a:pPr>
            <a:endParaRPr lang="en-US" dirty="0"/>
          </a:p>
          <a:p>
            <a:pPr marL="0" indent="0">
              <a:spcBef>
                <a:spcPct val="15000"/>
              </a:spcBef>
              <a:buNone/>
              <a:tabLst>
                <a:tab pos="3088592" algn="l"/>
              </a:tabLst>
            </a:pPr>
            <a:endParaRPr lang="en-US" dirty="0"/>
          </a:p>
          <a:p>
            <a:pPr marL="0" indent="0">
              <a:spcBef>
                <a:spcPct val="15000"/>
              </a:spcBef>
              <a:buNone/>
              <a:tabLst>
                <a:tab pos="3088592" algn="l"/>
              </a:tabLst>
            </a:pPr>
            <a:endParaRPr lang="en-US" dirty="0"/>
          </a:p>
          <a:p>
            <a:pPr marL="0" indent="0">
              <a:spcBef>
                <a:spcPct val="15000"/>
              </a:spcBef>
              <a:buNone/>
              <a:tabLst>
                <a:tab pos="3088592" algn="l"/>
              </a:tabLst>
            </a:pPr>
            <a:endParaRPr lang="en-US" dirty="0"/>
          </a:p>
          <a:p>
            <a:pPr marL="0" indent="0">
              <a:spcBef>
                <a:spcPct val="15000"/>
              </a:spcBef>
              <a:buNone/>
              <a:tabLst>
                <a:tab pos="3088592" algn="l"/>
              </a:tabLst>
            </a:pPr>
            <a:endParaRPr lang="en-US" dirty="0"/>
          </a:p>
          <a:p>
            <a:pPr marL="0" indent="0">
              <a:spcBef>
                <a:spcPct val="15000"/>
              </a:spcBef>
              <a:buNone/>
              <a:tabLst>
                <a:tab pos="3088592" algn="l"/>
              </a:tabLst>
            </a:pPr>
            <a:r>
              <a:rPr lang="en-US" dirty="0"/>
              <a:t>Ordering (0-3-1) :</a:t>
            </a:r>
          </a:p>
          <a:p>
            <a:pPr lvl="1">
              <a:spcBef>
                <a:spcPct val="15000"/>
              </a:spcBef>
              <a:buNone/>
              <a:tabLst>
                <a:tab pos="3088592" algn="l"/>
              </a:tabLst>
            </a:pPr>
            <a:r>
              <a:rPr lang="en-US" i="1" dirty="0" err="1"/>
              <a:t>cont</a:t>
            </a:r>
            <a:r>
              <a:rPr lang="en-US" dirty="0"/>
              <a:t>(</a:t>
            </a:r>
            <a:r>
              <a:rPr lang="en-US" i="1" dirty="0"/>
              <a:t>A</a:t>
            </a:r>
            <a:r>
              <a:rPr lang="en-US" baseline="-25000" dirty="0"/>
              <a:t>0</a:t>
            </a:r>
            <a:r>
              <a:rPr lang="en-US" dirty="0"/>
              <a:t>,</a:t>
            </a:r>
            <a:r>
              <a:rPr lang="en-US" i="1" dirty="0"/>
              <a:t>A</a:t>
            </a:r>
            <a:r>
              <a:rPr lang="en-US" baseline="-25000" dirty="0"/>
              <a:t>3</a:t>
            </a:r>
            <a:r>
              <a:rPr lang="en-US" dirty="0"/>
              <a:t>,</a:t>
            </a:r>
            <a:r>
              <a:rPr lang="en-US" i="1" dirty="0"/>
              <a:t>A</a:t>
            </a:r>
            <a:r>
              <a:rPr lang="en-US" baseline="-25000" dirty="0"/>
              <a:t>1</a:t>
            </a:r>
            <a:r>
              <a:rPr lang="en-US" dirty="0"/>
              <a:t>)	= 2</a:t>
            </a:r>
            <a:r>
              <a:rPr lang="en-US" i="1" dirty="0"/>
              <a:t>bond</a:t>
            </a:r>
            <a:r>
              <a:rPr lang="en-US" dirty="0"/>
              <a:t>(</a:t>
            </a:r>
            <a:r>
              <a:rPr lang="en-US" i="1" dirty="0"/>
              <a:t>A</a:t>
            </a:r>
            <a:r>
              <a:rPr lang="en-US" baseline="-25000" dirty="0"/>
              <a:t>0</a:t>
            </a:r>
            <a:r>
              <a:rPr lang="en-US" dirty="0"/>
              <a:t> , </a:t>
            </a:r>
            <a:r>
              <a:rPr lang="en-US" i="1" dirty="0"/>
              <a:t>A</a:t>
            </a:r>
            <a:r>
              <a:rPr lang="en-US" baseline="-25000" dirty="0"/>
              <a:t>3</a:t>
            </a:r>
            <a:r>
              <a:rPr lang="en-US" dirty="0"/>
              <a:t>)+2</a:t>
            </a:r>
            <a:r>
              <a:rPr lang="en-US" i="1" dirty="0"/>
              <a:t>bond</a:t>
            </a:r>
            <a:r>
              <a:rPr lang="en-US" dirty="0"/>
              <a:t>(</a:t>
            </a:r>
            <a:r>
              <a:rPr lang="en-US" i="1" dirty="0"/>
              <a:t>A</a:t>
            </a:r>
            <a:r>
              <a:rPr lang="en-US" baseline="-25000" dirty="0"/>
              <a:t>3</a:t>
            </a:r>
            <a:r>
              <a:rPr lang="en-US" dirty="0"/>
              <a:t> , </a:t>
            </a:r>
            <a:r>
              <a:rPr lang="en-US" i="1" dirty="0"/>
              <a:t>A</a:t>
            </a:r>
            <a:r>
              <a:rPr lang="en-US" baseline="-25000" dirty="0"/>
              <a:t>1</a:t>
            </a:r>
            <a:r>
              <a:rPr lang="en-US" dirty="0"/>
              <a:t>)–2</a:t>
            </a:r>
            <a:r>
              <a:rPr lang="en-US" i="1" dirty="0"/>
              <a:t>bond</a:t>
            </a:r>
            <a:r>
              <a:rPr lang="en-US" dirty="0"/>
              <a:t>(</a:t>
            </a:r>
            <a:r>
              <a:rPr lang="en-US" i="1" dirty="0"/>
              <a:t>A</a:t>
            </a:r>
            <a:r>
              <a:rPr lang="en-US" baseline="-25000" dirty="0"/>
              <a:t>0</a:t>
            </a:r>
            <a:r>
              <a:rPr lang="en-US" dirty="0"/>
              <a:t> , </a:t>
            </a:r>
            <a:r>
              <a:rPr lang="en-US" i="1" dirty="0"/>
              <a:t>A</a:t>
            </a:r>
            <a:r>
              <a:rPr lang="en-US" baseline="-25000" dirty="0"/>
              <a:t>1</a:t>
            </a:r>
            <a:r>
              <a:rPr lang="en-US" dirty="0"/>
              <a:t>)</a:t>
            </a:r>
          </a:p>
          <a:p>
            <a:pPr lvl="1">
              <a:spcBef>
                <a:spcPct val="15000"/>
              </a:spcBef>
              <a:buNone/>
              <a:tabLst>
                <a:tab pos="3088592" algn="l"/>
              </a:tabLst>
            </a:pPr>
            <a:r>
              <a:rPr lang="en-US" dirty="0"/>
              <a:t>		= 2* 0 + 2* 4410 – 2*0 = 8820</a:t>
            </a:r>
          </a:p>
          <a:p>
            <a:pPr marL="0" indent="0">
              <a:spcBef>
                <a:spcPct val="15000"/>
              </a:spcBef>
              <a:buNone/>
              <a:tabLst>
                <a:tab pos="3088592" algn="l"/>
              </a:tabLst>
            </a:pPr>
            <a:r>
              <a:rPr lang="en-US" dirty="0"/>
              <a:t>Ordering (1-3-2) :</a:t>
            </a:r>
          </a:p>
          <a:p>
            <a:pPr lvl="1">
              <a:spcBef>
                <a:spcPct val="15000"/>
              </a:spcBef>
              <a:buNone/>
              <a:tabLst>
                <a:tab pos="3088592" algn="l"/>
              </a:tabLst>
            </a:pPr>
            <a:r>
              <a:rPr lang="en-US" i="1" dirty="0" err="1"/>
              <a:t>cont</a:t>
            </a:r>
            <a:r>
              <a:rPr lang="en-US" dirty="0"/>
              <a:t>(</a:t>
            </a:r>
            <a:r>
              <a:rPr lang="en-US" i="1" dirty="0"/>
              <a:t>A</a:t>
            </a:r>
            <a:r>
              <a:rPr lang="en-US" baseline="-25000" dirty="0"/>
              <a:t>1</a:t>
            </a:r>
            <a:r>
              <a:rPr lang="en-US" dirty="0"/>
              <a:t>,</a:t>
            </a:r>
            <a:r>
              <a:rPr lang="en-US" i="1" dirty="0"/>
              <a:t>A</a:t>
            </a:r>
            <a:r>
              <a:rPr lang="en-US" baseline="-25000" dirty="0"/>
              <a:t>3</a:t>
            </a:r>
            <a:r>
              <a:rPr lang="en-US" dirty="0"/>
              <a:t>,</a:t>
            </a:r>
            <a:r>
              <a:rPr lang="en-US" i="1" dirty="0"/>
              <a:t>A</a:t>
            </a:r>
            <a:r>
              <a:rPr lang="en-US" baseline="-25000" dirty="0"/>
              <a:t>2</a:t>
            </a:r>
            <a:r>
              <a:rPr lang="en-US" dirty="0"/>
              <a:t>)	= 2</a:t>
            </a:r>
            <a:r>
              <a:rPr lang="en-US" i="1" dirty="0"/>
              <a:t>bond</a:t>
            </a:r>
            <a:r>
              <a:rPr lang="en-US" dirty="0"/>
              <a:t>(</a:t>
            </a:r>
            <a:r>
              <a:rPr lang="en-US" i="1" dirty="0"/>
              <a:t>A</a:t>
            </a:r>
            <a:r>
              <a:rPr lang="en-US" baseline="-25000" dirty="0"/>
              <a:t>1</a:t>
            </a:r>
            <a:r>
              <a:rPr lang="en-US" dirty="0"/>
              <a:t> , </a:t>
            </a:r>
            <a:r>
              <a:rPr lang="en-US" i="1" dirty="0"/>
              <a:t>A</a:t>
            </a:r>
            <a:r>
              <a:rPr lang="en-US" baseline="-25000" dirty="0"/>
              <a:t>3</a:t>
            </a:r>
            <a:r>
              <a:rPr lang="en-US" dirty="0"/>
              <a:t>)+2</a:t>
            </a:r>
            <a:r>
              <a:rPr lang="en-US" i="1" dirty="0"/>
              <a:t>bond</a:t>
            </a:r>
            <a:r>
              <a:rPr lang="en-US" dirty="0"/>
              <a:t>(</a:t>
            </a:r>
            <a:r>
              <a:rPr lang="en-US" i="1" dirty="0"/>
              <a:t>A</a:t>
            </a:r>
            <a:r>
              <a:rPr lang="en-US" baseline="-25000" dirty="0"/>
              <a:t>3</a:t>
            </a:r>
            <a:r>
              <a:rPr lang="en-US" dirty="0"/>
              <a:t> , </a:t>
            </a:r>
            <a:r>
              <a:rPr lang="en-US" i="1" dirty="0"/>
              <a:t>A</a:t>
            </a:r>
            <a:r>
              <a:rPr lang="en-US" baseline="-25000" dirty="0"/>
              <a:t>2</a:t>
            </a:r>
            <a:r>
              <a:rPr lang="en-US" dirty="0"/>
              <a:t>)–2</a:t>
            </a:r>
            <a:r>
              <a:rPr lang="en-US" i="1" dirty="0"/>
              <a:t>bond</a:t>
            </a:r>
            <a:r>
              <a:rPr lang="en-US" dirty="0"/>
              <a:t>(</a:t>
            </a:r>
            <a:r>
              <a:rPr lang="en-US" i="1" dirty="0"/>
              <a:t>A</a:t>
            </a:r>
            <a:r>
              <a:rPr lang="en-US" baseline="-25000" dirty="0"/>
              <a:t>1</a:t>
            </a:r>
            <a:r>
              <a:rPr lang="en-US" dirty="0"/>
              <a:t>,</a:t>
            </a:r>
            <a:r>
              <a:rPr lang="en-US" i="1" dirty="0"/>
              <a:t>A</a:t>
            </a:r>
            <a:r>
              <a:rPr lang="en-US" baseline="-25000" dirty="0"/>
              <a:t>2</a:t>
            </a:r>
            <a:r>
              <a:rPr lang="en-US" dirty="0"/>
              <a:t>)</a:t>
            </a:r>
          </a:p>
          <a:p>
            <a:pPr lvl="1">
              <a:spcBef>
                <a:spcPct val="15000"/>
              </a:spcBef>
              <a:buNone/>
              <a:tabLst>
                <a:tab pos="3088592" algn="l"/>
              </a:tabLst>
            </a:pPr>
            <a:r>
              <a:rPr lang="en-US" dirty="0"/>
              <a:t>		= </a:t>
            </a:r>
            <a:r>
              <a:rPr lang="en-US" b="1" dirty="0">
                <a:solidFill>
                  <a:srgbClr val="FF0000"/>
                </a:solidFill>
              </a:rPr>
              <a:t>2* 4410 + 2* 890 – 2*225 = 10150</a:t>
            </a:r>
          </a:p>
          <a:p>
            <a:pPr marL="0" indent="0">
              <a:spcBef>
                <a:spcPct val="15000"/>
              </a:spcBef>
              <a:buNone/>
              <a:tabLst>
                <a:tab pos="3088592" algn="l"/>
              </a:tabLst>
            </a:pPr>
            <a:r>
              <a:rPr lang="en-US" dirty="0"/>
              <a:t>Ordering (2-3-4) :</a:t>
            </a:r>
          </a:p>
          <a:p>
            <a:pPr lvl="1">
              <a:spcBef>
                <a:spcPct val="15000"/>
              </a:spcBef>
              <a:buNone/>
              <a:tabLst>
                <a:tab pos="3088592" algn="l"/>
              </a:tabLst>
            </a:pPr>
            <a:r>
              <a:rPr lang="en-US" i="1" dirty="0" err="1"/>
              <a:t>cont</a:t>
            </a:r>
            <a:r>
              <a:rPr lang="en-US" dirty="0"/>
              <a:t> (</a:t>
            </a:r>
            <a:r>
              <a:rPr lang="en-US" i="1" dirty="0"/>
              <a:t>A</a:t>
            </a:r>
            <a:r>
              <a:rPr lang="en-US" baseline="-25000" dirty="0"/>
              <a:t>2</a:t>
            </a:r>
            <a:r>
              <a:rPr lang="en-US" dirty="0"/>
              <a:t>,</a:t>
            </a:r>
            <a:r>
              <a:rPr lang="en-US" i="1" dirty="0"/>
              <a:t>A</a:t>
            </a:r>
            <a:r>
              <a:rPr lang="en-US" baseline="-25000" dirty="0"/>
              <a:t>3</a:t>
            </a:r>
            <a:r>
              <a:rPr lang="en-US" dirty="0"/>
              <a:t>,</a:t>
            </a:r>
            <a:r>
              <a:rPr lang="en-US" i="1" dirty="0"/>
              <a:t>A</a:t>
            </a:r>
            <a:r>
              <a:rPr lang="en-US" baseline="-25000" dirty="0"/>
              <a:t>4</a:t>
            </a:r>
            <a:r>
              <a:rPr lang="en-US" dirty="0"/>
              <a:t>)	= 1780</a:t>
            </a:r>
          </a:p>
        </p:txBody>
      </p:sp>
      <p:pic>
        <p:nvPicPr>
          <p:cNvPr id="89091" name="Picture 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1929" y="3148608"/>
            <a:ext cx="7893191" cy="2366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3"/>
          <p:cNvSpPr>
            <a:spLocks noGrp="1" noChangeArrowheads="1"/>
          </p:cNvSpPr>
          <p:nvPr>
            <p:ph type="title"/>
          </p:nvPr>
        </p:nvSpPr>
        <p:spPr>
          <a:noFill/>
          <a:ln/>
        </p:spPr>
        <p:txBody>
          <a:bodyPr/>
          <a:lstStyle/>
          <a:p>
            <a:r>
              <a:rPr lang="en-US"/>
              <a:t>BEA – Example</a:t>
            </a:r>
          </a:p>
        </p:txBody>
      </p:sp>
      <p:sp>
        <p:nvSpPr>
          <p:cNvPr id="2" name="Content Placeholder 1"/>
          <p:cNvSpPr>
            <a:spLocks noGrp="1"/>
          </p:cNvSpPr>
          <p:nvPr>
            <p:ph idx="1"/>
          </p:nvPr>
        </p:nvSpPr>
        <p:spPr/>
        <p:txBody>
          <a:bodyPr/>
          <a:lstStyle/>
          <a:p>
            <a:r>
              <a:rPr lang="en-US" dirty="0" smtClean="0"/>
              <a:t>Therefore, the CA matrix has the form</a:t>
            </a:r>
          </a:p>
          <a:p>
            <a:endParaRPr lang="en-US" dirty="0"/>
          </a:p>
          <a:p>
            <a:endParaRPr lang="en-US" dirty="0" smtClean="0"/>
          </a:p>
          <a:p>
            <a:endParaRPr lang="en-US" dirty="0"/>
          </a:p>
          <a:p>
            <a:pPr marL="0" indent="0">
              <a:buNone/>
            </a:pPr>
            <a:endParaRPr lang="en-US" dirty="0"/>
          </a:p>
          <a:p>
            <a:pPr marL="0" indent="0">
              <a:buNone/>
            </a:pPr>
            <a:endParaRPr lang="en-US" dirty="0" smtClean="0"/>
          </a:p>
          <a:p>
            <a:pPr>
              <a:spcBef>
                <a:spcPts val="0"/>
              </a:spcBef>
            </a:pPr>
            <a:r>
              <a:rPr lang="en-US" dirty="0">
                <a:latin typeface="Book Antiqua"/>
              </a:rPr>
              <a:t>When </a:t>
            </a:r>
            <a:r>
              <a:rPr lang="en-US" i="1" dirty="0">
                <a:latin typeface="Book Antiqua"/>
              </a:rPr>
              <a:t>A</a:t>
            </a:r>
            <a:r>
              <a:rPr lang="en-US" sz="1800" baseline="-25000" dirty="0">
                <a:latin typeface="Book Antiqua"/>
              </a:rPr>
              <a:t>4</a:t>
            </a:r>
            <a:r>
              <a:rPr lang="en-US" dirty="0">
                <a:latin typeface="Book Antiqua"/>
              </a:rPr>
              <a:t> is placed, the final form of the </a:t>
            </a:r>
            <a:r>
              <a:rPr lang="en-US" i="1" dirty="0">
                <a:latin typeface="Book Antiqua"/>
              </a:rPr>
              <a:t>CA</a:t>
            </a:r>
            <a:r>
              <a:rPr lang="en-US" dirty="0">
                <a:latin typeface="Book Antiqua"/>
              </a:rPr>
              <a:t> matrix (after row organization) is</a:t>
            </a:r>
          </a:p>
          <a:p>
            <a:pPr marL="0" indent="0">
              <a:buNone/>
            </a:pPr>
            <a:endParaRPr lang="en-US" dirty="0"/>
          </a:p>
        </p:txBody>
      </p:sp>
      <p:grpSp>
        <p:nvGrpSpPr>
          <p:cNvPr id="3" name="Group 2"/>
          <p:cNvGrpSpPr/>
          <p:nvPr/>
        </p:nvGrpSpPr>
        <p:grpSpPr>
          <a:xfrm>
            <a:off x="9022680" y="2500536"/>
            <a:ext cx="2438400" cy="3257915"/>
            <a:chOff x="5761849" y="4511040"/>
            <a:chExt cx="2438400" cy="3257915"/>
          </a:xfrm>
        </p:grpSpPr>
        <p:sp>
          <p:nvSpPr>
            <p:cNvPr id="90116" name="Rectangle 4"/>
            <p:cNvSpPr>
              <a:spLocks noChangeArrowheads="1"/>
            </p:cNvSpPr>
            <p:nvPr/>
          </p:nvSpPr>
          <p:spPr bwMode="auto">
            <a:xfrm>
              <a:off x="5786685" y="4511040"/>
              <a:ext cx="785707"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28691" tIns="63217" rIns="128691" bIns="63217">
              <a:spAutoFit/>
            </a:bodyPr>
            <a:lstStyle/>
            <a:p>
              <a:r>
                <a:rPr lang="en-US" sz="2600" i="1" dirty="0">
                  <a:solidFill>
                    <a:srgbClr val="000000"/>
                  </a:solidFill>
                  <a:latin typeface="Book Antiqua"/>
                </a:rPr>
                <a:t>A</a:t>
              </a:r>
              <a:r>
                <a:rPr lang="en-US" sz="2600" baseline="-25000" dirty="0">
                  <a:solidFill>
                    <a:srgbClr val="000000"/>
                  </a:solidFill>
                  <a:latin typeface="Book Antiqua"/>
                </a:rPr>
                <a:t>1</a:t>
              </a:r>
            </a:p>
          </p:txBody>
        </p:sp>
        <p:sp>
          <p:nvSpPr>
            <p:cNvPr id="90117" name="Rectangle 5"/>
            <p:cNvSpPr>
              <a:spLocks noChangeArrowheads="1"/>
            </p:cNvSpPr>
            <p:nvPr/>
          </p:nvSpPr>
          <p:spPr bwMode="auto">
            <a:xfrm>
              <a:off x="7087166" y="4511040"/>
              <a:ext cx="833119"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28691" tIns="63217" rIns="128691" bIns="63217">
              <a:spAutoFit/>
            </a:bodyPr>
            <a:lstStyle/>
            <a:p>
              <a:r>
                <a:rPr lang="en-US" sz="2600" i="1" dirty="0">
                  <a:solidFill>
                    <a:srgbClr val="000000"/>
                  </a:solidFill>
                  <a:latin typeface="Book Antiqua"/>
                </a:rPr>
                <a:t>A</a:t>
              </a:r>
              <a:r>
                <a:rPr lang="en-US" sz="2600" baseline="-25000" dirty="0">
                  <a:solidFill>
                    <a:srgbClr val="000000"/>
                  </a:solidFill>
                  <a:latin typeface="Book Antiqua"/>
                </a:rPr>
                <a:t>2</a:t>
              </a:r>
            </a:p>
          </p:txBody>
        </p:sp>
        <p:sp>
          <p:nvSpPr>
            <p:cNvPr id="90118" name="Rectangle 6"/>
            <p:cNvSpPr>
              <a:spLocks noChangeArrowheads="1"/>
            </p:cNvSpPr>
            <p:nvPr/>
          </p:nvSpPr>
          <p:spPr bwMode="auto">
            <a:xfrm>
              <a:off x="6436925" y="4511040"/>
              <a:ext cx="785707"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28691" tIns="63217" rIns="128691" bIns="63217">
              <a:spAutoFit/>
            </a:bodyPr>
            <a:lstStyle/>
            <a:p>
              <a:r>
                <a:rPr lang="en-US" sz="2600" i="1" dirty="0">
                  <a:solidFill>
                    <a:srgbClr val="000000"/>
                  </a:solidFill>
                  <a:latin typeface="Book Antiqua"/>
                </a:rPr>
                <a:t>A</a:t>
              </a:r>
              <a:r>
                <a:rPr lang="en-US" sz="2600" baseline="-25000" dirty="0">
                  <a:solidFill>
                    <a:srgbClr val="000000"/>
                  </a:solidFill>
                  <a:latin typeface="Book Antiqua"/>
                </a:rPr>
                <a:t>3</a:t>
              </a:r>
            </a:p>
          </p:txBody>
        </p:sp>
        <p:grpSp>
          <p:nvGrpSpPr>
            <p:cNvPr id="90122" name="Group 10"/>
            <p:cNvGrpSpPr>
              <a:grpSpLocks/>
            </p:cNvGrpSpPr>
            <p:nvPr/>
          </p:nvGrpSpPr>
          <p:grpSpPr bwMode="auto">
            <a:xfrm>
              <a:off x="5761849" y="5274169"/>
              <a:ext cx="144498" cy="2438400"/>
              <a:chOff x="2552" y="2336"/>
              <a:chExt cx="64" cy="1080"/>
            </a:xfrm>
          </p:grpSpPr>
          <p:sp>
            <p:nvSpPr>
              <p:cNvPr id="90119" name="Line 7"/>
              <p:cNvSpPr>
                <a:spLocks noChangeShapeType="1"/>
              </p:cNvSpPr>
              <p:nvPr/>
            </p:nvSpPr>
            <p:spPr bwMode="auto">
              <a:xfrm>
                <a:off x="2552" y="2336"/>
                <a:ext cx="0" cy="107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90120" name="Line 8"/>
              <p:cNvSpPr>
                <a:spLocks noChangeShapeType="1"/>
              </p:cNvSpPr>
              <p:nvPr/>
            </p:nvSpPr>
            <p:spPr bwMode="auto">
              <a:xfrm>
                <a:off x="2552" y="2336"/>
                <a:ext cx="6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90121" name="Line 9"/>
              <p:cNvSpPr>
                <a:spLocks noChangeShapeType="1"/>
              </p:cNvSpPr>
              <p:nvPr/>
            </p:nvSpPr>
            <p:spPr bwMode="auto">
              <a:xfrm>
                <a:off x="2552" y="3416"/>
                <a:ext cx="6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grpSp>
        <p:sp>
          <p:nvSpPr>
            <p:cNvPr id="90123" name="Rectangle 11"/>
            <p:cNvSpPr>
              <a:spLocks noChangeArrowheads="1"/>
            </p:cNvSpPr>
            <p:nvPr/>
          </p:nvSpPr>
          <p:spPr bwMode="auto">
            <a:xfrm>
              <a:off x="5781279" y="5215467"/>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45</a:t>
              </a:r>
            </a:p>
          </p:txBody>
        </p:sp>
        <p:sp>
          <p:nvSpPr>
            <p:cNvPr id="90124" name="Rectangle 12"/>
            <p:cNvSpPr>
              <a:spLocks noChangeArrowheads="1"/>
            </p:cNvSpPr>
            <p:nvPr/>
          </p:nvSpPr>
          <p:spPr bwMode="auto">
            <a:xfrm>
              <a:off x="5947992" y="5540587"/>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endParaRPr lang="en-US" sz="2600" dirty="0">
                <a:solidFill>
                  <a:srgbClr val="000000"/>
                </a:solidFill>
                <a:latin typeface="Book Antiqua"/>
              </a:endParaRPr>
            </a:p>
            <a:p>
              <a:endParaRPr lang="en-US" sz="2600" dirty="0">
                <a:solidFill>
                  <a:srgbClr val="000000"/>
                </a:solidFill>
                <a:latin typeface="Book Antiqua"/>
              </a:endParaRPr>
            </a:p>
          </p:txBody>
        </p:sp>
        <p:sp>
          <p:nvSpPr>
            <p:cNvPr id="90125" name="Rectangle 13"/>
            <p:cNvSpPr>
              <a:spLocks noChangeArrowheads="1"/>
            </p:cNvSpPr>
            <p:nvPr/>
          </p:nvSpPr>
          <p:spPr bwMode="auto">
            <a:xfrm>
              <a:off x="5868113" y="5865707"/>
              <a:ext cx="509964"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0</a:t>
              </a:r>
            </a:p>
          </p:txBody>
        </p:sp>
        <p:sp>
          <p:nvSpPr>
            <p:cNvPr id="90126" name="Rectangle 14"/>
            <p:cNvSpPr>
              <a:spLocks noChangeArrowheads="1"/>
            </p:cNvSpPr>
            <p:nvPr/>
          </p:nvSpPr>
          <p:spPr bwMode="auto">
            <a:xfrm>
              <a:off x="5947992" y="6190827"/>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endParaRPr lang="en-US" sz="2600" dirty="0">
                <a:solidFill>
                  <a:srgbClr val="000000"/>
                </a:solidFill>
                <a:latin typeface="Book Antiqua"/>
              </a:endParaRPr>
            </a:p>
            <a:p>
              <a:endParaRPr lang="en-US" sz="2600" dirty="0">
                <a:solidFill>
                  <a:srgbClr val="000000"/>
                </a:solidFill>
                <a:latin typeface="Book Antiqua"/>
              </a:endParaRPr>
            </a:p>
          </p:txBody>
        </p:sp>
        <p:sp>
          <p:nvSpPr>
            <p:cNvPr id="90127" name="Rectangle 15"/>
            <p:cNvSpPr>
              <a:spLocks noChangeArrowheads="1"/>
            </p:cNvSpPr>
            <p:nvPr/>
          </p:nvSpPr>
          <p:spPr bwMode="auto">
            <a:xfrm>
              <a:off x="5781279" y="6515947"/>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45</a:t>
              </a:r>
            </a:p>
          </p:txBody>
        </p:sp>
        <p:sp>
          <p:nvSpPr>
            <p:cNvPr id="90128" name="Rectangle 16"/>
            <p:cNvSpPr>
              <a:spLocks noChangeArrowheads="1"/>
            </p:cNvSpPr>
            <p:nvPr/>
          </p:nvSpPr>
          <p:spPr bwMode="auto">
            <a:xfrm>
              <a:off x="5947992" y="6841067"/>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endParaRPr lang="en-US" sz="2600" dirty="0">
                <a:solidFill>
                  <a:srgbClr val="000000"/>
                </a:solidFill>
                <a:latin typeface="Book Antiqua"/>
              </a:endParaRPr>
            </a:p>
            <a:p>
              <a:endParaRPr lang="en-US" sz="2600" dirty="0">
                <a:solidFill>
                  <a:srgbClr val="000000"/>
                </a:solidFill>
                <a:latin typeface="Book Antiqua"/>
              </a:endParaRPr>
            </a:p>
          </p:txBody>
        </p:sp>
        <p:sp>
          <p:nvSpPr>
            <p:cNvPr id="90129" name="Rectangle 17"/>
            <p:cNvSpPr>
              <a:spLocks noChangeArrowheads="1"/>
            </p:cNvSpPr>
            <p:nvPr/>
          </p:nvSpPr>
          <p:spPr bwMode="auto">
            <a:xfrm>
              <a:off x="5868113" y="7166187"/>
              <a:ext cx="509964"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0</a:t>
              </a:r>
            </a:p>
          </p:txBody>
        </p:sp>
        <p:sp>
          <p:nvSpPr>
            <p:cNvPr id="90130" name="Rectangle 18"/>
            <p:cNvSpPr>
              <a:spLocks noChangeArrowheads="1"/>
            </p:cNvSpPr>
            <p:nvPr/>
          </p:nvSpPr>
          <p:spPr bwMode="auto">
            <a:xfrm>
              <a:off x="6431519" y="5215467"/>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45</a:t>
              </a:r>
            </a:p>
          </p:txBody>
        </p:sp>
        <p:sp>
          <p:nvSpPr>
            <p:cNvPr id="90131" name="Rectangle 19"/>
            <p:cNvSpPr>
              <a:spLocks noChangeArrowheads="1"/>
            </p:cNvSpPr>
            <p:nvPr/>
          </p:nvSpPr>
          <p:spPr bwMode="auto">
            <a:xfrm>
              <a:off x="6598232" y="5540587"/>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endParaRPr lang="en-US" sz="2600" dirty="0">
                <a:solidFill>
                  <a:srgbClr val="000000"/>
                </a:solidFill>
                <a:latin typeface="Book Antiqua"/>
              </a:endParaRPr>
            </a:p>
            <a:p>
              <a:endParaRPr lang="en-US" sz="2600" dirty="0">
                <a:solidFill>
                  <a:srgbClr val="000000"/>
                </a:solidFill>
                <a:latin typeface="Book Antiqua"/>
              </a:endParaRPr>
            </a:p>
          </p:txBody>
        </p:sp>
        <p:sp>
          <p:nvSpPr>
            <p:cNvPr id="90132" name="Rectangle 20"/>
            <p:cNvSpPr>
              <a:spLocks noChangeArrowheads="1"/>
            </p:cNvSpPr>
            <p:nvPr/>
          </p:nvSpPr>
          <p:spPr bwMode="auto">
            <a:xfrm>
              <a:off x="6482228" y="5865707"/>
              <a:ext cx="509964"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5</a:t>
              </a:r>
            </a:p>
          </p:txBody>
        </p:sp>
        <p:sp>
          <p:nvSpPr>
            <p:cNvPr id="90133" name="Rectangle 21"/>
            <p:cNvSpPr>
              <a:spLocks noChangeArrowheads="1"/>
            </p:cNvSpPr>
            <p:nvPr/>
          </p:nvSpPr>
          <p:spPr bwMode="auto">
            <a:xfrm>
              <a:off x="6733698" y="6190827"/>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a:t>
              </a:r>
            </a:p>
            <a:p>
              <a:endParaRPr lang="en-US" sz="2600" dirty="0">
                <a:solidFill>
                  <a:srgbClr val="000000"/>
                </a:solidFill>
                <a:latin typeface="Book Antiqua"/>
              </a:endParaRPr>
            </a:p>
          </p:txBody>
        </p:sp>
        <p:sp>
          <p:nvSpPr>
            <p:cNvPr id="90134" name="Rectangle 22"/>
            <p:cNvSpPr>
              <a:spLocks noChangeArrowheads="1"/>
            </p:cNvSpPr>
            <p:nvPr/>
          </p:nvSpPr>
          <p:spPr bwMode="auto">
            <a:xfrm>
              <a:off x="6431519" y="6515947"/>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53</a:t>
              </a:r>
            </a:p>
          </p:txBody>
        </p:sp>
        <p:sp>
          <p:nvSpPr>
            <p:cNvPr id="90135" name="Rectangle 23"/>
            <p:cNvSpPr>
              <a:spLocks noChangeArrowheads="1"/>
            </p:cNvSpPr>
            <p:nvPr/>
          </p:nvSpPr>
          <p:spPr bwMode="auto">
            <a:xfrm>
              <a:off x="6598232" y="6841067"/>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endParaRPr lang="en-US" sz="2600" dirty="0">
                <a:solidFill>
                  <a:srgbClr val="000000"/>
                </a:solidFill>
                <a:latin typeface="Book Antiqua"/>
              </a:endParaRPr>
            </a:p>
            <a:p>
              <a:endParaRPr lang="en-US" sz="2600" dirty="0">
                <a:solidFill>
                  <a:srgbClr val="000000"/>
                </a:solidFill>
                <a:latin typeface="Book Antiqua"/>
              </a:endParaRPr>
            </a:p>
          </p:txBody>
        </p:sp>
        <p:sp>
          <p:nvSpPr>
            <p:cNvPr id="90136" name="Rectangle 24"/>
            <p:cNvSpPr>
              <a:spLocks noChangeArrowheads="1"/>
            </p:cNvSpPr>
            <p:nvPr/>
          </p:nvSpPr>
          <p:spPr bwMode="auto">
            <a:xfrm>
              <a:off x="6518353" y="7166187"/>
              <a:ext cx="509964"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3</a:t>
              </a:r>
            </a:p>
          </p:txBody>
        </p:sp>
        <p:sp>
          <p:nvSpPr>
            <p:cNvPr id="90137" name="Rectangle 25"/>
            <p:cNvSpPr>
              <a:spLocks noChangeArrowheads="1"/>
            </p:cNvSpPr>
            <p:nvPr/>
          </p:nvSpPr>
          <p:spPr bwMode="auto">
            <a:xfrm>
              <a:off x="7168593" y="5215467"/>
              <a:ext cx="509964"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0</a:t>
              </a:r>
            </a:p>
          </p:txBody>
        </p:sp>
        <p:sp>
          <p:nvSpPr>
            <p:cNvPr id="90138" name="Rectangle 26"/>
            <p:cNvSpPr>
              <a:spLocks noChangeArrowheads="1"/>
            </p:cNvSpPr>
            <p:nvPr/>
          </p:nvSpPr>
          <p:spPr bwMode="auto">
            <a:xfrm>
              <a:off x="7248472" y="5540587"/>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endParaRPr lang="en-US" sz="2600" dirty="0">
                <a:solidFill>
                  <a:srgbClr val="000000"/>
                </a:solidFill>
                <a:latin typeface="Book Antiqua"/>
              </a:endParaRPr>
            </a:p>
            <a:p>
              <a:endParaRPr lang="en-US" sz="2600" dirty="0">
                <a:solidFill>
                  <a:srgbClr val="000000"/>
                </a:solidFill>
                <a:latin typeface="Book Antiqua"/>
              </a:endParaRPr>
            </a:p>
          </p:txBody>
        </p:sp>
        <p:sp>
          <p:nvSpPr>
            <p:cNvPr id="90139" name="Rectangle 27"/>
            <p:cNvSpPr>
              <a:spLocks noChangeArrowheads="1"/>
            </p:cNvSpPr>
            <p:nvPr/>
          </p:nvSpPr>
          <p:spPr bwMode="auto">
            <a:xfrm>
              <a:off x="7081759" y="5865707"/>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80</a:t>
              </a:r>
            </a:p>
          </p:txBody>
        </p:sp>
        <p:sp>
          <p:nvSpPr>
            <p:cNvPr id="90140" name="Rectangle 28"/>
            <p:cNvSpPr>
              <a:spLocks noChangeArrowheads="1"/>
            </p:cNvSpPr>
            <p:nvPr/>
          </p:nvSpPr>
          <p:spPr bwMode="auto">
            <a:xfrm>
              <a:off x="7429094" y="6190827"/>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endParaRPr lang="en-US" sz="2600" dirty="0">
                <a:solidFill>
                  <a:srgbClr val="000000"/>
                </a:solidFill>
                <a:latin typeface="Book Antiqua"/>
              </a:endParaRPr>
            </a:p>
            <a:p>
              <a:endParaRPr lang="en-US" sz="2600" dirty="0">
                <a:solidFill>
                  <a:srgbClr val="000000"/>
                </a:solidFill>
                <a:latin typeface="Book Antiqua"/>
              </a:endParaRPr>
            </a:p>
          </p:txBody>
        </p:sp>
        <p:sp>
          <p:nvSpPr>
            <p:cNvPr id="90141" name="Rectangle 29"/>
            <p:cNvSpPr>
              <a:spLocks noChangeArrowheads="1"/>
            </p:cNvSpPr>
            <p:nvPr/>
          </p:nvSpPr>
          <p:spPr bwMode="auto">
            <a:xfrm>
              <a:off x="7168593" y="6515947"/>
              <a:ext cx="509964"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5</a:t>
              </a:r>
            </a:p>
          </p:txBody>
        </p:sp>
        <p:sp>
          <p:nvSpPr>
            <p:cNvPr id="90142" name="Rectangle 30"/>
            <p:cNvSpPr>
              <a:spLocks noChangeArrowheads="1"/>
            </p:cNvSpPr>
            <p:nvPr/>
          </p:nvSpPr>
          <p:spPr bwMode="auto">
            <a:xfrm>
              <a:off x="7248472" y="6841067"/>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endParaRPr lang="en-US" sz="2600" dirty="0">
                <a:solidFill>
                  <a:srgbClr val="000000"/>
                </a:solidFill>
                <a:latin typeface="Book Antiqua"/>
              </a:endParaRPr>
            </a:p>
            <a:p>
              <a:endParaRPr lang="en-US" sz="2600" dirty="0">
                <a:solidFill>
                  <a:srgbClr val="000000"/>
                </a:solidFill>
                <a:latin typeface="Book Antiqua"/>
              </a:endParaRPr>
            </a:p>
          </p:txBody>
        </p:sp>
        <p:sp>
          <p:nvSpPr>
            <p:cNvPr id="90143" name="Rectangle 31"/>
            <p:cNvSpPr>
              <a:spLocks noChangeArrowheads="1"/>
            </p:cNvSpPr>
            <p:nvPr/>
          </p:nvSpPr>
          <p:spPr bwMode="auto">
            <a:xfrm>
              <a:off x="7081759" y="7166187"/>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75</a:t>
              </a:r>
            </a:p>
          </p:txBody>
        </p:sp>
        <p:grpSp>
          <p:nvGrpSpPr>
            <p:cNvPr id="90147" name="Group 35"/>
            <p:cNvGrpSpPr>
              <a:grpSpLocks/>
            </p:cNvGrpSpPr>
            <p:nvPr/>
          </p:nvGrpSpPr>
          <p:grpSpPr bwMode="auto">
            <a:xfrm>
              <a:off x="8028658" y="5265138"/>
              <a:ext cx="171591" cy="2447431"/>
              <a:chOff x="3556" y="2332"/>
              <a:chExt cx="76" cy="1084"/>
            </a:xfrm>
          </p:grpSpPr>
          <p:sp>
            <p:nvSpPr>
              <p:cNvPr id="90144" name="Line 32"/>
              <p:cNvSpPr>
                <a:spLocks noChangeShapeType="1"/>
              </p:cNvSpPr>
              <p:nvPr/>
            </p:nvSpPr>
            <p:spPr bwMode="auto">
              <a:xfrm flipV="1">
                <a:off x="3632" y="2332"/>
                <a:ext cx="0" cy="108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90145" name="Line 33"/>
              <p:cNvSpPr>
                <a:spLocks noChangeShapeType="1"/>
              </p:cNvSpPr>
              <p:nvPr/>
            </p:nvSpPr>
            <p:spPr bwMode="auto">
              <a:xfrm flipH="1">
                <a:off x="3556" y="3416"/>
                <a:ext cx="72"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90146" name="Line 34"/>
              <p:cNvSpPr>
                <a:spLocks noChangeShapeType="1"/>
              </p:cNvSpPr>
              <p:nvPr/>
            </p:nvSpPr>
            <p:spPr bwMode="auto">
              <a:xfrm flipH="1">
                <a:off x="3556" y="2336"/>
                <a:ext cx="72"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grpSp>
      </p:grpSp>
      <p:sp>
        <p:nvSpPr>
          <p:cNvPr id="39" name="Rectangle 4"/>
          <p:cNvSpPr>
            <a:spLocks noChangeArrowheads="1"/>
          </p:cNvSpPr>
          <p:nvPr/>
        </p:nvSpPr>
        <p:spPr bwMode="auto">
          <a:xfrm>
            <a:off x="8885660" y="6172944"/>
            <a:ext cx="636487"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smtClean="0">
                <a:solidFill>
                  <a:srgbClr val="000000"/>
                </a:solidFill>
                <a:latin typeface="Book Antiqua"/>
              </a:rPr>
              <a:t>A</a:t>
            </a:r>
            <a:r>
              <a:rPr lang="en-US" sz="2600" baseline="-25000" dirty="0" smtClean="0">
                <a:solidFill>
                  <a:srgbClr val="000000"/>
                </a:solidFill>
                <a:latin typeface="Book Antiqua"/>
              </a:rPr>
              <a:t>1</a:t>
            </a:r>
            <a:endParaRPr lang="en-US" sz="2600" baseline="-25000" dirty="0">
              <a:solidFill>
                <a:srgbClr val="000000"/>
              </a:solidFill>
              <a:latin typeface="Book Antiqua"/>
            </a:endParaRPr>
          </a:p>
        </p:txBody>
      </p:sp>
      <p:sp>
        <p:nvSpPr>
          <p:cNvPr id="40" name="Rectangle 5"/>
          <p:cNvSpPr>
            <a:spLocks noChangeArrowheads="1"/>
          </p:cNvSpPr>
          <p:nvPr/>
        </p:nvSpPr>
        <p:spPr bwMode="auto">
          <a:xfrm>
            <a:off x="10186140" y="6172944"/>
            <a:ext cx="636487"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smtClean="0">
                <a:solidFill>
                  <a:srgbClr val="000000"/>
                </a:solidFill>
                <a:latin typeface="Book Antiqua"/>
              </a:rPr>
              <a:t>A</a:t>
            </a:r>
            <a:r>
              <a:rPr lang="en-US" sz="2600" baseline="-25000" dirty="0" smtClean="0">
                <a:solidFill>
                  <a:srgbClr val="000000"/>
                </a:solidFill>
                <a:latin typeface="Book Antiqua"/>
              </a:rPr>
              <a:t>2</a:t>
            </a:r>
            <a:endParaRPr lang="en-US" sz="2600" baseline="-25000" dirty="0">
              <a:solidFill>
                <a:srgbClr val="000000"/>
              </a:solidFill>
              <a:latin typeface="Book Antiqua"/>
            </a:endParaRPr>
          </a:p>
        </p:txBody>
      </p:sp>
      <p:sp>
        <p:nvSpPr>
          <p:cNvPr id="41" name="Rectangle 6"/>
          <p:cNvSpPr>
            <a:spLocks noChangeArrowheads="1"/>
          </p:cNvSpPr>
          <p:nvPr/>
        </p:nvSpPr>
        <p:spPr bwMode="auto">
          <a:xfrm>
            <a:off x="9532329" y="6172944"/>
            <a:ext cx="64363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smtClean="0">
                <a:solidFill>
                  <a:srgbClr val="000000"/>
                </a:solidFill>
                <a:latin typeface="Book Antiqua"/>
              </a:rPr>
              <a:t>A</a:t>
            </a:r>
            <a:r>
              <a:rPr lang="en-US" sz="2600" baseline="-25000" dirty="0" smtClean="0">
                <a:solidFill>
                  <a:srgbClr val="000000"/>
                </a:solidFill>
                <a:latin typeface="Book Antiqua"/>
              </a:rPr>
              <a:t>3</a:t>
            </a:r>
            <a:endParaRPr lang="en-US" sz="2600" baseline="-25000" dirty="0">
              <a:solidFill>
                <a:srgbClr val="000000"/>
              </a:solidFill>
              <a:latin typeface="Book Antiqua"/>
            </a:endParaRPr>
          </a:p>
        </p:txBody>
      </p:sp>
      <p:sp>
        <p:nvSpPr>
          <p:cNvPr id="42" name="Rectangle 7"/>
          <p:cNvSpPr>
            <a:spLocks noChangeArrowheads="1"/>
          </p:cNvSpPr>
          <p:nvPr/>
        </p:nvSpPr>
        <p:spPr bwMode="auto">
          <a:xfrm>
            <a:off x="10832809" y="6172944"/>
            <a:ext cx="64363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smtClean="0">
                <a:solidFill>
                  <a:srgbClr val="000000"/>
                </a:solidFill>
                <a:latin typeface="Book Antiqua"/>
              </a:rPr>
              <a:t>A</a:t>
            </a:r>
            <a:r>
              <a:rPr lang="en-US" sz="2600" baseline="-25000" dirty="0" smtClean="0">
                <a:solidFill>
                  <a:srgbClr val="000000"/>
                </a:solidFill>
                <a:latin typeface="Book Antiqua"/>
              </a:rPr>
              <a:t>4</a:t>
            </a:r>
            <a:endParaRPr lang="en-US" sz="2600" baseline="-25000" dirty="0">
              <a:solidFill>
                <a:srgbClr val="000000"/>
              </a:solidFill>
              <a:latin typeface="Book Antiqua"/>
            </a:endParaRPr>
          </a:p>
        </p:txBody>
      </p:sp>
      <p:sp>
        <p:nvSpPr>
          <p:cNvPr id="44" name="Rectangle 13"/>
          <p:cNvSpPr>
            <a:spLocks noChangeArrowheads="1"/>
          </p:cNvSpPr>
          <p:nvPr/>
        </p:nvSpPr>
        <p:spPr bwMode="auto">
          <a:xfrm>
            <a:off x="8235420" y="6732873"/>
            <a:ext cx="636487"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smtClean="0">
                <a:solidFill>
                  <a:srgbClr val="000000"/>
                </a:solidFill>
                <a:latin typeface="Book Antiqua"/>
              </a:rPr>
              <a:t>A</a:t>
            </a:r>
            <a:r>
              <a:rPr lang="en-US" sz="2600" baseline="-25000" dirty="0" smtClean="0">
                <a:solidFill>
                  <a:srgbClr val="000000"/>
                </a:solidFill>
                <a:latin typeface="Book Antiqua"/>
              </a:rPr>
              <a:t>1</a:t>
            </a:r>
            <a:endParaRPr lang="en-US" sz="2600" baseline="-25000" dirty="0">
              <a:solidFill>
                <a:srgbClr val="000000"/>
              </a:solidFill>
              <a:latin typeface="Book Antiqua"/>
            </a:endParaRPr>
          </a:p>
        </p:txBody>
      </p:sp>
      <p:sp>
        <p:nvSpPr>
          <p:cNvPr id="45" name="Rectangle 14"/>
          <p:cNvSpPr>
            <a:spLocks noChangeArrowheads="1"/>
          </p:cNvSpPr>
          <p:nvPr/>
        </p:nvSpPr>
        <p:spPr bwMode="auto">
          <a:xfrm>
            <a:off x="8235420" y="8021430"/>
            <a:ext cx="636487"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smtClean="0">
                <a:solidFill>
                  <a:srgbClr val="000000"/>
                </a:solidFill>
                <a:latin typeface="Book Antiqua"/>
              </a:rPr>
              <a:t>A</a:t>
            </a:r>
            <a:r>
              <a:rPr lang="en-US" sz="2600" baseline="-25000" dirty="0" smtClean="0">
                <a:solidFill>
                  <a:srgbClr val="000000"/>
                </a:solidFill>
                <a:latin typeface="Book Antiqua"/>
              </a:rPr>
              <a:t>2</a:t>
            </a:r>
            <a:endParaRPr lang="en-US" sz="2600" baseline="-25000" dirty="0">
              <a:solidFill>
                <a:srgbClr val="000000"/>
              </a:solidFill>
              <a:latin typeface="Book Antiqua"/>
            </a:endParaRPr>
          </a:p>
        </p:txBody>
      </p:sp>
      <p:sp>
        <p:nvSpPr>
          <p:cNvPr id="46" name="Rectangle 15"/>
          <p:cNvSpPr>
            <a:spLocks noChangeArrowheads="1"/>
          </p:cNvSpPr>
          <p:nvPr/>
        </p:nvSpPr>
        <p:spPr bwMode="auto">
          <a:xfrm>
            <a:off x="8231849" y="7397080"/>
            <a:ext cx="64363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smtClean="0">
                <a:solidFill>
                  <a:srgbClr val="000000"/>
                </a:solidFill>
                <a:latin typeface="Book Antiqua"/>
              </a:rPr>
              <a:t>A</a:t>
            </a:r>
            <a:r>
              <a:rPr lang="en-US" sz="2600" baseline="-25000" dirty="0" smtClean="0">
                <a:solidFill>
                  <a:srgbClr val="000000"/>
                </a:solidFill>
                <a:latin typeface="Book Antiqua"/>
              </a:rPr>
              <a:t>3</a:t>
            </a:r>
            <a:endParaRPr lang="en-US" sz="2600" baseline="-25000" dirty="0">
              <a:solidFill>
                <a:srgbClr val="000000"/>
              </a:solidFill>
              <a:latin typeface="Book Antiqua"/>
            </a:endParaRPr>
          </a:p>
        </p:txBody>
      </p:sp>
      <p:sp>
        <p:nvSpPr>
          <p:cNvPr id="47" name="Rectangle 16"/>
          <p:cNvSpPr>
            <a:spLocks noChangeArrowheads="1"/>
          </p:cNvSpPr>
          <p:nvPr/>
        </p:nvSpPr>
        <p:spPr bwMode="auto">
          <a:xfrm>
            <a:off x="8231849" y="8669502"/>
            <a:ext cx="64363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smtClean="0">
                <a:solidFill>
                  <a:srgbClr val="000000"/>
                </a:solidFill>
                <a:latin typeface="Book Antiqua"/>
              </a:rPr>
              <a:t>A</a:t>
            </a:r>
            <a:r>
              <a:rPr lang="en-US" sz="2600" baseline="-25000" dirty="0" smtClean="0">
                <a:solidFill>
                  <a:srgbClr val="000000"/>
                </a:solidFill>
                <a:latin typeface="Book Antiqua"/>
              </a:rPr>
              <a:t>4</a:t>
            </a:r>
            <a:endParaRPr lang="en-US" sz="2600" baseline="-25000" dirty="0">
              <a:solidFill>
                <a:srgbClr val="000000"/>
              </a:solidFill>
              <a:latin typeface="Book Antiqua"/>
            </a:endParaRPr>
          </a:p>
        </p:txBody>
      </p:sp>
      <p:grpSp>
        <p:nvGrpSpPr>
          <p:cNvPr id="49" name="Group 25"/>
          <p:cNvGrpSpPr>
            <a:grpSpLocks/>
          </p:cNvGrpSpPr>
          <p:nvPr/>
        </p:nvGrpSpPr>
        <p:grpSpPr bwMode="auto">
          <a:xfrm>
            <a:off x="8942000" y="6809637"/>
            <a:ext cx="270933" cy="2438400"/>
            <a:chOff x="2420" y="2460"/>
            <a:chExt cx="120" cy="1080"/>
          </a:xfrm>
        </p:grpSpPr>
        <p:sp>
          <p:nvSpPr>
            <p:cNvPr id="80" name="Line 22"/>
            <p:cNvSpPr>
              <a:spLocks noChangeShapeType="1"/>
            </p:cNvSpPr>
            <p:nvPr/>
          </p:nvSpPr>
          <p:spPr bwMode="auto">
            <a:xfrm>
              <a:off x="2420" y="2460"/>
              <a:ext cx="0" cy="107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81" name="Line 23"/>
            <p:cNvSpPr>
              <a:spLocks noChangeShapeType="1"/>
            </p:cNvSpPr>
            <p:nvPr/>
          </p:nvSpPr>
          <p:spPr bwMode="auto">
            <a:xfrm>
              <a:off x="2420" y="2460"/>
              <a:ext cx="12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82" name="Line 24"/>
            <p:cNvSpPr>
              <a:spLocks noChangeShapeType="1"/>
            </p:cNvSpPr>
            <p:nvPr/>
          </p:nvSpPr>
          <p:spPr bwMode="auto">
            <a:xfrm>
              <a:off x="2420" y="3540"/>
              <a:ext cx="12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grpSp>
      <p:sp>
        <p:nvSpPr>
          <p:cNvPr id="50" name="Rectangle 26"/>
          <p:cNvSpPr>
            <a:spLocks noChangeArrowheads="1"/>
          </p:cNvSpPr>
          <p:nvPr/>
        </p:nvSpPr>
        <p:spPr bwMode="auto">
          <a:xfrm>
            <a:off x="8961430" y="6750935"/>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45</a:t>
            </a:r>
          </a:p>
        </p:txBody>
      </p:sp>
      <p:sp>
        <p:nvSpPr>
          <p:cNvPr id="51" name="Rectangle 27"/>
          <p:cNvSpPr>
            <a:spLocks noChangeArrowheads="1"/>
          </p:cNvSpPr>
          <p:nvPr/>
        </p:nvSpPr>
        <p:spPr bwMode="auto">
          <a:xfrm>
            <a:off x="8961430" y="7401175"/>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45</a:t>
            </a:r>
          </a:p>
        </p:txBody>
      </p:sp>
      <p:sp>
        <p:nvSpPr>
          <p:cNvPr id="52" name="Rectangle 28"/>
          <p:cNvSpPr>
            <a:spLocks noChangeArrowheads="1"/>
          </p:cNvSpPr>
          <p:nvPr/>
        </p:nvSpPr>
        <p:spPr bwMode="auto">
          <a:xfrm>
            <a:off x="9128143" y="7726296"/>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endParaRPr lang="en-US" sz="2600" dirty="0">
              <a:solidFill>
                <a:srgbClr val="000000"/>
              </a:solidFill>
              <a:latin typeface="Book Antiqua"/>
            </a:endParaRPr>
          </a:p>
          <a:p>
            <a:endParaRPr lang="en-US" sz="2600" dirty="0">
              <a:solidFill>
                <a:srgbClr val="000000"/>
              </a:solidFill>
              <a:latin typeface="Book Antiqua"/>
            </a:endParaRPr>
          </a:p>
        </p:txBody>
      </p:sp>
      <p:sp>
        <p:nvSpPr>
          <p:cNvPr id="53" name="Rectangle 29"/>
          <p:cNvSpPr>
            <a:spLocks noChangeArrowheads="1"/>
          </p:cNvSpPr>
          <p:nvPr/>
        </p:nvSpPr>
        <p:spPr bwMode="auto">
          <a:xfrm>
            <a:off x="9048264" y="8051415"/>
            <a:ext cx="509964"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0</a:t>
            </a:r>
          </a:p>
        </p:txBody>
      </p:sp>
      <p:sp>
        <p:nvSpPr>
          <p:cNvPr id="54" name="Rectangle 30"/>
          <p:cNvSpPr>
            <a:spLocks noChangeArrowheads="1"/>
          </p:cNvSpPr>
          <p:nvPr/>
        </p:nvSpPr>
        <p:spPr bwMode="auto">
          <a:xfrm>
            <a:off x="9128143" y="8376536"/>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endParaRPr lang="en-US" sz="2600" dirty="0">
              <a:solidFill>
                <a:srgbClr val="000000"/>
              </a:solidFill>
              <a:latin typeface="Book Antiqua"/>
            </a:endParaRPr>
          </a:p>
          <a:p>
            <a:endParaRPr lang="en-US" sz="2600" dirty="0">
              <a:solidFill>
                <a:srgbClr val="000000"/>
              </a:solidFill>
              <a:latin typeface="Book Antiqua"/>
            </a:endParaRPr>
          </a:p>
        </p:txBody>
      </p:sp>
      <p:sp>
        <p:nvSpPr>
          <p:cNvPr id="55" name="Rectangle 31"/>
          <p:cNvSpPr>
            <a:spLocks noChangeArrowheads="1"/>
          </p:cNvSpPr>
          <p:nvPr/>
        </p:nvSpPr>
        <p:spPr bwMode="auto">
          <a:xfrm>
            <a:off x="9048264" y="8701655"/>
            <a:ext cx="509964"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0</a:t>
            </a:r>
          </a:p>
        </p:txBody>
      </p:sp>
      <p:sp>
        <p:nvSpPr>
          <p:cNvPr id="56" name="Rectangle 32"/>
          <p:cNvSpPr>
            <a:spLocks noChangeArrowheads="1"/>
          </p:cNvSpPr>
          <p:nvPr/>
        </p:nvSpPr>
        <p:spPr bwMode="auto">
          <a:xfrm>
            <a:off x="9611670" y="6750935"/>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45</a:t>
            </a:r>
          </a:p>
        </p:txBody>
      </p:sp>
      <p:sp>
        <p:nvSpPr>
          <p:cNvPr id="57" name="Rectangle 33"/>
          <p:cNvSpPr>
            <a:spLocks noChangeArrowheads="1"/>
          </p:cNvSpPr>
          <p:nvPr/>
        </p:nvSpPr>
        <p:spPr bwMode="auto">
          <a:xfrm>
            <a:off x="9778383" y="7076056"/>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endParaRPr lang="en-US" sz="2600" dirty="0">
              <a:solidFill>
                <a:srgbClr val="000000"/>
              </a:solidFill>
              <a:latin typeface="Book Antiqua"/>
            </a:endParaRPr>
          </a:p>
          <a:p>
            <a:endParaRPr lang="en-US" sz="2600" dirty="0">
              <a:solidFill>
                <a:srgbClr val="000000"/>
              </a:solidFill>
              <a:latin typeface="Book Antiqua"/>
            </a:endParaRPr>
          </a:p>
        </p:txBody>
      </p:sp>
      <p:sp>
        <p:nvSpPr>
          <p:cNvPr id="58" name="Rectangle 34"/>
          <p:cNvSpPr>
            <a:spLocks noChangeArrowheads="1"/>
          </p:cNvSpPr>
          <p:nvPr/>
        </p:nvSpPr>
        <p:spPr bwMode="auto">
          <a:xfrm>
            <a:off x="9611670" y="7401175"/>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53</a:t>
            </a:r>
          </a:p>
        </p:txBody>
      </p:sp>
      <p:sp>
        <p:nvSpPr>
          <p:cNvPr id="59" name="Rectangle 35"/>
          <p:cNvSpPr>
            <a:spLocks noChangeArrowheads="1"/>
          </p:cNvSpPr>
          <p:nvPr/>
        </p:nvSpPr>
        <p:spPr bwMode="auto">
          <a:xfrm>
            <a:off x="9787414" y="7726296"/>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a:t>
            </a:r>
          </a:p>
          <a:p>
            <a:endParaRPr lang="en-US" sz="2600" dirty="0">
              <a:solidFill>
                <a:srgbClr val="000000"/>
              </a:solidFill>
              <a:latin typeface="Book Antiqua"/>
            </a:endParaRPr>
          </a:p>
        </p:txBody>
      </p:sp>
      <p:sp>
        <p:nvSpPr>
          <p:cNvPr id="60" name="Rectangle 36"/>
          <p:cNvSpPr>
            <a:spLocks noChangeArrowheads="1"/>
          </p:cNvSpPr>
          <p:nvPr/>
        </p:nvSpPr>
        <p:spPr bwMode="auto">
          <a:xfrm>
            <a:off x="9698504" y="8051415"/>
            <a:ext cx="509964"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5</a:t>
            </a:r>
          </a:p>
        </p:txBody>
      </p:sp>
      <p:sp>
        <p:nvSpPr>
          <p:cNvPr id="61" name="Rectangle 37"/>
          <p:cNvSpPr>
            <a:spLocks noChangeArrowheads="1"/>
          </p:cNvSpPr>
          <p:nvPr/>
        </p:nvSpPr>
        <p:spPr bwMode="auto">
          <a:xfrm>
            <a:off x="9778383" y="8376536"/>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endParaRPr lang="en-US" sz="2600" dirty="0">
              <a:solidFill>
                <a:srgbClr val="000000"/>
              </a:solidFill>
              <a:latin typeface="Book Antiqua"/>
            </a:endParaRPr>
          </a:p>
          <a:p>
            <a:endParaRPr lang="en-US" sz="2600" dirty="0">
              <a:solidFill>
                <a:srgbClr val="000000"/>
              </a:solidFill>
              <a:latin typeface="Book Antiqua"/>
            </a:endParaRPr>
          </a:p>
        </p:txBody>
      </p:sp>
      <p:sp>
        <p:nvSpPr>
          <p:cNvPr id="62" name="Rectangle 38"/>
          <p:cNvSpPr>
            <a:spLocks noChangeArrowheads="1"/>
          </p:cNvSpPr>
          <p:nvPr/>
        </p:nvSpPr>
        <p:spPr bwMode="auto">
          <a:xfrm>
            <a:off x="9698504" y="8701655"/>
            <a:ext cx="509964"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3</a:t>
            </a:r>
          </a:p>
        </p:txBody>
      </p:sp>
      <p:sp>
        <p:nvSpPr>
          <p:cNvPr id="63" name="Rectangle 39"/>
          <p:cNvSpPr>
            <a:spLocks noChangeArrowheads="1"/>
          </p:cNvSpPr>
          <p:nvPr/>
        </p:nvSpPr>
        <p:spPr bwMode="auto">
          <a:xfrm>
            <a:off x="10348744" y="6750935"/>
            <a:ext cx="509964"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0</a:t>
            </a:r>
          </a:p>
        </p:txBody>
      </p:sp>
      <p:sp>
        <p:nvSpPr>
          <p:cNvPr id="64" name="Rectangle 40"/>
          <p:cNvSpPr>
            <a:spLocks noChangeArrowheads="1"/>
          </p:cNvSpPr>
          <p:nvPr/>
        </p:nvSpPr>
        <p:spPr bwMode="auto">
          <a:xfrm>
            <a:off x="10428623" y="7076056"/>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endParaRPr lang="en-US" sz="2600" dirty="0">
              <a:solidFill>
                <a:srgbClr val="000000"/>
              </a:solidFill>
              <a:latin typeface="Book Antiqua"/>
            </a:endParaRPr>
          </a:p>
          <a:p>
            <a:endParaRPr lang="en-US" sz="2600" dirty="0">
              <a:solidFill>
                <a:srgbClr val="000000"/>
              </a:solidFill>
              <a:latin typeface="Book Antiqua"/>
            </a:endParaRPr>
          </a:p>
        </p:txBody>
      </p:sp>
      <p:sp>
        <p:nvSpPr>
          <p:cNvPr id="65" name="Rectangle 41"/>
          <p:cNvSpPr>
            <a:spLocks noChangeArrowheads="1"/>
          </p:cNvSpPr>
          <p:nvPr/>
        </p:nvSpPr>
        <p:spPr bwMode="auto">
          <a:xfrm>
            <a:off x="10312620" y="7401175"/>
            <a:ext cx="509964"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5</a:t>
            </a:r>
          </a:p>
        </p:txBody>
      </p:sp>
      <p:sp>
        <p:nvSpPr>
          <p:cNvPr id="66" name="Rectangle 42"/>
          <p:cNvSpPr>
            <a:spLocks noChangeArrowheads="1"/>
          </p:cNvSpPr>
          <p:nvPr/>
        </p:nvSpPr>
        <p:spPr bwMode="auto">
          <a:xfrm>
            <a:off x="10609245" y="7726296"/>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endParaRPr lang="en-US" sz="2600" dirty="0">
              <a:solidFill>
                <a:srgbClr val="000000"/>
              </a:solidFill>
              <a:latin typeface="Book Antiqua"/>
            </a:endParaRPr>
          </a:p>
          <a:p>
            <a:endParaRPr lang="en-US" sz="2600" dirty="0">
              <a:solidFill>
                <a:srgbClr val="000000"/>
              </a:solidFill>
              <a:latin typeface="Book Antiqua"/>
            </a:endParaRPr>
          </a:p>
        </p:txBody>
      </p:sp>
      <p:sp>
        <p:nvSpPr>
          <p:cNvPr id="67" name="Rectangle 43"/>
          <p:cNvSpPr>
            <a:spLocks noChangeArrowheads="1"/>
          </p:cNvSpPr>
          <p:nvPr/>
        </p:nvSpPr>
        <p:spPr bwMode="auto">
          <a:xfrm>
            <a:off x="10261910" y="8051415"/>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80</a:t>
            </a:r>
          </a:p>
        </p:txBody>
      </p:sp>
      <p:sp>
        <p:nvSpPr>
          <p:cNvPr id="68" name="Rectangle 44"/>
          <p:cNvSpPr>
            <a:spLocks noChangeArrowheads="1"/>
          </p:cNvSpPr>
          <p:nvPr/>
        </p:nvSpPr>
        <p:spPr bwMode="auto">
          <a:xfrm>
            <a:off x="10261910" y="8701655"/>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75</a:t>
            </a:r>
          </a:p>
        </p:txBody>
      </p:sp>
      <p:sp>
        <p:nvSpPr>
          <p:cNvPr id="69" name="Rectangle 45"/>
          <p:cNvSpPr>
            <a:spLocks noChangeArrowheads="1"/>
          </p:cNvSpPr>
          <p:nvPr/>
        </p:nvSpPr>
        <p:spPr bwMode="auto">
          <a:xfrm>
            <a:off x="10998984" y="6750935"/>
            <a:ext cx="509964"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0</a:t>
            </a:r>
          </a:p>
        </p:txBody>
      </p:sp>
      <p:sp>
        <p:nvSpPr>
          <p:cNvPr id="70" name="Rectangle 46"/>
          <p:cNvSpPr>
            <a:spLocks noChangeArrowheads="1"/>
          </p:cNvSpPr>
          <p:nvPr/>
        </p:nvSpPr>
        <p:spPr bwMode="auto">
          <a:xfrm>
            <a:off x="11078863" y="7076056"/>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endParaRPr lang="en-US" sz="2600" dirty="0">
              <a:solidFill>
                <a:srgbClr val="000000"/>
              </a:solidFill>
              <a:latin typeface="Book Antiqua"/>
            </a:endParaRPr>
          </a:p>
          <a:p>
            <a:endParaRPr lang="en-US" sz="2600" dirty="0">
              <a:solidFill>
                <a:srgbClr val="000000"/>
              </a:solidFill>
              <a:latin typeface="Book Antiqua"/>
            </a:endParaRPr>
          </a:p>
        </p:txBody>
      </p:sp>
      <p:sp>
        <p:nvSpPr>
          <p:cNvPr id="71" name="Rectangle 47"/>
          <p:cNvSpPr>
            <a:spLocks noChangeArrowheads="1"/>
          </p:cNvSpPr>
          <p:nvPr/>
        </p:nvSpPr>
        <p:spPr bwMode="auto">
          <a:xfrm>
            <a:off x="10998984" y="7401175"/>
            <a:ext cx="509964"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3</a:t>
            </a:r>
          </a:p>
        </p:txBody>
      </p:sp>
      <p:sp>
        <p:nvSpPr>
          <p:cNvPr id="72" name="Rectangle 48"/>
          <p:cNvSpPr>
            <a:spLocks noChangeArrowheads="1"/>
          </p:cNvSpPr>
          <p:nvPr/>
        </p:nvSpPr>
        <p:spPr bwMode="auto">
          <a:xfrm>
            <a:off x="11078863" y="7726296"/>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endParaRPr lang="en-US" sz="2600" dirty="0">
              <a:solidFill>
                <a:srgbClr val="000000"/>
              </a:solidFill>
              <a:latin typeface="Book Antiqua"/>
            </a:endParaRPr>
          </a:p>
          <a:p>
            <a:endParaRPr lang="en-US" sz="2600" dirty="0">
              <a:solidFill>
                <a:srgbClr val="000000"/>
              </a:solidFill>
              <a:latin typeface="Book Antiqua"/>
            </a:endParaRPr>
          </a:p>
        </p:txBody>
      </p:sp>
      <p:sp>
        <p:nvSpPr>
          <p:cNvPr id="73" name="Rectangle 49"/>
          <p:cNvSpPr>
            <a:spLocks noChangeArrowheads="1"/>
          </p:cNvSpPr>
          <p:nvPr/>
        </p:nvSpPr>
        <p:spPr bwMode="auto">
          <a:xfrm>
            <a:off x="10912150" y="8051415"/>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75</a:t>
            </a:r>
          </a:p>
        </p:txBody>
      </p:sp>
      <p:sp>
        <p:nvSpPr>
          <p:cNvPr id="74" name="Rectangle 50"/>
          <p:cNvSpPr>
            <a:spLocks noChangeArrowheads="1"/>
          </p:cNvSpPr>
          <p:nvPr/>
        </p:nvSpPr>
        <p:spPr bwMode="auto">
          <a:xfrm>
            <a:off x="11078863" y="8376536"/>
            <a:ext cx="259895" cy="92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endParaRPr lang="en-US" sz="2600" dirty="0">
              <a:solidFill>
                <a:srgbClr val="000000"/>
              </a:solidFill>
              <a:latin typeface="Book Antiqua"/>
            </a:endParaRPr>
          </a:p>
          <a:p>
            <a:endParaRPr lang="en-US" sz="2600" dirty="0">
              <a:solidFill>
                <a:srgbClr val="000000"/>
              </a:solidFill>
              <a:latin typeface="Book Antiqua"/>
            </a:endParaRPr>
          </a:p>
        </p:txBody>
      </p:sp>
      <p:sp>
        <p:nvSpPr>
          <p:cNvPr id="75" name="Rectangle 51"/>
          <p:cNvSpPr>
            <a:spLocks noChangeArrowheads="1"/>
          </p:cNvSpPr>
          <p:nvPr/>
        </p:nvSpPr>
        <p:spPr bwMode="auto">
          <a:xfrm>
            <a:off x="10912150" y="8701655"/>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78</a:t>
            </a:r>
          </a:p>
        </p:txBody>
      </p:sp>
      <p:grpSp>
        <p:nvGrpSpPr>
          <p:cNvPr id="76" name="Group 55"/>
          <p:cNvGrpSpPr>
            <a:grpSpLocks/>
          </p:cNvGrpSpPr>
          <p:nvPr/>
        </p:nvGrpSpPr>
        <p:grpSpPr bwMode="auto">
          <a:xfrm>
            <a:off x="11335244" y="6800606"/>
            <a:ext cx="207716" cy="2447431"/>
            <a:chOff x="3480" y="2456"/>
            <a:chExt cx="92" cy="1084"/>
          </a:xfrm>
        </p:grpSpPr>
        <p:sp>
          <p:nvSpPr>
            <p:cNvPr id="77" name="Line 52"/>
            <p:cNvSpPr>
              <a:spLocks noChangeShapeType="1"/>
            </p:cNvSpPr>
            <p:nvPr/>
          </p:nvSpPr>
          <p:spPr bwMode="auto">
            <a:xfrm flipV="1">
              <a:off x="3572" y="2456"/>
              <a:ext cx="0" cy="108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78" name="Line 53"/>
            <p:cNvSpPr>
              <a:spLocks noChangeShapeType="1"/>
            </p:cNvSpPr>
            <p:nvPr/>
          </p:nvSpPr>
          <p:spPr bwMode="auto">
            <a:xfrm flipH="1">
              <a:off x="3480" y="3540"/>
              <a:ext cx="8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79" name="Line 54"/>
            <p:cNvSpPr>
              <a:spLocks noChangeShapeType="1"/>
            </p:cNvSpPr>
            <p:nvPr/>
          </p:nvSpPr>
          <p:spPr bwMode="auto">
            <a:xfrm flipH="1">
              <a:off x="3480" y="2460"/>
              <a:ext cx="8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gr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body" idx="1"/>
          </p:nvPr>
        </p:nvSpPr>
        <p:spPr>
          <a:xfrm>
            <a:off x="453728" y="2348089"/>
            <a:ext cx="10629618" cy="2528711"/>
          </a:xfrm>
          <a:noFill/>
          <a:ln/>
        </p:spPr>
        <p:txBody>
          <a:bodyPr/>
          <a:lstStyle/>
          <a:p>
            <a:pPr marL="0" indent="2258">
              <a:buNone/>
            </a:pPr>
            <a:r>
              <a:rPr lang="en-US" dirty="0"/>
              <a:t>How can you divide a set of clustered attributes {</a:t>
            </a:r>
            <a:r>
              <a:rPr lang="en-US" i="1" dirty="0"/>
              <a:t>A</a:t>
            </a:r>
            <a:r>
              <a:rPr lang="en-US" baseline="-25000" dirty="0"/>
              <a:t>1</a:t>
            </a:r>
            <a:r>
              <a:rPr lang="en-US" dirty="0"/>
              <a:t>, </a:t>
            </a:r>
            <a:r>
              <a:rPr lang="en-US" i="1" dirty="0"/>
              <a:t>A</a:t>
            </a:r>
            <a:r>
              <a:rPr lang="en-US" baseline="-25000" dirty="0"/>
              <a:t>2</a:t>
            </a:r>
            <a:r>
              <a:rPr lang="en-US" dirty="0"/>
              <a:t>, …, </a:t>
            </a:r>
            <a:r>
              <a:rPr lang="en-US" i="1" dirty="0"/>
              <a:t>A</a:t>
            </a:r>
            <a:r>
              <a:rPr lang="en-US" i="1" baseline="-25000" dirty="0"/>
              <a:t>n</a:t>
            </a:r>
            <a:r>
              <a:rPr lang="en-US" dirty="0"/>
              <a:t>} into two (or more) sets {</a:t>
            </a:r>
            <a:r>
              <a:rPr lang="en-US" i="1" dirty="0"/>
              <a:t>A</a:t>
            </a:r>
            <a:r>
              <a:rPr lang="en-US" baseline="-25000" dirty="0"/>
              <a:t>1</a:t>
            </a:r>
            <a:r>
              <a:rPr lang="en-US" dirty="0"/>
              <a:t>, </a:t>
            </a:r>
            <a:r>
              <a:rPr lang="en-US" i="1" dirty="0"/>
              <a:t>A</a:t>
            </a:r>
            <a:r>
              <a:rPr lang="en-US" baseline="-25000" dirty="0"/>
              <a:t>2</a:t>
            </a:r>
            <a:r>
              <a:rPr lang="en-US" dirty="0"/>
              <a:t>, …, </a:t>
            </a:r>
            <a:r>
              <a:rPr lang="en-US" i="1" dirty="0"/>
              <a:t>A</a:t>
            </a:r>
            <a:r>
              <a:rPr lang="en-US" i="1" baseline="-25000" dirty="0"/>
              <a:t>i</a:t>
            </a:r>
            <a:r>
              <a:rPr lang="en-US" dirty="0"/>
              <a:t>} and {</a:t>
            </a:r>
            <a:r>
              <a:rPr lang="en-US" i="1" dirty="0"/>
              <a:t>A</a:t>
            </a:r>
            <a:r>
              <a:rPr lang="en-US" i="1" baseline="-25000" dirty="0"/>
              <a:t>i</a:t>
            </a:r>
            <a:r>
              <a:rPr lang="en-US" dirty="0"/>
              <a:t>, …, </a:t>
            </a:r>
            <a:r>
              <a:rPr lang="en-US" i="1" dirty="0"/>
              <a:t>A</a:t>
            </a:r>
            <a:r>
              <a:rPr lang="en-US" i="1" baseline="-25000" dirty="0"/>
              <a:t>n</a:t>
            </a:r>
            <a:r>
              <a:rPr lang="en-US" dirty="0"/>
              <a:t>} such that there are no (or minimal) applications that access both (or more than one) of the sets.</a:t>
            </a:r>
          </a:p>
        </p:txBody>
      </p:sp>
      <p:sp>
        <p:nvSpPr>
          <p:cNvPr id="92163" name="Rectangle 3"/>
          <p:cNvSpPr>
            <a:spLocks noGrp="1" noChangeArrowheads="1"/>
          </p:cNvSpPr>
          <p:nvPr>
            <p:ph type="title"/>
          </p:nvPr>
        </p:nvSpPr>
        <p:spPr>
          <a:noFill/>
          <a:ln/>
        </p:spPr>
        <p:txBody>
          <a:bodyPr/>
          <a:lstStyle/>
          <a:p>
            <a:r>
              <a:rPr lang="en-US"/>
              <a:t>VF – Algorithm</a:t>
            </a:r>
          </a:p>
        </p:txBody>
      </p:sp>
      <p:grpSp>
        <p:nvGrpSpPr>
          <p:cNvPr id="92169" name="Group 9"/>
          <p:cNvGrpSpPr>
            <a:grpSpLocks/>
          </p:cNvGrpSpPr>
          <p:nvPr/>
        </p:nvGrpSpPr>
        <p:grpSpPr bwMode="auto">
          <a:xfrm>
            <a:off x="3978205" y="5524785"/>
            <a:ext cx="776675" cy="3416017"/>
            <a:chOff x="1762" y="2447"/>
            <a:chExt cx="344" cy="1513"/>
          </a:xfrm>
        </p:grpSpPr>
        <p:sp>
          <p:nvSpPr>
            <p:cNvPr id="92164" name="Rectangle 4"/>
            <p:cNvSpPr>
              <a:spLocks noChangeArrowheads="1"/>
            </p:cNvSpPr>
            <p:nvPr/>
          </p:nvSpPr>
          <p:spPr bwMode="auto">
            <a:xfrm>
              <a:off x="1773" y="2447"/>
              <a:ext cx="251"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i="1" dirty="0">
                  <a:solidFill>
                    <a:srgbClr val="000000"/>
                  </a:solidFill>
                  <a:latin typeface="Book Antiqua"/>
                </a:rPr>
                <a:t>A</a:t>
              </a:r>
              <a:r>
                <a:rPr lang="en-US" sz="2600" baseline="-25000" dirty="0">
                  <a:solidFill>
                    <a:srgbClr val="000000"/>
                  </a:solidFill>
                  <a:latin typeface="Book Antiqua"/>
                </a:rPr>
                <a:t>1</a:t>
              </a:r>
            </a:p>
          </p:txBody>
        </p:sp>
        <p:sp>
          <p:nvSpPr>
            <p:cNvPr id="92165" name="Rectangle 5"/>
            <p:cNvSpPr>
              <a:spLocks noChangeArrowheads="1"/>
            </p:cNvSpPr>
            <p:nvPr/>
          </p:nvSpPr>
          <p:spPr bwMode="auto">
            <a:xfrm>
              <a:off x="1773" y="2599"/>
              <a:ext cx="251"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i="1" dirty="0">
                  <a:solidFill>
                    <a:srgbClr val="000000"/>
                  </a:solidFill>
                  <a:latin typeface="Book Antiqua"/>
                </a:rPr>
                <a:t>A</a:t>
              </a:r>
              <a:r>
                <a:rPr lang="en-US" sz="2600" baseline="-25000" dirty="0">
                  <a:solidFill>
                    <a:srgbClr val="000000"/>
                  </a:solidFill>
                  <a:latin typeface="Book Antiqua"/>
                </a:rPr>
                <a:t>2</a:t>
              </a:r>
            </a:p>
          </p:txBody>
        </p:sp>
        <p:sp>
          <p:nvSpPr>
            <p:cNvPr id="92166" name="Rectangle 6"/>
            <p:cNvSpPr>
              <a:spLocks noChangeArrowheads="1"/>
            </p:cNvSpPr>
            <p:nvPr/>
          </p:nvSpPr>
          <p:spPr bwMode="auto">
            <a:xfrm>
              <a:off x="1762" y="3031"/>
              <a:ext cx="241"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i="1" dirty="0">
                  <a:solidFill>
                    <a:srgbClr val="000000"/>
                  </a:solidFill>
                  <a:latin typeface="Book Antiqua"/>
                </a:rPr>
                <a:t>A</a:t>
              </a:r>
              <a:r>
                <a:rPr lang="en-US" sz="2600" i="1" baseline="-25000" dirty="0">
                  <a:solidFill>
                    <a:srgbClr val="000000"/>
                  </a:solidFill>
                  <a:latin typeface="Book Antiqua"/>
                </a:rPr>
                <a:t>i</a:t>
              </a:r>
            </a:p>
          </p:txBody>
        </p:sp>
        <p:sp>
          <p:nvSpPr>
            <p:cNvPr id="92167" name="Rectangle 7"/>
            <p:cNvSpPr>
              <a:spLocks noChangeArrowheads="1"/>
            </p:cNvSpPr>
            <p:nvPr/>
          </p:nvSpPr>
          <p:spPr bwMode="auto">
            <a:xfrm>
              <a:off x="1768" y="3327"/>
              <a:ext cx="338"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i="1" dirty="0">
                  <a:solidFill>
                    <a:srgbClr val="000000"/>
                  </a:solidFill>
                  <a:latin typeface="Book Antiqua"/>
                </a:rPr>
                <a:t>A</a:t>
              </a:r>
              <a:r>
                <a:rPr lang="en-US" sz="2600" i="1" baseline="-25000" dirty="0">
                  <a:solidFill>
                    <a:srgbClr val="000000"/>
                  </a:solidFill>
                  <a:latin typeface="Book Antiqua"/>
                </a:rPr>
                <a:t>i</a:t>
              </a:r>
              <a:r>
                <a:rPr lang="en-US" sz="2600" baseline="-25000" dirty="0">
                  <a:solidFill>
                    <a:srgbClr val="000000"/>
                  </a:solidFill>
                  <a:latin typeface="Book Antiqua"/>
                </a:rPr>
                <a:t>+1</a:t>
              </a:r>
            </a:p>
          </p:txBody>
        </p:sp>
        <p:sp>
          <p:nvSpPr>
            <p:cNvPr id="92168" name="Rectangle 8"/>
            <p:cNvSpPr>
              <a:spLocks noChangeArrowheads="1"/>
            </p:cNvSpPr>
            <p:nvPr/>
          </p:nvSpPr>
          <p:spPr bwMode="auto">
            <a:xfrm>
              <a:off x="1767" y="3743"/>
              <a:ext cx="291"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i="1" dirty="0">
                  <a:solidFill>
                    <a:srgbClr val="000000"/>
                  </a:solidFill>
                  <a:latin typeface="Book Antiqua"/>
                </a:rPr>
                <a:t>A</a:t>
              </a:r>
              <a:r>
                <a:rPr lang="en-US" sz="2600" i="1" baseline="-25000" dirty="0">
                  <a:solidFill>
                    <a:srgbClr val="000000"/>
                  </a:solidFill>
                  <a:latin typeface="Book Antiqua"/>
                </a:rPr>
                <a:t>m</a:t>
              </a:r>
            </a:p>
          </p:txBody>
        </p:sp>
      </p:grpSp>
      <p:sp>
        <p:nvSpPr>
          <p:cNvPr id="92170" name="Rectangle 10"/>
          <p:cNvSpPr>
            <a:spLocks noChangeArrowheads="1"/>
          </p:cNvSpPr>
          <p:nvPr/>
        </p:nvSpPr>
        <p:spPr bwMode="auto">
          <a:xfrm>
            <a:off x="5970933" y="5019042"/>
            <a:ext cx="593320"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a:t>
            </a:r>
          </a:p>
        </p:txBody>
      </p:sp>
      <p:grpSp>
        <p:nvGrpSpPr>
          <p:cNvPr id="92177" name="Group 17"/>
          <p:cNvGrpSpPr>
            <a:grpSpLocks/>
          </p:cNvGrpSpPr>
          <p:nvPr/>
        </p:nvGrpSpPr>
        <p:grpSpPr bwMode="auto">
          <a:xfrm>
            <a:off x="4544908" y="5073231"/>
            <a:ext cx="3966915" cy="489937"/>
            <a:chOff x="2013" y="2247"/>
            <a:chExt cx="1757" cy="217"/>
          </a:xfrm>
        </p:grpSpPr>
        <p:sp>
          <p:nvSpPr>
            <p:cNvPr id="92171" name="Rectangle 11"/>
            <p:cNvSpPr>
              <a:spLocks noChangeArrowheads="1"/>
            </p:cNvSpPr>
            <p:nvPr/>
          </p:nvSpPr>
          <p:spPr bwMode="auto">
            <a:xfrm>
              <a:off x="2013" y="2247"/>
              <a:ext cx="251"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i="1" dirty="0">
                  <a:solidFill>
                    <a:srgbClr val="000000"/>
                  </a:solidFill>
                  <a:latin typeface="Book Antiqua"/>
                </a:rPr>
                <a:t>A</a:t>
              </a:r>
              <a:r>
                <a:rPr lang="en-US" sz="2600" baseline="-25000" dirty="0">
                  <a:solidFill>
                    <a:srgbClr val="000000"/>
                  </a:solidFill>
                  <a:latin typeface="Book Antiqua"/>
                </a:rPr>
                <a:t>1</a:t>
              </a:r>
            </a:p>
          </p:txBody>
        </p:sp>
        <p:sp>
          <p:nvSpPr>
            <p:cNvPr id="92172" name="Rectangle 12"/>
            <p:cNvSpPr>
              <a:spLocks noChangeArrowheads="1"/>
            </p:cNvSpPr>
            <p:nvPr/>
          </p:nvSpPr>
          <p:spPr bwMode="auto">
            <a:xfrm>
              <a:off x="2277" y="2247"/>
              <a:ext cx="251"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i="1" dirty="0">
                  <a:solidFill>
                    <a:srgbClr val="000000"/>
                  </a:solidFill>
                  <a:latin typeface="Book Antiqua"/>
                </a:rPr>
                <a:t>A</a:t>
              </a:r>
              <a:r>
                <a:rPr lang="en-US" sz="2600" baseline="-25000" dirty="0">
                  <a:solidFill>
                    <a:srgbClr val="000000"/>
                  </a:solidFill>
                  <a:latin typeface="Book Antiqua"/>
                </a:rPr>
                <a:t>2</a:t>
              </a:r>
            </a:p>
          </p:txBody>
        </p:sp>
        <p:sp>
          <p:nvSpPr>
            <p:cNvPr id="92173" name="Rectangle 13"/>
            <p:cNvSpPr>
              <a:spLocks noChangeArrowheads="1"/>
            </p:cNvSpPr>
            <p:nvPr/>
          </p:nvSpPr>
          <p:spPr bwMode="auto">
            <a:xfrm>
              <a:off x="2469" y="2247"/>
              <a:ext cx="251"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i="1" dirty="0">
                  <a:solidFill>
                    <a:srgbClr val="000000"/>
                  </a:solidFill>
                  <a:latin typeface="Book Antiqua"/>
                </a:rPr>
                <a:t>A</a:t>
              </a:r>
              <a:r>
                <a:rPr lang="en-US" sz="2600" baseline="-25000" dirty="0">
                  <a:solidFill>
                    <a:srgbClr val="000000"/>
                  </a:solidFill>
                  <a:latin typeface="Book Antiqua"/>
                </a:rPr>
                <a:t>3</a:t>
              </a:r>
            </a:p>
          </p:txBody>
        </p:sp>
        <p:sp>
          <p:nvSpPr>
            <p:cNvPr id="92174" name="Rectangle 14"/>
            <p:cNvSpPr>
              <a:spLocks noChangeArrowheads="1"/>
            </p:cNvSpPr>
            <p:nvPr/>
          </p:nvSpPr>
          <p:spPr bwMode="auto">
            <a:xfrm>
              <a:off x="2826" y="2247"/>
              <a:ext cx="241"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i="1" dirty="0">
                  <a:solidFill>
                    <a:srgbClr val="000000"/>
                  </a:solidFill>
                  <a:latin typeface="Book Antiqua"/>
                </a:rPr>
                <a:t>A</a:t>
              </a:r>
              <a:r>
                <a:rPr lang="en-US" sz="2600" i="1" baseline="-25000" dirty="0">
                  <a:solidFill>
                    <a:srgbClr val="000000"/>
                  </a:solidFill>
                  <a:latin typeface="Book Antiqua"/>
                </a:rPr>
                <a:t>i</a:t>
              </a:r>
            </a:p>
          </p:txBody>
        </p:sp>
        <p:sp>
          <p:nvSpPr>
            <p:cNvPr id="92175" name="Rectangle 15"/>
            <p:cNvSpPr>
              <a:spLocks noChangeArrowheads="1"/>
            </p:cNvSpPr>
            <p:nvPr/>
          </p:nvSpPr>
          <p:spPr bwMode="auto">
            <a:xfrm>
              <a:off x="3048" y="2247"/>
              <a:ext cx="338"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i="1" dirty="0">
                  <a:solidFill>
                    <a:srgbClr val="000000"/>
                  </a:solidFill>
                  <a:latin typeface="Book Antiqua"/>
                </a:rPr>
                <a:t>A</a:t>
              </a:r>
              <a:r>
                <a:rPr lang="en-US" sz="2600" i="1" baseline="-25000" dirty="0">
                  <a:solidFill>
                    <a:srgbClr val="000000"/>
                  </a:solidFill>
                  <a:latin typeface="Book Antiqua"/>
                </a:rPr>
                <a:t>i</a:t>
              </a:r>
              <a:r>
                <a:rPr lang="en-US" sz="2600" baseline="-25000" dirty="0">
                  <a:solidFill>
                    <a:srgbClr val="000000"/>
                  </a:solidFill>
                  <a:latin typeface="Book Antiqua"/>
                </a:rPr>
                <a:t>+1</a:t>
              </a:r>
            </a:p>
          </p:txBody>
        </p:sp>
        <p:sp>
          <p:nvSpPr>
            <p:cNvPr id="92176" name="Rectangle 16"/>
            <p:cNvSpPr>
              <a:spLocks noChangeArrowheads="1"/>
            </p:cNvSpPr>
            <p:nvPr/>
          </p:nvSpPr>
          <p:spPr bwMode="auto">
            <a:xfrm>
              <a:off x="3479" y="2247"/>
              <a:ext cx="291"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i="1" dirty="0">
                  <a:solidFill>
                    <a:srgbClr val="000000"/>
                  </a:solidFill>
                  <a:latin typeface="Book Antiqua"/>
                </a:rPr>
                <a:t>A</a:t>
              </a:r>
              <a:r>
                <a:rPr lang="en-US" sz="2600" i="1" baseline="-25000" dirty="0">
                  <a:solidFill>
                    <a:srgbClr val="000000"/>
                  </a:solidFill>
                  <a:latin typeface="Book Antiqua"/>
                </a:rPr>
                <a:t>m</a:t>
              </a:r>
            </a:p>
          </p:txBody>
        </p:sp>
      </p:grpSp>
      <p:sp>
        <p:nvSpPr>
          <p:cNvPr id="92178" name="Rectangle 18"/>
          <p:cNvSpPr>
            <a:spLocks noChangeArrowheads="1"/>
          </p:cNvSpPr>
          <p:nvPr/>
        </p:nvSpPr>
        <p:spPr bwMode="auto">
          <a:xfrm>
            <a:off x="4623929" y="5628641"/>
            <a:ext cx="2257778" cy="1770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92179" name="Rectangle 19"/>
          <p:cNvSpPr>
            <a:spLocks noChangeArrowheads="1"/>
          </p:cNvSpPr>
          <p:nvPr/>
        </p:nvSpPr>
        <p:spPr bwMode="auto">
          <a:xfrm>
            <a:off x="6899769" y="5653476"/>
            <a:ext cx="1643662" cy="1824284"/>
          </a:xfrm>
          <a:prstGeom prst="rect">
            <a:avLst/>
          </a:prstGeom>
          <a:solidFill>
            <a:schemeClr val="fo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92180" name="Rectangle 20"/>
          <p:cNvSpPr>
            <a:spLocks noChangeArrowheads="1"/>
          </p:cNvSpPr>
          <p:nvPr/>
        </p:nvSpPr>
        <p:spPr bwMode="auto">
          <a:xfrm>
            <a:off x="4623929" y="7416801"/>
            <a:ext cx="2257778" cy="1444978"/>
          </a:xfrm>
          <a:prstGeom prst="rect">
            <a:avLst/>
          </a:prstGeom>
          <a:solidFill>
            <a:schemeClr val="fo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92181" name="Rectangle 21"/>
          <p:cNvSpPr>
            <a:spLocks noChangeArrowheads="1"/>
          </p:cNvSpPr>
          <p:nvPr/>
        </p:nvSpPr>
        <p:spPr bwMode="auto">
          <a:xfrm>
            <a:off x="6899769" y="7416801"/>
            <a:ext cx="1643662" cy="1444978"/>
          </a:xfrm>
          <a:prstGeom prst="rect">
            <a:avLst/>
          </a:prstGeom>
          <a:solidFill>
            <a:schemeClr val="fo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grpSp>
        <p:nvGrpSpPr>
          <p:cNvPr id="92185" name="Group 25"/>
          <p:cNvGrpSpPr>
            <a:grpSpLocks/>
          </p:cNvGrpSpPr>
          <p:nvPr/>
        </p:nvGrpSpPr>
        <p:grpSpPr bwMode="auto">
          <a:xfrm>
            <a:off x="8362809" y="5637672"/>
            <a:ext cx="171591" cy="3251200"/>
            <a:chOff x="3704" y="2497"/>
            <a:chExt cx="76" cy="1440"/>
          </a:xfrm>
        </p:grpSpPr>
        <p:sp>
          <p:nvSpPr>
            <p:cNvPr id="92182" name="Line 22"/>
            <p:cNvSpPr>
              <a:spLocks noChangeShapeType="1"/>
            </p:cNvSpPr>
            <p:nvPr/>
          </p:nvSpPr>
          <p:spPr bwMode="auto">
            <a:xfrm>
              <a:off x="3780" y="2497"/>
              <a:ext cx="0" cy="143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92183" name="Line 23"/>
            <p:cNvSpPr>
              <a:spLocks noChangeShapeType="1"/>
            </p:cNvSpPr>
            <p:nvPr/>
          </p:nvSpPr>
          <p:spPr bwMode="auto">
            <a:xfrm flipH="1">
              <a:off x="3704" y="2497"/>
              <a:ext cx="72"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92184" name="Line 24"/>
            <p:cNvSpPr>
              <a:spLocks noChangeShapeType="1"/>
            </p:cNvSpPr>
            <p:nvPr/>
          </p:nvSpPr>
          <p:spPr bwMode="auto">
            <a:xfrm flipH="1">
              <a:off x="3704" y="3937"/>
              <a:ext cx="72"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grpSp>
      <p:sp>
        <p:nvSpPr>
          <p:cNvPr id="92186" name="Rectangle 26"/>
          <p:cNvSpPr>
            <a:spLocks noChangeArrowheads="1"/>
          </p:cNvSpPr>
          <p:nvPr/>
        </p:nvSpPr>
        <p:spPr bwMode="auto">
          <a:xfrm>
            <a:off x="7405301" y="7945122"/>
            <a:ext cx="722913"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BA</a:t>
            </a:r>
          </a:p>
        </p:txBody>
      </p:sp>
      <p:sp>
        <p:nvSpPr>
          <p:cNvPr id="92187" name="Rectangle 27"/>
          <p:cNvSpPr>
            <a:spLocks noChangeArrowheads="1"/>
          </p:cNvSpPr>
          <p:nvPr/>
        </p:nvSpPr>
        <p:spPr bwMode="auto">
          <a:xfrm>
            <a:off x="7500667" y="5019042"/>
            <a:ext cx="676676"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 . </a:t>
            </a:r>
          </a:p>
        </p:txBody>
      </p:sp>
      <p:sp>
        <p:nvSpPr>
          <p:cNvPr id="92188" name="Rectangle 28"/>
          <p:cNvSpPr>
            <a:spLocks noChangeArrowheads="1"/>
          </p:cNvSpPr>
          <p:nvPr/>
        </p:nvSpPr>
        <p:spPr bwMode="auto">
          <a:xfrm rot="5340000">
            <a:off x="4020302" y="7999579"/>
            <a:ext cx="676676"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 . </a:t>
            </a:r>
          </a:p>
        </p:txBody>
      </p:sp>
      <p:sp>
        <p:nvSpPr>
          <p:cNvPr id="92189" name="Rectangle 29"/>
          <p:cNvSpPr>
            <a:spLocks noChangeArrowheads="1"/>
          </p:cNvSpPr>
          <p:nvPr/>
        </p:nvSpPr>
        <p:spPr bwMode="auto">
          <a:xfrm rot="5340000">
            <a:off x="4002240" y="6337855"/>
            <a:ext cx="676676"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 . </a:t>
            </a:r>
          </a:p>
        </p:txBody>
      </p:sp>
      <p:sp>
        <p:nvSpPr>
          <p:cNvPr id="92190" name="Rectangle 30"/>
          <p:cNvSpPr>
            <a:spLocks noChangeArrowheads="1"/>
          </p:cNvSpPr>
          <p:nvPr/>
        </p:nvSpPr>
        <p:spPr bwMode="auto">
          <a:xfrm>
            <a:off x="4623929" y="5653476"/>
            <a:ext cx="2275840" cy="1788160"/>
          </a:xfrm>
          <a:prstGeom prst="rect">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grpSp>
        <p:nvGrpSpPr>
          <p:cNvPr id="92194" name="Group 34"/>
          <p:cNvGrpSpPr>
            <a:grpSpLocks/>
          </p:cNvGrpSpPr>
          <p:nvPr/>
        </p:nvGrpSpPr>
        <p:grpSpPr bwMode="auto">
          <a:xfrm>
            <a:off x="4632960" y="5637672"/>
            <a:ext cx="144498" cy="3251200"/>
            <a:chOff x="2052" y="2497"/>
            <a:chExt cx="64" cy="1440"/>
          </a:xfrm>
        </p:grpSpPr>
        <p:sp>
          <p:nvSpPr>
            <p:cNvPr id="92191" name="Line 31"/>
            <p:cNvSpPr>
              <a:spLocks noChangeShapeType="1"/>
            </p:cNvSpPr>
            <p:nvPr/>
          </p:nvSpPr>
          <p:spPr bwMode="auto">
            <a:xfrm>
              <a:off x="2052" y="2497"/>
              <a:ext cx="0" cy="143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92192" name="Line 32"/>
            <p:cNvSpPr>
              <a:spLocks noChangeShapeType="1"/>
            </p:cNvSpPr>
            <p:nvPr/>
          </p:nvSpPr>
          <p:spPr bwMode="auto">
            <a:xfrm>
              <a:off x="2052" y="2497"/>
              <a:ext cx="6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92193" name="Line 33"/>
            <p:cNvSpPr>
              <a:spLocks noChangeShapeType="1"/>
            </p:cNvSpPr>
            <p:nvPr/>
          </p:nvSpPr>
          <p:spPr bwMode="auto">
            <a:xfrm>
              <a:off x="2052" y="3937"/>
              <a:ext cx="6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grpSp>
      <p:sp>
        <p:nvSpPr>
          <p:cNvPr id="92195" name="Line 35"/>
          <p:cNvSpPr>
            <a:spLocks noChangeShapeType="1"/>
          </p:cNvSpPr>
          <p:nvPr/>
        </p:nvSpPr>
        <p:spPr bwMode="auto">
          <a:xfrm>
            <a:off x="6890738" y="5366738"/>
            <a:ext cx="0" cy="3630507"/>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92196" name="Line 36"/>
          <p:cNvSpPr>
            <a:spLocks noChangeShapeType="1"/>
          </p:cNvSpPr>
          <p:nvPr/>
        </p:nvSpPr>
        <p:spPr bwMode="auto">
          <a:xfrm>
            <a:off x="4127218" y="7443894"/>
            <a:ext cx="4587804" cy="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92197" name="Rectangle 37"/>
          <p:cNvSpPr>
            <a:spLocks noChangeArrowheads="1"/>
          </p:cNvSpPr>
          <p:nvPr/>
        </p:nvSpPr>
        <p:spPr bwMode="auto">
          <a:xfrm>
            <a:off x="5349143" y="6301459"/>
            <a:ext cx="698981"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TA</a:t>
            </a:r>
          </a:p>
        </p:txBody>
      </p:sp>
      <p:grpSp>
        <p:nvGrpSpPr>
          <p:cNvPr id="92200" name="Group 40"/>
          <p:cNvGrpSpPr>
            <a:grpSpLocks/>
          </p:cNvGrpSpPr>
          <p:nvPr/>
        </p:nvGrpSpPr>
        <p:grpSpPr bwMode="auto">
          <a:xfrm>
            <a:off x="6809458" y="7362614"/>
            <a:ext cx="198684" cy="162560"/>
            <a:chOff x="3016" y="3261"/>
            <a:chExt cx="88" cy="72"/>
          </a:xfrm>
        </p:grpSpPr>
        <p:sp>
          <p:nvSpPr>
            <p:cNvPr id="92198" name="Line 38"/>
            <p:cNvSpPr>
              <a:spLocks noChangeShapeType="1"/>
            </p:cNvSpPr>
            <p:nvPr/>
          </p:nvSpPr>
          <p:spPr bwMode="auto">
            <a:xfrm>
              <a:off x="3024" y="3261"/>
              <a:ext cx="72" cy="72"/>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sp>
          <p:nvSpPr>
            <p:cNvPr id="92199" name="Line 39"/>
            <p:cNvSpPr>
              <a:spLocks noChangeShapeType="1"/>
            </p:cNvSpPr>
            <p:nvPr/>
          </p:nvSpPr>
          <p:spPr bwMode="auto">
            <a:xfrm flipH="1">
              <a:off x="3016" y="3261"/>
              <a:ext cx="88" cy="72"/>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Book Antiqua"/>
              </a:endParaRPr>
            </a:p>
          </p:txBody>
        </p:sp>
      </p:gr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body" idx="1"/>
          </p:nvPr>
        </p:nvSpPr>
        <p:spPr>
          <a:xfrm>
            <a:off x="309712" y="2481024"/>
            <a:ext cx="11440159" cy="5852160"/>
          </a:xfrm>
          <a:noFill/>
          <a:ln/>
        </p:spPr>
        <p:txBody>
          <a:bodyPr/>
          <a:lstStyle/>
          <a:p>
            <a:pPr>
              <a:lnSpc>
                <a:spcPct val="80000"/>
              </a:lnSpc>
              <a:buNone/>
              <a:tabLst>
                <a:tab pos="1372707" algn="l"/>
                <a:tab pos="1878442" algn="l"/>
              </a:tabLst>
            </a:pPr>
            <a:r>
              <a:rPr lang="en-US" dirty="0"/>
              <a:t>Define</a:t>
            </a:r>
          </a:p>
          <a:p>
            <a:pPr lvl="1">
              <a:lnSpc>
                <a:spcPct val="80000"/>
              </a:lnSpc>
              <a:buNone/>
              <a:tabLst>
                <a:tab pos="1372707" algn="l"/>
                <a:tab pos="1878442" algn="l"/>
              </a:tabLst>
            </a:pPr>
            <a:r>
              <a:rPr lang="en-US" i="1" dirty="0"/>
              <a:t>TQ</a:t>
            </a:r>
            <a:r>
              <a:rPr lang="en-US" dirty="0"/>
              <a:t>	=	set of applications that access only </a:t>
            </a:r>
            <a:r>
              <a:rPr lang="en-US" i="1" dirty="0"/>
              <a:t>TA</a:t>
            </a:r>
          </a:p>
          <a:p>
            <a:pPr lvl="1">
              <a:lnSpc>
                <a:spcPct val="80000"/>
              </a:lnSpc>
              <a:buNone/>
              <a:tabLst>
                <a:tab pos="1372707" algn="l"/>
                <a:tab pos="1878442" algn="l"/>
              </a:tabLst>
            </a:pPr>
            <a:r>
              <a:rPr lang="en-US" i="1" dirty="0"/>
              <a:t>BQ</a:t>
            </a:r>
            <a:r>
              <a:rPr lang="en-US" dirty="0"/>
              <a:t>	=	set of applications that access only </a:t>
            </a:r>
            <a:r>
              <a:rPr lang="en-US" i="1" dirty="0"/>
              <a:t>BA</a:t>
            </a:r>
          </a:p>
          <a:p>
            <a:pPr lvl="1">
              <a:lnSpc>
                <a:spcPct val="80000"/>
              </a:lnSpc>
              <a:buNone/>
              <a:tabLst>
                <a:tab pos="1372707" algn="l"/>
                <a:tab pos="1878442" algn="l"/>
              </a:tabLst>
            </a:pPr>
            <a:r>
              <a:rPr lang="en-US" i="1" dirty="0"/>
              <a:t>OQ</a:t>
            </a:r>
            <a:r>
              <a:rPr lang="en-US" dirty="0"/>
              <a:t>	=	set of applications that access both </a:t>
            </a:r>
            <a:r>
              <a:rPr lang="en-US" i="1" dirty="0"/>
              <a:t>TA</a:t>
            </a:r>
            <a:r>
              <a:rPr lang="en-US" dirty="0"/>
              <a:t> and </a:t>
            </a:r>
            <a:r>
              <a:rPr lang="en-US" i="1" dirty="0"/>
              <a:t>BA</a:t>
            </a:r>
          </a:p>
          <a:p>
            <a:pPr>
              <a:lnSpc>
                <a:spcPct val="80000"/>
              </a:lnSpc>
              <a:buNone/>
              <a:tabLst>
                <a:tab pos="1372707" algn="l"/>
                <a:tab pos="1878442" algn="l"/>
              </a:tabLst>
            </a:pPr>
            <a:r>
              <a:rPr lang="en-US" dirty="0"/>
              <a:t>and</a:t>
            </a:r>
          </a:p>
          <a:p>
            <a:pPr lvl="1">
              <a:lnSpc>
                <a:spcPct val="80000"/>
              </a:lnSpc>
              <a:buNone/>
              <a:tabLst>
                <a:tab pos="1608138" algn="l"/>
                <a:tab pos="1878013" algn="l"/>
              </a:tabLst>
            </a:pPr>
            <a:r>
              <a:rPr lang="en-US" i="1" dirty="0"/>
              <a:t>CTQ</a:t>
            </a:r>
            <a:r>
              <a:rPr lang="en-US" dirty="0"/>
              <a:t> =	total number of accesses to attributes by applications 		that access only </a:t>
            </a:r>
            <a:r>
              <a:rPr lang="en-US" i="1" dirty="0"/>
              <a:t>TA</a:t>
            </a:r>
          </a:p>
          <a:p>
            <a:pPr lvl="1">
              <a:lnSpc>
                <a:spcPct val="80000"/>
              </a:lnSpc>
              <a:buNone/>
              <a:tabLst>
                <a:tab pos="1608138" algn="l"/>
                <a:tab pos="1878013" algn="l"/>
              </a:tabLst>
            </a:pPr>
            <a:r>
              <a:rPr lang="en-US" i="1" dirty="0"/>
              <a:t>CBQ</a:t>
            </a:r>
            <a:r>
              <a:rPr lang="en-US" dirty="0"/>
              <a:t> =	total number of accesses to attributes by applications 		that access only </a:t>
            </a:r>
            <a:r>
              <a:rPr lang="en-US" i="1" dirty="0"/>
              <a:t>BA</a:t>
            </a:r>
          </a:p>
          <a:p>
            <a:pPr lvl="1">
              <a:lnSpc>
                <a:spcPct val="80000"/>
              </a:lnSpc>
              <a:buNone/>
              <a:tabLst>
                <a:tab pos="1608138" algn="l"/>
                <a:tab pos="1878013" algn="l"/>
              </a:tabLst>
            </a:pPr>
            <a:r>
              <a:rPr lang="en-US" i="1" dirty="0"/>
              <a:t>COQ</a:t>
            </a:r>
            <a:r>
              <a:rPr lang="en-US" dirty="0"/>
              <a:t> =	total number of accesses to attributes by applications 		that access both </a:t>
            </a:r>
            <a:r>
              <a:rPr lang="en-US" i="1" dirty="0"/>
              <a:t>TA</a:t>
            </a:r>
            <a:r>
              <a:rPr lang="en-US" dirty="0"/>
              <a:t> and </a:t>
            </a:r>
            <a:r>
              <a:rPr lang="en-US" i="1" dirty="0"/>
              <a:t>BA</a:t>
            </a:r>
          </a:p>
          <a:p>
            <a:pPr>
              <a:lnSpc>
                <a:spcPct val="80000"/>
              </a:lnSpc>
              <a:buNone/>
              <a:tabLst>
                <a:tab pos="1608138" algn="l"/>
                <a:tab pos="1878013" algn="l"/>
              </a:tabLst>
            </a:pPr>
            <a:r>
              <a:rPr lang="en-US" dirty="0"/>
              <a:t>Then find the point along the diagonal that maximizes</a:t>
            </a:r>
          </a:p>
        </p:txBody>
      </p:sp>
      <p:sp>
        <p:nvSpPr>
          <p:cNvPr id="93187" name="Rectangle 3"/>
          <p:cNvSpPr>
            <a:spLocks noGrp="1" noChangeArrowheads="1"/>
          </p:cNvSpPr>
          <p:nvPr>
            <p:ph type="title"/>
          </p:nvPr>
        </p:nvSpPr>
        <p:spPr>
          <a:noFill/>
          <a:ln/>
        </p:spPr>
        <p:txBody>
          <a:bodyPr/>
          <a:lstStyle/>
          <a:p>
            <a:r>
              <a:rPr lang="en-US"/>
              <a:t>VF – ALgorithm</a:t>
            </a:r>
          </a:p>
        </p:txBody>
      </p:sp>
      <p:sp>
        <p:nvSpPr>
          <p:cNvPr id="93188" name="Rectangle 4"/>
          <p:cNvSpPr>
            <a:spLocks noChangeArrowheads="1"/>
          </p:cNvSpPr>
          <p:nvPr/>
        </p:nvSpPr>
        <p:spPr bwMode="auto">
          <a:xfrm>
            <a:off x="3374125" y="8611164"/>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a:t>
            </a:r>
          </a:p>
        </p:txBody>
      </p:sp>
      <p:sp>
        <p:nvSpPr>
          <p:cNvPr id="93189" name="Rectangle 5"/>
          <p:cNvSpPr>
            <a:spLocks noChangeArrowheads="1"/>
          </p:cNvSpPr>
          <p:nvPr/>
        </p:nvSpPr>
        <p:spPr bwMode="auto">
          <a:xfrm>
            <a:off x="3374125" y="8611164"/>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  </a:t>
            </a:r>
          </a:p>
        </p:txBody>
      </p:sp>
      <p:sp>
        <p:nvSpPr>
          <p:cNvPr id="93190" name="Rectangle 6"/>
          <p:cNvSpPr>
            <a:spLocks noChangeArrowheads="1"/>
          </p:cNvSpPr>
          <p:nvPr/>
        </p:nvSpPr>
        <p:spPr bwMode="auto">
          <a:xfrm>
            <a:off x="3666657" y="7901136"/>
            <a:ext cx="2983679" cy="55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800" i="1" dirty="0" smtClean="0">
                <a:solidFill>
                  <a:srgbClr val="000000"/>
                </a:solidFill>
                <a:latin typeface="Book Antiqua"/>
              </a:rPr>
              <a:t>CTQ</a:t>
            </a:r>
            <a:r>
              <a:rPr lang="en-US" sz="2800" dirty="0" smtClean="0">
                <a:solidFill>
                  <a:srgbClr val="000000"/>
                </a:solidFill>
                <a:latin typeface="Symbol" charset="0"/>
                <a:sym typeface="Symbol"/>
              </a:rPr>
              <a:t></a:t>
            </a:r>
            <a:r>
              <a:rPr lang="en-US" sz="2800" i="1" dirty="0" smtClean="0">
                <a:solidFill>
                  <a:srgbClr val="000000"/>
                </a:solidFill>
                <a:latin typeface="Book Antiqua"/>
              </a:rPr>
              <a:t>CBQ</a:t>
            </a:r>
            <a:r>
              <a:rPr lang="en-US" sz="2800" dirty="0" smtClean="0">
                <a:solidFill>
                  <a:srgbClr val="000000"/>
                </a:solidFill>
                <a:latin typeface="Symbol" charset="0"/>
                <a:sym typeface="Symbol"/>
              </a:rPr>
              <a:t></a:t>
            </a:r>
            <a:r>
              <a:rPr lang="en-US" sz="2800" i="1" dirty="0" smtClean="0">
                <a:solidFill>
                  <a:srgbClr val="000000"/>
                </a:solidFill>
                <a:latin typeface="Book Antiqua"/>
              </a:rPr>
              <a:t>COQ</a:t>
            </a:r>
            <a:r>
              <a:rPr lang="en-US" sz="2800" baseline="30000" dirty="0" smtClean="0">
                <a:solidFill>
                  <a:srgbClr val="000000"/>
                </a:solidFill>
                <a:latin typeface="Book Antiqua"/>
              </a:rPr>
              <a:t>2</a:t>
            </a:r>
            <a:endParaRPr lang="en-US" sz="2800" baseline="30000" dirty="0">
              <a:solidFill>
                <a:srgbClr val="000000"/>
              </a:solidFill>
              <a:latin typeface="Book Antiqua"/>
            </a:endParaRPr>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dirty="0"/>
              <a:t> </a:t>
            </a:r>
            <a:r>
              <a:rPr lang="en-US" sz="4400" b="1" dirty="0" smtClean="0"/>
              <a:t> </a:t>
            </a:r>
            <a:r>
              <a:rPr lang="en-US" sz="4400" b="1" dirty="0" err="1" smtClean="0"/>
              <a:t>refl</a:t>
            </a:r>
            <a:r>
              <a:rPr lang="en-US" sz="4400" b="1" dirty="0" smtClean="0"/>
              <a:t> (</a:t>
            </a:r>
            <a:r>
              <a:rPr lang="en-US" sz="4400" b="1" dirty="0" err="1" smtClean="0"/>
              <a:t>qk</a:t>
            </a:r>
            <a:r>
              <a:rPr lang="en-US" sz="4400" b="1" dirty="0" smtClean="0"/>
              <a:t>) and </a:t>
            </a:r>
            <a:r>
              <a:rPr lang="en-US" sz="4400" b="1" dirty="0" err="1" smtClean="0"/>
              <a:t>accl</a:t>
            </a:r>
            <a:r>
              <a:rPr lang="en-US" sz="4400" b="1" dirty="0" smtClean="0"/>
              <a:t>(</a:t>
            </a:r>
            <a:r>
              <a:rPr lang="en-US" sz="4400" b="1" dirty="0" err="1" smtClean="0"/>
              <a:t>qk</a:t>
            </a:r>
            <a:r>
              <a:rPr lang="en-US" sz="4400" b="1" dirty="0" smtClean="0"/>
              <a:t>) definitions</a:t>
            </a:r>
            <a:endParaRPr lang="en-US" sz="4400" b="1" dirty="0"/>
          </a:p>
        </p:txBody>
      </p:sp>
      <p:sp>
        <p:nvSpPr>
          <p:cNvPr id="4" name="Slide Number Placeholder 3"/>
          <p:cNvSpPr>
            <a:spLocks noGrp="1"/>
          </p:cNvSpPr>
          <p:nvPr>
            <p:ph type="sldNum" sz="quarter" idx="10"/>
          </p:nvPr>
        </p:nvSpPr>
        <p:spPr/>
        <p:txBody>
          <a:bodyPr/>
          <a:lstStyle/>
          <a:p>
            <a:r>
              <a:rPr lang="en-US" smtClean="0">
                <a:latin typeface="Book Antiqua"/>
              </a:rPr>
              <a:t>Ch.x/</a:t>
            </a:r>
            <a:fld id="{D01B99BC-F82C-D046-99BD-FBA1D66F1CB4}" type="slidenum">
              <a:rPr lang="en-US" smtClean="0">
                <a:latin typeface="Book Antiqua"/>
              </a:rPr>
              <a:pPr/>
              <a:t>75</a:t>
            </a:fld>
            <a:endParaRPr lang="en-US" dirty="0">
              <a:latin typeface="Book Antiqua"/>
            </a:endParaRP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5737" y="2767994"/>
            <a:ext cx="12313368" cy="6213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8943409"/>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t>Optimization</a:t>
            </a:r>
            <a:endParaRPr lang="en-US" sz="4000" b="1" dirty="0"/>
          </a:p>
        </p:txBody>
      </p:sp>
      <p:sp>
        <p:nvSpPr>
          <p:cNvPr id="3" name="Content Placeholder 2"/>
          <p:cNvSpPr>
            <a:spLocks noGrp="1"/>
          </p:cNvSpPr>
          <p:nvPr>
            <p:ph idx="1"/>
          </p:nvPr>
        </p:nvSpPr>
        <p:spPr/>
        <p:txBody>
          <a:bodyPr/>
          <a:lstStyle/>
          <a:p>
            <a:pPr marL="0" indent="0">
              <a:buNone/>
            </a:pPr>
            <a:r>
              <a:rPr lang="en-US" sz="2400" dirty="0" smtClean="0"/>
              <a:t>There is an optimization problem here. If there are </a:t>
            </a:r>
            <a:r>
              <a:rPr lang="en-US" sz="2400" i="1" dirty="0" smtClean="0"/>
              <a:t>n </a:t>
            </a:r>
            <a:r>
              <a:rPr lang="en-US" sz="2400" dirty="0" smtClean="0"/>
              <a:t>attributes of a relation, there are </a:t>
            </a:r>
            <a:r>
              <a:rPr lang="en-US" sz="2400" i="1" dirty="0" smtClean="0"/>
              <a:t>n </a:t>
            </a:r>
            <a:r>
              <a:rPr lang="en-US" sz="2400" dirty="0" smtClean="0"/>
              <a:t>− 1 possible positions where the dividing point can be placed along the diagonal of the clustered attribute matrix for that relation. The best position for division is one which produces the sets </a:t>
            </a:r>
            <a:r>
              <a:rPr lang="en-US" sz="2400" i="1" dirty="0" smtClean="0"/>
              <a:t>TQ </a:t>
            </a:r>
            <a:r>
              <a:rPr lang="en-US" sz="2400" dirty="0" smtClean="0"/>
              <a:t>and </a:t>
            </a:r>
            <a:r>
              <a:rPr lang="en-US" sz="2400" i="1" dirty="0" smtClean="0"/>
              <a:t>BQ </a:t>
            </a:r>
            <a:r>
              <a:rPr lang="en-US" sz="2400" dirty="0" smtClean="0"/>
              <a:t>such that the total accesses to </a:t>
            </a:r>
            <a:r>
              <a:rPr lang="en-US" sz="2400" i="1" dirty="0" smtClean="0"/>
              <a:t>only one </a:t>
            </a:r>
            <a:r>
              <a:rPr lang="en-US" sz="2400" dirty="0" smtClean="0"/>
              <a:t>fragment are maximized, while the total accesses to </a:t>
            </a:r>
            <a:r>
              <a:rPr lang="en-US" sz="2400" i="1" dirty="0" smtClean="0"/>
              <a:t>both </a:t>
            </a:r>
            <a:r>
              <a:rPr lang="en-US" sz="2400" dirty="0" smtClean="0"/>
              <a:t>fragments are minimized. We therefore define the following cost equations:</a:t>
            </a:r>
          </a:p>
          <a:p>
            <a:pPr marL="0" indent="0">
              <a:buNone/>
            </a:pPr>
            <a:endParaRPr lang="en-US" sz="2400" dirty="0"/>
          </a:p>
        </p:txBody>
      </p:sp>
      <p:sp>
        <p:nvSpPr>
          <p:cNvPr id="4" name="Slide Number Placeholder 3"/>
          <p:cNvSpPr>
            <a:spLocks noGrp="1"/>
          </p:cNvSpPr>
          <p:nvPr>
            <p:ph type="sldNum" sz="quarter" idx="10"/>
          </p:nvPr>
        </p:nvSpPr>
        <p:spPr/>
        <p:txBody>
          <a:bodyPr/>
          <a:lstStyle/>
          <a:p>
            <a:r>
              <a:rPr lang="en-US" smtClean="0">
                <a:latin typeface="Book Antiqua"/>
              </a:rPr>
              <a:t>Ch.x/</a:t>
            </a:r>
            <a:fld id="{D01B99BC-F82C-D046-99BD-FBA1D66F1CB4}" type="slidenum">
              <a:rPr lang="en-US" smtClean="0">
                <a:latin typeface="Book Antiqua"/>
              </a:rPr>
              <a:pPr/>
              <a:t>76</a:t>
            </a:fld>
            <a:endParaRPr lang="en-US" dirty="0">
              <a:latin typeface="Book Antiqua"/>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2240" y="4687261"/>
            <a:ext cx="6426481" cy="41145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16430235"/>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0"/>
          </p:nvPr>
        </p:nvSpPr>
        <p:spPr/>
        <p:txBody>
          <a:bodyPr/>
          <a:lstStyle/>
          <a:p>
            <a:r>
              <a:rPr lang="en-US" smtClean="0">
                <a:latin typeface="Book Antiqua"/>
              </a:rPr>
              <a:t>Ch.x/</a:t>
            </a:r>
            <a:fld id="{D01B99BC-F82C-D046-99BD-FBA1D66F1CB4}" type="slidenum">
              <a:rPr lang="en-US" smtClean="0">
                <a:latin typeface="Book Antiqua"/>
              </a:rPr>
              <a:pPr/>
              <a:t>77</a:t>
            </a:fld>
            <a:endParaRPr lang="en-US" dirty="0">
              <a:latin typeface="Book Antiqua"/>
            </a:endParaRP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29792" y="2572544"/>
            <a:ext cx="10513168" cy="6296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77914789"/>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body" idx="1"/>
          </p:nvPr>
        </p:nvSpPr>
        <p:spPr>
          <a:noFill/>
          <a:ln/>
        </p:spPr>
        <p:txBody>
          <a:bodyPr/>
          <a:lstStyle/>
          <a:p>
            <a:pPr>
              <a:lnSpc>
                <a:spcPct val="100000"/>
              </a:lnSpc>
              <a:spcBef>
                <a:spcPct val="40000"/>
              </a:spcBef>
              <a:buFont typeface="Monotype Sorts" charset="0"/>
              <a:buNone/>
            </a:pPr>
            <a:r>
              <a:rPr lang="en-US" dirty="0"/>
              <a:t>Two problems :</a:t>
            </a:r>
          </a:p>
          <a:p>
            <a:pPr>
              <a:lnSpc>
                <a:spcPct val="100000"/>
              </a:lnSpc>
              <a:spcBef>
                <a:spcPct val="40000"/>
              </a:spcBef>
              <a:buSzPct val="95000"/>
              <a:buFont typeface="Monotype Sorts" charset="0"/>
              <a:buChar char=""/>
            </a:pPr>
            <a:r>
              <a:rPr lang="en-US" dirty="0"/>
              <a:t>Cluster forming in the middle of the </a:t>
            </a:r>
            <a:r>
              <a:rPr lang="en-US" i="1" dirty="0"/>
              <a:t>CA</a:t>
            </a:r>
            <a:r>
              <a:rPr lang="en-US" dirty="0"/>
              <a:t> matrix</a:t>
            </a:r>
          </a:p>
          <a:p>
            <a:pPr lvl="1">
              <a:lnSpc>
                <a:spcPct val="100000"/>
              </a:lnSpc>
              <a:spcBef>
                <a:spcPct val="40000"/>
              </a:spcBef>
            </a:pPr>
            <a:r>
              <a:rPr lang="en-US" dirty="0"/>
              <a:t>Shift a row up and a column left and apply the algorithm to find the “best” partitioning point</a:t>
            </a:r>
          </a:p>
          <a:p>
            <a:pPr lvl="1">
              <a:lnSpc>
                <a:spcPct val="100000"/>
              </a:lnSpc>
              <a:spcBef>
                <a:spcPct val="40000"/>
              </a:spcBef>
            </a:pPr>
            <a:r>
              <a:rPr lang="en-US" dirty="0"/>
              <a:t>Do this for all possible shifts</a:t>
            </a:r>
          </a:p>
          <a:p>
            <a:pPr lvl="1">
              <a:lnSpc>
                <a:spcPct val="100000"/>
              </a:lnSpc>
              <a:spcBef>
                <a:spcPct val="40000"/>
              </a:spcBef>
            </a:pPr>
            <a:r>
              <a:rPr lang="en-US" dirty="0"/>
              <a:t>Cost </a:t>
            </a:r>
            <a:r>
              <a:rPr lang="en-US" i="1" dirty="0"/>
              <a:t>O</a:t>
            </a:r>
            <a:r>
              <a:rPr lang="en-US" dirty="0"/>
              <a:t>(</a:t>
            </a:r>
            <a:r>
              <a:rPr lang="en-US" i="1" dirty="0"/>
              <a:t>m</a:t>
            </a:r>
            <a:r>
              <a:rPr lang="en-US" baseline="30000" dirty="0"/>
              <a:t>2</a:t>
            </a:r>
            <a:r>
              <a:rPr lang="en-US" dirty="0"/>
              <a:t>)</a:t>
            </a:r>
          </a:p>
          <a:p>
            <a:pPr>
              <a:lnSpc>
                <a:spcPct val="100000"/>
              </a:lnSpc>
              <a:spcBef>
                <a:spcPct val="40000"/>
              </a:spcBef>
              <a:buSzPct val="95000"/>
              <a:buFont typeface="Monotype Sorts" charset="0"/>
              <a:buChar char=""/>
            </a:pPr>
            <a:r>
              <a:rPr lang="en-US" dirty="0"/>
              <a:t>More than two clusters</a:t>
            </a:r>
          </a:p>
          <a:p>
            <a:pPr lvl="1">
              <a:lnSpc>
                <a:spcPct val="100000"/>
              </a:lnSpc>
              <a:spcBef>
                <a:spcPct val="40000"/>
              </a:spcBef>
            </a:pPr>
            <a:r>
              <a:rPr lang="en-US" i="1" dirty="0"/>
              <a:t>m</a:t>
            </a:r>
            <a:r>
              <a:rPr lang="en-US" dirty="0"/>
              <a:t>-way partitioning</a:t>
            </a:r>
          </a:p>
          <a:p>
            <a:pPr lvl="1">
              <a:lnSpc>
                <a:spcPct val="100000"/>
              </a:lnSpc>
              <a:spcBef>
                <a:spcPct val="40000"/>
              </a:spcBef>
            </a:pPr>
            <a:r>
              <a:rPr lang="en-US" dirty="0"/>
              <a:t>try 1, 2, …, </a:t>
            </a:r>
            <a:r>
              <a:rPr lang="en-US" i="1" dirty="0"/>
              <a:t>m–</a:t>
            </a:r>
            <a:r>
              <a:rPr lang="en-US" dirty="0"/>
              <a:t>1 split points along diagonal and try to find the best point for each of these </a:t>
            </a:r>
          </a:p>
          <a:p>
            <a:pPr lvl="1">
              <a:lnSpc>
                <a:spcPct val="100000"/>
              </a:lnSpc>
              <a:spcBef>
                <a:spcPct val="40000"/>
              </a:spcBef>
            </a:pPr>
            <a:r>
              <a:rPr lang="en-US" dirty="0"/>
              <a:t>Cost </a:t>
            </a:r>
            <a:r>
              <a:rPr lang="en-US" i="1" dirty="0"/>
              <a:t>O</a:t>
            </a:r>
            <a:r>
              <a:rPr lang="en-US" dirty="0"/>
              <a:t>(2</a:t>
            </a:r>
            <a:r>
              <a:rPr lang="en-US" i="1" baseline="30000" dirty="0"/>
              <a:t>m</a:t>
            </a:r>
            <a:r>
              <a:rPr lang="en-US" dirty="0"/>
              <a:t>)</a:t>
            </a:r>
          </a:p>
        </p:txBody>
      </p:sp>
      <p:sp>
        <p:nvSpPr>
          <p:cNvPr id="94211" name="Rectangle 3"/>
          <p:cNvSpPr>
            <a:spLocks noGrp="1" noChangeArrowheads="1"/>
          </p:cNvSpPr>
          <p:nvPr>
            <p:ph type="title"/>
          </p:nvPr>
        </p:nvSpPr>
        <p:spPr>
          <a:noFill/>
          <a:ln/>
        </p:spPr>
        <p:txBody>
          <a:bodyPr/>
          <a:lstStyle/>
          <a:p>
            <a:r>
              <a:rPr lang="en-US"/>
              <a:t>VF – Algorithm</a:t>
            </a:r>
          </a:p>
        </p:txBody>
      </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p:cNvSpPr>
            <a:spLocks noGrp="1" noChangeArrowheads="1"/>
          </p:cNvSpPr>
          <p:nvPr>
            <p:ph type="title"/>
          </p:nvPr>
        </p:nvSpPr>
        <p:spPr>
          <a:noFill/>
          <a:ln/>
        </p:spPr>
        <p:txBody>
          <a:bodyPr/>
          <a:lstStyle/>
          <a:p>
            <a:r>
              <a:rPr lang="en-US"/>
              <a:t>VF – Correctness</a:t>
            </a:r>
          </a:p>
        </p:txBody>
      </p:sp>
      <p:sp>
        <p:nvSpPr>
          <p:cNvPr id="95234" name="Rectangle 2"/>
          <p:cNvSpPr>
            <a:spLocks noGrp="1" noChangeArrowheads="1"/>
          </p:cNvSpPr>
          <p:nvPr>
            <p:ph idx="1"/>
          </p:nvPr>
        </p:nvSpPr>
        <p:spPr>
          <a:xfrm>
            <a:off x="342900" y="2644204"/>
            <a:ext cx="12293600" cy="6769100"/>
          </a:xfrm>
          <a:noFill/>
          <a:ln/>
        </p:spPr>
        <p:txBody>
          <a:bodyPr/>
          <a:lstStyle/>
          <a:p>
            <a:pPr>
              <a:lnSpc>
                <a:spcPct val="100000"/>
              </a:lnSpc>
              <a:buFont typeface="Monotype Sorts" charset="0"/>
              <a:buNone/>
            </a:pPr>
            <a:r>
              <a:rPr lang="en-US" dirty="0"/>
              <a:t>A relation </a:t>
            </a:r>
            <a:r>
              <a:rPr lang="en-US" i="1" dirty="0"/>
              <a:t>R</a:t>
            </a:r>
            <a:r>
              <a:rPr lang="en-US" dirty="0"/>
              <a:t>, defined over attribute set </a:t>
            </a:r>
            <a:r>
              <a:rPr lang="en-US" i="1" dirty="0"/>
              <a:t>A </a:t>
            </a:r>
            <a:r>
              <a:rPr lang="en-US" dirty="0"/>
              <a:t>and key </a:t>
            </a:r>
            <a:r>
              <a:rPr lang="en-US" i="1" dirty="0"/>
              <a:t>K</a:t>
            </a:r>
            <a:r>
              <a:rPr lang="en-US" dirty="0"/>
              <a:t>, generates the vertical partitioning </a:t>
            </a:r>
            <a:r>
              <a:rPr lang="en-US" i="1" dirty="0"/>
              <a:t>F</a:t>
            </a:r>
            <a:r>
              <a:rPr lang="en-US" i="1" baseline="-25000" dirty="0"/>
              <a:t>R</a:t>
            </a:r>
            <a:r>
              <a:rPr lang="en-US" dirty="0"/>
              <a:t> = {</a:t>
            </a:r>
            <a:r>
              <a:rPr lang="en-US" i="1" dirty="0"/>
              <a:t>R</a:t>
            </a:r>
            <a:r>
              <a:rPr lang="en-US" baseline="-25000" dirty="0"/>
              <a:t>1</a:t>
            </a:r>
            <a:r>
              <a:rPr lang="en-US" dirty="0"/>
              <a:t>, </a:t>
            </a:r>
            <a:r>
              <a:rPr lang="en-US" i="1" dirty="0"/>
              <a:t>R</a:t>
            </a:r>
            <a:r>
              <a:rPr lang="en-US" baseline="-25000" dirty="0"/>
              <a:t>2</a:t>
            </a:r>
            <a:r>
              <a:rPr lang="en-US" dirty="0"/>
              <a:t>, …, </a:t>
            </a:r>
            <a:r>
              <a:rPr lang="en-US" i="1" dirty="0"/>
              <a:t>R</a:t>
            </a:r>
            <a:r>
              <a:rPr lang="en-US" i="1" baseline="-25000" dirty="0"/>
              <a:t>r</a:t>
            </a:r>
            <a:r>
              <a:rPr lang="en-US" dirty="0"/>
              <a:t>}.</a:t>
            </a:r>
          </a:p>
          <a:p>
            <a:pPr>
              <a:lnSpc>
                <a:spcPct val="100000"/>
              </a:lnSpc>
            </a:pPr>
            <a:r>
              <a:rPr lang="en-US" dirty="0">
                <a:solidFill>
                  <a:schemeClr val="tx2"/>
                </a:solidFill>
              </a:rPr>
              <a:t>Completeness</a:t>
            </a:r>
            <a:endParaRPr lang="en-US" dirty="0"/>
          </a:p>
          <a:p>
            <a:pPr lvl="1">
              <a:lnSpc>
                <a:spcPct val="100000"/>
              </a:lnSpc>
            </a:pPr>
            <a:r>
              <a:rPr lang="en-US" dirty="0"/>
              <a:t>The following should be true for </a:t>
            </a:r>
            <a:r>
              <a:rPr lang="en-US" i="1" dirty="0"/>
              <a:t>A</a:t>
            </a:r>
            <a:r>
              <a:rPr lang="en-US" dirty="0"/>
              <a:t>:</a:t>
            </a:r>
          </a:p>
          <a:p>
            <a:pPr lvl="4">
              <a:lnSpc>
                <a:spcPct val="100000"/>
              </a:lnSpc>
              <a:buFontTx/>
              <a:buNone/>
            </a:pPr>
            <a:r>
              <a:rPr lang="en-US" sz="2300" i="1" dirty="0"/>
              <a:t>A</a:t>
            </a:r>
            <a:r>
              <a:rPr lang="en-US" sz="2300" dirty="0"/>
              <a:t> </a:t>
            </a:r>
            <a:r>
              <a:rPr lang="en-US" sz="2300" dirty="0" smtClean="0"/>
              <a:t>= </a:t>
            </a:r>
            <a:r>
              <a:rPr lang="en-US" sz="3200" dirty="0" smtClean="0">
                <a:latin typeface="Symbol" charset="0"/>
                <a:sym typeface="Symbol"/>
              </a:rPr>
              <a:t></a:t>
            </a:r>
            <a:r>
              <a:rPr lang="en-US" sz="2300" dirty="0" smtClean="0"/>
              <a:t> </a:t>
            </a:r>
            <a:r>
              <a:rPr lang="en-US" sz="2300" i="1" dirty="0"/>
              <a:t>A</a:t>
            </a:r>
            <a:r>
              <a:rPr lang="en-US" sz="2300" i="1" baseline="-25000" dirty="0"/>
              <a:t>R</a:t>
            </a:r>
            <a:r>
              <a:rPr lang="en-US" sz="2300" i="1" baseline="-50000" dirty="0"/>
              <a:t>i</a:t>
            </a:r>
            <a:endParaRPr lang="en-US" sz="2300" i="1" dirty="0"/>
          </a:p>
          <a:p>
            <a:pPr>
              <a:lnSpc>
                <a:spcPct val="100000"/>
              </a:lnSpc>
            </a:pPr>
            <a:r>
              <a:rPr lang="en-US" dirty="0">
                <a:solidFill>
                  <a:schemeClr val="tx2"/>
                </a:solidFill>
              </a:rPr>
              <a:t>Reconstruction</a:t>
            </a:r>
            <a:endParaRPr lang="en-US" dirty="0"/>
          </a:p>
          <a:p>
            <a:pPr lvl="1">
              <a:lnSpc>
                <a:spcPct val="100000"/>
              </a:lnSpc>
            </a:pPr>
            <a:r>
              <a:rPr lang="en-US" dirty="0"/>
              <a:t>Reconstruction can be achieved by</a:t>
            </a:r>
          </a:p>
          <a:p>
            <a:pPr lvl="4">
              <a:lnSpc>
                <a:spcPct val="100000"/>
              </a:lnSpc>
              <a:buFontTx/>
              <a:buNone/>
            </a:pPr>
            <a:r>
              <a:rPr lang="en-US" sz="2300" i="1" dirty="0"/>
              <a:t>R</a:t>
            </a:r>
            <a:r>
              <a:rPr lang="en-US" sz="2300" dirty="0"/>
              <a:t> </a:t>
            </a:r>
            <a:r>
              <a:rPr lang="en-US" sz="2300" dirty="0" smtClean="0"/>
              <a:t>= </a:t>
            </a:r>
            <a:r>
              <a:rPr lang="en-US" sz="3200" dirty="0" smtClean="0">
                <a:latin typeface="MS PGothic"/>
                <a:ea typeface="MS PGothic"/>
              </a:rPr>
              <a:t>⋈</a:t>
            </a:r>
            <a:r>
              <a:rPr lang="en-US" sz="2300" b="1" dirty="0" smtClean="0">
                <a:latin typeface="NSymbol" charset="0"/>
              </a:rPr>
              <a:t></a:t>
            </a:r>
            <a:r>
              <a:rPr lang="en-US" sz="2300" i="1" baseline="-25000" dirty="0"/>
              <a:t>K</a:t>
            </a:r>
            <a:r>
              <a:rPr lang="en-US" sz="2600" dirty="0">
                <a:latin typeface="NSymbol" charset="0"/>
              </a:rPr>
              <a:t> </a:t>
            </a:r>
            <a:r>
              <a:rPr lang="en-US" sz="2300" i="1" dirty="0" smtClean="0"/>
              <a:t>R</a:t>
            </a:r>
            <a:r>
              <a:rPr lang="en-US" sz="2300" i="1" baseline="-25000" dirty="0" smtClean="0"/>
              <a:t>i</a:t>
            </a:r>
            <a:r>
              <a:rPr lang="en-US" sz="2300" i="1" dirty="0" smtClean="0"/>
              <a:t>, </a:t>
            </a:r>
            <a:r>
              <a:rPr lang="en-US" sz="2300" dirty="0" smtClean="0">
                <a:latin typeface="Symbol" charset="0"/>
                <a:sym typeface="Symbol"/>
              </a:rPr>
              <a:t></a:t>
            </a:r>
            <a:r>
              <a:rPr lang="en-US" sz="2300" i="1" dirty="0" smtClean="0"/>
              <a:t>R</a:t>
            </a:r>
            <a:r>
              <a:rPr lang="en-US" sz="2300" i="1" baseline="-25000" dirty="0" smtClean="0"/>
              <a:t>i</a:t>
            </a:r>
            <a:r>
              <a:rPr lang="en-US" sz="2300" dirty="0" smtClean="0"/>
              <a:t> </a:t>
            </a:r>
            <a:r>
              <a:rPr lang="en-US" sz="2300" dirty="0" smtClean="0">
                <a:latin typeface="Symbol" charset="0"/>
                <a:sym typeface="Symbol"/>
              </a:rPr>
              <a:t> </a:t>
            </a:r>
            <a:r>
              <a:rPr lang="en-US" sz="2300" i="1" dirty="0" smtClean="0"/>
              <a:t>F</a:t>
            </a:r>
            <a:r>
              <a:rPr lang="en-US" sz="2300" i="1" baseline="-25000" dirty="0" smtClean="0"/>
              <a:t>R</a:t>
            </a:r>
            <a:endParaRPr lang="en-US" sz="2300" i="1" dirty="0"/>
          </a:p>
          <a:p>
            <a:pPr>
              <a:lnSpc>
                <a:spcPct val="100000"/>
              </a:lnSpc>
            </a:pPr>
            <a:r>
              <a:rPr lang="en-US" dirty="0">
                <a:solidFill>
                  <a:schemeClr val="tx2"/>
                </a:solidFill>
              </a:rPr>
              <a:t>Disjointness</a:t>
            </a:r>
            <a:endParaRPr lang="en-US" dirty="0"/>
          </a:p>
          <a:p>
            <a:pPr lvl="1">
              <a:lnSpc>
                <a:spcPct val="100000"/>
              </a:lnSpc>
            </a:pPr>
            <a:r>
              <a:rPr lang="en-US" dirty="0"/>
              <a:t>TID's are not considered to be overlapping since they are maintained by the system</a:t>
            </a:r>
          </a:p>
          <a:p>
            <a:pPr lvl="1">
              <a:lnSpc>
                <a:spcPct val="100000"/>
              </a:lnSpc>
            </a:pPr>
            <a:r>
              <a:rPr lang="en-US" dirty="0"/>
              <a:t>Duplicated keys are not considered to be </a:t>
            </a:r>
            <a:r>
              <a:rPr lang="en-US" dirty="0" smtClean="0"/>
              <a:t>overlapping</a:t>
            </a:r>
          </a:p>
          <a:p>
            <a:pPr lvl="1">
              <a:lnSpc>
                <a:spcPct val="100000"/>
              </a:lnSpc>
            </a:pPr>
            <a:endParaRPr lang="en-US" dirty="0"/>
          </a:p>
          <a:p>
            <a:pPr lvl="1">
              <a:lnSpc>
                <a:spcPct val="100000"/>
              </a:lnSpc>
            </a:pPr>
            <a:r>
              <a:rPr lang="en-US" dirty="0" smtClean="0"/>
              <a:t>   </a:t>
            </a:r>
            <a:endParaRPr lang="en-US" dirty="0"/>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noFill/>
          <a:ln/>
        </p:spPr>
        <p:txBody>
          <a:bodyPr/>
          <a:lstStyle/>
          <a:p>
            <a:r>
              <a:rPr lang="en-US"/>
              <a:t>Hybrid Fragmentation</a:t>
            </a:r>
          </a:p>
        </p:txBody>
      </p:sp>
      <p:sp>
        <p:nvSpPr>
          <p:cNvPr id="96259" name="Rectangle 3"/>
          <p:cNvSpPr>
            <a:spLocks noChangeArrowheads="1"/>
          </p:cNvSpPr>
          <p:nvPr/>
        </p:nvSpPr>
        <p:spPr bwMode="auto">
          <a:xfrm>
            <a:off x="6151793" y="2625796"/>
            <a:ext cx="638639" cy="650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3400" i="1" dirty="0">
                <a:solidFill>
                  <a:srgbClr val="000000"/>
                </a:solidFill>
                <a:latin typeface="Book Antiqua"/>
              </a:rPr>
              <a:t>R</a:t>
            </a:r>
          </a:p>
        </p:txBody>
      </p:sp>
      <p:sp>
        <p:nvSpPr>
          <p:cNvPr id="96260" name="Rectangle 4"/>
          <p:cNvSpPr>
            <a:spLocks noChangeArrowheads="1"/>
          </p:cNvSpPr>
          <p:nvPr/>
        </p:nvSpPr>
        <p:spPr bwMode="auto">
          <a:xfrm>
            <a:off x="7649482" y="3495040"/>
            <a:ext cx="758354" cy="55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800" dirty="0">
                <a:solidFill>
                  <a:srgbClr val="000000"/>
                </a:solidFill>
                <a:latin typeface="Book Antiqua"/>
              </a:rPr>
              <a:t>HF</a:t>
            </a:r>
          </a:p>
        </p:txBody>
      </p:sp>
      <p:sp>
        <p:nvSpPr>
          <p:cNvPr id="96261" name="Rectangle 5"/>
          <p:cNvSpPr>
            <a:spLocks noChangeArrowheads="1"/>
          </p:cNvSpPr>
          <p:nvPr/>
        </p:nvSpPr>
        <p:spPr bwMode="auto">
          <a:xfrm>
            <a:off x="4669215" y="3467947"/>
            <a:ext cx="758354" cy="55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800" dirty="0">
                <a:solidFill>
                  <a:srgbClr val="000000"/>
                </a:solidFill>
                <a:latin typeface="Book Antiqua"/>
              </a:rPr>
              <a:t>HF</a:t>
            </a:r>
          </a:p>
        </p:txBody>
      </p:sp>
      <p:sp>
        <p:nvSpPr>
          <p:cNvPr id="96262" name="Rectangle 6"/>
          <p:cNvSpPr>
            <a:spLocks noChangeArrowheads="1"/>
          </p:cNvSpPr>
          <p:nvPr/>
        </p:nvSpPr>
        <p:spPr bwMode="auto">
          <a:xfrm>
            <a:off x="3834448" y="4684889"/>
            <a:ext cx="741327" cy="650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3400" i="1" dirty="0">
                <a:solidFill>
                  <a:srgbClr val="000000"/>
                </a:solidFill>
                <a:latin typeface="Book Antiqua"/>
              </a:rPr>
              <a:t>R</a:t>
            </a:r>
            <a:r>
              <a:rPr lang="en-US" sz="3400" baseline="-25000" dirty="0">
                <a:solidFill>
                  <a:srgbClr val="000000"/>
                </a:solidFill>
                <a:latin typeface="Book Antiqua"/>
              </a:rPr>
              <a:t>1</a:t>
            </a:r>
          </a:p>
        </p:txBody>
      </p:sp>
      <p:sp>
        <p:nvSpPr>
          <p:cNvPr id="96263" name="Rectangle 7"/>
          <p:cNvSpPr>
            <a:spLocks noChangeArrowheads="1"/>
          </p:cNvSpPr>
          <p:nvPr/>
        </p:nvSpPr>
        <p:spPr bwMode="auto">
          <a:xfrm>
            <a:off x="8735823" y="5590258"/>
            <a:ext cx="718905" cy="55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800" dirty="0">
                <a:solidFill>
                  <a:srgbClr val="000000"/>
                </a:solidFill>
                <a:latin typeface="Book Antiqua"/>
              </a:rPr>
              <a:t>VF</a:t>
            </a:r>
          </a:p>
        </p:txBody>
      </p:sp>
      <p:sp>
        <p:nvSpPr>
          <p:cNvPr id="96264" name="Rectangle 8"/>
          <p:cNvSpPr>
            <a:spLocks noChangeArrowheads="1"/>
          </p:cNvSpPr>
          <p:nvPr/>
        </p:nvSpPr>
        <p:spPr bwMode="auto">
          <a:xfrm>
            <a:off x="9789631" y="5590258"/>
            <a:ext cx="718905" cy="55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800" dirty="0">
                <a:solidFill>
                  <a:srgbClr val="000000"/>
                </a:solidFill>
                <a:latin typeface="Book Antiqua"/>
              </a:rPr>
              <a:t>VF</a:t>
            </a:r>
          </a:p>
        </p:txBody>
      </p:sp>
      <p:sp>
        <p:nvSpPr>
          <p:cNvPr id="96265" name="Rectangle 9"/>
          <p:cNvSpPr>
            <a:spLocks noChangeArrowheads="1"/>
          </p:cNvSpPr>
          <p:nvPr/>
        </p:nvSpPr>
        <p:spPr bwMode="auto">
          <a:xfrm>
            <a:off x="7032768" y="5590258"/>
            <a:ext cx="718905" cy="55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800" dirty="0">
                <a:solidFill>
                  <a:srgbClr val="000000"/>
                </a:solidFill>
                <a:latin typeface="Book Antiqua"/>
              </a:rPr>
              <a:t>VF</a:t>
            </a:r>
          </a:p>
        </p:txBody>
      </p:sp>
      <p:sp>
        <p:nvSpPr>
          <p:cNvPr id="96266" name="Rectangle 10"/>
          <p:cNvSpPr>
            <a:spLocks noChangeArrowheads="1"/>
          </p:cNvSpPr>
          <p:nvPr/>
        </p:nvSpPr>
        <p:spPr bwMode="auto">
          <a:xfrm>
            <a:off x="4749071" y="5590258"/>
            <a:ext cx="718905" cy="55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800" dirty="0">
                <a:solidFill>
                  <a:srgbClr val="000000"/>
                </a:solidFill>
                <a:latin typeface="Book Antiqua"/>
              </a:rPr>
              <a:t>VF</a:t>
            </a:r>
          </a:p>
        </p:txBody>
      </p:sp>
      <p:sp>
        <p:nvSpPr>
          <p:cNvPr id="96267" name="Rectangle 11"/>
          <p:cNvSpPr>
            <a:spLocks noChangeArrowheads="1"/>
          </p:cNvSpPr>
          <p:nvPr/>
        </p:nvSpPr>
        <p:spPr bwMode="auto">
          <a:xfrm>
            <a:off x="2712288" y="5590258"/>
            <a:ext cx="718905" cy="55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800" dirty="0">
                <a:solidFill>
                  <a:srgbClr val="000000"/>
                </a:solidFill>
                <a:latin typeface="Book Antiqua"/>
              </a:rPr>
              <a:t>VF</a:t>
            </a:r>
          </a:p>
        </p:txBody>
      </p:sp>
      <p:sp>
        <p:nvSpPr>
          <p:cNvPr id="96268" name="Rectangle 12"/>
          <p:cNvSpPr>
            <a:spLocks noChangeArrowheads="1"/>
          </p:cNvSpPr>
          <p:nvPr/>
        </p:nvSpPr>
        <p:spPr bwMode="auto">
          <a:xfrm>
            <a:off x="2737181" y="6305560"/>
            <a:ext cx="856450" cy="650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3400" i="1" dirty="0">
                <a:solidFill>
                  <a:srgbClr val="000000"/>
                </a:solidFill>
                <a:latin typeface="Book Antiqua"/>
              </a:rPr>
              <a:t>R</a:t>
            </a:r>
            <a:r>
              <a:rPr lang="en-US" sz="3400" baseline="-25000" dirty="0">
                <a:solidFill>
                  <a:srgbClr val="000000"/>
                </a:solidFill>
                <a:latin typeface="Book Antiqua"/>
              </a:rPr>
              <a:t>11</a:t>
            </a:r>
          </a:p>
        </p:txBody>
      </p:sp>
      <p:sp>
        <p:nvSpPr>
          <p:cNvPr id="96269" name="Rectangle 13"/>
          <p:cNvSpPr>
            <a:spLocks noChangeArrowheads="1"/>
          </p:cNvSpPr>
          <p:nvPr/>
        </p:nvSpPr>
        <p:spPr bwMode="auto">
          <a:xfrm>
            <a:off x="4800099" y="6305560"/>
            <a:ext cx="902988" cy="650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3400" i="1" dirty="0">
                <a:solidFill>
                  <a:srgbClr val="000000"/>
                </a:solidFill>
                <a:latin typeface="Book Antiqua"/>
              </a:rPr>
              <a:t>R</a:t>
            </a:r>
            <a:r>
              <a:rPr lang="en-US" sz="3400" baseline="-25000" dirty="0">
                <a:solidFill>
                  <a:srgbClr val="000000"/>
                </a:solidFill>
                <a:latin typeface="Book Antiqua"/>
              </a:rPr>
              <a:t>12</a:t>
            </a:r>
          </a:p>
        </p:txBody>
      </p:sp>
      <p:sp>
        <p:nvSpPr>
          <p:cNvPr id="96270" name="Rectangle 14"/>
          <p:cNvSpPr>
            <a:spLocks noChangeArrowheads="1"/>
          </p:cNvSpPr>
          <p:nvPr/>
        </p:nvSpPr>
        <p:spPr bwMode="auto">
          <a:xfrm>
            <a:off x="4772942" y="7400996"/>
            <a:ext cx="544125" cy="433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96271" name="Rectangle 15"/>
          <p:cNvSpPr>
            <a:spLocks noChangeArrowheads="1"/>
          </p:cNvSpPr>
          <p:nvPr/>
        </p:nvSpPr>
        <p:spPr bwMode="auto">
          <a:xfrm>
            <a:off x="6913379" y="6305560"/>
            <a:ext cx="902988" cy="650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3400" i="1" dirty="0">
                <a:solidFill>
                  <a:srgbClr val="000000"/>
                </a:solidFill>
                <a:latin typeface="Book Antiqua"/>
              </a:rPr>
              <a:t>R</a:t>
            </a:r>
            <a:r>
              <a:rPr lang="en-US" sz="3400" baseline="-25000" dirty="0">
                <a:solidFill>
                  <a:srgbClr val="000000"/>
                </a:solidFill>
                <a:latin typeface="Book Antiqua"/>
              </a:rPr>
              <a:t>21</a:t>
            </a:r>
          </a:p>
        </p:txBody>
      </p:sp>
      <p:sp>
        <p:nvSpPr>
          <p:cNvPr id="96272" name="Rectangle 16"/>
          <p:cNvSpPr>
            <a:spLocks noChangeArrowheads="1"/>
          </p:cNvSpPr>
          <p:nvPr/>
        </p:nvSpPr>
        <p:spPr bwMode="auto">
          <a:xfrm>
            <a:off x="8322232" y="6305560"/>
            <a:ext cx="902988" cy="650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3400" i="1" dirty="0">
                <a:solidFill>
                  <a:srgbClr val="000000"/>
                </a:solidFill>
                <a:latin typeface="Book Antiqua"/>
              </a:rPr>
              <a:t>R</a:t>
            </a:r>
            <a:r>
              <a:rPr lang="en-US" sz="3400" baseline="-25000" dirty="0">
                <a:solidFill>
                  <a:srgbClr val="000000"/>
                </a:solidFill>
                <a:latin typeface="Book Antiqua"/>
              </a:rPr>
              <a:t>22</a:t>
            </a:r>
          </a:p>
        </p:txBody>
      </p:sp>
      <p:sp>
        <p:nvSpPr>
          <p:cNvPr id="96273" name="Rectangle 17"/>
          <p:cNvSpPr>
            <a:spLocks noChangeArrowheads="1"/>
          </p:cNvSpPr>
          <p:nvPr/>
        </p:nvSpPr>
        <p:spPr bwMode="auto">
          <a:xfrm>
            <a:off x="10020081" y="6305560"/>
            <a:ext cx="902988" cy="650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3400" i="1" dirty="0">
                <a:solidFill>
                  <a:srgbClr val="000000"/>
                </a:solidFill>
                <a:latin typeface="Book Antiqua"/>
              </a:rPr>
              <a:t>R</a:t>
            </a:r>
            <a:r>
              <a:rPr lang="en-US" sz="3400" baseline="-25000" dirty="0">
                <a:solidFill>
                  <a:srgbClr val="000000"/>
                </a:solidFill>
                <a:latin typeface="Book Antiqua"/>
              </a:rPr>
              <a:t>23</a:t>
            </a:r>
          </a:p>
        </p:txBody>
      </p:sp>
      <p:sp>
        <p:nvSpPr>
          <p:cNvPr id="96274" name="Line 18"/>
          <p:cNvSpPr>
            <a:spLocks noChangeShapeType="1"/>
          </p:cNvSpPr>
          <p:nvPr/>
        </p:nvSpPr>
        <p:spPr bwMode="auto">
          <a:xfrm flipH="1">
            <a:off x="4208739" y="3314418"/>
            <a:ext cx="2221653" cy="1417884"/>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96275" name="Line 19"/>
          <p:cNvSpPr>
            <a:spLocks noChangeShapeType="1"/>
          </p:cNvSpPr>
          <p:nvPr/>
        </p:nvSpPr>
        <p:spPr bwMode="auto">
          <a:xfrm>
            <a:off x="6430392" y="3314418"/>
            <a:ext cx="2203591" cy="1417884"/>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96276" name="Rectangle 20"/>
          <p:cNvSpPr>
            <a:spLocks noChangeArrowheads="1"/>
          </p:cNvSpPr>
          <p:nvPr/>
        </p:nvSpPr>
        <p:spPr bwMode="auto">
          <a:xfrm>
            <a:off x="8440315" y="4684889"/>
            <a:ext cx="741327" cy="650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3400" i="1" dirty="0">
                <a:solidFill>
                  <a:srgbClr val="000000"/>
                </a:solidFill>
                <a:latin typeface="Book Antiqua"/>
              </a:rPr>
              <a:t>R</a:t>
            </a:r>
            <a:r>
              <a:rPr lang="en-US" sz="3400" baseline="-25000" dirty="0">
                <a:solidFill>
                  <a:srgbClr val="000000"/>
                </a:solidFill>
                <a:latin typeface="Book Antiqua"/>
              </a:rPr>
              <a:t>2</a:t>
            </a:r>
          </a:p>
        </p:txBody>
      </p:sp>
      <p:sp>
        <p:nvSpPr>
          <p:cNvPr id="96277" name="Line 21"/>
          <p:cNvSpPr>
            <a:spLocks noChangeShapeType="1"/>
          </p:cNvSpPr>
          <p:nvPr/>
        </p:nvSpPr>
        <p:spPr bwMode="auto">
          <a:xfrm flipH="1">
            <a:off x="3150776" y="5373511"/>
            <a:ext cx="975360" cy="79473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96278" name="Line 22"/>
          <p:cNvSpPr>
            <a:spLocks noChangeShapeType="1"/>
          </p:cNvSpPr>
          <p:nvPr/>
        </p:nvSpPr>
        <p:spPr bwMode="auto">
          <a:xfrm>
            <a:off x="4127218" y="5373511"/>
            <a:ext cx="957298" cy="79473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96279" name="Line 23"/>
          <p:cNvSpPr>
            <a:spLocks noChangeShapeType="1"/>
          </p:cNvSpPr>
          <p:nvPr/>
        </p:nvSpPr>
        <p:spPr bwMode="auto">
          <a:xfrm flipH="1">
            <a:off x="7343616" y="5400605"/>
            <a:ext cx="1463040" cy="821831"/>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96280" name="Line 24"/>
          <p:cNvSpPr>
            <a:spLocks noChangeShapeType="1"/>
          </p:cNvSpPr>
          <p:nvPr/>
        </p:nvSpPr>
        <p:spPr bwMode="auto">
          <a:xfrm>
            <a:off x="8812671" y="5414998"/>
            <a:ext cx="1417884" cy="79473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p:sp>
        <p:nvSpPr>
          <p:cNvPr id="96281" name="Line 25"/>
          <p:cNvSpPr>
            <a:spLocks noChangeShapeType="1"/>
          </p:cNvSpPr>
          <p:nvPr/>
        </p:nvSpPr>
        <p:spPr bwMode="auto">
          <a:xfrm>
            <a:off x="8796061" y="5400605"/>
            <a:ext cx="0" cy="821831"/>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30046" tIns="65023" rIns="130046" bIns="65023" anchor="ctr"/>
          <a:lstStyle/>
          <a:p>
            <a:endParaRPr lang="en-US" dirty="0">
              <a:latin typeface="Book Antiqua"/>
            </a:endParaRPr>
          </a:p>
        </p:txBody>
      </p:sp>
      <mc:AlternateContent xmlns:mc="http://schemas.openxmlformats.org/markup-compatibility/2006" xmlns:p14="http://schemas.microsoft.com/office/powerpoint/2010/main">
        <mc:Choice Requires="p14">
          <p:contentPart p14:bwMode="auto" r:id="rId3">
            <p14:nvContentPartPr>
              <p14:cNvPr id="20" name="Ink 19"/>
              <p14:cNvContentPartPr/>
              <p14:nvPr/>
            </p14:nvContentPartPr>
            <p14:xfrm>
              <a:off x="1293908" y="1535346"/>
              <a:ext cx="4003200" cy="466200"/>
            </p14:xfrm>
          </p:contentPart>
        </mc:Choice>
        <mc:Fallback xmlns="">
          <p:pic>
            <p:nvPicPr>
              <p:cNvPr id="20" name="Ink 19"/>
              <p:cNvPicPr/>
              <p:nvPr/>
            </p:nvPicPr>
            <p:blipFill>
              <a:blip r:embed="rId40"/>
              <a:stretch>
                <a:fillRect/>
              </a:stretch>
            </p:blipFill>
            <p:spPr>
              <a:xfrm>
                <a:off x="1282028" y="1523466"/>
                <a:ext cx="4026960" cy="489960"/>
              </a:xfrm>
              <a:prstGeom prst="rect">
                <a:avLst/>
              </a:prstGeom>
            </p:spPr>
          </p:pic>
        </mc:Fallback>
      </mc:AlternateContent>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noFill/>
          <a:ln/>
        </p:spPr>
        <p:txBody>
          <a:bodyPr/>
          <a:lstStyle/>
          <a:p>
            <a:pPr algn="ctr"/>
            <a:r>
              <a:rPr lang="en-US"/>
              <a:t>Fragment Allocation</a:t>
            </a:r>
          </a:p>
        </p:txBody>
      </p:sp>
      <p:sp>
        <p:nvSpPr>
          <p:cNvPr id="98307" name="Rectangle 3"/>
          <p:cNvSpPr>
            <a:spLocks noGrp="1" noChangeArrowheads="1"/>
          </p:cNvSpPr>
          <p:nvPr>
            <p:ph idx="1"/>
          </p:nvPr>
        </p:nvSpPr>
        <p:spPr>
          <a:noFill/>
          <a:ln/>
        </p:spPr>
        <p:txBody>
          <a:bodyPr/>
          <a:lstStyle/>
          <a:p>
            <a:pPr>
              <a:lnSpc>
                <a:spcPct val="80000"/>
              </a:lnSpc>
            </a:pPr>
            <a:r>
              <a:rPr lang="en-US" dirty="0"/>
              <a:t>Problem Statement</a:t>
            </a:r>
          </a:p>
          <a:p>
            <a:pPr lvl="1">
              <a:lnSpc>
                <a:spcPct val="80000"/>
              </a:lnSpc>
              <a:buFont typeface="Monotype Sorts" charset="0"/>
              <a:buNone/>
            </a:pPr>
            <a:r>
              <a:rPr lang="en-US" dirty="0"/>
              <a:t>Given </a:t>
            </a:r>
          </a:p>
          <a:p>
            <a:pPr lvl="3">
              <a:lnSpc>
                <a:spcPct val="80000"/>
              </a:lnSpc>
              <a:buFont typeface="Monotype Sorts" charset="0"/>
              <a:buNone/>
            </a:pPr>
            <a:r>
              <a:rPr lang="en-US" sz="2300" i="1" dirty="0"/>
              <a:t>F</a:t>
            </a:r>
            <a:r>
              <a:rPr lang="en-US" sz="2300" dirty="0"/>
              <a:t> = {</a:t>
            </a:r>
            <a:r>
              <a:rPr lang="en-US" sz="2300" i="1" dirty="0"/>
              <a:t>F</a:t>
            </a:r>
            <a:r>
              <a:rPr lang="en-US" sz="2300" baseline="-25000" dirty="0"/>
              <a:t>1</a:t>
            </a:r>
            <a:r>
              <a:rPr lang="en-US" sz="2300" dirty="0"/>
              <a:t>, </a:t>
            </a:r>
            <a:r>
              <a:rPr lang="en-US" sz="2300" i="1" dirty="0"/>
              <a:t>F</a:t>
            </a:r>
            <a:r>
              <a:rPr lang="en-US" sz="2300" baseline="-25000" dirty="0"/>
              <a:t>2</a:t>
            </a:r>
            <a:r>
              <a:rPr lang="en-US" sz="2300" dirty="0"/>
              <a:t>, …, </a:t>
            </a:r>
            <a:r>
              <a:rPr lang="en-US" sz="2300" i="1" dirty="0" err="1"/>
              <a:t>F</a:t>
            </a:r>
            <a:r>
              <a:rPr lang="en-US" sz="2300" i="1" baseline="-25000" dirty="0" err="1"/>
              <a:t>n</a:t>
            </a:r>
            <a:r>
              <a:rPr lang="en-US" sz="2300" dirty="0"/>
              <a:t>} 	fragments</a:t>
            </a:r>
          </a:p>
          <a:p>
            <a:pPr lvl="3">
              <a:lnSpc>
                <a:spcPct val="80000"/>
              </a:lnSpc>
              <a:buFont typeface="Monotype Sorts" charset="0"/>
              <a:buNone/>
            </a:pPr>
            <a:r>
              <a:rPr lang="en-US" sz="2300" i="1" dirty="0"/>
              <a:t>S</a:t>
            </a:r>
            <a:r>
              <a:rPr lang="en-US" sz="2300" dirty="0"/>
              <a:t> ={</a:t>
            </a:r>
            <a:r>
              <a:rPr lang="en-US" sz="2300" i="1" dirty="0"/>
              <a:t>S</a:t>
            </a:r>
            <a:r>
              <a:rPr lang="en-US" sz="2300" baseline="-25000" dirty="0"/>
              <a:t>1</a:t>
            </a:r>
            <a:r>
              <a:rPr lang="en-US" sz="2300" dirty="0"/>
              <a:t>, </a:t>
            </a:r>
            <a:r>
              <a:rPr lang="en-US" sz="2300" i="1" dirty="0"/>
              <a:t>S</a:t>
            </a:r>
            <a:r>
              <a:rPr lang="en-US" sz="2300" baseline="-25000" dirty="0"/>
              <a:t>2</a:t>
            </a:r>
            <a:r>
              <a:rPr lang="en-US" sz="2300" dirty="0"/>
              <a:t>, …, </a:t>
            </a:r>
            <a:r>
              <a:rPr lang="en-US" sz="2300" i="1" dirty="0"/>
              <a:t>S</a:t>
            </a:r>
            <a:r>
              <a:rPr lang="en-US" sz="2300" i="1" baseline="-25000" dirty="0"/>
              <a:t>m</a:t>
            </a:r>
            <a:r>
              <a:rPr lang="en-US" sz="2300" dirty="0"/>
              <a:t>} 	network sites </a:t>
            </a:r>
          </a:p>
          <a:p>
            <a:pPr lvl="3">
              <a:lnSpc>
                <a:spcPct val="80000"/>
              </a:lnSpc>
              <a:buFont typeface="Monotype Sorts" charset="0"/>
              <a:buNone/>
            </a:pPr>
            <a:r>
              <a:rPr lang="en-US" sz="2300" i="1" dirty="0"/>
              <a:t>Q</a:t>
            </a:r>
            <a:r>
              <a:rPr lang="en-US" sz="2300" dirty="0"/>
              <a:t> = {</a:t>
            </a:r>
            <a:r>
              <a:rPr lang="en-US" sz="2300" i="1" dirty="0"/>
              <a:t>q</a:t>
            </a:r>
            <a:r>
              <a:rPr lang="en-US" sz="2300" baseline="-25000" dirty="0"/>
              <a:t>1</a:t>
            </a:r>
            <a:r>
              <a:rPr lang="en-US" sz="2300" dirty="0"/>
              <a:t>, </a:t>
            </a:r>
            <a:r>
              <a:rPr lang="en-US" sz="2300" i="1" dirty="0"/>
              <a:t>q</a:t>
            </a:r>
            <a:r>
              <a:rPr lang="en-US" sz="2300" baseline="-25000" dirty="0"/>
              <a:t>2</a:t>
            </a:r>
            <a:r>
              <a:rPr lang="en-US" sz="2300" dirty="0"/>
              <a:t>,…, </a:t>
            </a:r>
            <a:r>
              <a:rPr lang="en-US" sz="2300" i="1" dirty="0" err="1"/>
              <a:t>q</a:t>
            </a:r>
            <a:r>
              <a:rPr lang="en-US" sz="2300" i="1" baseline="-25000" dirty="0" err="1"/>
              <a:t>q</a:t>
            </a:r>
            <a:r>
              <a:rPr lang="en-US" sz="2300" dirty="0"/>
              <a:t>}	applications </a:t>
            </a:r>
          </a:p>
          <a:p>
            <a:pPr lvl="1">
              <a:lnSpc>
                <a:spcPct val="80000"/>
              </a:lnSpc>
              <a:buFont typeface="Monotype Sorts" charset="0"/>
              <a:buNone/>
            </a:pPr>
            <a:r>
              <a:rPr lang="en-US" dirty="0"/>
              <a:t>Find the "optimal" distribution of </a:t>
            </a:r>
            <a:r>
              <a:rPr lang="en-US" i="1" dirty="0"/>
              <a:t>F</a:t>
            </a:r>
            <a:r>
              <a:rPr lang="en-US" dirty="0"/>
              <a:t> to </a:t>
            </a:r>
            <a:r>
              <a:rPr lang="en-US" i="1" dirty="0"/>
              <a:t>S</a:t>
            </a:r>
            <a:r>
              <a:rPr lang="en-US" dirty="0"/>
              <a:t>.</a:t>
            </a:r>
          </a:p>
          <a:p>
            <a:pPr>
              <a:lnSpc>
                <a:spcPct val="80000"/>
              </a:lnSpc>
            </a:pPr>
            <a:r>
              <a:rPr lang="en-US" dirty="0"/>
              <a:t>Optimality</a:t>
            </a:r>
          </a:p>
          <a:p>
            <a:pPr lvl="1">
              <a:lnSpc>
                <a:spcPct val="80000"/>
              </a:lnSpc>
            </a:pPr>
            <a:r>
              <a:rPr lang="en-US" dirty="0"/>
              <a:t>Minimal cost</a:t>
            </a:r>
          </a:p>
          <a:p>
            <a:pPr lvl="2">
              <a:lnSpc>
                <a:spcPct val="80000"/>
              </a:lnSpc>
            </a:pPr>
            <a:r>
              <a:rPr lang="en-US" sz="2300" dirty="0"/>
              <a:t>Communication + storage + processing (read &amp; update)</a:t>
            </a:r>
          </a:p>
          <a:p>
            <a:pPr lvl="2">
              <a:lnSpc>
                <a:spcPct val="80000"/>
              </a:lnSpc>
            </a:pPr>
            <a:r>
              <a:rPr lang="en-US" sz="2300" dirty="0"/>
              <a:t>Cost in terms of time (usually)</a:t>
            </a:r>
          </a:p>
          <a:p>
            <a:pPr lvl="1">
              <a:lnSpc>
                <a:spcPct val="80000"/>
              </a:lnSpc>
            </a:pPr>
            <a:r>
              <a:rPr lang="en-US" dirty="0"/>
              <a:t>Performance</a:t>
            </a:r>
          </a:p>
          <a:p>
            <a:pPr lvl="2">
              <a:lnSpc>
                <a:spcPct val="80000"/>
              </a:lnSpc>
              <a:buFont typeface="Monotype Sorts" charset="0"/>
              <a:buNone/>
            </a:pPr>
            <a:r>
              <a:rPr lang="en-US" sz="2300" dirty="0"/>
              <a:t>Response time and/or throughput</a:t>
            </a:r>
          </a:p>
          <a:p>
            <a:pPr lvl="1">
              <a:lnSpc>
                <a:spcPct val="80000"/>
              </a:lnSpc>
            </a:pPr>
            <a:r>
              <a:rPr lang="en-US" dirty="0"/>
              <a:t>Constraints</a:t>
            </a:r>
          </a:p>
          <a:p>
            <a:pPr lvl="2">
              <a:lnSpc>
                <a:spcPct val="80000"/>
              </a:lnSpc>
            </a:pPr>
            <a:r>
              <a:rPr lang="en-US" sz="2300" dirty="0"/>
              <a:t>Per site constraints (storage &amp; processing)</a:t>
            </a:r>
          </a:p>
        </p:txBody>
      </p:sp>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noFill/>
          <a:ln/>
        </p:spPr>
        <p:txBody>
          <a:bodyPr/>
          <a:lstStyle/>
          <a:p>
            <a:r>
              <a:rPr lang="en-US"/>
              <a:t>Information Requirements</a:t>
            </a:r>
          </a:p>
        </p:txBody>
      </p:sp>
      <p:sp>
        <p:nvSpPr>
          <p:cNvPr id="100355" name="Rectangle 3"/>
          <p:cNvSpPr>
            <a:spLocks noGrp="1" noChangeArrowheads="1"/>
          </p:cNvSpPr>
          <p:nvPr>
            <p:ph idx="1"/>
          </p:nvPr>
        </p:nvSpPr>
        <p:spPr>
          <a:noFill/>
          <a:ln/>
        </p:spPr>
        <p:txBody>
          <a:bodyPr/>
          <a:lstStyle/>
          <a:p>
            <a:pPr>
              <a:lnSpc>
                <a:spcPct val="80000"/>
              </a:lnSpc>
            </a:pPr>
            <a:r>
              <a:rPr lang="en-US" dirty="0"/>
              <a:t>Database information</a:t>
            </a:r>
          </a:p>
          <a:p>
            <a:pPr lvl="1">
              <a:lnSpc>
                <a:spcPct val="80000"/>
              </a:lnSpc>
            </a:pPr>
            <a:r>
              <a:rPr lang="en-US" dirty="0"/>
              <a:t>selectivity of fragments </a:t>
            </a:r>
            <a:r>
              <a:rPr lang="en-US" dirty="0" smtClean="0"/>
              <a:t>(how many tuples from Fj?)</a:t>
            </a:r>
            <a:endParaRPr lang="en-US" dirty="0"/>
          </a:p>
          <a:p>
            <a:pPr lvl="1">
              <a:lnSpc>
                <a:spcPct val="80000"/>
              </a:lnSpc>
            </a:pPr>
            <a:r>
              <a:rPr lang="en-US" dirty="0"/>
              <a:t>size of a fragment </a:t>
            </a:r>
            <a:r>
              <a:rPr lang="en-US" dirty="0" smtClean="0"/>
              <a:t>(card*length)</a:t>
            </a:r>
            <a:endParaRPr lang="en-US" dirty="0"/>
          </a:p>
          <a:p>
            <a:pPr>
              <a:lnSpc>
                <a:spcPct val="80000"/>
              </a:lnSpc>
            </a:pPr>
            <a:r>
              <a:rPr lang="en-US" dirty="0"/>
              <a:t>Application information</a:t>
            </a:r>
          </a:p>
          <a:p>
            <a:pPr lvl="1">
              <a:lnSpc>
                <a:spcPct val="80000"/>
              </a:lnSpc>
            </a:pPr>
            <a:r>
              <a:rPr lang="en-US" dirty="0"/>
              <a:t>access types and numbers </a:t>
            </a:r>
            <a:r>
              <a:rPr lang="en-US" dirty="0" smtClean="0"/>
              <a:t> (</a:t>
            </a:r>
            <a:r>
              <a:rPr lang="en-US" dirty="0" err="1" smtClean="0"/>
              <a:t>RRij</a:t>
            </a:r>
            <a:r>
              <a:rPr lang="en-US" dirty="0" smtClean="0"/>
              <a:t>: no of read accesses by qi to Fj), </a:t>
            </a:r>
            <a:r>
              <a:rPr lang="en-US" dirty="0" err="1" smtClean="0"/>
              <a:t>URij</a:t>
            </a:r>
            <a:endParaRPr lang="en-US" dirty="0"/>
          </a:p>
          <a:p>
            <a:pPr lvl="1">
              <a:lnSpc>
                <a:spcPct val="80000"/>
              </a:lnSpc>
            </a:pPr>
            <a:r>
              <a:rPr lang="en-US" dirty="0"/>
              <a:t>access localities </a:t>
            </a:r>
          </a:p>
          <a:p>
            <a:pPr>
              <a:lnSpc>
                <a:spcPct val="80000"/>
              </a:lnSpc>
            </a:pPr>
            <a:r>
              <a:rPr lang="en-US" dirty="0"/>
              <a:t>Communication network information </a:t>
            </a:r>
          </a:p>
          <a:p>
            <a:pPr lvl="1">
              <a:lnSpc>
                <a:spcPct val="80000"/>
              </a:lnSpc>
            </a:pPr>
            <a:r>
              <a:rPr lang="en-US" dirty="0"/>
              <a:t>unit cost of storing data at a site </a:t>
            </a:r>
          </a:p>
          <a:p>
            <a:pPr lvl="1">
              <a:lnSpc>
                <a:spcPct val="80000"/>
              </a:lnSpc>
            </a:pPr>
            <a:r>
              <a:rPr lang="en-US" dirty="0"/>
              <a:t>unit cost of processing at a site </a:t>
            </a:r>
          </a:p>
          <a:p>
            <a:pPr>
              <a:lnSpc>
                <a:spcPct val="80000"/>
              </a:lnSpc>
            </a:pPr>
            <a:r>
              <a:rPr lang="en-US" dirty="0"/>
              <a:t>Computer system information </a:t>
            </a:r>
          </a:p>
          <a:p>
            <a:pPr lvl="1">
              <a:lnSpc>
                <a:spcPct val="80000"/>
              </a:lnSpc>
            </a:pPr>
            <a:r>
              <a:rPr lang="en-US" dirty="0"/>
              <a:t>bandwidth </a:t>
            </a:r>
          </a:p>
          <a:p>
            <a:pPr lvl="1">
              <a:lnSpc>
                <a:spcPct val="80000"/>
              </a:lnSpc>
            </a:pPr>
            <a:r>
              <a:rPr lang="en-US" dirty="0"/>
              <a:t>latency </a:t>
            </a:r>
          </a:p>
          <a:p>
            <a:pPr lvl="1">
              <a:lnSpc>
                <a:spcPct val="80000"/>
              </a:lnSpc>
            </a:pPr>
            <a:r>
              <a:rPr lang="en-US" dirty="0"/>
              <a:t>communication overhead </a:t>
            </a:r>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3"/>
          <p:cNvSpPr>
            <a:spLocks noGrp="1" noChangeArrowheads="1"/>
          </p:cNvSpPr>
          <p:nvPr>
            <p:ph type="title"/>
          </p:nvPr>
        </p:nvSpPr>
        <p:spPr>
          <a:noFill/>
          <a:ln/>
        </p:spPr>
        <p:txBody>
          <a:bodyPr/>
          <a:lstStyle/>
          <a:p>
            <a:r>
              <a:rPr lang="en-US"/>
              <a:t>Allocation</a:t>
            </a:r>
          </a:p>
        </p:txBody>
      </p:sp>
      <p:sp>
        <p:nvSpPr>
          <p:cNvPr id="102402" name="Rectangle 2"/>
          <p:cNvSpPr>
            <a:spLocks noGrp="1" noChangeArrowheads="1"/>
          </p:cNvSpPr>
          <p:nvPr>
            <p:ph idx="1"/>
          </p:nvPr>
        </p:nvSpPr>
        <p:spPr>
          <a:noFill/>
          <a:ln/>
        </p:spPr>
        <p:txBody>
          <a:bodyPr/>
          <a:lstStyle/>
          <a:p>
            <a:pPr>
              <a:lnSpc>
                <a:spcPct val="100000"/>
              </a:lnSpc>
              <a:spcBef>
                <a:spcPct val="60000"/>
              </a:spcBef>
              <a:buFont typeface="Monotype Sorts" charset="0"/>
              <a:buNone/>
            </a:pPr>
            <a:r>
              <a:rPr lang="en-US" dirty="0"/>
              <a:t>File Allocation (FAP) vs Database Allocation (DAP):</a:t>
            </a:r>
          </a:p>
          <a:p>
            <a:pPr lvl="1">
              <a:lnSpc>
                <a:spcPct val="100000"/>
              </a:lnSpc>
              <a:spcBef>
                <a:spcPct val="60000"/>
              </a:spcBef>
            </a:pPr>
            <a:r>
              <a:rPr lang="en-US" dirty="0"/>
              <a:t>Fragments are not individual files</a:t>
            </a:r>
          </a:p>
          <a:p>
            <a:pPr lvl="2">
              <a:lnSpc>
                <a:spcPct val="100000"/>
              </a:lnSpc>
              <a:spcBef>
                <a:spcPct val="60000"/>
              </a:spcBef>
            </a:pPr>
            <a:r>
              <a:rPr lang="en-US" dirty="0"/>
              <a:t>relationships have to be maintained</a:t>
            </a:r>
          </a:p>
          <a:p>
            <a:pPr lvl="1">
              <a:lnSpc>
                <a:spcPct val="100000"/>
              </a:lnSpc>
              <a:spcBef>
                <a:spcPct val="60000"/>
              </a:spcBef>
            </a:pPr>
            <a:r>
              <a:rPr lang="en-US" dirty="0"/>
              <a:t>Access to databases is more complicated</a:t>
            </a:r>
          </a:p>
          <a:p>
            <a:pPr lvl="2">
              <a:lnSpc>
                <a:spcPct val="100000"/>
              </a:lnSpc>
              <a:spcBef>
                <a:spcPct val="60000"/>
              </a:spcBef>
            </a:pPr>
            <a:r>
              <a:rPr lang="en-US" dirty="0"/>
              <a:t>remote file access model not applicable</a:t>
            </a:r>
          </a:p>
          <a:p>
            <a:pPr lvl="2">
              <a:lnSpc>
                <a:spcPct val="100000"/>
              </a:lnSpc>
              <a:spcBef>
                <a:spcPct val="60000"/>
              </a:spcBef>
            </a:pPr>
            <a:r>
              <a:rPr lang="en-US" dirty="0"/>
              <a:t>relationship between allocation and query processing</a:t>
            </a:r>
          </a:p>
          <a:p>
            <a:pPr lvl="1">
              <a:lnSpc>
                <a:spcPct val="100000"/>
              </a:lnSpc>
              <a:spcBef>
                <a:spcPct val="60000"/>
              </a:spcBef>
            </a:pPr>
            <a:r>
              <a:rPr lang="en-US" dirty="0"/>
              <a:t>Cost of integrity enforcement should be considered</a:t>
            </a:r>
          </a:p>
          <a:p>
            <a:pPr lvl="1">
              <a:lnSpc>
                <a:spcPct val="100000"/>
              </a:lnSpc>
              <a:spcBef>
                <a:spcPct val="60000"/>
              </a:spcBef>
            </a:pPr>
            <a:r>
              <a:rPr lang="en-US" dirty="0"/>
              <a:t>Cost of concurrency control should be considered</a:t>
            </a:r>
          </a:p>
        </p:txBody>
      </p:sp>
      <mc:AlternateContent xmlns:mc="http://schemas.openxmlformats.org/markup-compatibility/2006" xmlns:p14="http://schemas.microsoft.com/office/powerpoint/2010/main">
        <mc:Choice Requires="p14">
          <p:contentPart p14:bwMode="auto" r:id="rId2">
            <p14:nvContentPartPr>
              <p14:cNvPr id="24" name="Ink 23"/>
              <p14:cNvContentPartPr/>
              <p14:nvPr/>
            </p14:nvContentPartPr>
            <p14:xfrm>
              <a:off x="5451908" y="8505530"/>
              <a:ext cx="360" cy="360"/>
            </p14:xfrm>
          </p:contentPart>
        </mc:Choice>
        <mc:Fallback xmlns="">
          <p:pic>
            <p:nvPicPr>
              <p:cNvPr id="24" name="Ink 23"/>
              <p:cNvPicPr/>
              <p:nvPr/>
            </p:nvPicPr>
            <p:blipFill>
              <a:blip r:embed="rId19"/>
              <a:stretch>
                <a:fillRect/>
              </a:stretch>
            </p:blipFill>
            <p:spPr>
              <a:xfrm>
                <a:off x="5443628" y="8497250"/>
                <a:ext cx="1692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2400" name="Ink 102399"/>
              <p14:cNvContentPartPr/>
              <p14:nvPr/>
            </p14:nvContentPartPr>
            <p14:xfrm>
              <a:off x="13405388" y="2605130"/>
              <a:ext cx="360" cy="360"/>
            </p14:xfrm>
          </p:contentPart>
        </mc:Choice>
        <mc:Fallback xmlns="">
          <p:pic>
            <p:nvPicPr>
              <p:cNvPr id="102400" name="Ink 102399"/>
              <p:cNvPicPr/>
              <p:nvPr/>
            </p:nvPicPr>
            <p:blipFill>
              <a:blip r:embed="rId23"/>
              <a:stretch>
                <a:fillRect/>
              </a:stretch>
            </p:blipFill>
            <p:spPr>
              <a:xfrm>
                <a:off x="13397108" y="2596850"/>
                <a:ext cx="16920" cy="16920"/>
              </a:xfrm>
              <a:prstGeom prst="rect">
                <a:avLst/>
              </a:prstGeom>
            </p:spPr>
          </p:pic>
        </mc:Fallback>
      </mc:AlternateContent>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noFill/>
          <a:ln/>
        </p:spPr>
        <p:txBody>
          <a:bodyPr/>
          <a:lstStyle/>
          <a:p>
            <a:r>
              <a:rPr lang="en-US" dirty="0"/>
              <a:t>Allocation – Information Requirements</a:t>
            </a:r>
          </a:p>
        </p:txBody>
      </p:sp>
      <p:sp>
        <p:nvSpPr>
          <p:cNvPr id="103427" name="Rectangle 3"/>
          <p:cNvSpPr>
            <a:spLocks noGrp="1" noChangeArrowheads="1"/>
          </p:cNvSpPr>
          <p:nvPr>
            <p:ph idx="1"/>
          </p:nvPr>
        </p:nvSpPr>
        <p:spPr>
          <a:noFill/>
          <a:ln/>
        </p:spPr>
        <p:txBody>
          <a:bodyPr/>
          <a:lstStyle/>
          <a:p>
            <a:pPr>
              <a:lnSpc>
                <a:spcPct val="85000"/>
              </a:lnSpc>
              <a:spcBef>
                <a:spcPct val="20000"/>
              </a:spcBef>
            </a:pPr>
            <a:r>
              <a:rPr lang="en-US" dirty="0"/>
              <a:t>Database Information</a:t>
            </a:r>
          </a:p>
          <a:p>
            <a:pPr lvl="1">
              <a:lnSpc>
                <a:spcPct val="85000"/>
              </a:lnSpc>
              <a:spcBef>
                <a:spcPct val="20000"/>
              </a:spcBef>
            </a:pPr>
            <a:r>
              <a:rPr lang="en-US" dirty="0"/>
              <a:t>selectivity of fragments </a:t>
            </a:r>
          </a:p>
          <a:p>
            <a:pPr lvl="1">
              <a:lnSpc>
                <a:spcPct val="85000"/>
              </a:lnSpc>
              <a:spcBef>
                <a:spcPct val="20000"/>
              </a:spcBef>
            </a:pPr>
            <a:r>
              <a:rPr lang="en-US" dirty="0"/>
              <a:t>size of a fragment </a:t>
            </a:r>
          </a:p>
          <a:p>
            <a:pPr>
              <a:lnSpc>
                <a:spcPct val="85000"/>
              </a:lnSpc>
              <a:spcBef>
                <a:spcPct val="20000"/>
              </a:spcBef>
            </a:pPr>
            <a:r>
              <a:rPr lang="en-US" dirty="0"/>
              <a:t>Application Information</a:t>
            </a:r>
          </a:p>
          <a:p>
            <a:pPr lvl="1">
              <a:lnSpc>
                <a:spcPct val="85000"/>
              </a:lnSpc>
              <a:spcBef>
                <a:spcPct val="20000"/>
              </a:spcBef>
            </a:pPr>
            <a:r>
              <a:rPr lang="en-US" dirty="0"/>
              <a:t>number of read accesses of a query to a fragment</a:t>
            </a:r>
          </a:p>
          <a:p>
            <a:pPr lvl="1">
              <a:lnSpc>
                <a:spcPct val="85000"/>
              </a:lnSpc>
              <a:spcBef>
                <a:spcPct val="20000"/>
              </a:spcBef>
            </a:pPr>
            <a:r>
              <a:rPr lang="en-US" dirty="0"/>
              <a:t>number of update accesses of query to a fragment</a:t>
            </a:r>
          </a:p>
          <a:p>
            <a:pPr lvl="1">
              <a:lnSpc>
                <a:spcPct val="85000"/>
              </a:lnSpc>
              <a:spcBef>
                <a:spcPct val="20000"/>
              </a:spcBef>
            </a:pPr>
            <a:r>
              <a:rPr lang="en-US" dirty="0"/>
              <a:t>A  matrix indicating which queries updates which </a:t>
            </a:r>
            <a:r>
              <a:rPr lang="en-US" dirty="0" smtClean="0"/>
              <a:t>fragments UM</a:t>
            </a:r>
            <a:endParaRPr lang="en-US" dirty="0"/>
          </a:p>
          <a:p>
            <a:pPr lvl="1">
              <a:lnSpc>
                <a:spcPct val="85000"/>
              </a:lnSpc>
              <a:spcBef>
                <a:spcPct val="20000"/>
              </a:spcBef>
            </a:pPr>
            <a:r>
              <a:rPr lang="en-US" dirty="0"/>
              <a:t>A similar matrix for </a:t>
            </a:r>
            <a:r>
              <a:rPr lang="en-US" dirty="0" smtClean="0"/>
              <a:t>reads RM</a:t>
            </a:r>
            <a:endParaRPr lang="en-US" dirty="0"/>
          </a:p>
          <a:p>
            <a:pPr lvl="1">
              <a:lnSpc>
                <a:spcPct val="85000"/>
              </a:lnSpc>
              <a:spcBef>
                <a:spcPct val="20000"/>
              </a:spcBef>
            </a:pPr>
            <a:r>
              <a:rPr lang="en-US" dirty="0"/>
              <a:t>originating site of each query </a:t>
            </a:r>
          </a:p>
          <a:p>
            <a:pPr>
              <a:lnSpc>
                <a:spcPct val="85000"/>
              </a:lnSpc>
              <a:spcBef>
                <a:spcPct val="20000"/>
              </a:spcBef>
            </a:pPr>
            <a:r>
              <a:rPr lang="en-US" dirty="0"/>
              <a:t>Site Information</a:t>
            </a:r>
          </a:p>
          <a:p>
            <a:pPr lvl="1">
              <a:lnSpc>
                <a:spcPct val="85000"/>
              </a:lnSpc>
              <a:spcBef>
                <a:spcPct val="20000"/>
              </a:spcBef>
            </a:pPr>
            <a:r>
              <a:rPr lang="en-US" dirty="0"/>
              <a:t>unit cost of storing data at a site </a:t>
            </a:r>
          </a:p>
          <a:p>
            <a:pPr lvl="1">
              <a:lnSpc>
                <a:spcPct val="85000"/>
              </a:lnSpc>
              <a:spcBef>
                <a:spcPct val="20000"/>
              </a:spcBef>
            </a:pPr>
            <a:r>
              <a:rPr lang="en-US" dirty="0"/>
              <a:t>unit cost of processing at a site</a:t>
            </a:r>
          </a:p>
          <a:p>
            <a:pPr>
              <a:lnSpc>
                <a:spcPct val="85000"/>
              </a:lnSpc>
              <a:spcBef>
                <a:spcPct val="20000"/>
              </a:spcBef>
            </a:pPr>
            <a:r>
              <a:rPr lang="en-US" dirty="0"/>
              <a:t>Network Information</a:t>
            </a:r>
          </a:p>
          <a:p>
            <a:pPr lvl="1">
              <a:lnSpc>
                <a:spcPct val="85000"/>
              </a:lnSpc>
              <a:spcBef>
                <a:spcPct val="20000"/>
              </a:spcBef>
            </a:pPr>
            <a:r>
              <a:rPr lang="en-US" dirty="0"/>
              <a:t>communication cost/frame between two sites</a:t>
            </a:r>
          </a:p>
          <a:p>
            <a:pPr lvl="1">
              <a:lnSpc>
                <a:spcPct val="85000"/>
              </a:lnSpc>
              <a:spcBef>
                <a:spcPct val="20000"/>
              </a:spcBef>
            </a:pPr>
            <a:r>
              <a:rPr lang="en-US" dirty="0"/>
              <a:t>frame size</a:t>
            </a:r>
          </a:p>
        </p:txBody>
      </p:sp>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body" idx="1"/>
          </p:nvPr>
        </p:nvSpPr>
        <p:spPr>
          <a:noFill/>
          <a:ln/>
        </p:spPr>
        <p:txBody>
          <a:bodyPr/>
          <a:lstStyle/>
          <a:p>
            <a:pPr>
              <a:buFont typeface="Monotype Sorts" charset="0"/>
              <a:buNone/>
            </a:pPr>
            <a:r>
              <a:rPr lang="en-US" b="1" dirty="0">
                <a:solidFill>
                  <a:schemeClr val="hlink"/>
                </a:solidFill>
              </a:rPr>
              <a:t>General Form</a:t>
            </a:r>
            <a:r>
              <a:rPr lang="en-US" dirty="0"/>
              <a:t>	</a:t>
            </a:r>
            <a:endParaRPr lang="en-US" dirty="0" smtClean="0"/>
          </a:p>
          <a:p>
            <a:pPr>
              <a:buFont typeface="Monotype Sorts" charset="0"/>
              <a:buNone/>
            </a:pPr>
            <a:r>
              <a:rPr lang="en-US" dirty="0" err="1" smtClean="0"/>
              <a:t>Minimising</a:t>
            </a:r>
            <a:r>
              <a:rPr lang="en-US" dirty="0" smtClean="0"/>
              <a:t> Total cost of processing plus storage keeping in mind some response time constraints.</a:t>
            </a:r>
            <a:r>
              <a:rPr lang="en-US" dirty="0"/>
              <a:t>	</a:t>
            </a:r>
          </a:p>
          <a:p>
            <a:pPr>
              <a:buFont typeface="Monotype Sorts" charset="0"/>
              <a:buNone/>
            </a:pPr>
            <a:r>
              <a:rPr lang="en-US" dirty="0"/>
              <a:t>			min(Total Cost)</a:t>
            </a:r>
          </a:p>
          <a:p>
            <a:pPr>
              <a:buFont typeface="Monotype Sorts" charset="0"/>
              <a:buNone/>
            </a:pPr>
            <a:r>
              <a:rPr lang="en-US" dirty="0"/>
              <a:t>		subject to</a:t>
            </a:r>
          </a:p>
          <a:p>
            <a:pPr>
              <a:buFont typeface="Monotype Sorts" charset="0"/>
              <a:buNone/>
            </a:pPr>
            <a:r>
              <a:rPr lang="en-US" dirty="0"/>
              <a:t>			response time constraint</a:t>
            </a:r>
          </a:p>
          <a:p>
            <a:pPr>
              <a:buFont typeface="Monotype Sorts" charset="0"/>
              <a:buNone/>
            </a:pPr>
            <a:r>
              <a:rPr lang="en-US" dirty="0"/>
              <a:t>			storage constraint</a:t>
            </a:r>
          </a:p>
          <a:p>
            <a:pPr>
              <a:buFont typeface="Monotype Sorts" charset="0"/>
              <a:buNone/>
            </a:pPr>
            <a:r>
              <a:rPr lang="en-US" dirty="0"/>
              <a:t>			processing constraint</a:t>
            </a:r>
          </a:p>
          <a:p>
            <a:pPr>
              <a:buFont typeface="Monotype Sorts" charset="0"/>
              <a:buNone/>
            </a:pPr>
            <a:endParaRPr lang="en-US" dirty="0"/>
          </a:p>
          <a:p>
            <a:pPr>
              <a:buFont typeface="Monotype Sorts" charset="0"/>
              <a:buNone/>
            </a:pPr>
            <a:r>
              <a:rPr lang="en-US" dirty="0">
                <a:solidFill>
                  <a:schemeClr val="hlink"/>
                </a:solidFill>
              </a:rPr>
              <a:t>Decision Variable</a:t>
            </a:r>
          </a:p>
        </p:txBody>
      </p:sp>
      <p:sp>
        <p:nvSpPr>
          <p:cNvPr id="105475" name="Rectangle 3"/>
          <p:cNvSpPr>
            <a:spLocks noGrp="1" noChangeArrowheads="1"/>
          </p:cNvSpPr>
          <p:nvPr>
            <p:ph type="title"/>
          </p:nvPr>
        </p:nvSpPr>
        <p:spPr>
          <a:noFill/>
          <a:ln/>
        </p:spPr>
        <p:txBody>
          <a:bodyPr/>
          <a:lstStyle/>
          <a:p>
            <a:r>
              <a:rPr lang="en-US"/>
              <a:t>Allocation Model</a:t>
            </a:r>
          </a:p>
        </p:txBody>
      </p:sp>
      <p:sp>
        <p:nvSpPr>
          <p:cNvPr id="105476" name="Rectangle 4"/>
          <p:cNvSpPr>
            <a:spLocks noChangeArrowheads="1"/>
          </p:cNvSpPr>
          <p:nvPr/>
        </p:nvSpPr>
        <p:spPr bwMode="auto">
          <a:xfrm>
            <a:off x="2694976" y="8036651"/>
            <a:ext cx="855096" cy="55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800" i="1" dirty="0" err="1">
                <a:solidFill>
                  <a:srgbClr val="000000"/>
                </a:solidFill>
                <a:latin typeface="Book Antiqua"/>
              </a:rPr>
              <a:t>x</a:t>
            </a:r>
            <a:r>
              <a:rPr lang="en-US" sz="2800" i="1" baseline="-25000" dirty="0" err="1">
                <a:solidFill>
                  <a:srgbClr val="000000"/>
                </a:solidFill>
                <a:latin typeface="Book Antiqua"/>
              </a:rPr>
              <a:t>ij</a:t>
            </a:r>
            <a:r>
              <a:rPr lang="en-US" sz="2800" i="1" baseline="-25000" dirty="0">
                <a:solidFill>
                  <a:srgbClr val="000000"/>
                </a:solidFill>
                <a:latin typeface="Book Antiqua"/>
              </a:rPr>
              <a:t> </a:t>
            </a:r>
            <a:r>
              <a:rPr lang="en-US" sz="2800" dirty="0" smtClean="0">
                <a:solidFill>
                  <a:srgbClr val="000000"/>
                </a:solidFill>
                <a:latin typeface="Symbol" charset="0"/>
                <a:sym typeface="Symbol"/>
              </a:rPr>
              <a:t></a:t>
            </a:r>
            <a:endParaRPr lang="en-US" sz="2800" dirty="0">
              <a:solidFill>
                <a:srgbClr val="000000"/>
              </a:solidFill>
              <a:latin typeface="Symbol" charset="0"/>
            </a:endParaRPr>
          </a:p>
        </p:txBody>
      </p:sp>
      <p:sp>
        <p:nvSpPr>
          <p:cNvPr id="105477" name="Rectangle 5"/>
          <p:cNvSpPr>
            <a:spLocks noChangeArrowheads="1"/>
          </p:cNvSpPr>
          <p:nvPr/>
        </p:nvSpPr>
        <p:spPr bwMode="auto">
          <a:xfrm>
            <a:off x="3883206" y="7796107"/>
            <a:ext cx="5460955" cy="55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800" dirty="0">
                <a:solidFill>
                  <a:srgbClr val="000000"/>
                </a:solidFill>
                <a:latin typeface="Book Antiqua"/>
              </a:rPr>
              <a:t>1 if fragment </a:t>
            </a:r>
            <a:r>
              <a:rPr lang="en-US" sz="2800" i="1" dirty="0">
                <a:solidFill>
                  <a:srgbClr val="000000"/>
                </a:solidFill>
                <a:latin typeface="Book Antiqua"/>
              </a:rPr>
              <a:t>F</a:t>
            </a:r>
            <a:r>
              <a:rPr lang="en-US" sz="2800" i="1" baseline="-25000" dirty="0">
                <a:solidFill>
                  <a:srgbClr val="000000"/>
                </a:solidFill>
                <a:latin typeface="Book Antiqua"/>
              </a:rPr>
              <a:t>i</a:t>
            </a:r>
            <a:r>
              <a:rPr lang="en-US" sz="2800" i="1" dirty="0">
                <a:solidFill>
                  <a:srgbClr val="000000"/>
                </a:solidFill>
                <a:latin typeface="Book Antiqua"/>
              </a:rPr>
              <a:t> </a:t>
            </a:r>
            <a:r>
              <a:rPr lang="en-US" sz="2800" dirty="0">
                <a:solidFill>
                  <a:srgbClr val="000000"/>
                </a:solidFill>
                <a:latin typeface="Book Antiqua"/>
              </a:rPr>
              <a:t>is stored at site </a:t>
            </a:r>
            <a:r>
              <a:rPr lang="en-US" sz="2800" i="1" dirty="0" err="1">
                <a:solidFill>
                  <a:srgbClr val="000000"/>
                </a:solidFill>
                <a:latin typeface="Book Antiqua"/>
              </a:rPr>
              <a:t>S</a:t>
            </a:r>
            <a:r>
              <a:rPr lang="en-US" sz="2800" i="1" baseline="-25000" dirty="0" err="1">
                <a:solidFill>
                  <a:srgbClr val="000000"/>
                </a:solidFill>
                <a:latin typeface="Book Antiqua"/>
              </a:rPr>
              <a:t>j</a:t>
            </a:r>
            <a:r>
              <a:rPr lang="en-US" sz="2800" dirty="0">
                <a:solidFill>
                  <a:srgbClr val="000000"/>
                </a:solidFill>
                <a:latin typeface="Book Antiqua"/>
              </a:rPr>
              <a:t> </a:t>
            </a:r>
          </a:p>
        </p:txBody>
      </p:sp>
      <p:sp>
        <p:nvSpPr>
          <p:cNvPr id="105478" name="Rectangle 6"/>
          <p:cNvSpPr>
            <a:spLocks noChangeArrowheads="1"/>
          </p:cNvSpPr>
          <p:nvPr/>
        </p:nvSpPr>
        <p:spPr bwMode="auto">
          <a:xfrm>
            <a:off x="3883206" y="8344747"/>
            <a:ext cx="2093305" cy="55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800" dirty="0">
                <a:solidFill>
                  <a:srgbClr val="000000"/>
                </a:solidFill>
                <a:latin typeface="Book Antiqua"/>
              </a:rPr>
              <a:t>0 otherwise</a:t>
            </a:r>
          </a:p>
        </p:txBody>
      </p:sp>
      <p:sp>
        <p:nvSpPr>
          <p:cNvPr id="2" name="Left Brace 1"/>
          <p:cNvSpPr/>
          <p:nvPr/>
        </p:nvSpPr>
        <p:spPr bwMode="auto">
          <a:xfrm>
            <a:off x="3550072" y="7829128"/>
            <a:ext cx="504056" cy="1080120"/>
          </a:xfrm>
          <a:prstGeom prst="leftBrace">
            <a:avLst/>
          </a:prstGeom>
          <a:noFill/>
          <a:ln>
            <a:solidFill>
              <a:schemeClr val="tx2"/>
            </a:solid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000" b="0" i="0" u="none" strike="noStrike" cap="none" normalizeH="0" baseline="0" dirty="0">
              <a:ln>
                <a:noFill/>
              </a:ln>
              <a:solidFill>
                <a:srgbClr val="263750"/>
              </a:solidFill>
              <a:effectLst/>
              <a:latin typeface="Book Antiqua"/>
              <a:ea typeface="ヒラギノ明朝 ProN W3" charset="0"/>
              <a:cs typeface="ヒラギノ明朝 ProN W3" charset="0"/>
              <a:sym typeface="Palatino" charset="0"/>
            </a:endParaRPr>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body" idx="1"/>
          </p:nvPr>
        </p:nvSpPr>
        <p:spPr>
          <a:noFill/>
          <a:ln/>
        </p:spPr>
        <p:txBody>
          <a:bodyPr/>
          <a:lstStyle/>
          <a:p>
            <a:pPr>
              <a:lnSpc>
                <a:spcPct val="100000"/>
              </a:lnSpc>
              <a:spcBef>
                <a:spcPct val="60000"/>
              </a:spcBef>
            </a:pPr>
            <a:r>
              <a:rPr lang="en-US" dirty="0">
                <a:solidFill>
                  <a:schemeClr val="tx2"/>
                </a:solidFill>
              </a:rPr>
              <a:t>Total Cost</a:t>
            </a:r>
          </a:p>
          <a:p>
            <a:pPr lvl="1">
              <a:lnSpc>
                <a:spcPct val="100000"/>
              </a:lnSpc>
              <a:spcBef>
                <a:spcPct val="60000"/>
              </a:spcBef>
              <a:buFont typeface="Monotype Sorts" charset="0"/>
              <a:buNone/>
            </a:pPr>
            <a:endParaRPr lang="en-US" dirty="0"/>
          </a:p>
          <a:p>
            <a:pPr lvl="1">
              <a:lnSpc>
                <a:spcPct val="100000"/>
              </a:lnSpc>
              <a:spcBef>
                <a:spcPct val="60000"/>
              </a:spcBef>
              <a:buFont typeface="Monotype Sorts" charset="0"/>
              <a:buNone/>
            </a:pPr>
            <a:endParaRPr lang="en-US" dirty="0"/>
          </a:p>
          <a:p>
            <a:pPr lvl="1">
              <a:lnSpc>
                <a:spcPct val="100000"/>
              </a:lnSpc>
              <a:spcBef>
                <a:spcPct val="60000"/>
              </a:spcBef>
              <a:buFont typeface="Monotype Sorts" charset="0"/>
              <a:buNone/>
            </a:pPr>
            <a:endParaRPr lang="en-US" dirty="0"/>
          </a:p>
          <a:p>
            <a:pPr lvl="1">
              <a:lnSpc>
                <a:spcPct val="100000"/>
              </a:lnSpc>
              <a:spcBef>
                <a:spcPct val="60000"/>
              </a:spcBef>
              <a:buFont typeface="Monotype Sorts" charset="0"/>
              <a:buNone/>
            </a:pPr>
            <a:endParaRPr lang="en-US" dirty="0"/>
          </a:p>
          <a:p>
            <a:pPr>
              <a:lnSpc>
                <a:spcPct val="100000"/>
              </a:lnSpc>
              <a:spcBef>
                <a:spcPct val="60000"/>
              </a:spcBef>
            </a:pPr>
            <a:r>
              <a:rPr lang="en-US" dirty="0"/>
              <a:t>Storage Cost</a:t>
            </a:r>
            <a:r>
              <a:rPr lang="en-US" dirty="0">
                <a:solidFill>
                  <a:schemeClr val="bg2"/>
                </a:solidFill>
              </a:rPr>
              <a:t> </a:t>
            </a:r>
            <a:r>
              <a:rPr lang="en-US" dirty="0"/>
              <a:t>(of fragment </a:t>
            </a:r>
            <a:r>
              <a:rPr lang="en-US" i="1" dirty="0" err="1"/>
              <a:t>F</a:t>
            </a:r>
            <a:r>
              <a:rPr lang="en-US" i="1" baseline="-25000" dirty="0" err="1"/>
              <a:t>j</a:t>
            </a:r>
            <a:r>
              <a:rPr lang="en-US" i="1" dirty="0"/>
              <a:t> </a:t>
            </a:r>
            <a:r>
              <a:rPr lang="en-US" dirty="0"/>
              <a:t>at </a:t>
            </a:r>
            <a:r>
              <a:rPr lang="en-US" i="1" dirty="0" err="1"/>
              <a:t>S</a:t>
            </a:r>
            <a:r>
              <a:rPr lang="en-US" i="1" baseline="-25000" dirty="0" err="1"/>
              <a:t>k</a:t>
            </a:r>
            <a:r>
              <a:rPr lang="en-US" dirty="0"/>
              <a:t>)</a:t>
            </a:r>
          </a:p>
          <a:p>
            <a:pPr lvl="1">
              <a:lnSpc>
                <a:spcPct val="100000"/>
              </a:lnSpc>
              <a:spcBef>
                <a:spcPct val="60000"/>
              </a:spcBef>
              <a:buFont typeface="Monotype Sorts" charset="0"/>
              <a:buNone/>
            </a:pPr>
            <a:r>
              <a:rPr lang="en-US" dirty="0"/>
              <a:t>	</a:t>
            </a:r>
          </a:p>
          <a:p>
            <a:pPr>
              <a:lnSpc>
                <a:spcPct val="100000"/>
              </a:lnSpc>
              <a:spcBef>
                <a:spcPct val="60000"/>
              </a:spcBef>
            </a:pPr>
            <a:r>
              <a:rPr lang="en-US" dirty="0"/>
              <a:t>Query Processing Cost</a:t>
            </a:r>
            <a:r>
              <a:rPr lang="en-US" dirty="0">
                <a:solidFill>
                  <a:schemeClr val="bg2"/>
                </a:solidFill>
              </a:rPr>
              <a:t> </a:t>
            </a:r>
            <a:r>
              <a:rPr lang="en-US" dirty="0"/>
              <a:t>(for one query)</a:t>
            </a:r>
          </a:p>
          <a:p>
            <a:pPr lvl="1">
              <a:lnSpc>
                <a:spcPct val="100000"/>
              </a:lnSpc>
              <a:spcBef>
                <a:spcPct val="60000"/>
              </a:spcBef>
              <a:buFont typeface="Monotype Sorts" charset="0"/>
              <a:buNone/>
            </a:pPr>
            <a:r>
              <a:rPr lang="en-US" dirty="0"/>
              <a:t>	processing component + transmission component</a:t>
            </a:r>
          </a:p>
        </p:txBody>
      </p:sp>
      <p:sp>
        <p:nvSpPr>
          <p:cNvPr id="106499" name="Rectangle 3"/>
          <p:cNvSpPr>
            <a:spLocks noGrp="1" noChangeArrowheads="1"/>
          </p:cNvSpPr>
          <p:nvPr>
            <p:ph type="title"/>
          </p:nvPr>
        </p:nvSpPr>
        <p:spPr>
          <a:noFill/>
          <a:ln/>
        </p:spPr>
        <p:txBody>
          <a:bodyPr/>
          <a:lstStyle/>
          <a:p>
            <a:r>
              <a:rPr lang="en-US"/>
              <a:t>Allocation Model</a:t>
            </a:r>
          </a:p>
        </p:txBody>
      </p:sp>
      <p:sp>
        <p:nvSpPr>
          <p:cNvPr id="106500" name="Rectangle 4"/>
          <p:cNvSpPr>
            <a:spLocks noChangeArrowheads="1"/>
          </p:cNvSpPr>
          <p:nvPr/>
        </p:nvSpPr>
        <p:spPr bwMode="auto">
          <a:xfrm>
            <a:off x="2461983" y="6985564"/>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a:t>
            </a:r>
          </a:p>
        </p:txBody>
      </p:sp>
      <p:sp>
        <p:nvSpPr>
          <p:cNvPr id="106501" name="Rectangle 5"/>
          <p:cNvSpPr>
            <a:spLocks noChangeArrowheads="1"/>
          </p:cNvSpPr>
          <p:nvPr/>
        </p:nvSpPr>
        <p:spPr bwMode="auto">
          <a:xfrm>
            <a:off x="2461983" y="6985564"/>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  </a:t>
            </a:r>
          </a:p>
        </p:txBody>
      </p:sp>
      <p:sp>
        <p:nvSpPr>
          <p:cNvPr id="106502" name="Rectangle 6"/>
          <p:cNvSpPr>
            <a:spLocks noChangeArrowheads="1"/>
          </p:cNvSpPr>
          <p:nvPr/>
        </p:nvSpPr>
        <p:spPr bwMode="auto">
          <a:xfrm>
            <a:off x="2370755" y="6285653"/>
            <a:ext cx="6283223"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(unit storage cost at </a:t>
            </a:r>
            <a:r>
              <a:rPr lang="en-US" sz="2600" i="1" dirty="0" err="1">
                <a:solidFill>
                  <a:srgbClr val="000000"/>
                </a:solidFill>
                <a:latin typeface="Book Antiqua"/>
              </a:rPr>
              <a:t>S</a:t>
            </a:r>
            <a:r>
              <a:rPr lang="en-US" sz="2600" i="1" baseline="-25000" dirty="0" err="1">
                <a:solidFill>
                  <a:srgbClr val="000000"/>
                </a:solidFill>
                <a:latin typeface="Book Antiqua"/>
              </a:rPr>
              <a:t>k</a:t>
            </a:r>
            <a:r>
              <a:rPr lang="en-US" sz="2600" dirty="0">
                <a:solidFill>
                  <a:srgbClr val="000000"/>
                </a:solidFill>
                <a:latin typeface="Book Antiqua"/>
              </a:rPr>
              <a:t>) </a:t>
            </a:r>
            <a:r>
              <a:rPr lang="en-US" sz="2600" dirty="0" smtClean="0">
                <a:solidFill>
                  <a:srgbClr val="000000"/>
                </a:solidFill>
                <a:latin typeface="Book Antiqua"/>
                <a:sym typeface="Symbol"/>
              </a:rPr>
              <a:t></a:t>
            </a:r>
            <a:r>
              <a:rPr lang="en-US" sz="2600" dirty="0" smtClean="0">
                <a:solidFill>
                  <a:srgbClr val="000000"/>
                </a:solidFill>
                <a:latin typeface="Book Antiqua"/>
              </a:rPr>
              <a:t> </a:t>
            </a:r>
            <a:r>
              <a:rPr lang="en-US" sz="2600" dirty="0">
                <a:solidFill>
                  <a:srgbClr val="000000"/>
                </a:solidFill>
                <a:latin typeface="Book Antiqua"/>
              </a:rPr>
              <a:t>(size of </a:t>
            </a:r>
            <a:r>
              <a:rPr lang="en-US" sz="2600" i="1" dirty="0" err="1">
                <a:solidFill>
                  <a:srgbClr val="000000"/>
                </a:solidFill>
                <a:latin typeface="Book Antiqua"/>
              </a:rPr>
              <a:t>F</a:t>
            </a:r>
            <a:r>
              <a:rPr lang="en-US" sz="2600" i="1" baseline="-25000" dirty="0" err="1">
                <a:solidFill>
                  <a:srgbClr val="000000"/>
                </a:solidFill>
                <a:latin typeface="Book Antiqua"/>
              </a:rPr>
              <a:t>j</a:t>
            </a:r>
            <a:r>
              <a:rPr lang="en-US" sz="2600" dirty="0">
                <a:solidFill>
                  <a:srgbClr val="000000"/>
                </a:solidFill>
                <a:latin typeface="Book Antiqua"/>
              </a:rPr>
              <a:t>) </a:t>
            </a:r>
            <a:r>
              <a:rPr lang="en-US" sz="2600" dirty="0" smtClean="0">
                <a:solidFill>
                  <a:srgbClr val="000000"/>
                </a:solidFill>
                <a:latin typeface="Book Antiqua"/>
                <a:sym typeface="Symbol"/>
              </a:rPr>
              <a:t></a:t>
            </a:r>
            <a:r>
              <a:rPr lang="en-US" sz="2600" dirty="0" smtClean="0">
                <a:solidFill>
                  <a:srgbClr val="000000"/>
                </a:solidFill>
                <a:latin typeface="Book Antiqua"/>
              </a:rPr>
              <a:t> </a:t>
            </a:r>
            <a:r>
              <a:rPr lang="en-US" sz="2600" i="1" dirty="0" err="1" smtClean="0">
                <a:solidFill>
                  <a:srgbClr val="000000"/>
                </a:solidFill>
                <a:latin typeface="Book Antiqua"/>
              </a:rPr>
              <a:t>x</a:t>
            </a:r>
            <a:r>
              <a:rPr lang="en-US" sz="2600" i="1" baseline="-25000" dirty="0" err="1" smtClean="0">
                <a:solidFill>
                  <a:srgbClr val="000000"/>
                </a:solidFill>
                <a:latin typeface="Book Antiqua"/>
              </a:rPr>
              <a:t>jk</a:t>
            </a:r>
            <a:endParaRPr lang="en-US" sz="2600" i="1" baseline="-25000" dirty="0">
              <a:solidFill>
                <a:srgbClr val="000000"/>
              </a:solidFill>
              <a:latin typeface="Book Antiqua"/>
            </a:endParaRPr>
          </a:p>
        </p:txBody>
      </p:sp>
      <p:sp>
        <p:nvSpPr>
          <p:cNvPr id="106503" name="Rectangle 7"/>
          <p:cNvSpPr>
            <a:spLocks noChangeArrowheads="1"/>
          </p:cNvSpPr>
          <p:nvPr/>
        </p:nvSpPr>
        <p:spPr bwMode="auto">
          <a:xfrm>
            <a:off x="8395422" y="6823004"/>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a:t>
            </a:r>
          </a:p>
        </p:txBody>
      </p:sp>
      <p:grpSp>
        <p:nvGrpSpPr>
          <p:cNvPr id="2" name="Group 1"/>
          <p:cNvGrpSpPr/>
          <p:nvPr/>
        </p:nvGrpSpPr>
        <p:grpSpPr>
          <a:xfrm>
            <a:off x="1866438" y="3220616"/>
            <a:ext cx="9985893" cy="2304256"/>
            <a:chOff x="1866438" y="3220616"/>
            <a:chExt cx="9985893" cy="2304256"/>
          </a:xfrm>
        </p:grpSpPr>
        <p:sp>
          <p:nvSpPr>
            <p:cNvPr id="106504" name="Rectangle 8"/>
            <p:cNvSpPr>
              <a:spLocks noChangeArrowheads="1"/>
            </p:cNvSpPr>
            <p:nvPr/>
          </p:nvSpPr>
          <p:spPr bwMode="auto">
            <a:xfrm>
              <a:off x="2308454" y="4809067"/>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a:t>
              </a:r>
            </a:p>
          </p:txBody>
        </p:sp>
        <p:sp>
          <p:nvSpPr>
            <p:cNvPr id="106505" name="Rectangle 9"/>
            <p:cNvSpPr>
              <a:spLocks noChangeArrowheads="1"/>
            </p:cNvSpPr>
            <p:nvPr/>
          </p:nvSpPr>
          <p:spPr bwMode="auto">
            <a:xfrm>
              <a:off x="3262040" y="3412527"/>
              <a:ext cx="3741408" cy="489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query processing cost </a:t>
              </a:r>
              <a:r>
                <a:rPr lang="en-US" sz="2600" dirty="0" smtClean="0">
                  <a:solidFill>
                    <a:srgbClr val="000000"/>
                  </a:solidFill>
                  <a:latin typeface="Symbol" charset="0"/>
                  <a:sym typeface="Symbol"/>
                </a:rPr>
                <a:t></a:t>
              </a:r>
              <a:endParaRPr lang="en-US" sz="2600" dirty="0">
                <a:solidFill>
                  <a:srgbClr val="000000"/>
                </a:solidFill>
                <a:latin typeface="Symbol" charset="0"/>
              </a:endParaRPr>
            </a:p>
          </p:txBody>
        </p:sp>
        <p:sp>
          <p:nvSpPr>
            <p:cNvPr id="106506" name="Rectangle 10"/>
            <p:cNvSpPr>
              <a:spLocks noChangeArrowheads="1"/>
            </p:cNvSpPr>
            <p:nvPr/>
          </p:nvSpPr>
          <p:spPr bwMode="auto">
            <a:xfrm>
              <a:off x="1866438" y="3940696"/>
              <a:ext cx="158712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400" dirty="0">
                  <a:solidFill>
                    <a:srgbClr val="000000"/>
                  </a:solidFill>
                  <a:latin typeface="Book Antiqua"/>
                </a:rPr>
                <a:t>all queries</a:t>
              </a:r>
            </a:p>
          </p:txBody>
        </p:sp>
        <p:sp>
          <p:nvSpPr>
            <p:cNvPr id="106507" name="Rectangle 11"/>
            <p:cNvSpPr>
              <a:spLocks noChangeArrowheads="1"/>
            </p:cNvSpPr>
            <p:nvPr/>
          </p:nvSpPr>
          <p:spPr bwMode="auto">
            <a:xfrm>
              <a:off x="2131343" y="3220616"/>
              <a:ext cx="673260" cy="87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5100" dirty="0" smtClean="0">
                  <a:solidFill>
                    <a:srgbClr val="000000"/>
                  </a:solidFill>
                  <a:latin typeface="Symbol" charset="0"/>
                  <a:sym typeface="Symbol"/>
                </a:rPr>
                <a:t></a:t>
              </a:r>
              <a:endParaRPr lang="en-US" sz="5100" dirty="0">
                <a:solidFill>
                  <a:srgbClr val="000000"/>
                </a:solidFill>
                <a:latin typeface="Symbol" charset="0"/>
              </a:endParaRPr>
            </a:p>
          </p:txBody>
        </p:sp>
        <p:sp>
          <p:nvSpPr>
            <p:cNvPr id="106509" name="Rectangle 13"/>
            <p:cNvSpPr>
              <a:spLocks noChangeArrowheads="1"/>
            </p:cNvSpPr>
            <p:nvPr/>
          </p:nvSpPr>
          <p:spPr bwMode="auto">
            <a:xfrm>
              <a:off x="2615511" y="4483947"/>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a:t>
              </a:r>
            </a:p>
          </p:txBody>
        </p:sp>
        <p:sp>
          <p:nvSpPr>
            <p:cNvPr id="106510" name="Rectangle 14"/>
            <p:cNvSpPr>
              <a:spLocks noChangeArrowheads="1"/>
            </p:cNvSpPr>
            <p:nvPr/>
          </p:nvSpPr>
          <p:spPr bwMode="auto">
            <a:xfrm>
              <a:off x="5433211" y="4508782"/>
              <a:ext cx="5147154" cy="489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cost of storing a fragment at a site</a:t>
              </a:r>
            </a:p>
          </p:txBody>
        </p:sp>
        <p:sp>
          <p:nvSpPr>
            <p:cNvPr id="106511" name="Rectangle 15"/>
            <p:cNvSpPr>
              <a:spLocks noChangeArrowheads="1"/>
            </p:cNvSpPr>
            <p:nvPr/>
          </p:nvSpPr>
          <p:spPr bwMode="auto">
            <a:xfrm>
              <a:off x="4027197" y="5065772"/>
              <a:ext cx="197094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400" dirty="0">
                  <a:solidFill>
                    <a:srgbClr val="000000"/>
                  </a:solidFill>
                  <a:latin typeface="Book Antiqua"/>
                </a:rPr>
                <a:t>all fragments</a:t>
              </a:r>
            </a:p>
          </p:txBody>
        </p:sp>
        <p:sp>
          <p:nvSpPr>
            <p:cNvPr id="106512" name="Rectangle 16"/>
            <p:cNvSpPr>
              <a:spLocks noChangeArrowheads="1"/>
            </p:cNvSpPr>
            <p:nvPr/>
          </p:nvSpPr>
          <p:spPr bwMode="auto">
            <a:xfrm>
              <a:off x="4280747" y="4316871"/>
              <a:ext cx="673260" cy="87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5100" dirty="0" smtClean="0">
                  <a:solidFill>
                    <a:srgbClr val="000000"/>
                  </a:solidFill>
                  <a:latin typeface="Symbol" charset="0"/>
                  <a:sym typeface="Symbol"/>
                </a:rPr>
                <a:t></a:t>
              </a:r>
              <a:endParaRPr lang="en-US" sz="5100" dirty="0">
                <a:solidFill>
                  <a:srgbClr val="000000"/>
                </a:solidFill>
                <a:latin typeface="Symbol" charset="0"/>
              </a:endParaRPr>
            </a:p>
          </p:txBody>
        </p:sp>
        <p:sp>
          <p:nvSpPr>
            <p:cNvPr id="106513" name="Rectangle 17"/>
            <p:cNvSpPr>
              <a:spLocks noChangeArrowheads="1"/>
            </p:cNvSpPr>
            <p:nvPr/>
          </p:nvSpPr>
          <p:spPr bwMode="auto">
            <a:xfrm>
              <a:off x="2662884" y="5065772"/>
              <a:ext cx="119098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400" dirty="0">
                  <a:solidFill>
                    <a:srgbClr val="000000"/>
                  </a:solidFill>
                  <a:latin typeface="Book Antiqua"/>
                </a:rPr>
                <a:t>all sites</a:t>
              </a:r>
            </a:p>
          </p:txBody>
        </p:sp>
        <p:sp>
          <p:nvSpPr>
            <p:cNvPr id="106514" name="Rectangle 18"/>
            <p:cNvSpPr>
              <a:spLocks noChangeArrowheads="1"/>
            </p:cNvSpPr>
            <p:nvPr/>
          </p:nvSpPr>
          <p:spPr bwMode="auto">
            <a:xfrm>
              <a:off x="2871894" y="4316871"/>
              <a:ext cx="673260" cy="87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5100" dirty="0" smtClean="0">
                  <a:solidFill>
                    <a:srgbClr val="000000"/>
                  </a:solidFill>
                  <a:latin typeface="Symbol" charset="0"/>
                  <a:sym typeface="Symbol"/>
                </a:rPr>
                <a:t></a:t>
              </a:r>
              <a:endParaRPr lang="en-US" sz="5100" dirty="0">
                <a:solidFill>
                  <a:srgbClr val="000000"/>
                </a:solidFill>
                <a:latin typeface="Symbol" charset="0"/>
              </a:endParaRPr>
            </a:p>
          </p:txBody>
        </p:sp>
        <p:sp>
          <p:nvSpPr>
            <p:cNvPr id="106516" name="Rectangle 20"/>
            <p:cNvSpPr>
              <a:spLocks noChangeArrowheads="1"/>
            </p:cNvSpPr>
            <p:nvPr/>
          </p:nvSpPr>
          <p:spPr bwMode="auto">
            <a:xfrm>
              <a:off x="11592436" y="4483947"/>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a:t>
              </a:r>
            </a:p>
          </p:txBody>
        </p:sp>
      </p:grpSp>
      <mc:AlternateContent xmlns:mc="http://schemas.openxmlformats.org/markup-compatibility/2006" xmlns:p14="http://schemas.microsoft.com/office/powerpoint/2010/main">
        <mc:Choice Requires="p14">
          <p:contentPart p14:bwMode="auto" r:id="rId2">
            <p14:nvContentPartPr>
              <p14:cNvPr id="29" name="Ink 28"/>
              <p14:cNvContentPartPr/>
              <p14:nvPr/>
            </p14:nvContentPartPr>
            <p14:xfrm>
              <a:off x="5037908" y="6245518"/>
              <a:ext cx="360" cy="360"/>
            </p14:xfrm>
          </p:contentPart>
        </mc:Choice>
        <mc:Fallback xmlns="">
          <p:pic>
            <p:nvPicPr>
              <p:cNvPr id="29" name="Ink 28"/>
              <p:cNvPicPr/>
              <p:nvPr/>
            </p:nvPicPr>
            <p:blipFill>
              <a:blip r:embed="rId13"/>
              <a:stretch>
                <a:fillRect/>
              </a:stretch>
            </p:blipFill>
            <p:spPr>
              <a:xfrm>
                <a:off x="5026028" y="6233638"/>
                <a:ext cx="24120" cy="24120"/>
              </a:xfrm>
              <a:prstGeom prst="rect">
                <a:avLst/>
              </a:prstGeom>
            </p:spPr>
          </p:pic>
        </mc:Fallback>
      </mc:AlternateContent>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3"/>
          <p:cNvSpPr>
            <a:spLocks noGrp="1" noChangeArrowheads="1"/>
          </p:cNvSpPr>
          <p:nvPr>
            <p:ph type="title"/>
          </p:nvPr>
        </p:nvSpPr>
        <p:spPr>
          <a:noFill/>
          <a:ln/>
        </p:spPr>
        <p:txBody>
          <a:bodyPr/>
          <a:lstStyle/>
          <a:p>
            <a:r>
              <a:rPr lang="en-US"/>
              <a:t>Allocation Model</a:t>
            </a:r>
          </a:p>
        </p:txBody>
      </p:sp>
      <p:sp>
        <p:nvSpPr>
          <p:cNvPr id="107522" name="Rectangle 2"/>
          <p:cNvSpPr>
            <a:spLocks noGrp="1" noChangeArrowheads="1"/>
          </p:cNvSpPr>
          <p:nvPr>
            <p:ph idx="1"/>
          </p:nvPr>
        </p:nvSpPr>
        <p:spPr>
          <a:noFill/>
          <a:ln/>
        </p:spPr>
        <p:txBody>
          <a:bodyPr/>
          <a:lstStyle/>
          <a:p>
            <a:r>
              <a:rPr lang="en-US" dirty="0">
                <a:solidFill>
                  <a:schemeClr val="tx2"/>
                </a:solidFill>
              </a:rPr>
              <a:t>Query Processing Cost</a:t>
            </a:r>
          </a:p>
          <a:p>
            <a:pPr lvl="1">
              <a:buFont typeface="Monotype Sorts" charset="0"/>
              <a:buNone/>
            </a:pPr>
            <a:r>
              <a:rPr lang="en-US" dirty="0">
                <a:solidFill>
                  <a:schemeClr val="hlink"/>
                </a:solidFill>
              </a:rPr>
              <a:t>Processing component</a:t>
            </a:r>
            <a:endParaRPr lang="en-US" dirty="0"/>
          </a:p>
          <a:p>
            <a:pPr lvl="2">
              <a:buFont typeface="Monotype Sorts" charset="0"/>
              <a:buNone/>
            </a:pPr>
            <a:r>
              <a:rPr lang="en-US" dirty="0"/>
              <a:t>access cost + integrity enforcement cost + concurrency control cost</a:t>
            </a:r>
          </a:p>
          <a:p>
            <a:pPr lvl="1"/>
            <a:r>
              <a:rPr lang="en-US" dirty="0"/>
              <a:t>Access cost</a:t>
            </a:r>
          </a:p>
          <a:p>
            <a:pPr lvl="1">
              <a:buFont typeface="Monotype Sorts" charset="0"/>
              <a:buNone/>
            </a:pPr>
            <a:endParaRPr lang="en-US" dirty="0"/>
          </a:p>
          <a:p>
            <a:pPr lvl="1">
              <a:buFont typeface="Monotype Sorts" charset="0"/>
              <a:buNone/>
            </a:pPr>
            <a:endParaRPr lang="en-US" dirty="0"/>
          </a:p>
          <a:p>
            <a:pPr lvl="1">
              <a:buFont typeface="Monotype Sorts" charset="0"/>
              <a:buNone/>
            </a:pPr>
            <a:endParaRPr lang="en-US" dirty="0"/>
          </a:p>
          <a:p>
            <a:pPr lvl="1">
              <a:buFont typeface="Monotype Sorts" charset="0"/>
              <a:buNone/>
            </a:pPr>
            <a:endParaRPr lang="en-US" dirty="0"/>
          </a:p>
          <a:p>
            <a:pPr lvl="1"/>
            <a:r>
              <a:rPr lang="en-US" dirty="0"/>
              <a:t>Integrity enforcement and concurrency control costs</a:t>
            </a:r>
          </a:p>
          <a:p>
            <a:pPr lvl="2"/>
            <a:r>
              <a:rPr lang="en-US" dirty="0"/>
              <a:t>Can be similarly calculated</a:t>
            </a:r>
          </a:p>
        </p:txBody>
      </p:sp>
      <p:sp>
        <p:nvSpPr>
          <p:cNvPr id="107524" name="Rectangle 4"/>
          <p:cNvSpPr>
            <a:spLocks noChangeArrowheads="1"/>
          </p:cNvSpPr>
          <p:nvPr/>
        </p:nvSpPr>
        <p:spPr bwMode="auto">
          <a:xfrm>
            <a:off x="2191049" y="5667022"/>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a:t>
            </a:r>
          </a:p>
        </p:txBody>
      </p:sp>
      <p:sp>
        <p:nvSpPr>
          <p:cNvPr id="107525" name="Rectangle 5"/>
          <p:cNvSpPr>
            <a:spLocks noChangeArrowheads="1"/>
          </p:cNvSpPr>
          <p:nvPr/>
        </p:nvSpPr>
        <p:spPr bwMode="auto">
          <a:xfrm>
            <a:off x="2191049" y="5667022"/>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a:solidFill>
                  <a:srgbClr val="000000"/>
                </a:solidFill>
                <a:latin typeface="Book Antiqua"/>
              </a:rPr>
              <a:t>  </a:t>
            </a:r>
          </a:p>
        </p:txBody>
      </p:sp>
      <p:sp>
        <p:nvSpPr>
          <p:cNvPr id="107533" name="Rectangle 13"/>
          <p:cNvSpPr>
            <a:spLocks noChangeArrowheads="1"/>
          </p:cNvSpPr>
          <p:nvPr/>
        </p:nvSpPr>
        <p:spPr bwMode="auto">
          <a:xfrm>
            <a:off x="12694231" y="4619413"/>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a:t>
            </a:r>
          </a:p>
        </p:txBody>
      </p:sp>
      <p:sp>
        <p:nvSpPr>
          <p:cNvPr id="107534" name="Rectangle 14"/>
          <p:cNvSpPr>
            <a:spLocks noChangeArrowheads="1"/>
          </p:cNvSpPr>
          <p:nvPr/>
        </p:nvSpPr>
        <p:spPr bwMode="auto">
          <a:xfrm>
            <a:off x="3988240" y="5486400"/>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a:t>
            </a:r>
          </a:p>
        </p:txBody>
      </p:sp>
      <p:grpSp>
        <p:nvGrpSpPr>
          <p:cNvPr id="5" name="Group 4"/>
          <p:cNvGrpSpPr/>
          <p:nvPr/>
        </p:nvGrpSpPr>
        <p:grpSpPr>
          <a:xfrm>
            <a:off x="1726780" y="4452337"/>
            <a:ext cx="9814495" cy="1561841"/>
            <a:chOff x="1726780" y="4452337"/>
            <a:chExt cx="9814495" cy="1561841"/>
          </a:xfrm>
        </p:grpSpPr>
        <p:grpSp>
          <p:nvGrpSpPr>
            <p:cNvPr id="4" name="Group 3"/>
            <p:cNvGrpSpPr/>
            <p:nvPr/>
          </p:nvGrpSpPr>
          <p:grpSpPr>
            <a:xfrm>
              <a:off x="1726780" y="4452337"/>
              <a:ext cx="9814495" cy="1216551"/>
              <a:chOff x="1726780" y="4452337"/>
              <a:chExt cx="9814495" cy="1216551"/>
            </a:xfrm>
          </p:grpSpPr>
          <p:sp>
            <p:nvSpPr>
              <p:cNvPr id="107527" name="Rectangle 7"/>
              <p:cNvSpPr>
                <a:spLocks noChangeArrowheads="1"/>
              </p:cNvSpPr>
              <p:nvPr/>
            </p:nvSpPr>
            <p:spPr bwMode="auto">
              <a:xfrm>
                <a:off x="4523329" y="4732784"/>
                <a:ext cx="7017946" cy="489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smtClean="0">
                    <a:solidFill>
                      <a:srgbClr val="000000"/>
                    </a:solidFill>
                    <a:latin typeface="Book Antiqua"/>
                  </a:rPr>
                  <a:t>(no</a:t>
                </a:r>
                <a:r>
                  <a:rPr lang="en-US" sz="2600" dirty="0">
                    <a:solidFill>
                      <a:srgbClr val="000000"/>
                    </a:solidFill>
                    <a:latin typeface="Book Antiqua"/>
                  </a:rPr>
                  <a:t>. of update accesses+ no. of read accesses) </a:t>
                </a:r>
                <a:r>
                  <a:rPr lang="en-US" sz="2600" dirty="0" smtClean="0">
                    <a:solidFill>
                      <a:srgbClr val="000000"/>
                    </a:solidFill>
                    <a:latin typeface="Book Antiqua"/>
                    <a:sym typeface="Symbol"/>
                  </a:rPr>
                  <a:t></a:t>
                </a:r>
                <a:endParaRPr lang="en-US" sz="2600" dirty="0">
                  <a:solidFill>
                    <a:srgbClr val="000000"/>
                  </a:solidFill>
                  <a:latin typeface="Book Antiqua"/>
                </a:endParaRPr>
              </a:p>
            </p:txBody>
          </p:sp>
          <p:sp>
            <p:nvSpPr>
              <p:cNvPr id="107528" name="Rectangle 8"/>
              <p:cNvSpPr>
                <a:spLocks noChangeArrowheads="1"/>
              </p:cNvSpPr>
              <p:nvPr/>
            </p:nvSpPr>
            <p:spPr bwMode="auto">
              <a:xfrm>
                <a:off x="3109155" y="5209788"/>
                <a:ext cx="197094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400" dirty="0">
                    <a:solidFill>
                      <a:srgbClr val="000000"/>
                    </a:solidFill>
                    <a:latin typeface="Book Antiqua"/>
                  </a:rPr>
                  <a:t>all fragments</a:t>
                </a:r>
              </a:p>
            </p:txBody>
          </p:sp>
          <p:sp>
            <p:nvSpPr>
              <p:cNvPr id="107529" name="Rectangle 9"/>
              <p:cNvSpPr>
                <a:spLocks noChangeArrowheads="1"/>
              </p:cNvSpPr>
              <p:nvPr/>
            </p:nvSpPr>
            <p:spPr bwMode="auto">
              <a:xfrm>
                <a:off x="3458917" y="4452337"/>
                <a:ext cx="673260" cy="87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5100" dirty="0" smtClean="0">
                    <a:solidFill>
                      <a:srgbClr val="000000"/>
                    </a:solidFill>
                    <a:latin typeface="Symbol" charset="0"/>
                    <a:sym typeface="Symbol"/>
                  </a:rPr>
                  <a:t></a:t>
                </a:r>
                <a:endParaRPr lang="en-US" sz="5100" dirty="0">
                  <a:solidFill>
                    <a:srgbClr val="000000"/>
                  </a:solidFill>
                  <a:latin typeface="Symbol" charset="0"/>
                </a:endParaRPr>
              </a:p>
            </p:txBody>
          </p:sp>
          <p:sp>
            <p:nvSpPr>
              <p:cNvPr id="107530" name="Rectangle 10"/>
              <p:cNvSpPr>
                <a:spLocks noChangeArrowheads="1"/>
              </p:cNvSpPr>
              <p:nvPr/>
            </p:nvSpPr>
            <p:spPr bwMode="auto">
              <a:xfrm>
                <a:off x="1726780" y="5209788"/>
                <a:ext cx="119098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400" dirty="0">
                    <a:solidFill>
                      <a:srgbClr val="000000"/>
                    </a:solidFill>
                    <a:latin typeface="Book Antiqua"/>
                  </a:rPr>
                  <a:t>all sites</a:t>
                </a:r>
              </a:p>
            </p:txBody>
          </p:sp>
          <p:sp>
            <p:nvSpPr>
              <p:cNvPr id="107531" name="Rectangle 11"/>
              <p:cNvSpPr>
                <a:spLocks noChangeArrowheads="1"/>
              </p:cNvSpPr>
              <p:nvPr/>
            </p:nvSpPr>
            <p:spPr bwMode="auto">
              <a:xfrm>
                <a:off x="2013939" y="4452337"/>
                <a:ext cx="673260" cy="87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5100" dirty="0" smtClean="0">
                    <a:solidFill>
                      <a:srgbClr val="000000"/>
                    </a:solidFill>
                    <a:latin typeface="Symbol" charset="0"/>
                    <a:sym typeface="Symbol"/>
                  </a:rPr>
                  <a:t></a:t>
                </a:r>
                <a:endParaRPr lang="en-US" sz="5100" dirty="0">
                  <a:solidFill>
                    <a:srgbClr val="000000"/>
                  </a:solidFill>
                  <a:latin typeface="Symbol" charset="0"/>
                </a:endParaRPr>
              </a:p>
            </p:txBody>
          </p:sp>
        </p:grpSp>
        <p:sp>
          <p:nvSpPr>
            <p:cNvPr id="107535" name="Rectangle 15"/>
            <p:cNvSpPr>
              <a:spLocks noChangeArrowheads="1"/>
            </p:cNvSpPr>
            <p:nvPr/>
          </p:nvSpPr>
          <p:spPr bwMode="auto">
            <a:xfrm>
              <a:off x="5932014" y="5486400"/>
              <a:ext cx="5082854"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i="1" dirty="0" err="1" smtClean="0">
                  <a:solidFill>
                    <a:srgbClr val="000000"/>
                  </a:solidFill>
                  <a:latin typeface="Book Antiqua"/>
                </a:rPr>
                <a:t>x</a:t>
              </a:r>
              <a:r>
                <a:rPr lang="en-US" sz="2600" i="1" baseline="-25000" dirty="0" err="1" smtClean="0">
                  <a:solidFill>
                    <a:srgbClr val="000000"/>
                  </a:solidFill>
                  <a:latin typeface="Book Antiqua"/>
                </a:rPr>
                <a:t>ij</a:t>
              </a:r>
              <a:r>
                <a:rPr lang="en-US" sz="2600" i="1" dirty="0" smtClean="0">
                  <a:solidFill>
                    <a:srgbClr val="000000"/>
                  </a:solidFill>
                  <a:latin typeface="Symbol" charset="0"/>
                </a:rPr>
                <a:t> </a:t>
              </a:r>
              <a:r>
                <a:rPr lang="en-US" sz="2600" dirty="0" smtClean="0">
                  <a:solidFill>
                    <a:srgbClr val="000000"/>
                  </a:solidFill>
                  <a:latin typeface="Book Antiqua"/>
                  <a:sym typeface="Symbol"/>
                </a:rPr>
                <a:t></a:t>
              </a:r>
              <a:r>
                <a:rPr lang="en-US" sz="2600" dirty="0" smtClean="0">
                  <a:solidFill>
                    <a:srgbClr val="000000"/>
                  </a:solidFill>
                  <a:latin typeface="Book Antiqua"/>
                </a:rPr>
                <a:t> local </a:t>
              </a:r>
              <a:r>
                <a:rPr lang="en-US" sz="2600" dirty="0">
                  <a:solidFill>
                    <a:srgbClr val="000000"/>
                  </a:solidFill>
                  <a:latin typeface="Book Antiqua"/>
                </a:rPr>
                <a:t>processing cost at a site</a:t>
              </a:r>
            </a:p>
          </p:txBody>
        </p:sp>
      </p:gr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body" idx="1"/>
          </p:nvPr>
        </p:nvSpPr>
        <p:spPr>
          <a:noFill/>
          <a:ln/>
        </p:spPr>
        <p:txBody>
          <a:bodyPr/>
          <a:lstStyle/>
          <a:p>
            <a:r>
              <a:rPr lang="en-US" dirty="0">
                <a:solidFill>
                  <a:schemeClr val="tx2"/>
                </a:solidFill>
              </a:rPr>
              <a:t>Query Processing Cost</a:t>
            </a:r>
          </a:p>
          <a:p>
            <a:pPr lvl="1">
              <a:buFont typeface="Monotype Sorts" charset="0"/>
              <a:buNone/>
            </a:pPr>
            <a:r>
              <a:rPr lang="en-US" dirty="0">
                <a:solidFill>
                  <a:schemeClr val="hlink"/>
                </a:solidFill>
              </a:rPr>
              <a:t>Transmission component</a:t>
            </a:r>
            <a:endParaRPr lang="en-US" dirty="0"/>
          </a:p>
          <a:p>
            <a:pPr lvl="2">
              <a:buFont typeface="Monotype Sorts" charset="0"/>
              <a:buNone/>
            </a:pPr>
            <a:r>
              <a:rPr lang="en-US" dirty="0"/>
              <a:t>cost of processing updates + cost of processing retrievals</a:t>
            </a:r>
          </a:p>
          <a:p>
            <a:pPr lvl="1"/>
            <a:r>
              <a:rPr lang="en-US" dirty="0"/>
              <a:t>Cost of updates</a:t>
            </a:r>
          </a:p>
          <a:p>
            <a:pPr lvl="1">
              <a:buFont typeface="Monotype Sorts" charset="0"/>
              <a:buNone/>
            </a:pPr>
            <a:endParaRPr lang="en-US" dirty="0"/>
          </a:p>
          <a:p>
            <a:pPr lvl="1">
              <a:buFont typeface="Monotype Sorts" charset="0"/>
              <a:buNone/>
            </a:pPr>
            <a:endParaRPr lang="en-US" dirty="0"/>
          </a:p>
          <a:p>
            <a:pPr lvl="1">
              <a:buFont typeface="Monotype Sorts" charset="0"/>
              <a:buNone/>
            </a:pPr>
            <a:endParaRPr lang="en-US" dirty="0"/>
          </a:p>
          <a:p>
            <a:pPr lvl="1">
              <a:buFont typeface="Monotype Sorts" charset="0"/>
              <a:buNone/>
            </a:pPr>
            <a:endParaRPr lang="en-US" dirty="0"/>
          </a:p>
          <a:p>
            <a:pPr lvl="1"/>
            <a:r>
              <a:rPr lang="en-US" dirty="0"/>
              <a:t>Retrieval Cost</a:t>
            </a:r>
          </a:p>
          <a:p>
            <a:endParaRPr lang="en-US" dirty="0"/>
          </a:p>
        </p:txBody>
      </p:sp>
      <p:sp>
        <p:nvSpPr>
          <p:cNvPr id="108547" name="Rectangle 3"/>
          <p:cNvSpPr>
            <a:spLocks noGrp="1" noChangeArrowheads="1"/>
          </p:cNvSpPr>
          <p:nvPr>
            <p:ph type="title"/>
          </p:nvPr>
        </p:nvSpPr>
        <p:spPr>
          <a:noFill/>
          <a:ln/>
        </p:spPr>
        <p:txBody>
          <a:bodyPr/>
          <a:lstStyle/>
          <a:p>
            <a:r>
              <a:rPr lang="en-US"/>
              <a:t>Allocation Model</a:t>
            </a:r>
          </a:p>
        </p:txBody>
      </p:sp>
      <p:grpSp>
        <p:nvGrpSpPr>
          <p:cNvPr id="2" name="Group 1"/>
          <p:cNvGrpSpPr/>
          <p:nvPr/>
        </p:nvGrpSpPr>
        <p:grpSpPr>
          <a:xfrm>
            <a:off x="2230836" y="4551680"/>
            <a:ext cx="7303731" cy="2098170"/>
            <a:chOff x="2230836" y="4551680"/>
            <a:chExt cx="7303731" cy="2098170"/>
          </a:xfrm>
        </p:grpSpPr>
        <p:sp>
          <p:nvSpPr>
            <p:cNvPr id="108548" name="Rectangle 4"/>
            <p:cNvSpPr>
              <a:spLocks noChangeArrowheads="1"/>
            </p:cNvSpPr>
            <p:nvPr/>
          </p:nvSpPr>
          <p:spPr bwMode="auto">
            <a:xfrm>
              <a:off x="2696792" y="5946987"/>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a:t>
              </a:r>
            </a:p>
          </p:txBody>
        </p:sp>
        <p:sp>
          <p:nvSpPr>
            <p:cNvPr id="108549" name="Rectangle 5"/>
            <p:cNvSpPr>
              <a:spLocks noChangeArrowheads="1"/>
            </p:cNvSpPr>
            <p:nvPr/>
          </p:nvSpPr>
          <p:spPr bwMode="auto">
            <a:xfrm>
              <a:off x="4486176" y="4718756"/>
              <a:ext cx="3706142" cy="489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update message cost  </a:t>
              </a:r>
              <a:r>
                <a:rPr lang="en-US" sz="2600" dirty="0" smtClean="0">
                  <a:solidFill>
                    <a:srgbClr val="000000"/>
                  </a:solidFill>
                  <a:latin typeface="Symbol" charset="0"/>
                  <a:sym typeface="Symbol"/>
                </a:rPr>
                <a:t></a:t>
              </a:r>
              <a:endParaRPr lang="en-US" sz="2600" dirty="0">
                <a:solidFill>
                  <a:srgbClr val="000000"/>
                </a:solidFill>
                <a:latin typeface="Symbol" charset="0"/>
              </a:endParaRPr>
            </a:p>
          </p:txBody>
        </p:sp>
        <p:sp>
          <p:nvSpPr>
            <p:cNvPr id="108550" name="Rectangle 6"/>
            <p:cNvSpPr>
              <a:spLocks noChangeArrowheads="1"/>
            </p:cNvSpPr>
            <p:nvPr/>
          </p:nvSpPr>
          <p:spPr bwMode="auto">
            <a:xfrm>
              <a:off x="3595149" y="5287639"/>
              <a:ext cx="197094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400" dirty="0">
                  <a:solidFill>
                    <a:srgbClr val="000000"/>
                  </a:solidFill>
                  <a:latin typeface="Book Antiqua"/>
                </a:rPr>
                <a:t>all fragments</a:t>
              </a:r>
            </a:p>
          </p:txBody>
        </p:sp>
        <p:sp>
          <p:nvSpPr>
            <p:cNvPr id="108551" name="Rectangle 7"/>
            <p:cNvSpPr>
              <a:spLocks noChangeArrowheads="1"/>
            </p:cNvSpPr>
            <p:nvPr/>
          </p:nvSpPr>
          <p:spPr bwMode="auto">
            <a:xfrm>
              <a:off x="3946598" y="4551680"/>
              <a:ext cx="673260" cy="87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5100" dirty="0" smtClean="0">
                  <a:solidFill>
                    <a:srgbClr val="000000"/>
                  </a:solidFill>
                  <a:latin typeface="Symbol" charset="0"/>
                  <a:sym typeface="Symbol"/>
                </a:rPr>
                <a:t></a:t>
              </a:r>
              <a:endParaRPr lang="en-US" sz="5100" dirty="0">
                <a:solidFill>
                  <a:srgbClr val="000000"/>
                </a:solidFill>
                <a:latin typeface="Symbol" charset="0"/>
              </a:endParaRPr>
            </a:p>
          </p:txBody>
        </p:sp>
        <p:sp>
          <p:nvSpPr>
            <p:cNvPr id="108552" name="Rectangle 8"/>
            <p:cNvSpPr>
              <a:spLocks noChangeArrowheads="1"/>
            </p:cNvSpPr>
            <p:nvPr/>
          </p:nvSpPr>
          <p:spPr bwMode="auto">
            <a:xfrm>
              <a:off x="2230836" y="5287639"/>
              <a:ext cx="119098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400" dirty="0">
                  <a:solidFill>
                    <a:srgbClr val="000000"/>
                  </a:solidFill>
                  <a:latin typeface="Book Antiqua"/>
                </a:rPr>
                <a:t>all sites</a:t>
              </a:r>
            </a:p>
          </p:txBody>
        </p:sp>
        <p:sp>
          <p:nvSpPr>
            <p:cNvPr id="108553" name="Rectangle 9"/>
            <p:cNvSpPr>
              <a:spLocks noChangeArrowheads="1"/>
            </p:cNvSpPr>
            <p:nvPr/>
          </p:nvSpPr>
          <p:spPr bwMode="auto">
            <a:xfrm>
              <a:off x="2519682" y="4551680"/>
              <a:ext cx="673260" cy="87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5100" dirty="0" smtClean="0">
                  <a:solidFill>
                    <a:srgbClr val="000000"/>
                  </a:solidFill>
                  <a:latin typeface="Symbol" charset="0"/>
                  <a:sym typeface="Symbol"/>
                </a:rPr>
                <a:t></a:t>
              </a:r>
              <a:endParaRPr lang="en-US" sz="5100" dirty="0">
                <a:solidFill>
                  <a:srgbClr val="000000"/>
                </a:solidFill>
                <a:latin typeface="Symbol" charset="0"/>
              </a:endParaRPr>
            </a:p>
          </p:txBody>
        </p:sp>
        <p:sp>
          <p:nvSpPr>
            <p:cNvPr id="108555" name="Rectangle 11"/>
            <p:cNvSpPr>
              <a:spLocks noChangeArrowheads="1"/>
            </p:cNvSpPr>
            <p:nvPr/>
          </p:nvSpPr>
          <p:spPr bwMode="auto">
            <a:xfrm>
              <a:off x="3365093" y="5621867"/>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a:t>
              </a:r>
            </a:p>
          </p:txBody>
        </p:sp>
        <p:sp>
          <p:nvSpPr>
            <p:cNvPr id="108556" name="Rectangle 12"/>
            <p:cNvSpPr>
              <a:spLocks noChangeArrowheads="1"/>
            </p:cNvSpPr>
            <p:nvPr/>
          </p:nvSpPr>
          <p:spPr bwMode="auto">
            <a:xfrm>
              <a:off x="6059847" y="5621867"/>
              <a:ext cx="3474720" cy="48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acknowledgment cost   </a:t>
              </a:r>
            </a:p>
          </p:txBody>
        </p:sp>
        <p:sp>
          <p:nvSpPr>
            <p:cNvPr id="108557" name="Rectangle 13"/>
            <p:cNvSpPr>
              <a:spLocks noChangeArrowheads="1"/>
            </p:cNvSpPr>
            <p:nvPr/>
          </p:nvSpPr>
          <p:spPr bwMode="auto">
            <a:xfrm>
              <a:off x="4931753" y="6190750"/>
              <a:ext cx="197094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400" dirty="0">
                  <a:solidFill>
                    <a:srgbClr val="000000"/>
                  </a:solidFill>
                  <a:latin typeface="Book Antiqua"/>
                </a:rPr>
                <a:t>all fragments</a:t>
              </a:r>
            </a:p>
          </p:txBody>
        </p:sp>
        <p:sp>
          <p:nvSpPr>
            <p:cNvPr id="108558" name="Rectangle 14"/>
            <p:cNvSpPr>
              <a:spLocks noChangeArrowheads="1"/>
            </p:cNvSpPr>
            <p:nvPr/>
          </p:nvSpPr>
          <p:spPr bwMode="auto">
            <a:xfrm>
              <a:off x="5301264" y="5454791"/>
              <a:ext cx="673260" cy="87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5100" dirty="0" smtClean="0">
                  <a:solidFill>
                    <a:srgbClr val="000000"/>
                  </a:solidFill>
                  <a:latin typeface="Symbol" charset="0"/>
                  <a:sym typeface="Symbol"/>
                </a:rPr>
                <a:t></a:t>
              </a:r>
              <a:endParaRPr lang="en-US" sz="5100" dirty="0">
                <a:solidFill>
                  <a:srgbClr val="000000"/>
                </a:solidFill>
                <a:latin typeface="Symbol" charset="0"/>
              </a:endParaRPr>
            </a:p>
          </p:txBody>
        </p:sp>
        <p:sp>
          <p:nvSpPr>
            <p:cNvPr id="108559" name="Rectangle 15"/>
            <p:cNvSpPr>
              <a:spLocks noChangeArrowheads="1"/>
            </p:cNvSpPr>
            <p:nvPr/>
          </p:nvSpPr>
          <p:spPr bwMode="auto">
            <a:xfrm>
              <a:off x="3567440" y="6190750"/>
              <a:ext cx="119098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400" dirty="0">
                  <a:solidFill>
                    <a:srgbClr val="000000"/>
                  </a:solidFill>
                  <a:latin typeface="Book Antiqua"/>
                </a:rPr>
                <a:t>all sites</a:t>
              </a:r>
            </a:p>
          </p:txBody>
        </p:sp>
        <p:sp>
          <p:nvSpPr>
            <p:cNvPr id="108560" name="Rectangle 16"/>
            <p:cNvSpPr>
              <a:spLocks noChangeArrowheads="1"/>
            </p:cNvSpPr>
            <p:nvPr/>
          </p:nvSpPr>
          <p:spPr bwMode="auto">
            <a:xfrm>
              <a:off x="3856286" y="5454791"/>
              <a:ext cx="673260" cy="87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5100" dirty="0" smtClean="0">
                  <a:solidFill>
                    <a:srgbClr val="000000"/>
                  </a:solidFill>
                  <a:latin typeface="Symbol" charset="0"/>
                  <a:sym typeface="Symbol"/>
                </a:rPr>
                <a:t></a:t>
              </a:r>
              <a:endParaRPr lang="en-US" sz="5100" dirty="0">
                <a:solidFill>
                  <a:srgbClr val="000000"/>
                </a:solidFill>
                <a:latin typeface="Symbol" charset="0"/>
              </a:endParaRPr>
            </a:p>
          </p:txBody>
        </p:sp>
      </p:grpSp>
      <p:grpSp>
        <p:nvGrpSpPr>
          <p:cNvPr id="3" name="Group 2"/>
          <p:cNvGrpSpPr/>
          <p:nvPr/>
        </p:nvGrpSpPr>
        <p:grpSpPr>
          <a:xfrm>
            <a:off x="2097336" y="7270046"/>
            <a:ext cx="8972782" cy="1634087"/>
            <a:chOff x="2097336" y="7270046"/>
            <a:chExt cx="8972782" cy="1634087"/>
          </a:xfrm>
        </p:grpSpPr>
        <p:sp>
          <p:nvSpPr>
            <p:cNvPr id="108562" name="Rectangle 18"/>
            <p:cNvSpPr>
              <a:spLocks noChangeArrowheads="1"/>
            </p:cNvSpPr>
            <p:nvPr/>
          </p:nvSpPr>
          <p:spPr bwMode="auto">
            <a:xfrm>
              <a:off x="2805165" y="8376355"/>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a:t>
              </a:r>
            </a:p>
          </p:txBody>
        </p:sp>
        <p:sp>
          <p:nvSpPr>
            <p:cNvPr id="108564" name="Rectangle 20"/>
            <p:cNvSpPr>
              <a:spLocks noChangeArrowheads="1"/>
            </p:cNvSpPr>
            <p:nvPr/>
          </p:nvSpPr>
          <p:spPr bwMode="auto">
            <a:xfrm>
              <a:off x="3484294" y="7469088"/>
              <a:ext cx="787964" cy="48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a:solidFill>
                    <a:srgbClr val="000000"/>
                  </a:solidFill>
                  <a:latin typeface="Book Antiqua"/>
                </a:rPr>
                <a:t>min</a:t>
              </a:r>
            </a:p>
          </p:txBody>
        </p:sp>
        <p:sp>
          <p:nvSpPr>
            <p:cNvPr id="108565" name="Rectangle 21"/>
            <p:cNvSpPr>
              <a:spLocks noChangeArrowheads="1"/>
            </p:cNvSpPr>
            <p:nvPr/>
          </p:nvSpPr>
          <p:spPr bwMode="auto">
            <a:xfrm>
              <a:off x="4102841" y="7679573"/>
              <a:ext cx="102294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000" dirty="0">
                  <a:solidFill>
                    <a:srgbClr val="000000"/>
                  </a:solidFill>
                  <a:latin typeface="Book Antiqua"/>
                </a:rPr>
                <a:t>all sites</a:t>
              </a:r>
            </a:p>
          </p:txBody>
        </p:sp>
        <p:sp>
          <p:nvSpPr>
            <p:cNvPr id="108566" name="Rectangle 22"/>
            <p:cNvSpPr>
              <a:spLocks noChangeArrowheads="1"/>
            </p:cNvSpPr>
            <p:nvPr/>
          </p:nvSpPr>
          <p:spPr bwMode="auto">
            <a:xfrm>
              <a:off x="2097336" y="8045152"/>
              <a:ext cx="197094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400" dirty="0">
                  <a:solidFill>
                    <a:srgbClr val="000000"/>
                  </a:solidFill>
                  <a:latin typeface="Book Antiqua"/>
                </a:rPr>
                <a:t>all fragments</a:t>
              </a:r>
            </a:p>
          </p:txBody>
        </p:sp>
        <p:sp>
          <p:nvSpPr>
            <p:cNvPr id="108567" name="Rectangle 23"/>
            <p:cNvSpPr>
              <a:spLocks noChangeArrowheads="1"/>
            </p:cNvSpPr>
            <p:nvPr/>
          </p:nvSpPr>
          <p:spPr bwMode="auto">
            <a:xfrm>
              <a:off x="2628055" y="7270046"/>
              <a:ext cx="673260" cy="87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5100" dirty="0" smtClean="0">
                  <a:solidFill>
                    <a:srgbClr val="000000"/>
                  </a:solidFill>
                  <a:latin typeface="Symbol" charset="0"/>
                  <a:sym typeface="Symbol"/>
                </a:rPr>
                <a:t></a:t>
              </a:r>
              <a:endParaRPr lang="en-US" sz="5100" dirty="0">
                <a:solidFill>
                  <a:srgbClr val="000000"/>
                </a:solidFill>
                <a:latin typeface="Symbol" charset="0"/>
              </a:endParaRPr>
            </a:p>
          </p:txBody>
        </p:sp>
        <p:sp>
          <p:nvSpPr>
            <p:cNvPr id="108568" name="Rectangle 24"/>
            <p:cNvSpPr>
              <a:spLocks noChangeArrowheads="1"/>
            </p:cNvSpPr>
            <p:nvPr/>
          </p:nvSpPr>
          <p:spPr bwMode="auto">
            <a:xfrm>
              <a:off x="5037467" y="7469088"/>
              <a:ext cx="4610386" cy="489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r>
                <a:rPr lang="en-US" sz="2600" dirty="0" smtClean="0">
                  <a:solidFill>
                    <a:srgbClr val="000000"/>
                  </a:solidFill>
                  <a:latin typeface="Book Antiqua"/>
                </a:rPr>
                <a:t>(cost </a:t>
              </a:r>
              <a:r>
                <a:rPr lang="en-US" sz="2600" dirty="0">
                  <a:solidFill>
                    <a:srgbClr val="000000"/>
                  </a:solidFill>
                  <a:latin typeface="Book Antiqua"/>
                </a:rPr>
                <a:t>of retrieval command  </a:t>
              </a:r>
              <a:r>
                <a:rPr lang="en-US" sz="2600" dirty="0" smtClean="0">
                  <a:solidFill>
                    <a:srgbClr val="000000"/>
                  </a:solidFill>
                  <a:latin typeface="Symbol" charset="0"/>
                  <a:sym typeface="Symbol"/>
                </a:rPr>
                <a:t></a:t>
              </a:r>
              <a:r>
                <a:rPr lang="en-US" sz="2600" dirty="0" smtClean="0">
                  <a:solidFill>
                    <a:srgbClr val="000000"/>
                  </a:solidFill>
                  <a:latin typeface="Book Antiqua"/>
                </a:rPr>
                <a:t> </a:t>
              </a:r>
              <a:endParaRPr lang="en-US" sz="2600" dirty="0">
                <a:solidFill>
                  <a:srgbClr val="000000"/>
                </a:solidFill>
                <a:latin typeface="Book Antiqua"/>
              </a:endParaRPr>
            </a:p>
          </p:txBody>
        </p:sp>
        <p:sp>
          <p:nvSpPr>
            <p:cNvPr id="108570" name="Rectangle 26"/>
            <p:cNvSpPr>
              <a:spLocks noChangeArrowheads="1"/>
            </p:cNvSpPr>
            <p:nvPr/>
          </p:nvSpPr>
          <p:spPr bwMode="auto">
            <a:xfrm>
              <a:off x="6253311" y="8117160"/>
              <a:ext cx="4816807"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cost of sending back the result)</a:t>
              </a:r>
            </a:p>
          </p:txBody>
        </p:sp>
      </p:gr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3"/>
          <p:cNvSpPr>
            <a:spLocks noGrp="1" noChangeArrowheads="1"/>
          </p:cNvSpPr>
          <p:nvPr>
            <p:ph type="title"/>
          </p:nvPr>
        </p:nvSpPr>
        <p:spPr>
          <a:noFill/>
          <a:ln/>
        </p:spPr>
        <p:txBody>
          <a:bodyPr/>
          <a:lstStyle/>
          <a:p>
            <a:r>
              <a:rPr lang="en-US"/>
              <a:t>Allocation Model</a:t>
            </a:r>
          </a:p>
        </p:txBody>
      </p:sp>
      <p:sp>
        <p:nvSpPr>
          <p:cNvPr id="109570" name="Rectangle 2"/>
          <p:cNvSpPr>
            <a:spLocks noGrp="1" noChangeArrowheads="1"/>
          </p:cNvSpPr>
          <p:nvPr>
            <p:ph idx="1"/>
          </p:nvPr>
        </p:nvSpPr>
        <p:spPr>
          <a:noFill/>
          <a:ln/>
        </p:spPr>
        <p:txBody>
          <a:bodyPr/>
          <a:lstStyle/>
          <a:p>
            <a:pPr>
              <a:lnSpc>
                <a:spcPct val="100000"/>
              </a:lnSpc>
              <a:spcBef>
                <a:spcPct val="40000"/>
              </a:spcBef>
            </a:pPr>
            <a:r>
              <a:rPr lang="en-US" dirty="0">
                <a:solidFill>
                  <a:schemeClr val="tx2"/>
                </a:solidFill>
              </a:rPr>
              <a:t>Constraints</a:t>
            </a:r>
          </a:p>
          <a:p>
            <a:pPr lvl="1">
              <a:lnSpc>
                <a:spcPct val="100000"/>
              </a:lnSpc>
              <a:spcBef>
                <a:spcPct val="40000"/>
              </a:spcBef>
            </a:pPr>
            <a:r>
              <a:rPr lang="en-US" dirty="0"/>
              <a:t>Response Time</a:t>
            </a:r>
          </a:p>
          <a:p>
            <a:pPr lvl="2">
              <a:lnSpc>
                <a:spcPct val="100000"/>
              </a:lnSpc>
              <a:spcBef>
                <a:spcPct val="40000"/>
              </a:spcBef>
              <a:buFont typeface="Monotype Sorts" charset="0"/>
              <a:buNone/>
            </a:pPr>
            <a:r>
              <a:rPr lang="en-US" dirty="0"/>
              <a:t>execution time of query  ≤ max. allowable response time for that query		    </a:t>
            </a:r>
          </a:p>
          <a:p>
            <a:pPr lvl="1">
              <a:lnSpc>
                <a:spcPct val="100000"/>
              </a:lnSpc>
              <a:spcBef>
                <a:spcPct val="40000"/>
              </a:spcBef>
            </a:pPr>
            <a:r>
              <a:rPr lang="en-US" dirty="0"/>
              <a:t>Storage Constraint (for a site)</a:t>
            </a:r>
          </a:p>
          <a:p>
            <a:pPr lvl="1">
              <a:lnSpc>
                <a:spcPct val="100000"/>
              </a:lnSpc>
              <a:spcBef>
                <a:spcPct val="40000"/>
              </a:spcBef>
              <a:buFont typeface="Monotype Sorts" charset="0"/>
              <a:buNone/>
            </a:pPr>
            <a:endParaRPr lang="en-US" dirty="0"/>
          </a:p>
          <a:p>
            <a:pPr lvl="1">
              <a:lnSpc>
                <a:spcPct val="100000"/>
              </a:lnSpc>
              <a:spcBef>
                <a:spcPct val="40000"/>
              </a:spcBef>
              <a:buFont typeface="Monotype Sorts" charset="0"/>
              <a:buNone/>
            </a:pPr>
            <a:endParaRPr lang="en-US" dirty="0"/>
          </a:p>
          <a:p>
            <a:pPr lvl="1">
              <a:lnSpc>
                <a:spcPct val="100000"/>
              </a:lnSpc>
              <a:spcBef>
                <a:spcPct val="40000"/>
              </a:spcBef>
              <a:buFont typeface="Monotype Sorts" charset="0"/>
              <a:buNone/>
            </a:pPr>
            <a:endParaRPr lang="en-US" dirty="0"/>
          </a:p>
          <a:p>
            <a:pPr lvl="1">
              <a:lnSpc>
                <a:spcPct val="100000"/>
              </a:lnSpc>
              <a:spcBef>
                <a:spcPct val="40000"/>
              </a:spcBef>
            </a:pPr>
            <a:r>
              <a:rPr lang="en-US" dirty="0"/>
              <a:t>Processing constraint (for a site)</a:t>
            </a:r>
          </a:p>
          <a:p>
            <a:endParaRPr lang="en-US" dirty="0"/>
          </a:p>
        </p:txBody>
      </p:sp>
      <p:sp>
        <p:nvSpPr>
          <p:cNvPr id="109572" name="Rectangle 4"/>
          <p:cNvSpPr>
            <a:spLocks noChangeArrowheads="1"/>
          </p:cNvSpPr>
          <p:nvPr/>
        </p:nvSpPr>
        <p:spPr bwMode="auto">
          <a:xfrm>
            <a:off x="2868383" y="6371449"/>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a:t>
            </a:r>
          </a:p>
        </p:txBody>
      </p:sp>
      <p:grpSp>
        <p:nvGrpSpPr>
          <p:cNvPr id="4" name="Group 3"/>
          <p:cNvGrpSpPr/>
          <p:nvPr/>
        </p:nvGrpSpPr>
        <p:grpSpPr>
          <a:xfrm>
            <a:off x="2167770" y="4732784"/>
            <a:ext cx="9130995" cy="1267846"/>
            <a:chOff x="2167770" y="4732784"/>
            <a:chExt cx="9130995" cy="1267846"/>
          </a:xfrm>
        </p:grpSpPr>
        <p:sp>
          <p:nvSpPr>
            <p:cNvPr id="109573" name="Rectangle 5"/>
            <p:cNvSpPr>
              <a:spLocks noChangeArrowheads="1"/>
            </p:cNvSpPr>
            <p:nvPr/>
          </p:nvSpPr>
          <p:spPr bwMode="auto">
            <a:xfrm>
              <a:off x="3550072" y="4899859"/>
              <a:ext cx="7748693"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28691" tIns="63217" rIns="128691" bIns="63217">
              <a:spAutoFit/>
            </a:bodyPr>
            <a:lstStyle/>
            <a:p>
              <a:r>
                <a:rPr lang="en-US" sz="2600" dirty="0">
                  <a:solidFill>
                    <a:srgbClr val="000000"/>
                  </a:solidFill>
                  <a:latin typeface="Book Antiqua"/>
                </a:rPr>
                <a:t>storage requirement of a fragment at that site  </a:t>
              </a:r>
              <a:r>
                <a:rPr lang="en-US" sz="2600" dirty="0" smtClean="0">
                  <a:solidFill>
                    <a:srgbClr val="000000"/>
                  </a:solidFill>
                  <a:latin typeface="Symbol" charset="0"/>
                  <a:sym typeface="Symbol"/>
                </a:rPr>
                <a:t></a:t>
              </a:r>
              <a:r>
                <a:rPr lang="en-US" sz="2600" dirty="0" smtClean="0">
                  <a:solidFill>
                    <a:srgbClr val="000000"/>
                  </a:solidFill>
                  <a:latin typeface="Book Antiqua"/>
                </a:rPr>
                <a:t>     </a:t>
              </a:r>
              <a:endParaRPr lang="en-US" sz="2600" dirty="0">
                <a:solidFill>
                  <a:srgbClr val="000000"/>
                </a:solidFill>
                <a:latin typeface="Book Antiqua"/>
              </a:endParaRPr>
            </a:p>
          </p:txBody>
        </p:sp>
        <p:sp>
          <p:nvSpPr>
            <p:cNvPr id="109574" name="Rectangle 6"/>
            <p:cNvSpPr>
              <a:spLocks noChangeArrowheads="1"/>
            </p:cNvSpPr>
            <p:nvPr/>
          </p:nvSpPr>
          <p:spPr bwMode="auto">
            <a:xfrm>
              <a:off x="2167770" y="5503629"/>
              <a:ext cx="2048095" cy="497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400" dirty="0">
                  <a:solidFill>
                    <a:srgbClr val="000000"/>
                  </a:solidFill>
                  <a:latin typeface="Book Antiqua"/>
                </a:rPr>
                <a:t>all fragments</a:t>
              </a:r>
            </a:p>
          </p:txBody>
        </p:sp>
        <p:sp>
          <p:nvSpPr>
            <p:cNvPr id="109575" name="Rectangle 7"/>
            <p:cNvSpPr>
              <a:spLocks noChangeArrowheads="1"/>
            </p:cNvSpPr>
            <p:nvPr/>
          </p:nvSpPr>
          <p:spPr bwMode="auto">
            <a:xfrm>
              <a:off x="2652321" y="4732784"/>
              <a:ext cx="750414" cy="912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5100" dirty="0" smtClean="0">
                  <a:solidFill>
                    <a:srgbClr val="000000"/>
                  </a:solidFill>
                  <a:latin typeface="Symbol" charset="0"/>
                  <a:sym typeface="Symbol"/>
                </a:rPr>
                <a:t></a:t>
              </a:r>
              <a:endParaRPr lang="en-US" sz="5100" dirty="0">
                <a:solidFill>
                  <a:srgbClr val="000000"/>
                </a:solidFill>
                <a:latin typeface="Symbol" charset="0"/>
              </a:endParaRPr>
            </a:p>
          </p:txBody>
        </p:sp>
        <p:sp>
          <p:nvSpPr>
            <p:cNvPr id="109576" name="Rectangle 8"/>
            <p:cNvSpPr>
              <a:spLocks noChangeArrowheads="1"/>
            </p:cNvSpPr>
            <p:nvPr/>
          </p:nvSpPr>
          <p:spPr bwMode="auto">
            <a:xfrm>
              <a:off x="5125326" y="5308848"/>
              <a:ext cx="4250571"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storage capacity at that site</a:t>
              </a:r>
            </a:p>
          </p:txBody>
        </p:sp>
      </p:grpSp>
      <p:sp>
        <p:nvSpPr>
          <p:cNvPr id="109577" name="Rectangle 9"/>
          <p:cNvSpPr>
            <a:spLocks noChangeArrowheads="1"/>
          </p:cNvSpPr>
          <p:nvPr/>
        </p:nvSpPr>
        <p:spPr bwMode="auto">
          <a:xfrm>
            <a:off x="2886445" y="8701475"/>
            <a:ext cx="259895"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  </a:t>
            </a:r>
          </a:p>
        </p:txBody>
      </p:sp>
      <p:grpSp>
        <p:nvGrpSpPr>
          <p:cNvPr id="3" name="Group 2"/>
          <p:cNvGrpSpPr/>
          <p:nvPr/>
        </p:nvGrpSpPr>
        <p:grpSpPr>
          <a:xfrm>
            <a:off x="2370494" y="7595165"/>
            <a:ext cx="7759021" cy="1235020"/>
            <a:chOff x="2370494" y="7595165"/>
            <a:chExt cx="7759021" cy="1235020"/>
          </a:xfrm>
        </p:grpSpPr>
        <p:sp>
          <p:nvSpPr>
            <p:cNvPr id="109578" name="Rectangle 10"/>
            <p:cNvSpPr>
              <a:spLocks noChangeArrowheads="1"/>
            </p:cNvSpPr>
            <p:nvPr/>
          </p:nvSpPr>
          <p:spPr bwMode="auto">
            <a:xfrm>
              <a:off x="3564515" y="7829128"/>
              <a:ext cx="6102478"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processing load of a query at that site  </a:t>
              </a:r>
              <a:r>
                <a:rPr lang="en-US" sz="2600" dirty="0" smtClean="0">
                  <a:solidFill>
                    <a:srgbClr val="000000"/>
                  </a:solidFill>
                  <a:latin typeface="Symbol" charset="0"/>
                  <a:sym typeface="Symbol"/>
                </a:rPr>
                <a:t></a:t>
              </a:r>
              <a:r>
                <a:rPr lang="en-US" sz="2600" dirty="0" smtClean="0">
                  <a:solidFill>
                    <a:srgbClr val="000000"/>
                  </a:solidFill>
                  <a:latin typeface="Book Antiqua"/>
                </a:rPr>
                <a:t>    </a:t>
              </a:r>
              <a:endParaRPr lang="en-US" sz="2600" dirty="0">
                <a:solidFill>
                  <a:srgbClr val="000000"/>
                </a:solidFill>
                <a:latin typeface="Book Antiqua"/>
              </a:endParaRPr>
            </a:p>
          </p:txBody>
        </p:sp>
        <p:sp>
          <p:nvSpPr>
            <p:cNvPr id="109579" name="Rectangle 11"/>
            <p:cNvSpPr>
              <a:spLocks noChangeArrowheads="1"/>
            </p:cNvSpPr>
            <p:nvPr/>
          </p:nvSpPr>
          <p:spPr bwMode="auto">
            <a:xfrm>
              <a:off x="2370494" y="8333184"/>
              <a:ext cx="1664276" cy="497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400" dirty="0">
                  <a:solidFill>
                    <a:srgbClr val="000000"/>
                  </a:solidFill>
                  <a:latin typeface="Book Antiqua"/>
                </a:rPr>
                <a:t>all queries</a:t>
              </a:r>
            </a:p>
          </p:txBody>
        </p:sp>
        <p:sp>
          <p:nvSpPr>
            <p:cNvPr id="109580" name="Rectangle 12"/>
            <p:cNvSpPr>
              <a:spLocks noChangeArrowheads="1"/>
            </p:cNvSpPr>
            <p:nvPr/>
          </p:nvSpPr>
          <p:spPr bwMode="auto">
            <a:xfrm>
              <a:off x="2670383" y="7595165"/>
              <a:ext cx="750414" cy="912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5100" dirty="0" smtClean="0">
                  <a:solidFill>
                    <a:srgbClr val="000000"/>
                  </a:solidFill>
                  <a:latin typeface="Symbol" charset="0"/>
                  <a:sym typeface="Symbol"/>
                </a:rPr>
                <a:t></a:t>
              </a:r>
              <a:endParaRPr lang="en-US" sz="5100" dirty="0">
                <a:solidFill>
                  <a:srgbClr val="000000"/>
                </a:solidFill>
                <a:latin typeface="Symbol" charset="0"/>
              </a:endParaRPr>
            </a:p>
          </p:txBody>
        </p:sp>
        <p:sp>
          <p:nvSpPr>
            <p:cNvPr id="109581" name="Rectangle 13"/>
            <p:cNvSpPr>
              <a:spLocks noChangeArrowheads="1"/>
            </p:cNvSpPr>
            <p:nvPr/>
          </p:nvSpPr>
          <p:spPr bwMode="auto">
            <a:xfrm>
              <a:off x="5362038" y="8261176"/>
              <a:ext cx="4767477" cy="52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28691" tIns="63217" rIns="128691" bIns="63217">
              <a:spAutoFit/>
            </a:bodyPr>
            <a:lstStyle/>
            <a:p>
              <a:r>
                <a:rPr lang="en-US" sz="2600" dirty="0">
                  <a:solidFill>
                    <a:srgbClr val="000000"/>
                  </a:solidFill>
                  <a:latin typeface="Book Antiqua"/>
                </a:rPr>
                <a:t>processing capacity of that site</a:t>
              </a:r>
            </a:p>
          </p:txBody>
        </p:sp>
      </p:gr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p:cNvSpPr>
            <a:spLocks noGrp="1" noChangeArrowheads="1"/>
          </p:cNvSpPr>
          <p:nvPr>
            <p:ph type="title"/>
          </p:nvPr>
        </p:nvSpPr>
        <p:spPr>
          <a:noFill/>
          <a:ln/>
        </p:spPr>
        <p:txBody>
          <a:bodyPr/>
          <a:lstStyle/>
          <a:p>
            <a:r>
              <a:rPr lang="en-US"/>
              <a:t>Allocation Model</a:t>
            </a:r>
          </a:p>
        </p:txBody>
      </p:sp>
      <p:sp>
        <p:nvSpPr>
          <p:cNvPr id="110594" name="Rectangle 2"/>
          <p:cNvSpPr>
            <a:spLocks noGrp="1" noChangeArrowheads="1"/>
          </p:cNvSpPr>
          <p:nvPr>
            <p:ph idx="1"/>
          </p:nvPr>
        </p:nvSpPr>
        <p:spPr>
          <a:noFill/>
          <a:ln/>
        </p:spPr>
        <p:txBody>
          <a:bodyPr/>
          <a:lstStyle/>
          <a:p>
            <a:pPr>
              <a:lnSpc>
                <a:spcPct val="100000"/>
              </a:lnSpc>
              <a:spcBef>
                <a:spcPct val="55000"/>
              </a:spcBef>
            </a:pPr>
            <a:r>
              <a:rPr lang="en-US" dirty="0"/>
              <a:t>Solution </a:t>
            </a:r>
            <a:r>
              <a:rPr lang="en-US" dirty="0" smtClean="0"/>
              <a:t>Methods</a:t>
            </a:r>
          </a:p>
          <a:p>
            <a:pPr>
              <a:lnSpc>
                <a:spcPct val="100000"/>
              </a:lnSpc>
              <a:spcBef>
                <a:spcPct val="55000"/>
              </a:spcBef>
            </a:pPr>
            <a:r>
              <a:rPr lang="en-US" sz="2000" dirty="0" smtClean="0"/>
              <a:t>A solution to NP-complete </a:t>
            </a:r>
            <a:r>
              <a:rPr lang="en-US" sz="2000" dirty="0"/>
              <a:t>problem can be </a:t>
            </a:r>
            <a:r>
              <a:rPr lang="en-US" sz="2000" i="1" dirty="0"/>
              <a:t>verified</a:t>
            </a:r>
            <a:r>
              <a:rPr lang="en-US" sz="2000" dirty="0"/>
              <a:t> "quickly", there is no known way to </a:t>
            </a:r>
            <a:r>
              <a:rPr lang="en-US" sz="2000" i="1" dirty="0"/>
              <a:t>find</a:t>
            </a:r>
            <a:r>
              <a:rPr lang="en-US" sz="2000" dirty="0"/>
              <a:t> a solution quickly. That is, the time required to solve the problem using any currently known</a:t>
            </a:r>
            <a:r>
              <a:rPr lang="en-US" sz="2000" dirty="0">
                <a:solidFill>
                  <a:schemeClr val="tx2"/>
                </a:solidFill>
              </a:rPr>
              <a:t> </a:t>
            </a:r>
            <a:r>
              <a:rPr lang="en-US" sz="2000" dirty="0" smtClean="0">
                <a:solidFill>
                  <a:schemeClr val="tx2"/>
                </a:solidFill>
              </a:rPr>
              <a:t>algorithm</a:t>
            </a:r>
            <a:r>
              <a:rPr lang="en-US" sz="2000" dirty="0"/>
              <a:t> increases rapidly as the size of the problem grows</a:t>
            </a:r>
          </a:p>
          <a:p>
            <a:pPr lvl="1">
              <a:lnSpc>
                <a:spcPct val="100000"/>
              </a:lnSpc>
              <a:spcBef>
                <a:spcPct val="55000"/>
              </a:spcBef>
            </a:pPr>
            <a:r>
              <a:rPr lang="en-US" dirty="0"/>
              <a:t>FAP is NP-complete</a:t>
            </a:r>
          </a:p>
          <a:p>
            <a:pPr lvl="1">
              <a:lnSpc>
                <a:spcPct val="100000"/>
              </a:lnSpc>
              <a:spcBef>
                <a:spcPct val="55000"/>
              </a:spcBef>
            </a:pPr>
            <a:r>
              <a:rPr lang="en-US" dirty="0"/>
              <a:t>DAP also NP-complete</a:t>
            </a:r>
          </a:p>
          <a:p>
            <a:pPr>
              <a:lnSpc>
                <a:spcPct val="100000"/>
              </a:lnSpc>
              <a:spcBef>
                <a:spcPct val="55000"/>
              </a:spcBef>
            </a:pPr>
            <a:r>
              <a:rPr lang="en-US" dirty="0"/>
              <a:t>Heuristics based on</a:t>
            </a:r>
          </a:p>
          <a:p>
            <a:pPr lvl="1">
              <a:lnSpc>
                <a:spcPct val="100000"/>
              </a:lnSpc>
              <a:spcBef>
                <a:spcPct val="55000"/>
              </a:spcBef>
            </a:pPr>
            <a:r>
              <a:rPr lang="en-US" dirty="0"/>
              <a:t>single commodity warehouse location (for FAP)</a:t>
            </a:r>
          </a:p>
          <a:p>
            <a:pPr lvl="1">
              <a:lnSpc>
                <a:spcPct val="100000"/>
              </a:lnSpc>
              <a:spcBef>
                <a:spcPct val="55000"/>
              </a:spcBef>
            </a:pPr>
            <a:r>
              <a:rPr lang="en-US" dirty="0"/>
              <a:t>knapsack problem</a:t>
            </a:r>
          </a:p>
          <a:p>
            <a:pPr lvl="1">
              <a:lnSpc>
                <a:spcPct val="100000"/>
              </a:lnSpc>
              <a:spcBef>
                <a:spcPct val="55000"/>
              </a:spcBef>
            </a:pPr>
            <a:r>
              <a:rPr lang="en-US" dirty="0"/>
              <a:t>branch and bound techniques</a:t>
            </a:r>
          </a:p>
          <a:p>
            <a:pPr lvl="1">
              <a:lnSpc>
                <a:spcPct val="100000"/>
              </a:lnSpc>
              <a:spcBef>
                <a:spcPct val="55000"/>
              </a:spcBef>
            </a:pPr>
            <a:r>
              <a:rPr lang="en-US" dirty="0"/>
              <a:t>network flow</a:t>
            </a: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3"/>
          <p:cNvSpPr>
            <a:spLocks noGrp="1" noChangeArrowheads="1"/>
          </p:cNvSpPr>
          <p:nvPr>
            <p:ph type="title"/>
          </p:nvPr>
        </p:nvSpPr>
        <p:spPr>
          <a:noFill/>
          <a:ln/>
        </p:spPr>
        <p:txBody>
          <a:bodyPr/>
          <a:lstStyle/>
          <a:p>
            <a:r>
              <a:rPr lang="en-US"/>
              <a:t>Allocation Model</a:t>
            </a:r>
          </a:p>
        </p:txBody>
      </p:sp>
      <p:sp>
        <p:nvSpPr>
          <p:cNvPr id="111618" name="Rectangle 2"/>
          <p:cNvSpPr>
            <a:spLocks noGrp="1" noChangeArrowheads="1"/>
          </p:cNvSpPr>
          <p:nvPr>
            <p:ph idx="1"/>
          </p:nvPr>
        </p:nvSpPr>
        <p:spPr>
          <a:noFill/>
          <a:ln/>
        </p:spPr>
        <p:txBody>
          <a:bodyPr/>
          <a:lstStyle/>
          <a:p>
            <a:pPr>
              <a:lnSpc>
                <a:spcPct val="110000"/>
              </a:lnSpc>
              <a:spcBef>
                <a:spcPct val="80000"/>
              </a:spcBef>
            </a:pPr>
            <a:r>
              <a:rPr lang="en-US"/>
              <a:t>Attempts to reduce the solution space</a:t>
            </a:r>
          </a:p>
          <a:p>
            <a:pPr lvl="1">
              <a:lnSpc>
                <a:spcPct val="110000"/>
              </a:lnSpc>
              <a:spcBef>
                <a:spcPct val="80000"/>
              </a:spcBef>
            </a:pPr>
            <a:r>
              <a:rPr lang="en-US"/>
              <a:t>assume all candidate partitionings known; select the “best” partitioning</a:t>
            </a:r>
          </a:p>
          <a:p>
            <a:pPr lvl="1">
              <a:lnSpc>
                <a:spcPct val="110000"/>
              </a:lnSpc>
              <a:spcBef>
                <a:spcPct val="80000"/>
              </a:spcBef>
            </a:pPr>
            <a:r>
              <a:rPr lang="en-US"/>
              <a:t>ignore replication at first</a:t>
            </a:r>
          </a:p>
          <a:p>
            <a:pPr lvl="1">
              <a:lnSpc>
                <a:spcPct val="110000"/>
              </a:lnSpc>
              <a:spcBef>
                <a:spcPct val="80000"/>
              </a:spcBef>
            </a:pPr>
            <a:r>
              <a:rPr lang="en-US"/>
              <a:t>sliding window on fragments</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Book">
  <a:themeElements>
    <a:clrScheme name="">
      <a:dk1>
        <a:srgbClr val="263750"/>
      </a:dk1>
      <a:lt1>
        <a:srgbClr val="D9C8AF"/>
      </a:lt1>
      <a:dk2>
        <a:srgbClr val="000000"/>
      </a:dk2>
      <a:lt2>
        <a:srgbClr val="808080"/>
      </a:lt2>
      <a:accent1>
        <a:srgbClr val="6682AA"/>
      </a:accent1>
      <a:accent2>
        <a:srgbClr val="333399"/>
      </a:accent2>
      <a:accent3>
        <a:srgbClr val="E9E0D4"/>
      </a:accent3>
      <a:accent4>
        <a:srgbClr val="1F2D43"/>
      </a:accent4>
      <a:accent5>
        <a:srgbClr val="B8C1D2"/>
      </a:accent5>
      <a:accent6>
        <a:srgbClr val="2D2D8A"/>
      </a:accent6>
      <a:hlink>
        <a:srgbClr val="009999"/>
      </a:hlink>
      <a:folHlink>
        <a:srgbClr val="99CC00"/>
      </a:folHlink>
    </a:clrScheme>
    <a:fontScheme name="Title &amp; Bullets">
      <a:majorFont>
        <a:latin typeface="Didot"/>
        <a:ea typeface="ヒラギノ明朝 ProN W3"/>
        <a:cs typeface="ヒラギノ明朝 ProN W3"/>
      </a:majorFont>
      <a:minorFont>
        <a:latin typeface="Palatino"/>
        <a:ea typeface="ヒラギノ明朝 ProN W3"/>
        <a:cs typeface="ヒラギノ明朝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682AA"/>
        </a:solidFill>
        <a:ln>
          <a:noFill/>
        </a:ln>
        <a:effectLst/>
        <a:extLst>
          <a:ext uri="{91240B29-F687-4F45-9708-019B960494DF}">
            <a14:hiddenLine xmlns:a14="http://schemas.microsoft.com/office/drawing/2010/main" w="25400"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3000" b="0" i="0" u="none" strike="noStrike" cap="none" normalizeH="0" baseline="0">
            <a:ln>
              <a:noFill/>
            </a:ln>
            <a:solidFill>
              <a:srgbClr val="263750"/>
            </a:solidFill>
            <a:effectLst/>
            <a:latin typeface="Palatino" charset="0"/>
            <a:ea typeface="ヒラギノ明朝 ProN W3" charset="0"/>
            <a:cs typeface="ヒラギノ明朝 ProN W3" charset="0"/>
            <a:sym typeface="Palatino" charset="0"/>
          </a:defRPr>
        </a:defPPr>
      </a:lstStyle>
    </a:spDef>
    <a:lnDef>
      <a:spPr bwMode="auto">
        <a:xfrm>
          <a:off x="0" y="0"/>
          <a:ext cx="1" cy="1"/>
        </a:xfrm>
        <a:custGeom>
          <a:avLst/>
          <a:gdLst/>
          <a:ahLst/>
          <a:cxnLst/>
          <a:rect l="0" t="0" r="0" b="0"/>
          <a:pathLst/>
        </a:custGeom>
        <a:solidFill>
          <a:srgbClr val="6682AA"/>
        </a:solidFill>
        <a:ln>
          <a:noFill/>
        </a:ln>
        <a:effectLst/>
        <a:extLst>
          <a:ext uri="{91240B29-F687-4F45-9708-019B960494DF}">
            <a14:hiddenLine xmlns:a14="http://schemas.microsoft.com/office/drawing/2010/main" w="25400"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3000" b="0" i="0" u="none" strike="noStrike" cap="none" normalizeH="0" baseline="0">
            <a:ln>
              <a:noFill/>
            </a:ln>
            <a:solidFill>
              <a:srgbClr val="263750"/>
            </a:solidFill>
            <a:effectLst/>
            <a:latin typeface="Palatino" charset="0"/>
            <a:ea typeface="ヒラギノ明朝 ProN W3" charset="0"/>
            <a:cs typeface="ヒラギノ明朝 ProN W3" charset="0"/>
            <a:sym typeface="Palatino" charset="0"/>
          </a:defRPr>
        </a:defPPr>
      </a:lstStyle>
    </a:lnDef>
  </a:objectDefaults>
  <a:extraClrSchemeLst>
    <a:extraClrScheme>
      <a:clrScheme name="Title &amp; 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Book.potx</Template>
  <TotalTime>22514</TotalTime>
  <Pages>0</Pages>
  <Words>5059</Words>
  <Characters>0</Characters>
  <Application>Microsoft Office PowerPoint</Application>
  <PresentationFormat>Custom</PresentationFormat>
  <Lines>0</Lines>
  <Paragraphs>1117</Paragraphs>
  <Slides>91</Slides>
  <Notes>42</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91</vt:i4>
      </vt:variant>
    </vt:vector>
  </HeadingPairs>
  <TitlesOfParts>
    <vt:vector size="107" baseType="lpstr">
      <vt:lpstr>MS PGothic</vt:lpstr>
      <vt:lpstr>MS PGothic</vt:lpstr>
      <vt:lpstr>Arial</vt:lpstr>
      <vt:lpstr>Book Antiqua</vt:lpstr>
      <vt:lpstr>Calibri</vt:lpstr>
      <vt:lpstr>Didot</vt:lpstr>
      <vt:lpstr>Lucida Grande</vt:lpstr>
      <vt:lpstr>Monotype Sorts</vt:lpstr>
      <vt:lpstr>NSymbol</vt:lpstr>
      <vt:lpstr>Palatino</vt:lpstr>
      <vt:lpstr>Symbol</vt:lpstr>
      <vt:lpstr>Wingdings</vt:lpstr>
      <vt:lpstr>Zapf Dingbats</vt:lpstr>
      <vt:lpstr>ヒラギノ明朝 ProN W3</vt:lpstr>
      <vt:lpstr>Book</vt:lpstr>
      <vt:lpstr>Equation</vt:lpstr>
      <vt:lpstr>Distributed Database Design</vt:lpstr>
      <vt:lpstr>Storage Disk</vt:lpstr>
      <vt:lpstr>PowerPoint Presentation</vt:lpstr>
      <vt:lpstr>Database Development Lifecycle</vt:lpstr>
      <vt:lpstr>Outline</vt:lpstr>
      <vt:lpstr>Design Problem</vt:lpstr>
      <vt:lpstr>Dimensions of Distributed Systems (Levin and Morgan 1975)</vt:lpstr>
      <vt:lpstr>Level of Sharing</vt:lpstr>
      <vt:lpstr>Dimensions of the Problem</vt:lpstr>
      <vt:lpstr>Distribution Design</vt:lpstr>
      <vt:lpstr>Database Development Lifecycle</vt:lpstr>
      <vt:lpstr>Top-Down Design</vt:lpstr>
      <vt:lpstr>Distribution Design Process</vt:lpstr>
      <vt:lpstr>Distribution Design</vt:lpstr>
      <vt:lpstr>Distribution Design Issues</vt:lpstr>
      <vt:lpstr>PowerPoint Presentation</vt:lpstr>
      <vt:lpstr>Fragmentation</vt:lpstr>
      <vt:lpstr>Fragmentation Alternatives – Horizontal</vt:lpstr>
      <vt:lpstr>Fragmentation Alternatives – Vertical</vt:lpstr>
      <vt:lpstr>PowerPoint Presentation</vt:lpstr>
      <vt:lpstr>Degree of Fragmentation</vt:lpstr>
      <vt:lpstr>PowerPoint Presentation</vt:lpstr>
      <vt:lpstr>Correctness of Fragmentation</vt:lpstr>
      <vt:lpstr>Allocation Alternatives</vt:lpstr>
      <vt:lpstr>Purpose of Replication </vt:lpstr>
      <vt:lpstr>Replication Issues</vt:lpstr>
      <vt:lpstr>Replication Issues (2)</vt:lpstr>
      <vt:lpstr>Comparison of Replication Alternatives</vt:lpstr>
      <vt:lpstr>Fragmentation</vt:lpstr>
      <vt:lpstr>Information Requirements</vt:lpstr>
      <vt:lpstr>PowerPoint Presentation</vt:lpstr>
      <vt:lpstr>PowerPoint Presentation</vt:lpstr>
      <vt:lpstr>PowerPoint Presentation</vt:lpstr>
      <vt:lpstr>PowerPoint Presentation</vt:lpstr>
      <vt:lpstr>PowerPoint Presentation</vt:lpstr>
      <vt:lpstr>PHF - Information Requirements</vt:lpstr>
      <vt:lpstr>PHF – Information Requirements</vt:lpstr>
      <vt:lpstr>PHF – Information Requirements</vt:lpstr>
      <vt:lpstr>Primary Horizontal Fragmentation</vt:lpstr>
      <vt:lpstr>PowerPoint Presentation</vt:lpstr>
      <vt:lpstr>PHF – Algorithm</vt:lpstr>
      <vt:lpstr>PowerPoint Presentation</vt:lpstr>
      <vt:lpstr>Completeness of Simple Predicates</vt:lpstr>
      <vt:lpstr>PowerPoint Presentation</vt:lpstr>
      <vt:lpstr>PowerPoint Presentation</vt:lpstr>
      <vt:lpstr>Completeness of Simple Predicates</vt:lpstr>
      <vt:lpstr>Minimality of Simple Predicates</vt:lpstr>
      <vt:lpstr>Minimality of Simple Predicates</vt:lpstr>
      <vt:lpstr>COM_MIN Algorithm</vt:lpstr>
      <vt:lpstr>COM_MIN Algorithm</vt:lpstr>
      <vt:lpstr>PHORIZONTAL Algorithm</vt:lpstr>
      <vt:lpstr>PHF – Example</vt:lpstr>
      <vt:lpstr>PHF – Example</vt:lpstr>
      <vt:lpstr>PHF – Example</vt:lpstr>
      <vt:lpstr>PHF – Example</vt:lpstr>
      <vt:lpstr>PHF – Example</vt:lpstr>
      <vt:lpstr>PHF – Correctness</vt:lpstr>
      <vt:lpstr>Derived Horizontal Fragmentation</vt:lpstr>
      <vt:lpstr>DHF – Definition</vt:lpstr>
      <vt:lpstr>DHF – Example</vt:lpstr>
      <vt:lpstr>DHF – Correctness</vt:lpstr>
      <vt:lpstr>Vertical Fragmentation</vt:lpstr>
      <vt:lpstr>Vertical Fragmentation</vt:lpstr>
      <vt:lpstr>VF – Information Requirements</vt:lpstr>
      <vt:lpstr>VF – Definition of use(qi,Aj)</vt:lpstr>
      <vt:lpstr>VF – Affinity Measure aff(Ai,Aj)</vt:lpstr>
      <vt:lpstr>VF – Calculation of aff(Ai, Aj)</vt:lpstr>
      <vt:lpstr>VF – Clustering Algorithm</vt:lpstr>
      <vt:lpstr>Bond Energy Algorithm</vt:lpstr>
      <vt:lpstr>Bond Energy Algorithm</vt:lpstr>
      <vt:lpstr>BEA – Example</vt:lpstr>
      <vt:lpstr>BEA – Example</vt:lpstr>
      <vt:lpstr>VF – Algorithm</vt:lpstr>
      <vt:lpstr>VF – ALgorithm</vt:lpstr>
      <vt:lpstr>  refl (qk) and accl(qk) definitions</vt:lpstr>
      <vt:lpstr>Optimization</vt:lpstr>
      <vt:lpstr>PowerPoint Presentation</vt:lpstr>
      <vt:lpstr>VF – Algorithm</vt:lpstr>
      <vt:lpstr>VF – Correctness</vt:lpstr>
      <vt:lpstr>Hybrid Fragmentation</vt:lpstr>
      <vt:lpstr>Fragment Allocation</vt:lpstr>
      <vt:lpstr>Information Requirements</vt:lpstr>
      <vt:lpstr>Allocation</vt:lpstr>
      <vt:lpstr>Allocation – Information Requirements</vt:lpstr>
      <vt:lpstr>Allocation Model</vt:lpstr>
      <vt:lpstr>Allocation Model</vt:lpstr>
      <vt:lpstr>Allocation Model</vt:lpstr>
      <vt:lpstr>Allocation Model</vt:lpstr>
      <vt:lpstr>Allocation Model</vt:lpstr>
      <vt:lpstr>Allocation Model</vt:lpstr>
      <vt:lpstr>Allocation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Outline</dc:title>
  <dc:creator>Administrator</dc:creator>
  <cp:lastModifiedBy>DELL</cp:lastModifiedBy>
  <cp:revision>134</cp:revision>
  <cp:lastPrinted>2020-02-25T13:44:07Z</cp:lastPrinted>
  <dcterms:modified xsi:type="dcterms:W3CDTF">2024-10-22T05:17:25Z</dcterms:modified>
</cp:coreProperties>
</file>