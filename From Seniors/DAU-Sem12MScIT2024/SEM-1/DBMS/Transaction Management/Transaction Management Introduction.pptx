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3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4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7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8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01" r:id="rId1"/>
  </p:sldMasterIdLst>
  <p:notesMasterIdLst>
    <p:notesMasterId r:id="rId44"/>
  </p:notesMasterIdLst>
  <p:handoutMasterIdLst>
    <p:handoutMasterId r:id="rId45"/>
  </p:handoutMasterIdLst>
  <p:sldIdLst>
    <p:sldId id="320" r:id="rId2"/>
    <p:sldId id="256" r:id="rId3"/>
    <p:sldId id="257" r:id="rId4"/>
    <p:sldId id="259" r:id="rId5"/>
    <p:sldId id="345" r:id="rId6"/>
    <p:sldId id="260" r:id="rId7"/>
    <p:sldId id="258" r:id="rId8"/>
    <p:sldId id="261" r:id="rId9"/>
    <p:sldId id="262" r:id="rId10"/>
    <p:sldId id="265" r:id="rId11"/>
    <p:sldId id="381" r:id="rId12"/>
    <p:sldId id="266" r:id="rId13"/>
    <p:sldId id="267" r:id="rId14"/>
    <p:sldId id="376" r:id="rId15"/>
    <p:sldId id="268" r:id="rId16"/>
    <p:sldId id="269" r:id="rId17"/>
    <p:sldId id="270" r:id="rId18"/>
    <p:sldId id="373" r:id="rId19"/>
    <p:sldId id="271" r:id="rId20"/>
    <p:sldId id="272" r:id="rId21"/>
    <p:sldId id="273" r:id="rId22"/>
    <p:sldId id="325" r:id="rId23"/>
    <p:sldId id="274" r:id="rId24"/>
    <p:sldId id="275" r:id="rId25"/>
    <p:sldId id="276" r:id="rId26"/>
    <p:sldId id="326" r:id="rId27"/>
    <p:sldId id="384" r:id="rId28"/>
    <p:sldId id="329" r:id="rId29"/>
    <p:sldId id="330" r:id="rId30"/>
    <p:sldId id="277" r:id="rId31"/>
    <p:sldId id="278" r:id="rId32"/>
    <p:sldId id="279" r:id="rId33"/>
    <p:sldId id="332" r:id="rId34"/>
    <p:sldId id="375" r:id="rId35"/>
    <p:sldId id="334" r:id="rId36"/>
    <p:sldId id="341" r:id="rId37"/>
    <p:sldId id="377" r:id="rId38"/>
    <p:sldId id="282" r:id="rId39"/>
    <p:sldId id="281" r:id="rId40"/>
    <p:sldId id="378" r:id="rId41"/>
    <p:sldId id="379" r:id="rId42"/>
    <p:sldId id="380" r:id="rId43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>
        <p:guide orient="horz" pos="69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3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fld id="{29E57153-A580-4B5E-9B53-6B87B5A1FB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4807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2T04:07:24.78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C7B148B-67BE-4887-AE0F-8F6C8D771B79}" emma:medium="tactile" emma:mode="ink">
          <msink:context xmlns:msink="http://schemas.microsoft.com/ink/2010/main" type="inkDrawing" rotatedBoundingBox="3165,9691 3321,9691 3321,9706 3165,9706" shapeName="Other"/>
        </emma:interpretation>
      </emma:emma>
    </inkml:annotationXML>
    <inkml:trace contextRef="#ctx0" brushRef="#br0">-4455-1631,'0'0,"39"0,0 0,0 0,-39 0,39 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2T04:17:09.170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B993A03-F8FC-40A8-BCCA-B75811C457CF}" emma:medium="tactile" emma:mode="ink">
          <msink:context xmlns:msink="http://schemas.microsoft.com/ink/2010/main" type="inkDrawing" rotatedBoundingBox="12504,9886 12519,9886 12519,9901 12504,9901" shapeName="Other"/>
        </emma:interpretation>
      </emma:emma>
    </inkml:annotationXML>
    <inkml:trace contextRef="#ctx0" brushRef="#br0">1108 3684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05:24:02.657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AE22A35-6B2D-4BCE-BB9A-75DE570F3309}" emma:medium="tactile" emma:mode="ink">
          <msink:context xmlns:msink="http://schemas.microsoft.com/ink/2010/main" type="inkDrawing" rotatedBoundingBox="15874,5327 16655,4974 16695,5062 15914,5414" shapeName="Other"/>
        </emma:interpretation>
      </emma:emma>
    </inkml:annotationXML>
    <inkml:trace contextRef="#ctx0" brushRef="#br0">-661-8392,'0'39,"0"0,0-39,39 0,156-78,79-117,-79 116,-117 79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2T03:49:35.873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8BE3568-B620-4E24-A713-B0B98AE2ADD8}" emma:medium="tactile" emma:mode="ink">
          <msink:context xmlns:msink="http://schemas.microsoft.com/ink/2010/main" type="inkDrawing" rotatedBoundingBox="8477,6165 9690,5895 9709,5983 8496,6252" semanticType="callout" shapeName="Other"/>
        </emma:interpretation>
      </emma:emma>
    </inkml:annotationXML>
    <inkml:trace contextRef="#ctx0" brushRef="#br0">1212 0,'0'39,"0"-39,0 0,-79 0,79 39,-39-39,-39 0,39 39,0-39,0 0,0 0,-78 0,117 0,-39 0,0 0,-40 39,40 40,0-79,-78 0,117 0,-78 39,39-39,39 0,-78 0,78 0,-39 0,39 0,-79 0,79 0,-39 0,39 0,-39 0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05:32:59.80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CB2A2F4-C917-48F4-BB2C-547187B340CB}" emma:medium="tactile" emma:mode="ink">
          <msink:context xmlns:msink="http://schemas.microsoft.com/ink/2010/main" type="inkDrawing" rotatedBoundingBox="9652,8245 9691,8245 9691,8260 9652,8260" shapeName="Other"/>
        </emma:interpretation>
      </emma:emma>
    </inkml:annotationXML>
    <inkml:trace contextRef="#ctx0" brushRef="#br0">0 0,'39'0,"-39"0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05:33:07.36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6F1BB69-9B0F-41D9-9876-F945E475FF1A}" emma:medium="tactile" emma:mode="ink">
          <msink:context xmlns:msink="http://schemas.microsoft.com/ink/2010/main" type="inkDrawing" rotatedBoundingBox="14497,8284 14512,8284 14512,8299 14497,8299" shapeName="Other"/>
        </emma:interpretation>
      </emma:emma>
    </inkml:annotationXML>
    <inkml:trace contextRef="#ctx0" brushRef="#br0">0 0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05:40:52.633"/>
    </inkml:context>
    <inkml:brush xml:id="br0">
      <inkml:brushProperty name="width" value="0.04667" units="cm"/>
      <inkml:brushProperty name="height" value="0.04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78B030D-D3D7-46FE-A3FE-5CA96BE8C6E2}" emma:medium="tactile" emma:mode="ink">
          <msink:context xmlns:msink="http://schemas.microsoft.com/ink/2010/main" type="inkDrawing" rotatedBoundingBox="10199,10433 13325,10433 13325,10448 10199,10448" shapeName="Other"/>
        </emma:interpretation>
      </emma:emma>
    </inkml:annotationXML>
    <inkml:trace contextRef="#ctx0" brushRef="#br0">0 0,'0'0,"117"0,39 0,40 0,116 0,-156 0,79 0,-40 0,79 0,-118 0,0 0,40 0,-118 0,0 0,-39 0,39 0,-78 0,39 0,-39 0,79 0,-79 0,39 0,39 0,-39 0,78 0,-78 0,118 0,-79 0,-78 0,39 0,-39 0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1-25T06:08:52.665"/>
    </inkml:context>
    <inkml:brush xml:id="br0">
      <inkml:brushProperty name="width" value="0.04667" units="cm"/>
      <inkml:brushProperty name="height" value="0.04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82F9EB9-5FDC-4B88-8681-3B20139A028E}" emma:medium="tactile" emma:mode="ink">
          <msink:context xmlns:msink="http://schemas.microsoft.com/ink/2010/main" type="inkDrawing" rotatedBoundingBox="3008,12152 8440,12152 8440,12167 3008,12167" semanticType="underline" shapeName="Other"/>
        </emma:interpretation>
      </emma:emma>
    </inkml:annotationXML>
    <inkml:trace contextRef="#ctx0" brushRef="#br0">0 0,'0'0,"118"0,-1 0,78 0,1 0,77 0,1 0,117 0,-118 0,40 0,-196 0,117 0,-77 0,38 0,-39 0,-38 0,-79 0,78 0,-78 0,0 0,0 0,0 0,39 0,-39 0,40 0,-1 0,0 0,39 0,-78 0,157 0,-79 0,78 0,-78 0,40 0,-40 0,-78 0,39 0,79 0,-40 0,0 0,-39 0,-78 0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5B7CC90F-195F-4DEF-A4DA-F5B0A181CF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0007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79FD97-3E05-4AF7-9FA7-5D40E8EC0B1C}" type="slidenum">
              <a:rPr lang="en-US" altLang="en-US" sz="1300">
                <a:latin typeface="Times New Roman" panose="02020603050405020304" pitchFamily="18" charset="0"/>
              </a:rPr>
              <a:pPr/>
              <a:t>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17DEB3-15EC-4046-B6FC-7059E5DE6572}" type="slidenum">
              <a:rPr lang="en-US" altLang="en-US" sz="1300">
                <a:latin typeface="Times New Roman" panose="02020603050405020304" pitchFamily="18" charset="0"/>
              </a:rPr>
              <a:pPr/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90F1DB-8581-4412-BE09-331FFC345D8A}" type="slidenum">
              <a:rPr lang="en-US" altLang="en-US" sz="130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57C7EE-1394-4754-ABAC-F51DB6C77C16}" type="slidenum">
              <a:rPr lang="en-US" altLang="en-US" sz="130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96B228-294A-4543-9668-830A4BA10FD0}" type="slidenum">
              <a:rPr lang="en-US" altLang="en-US" sz="1300"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368A3B-2500-44E1-A876-1D192EB39441}" type="slidenum">
              <a:rPr lang="en-US" altLang="en-US" sz="1300">
                <a:latin typeface="Times New Roman" panose="02020603050405020304" pitchFamily="18" charset="0"/>
              </a:rPr>
              <a:pPr/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7B586B-FBE3-4075-88E9-19535EAEDE53}" type="slidenum">
              <a:rPr lang="en-US" altLang="en-US" sz="1300"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9CAF58-8E40-42E6-AEEE-83BAC72A0401}" type="slidenum">
              <a:rPr lang="en-US" altLang="en-US" sz="130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D1BF8E-E101-475A-9CDD-3A67C3D2CCFD}" type="slidenum">
              <a:rPr lang="en-US" altLang="en-US" sz="130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C1AAF5-6AEA-4D14-8684-0B8539C0EA31}" type="slidenum">
              <a:rPr lang="en-US" altLang="en-US" sz="1300">
                <a:latin typeface="Times New Roman" panose="02020603050405020304" pitchFamily="18" charset="0"/>
              </a:rPr>
              <a:pPr/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4e89697_1_0:notes"/>
          <p:cNvSpPr txBox="1">
            <a:spLocks noGrp="1"/>
          </p:cNvSpPr>
          <p:nvPr>
            <p:ph type="body" idx="1"/>
          </p:nvPr>
        </p:nvSpPr>
        <p:spPr>
          <a:xfrm>
            <a:off x="699770" y="4467781"/>
            <a:ext cx="5598160" cy="3655609"/>
          </a:xfrm>
          <a:prstGeom prst="rect">
            <a:avLst/>
          </a:prstGeom>
        </p:spPr>
        <p:txBody>
          <a:bodyPr spcFirstLastPara="1" wrap="square" lIns="93016" tIns="46495" rIns="93016" bIns="4649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0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7" name="Google Shape;167;g3d04e8969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09700" y="1160463"/>
            <a:ext cx="4178300" cy="3133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4411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181E236-F3CF-4317-8D23-91C03DF91DAA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FD32BD-82F1-48BD-AD09-96AD51164653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5A69C5-4E79-40C5-A40D-3DE0D1BB057D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66EED2-8886-4DAB-8F39-47600D19EAAD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0A219B-7ED1-4E4A-95DF-430BAF20189A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181FFE9-0679-4531-AB67-8E0EAB444F99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E9D46A0-8FB9-4F36-8A68-841EE000AD2B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A3BC2A-3044-458B-B1BD-DEB1040FB7FC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70FF04-BD4D-47CF-853F-6CFC89ED42D1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98D951-B8BF-4FE7-8FF8-B9812C3DBA9F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AB2A54-CE49-40F1-BE38-E3DCEF43F856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120282-FA19-4407-98A6-B549395434D4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B704F0-BAEA-48FC-A020-011B0A01BDD0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6BDD98-9085-4F65-9BDF-1B839A8B4DC6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AF8D3E-D4BC-4C85-BC46-168123D4B1D3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8415A0-11DD-451A-AE84-DEFCBCF8F02C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4388" cy="3468687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027" y="4409758"/>
            <a:ext cx="5131647" cy="4177665"/>
          </a:xfrm>
          <a:ln/>
        </p:spPr>
        <p:txBody>
          <a:bodyPr lIns="91925" tIns="45963" rIns="91925" bIns="4596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589F052-F191-428D-AF67-B65E8960DD5C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DD8D6FB-95B3-4852-BB48-80936A26FC18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78FB941-5722-4BA5-84DF-FC78527A2BB7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37B947-B885-486A-9E0E-5DB5F2D174C2}" type="slidenum">
              <a:rPr lang="en-US" altLang="en-US" sz="1300">
                <a:latin typeface="Times New Roman" panose="02020603050405020304" pitchFamily="18" charset="0"/>
              </a:rPr>
              <a:pPr/>
              <a:t>31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8F6C2F6-402D-422C-BB49-ADCD5F850701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C7905A-2CC2-4593-BC50-F4A9103CA5F9}" type="slidenum">
              <a:rPr lang="en-US" altLang="en-US" sz="1300">
                <a:latin typeface="Times New Roman" panose="02020603050405020304" pitchFamily="18" charset="0"/>
              </a:rPr>
              <a:pPr/>
              <a:t>33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47C592-32BF-47BB-9678-D5FB42722EAA}" type="slidenum">
              <a:rPr lang="en-US" altLang="en-US" sz="1300">
                <a:latin typeface="Times New Roman" panose="02020603050405020304" pitchFamily="18" charset="0"/>
              </a:rPr>
              <a:pPr/>
              <a:t>34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55DDF8-1267-474D-9F61-95CB06392C59}" type="slidenum">
              <a:rPr lang="en-US" altLang="en-US" sz="1300">
                <a:latin typeface="Times New Roman" panose="02020603050405020304" pitchFamily="18" charset="0"/>
              </a:rPr>
              <a:pPr/>
              <a:t>35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3F68DF0-6905-4D9D-ACCA-81F50CE25A46}" type="slidenum">
              <a:rPr lang="en-US" altLang="en-US" sz="1300">
                <a:latin typeface="Times New Roman" panose="02020603050405020304" pitchFamily="18" charset="0"/>
              </a:rPr>
              <a:pPr/>
              <a:t>36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14055-A8AE-4C05-AC7A-46A0B6A29489}" type="slidenum">
              <a:rPr lang="en-US" altLang="en-US" sz="1300">
                <a:latin typeface="Times New Roman" panose="02020603050405020304" pitchFamily="18" charset="0"/>
              </a:rPr>
              <a:pPr/>
              <a:t>37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4DD0DF-53A0-4666-9689-6AAB81C4795A}" type="slidenum">
              <a:rPr lang="en-US" altLang="en-US" sz="1300">
                <a:latin typeface="Times New Roman" panose="02020603050405020304" pitchFamily="18" charset="0"/>
              </a:rPr>
              <a:pPr/>
              <a:t>38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BB09A6-5E06-46D1-A99F-E344CBBF67B7}" type="slidenum">
              <a:rPr lang="en-US" altLang="en-US" sz="1300">
                <a:latin typeface="Times New Roman" panose="02020603050405020304" pitchFamily="18" charset="0"/>
              </a:rPr>
              <a:pPr/>
              <a:t>39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229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778487" y="6388691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fld id="{4AAA266F-A005-4455-9502-E3724A964F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99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E6A8F2-4A8B-4A99-BE4D-D3A869CE758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341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8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51659C-1AF3-4FAF-8545-8F03FEBA5E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40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5CEF85-9243-4C03-980F-FEC8A6A7A10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27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8A1303-5D2D-4597-85C3-1555E5FE4DD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32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1EFD54-8803-427D-A9AB-631036F81CD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52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068018-0522-4E2C-B8D9-E5451E9A4DA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10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BA9BFC-BC4C-47B6-8B8E-F3902B6E8A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878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C98E8D-185A-414A-A518-5C49E7B629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080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656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745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title"/>
          </p:nvPr>
        </p:nvSpPr>
        <p:spPr>
          <a:xfrm>
            <a:off x="448965" y="374900"/>
            <a:ext cx="82461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body" idx="1"/>
          </p:nvPr>
        </p:nvSpPr>
        <p:spPr>
          <a:xfrm>
            <a:off x="448966" y="1596540"/>
            <a:ext cx="8246100" cy="46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63242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1600"/>
              </a:spcBef>
              <a:spcAft>
                <a:spcPts val="0"/>
              </a:spcAft>
              <a:buClr>
                <a:srgbClr val="632423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1600"/>
              </a:spcBef>
              <a:spcAft>
                <a:spcPts val="0"/>
              </a:spcAft>
              <a:buClr>
                <a:srgbClr val="63242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1600"/>
              </a:spcBef>
              <a:spcAft>
                <a:spcPts val="0"/>
              </a:spcAft>
              <a:buClr>
                <a:srgbClr val="632423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1600"/>
              </a:spcBef>
              <a:spcAft>
                <a:spcPts val="0"/>
              </a:spcAft>
              <a:buClr>
                <a:srgbClr val="632423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mtClean="0"/>
              <a:t>12/4/2020</a:t>
            </a:r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4668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17.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A69B54C0-8EB7-4834-9342-A9C86C117E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247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5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20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19" Type="http://schemas.openxmlformats.org/officeDocument/2006/relationships/image" Target="../media/image96.emf"/><Relationship Id="rId4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11" Type="http://schemas.openxmlformats.org/officeDocument/2006/relationships/image" Target="../media/image910.emf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17" Type="http://schemas.openxmlformats.org/officeDocument/2006/relationships/image" Target="../media/image117.emf"/><Relationship Id="rId2" Type="http://schemas.openxmlformats.org/officeDocument/2006/relationships/notesSlide" Target="../notesSlides/notesSlide13.xml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16.emf"/><Relationship Id="rId4" Type="http://schemas.openxmlformats.org/officeDocument/2006/relationships/customXml" Target="../ink/ink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5.emf"/><Relationship Id="rId4" Type="http://schemas.openxmlformats.org/officeDocument/2006/relationships/customXml" Target="../ink/ink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8.xml"/><Relationship Id="rId10" Type="http://schemas.openxmlformats.org/officeDocument/2006/relationships/image" Target="../media/image182.emf"/><Relationship Id="rId4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Module 17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: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Transactions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1C6810-CB31-4E30-9B86-57880A05BB4E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732450" cy="5367972"/>
          </a:xfrm>
        </p:spPr>
        <p:txBody>
          <a:bodyPr/>
          <a:lstStyle/>
          <a:p>
            <a:r>
              <a:rPr lang="en-US" altLang="en-US" dirty="0"/>
              <a:t>Transaction Concept</a:t>
            </a:r>
          </a:p>
          <a:p>
            <a:r>
              <a:rPr lang="en-US" altLang="en-US" dirty="0"/>
              <a:t>Transaction State</a:t>
            </a:r>
          </a:p>
          <a:p>
            <a:r>
              <a:rPr lang="en-US" altLang="en-US" dirty="0"/>
              <a:t>Concurrent Executions</a:t>
            </a:r>
          </a:p>
          <a:p>
            <a:r>
              <a:rPr lang="en-US" altLang="en-US" dirty="0"/>
              <a:t>Serializability</a:t>
            </a:r>
          </a:p>
          <a:p>
            <a:r>
              <a:rPr lang="en-US" altLang="en-US" dirty="0"/>
              <a:t>Recoverability</a:t>
            </a:r>
          </a:p>
          <a:p>
            <a:r>
              <a:rPr lang="en-US" altLang="en-US" dirty="0"/>
              <a:t>Implementation of Isolation</a:t>
            </a:r>
          </a:p>
          <a:p>
            <a:r>
              <a:rPr lang="en-US" altLang="en-US" dirty="0"/>
              <a:t>Transaction Definition in SQL</a:t>
            </a:r>
          </a:p>
          <a:p>
            <a:r>
              <a:rPr lang="en-US" altLang="en-US" dirty="0"/>
              <a:t>Testing for Serializability.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Concept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94594" cy="5367972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0099"/>
                </a:solidFill>
              </a:rPr>
              <a:t>transaction</a:t>
            </a:r>
            <a:r>
              <a:rPr lang="en-US" altLang="en-US" i="1" dirty="0"/>
              <a:t> </a:t>
            </a:r>
            <a:r>
              <a:rPr lang="en-US" altLang="en-US" dirty="0"/>
              <a:t>is a </a:t>
            </a:r>
            <a:r>
              <a:rPr lang="en-US" altLang="en-US" i="1" dirty="0"/>
              <a:t>unit </a:t>
            </a:r>
            <a:r>
              <a:rPr lang="en-US" altLang="en-US" dirty="0"/>
              <a:t>of program execution that accesses and  possibly updates various data items.</a:t>
            </a:r>
          </a:p>
          <a:p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transaction to transfer $50 from account A to account B: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B)</a:t>
            </a:r>
            <a:endParaRPr lang="en-US" altLang="en-US" dirty="0"/>
          </a:p>
          <a:p>
            <a:r>
              <a:rPr lang="en-US" altLang="en-US" dirty="0"/>
              <a:t>Two main issues to deal with:</a:t>
            </a:r>
          </a:p>
          <a:p>
            <a:pPr lvl="1"/>
            <a:r>
              <a:rPr lang="en-US" altLang="en-US" dirty="0"/>
              <a:t>Failures of various kinds, such as hardware failures and system crashes</a:t>
            </a:r>
          </a:p>
          <a:p>
            <a:pPr lvl="1"/>
            <a:r>
              <a:rPr lang="en-US" altLang="en-US" dirty="0"/>
              <a:t>Concurrent execution of multiple transactions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39192" y="1102497"/>
            <a:ext cx="7838983" cy="5367972"/>
          </a:xfrm>
        </p:spPr>
        <p:txBody>
          <a:bodyPr/>
          <a:lstStyle/>
          <a:p>
            <a:r>
              <a:rPr lang="en-US" altLang="en-US" sz="1600" dirty="0"/>
              <a:t>Transaction to transfer $50 from account A to account </a:t>
            </a:r>
            <a:r>
              <a:rPr lang="en-US" altLang="en-US" sz="1600" dirty="0" smtClean="0"/>
              <a:t>B.  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t=0, A=B=100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1.	</a:t>
            </a:r>
            <a:r>
              <a:rPr lang="en-US" altLang="en-US" sz="1400" b="1" dirty="0"/>
              <a:t>read</a:t>
            </a:r>
            <a:r>
              <a:rPr lang="en-US" altLang="en-US" sz="1400" dirty="0"/>
              <a:t>(</a:t>
            </a:r>
            <a:r>
              <a:rPr lang="en-US" altLang="en-US" sz="1400" i="1" dirty="0"/>
              <a:t>A</a:t>
            </a:r>
            <a:r>
              <a:rPr lang="en-US" altLang="en-US" sz="14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2.	</a:t>
            </a:r>
            <a:r>
              <a:rPr lang="en-US" altLang="en-US" sz="1400" i="1" dirty="0"/>
              <a:t>A</a:t>
            </a:r>
            <a:r>
              <a:rPr lang="en-US" altLang="en-US" sz="1400" dirty="0"/>
              <a:t> := </a:t>
            </a:r>
            <a:r>
              <a:rPr lang="en-US" altLang="en-US" sz="1400" i="1" dirty="0"/>
              <a:t>A – </a:t>
            </a:r>
            <a:r>
              <a:rPr lang="en-US" altLang="en-US" sz="14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3.	</a:t>
            </a:r>
            <a:r>
              <a:rPr lang="en-US" altLang="en-US" sz="1400" b="1" dirty="0"/>
              <a:t>write</a:t>
            </a:r>
            <a:r>
              <a:rPr lang="en-US" altLang="en-US" sz="1400" dirty="0"/>
              <a:t>(</a:t>
            </a:r>
            <a:r>
              <a:rPr lang="en-US" altLang="en-US" sz="1400" i="1" dirty="0"/>
              <a:t>A</a:t>
            </a:r>
            <a:r>
              <a:rPr lang="en-US" altLang="en-US" sz="14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4.	</a:t>
            </a:r>
            <a:r>
              <a:rPr lang="en-US" altLang="en-US" sz="1400" b="1" dirty="0"/>
              <a:t>read</a:t>
            </a:r>
            <a:r>
              <a:rPr lang="en-US" altLang="en-US" sz="1400" dirty="0"/>
              <a:t>(</a:t>
            </a:r>
            <a:r>
              <a:rPr lang="en-US" altLang="en-US" sz="1400" i="1" dirty="0"/>
              <a:t>B</a:t>
            </a:r>
            <a:r>
              <a:rPr lang="en-US" altLang="en-US" sz="14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5.	</a:t>
            </a:r>
            <a:r>
              <a:rPr lang="en-US" altLang="en-US" sz="1400" i="1" dirty="0"/>
              <a:t>B</a:t>
            </a:r>
            <a:r>
              <a:rPr lang="en-US" altLang="en-US" sz="1400" dirty="0"/>
              <a:t> := </a:t>
            </a:r>
            <a:r>
              <a:rPr lang="en-US" altLang="en-US" sz="1400" i="1" dirty="0"/>
              <a:t>B + </a:t>
            </a:r>
            <a:r>
              <a:rPr lang="en-US" altLang="en-US" sz="14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6.	</a:t>
            </a:r>
            <a:r>
              <a:rPr lang="en-US" altLang="en-US" sz="1400" b="1" dirty="0"/>
              <a:t>write</a:t>
            </a:r>
            <a:r>
              <a:rPr lang="en-US" altLang="en-US" sz="1400" dirty="0"/>
              <a:t>(</a:t>
            </a:r>
            <a:r>
              <a:rPr lang="en-US" altLang="en-US" sz="1400" i="1" dirty="0"/>
              <a:t>B)</a:t>
            </a:r>
          </a:p>
          <a:p>
            <a:r>
              <a:rPr lang="en-US" altLang="en-US" sz="1600" b="1" dirty="0">
                <a:solidFill>
                  <a:srgbClr val="000099"/>
                </a:solidFill>
              </a:rPr>
              <a:t>Atomicity requirement</a:t>
            </a:r>
            <a:r>
              <a:rPr lang="en-US" altLang="en-US" sz="1600" dirty="0"/>
              <a:t> </a:t>
            </a:r>
          </a:p>
          <a:p>
            <a:pPr lvl="1"/>
            <a:r>
              <a:rPr lang="en-US" altLang="en-US" sz="1600" dirty="0"/>
              <a:t>If the transaction fails after step 3 and before step 6, money will be </a:t>
            </a:r>
            <a:r>
              <a:rPr lang="ja-JP" altLang="en-US" sz="1600" dirty="0"/>
              <a:t>“</a:t>
            </a:r>
            <a:r>
              <a:rPr lang="en-US" altLang="ja-JP" sz="1600" dirty="0"/>
              <a:t>lost</a:t>
            </a:r>
            <a:r>
              <a:rPr lang="ja-JP" altLang="en-US" sz="1600" dirty="0"/>
              <a:t>”</a:t>
            </a:r>
            <a:r>
              <a:rPr lang="en-US" altLang="ja-JP" sz="1600" dirty="0"/>
              <a:t> leading to an inconsistent database state</a:t>
            </a:r>
          </a:p>
          <a:p>
            <a:pPr lvl="2"/>
            <a:r>
              <a:rPr lang="en-US" altLang="en-US" sz="1600" dirty="0"/>
              <a:t>Failure could be due to software or hardware</a:t>
            </a:r>
          </a:p>
          <a:p>
            <a:pPr lvl="1"/>
            <a:r>
              <a:rPr lang="en-US" altLang="en-US" sz="1600" dirty="0"/>
              <a:t>The system should ensure that updates of a partially executed transaction are not reflected in the database</a:t>
            </a:r>
          </a:p>
          <a:p>
            <a:r>
              <a:rPr lang="en-US" altLang="en-US" sz="1600" b="1" dirty="0">
                <a:solidFill>
                  <a:srgbClr val="000099"/>
                </a:solidFill>
              </a:rPr>
              <a:t>Durability requirement</a:t>
            </a:r>
            <a:r>
              <a:rPr lang="en-US" altLang="en-US" sz="1600" dirty="0"/>
              <a:t> — once the user has been notified that the transaction has completed (i.e., the transfer of the $50 has taken place), the updates to the database by the transaction must persist even if there are software or hardware failures.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4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82983" name="Ink 382982"/>
              <p14:cNvContentPartPr/>
              <p14:nvPr/>
            </p14:nvContentPartPr>
            <p14:xfrm>
              <a:off x="1139566" y="3488954"/>
              <a:ext cx="56520" cy="360"/>
            </p14:xfrm>
          </p:contentPart>
        </mc:Choice>
        <mc:Fallback xmlns="">
          <p:pic>
            <p:nvPicPr>
              <p:cNvPr id="382983" name="Ink 382982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31286" y="3480674"/>
                <a:ext cx="73080" cy="1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 (Cont.)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79184" cy="5367972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0099"/>
                </a:solidFill>
              </a:rPr>
              <a:t>Consistency requirement</a:t>
            </a:r>
            <a:r>
              <a:rPr lang="en-US" altLang="en-US" sz="1600" dirty="0"/>
              <a:t> in above example:</a:t>
            </a:r>
          </a:p>
          <a:p>
            <a:pPr lvl="1"/>
            <a:r>
              <a:rPr lang="en-US" altLang="en-US" sz="1600" dirty="0"/>
              <a:t> The sum of A and B is unchanged by the execution of the </a:t>
            </a:r>
            <a:r>
              <a:rPr lang="en-US" altLang="en-US" sz="1600" dirty="0" smtClean="0"/>
              <a:t>transaction </a:t>
            </a:r>
            <a:r>
              <a:rPr lang="en-US" altLang="en-US" sz="1600" b="1" dirty="0" smtClean="0">
                <a:solidFill>
                  <a:srgbClr val="FF0000"/>
                </a:solidFill>
              </a:rPr>
              <a:t>(A+B=200)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r>
              <a:rPr lang="en-US" altLang="en-US" sz="1600" dirty="0"/>
              <a:t>In general, consistency requirements include </a:t>
            </a:r>
          </a:p>
          <a:p>
            <a:pPr lvl="1"/>
            <a:r>
              <a:rPr lang="en-US" altLang="en-US" sz="1600" dirty="0"/>
              <a:t>Explicitly specified integrity constraints such as primary keys and foreign keys</a:t>
            </a:r>
          </a:p>
          <a:p>
            <a:pPr lvl="1"/>
            <a:r>
              <a:rPr lang="en-US" altLang="en-US" sz="1600" dirty="0"/>
              <a:t>Implicit integrity constraints</a:t>
            </a:r>
          </a:p>
          <a:p>
            <a:pPr lvl="2"/>
            <a:r>
              <a:rPr lang="en-US" altLang="en-US" sz="1600" dirty="0"/>
              <a:t>e.g., sum of balances of all accounts, minus sum of loan amounts must equal value of cash-in-hand</a:t>
            </a:r>
          </a:p>
          <a:p>
            <a:pPr lvl="1"/>
            <a:r>
              <a:rPr lang="en-US" altLang="en-US" sz="1600" dirty="0"/>
              <a:t>A transaction must see a consistent database.</a:t>
            </a:r>
          </a:p>
          <a:p>
            <a:pPr lvl="1"/>
            <a:r>
              <a:rPr lang="en-US" altLang="en-US" sz="1600" dirty="0"/>
              <a:t>During transaction execution the database may be temporarily inconsistent.</a:t>
            </a:r>
          </a:p>
          <a:p>
            <a:pPr lvl="1"/>
            <a:r>
              <a:rPr lang="en-US" altLang="en-US" sz="1600" dirty="0"/>
              <a:t>When the transaction completes successfully the database must be consistent</a:t>
            </a:r>
          </a:p>
          <a:p>
            <a:pPr lvl="2"/>
            <a:r>
              <a:rPr lang="en-US" altLang="en-US" sz="1600" dirty="0"/>
              <a:t>Erroneous transaction logic can lead to inconsistency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altLang="en-US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 (Cont.)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812350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Isolation requirement</a:t>
            </a:r>
            <a:r>
              <a:rPr lang="en-US" altLang="en-US" dirty="0"/>
              <a:t> — if between steps 3 and 6, another transaction T2 is allowed to access the partially updated database, it will see an inconsistent database (the sum  </a:t>
            </a:r>
            <a:r>
              <a:rPr lang="en-US" altLang="en-US" i="1" dirty="0"/>
              <a:t>A + B</a:t>
            </a:r>
            <a:r>
              <a:rPr lang="en-US" altLang="en-US" dirty="0"/>
              <a:t> will be less than it should be</a:t>
            </a:r>
            <a:r>
              <a:rPr lang="en-US" altLang="en-US" dirty="0" smtClean="0"/>
              <a:t>).</a:t>
            </a:r>
          </a:p>
          <a:p>
            <a:pPr marL="0" indent="0"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dirty="0" smtClean="0"/>
              <a:t>      </a:t>
            </a:r>
            <a:r>
              <a:rPr lang="en-US" altLang="en-US" b="1" dirty="0"/>
              <a:t>T1                                        T2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  <a:br>
              <a:rPr lang="en-US" altLang="en-US" sz="1600" dirty="0"/>
            </a:br>
            <a:r>
              <a:rPr lang="en-US" altLang="en-US" sz="1600" dirty="0"/>
              <a:t>                                      read(A), read(B), print(A+B)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Isolation can be ensured trivially by running transactions </a:t>
            </a:r>
            <a:r>
              <a:rPr lang="en-US" altLang="en-US" b="1" dirty="0">
                <a:solidFill>
                  <a:srgbClr val="000099"/>
                </a:solidFill>
              </a:rPr>
              <a:t>serially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That is, one after the other.   </a:t>
            </a:r>
          </a:p>
          <a:p>
            <a:r>
              <a:rPr lang="en-US" altLang="en-US" dirty="0"/>
              <a:t>However, executing multiple transactions concurrently has significant benefits, as we will see later</a:t>
            </a:r>
            <a:r>
              <a:rPr lang="en-US" altLang="en-US" dirty="0" smtClean="0"/>
              <a:t>. 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6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217" name="Ink 9216"/>
              <p14:cNvContentPartPr/>
              <p14:nvPr/>
            </p14:nvContentPartPr>
            <p14:xfrm>
              <a:off x="4501606" y="3559154"/>
              <a:ext cx="360" cy="360"/>
            </p14:xfrm>
          </p:contentPart>
        </mc:Choice>
        <mc:Fallback xmlns="">
          <p:pic>
            <p:nvPicPr>
              <p:cNvPr id="9217" name="Ink 9216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93326" y="3550874"/>
                <a:ext cx="16920" cy="1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ACID Properties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901295"/>
            <a:ext cx="7856738" cy="4569174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Atomicity</a:t>
            </a:r>
            <a:r>
              <a:rPr lang="en-US" altLang="en-US" b="1" dirty="0"/>
              <a:t>. </a:t>
            </a:r>
            <a:r>
              <a:rPr lang="en-US" altLang="en-US" dirty="0"/>
              <a:t> Either all operations of the transaction are properly reflected in the database or none are.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Consistency</a:t>
            </a:r>
            <a:r>
              <a:rPr lang="en-US" altLang="en-US" b="1" dirty="0"/>
              <a:t>.</a:t>
            </a:r>
            <a:r>
              <a:rPr lang="en-US" altLang="en-US" dirty="0"/>
              <a:t>  Execution of a transaction in isolation preserves the consistency of the database.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Isolation</a:t>
            </a:r>
            <a:r>
              <a:rPr lang="en-US" altLang="en-US" b="1" dirty="0"/>
              <a:t>.</a:t>
            </a:r>
            <a:r>
              <a:rPr lang="en-US" altLang="en-US" dirty="0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</a:p>
          <a:p>
            <a:pPr lvl="1"/>
            <a:r>
              <a:rPr lang="en-US" altLang="en-US" dirty="0"/>
              <a:t>That is, for every pair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it appears to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that either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finished execution before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started, 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started execution after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finished.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Durability</a:t>
            </a:r>
            <a:r>
              <a:rPr lang="en-US" altLang="en-US" b="1" dirty="0"/>
              <a:t>.  </a:t>
            </a:r>
            <a:r>
              <a:rPr lang="en-US" altLang="en-US" dirty="0"/>
              <a:t>After a transaction completes successfully, the changes it has made to the database persist, even if there are system failures. </a:t>
            </a:r>
            <a:endParaRPr lang="en-US" altLang="en-US" i="1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01336" y="1024131"/>
            <a:ext cx="7670307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700" dirty="0"/>
              <a:t>A  </a:t>
            </a:r>
            <a:r>
              <a:rPr kumimoji="1" lang="en-US" altLang="en-US" sz="1700" b="1" dirty="0">
                <a:solidFill>
                  <a:srgbClr val="000099"/>
                </a:solidFill>
              </a:rPr>
              <a:t>transaction</a:t>
            </a:r>
            <a:r>
              <a:rPr lang="en-US" altLang="en-US" sz="1700" dirty="0"/>
              <a:t>  is a unit of program execution that accesses and possibly updates various data </a:t>
            </a:r>
            <a:r>
              <a:rPr lang="en-US" altLang="en-US" sz="1700" dirty="0" smtClean="0"/>
              <a:t>items. To </a:t>
            </a:r>
            <a:r>
              <a:rPr lang="en-US" altLang="en-US" sz="1700" dirty="0"/>
              <a:t>preserve the integrity of data the database system must ensure: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State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23574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Active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the initial state; the transaction stays in this state while it is executing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Partially committed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after the final statement has been executed.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Failed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sz="1600" b="1" dirty="0"/>
              <a:t>-- </a:t>
            </a:r>
            <a:r>
              <a:rPr lang="en-US" altLang="en-US" dirty="0"/>
              <a:t>after the discovery that normal execution can no longer proceed.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Aborted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after the transaction has been rolled back and the database restored to its state prior to the start of the transaction.  Two options after it has been aborted:</a:t>
            </a:r>
          </a:p>
          <a:p>
            <a:pPr lvl="1"/>
            <a:r>
              <a:rPr lang="en-US" altLang="en-US" dirty="0"/>
              <a:t>R</a:t>
            </a:r>
            <a:r>
              <a:rPr lang="en-US" altLang="en-US" dirty="0" smtClean="0"/>
              <a:t>estart </a:t>
            </a:r>
            <a:r>
              <a:rPr lang="en-US" altLang="en-US" dirty="0"/>
              <a:t>the transaction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dirty="0" smtClean="0"/>
              <a:t>Can </a:t>
            </a:r>
            <a:r>
              <a:rPr lang="en-US" altLang="en-US" dirty="0"/>
              <a:t>be done only if no internal logical error</a:t>
            </a:r>
          </a:p>
          <a:p>
            <a:pPr lvl="1"/>
            <a:r>
              <a:rPr lang="en-US" altLang="en-US" dirty="0"/>
              <a:t>K</a:t>
            </a:r>
            <a:r>
              <a:rPr lang="en-US" altLang="en-US" dirty="0" smtClean="0"/>
              <a:t>ill </a:t>
            </a:r>
            <a:r>
              <a:rPr lang="en-US" altLang="en-US" dirty="0"/>
              <a:t>the transaction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Committed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after successful completion.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State (Cont.)</a:t>
            </a:r>
          </a:p>
        </p:txBody>
      </p:sp>
      <p:pic>
        <p:nvPicPr>
          <p:cNvPr id="1229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00" y="1503363"/>
            <a:ext cx="4619625" cy="317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9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86064" name="Ink 386063"/>
              <p14:cNvContentPartPr/>
              <p14:nvPr/>
            </p14:nvContentPartPr>
            <p14:xfrm>
              <a:off x="5725606" y="1814594"/>
              <a:ext cx="281520" cy="127080"/>
            </p14:xfrm>
          </p:contentPart>
        </mc:Choice>
        <mc:Fallback xmlns="">
          <p:pic>
            <p:nvPicPr>
              <p:cNvPr id="386064" name="Ink 38606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17326" y="1806314"/>
                <a:ext cx="298080" cy="14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Concurrent Executions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14696" cy="5367972"/>
          </a:xfrm>
        </p:spPr>
        <p:txBody>
          <a:bodyPr/>
          <a:lstStyle/>
          <a:p>
            <a:r>
              <a:rPr lang="en-US" altLang="en-US" dirty="0"/>
              <a:t>Multiple transactions are allowed to run concurrently in the system.  Advantages are:</a:t>
            </a:r>
          </a:p>
          <a:p>
            <a:pPr lvl="1"/>
            <a:r>
              <a:rPr lang="en-US" altLang="en-US" b="1" dirty="0"/>
              <a:t>Increased processor and disk utilization</a:t>
            </a:r>
            <a:r>
              <a:rPr lang="en-US" altLang="en-US" dirty="0"/>
              <a:t>, leading to better transaction </a:t>
            </a:r>
            <a:r>
              <a:rPr lang="en-US" altLang="en-US" i="1" dirty="0"/>
              <a:t>throughput</a:t>
            </a:r>
          </a:p>
          <a:p>
            <a:pPr lvl="2"/>
            <a:r>
              <a:rPr lang="en-US" altLang="en-US" dirty="0"/>
              <a:t>E</a:t>
            </a:r>
            <a:r>
              <a:rPr lang="en-US" altLang="en-US" dirty="0" smtClean="0"/>
              <a:t>.g</a:t>
            </a:r>
            <a:r>
              <a:rPr lang="en-US" altLang="en-US" dirty="0"/>
              <a:t>., one transaction can be using the CPU while another is reading from or writing to the disk</a:t>
            </a:r>
          </a:p>
          <a:p>
            <a:pPr lvl="1"/>
            <a:r>
              <a:rPr lang="en-US" altLang="en-US" b="1" dirty="0"/>
              <a:t>Reduced average response time</a:t>
            </a:r>
            <a:r>
              <a:rPr lang="en-US" altLang="en-US" dirty="0"/>
              <a:t> for transactions: short transactions need not wait behind long ones.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Concurrency control schemes</a:t>
            </a:r>
            <a:r>
              <a:rPr lang="en-US" altLang="en-US" i="1" dirty="0"/>
              <a:t> </a:t>
            </a:r>
            <a:r>
              <a:rPr lang="en-US" altLang="en-US" dirty="0"/>
              <a:t>– mechanisms  to achieve isolation</a:t>
            </a:r>
          </a:p>
          <a:p>
            <a:pPr lvl="1"/>
            <a:r>
              <a:rPr lang="en-US" altLang="en-US" dirty="0"/>
              <a:t>That is, to control the interaction among the concurrent transactions in order to prevent them from destroying the consistency of the </a:t>
            </a:r>
            <a:r>
              <a:rPr lang="en-US" altLang="en-US" dirty="0" smtClean="0"/>
              <a:t>database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>
            <a:spLocks noGrp="1"/>
          </p:cNvSpPr>
          <p:nvPr>
            <p:ph type="title"/>
          </p:nvPr>
        </p:nvSpPr>
        <p:spPr>
          <a:xfrm>
            <a:off x="448965" y="374900"/>
            <a:ext cx="82461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4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Disk Structure</a:t>
            </a:r>
            <a:r>
              <a:rPr lang="en-US" sz="1000" b="1" dirty="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 [1]</a:t>
            </a:r>
            <a:endParaRPr sz="1000" b="1" i="0" u="none" strike="noStrike" cap="none" dirty="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8"/>
          <p:cNvSpPr txBox="1">
            <a:spLocks noGrp="1"/>
          </p:cNvSpPr>
          <p:nvPr>
            <p:ph type="body" idx="1"/>
          </p:nvPr>
        </p:nvSpPr>
        <p:spPr>
          <a:xfrm>
            <a:off x="448966" y="1292473"/>
            <a:ext cx="8246100" cy="46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E691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	 	 	 	</a:t>
            </a:r>
            <a:endParaRPr sz="1800" b="1" dirty="0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8" descr="Image result for data stored on disk architectur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049" y="1292467"/>
            <a:ext cx="4270175" cy="41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2510438" y="5468467"/>
            <a:ext cx="33834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Figure 3. Disk Structure</a:t>
            </a:r>
            <a:endParaRPr sz="10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0" y="6119446"/>
            <a:ext cx="9023100" cy="67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[1] http://casem3.blogspot.com/2016/10/magnetic-disk-primary-computer-storage.html</a:t>
            </a:r>
            <a:endParaRPr sz="1000" b="1" dirty="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000" b="1"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3052606" y="2124194"/>
              <a:ext cx="436680" cy="1022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44326" y="2115914"/>
                <a:ext cx="453240" cy="1188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smtClean="0"/>
              <a:t>12/4/2020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0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7803473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Schedule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 sequences of instructions that specify the chronological order in which instructions of concurrent transactions are executed</a:t>
            </a:r>
          </a:p>
          <a:p>
            <a:pPr lvl="1"/>
            <a:r>
              <a:rPr lang="en-US" altLang="en-US" dirty="0"/>
              <a:t>A schedule for a set of transactions must consist of all instructions of those transactions</a:t>
            </a:r>
          </a:p>
          <a:p>
            <a:pPr lvl="1"/>
            <a:r>
              <a:rPr lang="en-US" altLang="en-US" dirty="0"/>
              <a:t>Must preserve the order in which the instructions appear in each individual transaction.</a:t>
            </a:r>
          </a:p>
          <a:p>
            <a:r>
              <a:rPr lang="en-US" altLang="en-US" dirty="0"/>
              <a:t>A transaction that successfully completes its execution will have a commit instructions as the last statement </a:t>
            </a:r>
          </a:p>
          <a:p>
            <a:pPr lvl="1"/>
            <a:r>
              <a:rPr lang="en-US" altLang="en-US" dirty="0"/>
              <a:t>By default transaction assumed to execute commit instruction as its last step</a:t>
            </a:r>
          </a:p>
          <a:p>
            <a:r>
              <a:rPr lang="en-US" altLang="en-US" dirty="0"/>
              <a:t>A transaction that fails to successfully complete its execution will have an abort instruction as the last statement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1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48070" y="1102497"/>
            <a:ext cx="7563775" cy="5367972"/>
          </a:xfrm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Let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transfer $50 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</a:t>
            </a:r>
            <a:r>
              <a:rPr lang="en-US" altLang="en-US" dirty="0"/>
              <a:t>,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transfer 10% of the balance 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B.</a:t>
            </a:r>
            <a:r>
              <a:rPr lang="en-US" altLang="en-US" dirty="0"/>
              <a:t>  </a:t>
            </a: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b="1" dirty="0" smtClean="0">
                <a:solidFill>
                  <a:srgbClr val="00B0F0"/>
                </a:solidFill>
              </a:rPr>
              <a:t>At  t=0, A=B=100, A+B= 200,  </a:t>
            </a:r>
            <a:r>
              <a:rPr lang="en-US" altLang="en-US" b="1" dirty="0" smtClean="0">
                <a:solidFill>
                  <a:srgbClr val="00B050"/>
                </a:solidFill>
              </a:rPr>
              <a:t>A=45, B=155</a:t>
            </a:r>
            <a:endParaRPr lang="en-US" altLang="en-US" b="1" dirty="0">
              <a:solidFill>
                <a:srgbClr val="00B050"/>
              </a:solidFill>
            </a:endParaRPr>
          </a:p>
          <a:p>
            <a:pPr>
              <a:lnSpc>
                <a:spcPct val="8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000099"/>
                </a:solidFill>
              </a:rPr>
              <a:t>serial </a:t>
            </a:r>
            <a:r>
              <a:rPr lang="en-US" altLang="en-US" dirty="0"/>
              <a:t>schedule in which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is followed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:</a:t>
            </a:r>
          </a:p>
          <a:p>
            <a:pPr>
              <a:lnSpc>
                <a:spcPct val="8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400" dirty="0"/>
              <a:t>		</a:t>
            </a:r>
          </a:p>
        </p:txBody>
      </p:sp>
      <p:pic>
        <p:nvPicPr>
          <p:cNvPr id="15364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856" y="2757268"/>
            <a:ext cx="2670472" cy="334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13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1179" name="Ink 391178"/>
              <p14:cNvContentPartPr/>
              <p14:nvPr/>
            </p14:nvContentPartPr>
            <p14:xfrm>
              <a:off x="3474886" y="2968394"/>
              <a:ext cx="14400" cy="360"/>
            </p14:xfrm>
          </p:contentPart>
        </mc:Choice>
        <mc:Fallback xmlns="">
          <p:pic>
            <p:nvPicPr>
              <p:cNvPr id="391179" name="Ink 39117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66606" y="2960114"/>
                <a:ext cx="3096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1180" name="Ink 391179"/>
              <p14:cNvContentPartPr/>
              <p14:nvPr/>
            </p14:nvContentPartPr>
            <p14:xfrm>
              <a:off x="5219086" y="2982434"/>
              <a:ext cx="360" cy="360"/>
            </p14:xfrm>
          </p:contentPart>
        </mc:Choice>
        <mc:Fallback xmlns="">
          <p:pic>
            <p:nvPicPr>
              <p:cNvPr id="391180" name="Ink 39117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10806" y="2974154"/>
                <a:ext cx="16920" cy="1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2</a:t>
            </a:r>
          </a:p>
        </p:txBody>
      </p:sp>
      <p:sp>
        <p:nvSpPr>
          <p:cNvPr id="16387" name="Rectangle 4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A serial schedule where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  <a:r>
              <a:rPr lang="en-US" altLang="en-US" dirty="0"/>
              <a:t> is followed by </a:t>
            </a:r>
            <a:r>
              <a:rPr lang="en-US" altLang="en-US" i="1" dirty="0" smtClean="0"/>
              <a:t>T</a:t>
            </a:r>
            <a:r>
              <a:rPr lang="en-US" altLang="en-US" baseline="-25000" dirty="0" smtClean="0"/>
              <a:t>1</a:t>
            </a:r>
          </a:p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baseline="-25000" dirty="0"/>
          </a:p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b="1" dirty="0">
                <a:solidFill>
                  <a:srgbClr val="00B0F0"/>
                </a:solidFill>
              </a:rPr>
              <a:t>At  t=0, A=B=100, A+B= 200,  </a:t>
            </a:r>
            <a:r>
              <a:rPr lang="en-US" altLang="en-US" b="1" dirty="0" smtClean="0">
                <a:solidFill>
                  <a:srgbClr val="00B050"/>
                </a:solidFill>
              </a:rPr>
              <a:t>A=40, B=160</a:t>
            </a:r>
            <a:endParaRPr lang="en-US" altLang="en-US" b="1" dirty="0">
              <a:solidFill>
                <a:srgbClr val="00B050"/>
              </a:solidFill>
            </a:endParaRPr>
          </a:p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6388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2301020"/>
            <a:ext cx="2898775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3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847860" cy="5367972"/>
          </a:xfrm>
          <a:noFill/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Let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be the transactions defined previously</a:t>
            </a:r>
            <a:r>
              <a:rPr lang="en-US" altLang="en-US" i="1" dirty="0"/>
              <a:t>.</a:t>
            </a:r>
            <a:r>
              <a:rPr lang="en-US" altLang="en-US" dirty="0"/>
              <a:t>  The following schedule is not a serial schedule, but it is </a:t>
            </a:r>
            <a:r>
              <a:rPr lang="en-US" altLang="en-US" i="1" dirty="0">
                <a:solidFill>
                  <a:srgbClr val="000099"/>
                </a:solidFill>
              </a:rPr>
              <a:t>equivalent</a:t>
            </a:r>
            <a:r>
              <a:rPr lang="en-US" altLang="en-US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to Schedule </a:t>
            </a:r>
            <a:r>
              <a:rPr lang="en-US" altLang="en-US" dirty="0" smtClean="0"/>
              <a:t>1</a:t>
            </a:r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600" dirty="0" smtClean="0">
                <a:latin typeface="Arial" panose="020B0604020202020204" pitchFamily="34" charset="0"/>
              </a:rPr>
              <a:t>In </a:t>
            </a:r>
            <a:r>
              <a:rPr lang="en-US" altLang="en-US" sz="1600" dirty="0">
                <a:latin typeface="Arial" panose="020B0604020202020204" pitchFamily="34" charset="0"/>
              </a:rPr>
              <a:t>Schedules 1, 2 and 3, the sum A + B is preserved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741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3" y="1905000"/>
            <a:ext cx="2779712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15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/>
              <p14:cNvContentPartPr/>
              <p14:nvPr/>
            </p14:nvContentPartPr>
            <p14:xfrm>
              <a:off x="3671806" y="3756074"/>
              <a:ext cx="1125720" cy="3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63526" y="3747794"/>
                <a:ext cx="1142280" cy="1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4</a:t>
            </a:r>
          </a:p>
        </p:txBody>
      </p:sp>
      <p:sp>
        <p:nvSpPr>
          <p:cNvPr id="18435" name="Rectangle 4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161969" cy="5367972"/>
          </a:xfrm>
          <a:noFill/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The following concurrent schedule does not preserve the value of (</a:t>
            </a:r>
            <a:r>
              <a:rPr lang="en-US" altLang="en-US" i="1" dirty="0"/>
              <a:t>A </a:t>
            </a:r>
            <a:r>
              <a:rPr lang="en-US" altLang="en-US" dirty="0"/>
              <a:t>+ </a:t>
            </a:r>
            <a:r>
              <a:rPr lang="en-US" altLang="en-US" i="1" dirty="0"/>
              <a:t>B</a:t>
            </a:r>
            <a:r>
              <a:rPr lang="en-US" altLang="en-US" dirty="0"/>
              <a:t> </a:t>
            </a:r>
            <a:r>
              <a:rPr lang="en-US" altLang="en-US" i="1" dirty="0" smtClean="0"/>
              <a:t>)</a:t>
            </a:r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 smtClean="0"/>
              <a:t>.</a:t>
            </a:r>
            <a:r>
              <a:rPr lang="en-US" altLang="en-US" dirty="0"/>
              <a:t>			</a:t>
            </a:r>
            <a:endParaRPr lang="en-US" altLang="en-US" i="1" dirty="0"/>
          </a:p>
        </p:txBody>
      </p:sp>
      <p:pic>
        <p:nvPicPr>
          <p:cNvPr id="18436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106" y="2080526"/>
            <a:ext cx="2713038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Serializability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046083" cy="5367972"/>
          </a:xfrm>
        </p:spPr>
        <p:txBody>
          <a:bodyPr/>
          <a:lstStyle/>
          <a:p>
            <a:r>
              <a:rPr lang="en-US" altLang="en-US" b="1" dirty="0"/>
              <a:t>Basic Assumption</a:t>
            </a:r>
            <a:r>
              <a:rPr lang="en-US" altLang="en-US" dirty="0"/>
              <a:t> – Each transaction preserves database consistency.</a:t>
            </a:r>
          </a:p>
          <a:p>
            <a:r>
              <a:rPr lang="en-US" altLang="en-US" dirty="0"/>
              <a:t>Thus, serial execution of a set of transactions preserves database consistency.</a:t>
            </a:r>
          </a:p>
          <a:p>
            <a:r>
              <a:rPr lang="en-US" altLang="en-US" dirty="0"/>
              <a:t>A (possibly concurrent) schedule is serializable if it is equivalent to a serial schedule.  Different forms of schedule equivalence give rise to the notions of:</a:t>
            </a:r>
          </a:p>
          <a:p>
            <a:pPr lvl="1">
              <a:buFont typeface="Monotype Sorts" charset="2"/>
              <a:buNone/>
            </a:pPr>
            <a:r>
              <a:rPr lang="en-US" altLang="en-US" dirty="0"/>
              <a:t>1.	</a:t>
            </a:r>
            <a:r>
              <a:rPr lang="en-US" altLang="en-US" b="1" dirty="0">
                <a:solidFill>
                  <a:srgbClr val="000099"/>
                </a:solidFill>
              </a:rPr>
              <a:t>C</a:t>
            </a:r>
            <a:r>
              <a:rPr lang="en-US" altLang="en-US" b="1" dirty="0" smtClean="0">
                <a:solidFill>
                  <a:srgbClr val="000099"/>
                </a:solidFill>
              </a:rPr>
              <a:t>onflict </a:t>
            </a:r>
            <a:r>
              <a:rPr lang="en-US" altLang="en-US" b="1" dirty="0">
                <a:solidFill>
                  <a:srgbClr val="000099"/>
                </a:solidFill>
              </a:rPr>
              <a:t>serializability</a:t>
            </a:r>
          </a:p>
          <a:p>
            <a:pPr lvl="1">
              <a:buFont typeface="Monotype Sorts" charset="2"/>
              <a:buNone/>
            </a:pPr>
            <a:r>
              <a:rPr lang="en-US" altLang="en-US" dirty="0"/>
              <a:t>2.	</a:t>
            </a:r>
            <a:r>
              <a:rPr lang="en-US" altLang="en-US" b="1" dirty="0">
                <a:solidFill>
                  <a:srgbClr val="000099"/>
                </a:solidFill>
              </a:rPr>
              <a:t>V</a:t>
            </a:r>
            <a:r>
              <a:rPr lang="en-US" altLang="en-US" b="1" dirty="0" smtClean="0">
                <a:solidFill>
                  <a:srgbClr val="000099"/>
                </a:solidFill>
              </a:rPr>
              <a:t>iew </a:t>
            </a:r>
            <a:r>
              <a:rPr lang="en-US" altLang="en-US" b="1" dirty="0">
                <a:solidFill>
                  <a:srgbClr val="000099"/>
                </a:solidFill>
              </a:rPr>
              <a:t>serializability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Simplified view of transactions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874494" cy="5367972"/>
          </a:xfrm>
        </p:spPr>
        <p:txBody>
          <a:bodyPr/>
          <a:lstStyle/>
          <a:p>
            <a:r>
              <a:rPr lang="en-US" altLang="en-US" dirty="0"/>
              <a:t>We ignore operations other than </a:t>
            </a:r>
            <a:r>
              <a:rPr lang="en-US" altLang="en-US" b="1" dirty="0"/>
              <a:t>read</a:t>
            </a:r>
            <a:r>
              <a:rPr lang="en-US" altLang="en-US" dirty="0"/>
              <a:t> and </a:t>
            </a:r>
            <a:r>
              <a:rPr lang="en-US" altLang="en-US" b="1" dirty="0"/>
              <a:t>write</a:t>
            </a:r>
            <a:r>
              <a:rPr lang="en-US" altLang="en-US" dirty="0"/>
              <a:t> instructions</a:t>
            </a:r>
          </a:p>
          <a:p>
            <a:r>
              <a:rPr lang="en-US" altLang="en-US" dirty="0"/>
              <a:t>We assume that transactions may perform arbitrary computations on data in local buffers in between reads and writes.  </a:t>
            </a:r>
          </a:p>
          <a:p>
            <a:r>
              <a:rPr lang="en-US" altLang="en-US" dirty="0"/>
              <a:t>Our simplified schedules consist of only </a:t>
            </a:r>
            <a:r>
              <a:rPr lang="en-US" altLang="en-US" b="1" dirty="0"/>
              <a:t>read</a:t>
            </a:r>
            <a:r>
              <a:rPr lang="en-US" altLang="en-US" dirty="0"/>
              <a:t> and </a:t>
            </a:r>
            <a:r>
              <a:rPr lang="en-US" altLang="en-US" b="1" dirty="0"/>
              <a:t>write </a:t>
            </a:r>
            <a:r>
              <a:rPr lang="en-US" altLang="en-US" dirty="0"/>
              <a:t>instructions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r>
              <a:rPr lang="en-US" dirty="0"/>
              <a:t>read(</a:t>
            </a:r>
            <a:r>
              <a:rPr lang="en-US" i="1" dirty="0"/>
              <a:t>X</a:t>
            </a:r>
            <a:r>
              <a:rPr lang="en-US" dirty="0"/>
              <a:t>), which transfers the data item </a:t>
            </a:r>
            <a:r>
              <a:rPr lang="en-US" i="1" dirty="0"/>
              <a:t>X </a:t>
            </a:r>
            <a:r>
              <a:rPr lang="en-US" dirty="0"/>
              <a:t>from the database to a variable, </a:t>
            </a:r>
            <a:r>
              <a:rPr lang="en-US" dirty="0" smtClean="0"/>
              <a:t>also called </a:t>
            </a:r>
            <a:r>
              <a:rPr lang="en-US" i="1" dirty="0"/>
              <a:t>X</a:t>
            </a:r>
            <a:r>
              <a:rPr lang="en-US" dirty="0"/>
              <a:t>, in a buffer in main memory belonging to the transaction that </a:t>
            </a:r>
            <a:r>
              <a:rPr lang="en-US" dirty="0" smtClean="0"/>
              <a:t>executed the </a:t>
            </a:r>
            <a:r>
              <a:rPr lang="en-US" dirty="0"/>
              <a:t>read operation.</a:t>
            </a:r>
          </a:p>
          <a:p>
            <a:r>
              <a:rPr lang="en-US" dirty="0"/>
              <a:t>• write(</a:t>
            </a:r>
            <a:r>
              <a:rPr lang="en-US" i="1" dirty="0"/>
              <a:t>X</a:t>
            </a:r>
            <a:r>
              <a:rPr lang="en-US" dirty="0"/>
              <a:t>), which transfers the value in the variable </a:t>
            </a:r>
            <a:r>
              <a:rPr lang="en-US" i="1" dirty="0"/>
              <a:t>X </a:t>
            </a:r>
            <a:r>
              <a:rPr lang="en-US" dirty="0"/>
              <a:t>in the main-memory </a:t>
            </a:r>
            <a:r>
              <a:rPr lang="en-US" dirty="0" smtClean="0"/>
              <a:t>buffer of </a:t>
            </a:r>
            <a:r>
              <a:rPr lang="en-US" dirty="0"/>
              <a:t>the transaction that executed the write to the data item </a:t>
            </a:r>
            <a:r>
              <a:rPr lang="en-US" i="1" dirty="0"/>
              <a:t>X </a:t>
            </a:r>
            <a:r>
              <a:rPr lang="en-US" dirty="0"/>
              <a:t>in the database.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Conflicting Instructions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50206" cy="5367972"/>
          </a:xfrm>
        </p:spPr>
        <p:txBody>
          <a:bodyPr/>
          <a:lstStyle/>
          <a:p>
            <a:r>
              <a:rPr lang="en-US" altLang="en-US" dirty="0"/>
              <a:t>Instructions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respectively, </a:t>
            </a:r>
            <a:r>
              <a:rPr lang="en-US" altLang="en-US" b="1" dirty="0">
                <a:solidFill>
                  <a:srgbClr val="000099"/>
                </a:solidFill>
              </a:rPr>
              <a:t>conflict</a:t>
            </a:r>
            <a:r>
              <a:rPr lang="en-US" altLang="en-US" dirty="0"/>
              <a:t> if and only if there exists some item </a:t>
            </a:r>
            <a:r>
              <a:rPr lang="en-US" altLang="en-US" i="1" dirty="0"/>
              <a:t>Q</a:t>
            </a:r>
            <a:r>
              <a:rPr lang="en-US" altLang="en-US" dirty="0"/>
              <a:t> accessed by both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and at least one of these instructions wrote </a:t>
            </a:r>
            <a:r>
              <a:rPr lang="en-US" altLang="en-US" i="1" dirty="0"/>
              <a:t>Q.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	   1.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=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Q),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=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).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conflict.</a:t>
            </a:r>
            <a:br>
              <a:rPr lang="en-US" altLang="ja-JP" dirty="0"/>
            </a:br>
            <a:r>
              <a:rPr lang="en-US" altLang="ja-JP" dirty="0"/>
              <a:t>   2.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read</a:t>
            </a:r>
            <a:r>
              <a:rPr lang="en-US" altLang="ja-JP" dirty="0"/>
              <a:t>(</a:t>
            </a:r>
            <a:r>
              <a:rPr lang="en-US" altLang="ja-JP" i="1" dirty="0"/>
              <a:t>Q), 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They conflict.</a:t>
            </a:r>
            <a:br>
              <a:rPr lang="en-US" altLang="ja-JP" dirty="0"/>
            </a:br>
            <a:r>
              <a:rPr lang="en-US" altLang="ja-JP" dirty="0"/>
              <a:t>   3.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Q),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read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 They conflict</a:t>
            </a:r>
            <a:br>
              <a:rPr lang="en-US" altLang="ja-JP" dirty="0"/>
            </a:br>
            <a:r>
              <a:rPr lang="en-US" altLang="ja-JP" dirty="0"/>
              <a:t>   4.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Q),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They conflict</a:t>
            </a:r>
          </a:p>
          <a:p>
            <a:r>
              <a:rPr lang="en-US" altLang="en-US" dirty="0"/>
              <a:t>Intuitively, a conflict between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forces a (logical) temporal order between them.  </a:t>
            </a:r>
          </a:p>
          <a:p>
            <a:r>
              <a:rPr lang="en-US" altLang="en-US" dirty="0" smtClean="0"/>
              <a:t>If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are consecutive in a schedule and they do not conflict, their results would remain the same even if they had been interchanged in the schedule.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50206" cy="5367972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If a schedule </a:t>
            </a:r>
            <a:r>
              <a:rPr lang="en-US" altLang="en-US" i="1" dirty="0"/>
              <a:t>S</a:t>
            </a:r>
            <a:r>
              <a:rPr lang="en-US" altLang="en-US" dirty="0"/>
              <a:t> can be transformed into a schedule </a:t>
            </a:r>
            <a:r>
              <a:rPr lang="en-US" altLang="en-US" i="1" dirty="0"/>
              <a:t>S’ </a:t>
            </a:r>
            <a:r>
              <a:rPr lang="en-US" altLang="en-US" dirty="0"/>
              <a:t>by a series of swaps of non-conflicting instructions, we say that </a:t>
            </a:r>
            <a:r>
              <a:rPr lang="en-US" altLang="en-US" i="1" dirty="0"/>
              <a:t>S</a:t>
            </a:r>
            <a:r>
              <a:rPr lang="en-US" altLang="en-US" dirty="0"/>
              <a:t> and </a:t>
            </a:r>
            <a:r>
              <a:rPr lang="en-US" altLang="en-US" i="1" dirty="0"/>
              <a:t>S’ </a:t>
            </a:r>
            <a:r>
              <a:rPr lang="en-US" altLang="en-US" dirty="0"/>
              <a:t>are </a:t>
            </a:r>
            <a:r>
              <a:rPr lang="en-US" altLang="en-US" b="1" dirty="0">
                <a:solidFill>
                  <a:srgbClr val="000099"/>
                </a:solidFill>
              </a:rPr>
              <a:t>conflict equivalent</a:t>
            </a:r>
            <a:r>
              <a:rPr lang="en-US" altLang="en-US" i="1" dirty="0"/>
              <a:t>.</a:t>
            </a:r>
            <a:endParaRPr lang="en-US" altLang="en-US" dirty="0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We say that a schedule </a:t>
            </a:r>
            <a:r>
              <a:rPr lang="en-US" altLang="en-US" i="1" dirty="0"/>
              <a:t>S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0099"/>
                </a:solidFill>
              </a:rPr>
              <a:t>conflict serializable</a:t>
            </a:r>
            <a:r>
              <a:rPr lang="en-US" altLang="en-US" dirty="0"/>
              <a:t> if it is conflict equivalent to a serial schedule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161969" cy="5367972"/>
          </a:xfrm>
        </p:spPr>
        <p:txBody>
          <a:bodyPr/>
          <a:lstStyle/>
          <a:p>
            <a:pPr>
              <a:tabLst>
                <a:tab pos="2063750" algn="l"/>
                <a:tab pos="2511425" algn="l"/>
                <a:tab pos="3262313" algn="l"/>
                <a:tab pos="3881438" algn="l"/>
              </a:tabLst>
            </a:pPr>
            <a:r>
              <a:rPr lang="en-US" altLang="en-US" dirty="0"/>
              <a:t>Schedule 3 can be transformed into Schedule 6, a serial schedule where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follows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by series of swaps of non-conflicting instructions.  Therefore Schedule 3 is conflict serializable.</a:t>
            </a:r>
          </a:p>
        </p:txBody>
      </p:sp>
      <p:sp>
        <p:nvSpPr>
          <p:cNvPr id="23556" name="Text Box 11"/>
          <p:cNvSpPr txBox="1">
            <a:spLocks noChangeArrowheads="1"/>
          </p:cNvSpPr>
          <p:nvPr/>
        </p:nvSpPr>
        <p:spPr bwMode="auto">
          <a:xfrm>
            <a:off x="2209808" y="4922827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3</a:t>
            </a:r>
          </a:p>
        </p:txBody>
      </p:sp>
      <p:sp>
        <p:nvSpPr>
          <p:cNvPr id="23557" name="Text Box 12"/>
          <p:cNvSpPr txBox="1">
            <a:spLocks noChangeArrowheads="1"/>
          </p:cNvSpPr>
          <p:nvPr/>
        </p:nvSpPr>
        <p:spPr bwMode="auto">
          <a:xfrm>
            <a:off x="6105533" y="4926006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6</a:t>
            </a:r>
          </a:p>
        </p:txBody>
      </p:sp>
      <p:pic>
        <p:nvPicPr>
          <p:cNvPr id="2355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217729"/>
            <a:ext cx="3040063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2200272"/>
            <a:ext cx="3111500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21</a:t>
            </a:fld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/>
              <p14:cNvContentPartPr/>
              <p14:nvPr/>
            </p14:nvContentPartPr>
            <p14:xfrm>
              <a:off x="1083046" y="4374914"/>
              <a:ext cx="1955880" cy="36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4766" y="4366634"/>
                <a:ext cx="1972440" cy="1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88062" cy="5367972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Example of a schedule that is not conflict serializable: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We are unable to swap instructions in the above schedule to obtain either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 &gt;, or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 &gt;.</a:t>
            </a:r>
          </a:p>
        </p:txBody>
      </p:sp>
      <p:pic>
        <p:nvPicPr>
          <p:cNvPr id="2458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80" y="1557335"/>
            <a:ext cx="2840037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View Serializability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937192" cy="5367972"/>
          </a:xfrm>
        </p:spPr>
        <p:txBody>
          <a:bodyPr/>
          <a:lstStyle/>
          <a:p>
            <a:pPr>
              <a:defRPr/>
            </a:pPr>
            <a:r>
              <a:rPr lang="en-US" dirty="0"/>
              <a:t>Let </a:t>
            </a:r>
            <a:r>
              <a:rPr lang="en-US" i="1" dirty="0"/>
              <a:t>S</a:t>
            </a:r>
            <a:r>
              <a:rPr lang="en-US" dirty="0"/>
              <a:t> and </a:t>
            </a:r>
            <a:r>
              <a:rPr lang="en-US" i="1" dirty="0"/>
              <a:t>S’</a:t>
            </a:r>
            <a:r>
              <a:rPr lang="en-IN" dirty="0"/>
              <a:t> </a:t>
            </a:r>
            <a:r>
              <a:rPr lang="en-US" dirty="0"/>
              <a:t>be two schedules with the same set of transactions.  </a:t>
            </a:r>
            <a:r>
              <a:rPr lang="en-US" i="1" dirty="0"/>
              <a:t>S</a:t>
            </a:r>
            <a:r>
              <a:rPr lang="en-US" dirty="0"/>
              <a:t> and </a:t>
            </a:r>
            <a:r>
              <a:rPr lang="en-US" i="1" dirty="0"/>
              <a:t>S’ </a:t>
            </a:r>
            <a:r>
              <a:rPr lang="en-US" dirty="0"/>
              <a:t>are </a:t>
            </a:r>
            <a:r>
              <a:rPr lang="en-US" b="1" dirty="0">
                <a:solidFill>
                  <a:srgbClr val="000099"/>
                </a:solidFill>
              </a:rPr>
              <a:t>view equivalent</a:t>
            </a:r>
            <a:r>
              <a:rPr lang="en-US" i="1" dirty="0"/>
              <a:t> </a:t>
            </a:r>
            <a:r>
              <a:rPr lang="en-US" dirty="0"/>
              <a:t>if the following three conditions are met, for each data item </a:t>
            </a:r>
            <a:r>
              <a:rPr lang="en-US" i="1" dirty="0"/>
              <a:t>Q,</a:t>
            </a:r>
            <a:r>
              <a:rPr lang="en-US" dirty="0"/>
              <a:t>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9900"/>
                </a:solidFill>
              </a:rPr>
              <a:t>1.   </a:t>
            </a:r>
            <a:r>
              <a:rPr lang="en-US" dirty="0"/>
              <a:t>If in schedule S, transaction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reads the initial value of </a:t>
            </a:r>
            <a:r>
              <a:rPr lang="en-US" i="1" dirty="0"/>
              <a:t>Q</a:t>
            </a:r>
            <a:r>
              <a:rPr lang="en-US" dirty="0"/>
              <a:t>, then in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schedule </a:t>
            </a:r>
            <a:r>
              <a:rPr lang="en-US" i="1" dirty="0"/>
              <a:t>S</a:t>
            </a:r>
            <a:r>
              <a:rPr lang="en-IN" i="1" dirty="0"/>
              <a:t>’</a:t>
            </a:r>
            <a:r>
              <a:rPr lang="en-US" altLang="ja-JP" dirty="0"/>
              <a:t> also transaction </a:t>
            </a:r>
            <a:r>
              <a:rPr lang="en-US" altLang="ja-JP" i="1" dirty="0"/>
              <a:t>T</a:t>
            </a:r>
            <a:r>
              <a:rPr lang="en-US" altLang="ja-JP" i="1" baseline="-25000" dirty="0"/>
              <a:t>i</a:t>
            </a:r>
            <a:r>
              <a:rPr lang="en-US" altLang="ja-JP" i="1" dirty="0"/>
              <a:t> </a:t>
            </a:r>
            <a:r>
              <a:rPr lang="en-US" altLang="ja-JP" dirty="0"/>
              <a:t> must read the initial value of </a:t>
            </a:r>
            <a:r>
              <a:rPr lang="en-US" altLang="ja-JP" i="1" dirty="0"/>
              <a:t>Q.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9900"/>
                </a:solidFill>
              </a:rPr>
              <a:t>2.</a:t>
            </a:r>
            <a:r>
              <a:rPr lang="en-US" dirty="0"/>
              <a:t>   If in schedule S transaction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executes </a:t>
            </a:r>
            <a:r>
              <a:rPr lang="en-US" b="1" dirty="0"/>
              <a:t>read</a:t>
            </a:r>
            <a:r>
              <a:rPr lang="en-US" dirty="0"/>
              <a:t>(</a:t>
            </a:r>
            <a:r>
              <a:rPr lang="en-US" i="1" dirty="0"/>
              <a:t>Q)</a:t>
            </a:r>
            <a:r>
              <a:rPr lang="en-US" dirty="0"/>
              <a:t>, and that value was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produced by transaction </a:t>
            </a:r>
            <a:r>
              <a:rPr lang="en-US" i="1" dirty="0"/>
              <a:t>T</a:t>
            </a:r>
            <a:r>
              <a:rPr lang="en-US" i="1" baseline="-25000" dirty="0"/>
              <a:t>j</a:t>
            </a:r>
            <a:r>
              <a:rPr lang="en-US" dirty="0"/>
              <a:t> </a:t>
            </a:r>
            <a:r>
              <a:rPr lang="en-US" i="1" dirty="0"/>
              <a:t> </a:t>
            </a:r>
            <a:r>
              <a:rPr lang="en-US" dirty="0"/>
              <a:t>(if any), then in schedule </a:t>
            </a:r>
            <a:r>
              <a:rPr lang="en-US" i="1" dirty="0"/>
              <a:t>S</a:t>
            </a:r>
            <a:r>
              <a:rPr lang="en-IN" i="1" dirty="0"/>
              <a:t>’</a:t>
            </a:r>
            <a:r>
              <a:rPr lang="en-US" altLang="ja-JP" dirty="0"/>
              <a:t> also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altLang="ja-JP" dirty="0"/>
              <a:t>      transaction </a:t>
            </a:r>
            <a:r>
              <a:rPr lang="en-US" altLang="ja-JP" i="1" dirty="0"/>
              <a:t>T</a:t>
            </a:r>
            <a:r>
              <a:rPr lang="en-US" altLang="ja-JP" i="1" baseline="-25000" dirty="0"/>
              <a:t>i</a:t>
            </a:r>
            <a:r>
              <a:rPr lang="en-US" altLang="ja-JP" dirty="0"/>
              <a:t> must read the value of </a:t>
            </a:r>
            <a:r>
              <a:rPr lang="en-US" altLang="ja-JP" i="1" dirty="0"/>
              <a:t>Q</a:t>
            </a:r>
            <a:r>
              <a:rPr lang="en-US" altLang="ja-JP" dirty="0"/>
              <a:t> that was produced by the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altLang="ja-JP" dirty="0"/>
              <a:t>      same </a:t>
            </a:r>
            <a:r>
              <a:rPr lang="en-US" altLang="ja-JP" b="1" dirty="0"/>
              <a:t>write</a:t>
            </a:r>
            <a:r>
              <a:rPr lang="en-US" altLang="ja-JP" dirty="0"/>
              <a:t>(Q) operation of transaction </a:t>
            </a:r>
            <a:r>
              <a:rPr lang="en-US" altLang="ja-JP" i="1" dirty="0"/>
              <a:t>T</a:t>
            </a:r>
            <a:r>
              <a:rPr lang="en-US" altLang="ja-JP" i="1" baseline="-25000" dirty="0"/>
              <a:t>j</a:t>
            </a:r>
            <a:r>
              <a:rPr lang="en-US" altLang="ja-JP" dirty="0"/>
              <a:t> .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9900"/>
                </a:solidFill>
              </a:rPr>
              <a:t>3.   </a:t>
            </a:r>
            <a:r>
              <a:rPr lang="en-US" dirty="0"/>
              <a:t>The transaction (if any) that performs the final </a:t>
            </a:r>
            <a:r>
              <a:rPr lang="en-US" b="1" dirty="0"/>
              <a:t>write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operation in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schedule </a:t>
            </a:r>
            <a:r>
              <a:rPr lang="en-US" i="1" dirty="0"/>
              <a:t>S </a:t>
            </a:r>
            <a:r>
              <a:rPr lang="en-US" dirty="0"/>
              <a:t>must also perform the final</a:t>
            </a:r>
            <a:r>
              <a:rPr lang="en-US" i="1" dirty="0"/>
              <a:t> </a:t>
            </a:r>
            <a:r>
              <a:rPr lang="en-US" b="1" dirty="0"/>
              <a:t>write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operation in schedule </a:t>
            </a:r>
            <a:r>
              <a:rPr lang="en-US" i="1" dirty="0"/>
              <a:t>S</a:t>
            </a:r>
            <a:r>
              <a:rPr lang="en-IN" altLang="ja-JP" i="1" dirty="0"/>
              <a:t>’</a:t>
            </a:r>
            <a:r>
              <a:rPr lang="en-US" altLang="ja-JP" i="1" dirty="0"/>
              <a:t>.</a:t>
            </a:r>
          </a:p>
          <a:p>
            <a:pPr marL="400050">
              <a:defRPr/>
            </a:pPr>
            <a:r>
              <a:rPr lang="en-US" dirty="0"/>
              <a:t>As can be seen, view equivalence is also based purely on </a:t>
            </a:r>
            <a:r>
              <a:rPr lang="en-US" b="1" dirty="0"/>
              <a:t>reads </a:t>
            </a:r>
            <a:r>
              <a:rPr lang="en-US" dirty="0"/>
              <a:t>and </a:t>
            </a:r>
            <a:r>
              <a:rPr lang="en-US" b="1" dirty="0"/>
              <a:t>writes</a:t>
            </a:r>
            <a:r>
              <a:rPr lang="en-US" dirty="0"/>
              <a:t> alone.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View Serializability (Cont.)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7634797" cy="5367972"/>
          </a:xfrm>
        </p:spPr>
        <p:txBody>
          <a:bodyPr/>
          <a:lstStyle/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A schedule </a:t>
            </a:r>
            <a:r>
              <a:rPr lang="en-US" altLang="en-US" i="1"/>
              <a:t>S</a:t>
            </a:r>
            <a:r>
              <a:rPr lang="en-US" altLang="en-US"/>
              <a:t> is </a:t>
            </a:r>
            <a:r>
              <a:rPr lang="en-US" altLang="en-US" b="1">
                <a:solidFill>
                  <a:srgbClr val="000099"/>
                </a:solidFill>
              </a:rPr>
              <a:t>view serializable</a:t>
            </a:r>
            <a:r>
              <a:rPr lang="en-US" altLang="en-US" i="1"/>
              <a:t> </a:t>
            </a:r>
            <a:r>
              <a:rPr lang="en-US" altLang="en-US"/>
              <a:t>if it is view equivalent to a serial schedule.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Every conflict serializable schedule is also view serializable.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Below is a schedule which is view-serializable but </a:t>
            </a:r>
            <a:r>
              <a:rPr lang="en-US" altLang="en-US" i="1"/>
              <a:t>not </a:t>
            </a:r>
            <a:r>
              <a:rPr lang="en-US" altLang="en-US"/>
              <a:t>conflict serializable.</a:t>
            </a:r>
            <a:br>
              <a:rPr lang="en-US" altLang="en-US"/>
            </a:br>
            <a:endParaRPr lang="en-US" altLang="en-US"/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		</a:t>
            </a:r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/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What serial schedule is above equivalent to?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Every view serializable schedule that is not conflict serializable has </a:t>
            </a:r>
            <a:r>
              <a:rPr lang="en-US" altLang="en-US" b="1">
                <a:solidFill>
                  <a:srgbClr val="000099"/>
                </a:solidFill>
              </a:rPr>
              <a:t>blind writes</a:t>
            </a:r>
            <a:r>
              <a:rPr lang="en-US" altLang="en-US" b="1"/>
              <a:t>.</a:t>
            </a:r>
          </a:p>
        </p:txBody>
      </p:sp>
      <p:pic>
        <p:nvPicPr>
          <p:cNvPr id="26628" name="Picture 4" descr="New PDF from Images Output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13" y="2590707"/>
            <a:ext cx="2936875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Other Notions of Serializability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066626" cy="5367972"/>
          </a:xfrm>
        </p:spPr>
        <p:txBody>
          <a:bodyPr/>
          <a:lstStyle/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The schedule below produces same outcome as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</a:t>
            </a:r>
            <a:r>
              <a:rPr lang="en-US" altLang="en-US" baseline="-25000" dirty="0"/>
              <a:t> </a:t>
            </a:r>
            <a:r>
              <a:rPr lang="en-US" altLang="en-US" i="1" dirty="0"/>
              <a:t>T</a:t>
            </a:r>
            <a:r>
              <a:rPr lang="en-US" altLang="en-US" baseline="-25000" dirty="0"/>
              <a:t>5</a:t>
            </a:r>
            <a:r>
              <a:rPr lang="en-US" altLang="en-US" dirty="0"/>
              <a:t> &gt;, yet is not conflict equivalent or view equivalent to it.</a:t>
            </a:r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		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Determining such equivalence requires analysis of operations other than read and write.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</p:txBody>
      </p:sp>
      <p:pic>
        <p:nvPicPr>
          <p:cNvPr id="2765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799" y="1966118"/>
            <a:ext cx="2844800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Testing for Serializability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522855" cy="5367972"/>
          </a:xfrm>
        </p:spPr>
        <p:txBody>
          <a:bodyPr/>
          <a:lstStyle/>
          <a:p>
            <a:r>
              <a:rPr lang="en-US" altLang="en-US" dirty="0"/>
              <a:t>Consider some schedule of a set of transactions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n</a:t>
            </a:r>
            <a:endParaRPr lang="en-US" altLang="en-US" dirty="0"/>
          </a:p>
          <a:p>
            <a:r>
              <a:rPr lang="en-US" altLang="en-US" b="1" dirty="0">
                <a:solidFill>
                  <a:srgbClr val="000099"/>
                </a:solidFill>
              </a:rPr>
              <a:t>Precedence graph</a:t>
            </a:r>
            <a:r>
              <a:rPr lang="en-US" altLang="en-US" i="1" dirty="0"/>
              <a:t> </a:t>
            </a:r>
            <a:r>
              <a:rPr lang="en-US" altLang="en-US" dirty="0"/>
              <a:t>— a direct graph where the vertices are the transactions (names).</a:t>
            </a:r>
          </a:p>
          <a:p>
            <a:r>
              <a:rPr lang="en-US" altLang="en-US" dirty="0"/>
              <a:t>We draw an arc from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to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if the two transaction conflict,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accessed the data item on which the conflict arose earlier.</a:t>
            </a:r>
          </a:p>
          <a:p>
            <a:r>
              <a:rPr lang="en-US" altLang="en-US" dirty="0"/>
              <a:t>We may label the arc by the item that was accessed.</a:t>
            </a:r>
          </a:p>
          <a:p>
            <a:r>
              <a:rPr lang="en-US" altLang="en-US" dirty="0"/>
              <a:t>Example</a:t>
            </a:r>
            <a:r>
              <a:rPr lang="en-US" altLang="en-US" b="1" dirty="0"/>
              <a:t> </a:t>
            </a:r>
            <a:r>
              <a:rPr lang="en-US" altLang="en-US" dirty="0" smtClean="0"/>
              <a:t>of a precedence graph</a:t>
            </a:r>
            <a:endParaRPr lang="en-US" altLang="en-US" dirty="0"/>
          </a:p>
        </p:txBody>
      </p:sp>
      <p:pic>
        <p:nvPicPr>
          <p:cNvPr id="28676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379" y="3471867"/>
            <a:ext cx="2174782" cy="136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chemeClr val="accent1"/>
                </a:solidFill>
              </a:rPr>
              <a:t>12/4/2020</a:t>
            </a:r>
            <a:endParaRPr lang="en-US" altLang="en-US" dirty="0">
              <a:solidFill>
                <a:schemeClr val="accent1"/>
              </a:solidFill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altLang="en-US" sz="2800"/>
              <a:t>Example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6482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 schedule that is not conflict serializable: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1400" dirty="0"/>
              <a:t>One node per </a:t>
            </a:r>
            <a:r>
              <a:rPr lang="en-US" altLang="en-US" sz="1400" dirty="0" err="1"/>
              <a:t>Xact</a:t>
            </a:r>
            <a:r>
              <a:rPr lang="en-US" altLang="en-US" sz="1400" dirty="0"/>
              <a:t>; edge from </a:t>
            </a:r>
            <a:r>
              <a:rPr lang="en-US" altLang="en-US" sz="1400" i="1" dirty="0" err="1"/>
              <a:t>Ti</a:t>
            </a:r>
            <a:r>
              <a:rPr lang="en-US" altLang="en-US" sz="1400" i="1" dirty="0"/>
              <a:t> </a:t>
            </a:r>
            <a:r>
              <a:rPr lang="en-US" altLang="en-US" sz="1400" dirty="0"/>
              <a:t>to </a:t>
            </a:r>
            <a:r>
              <a:rPr lang="en-US" altLang="en-US" sz="1400" i="1" dirty="0" err="1"/>
              <a:t>Tj</a:t>
            </a:r>
            <a:r>
              <a:rPr lang="en-US" altLang="en-US" sz="1400" dirty="0"/>
              <a:t> if actions of </a:t>
            </a:r>
            <a:r>
              <a:rPr lang="en-US" altLang="en-US" sz="1400" dirty="0" err="1"/>
              <a:t>Ti</a:t>
            </a:r>
            <a:r>
              <a:rPr lang="en-US" altLang="en-US" sz="1400" dirty="0"/>
              <a:t> precedes and conflicts with one of </a:t>
            </a:r>
            <a:r>
              <a:rPr lang="en-US" altLang="en-US" sz="1400" dirty="0" err="1"/>
              <a:t>Tj’s</a:t>
            </a:r>
            <a:r>
              <a:rPr lang="en-US" altLang="en-US" sz="1400" dirty="0"/>
              <a:t> </a:t>
            </a:r>
            <a:r>
              <a:rPr lang="en-US" altLang="en-US" sz="1400" dirty="0" smtClean="0"/>
              <a:t>actions</a:t>
            </a:r>
          </a:p>
          <a:p>
            <a:pPr>
              <a:lnSpc>
                <a:spcPct val="90000"/>
              </a:lnSpc>
            </a:pPr>
            <a:r>
              <a:rPr lang="en-US" altLang="en-US" sz="1400" dirty="0" smtClean="0"/>
              <a:t>The </a:t>
            </a:r>
            <a:r>
              <a:rPr lang="en-US" altLang="en-US" sz="1400" dirty="0"/>
              <a:t>cycle in the graph G (V,E) reveals the problem. The output of T1 depends on T2, and vice-versa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1600" b="1" dirty="0">
                <a:solidFill>
                  <a:srgbClr val="FF0000"/>
                </a:solidFill>
              </a:rPr>
              <a:t>Schedule is conflict serializable if and only if its precedence graph is acyclic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000" dirty="0" smtClean="0"/>
          </a:p>
          <a:p>
            <a:pPr>
              <a:lnSpc>
                <a:spcPct val="90000"/>
              </a:lnSpc>
            </a:pPr>
            <a:endParaRPr lang="en-US" altLang="en-US" sz="2000" dirty="0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853905" y="2246697"/>
            <a:ext cx="6129884" cy="58221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dirty="0">
                <a:latin typeface="Book Antiqua" pitchFamily="18" charset="0"/>
              </a:rPr>
              <a:t>T1:	 </a:t>
            </a:r>
            <a:r>
              <a:rPr lang="en-US" altLang="en-US" dirty="0">
                <a:solidFill>
                  <a:srgbClr val="00B050"/>
                </a:solidFill>
                <a:latin typeface="Book Antiqua" pitchFamily="18" charset="0"/>
              </a:rPr>
              <a:t>R(A), W(A),   		     	       R(B), W(B)</a:t>
            </a:r>
          </a:p>
          <a:p>
            <a:pPr eaLnBrk="0" hangingPunct="0"/>
            <a:r>
              <a:rPr lang="en-US" altLang="en-US" dirty="0">
                <a:latin typeface="Book Antiqua" pitchFamily="18" charset="0"/>
              </a:rPr>
              <a:t>T2:	   		</a:t>
            </a:r>
            <a:r>
              <a:rPr lang="en-US" altLang="en-US" dirty="0">
                <a:solidFill>
                  <a:srgbClr val="00B0F0"/>
                </a:solidFill>
                <a:latin typeface="Book Antiqua" pitchFamily="18" charset="0"/>
              </a:rPr>
              <a:t>R(A), W(A), R(B), W(B)</a:t>
            </a:r>
          </a:p>
        </p:txBody>
      </p:sp>
      <p:sp>
        <p:nvSpPr>
          <p:cNvPr id="54277" name="Oval 5"/>
          <p:cNvSpPr>
            <a:spLocks noChangeArrowheads="1"/>
          </p:cNvSpPr>
          <p:nvPr/>
        </p:nvSpPr>
        <p:spPr bwMode="auto">
          <a:xfrm>
            <a:off x="1544638" y="3983038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8" name="Oval 6"/>
          <p:cNvSpPr>
            <a:spLocks noChangeArrowheads="1"/>
          </p:cNvSpPr>
          <p:nvPr/>
        </p:nvSpPr>
        <p:spPr bwMode="auto">
          <a:xfrm>
            <a:off x="4440238" y="3983038"/>
            <a:ext cx="673100" cy="673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1600200" y="4114800"/>
            <a:ext cx="52578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rgbClr val="00B050"/>
                </a:solidFill>
                <a:latin typeface="Book Antiqua" pitchFamily="18" charset="0"/>
              </a:rPr>
              <a:t>T1</a:t>
            </a:r>
          </a:p>
        </p:txBody>
      </p: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4495800" y="4114800"/>
            <a:ext cx="52578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rgbClr val="00B0F0"/>
                </a:solidFill>
                <a:latin typeface="Book Antiqua" pitchFamily="18" charset="0"/>
              </a:rPr>
              <a:t>T2</a:t>
            </a:r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2147888" y="4510088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2147888" y="4129088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4281488" y="4052888"/>
            <a:ext cx="228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 flipV="1">
            <a:off x="4281488" y="4129088"/>
            <a:ext cx="228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>
            <a:off x="2147888" y="4510088"/>
            <a:ext cx="228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 flipV="1">
            <a:off x="2147888" y="4433888"/>
            <a:ext cx="2286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7" name="Rectangle 15"/>
          <p:cNvSpPr>
            <a:spLocks noChangeArrowheads="1"/>
          </p:cNvSpPr>
          <p:nvPr/>
        </p:nvSpPr>
        <p:spPr bwMode="auto">
          <a:xfrm>
            <a:off x="3124200" y="3733800"/>
            <a:ext cx="421591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chemeClr val="accent4"/>
                </a:solidFill>
                <a:latin typeface="Book Antiqua" pitchFamily="18" charset="0"/>
              </a:rPr>
              <a:t>A</a:t>
            </a:r>
          </a:p>
        </p:txBody>
      </p:sp>
      <p:sp>
        <p:nvSpPr>
          <p:cNvPr id="54288" name="Rectangle 16"/>
          <p:cNvSpPr>
            <a:spLocks noChangeArrowheads="1"/>
          </p:cNvSpPr>
          <p:nvPr/>
        </p:nvSpPr>
        <p:spPr bwMode="auto">
          <a:xfrm>
            <a:off x="3124200" y="4648200"/>
            <a:ext cx="387928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chemeClr val="accent4"/>
                </a:solidFill>
                <a:latin typeface="Book Antiqua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6035715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Test for Conflict Serializability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65825" y="1102497"/>
            <a:ext cx="4919966" cy="5367972"/>
          </a:xfrm>
        </p:spPr>
        <p:txBody>
          <a:bodyPr/>
          <a:lstStyle/>
          <a:p>
            <a:r>
              <a:rPr lang="en-US" altLang="en-US" dirty="0"/>
              <a:t>A schedule is conflict serializable if and only if its precedence graph is acyclic.</a:t>
            </a:r>
          </a:p>
          <a:p>
            <a:r>
              <a:rPr lang="en-US" altLang="en-US" dirty="0"/>
              <a:t>Cycle-detection algorithms exist which take order 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 time, where </a:t>
            </a:r>
            <a:r>
              <a:rPr lang="en-US" altLang="en-US" i="1" dirty="0"/>
              <a:t>n </a:t>
            </a:r>
            <a:r>
              <a:rPr lang="en-US" altLang="en-US" dirty="0"/>
              <a:t>is the number of vertices in the graph.  </a:t>
            </a:r>
          </a:p>
          <a:p>
            <a:pPr lvl="1"/>
            <a:r>
              <a:rPr lang="en-US" altLang="en-US" dirty="0"/>
              <a:t>(Better algorithms take order </a:t>
            </a:r>
            <a:r>
              <a:rPr lang="en-US" altLang="en-US" i="1" dirty="0"/>
              <a:t>n</a:t>
            </a:r>
            <a:r>
              <a:rPr lang="en-US" altLang="en-US" dirty="0"/>
              <a:t> + </a:t>
            </a:r>
            <a:r>
              <a:rPr lang="en-US" altLang="en-US" i="1" dirty="0"/>
              <a:t>e</a:t>
            </a:r>
            <a:r>
              <a:rPr lang="en-US" altLang="en-US" dirty="0"/>
              <a:t> where </a:t>
            </a:r>
            <a:r>
              <a:rPr lang="en-US" altLang="en-US" i="1" dirty="0"/>
              <a:t>e</a:t>
            </a:r>
            <a:r>
              <a:rPr lang="en-US" altLang="en-US" dirty="0"/>
              <a:t> is the number of edges.)</a:t>
            </a:r>
          </a:p>
          <a:p>
            <a:r>
              <a:rPr lang="en-US" altLang="en-US" dirty="0"/>
              <a:t>If precedence graph is acyclic, the serializability order can be obtained by a </a:t>
            </a:r>
            <a:r>
              <a:rPr lang="en-US" altLang="en-US" i="1" dirty="0">
                <a:solidFill>
                  <a:srgbClr val="000099"/>
                </a:solidFill>
              </a:rPr>
              <a:t>topological sorting</a:t>
            </a:r>
            <a:r>
              <a:rPr lang="en-US" altLang="en-US" dirty="0"/>
              <a:t> of the graph. </a:t>
            </a:r>
          </a:p>
          <a:p>
            <a:pPr lvl="1"/>
            <a:r>
              <a:rPr lang="en-US" altLang="en-US" dirty="0"/>
              <a:t> This is a linear order consistent with the partial order of the graph.</a:t>
            </a:r>
          </a:p>
          <a:p>
            <a:pPr lvl="1"/>
            <a:r>
              <a:rPr lang="en-US" altLang="en-US" dirty="0"/>
              <a:t>For example, a serializability order for Schedule A would be</a:t>
            </a:r>
            <a:br>
              <a:rPr lang="en-US" altLang="en-US" dirty="0"/>
            </a:br>
            <a:r>
              <a:rPr lang="en-US" altLang="en-US" i="1" dirty="0"/>
              <a:t>T</a:t>
            </a:r>
            <a:r>
              <a:rPr lang="en-US" altLang="en-US" baseline="-25000" dirty="0"/>
              <a:t>5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charset="2"/>
              </a:rPr>
              <a:t>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charset="2"/>
              </a:rPr>
              <a:t>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charset="2"/>
              </a:rPr>
              <a:t>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charset="2"/>
              </a:rPr>
              <a:t>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endParaRPr lang="en-US" altLang="en-US" dirty="0"/>
          </a:p>
          <a:p>
            <a:pPr lvl="2"/>
            <a:r>
              <a:rPr lang="en-US" altLang="en-US" dirty="0">
                <a:sym typeface="Monotype Sorts" charset="2"/>
              </a:rPr>
              <a:t>Are there others?</a:t>
            </a:r>
          </a:p>
        </p:txBody>
      </p:sp>
      <p:pic>
        <p:nvPicPr>
          <p:cNvPr id="2970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3" y="1055688"/>
            <a:ext cx="2954337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Test for View Serializability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581530" cy="5367972"/>
          </a:xfrm>
        </p:spPr>
        <p:txBody>
          <a:bodyPr/>
          <a:lstStyle/>
          <a:p>
            <a:r>
              <a:rPr lang="en-US" altLang="en-US" dirty="0"/>
              <a:t>The precedence graph test for conflict serializability cannot be used directly to test for view serializability.</a:t>
            </a:r>
          </a:p>
          <a:p>
            <a:pPr lvl="1"/>
            <a:r>
              <a:rPr lang="en-US" altLang="en-US" dirty="0"/>
              <a:t>Extension to test for view serializability has cost exponential in the size of the precedence graph.</a:t>
            </a:r>
          </a:p>
          <a:p>
            <a:r>
              <a:rPr lang="en-US" altLang="en-US" dirty="0"/>
              <a:t>The problem of checking if a schedule is view serializable falls in the class of </a:t>
            </a:r>
            <a:r>
              <a:rPr lang="en-US" altLang="en-US" i="1" dirty="0"/>
              <a:t>NP</a:t>
            </a:r>
            <a:r>
              <a:rPr lang="en-US" altLang="en-US" dirty="0"/>
              <a:t>-complete problems. </a:t>
            </a:r>
          </a:p>
          <a:p>
            <a:pPr lvl="1"/>
            <a:r>
              <a:rPr lang="en-US" altLang="en-US" dirty="0" smtClean="0"/>
              <a:t>Thus, </a:t>
            </a:r>
            <a:r>
              <a:rPr lang="en-US" altLang="en-US" dirty="0"/>
              <a:t>existence of an efficient algorithm is </a:t>
            </a:r>
            <a:r>
              <a:rPr lang="en-US" altLang="en-US" i="1" dirty="0"/>
              <a:t>extremely</a:t>
            </a:r>
            <a:r>
              <a:rPr lang="en-US" altLang="en-US" dirty="0"/>
              <a:t> unlikely.</a:t>
            </a:r>
          </a:p>
          <a:p>
            <a:r>
              <a:rPr lang="en-US" altLang="en-US" dirty="0"/>
              <a:t>However practical algorithms that just check some </a:t>
            </a:r>
            <a:r>
              <a:rPr lang="en-US" altLang="en-US" b="1" dirty="0"/>
              <a:t>sufficient</a:t>
            </a:r>
            <a:r>
              <a:rPr lang="en-US" altLang="en-US" i="1" dirty="0"/>
              <a:t> </a:t>
            </a:r>
            <a:r>
              <a:rPr lang="en-US" altLang="en-US" b="1" dirty="0"/>
              <a:t>conditions</a:t>
            </a:r>
            <a:r>
              <a:rPr lang="en-US" altLang="en-US" dirty="0"/>
              <a:t> for view serializability can still be used.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Recoverable Schedules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686901"/>
            <a:ext cx="7776839" cy="4783568"/>
          </a:xfrm>
        </p:spPr>
        <p:txBody>
          <a:bodyPr/>
          <a:lstStyle/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Recoverable</a:t>
            </a:r>
            <a:r>
              <a:rPr lang="en-US" altLang="en-US" b="1" i="1" dirty="0">
                <a:solidFill>
                  <a:srgbClr val="000099"/>
                </a:solidFill>
              </a:rPr>
              <a:t> </a:t>
            </a:r>
            <a:r>
              <a:rPr lang="en-US" altLang="en-US" b="1" dirty="0">
                <a:solidFill>
                  <a:srgbClr val="000099"/>
                </a:solidFill>
              </a:rPr>
              <a:t>schedule</a:t>
            </a:r>
            <a:r>
              <a:rPr lang="en-US" altLang="en-US" dirty="0"/>
              <a:t> — if a transaction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reads a data item previously written by a transaction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 </a:t>
            </a:r>
            <a:r>
              <a:rPr lang="en-US" altLang="en-US" dirty="0"/>
              <a:t>, then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 appears before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.</a:t>
            </a: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dirty="0"/>
              <a:t>The following schedule (Schedule 11) is not recoverable</a:t>
            </a:r>
            <a:br>
              <a:rPr lang="en-US" altLang="en-US" dirty="0"/>
            </a:br>
            <a:r>
              <a:rPr lang="en-US" altLang="en-US" dirty="0"/>
              <a:t>		</a:t>
            </a:r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dirty="0"/>
              <a:t>If </a:t>
            </a:r>
            <a:r>
              <a:rPr lang="en-US" altLang="en-US" i="1" dirty="0"/>
              <a:t>T</a:t>
            </a:r>
            <a:r>
              <a:rPr lang="en-US" altLang="en-US" baseline="-25000" dirty="0"/>
              <a:t>8</a:t>
            </a:r>
            <a:r>
              <a:rPr lang="en-US" altLang="en-US" sz="1600" dirty="0"/>
              <a:t> </a:t>
            </a:r>
            <a:r>
              <a:rPr lang="en-US" altLang="en-US" dirty="0"/>
              <a:t>should abort, </a:t>
            </a:r>
            <a:r>
              <a:rPr lang="en-US" altLang="en-US" i="1" dirty="0"/>
              <a:t>T</a:t>
            </a:r>
            <a:r>
              <a:rPr lang="en-US" altLang="en-US" baseline="-25000" dirty="0"/>
              <a:t>9</a:t>
            </a:r>
            <a:r>
              <a:rPr lang="en-US" altLang="en-US" dirty="0"/>
              <a:t> would have read (and possibly shown to the user) an inconsistent database state.  Hence, database must ensure that schedules are recoverable.</a:t>
            </a:r>
          </a:p>
        </p:txBody>
      </p:sp>
      <p:sp>
        <p:nvSpPr>
          <p:cNvPr id="31748" name="Text Box 6"/>
          <p:cNvSpPr txBox="1">
            <a:spLocks noChangeArrowheads="1"/>
          </p:cNvSpPr>
          <p:nvPr/>
        </p:nvSpPr>
        <p:spPr bwMode="auto">
          <a:xfrm>
            <a:off x="701336" y="1071347"/>
            <a:ext cx="768806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700" dirty="0"/>
              <a:t>Need to address the effect of transaction failures on concurrently </a:t>
            </a:r>
            <a:br>
              <a:rPr lang="en-US" altLang="en-US" sz="1700" dirty="0"/>
            </a:br>
            <a:r>
              <a:rPr lang="en-US" altLang="en-US" sz="1700" dirty="0"/>
              <a:t>running transactions.</a:t>
            </a:r>
          </a:p>
        </p:txBody>
      </p:sp>
      <p:pic>
        <p:nvPicPr>
          <p:cNvPr id="3174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814" y="2971608"/>
            <a:ext cx="291306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Cascading Rollbacks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76840" cy="5367972"/>
          </a:xfrm>
        </p:spPr>
        <p:txBody>
          <a:bodyPr/>
          <a:lstStyle/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Cascading rollback</a:t>
            </a:r>
            <a:r>
              <a:rPr lang="en-US" altLang="en-US" dirty="0"/>
              <a:t> – a single transaction failure leads to a series of transaction rollbacks.  Consider the following schedule where none of the transactions has yet committed (so the schedule is recoverable)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If </a:t>
            </a:r>
            <a:r>
              <a:rPr lang="en-US" altLang="en-US" i="1" dirty="0"/>
              <a:t>T</a:t>
            </a:r>
            <a:r>
              <a:rPr lang="en-US" altLang="en-US" baseline="-25000" dirty="0"/>
              <a:t>10</a:t>
            </a:r>
            <a:r>
              <a:rPr lang="en-US" altLang="en-US" dirty="0"/>
              <a:t> fails, </a:t>
            </a:r>
            <a:r>
              <a:rPr lang="en-US" altLang="en-US" i="1" dirty="0"/>
              <a:t>T</a:t>
            </a:r>
            <a:r>
              <a:rPr lang="en-US" altLang="en-US" baseline="-25000" dirty="0"/>
              <a:t>11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12</a:t>
            </a:r>
            <a:r>
              <a:rPr lang="en-US" altLang="en-US" dirty="0"/>
              <a:t> must also be rolled back.</a:t>
            </a:r>
          </a:p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en-US" dirty="0"/>
              <a:t>Can lead to the undoing of a significant amount of work</a:t>
            </a:r>
          </a:p>
        </p:txBody>
      </p:sp>
      <p:pic>
        <p:nvPicPr>
          <p:cNvPr id="3277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647" y="2122396"/>
            <a:ext cx="34290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Cascadeless Schedules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76839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Cascadeless</a:t>
            </a:r>
            <a:r>
              <a:rPr lang="en-US" altLang="en-US" b="1" i="1" dirty="0">
                <a:solidFill>
                  <a:srgbClr val="000099"/>
                </a:solidFill>
              </a:rPr>
              <a:t> </a:t>
            </a:r>
            <a:r>
              <a:rPr lang="en-US" altLang="en-US" b="1" dirty="0">
                <a:solidFill>
                  <a:srgbClr val="000099"/>
                </a:solidFill>
              </a:rPr>
              <a:t>schedules</a:t>
            </a:r>
            <a:r>
              <a:rPr lang="en-US" altLang="en-US" dirty="0"/>
              <a:t> — cascading rollbacks cannot occur;</a:t>
            </a:r>
          </a:p>
          <a:p>
            <a:pPr lvl="1"/>
            <a:r>
              <a:rPr lang="en-US" altLang="en-US" dirty="0"/>
              <a:t>For each pair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such that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 reads a data item previously written by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,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 appears before the read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Every </a:t>
            </a:r>
            <a:r>
              <a:rPr lang="en-US" altLang="en-US" dirty="0" smtClean="0"/>
              <a:t>Cascadeless </a:t>
            </a:r>
            <a:r>
              <a:rPr lang="en-US" altLang="en-US" dirty="0"/>
              <a:t>schedule is also recoverable</a:t>
            </a:r>
          </a:p>
          <a:p>
            <a:r>
              <a:rPr lang="en-US" altLang="en-US" dirty="0"/>
              <a:t>It is desirable to restrict the schedules to those that are cascadeless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812349" cy="5367972"/>
          </a:xfrm>
        </p:spPr>
        <p:txBody>
          <a:bodyPr/>
          <a:lstStyle/>
          <a:p>
            <a:r>
              <a:rPr lang="en-US" altLang="en-US" dirty="0"/>
              <a:t>A database must provide a mechanism that will ensure that all possible schedules are </a:t>
            </a:r>
          </a:p>
          <a:p>
            <a:pPr lvl="1"/>
            <a:r>
              <a:rPr lang="en-US" altLang="en-US" dirty="0" smtClean="0">
                <a:solidFill>
                  <a:srgbClr val="00B0F0"/>
                </a:solidFill>
              </a:rPr>
              <a:t>serializable</a:t>
            </a:r>
            <a:r>
              <a:rPr lang="en-US" altLang="en-US" dirty="0">
                <a:solidFill>
                  <a:srgbClr val="00B0F0"/>
                </a:solidFill>
              </a:rPr>
              <a:t>, and </a:t>
            </a:r>
          </a:p>
          <a:p>
            <a:pPr lvl="1"/>
            <a:r>
              <a:rPr lang="en-US" altLang="en-US" dirty="0">
                <a:solidFill>
                  <a:srgbClr val="00B0F0"/>
                </a:solidFill>
              </a:rPr>
              <a:t>are recoverable and preferably cascadeless</a:t>
            </a:r>
          </a:p>
          <a:p>
            <a:r>
              <a:rPr lang="en-US" altLang="en-US" dirty="0"/>
              <a:t>A policy in which only one transaction can execute at a time generates serial schedules, but provides a poor degree of concurrency</a:t>
            </a:r>
          </a:p>
          <a:p>
            <a:pPr lvl="1"/>
            <a:r>
              <a:rPr lang="en-US" altLang="en-US" dirty="0"/>
              <a:t>Are serial schedules recoverable/</a:t>
            </a:r>
            <a:r>
              <a:rPr lang="en-US" altLang="en-US" dirty="0" err="1"/>
              <a:t>cascadeless</a:t>
            </a:r>
            <a:r>
              <a:rPr lang="en-US" altLang="en-US" dirty="0"/>
              <a:t>?</a:t>
            </a:r>
          </a:p>
          <a:p>
            <a:r>
              <a:rPr lang="en-US" altLang="en-US" dirty="0"/>
              <a:t>Testing a schedule for serializability </a:t>
            </a:r>
            <a:r>
              <a:rPr lang="en-US" altLang="en-US" i="1" dirty="0"/>
              <a:t>after</a:t>
            </a:r>
            <a:r>
              <a:rPr lang="en-US" altLang="en-US" dirty="0"/>
              <a:t> it has executed is a little too late!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Goal</a:t>
            </a:r>
            <a:r>
              <a:rPr lang="en-US" altLang="en-US" dirty="0"/>
              <a:t> – to develop concurrency control protocols that will assure serializability.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(Cont.)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803471" cy="5367972"/>
          </a:xfrm>
        </p:spPr>
        <p:txBody>
          <a:bodyPr/>
          <a:lstStyle/>
          <a:p>
            <a:r>
              <a:rPr lang="en-US" altLang="en-US" dirty="0"/>
              <a:t>Schedules must be conflict or view serializable, and recoverable, for the sake of database consistency, and preferably cascadeless.</a:t>
            </a:r>
          </a:p>
          <a:p>
            <a:r>
              <a:rPr lang="en-US" altLang="en-US" dirty="0"/>
              <a:t>A policy in which only one transaction can execute at a time generates serial schedules, but provides a poor degree of concurrency.</a:t>
            </a:r>
          </a:p>
          <a:p>
            <a:r>
              <a:rPr lang="en-US" altLang="en-US" dirty="0"/>
              <a:t>Concurrency-control schemes tradeoff between the amount of concurrency they allow and the amount of overhead that they incur.</a:t>
            </a:r>
          </a:p>
          <a:p>
            <a:r>
              <a:rPr lang="en-US" altLang="en-US" dirty="0"/>
              <a:t>Some schemes allow only conflict-serializable schedules to be generated, while others allow  view-serializable schedules that are not conflict-serializable.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vs. Serializability Tests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794595" cy="5367972"/>
          </a:xfrm>
        </p:spPr>
        <p:txBody>
          <a:bodyPr/>
          <a:lstStyle/>
          <a:p>
            <a:r>
              <a:rPr lang="en-US" altLang="en-US" dirty="0"/>
              <a:t>Concurrency-control protocols allow concurrent schedules, but ensure that the schedules are conflict/view serializable, and are recoverable and cascadeless .</a:t>
            </a:r>
          </a:p>
          <a:p>
            <a:r>
              <a:rPr lang="en-US" altLang="en-US" dirty="0"/>
              <a:t>Concurrency control protocols (generally) do not examine the precedence graph as it is being created</a:t>
            </a:r>
          </a:p>
          <a:p>
            <a:pPr lvl="1"/>
            <a:r>
              <a:rPr lang="en-US" altLang="en-US" dirty="0"/>
              <a:t>Instead a protocol imposes a discipline that avoids non-serializable schedules.</a:t>
            </a:r>
          </a:p>
          <a:p>
            <a:pPr lvl="1"/>
            <a:r>
              <a:rPr lang="en-US" altLang="en-US" dirty="0"/>
              <a:t>We study such protocols in Chapter 16.</a:t>
            </a:r>
          </a:p>
          <a:p>
            <a:r>
              <a:rPr lang="en-US" altLang="en-US" dirty="0"/>
              <a:t>Different concurrency control protocols provide different tradeoffs between the amount of concurrency they allow and the amount of overhead that they incur.</a:t>
            </a:r>
          </a:p>
          <a:p>
            <a:r>
              <a:rPr lang="en-US" altLang="en-US" dirty="0"/>
              <a:t>Tests for serializability help us understand why a concurrency control protocol is correct.   </a:t>
            </a:r>
          </a:p>
          <a:p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Levels of Consistency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750207" cy="5367972"/>
          </a:xfrm>
        </p:spPr>
        <p:txBody>
          <a:bodyPr/>
          <a:lstStyle/>
          <a:p>
            <a:r>
              <a:rPr lang="en-US" altLang="en-US" dirty="0"/>
              <a:t>Some applications are willing to live with weak levels of consistency, allowing schedules that are not serializable</a:t>
            </a:r>
          </a:p>
          <a:p>
            <a:pPr lvl="1"/>
            <a:r>
              <a:rPr lang="en-US" altLang="en-US" dirty="0"/>
              <a:t>E.g., a read-only transaction that wants to get an approximate total balance of all accounts </a:t>
            </a:r>
          </a:p>
          <a:p>
            <a:pPr lvl="1"/>
            <a:r>
              <a:rPr lang="en-US" altLang="en-US" dirty="0"/>
              <a:t>E.g., database statistics computed for query optimization can be approximate (why?)</a:t>
            </a:r>
          </a:p>
          <a:p>
            <a:pPr lvl="1"/>
            <a:r>
              <a:rPr lang="en-US" altLang="en-US" dirty="0"/>
              <a:t>Such transactions need not be serializable with respect to other transactions</a:t>
            </a:r>
          </a:p>
          <a:p>
            <a:r>
              <a:rPr lang="en-US" altLang="en-US" dirty="0"/>
              <a:t>Tradeoff accuracy for performance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Levels of Consistency in SQL-92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7705819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Serializable</a:t>
            </a:r>
            <a:r>
              <a:rPr lang="en-US" altLang="en-US" b="1" dirty="0"/>
              <a:t> </a:t>
            </a:r>
            <a:r>
              <a:rPr lang="en-US" altLang="en-US" dirty="0"/>
              <a:t>— default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Repeatable read</a:t>
            </a:r>
            <a:r>
              <a:rPr lang="en-US" altLang="en-US" b="1" dirty="0"/>
              <a:t> </a:t>
            </a:r>
            <a:r>
              <a:rPr lang="en-US" altLang="en-US" dirty="0"/>
              <a:t>—</a:t>
            </a:r>
            <a:r>
              <a:rPr lang="en-US" altLang="en-US" b="1" dirty="0"/>
              <a:t> </a:t>
            </a:r>
            <a:r>
              <a:rPr lang="en-US" altLang="en-US" dirty="0"/>
              <a:t>only committed records to be read. </a:t>
            </a:r>
          </a:p>
          <a:p>
            <a:pPr lvl="1"/>
            <a:r>
              <a:rPr lang="en-US" altLang="en-US" dirty="0"/>
              <a:t>Repeated reads of same record must return same value.</a:t>
            </a:r>
          </a:p>
          <a:p>
            <a:pPr lvl="1"/>
            <a:r>
              <a:rPr lang="en-US" altLang="en-US" dirty="0"/>
              <a:t>However, a transaction may not be serializable – it may find some records inserted by a transaction but not find others.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Read committed</a:t>
            </a:r>
            <a:r>
              <a:rPr lang="en-US" altLang="en-US" b="1" dirty="0"/>
              <a:t> </a:t>
            </a:r>
            <a:r>
              <a:rPr lang="en-US" altLang="en-US" dirty="0"/>
              <a:t>—</a:t>
            </a:r>
            <a:r>
              <a:rPr lang="en-US" altLang="en-US" b="1" dirty="0"/>
              <a:t> </a:t>
            </a:r>
            <a:r>
              <a:rPr lang="en-US" altLang="en-US" dirty="0"/>
              <a:t>only committed records can be read.</a:t>
            </a:r>
          </a:p>
          <a:p>
            <a:pPr lvl="1"/>
            <a:r>
              <a:rPr lang="en-US" altLang="en-US" dirty="0"/>
              <a:t>Successive reads of record may return different (but committed) values.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Read uncommitted</a:t>
            </a:r>
            <a:r>
              <a:rPr lang="en-US" altLang="en-US" dirty="0"/>
              <a:t> —</a:t>
            </a:r>
            <a:r>
              <a:rPr lang="en-US" altLang="en-US" b="1" dirty="0"/>
              <a:t> </a:t>
            </a:r>
            <a:r>
              <a:rPr lang="en-US" altLang="en-US" dirty="0"/>
              <a:t>even uncommitted records may be read. </a:t>
            </a:r>
            <a:endParaRPr lang="en-US" altLang="en-US" b="1" dirty="0"/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538163" y="4135438"/>
            <a:ext cx="75279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lang="en-US" altLang="en-US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Levels of Consistency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47170A-C2C0-4F36-8AA4-43A131054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102497"/>
            <a:ext cx="7750206" cy="5367972"/>
          </a:xfrm>
        </p:spPr>
        <p:txBody>
          <a:bodyPr/>
          <a:lstStyle/>
          <a:p>
            <a:r>
              <a:rPr lang="en-US" dirty="0"/>
              <a:t>Lower degrees of consistency useful for gathering approximate</a:t>
            </a:r>
            <a:br>
              <a:rPr lang="en-US" dirty="0"/>
            </a:br>
            <a:r>
              <a:rPr lang="en-US" dirty="0"/>
              <a:t>information about the database </a:t>
            </a:r>
          </a:p>
          <a:p>
            <a:r>
              <a:rPr lang="en-US" dirty="0"/>
              <a:t>Warning: some database systems do not ensure serializable schedules by default</a:t>
            </a:r>
          </a:p>
          <a:p>
            <a:r>
              <a:rPr lang="en-US" dirty="0"/>
              <a:t>E.g., Oracle (and PostgreSQL prior to version 9) by default support a level of consistency called snapshot isolation (not part of the SQL standard)</a:t>
            </a:r>
          </a:p>
          <a:p>
            <a:endParaRPr lang="en-IN" dirty="0"/>
          </a:p>
        </p:txBody>
      </p:sp>
      <p:sp>
        <p:nvSpPr>
          <p:cNvPr id="39939" name="Rectangle 5"/>
          <p:cNvSpPr>
            <a:spLocks noChangeArrowheads="1"/>
          </p:cNvSpPr>
          <p:nvPr/>
        </p:nvSpPr>
        <p:spPr bwMode="auto">
          <a:xfrm>
            <a:off x="1147763" y="1163638"/>
            <a:ext cx="7005637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lang="en-US" alt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Definition in SQL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39192" y="1102497"/>
            <a:ext cx="7927759" cy="5367972"/>
          </a:xfrm>
        </p:spPr>
        <p:txBody>
          <a:bodyPr/>
          <a:lstStyle/>
          <a:p>
            <a:r>
              <a:rPr lang="en-US" altLang="en-US" dirty="0"/>
              <a:t>In SQL, a transaction begins implicitly.</a:t>
            </a:r>
          </a:p>
          <a:p>
            <a:r>
              <a:rPr lang="en-US" altLang="en-US" dirty="0"/>
              <a:t>A transaction in SQL ends by:</a:t>
            </a:r>
          </a:p>
          <a:p>
            <a:pPr lvl="1"/>
            <a:r>
              <a:rPr lang="en-US" altLang="en-US" b="1" dirty="0"/>
              <a:t>Commit work</a:t>
            </a:r>
            <a:r>
              <a:rPr lang="en-US" altLang="en-US" dirty="0"/>
              <a:t> commits current transaction and begins a new one.</a:t>
            </a:r>
          </a:p>
          <a:p>
            <a:pPr lvl="1"/>
            <a:r>
              <a:rPr lang="en-US" altLang="en-US" b="1" dirty="0"/>
              <a:t>Rollback work</a:t>
            </a:r>
            <a:r>
              <a:rPr lang="en-US" altLang="en-US" dirty="0"/>
              <a:t> causes current transaction to abort.</a:t>
            </a:r>
          </a:p>
          <a:p>
            <a:r>
              <a:rPr lang="en-US" altLang="en-US" dirty="0"/>
              <a:t>In almost all database systems, by default, every SQL statement also commits implicitly if it executes successfully</a:t>
            </a:r>
          </a:p>
          <a:p>
            <a:pPr lvl="1"/>
            <a:r>
              <a:rPr lang="en-US" altLang="en-US" dirty="0"/>
              <a:t>Implicit commit can be turned off by a database directive</a:t>
            </a:r>
          </a:p>
          <a:p>
            <a:pPr lvl="2"/>
            <a:r>
              <a:rPr lang="en-US" altLang="en-US" dirty="0"/>
              <a:t>E.g., in JDBC -- </a:t>
            </a:r>
            <a:r>
              <a:rPr lang="en-US" altLang="en-US" dirty="0" err="1"/>
              <a:t>connection.setAutoCommit</a:t>
            </a:r>
            <a:r>
              <a:rPr lang="en-US" altLang="en-US" dirty="0"/>
              <a:t>(false);</a:t>
            </a:r>
          </a:p>
          <a:p>
            <a:r>
              <a:rPr lang="en-US" altLang="en-US" dirty="0"/>
              <a:t>Isolation level can be set at database level</a:t>
            </a:r>
          </a:p>
          <a:p>
            <a:r>
              <a:rPr lang="en-US" altLang="en-US" dirty="0"/>
              <a:t>Isolation level can be changed at start of transaction</a:t>
            </a:r>
          </a:p>
          <a:p>
            <a:pPr lvl="2"/>
            <a:r>
              <a:rPr lang="en-US" altLang="en-US" dirty="0"/>
              <a:t>E.g.  In SQL </a:t>
            </a:r>
            <a:r>
              <a:rPr lang="en-US" altLang="en-US" b="1" dirty="0"/>
              <a:t>set transaction isolation level serializable</a:t>
            </a:r>
          </a:p>
          <a:p>
            <a:pPr lvl="2"/>
            <a:r>
              <a:rPr lang="en-US" altLang="en-US" dirty="0"/>
              <a:t>E.g. in JDBC --  </a:t>
            </a:r>
            <a:r>
              <a:rPr lang="en-US" altLang="en-US" dirty="0" err="1"/>
              <a:t>connection.setTransactionIsolation</a:t>
            </a:r>
            <a:r>
              <a:rPr lang="en-US" altLang="en-US" dirty="0"/>
              <a:t>(      </a:t>
            </a:r>
            <a:br>
              <a:rPr lang="en-US" altLang="en-US" dirty="0"/>
            </a:br>
            <a:r>
              <a:rPr lang="en-US" altLang="en-US" dirty="0"/>
              <a:t>                                     </a:t>
            </a:r>
            <a:r>
              <a:rPr lang="en-US" altLang="en-US" dirty="0" err="1"/>
              <a:t>Connection.TRANSACTION_SERIALIZABLE</a:t>
            </a:r>
            <a:r>
              <a:rPr lang="en-US" altLang="en-US" dirty="0"/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ACAF-F04B-44BB-A5C2-EAE4A5FB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of Isolation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06DFC-E228-4A51-A4C2-91BB66D41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2" y="1102497"/>
            <a:ext cx="7741329" cy="5367972"/>
          </a:xfrm>
        </p:spPr>
        <p:txBody>
          <a:bodyPr/>
          <a:lstStyle/>
          <a:p>
            <a:r>
              <a:rPr lang="en-IN" dirty="0" smtClean="0"/>
              <a:t>Locking</a:t>
            </a:r>
            <a:endParaRPr lang="en-IN" dirty="0"/>
          </a:p>
          <a:p>
            <a:pPr lvl="1"/>
            <a:r>
              <a:rPr lang="en-IN" dirty="0"/>
              <a:t>Lock on whole database vs lock on items</a:t>
            </a:r>
          </a:p>
          <a:p>
            <a:pPr lvl="1"/>
            <a:r>
              <a:rPr lang="en-IN" dirty="0"/>
              <a:t>How long to hold lock?</a:t>
            </a:r>
          </a:p>
          <a:p>
            <a:pPr lvl="1"/>
            <a:r>
              <a:rPr lang="en-IN" dirty="0"/>
              <a:t>Shared vs exclusive locks</a:t>
            </a:r>
          </a:p>
          <a:p>
            <a:r>
              <a:rPr lang="en-IN" dirty="0"/>
              <a:t>Timestamps</a:t>
            </a:r>
          </a:p>
          <a:p>
            <a:pPr lvl="1"/>
            <a:r>
              <a:rPr lang="en-IN" dirty="0"/>
              <a:t>Transaction timestamp assigned e.g. when a transaction begins</a:t>
            </a:r>
          </a:p>
          <a:p>
            <a:pPr lvl="1"/>
            <a:r>
              <a:rPr lang="en-IN" dirty="0"/>
              <a:t>Data items store two timestamps</a:t>
            </a:r>
          </a:p>
          <a:p>
            <a:pPr lvl="2"/>
            <a:r>
              <a:rPr lang="en-IN" dirty="0"/>
              <a:t>Read timestamp</a:t>
            </a:r>
          </a:p>
          <a:p>
            <a:pPr lvl="2"/>
            <a:r>
              <a:rPr lang="en-IN" dirty="0"/>
              <a:t>Write timestamp</a:t>
            </a:r>
          </a:p>
          <a:p>
            <a:pPr lvl="1"/>
            <a:r>
              <a:rPr lang="en-IN" dirty="0"/>
              <a:t>Timestamps are used to detect out of order accesses</a:t>
            </a:r>
          </a:p>
          <a:p>
            <a:r>
              <a:rPr lang="en-IN" dirty="0"/>
              <a:t>Multiple versions of each data item</a:t>
            </a:r>
          </a:p>
          <a:p>
            <a:pPr lvl="1"/>
            <a:r>
              <a:rPr lang="en-IN" dirty="0"/>
              <a:t>Allow transactions to read from a “snapshot” of the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50825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6548-0516-4E04-B705-F7A54C9E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Transactions as SQL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5E497-18AF-475A-B6A4-049AF234E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14" y="1003107"/>
            <a:ext cx="8215235" cy="5367972"/>
          </a:xfrm>
        </p:spPr>
        <p:txBody>
          <a:bodyPr/>
          <a:lstStyle/>
          <a:p>
            <a:r>
              <a:rPr lang="en-IN" dirty="0"/>
              <a:t>E.g</a:t>
            </a:r>
            <a:r>
              <a:rPr lang="en-IN" dirty="0" smtClean="0"/>
              <a:t>., </a:t>
            </a:r>
            <a:r>
              <a:rPr lang="en-IN" dirty="0"/>
              <a:t>Transaction 1:</a:t>
            </a:r>
            <a:br>
              <a:rPr lang="en-IN" dirty="0"/>
            </a:br>
            <a:r>
              <a:rPr lang="en-IN" sz="1800" dirty="0"/>
              <a:t>   </a:t>
            </a:r>
            <a:r>
              <a:rPr lang="en-IN" b="1" dirty="0"/>
              <a:t>select</a:t>
            </a:r>
            <a:r>
              <a:rPr lang="en-IN" dirty="0"/>
              <a:t> </a:t>
            </a:r>
            <a:r>
              <a:rPr lang="en-IN" i="1" dirty="0"/>
              <a:t>ID, name  </a:t>
            </a:r>
            <a:r>
              <a:rPr lang="en-IN" dirty="0"/>
              <a:t> </a:t>
            </a:r>
            <a:r>
              <a:rPr lang="en-IN" b="1" dirty="0"/>
              <a:t>from  </a:t>
            </a:r>
            <a:r>
              <a:rPr lang="en-IN" i="1" dirty="0"/>
              <a:t>instructor   </a:t>
            </a:r>
            <a:r>
              <a:rPr lang="en-IN" b="1" dirty="0"/>
              <a:t>where</a:t>
            </a:r>
            <a:r>
              <a:rPr lang="en-IN" dirty="0"/>
              <a:t> </a:t>
            </a:r>
            <a:r>
              <a:rPr lang="en-IN" i="1" dirty="0"/>
              <a:t>salary</a:t>
            </a:r>
            <a:r>
              <a:rPr lang="en-IN" dirty="0"/>
              <a:t> &gt; 90000</a:t>
            </a:r>
            <a:endParaRPr lang="en-IN" sz="1800" dirty="0"/>
          </a:p>
          <a:p>
            <a:r>
              <a:rPr lang="en-IN" dirty="0" smtClean="0"/>
              <a:t>E.g., Transaction </a:t>
            </a:r>
            <a:r>
              <a:rPr lang="en-IN" dirty="0"/>
              <a:t>2:</a:t>
            </a:r>
            <a:br>
              <a:rPr lang="en-IN" dirty="0"/>
            </a:br>
            <a:r>
              <a:rPr lang="en-IN" dirty="0"/>
              <a:t>   </a:t>
            </a:r>
            <a:r>
              <a:rPr lang="en-IN" b="1" dirty="0"/>
              <a:t>insert into</a:t>
            </a:r>
            <a:r>
              <a:rPr lang="en-IN" dirty="0"/>
              <a:t> </a:t>
            </a:r>
            <a:r>
              <a:rPr lang="en-IN" i="1" dirty="0"/>
              <a:t>instructor</a:t>
            </a:r>
            <a:r>
              <a:rPr lang="en-IN" dirty="0"/>
              <a:t> </a:t>
            </a:r>
            <a:r>
              <a:rPr lang="en-IN" b="1" dirty="0"/>
              <a:t>values</a:t>
            </a:r>
            <a:r>
              <a:rPr lang="en-IN" dirty="0"/>
              <a:t> ('11111', 'James', 'Marketing', 100000)</a:t>
            </a:r>
          </a:p>
          <a:p>
            <a:r>
              <a:rPr lang="en-IN" dirty="0"/>
              <a:t>Suppose </a:t>
            </a:r>
          </a:p>
          <a:p>
            <a:pPr lvl="1"/>
            <a:r>
              <a:rPr lang="en-IN" dirty="0"/>
              <a:t>T1 starts, finds tuples salary &gt; 90000 using index and locks them</a:t>
            </a:r>
          </a:p>
          <a:p>
            <a:pPr lvl="1"/>
            <a:r>
              <a:rPr lang="en-IN" dirty="0"/>
              <a:t>And then T2 executes.  </a:t>
            </a:r>
          </a:p>
          <a:p>
            <a:pPr lvl="1"/>
            <a:r>
              <a:rPr lang="en-IN" dirty="0"/>
              <a:t>Do T1 and T2 conflict?  Does tuple level locking detect the conflict?</a:t>
            </a:r>
          </a:p>
          <a:p>
            <a:pPr lvl="1"/>
            <a:r>
              <a:rPr lang="en-IN" dirty="0"/>
              <a:t>Instance of the </a:t>
            </a:r>
            <a:r>
              <a:rPr lang="en-IN" b="1" dirty="0">
                <a:solidFill>
                  <a:srgbClr val="002060"/>
                </a:solidFill>
              </a:rPr>
              <a:t>phantom phenomenon</a:t>
            </a:r>
          </a:p>
          <a:p>
            <a:r>
              <a:rPr lang="en-IN" dirty="0"/>
              <a:t>Also consider T3 below, with Wu’s salary = 90000 </a:t>
            </a:r>
            <a:br>
              <a:rPr lang="en-IN" dirty="0"/>
            </a:br>
            <a:r>
              <a:rPr lang="en-IN" sz="1800" dirty="0"/>
              <a:t>    </a:t>
            </a:r>
            <a:r>
              <a:rPr lang="en-IN" sz="1800" b="1" dirty="0"/>
              <a:t>update</a:t>
            </a:r>
            <a:r>
              <a:rPr lang="en-IN" sz="1800" dirty="0"/>
              <a:t> </a:t>
            </a:r>
            <a:r>
              <a:rPr lang="en-IN" sz="1800" i="1" dirty="0"/>
              <a:t>instructor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set</a:t>
            </a:r>
            <a:r>
              <a:rPr lang="en-IN" sz="1800" dirty="0"/>
              <a:t> </a:t>
            </a:r>
            <a:r>
              <a:rPr lang="en-IN" sz="1800" i="1" dirty="0"/>
              <a:t>salary</a:t>
            </a:r>
            <a:r>
              <a:rPr lang="en-IN" sz="1800" dirty="0"/>
              <a:t> = </a:t>
            </a:r>
            <a:r>
              <a:rPr lang="en-IN" sz="1800" i="1" dirty="0"/>
              <a:t>salary</a:t>
            </a:r>
            <a:r>
              <a:rPr lang="en-IN" sz="1800" dirty="0"/>
              <a:t> * 1.1</a:t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where</a:t>
            </a:r>
            <a:r>
              <a:rPr lang="en-IN" sz="1800" dirty="0"/>
              <a:t> </a:t>
            </a:r>
            <a:r>
              <a:rPr lang="en-IN" sz="1800" i="1" dirty="0"/>
              <a:t>name</a:t>
            </a:r>
            <a:r>
              <a:rPr lang="en-IN" sz="1800" dirty="0"/>
              <a:t> = 'Wu’ </a:t>
            </a:r>
          </a:p>
          <a:p>
            <a:r>
              <a:rPr lang="en-IN" dirty="0"/>
              <a:t>Key idea:  Detect “</a:t>
            </a:r>
            <a:r>
              <a:rPr lang="en-IN" b="1" dirty="0">
                <a:solidFill>
                  <a:srgbClr val="002060"/>
                </a:solidFill>
              </a:rPr>
              <a:t>predicate</a:t>
            </a:r>
            <a:r>
              <a:rPr lang="en-IN" dirty="0"/>
              <a:t>” conflicts, and use some form of  “</a:t>
            </a:r>
            <a:r>
              <a:rPr lang="en-IN" b="1" dirty="0">
                <a:solidFill>
                  <a:srgbClr val="002060"/>
                </a:solidFill>
              </a:rPr>
              <a:t>predicate locking</a:t>
            </a:r>
            <a:r>
              <a:rPr lang="en-IN" dirty="0"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74818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69F0-E989-4F4E-9740-0E12922F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3947" y="2796646"/>
            <a:ext cx="5168964" cy="815505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End of Chapter 17</a:t>
            </a:r>
            <a:endParaRPr lang="en-IN" sz="3200" b="1" dirty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A266F-A005-4455-9502-E3724A964F5A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3778985"/>
      </p:ext>
    </p:extLst>
  </p:cSld>
  <p:clrMapOvr>
    <a:masterClrMapping/>
  </p:clrMapOvr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55453</TotalTime>
  <Words>3335</Words>
  <Application>Microsoft Office PowerPoint</Application>
  <PresentationFormat>On-screen Show (4:3)</PresentationFormat>
  <Paragraphs>395</Paragraphs>
  <Slides>42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MS PGothic</vt:lpstr>
      <vt:lpstr>MS PGothic</vt:lpstr>
      <vt:lpstr>Arial</vt:lpstr>
      <vt:lpstr>Book Antiqua</vt:lpstr>
      <vt:lpstr>Calibri</vt:lpstr>
      <vt:lpstr>Helvetica</vt:lpstr>
      <vt:lpstr>Monotype Sorts</vt:lpstr>
      <vt:lpstr>Montserrat</vt:lpstr>
      <vt:lpstr>Symbol</vt:lpstr>
      <vt:lpstr>Times New Roman</vt:lpstr>
      <vt:lpstr>Webdings</vt:lpstr>
      <vt:lpstr>Wingdings</vt:lpstr>
      <vt:lpstr>db</vt:lpstr>
      <vt:lpstr>Module 17: Transactions </vt:lpstr>
      <vt:lpstr>Outline</vt:lpstr>
      <vt:lpstr>Transaction Concept</vt:lpstr>
      <vt:lpstr>Example of Fund Transfer</vt:lpstr>
      <vt:lpstr>Example of Fund Transfer (Cont.)</vt:lpstr>
      <vt:lpstr>Example of Fund Transfer (Cont.)</vt:lpstr>
      <vt:lpstr>ACID Properties</vt:lpstr>
      <vt:lpstr>Transaction State</vt:lpstr>
      <vt:lpstr>Transaction State (Cont.)</vt:lpstr>
      <vt:lpstr>Concurrent Executions</vt:lpstr>
      <vt:lpstr>Disk Structure [1]</vt:lpstr>
      <vt:lpstr>Schedules</vt:lpstr>
      <vt:lpstr>Schedule 1</vt:lpstr>
      <vt:lpstr>Schedule 2</vt:lpstr>
      <vt:lpstr>Schedule 3</vt:lpstr>
      <vt:lpstr>Schedule 4</vt:lpstr>
      <vt:lpstr>Serializability</vt:lpstr>
      <vt:lpstr>Simplified view of transactions</vt:lpstr>
      <vt:lpstr>Conflicting Instructions </vt:lpstr>
      <vt:lpstr>Conflict Serializability</vt:lpstr>
      <vt:lpstr>Conflict Serializability (Cont.)</vt:lpstr>
      <vt:lpstr>Conflict Serializability (Cont.)</vt:lpstr>
      <vt:lpstr>View Serializability</vt:lpstr>
      <vt:lpstr>View Serializability (Cont.)</vt:lpstr>
      <vt:lpstr>Other Notions of Serializability</vt:lpstr>
      <vt:lpstr>Testing for Serializability </vt:lpstr>
      <vt:lpstr>Example</vt:lpstr>
      <vt:lpstr>Test for Conflict Serializability</vt:lpstr>
      <vt:lpstr>Test for View Serializability</vt:lpstr>
      <vt:lpstr>Recoverable Schedules</vt:lpstr>
      <vt:lpstr>Cascading Rollbacks</vt:lpstr>
      <vt:lpstr>Cascadeless Schedules</vt:lpstr>
      <vt:lpstr>Concurrency Control</vt:lpstr>
      <vt:lpstr>Concurrency Control (Cont.)</vt:lpstr>
      <vt:lpstr>Concurrency Control vs. Serializability Tests</vt:lpstr>
      <vt:lpstr>Weak Levels of Consistency</vt:lpstr>
      <vt:lpstr>Levels of Consistency in SQL-92</vt:lpstr>
      <vt:lpstr>Levels of Consistency</vt:lpstr>
      <vt:lpstr>Transaction Definition in SQL</vt:lpstr>
      <vt:lpstr>Implementation of Isolation Levels</vt:lpstr>
      <vt:lpstr>Transactions as SQL Statements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17: Transactions</dc:title>
  <dc:creator>Silberschatz;Korth and Sudarshan</dc:creator>
  <cp:lastModifiedBy>DELL</cp:lastModifiedBy>
  <cp:revision>634</cp:revision>
  <cp:lastPrinted>1999-06-28T19:27:31Z</cp:lastPrinted>
  <dcterms:created xsi:type="dcterms:W3CDTF">2009-12-21T15:40:23Z</dcterms:created>
  <dcterms:modified xsi:type="dcterms:W3CDTF">2024-10-22T05:22:09Z</dcterms:modified>
</cp:coreProperties>
</file>