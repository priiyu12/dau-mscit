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1066" r:id="rId3"/>
    <p:sldId id="1062" r:id="rId4"/>
    <p:sldId id="1063" r:id="rId5"/>
    <p:sldId id="1064" r:id="rId6"/>
    <p:sldId id="1203" r:id="rId7"/>
    <p:sldId id="1067" r:id="rId8"/>
    <p:sldId id="1069" r:id="rId9"/>
    <p:sldId id="10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9"/>
    <p:restoredTop sz="96457"/>
  </p:normalViewPr>
  <p:slideViewPr>
    <p:cSldViewPr snapToGrid="0" snapToObjects="1">
      <p:cViewPr varScale="1">
        <p:scale>
          <a:sx n="127" d="100"/>
          <a:sy n="127" d="100"/>
        </p:scale>
        <p:origin x="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63D5F-9677-1E4E-82D6-56F0D466F5F5}" type="datetimeFigureOut">
              <a:rPr lang="en-US" smtClean="0"/>
              <a:t>3/7/25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288267-620A-C541-9260-F07C9AF28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28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896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9018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8359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5005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71932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4471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1239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8898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CD739-652E-FE4A-BEA2-D10E32EC1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F72708-1836-1846-A2E8-EFDEFA7E1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BFE1-0E23-9442-93BA-94455BAC3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9BD03-3895-FC4A-8D60-7B7369CE1F0D}" type="datetimeFigureOut">
              <a:rPr lang="en-US" smtClean="0"/>
              <a:t>3/7/25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10384-96CD-CD45-B788-5EF42F75D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49AAF-5941-974B-8F46-8C88CB0BC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F1841-D3E6-C846-B9F0-4FE322EF3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01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C5347-A120-7248-8361-0699EF44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ECB25-020A-0040-8FC7-03854AF1E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F7455-FE79-834C-9631-7F0008E7E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9BD03-3895-FC4A-8D60-7B7369CE1F0D}" type="datetimeFigureOut">
              <a:rPr lang="en-US" smtClean="0"/>
              <a:t>3/7/25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7BEC9-A414-4449-A7BA-FB8F74BAE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5AB47-6334-3043-9550-10016EA9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F1841-D3E6-C846-B9F0-4FE322EF3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88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B6735-1D83-274F-B798-67D80C3DC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89319-4F0E-264E-8C82-22A1D3179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E8ACF-B3DF-7B4A-90C8-A19C24B7D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9BD03-3895-FC4A-8D60-7B7369CE1F0D}" type="datetimeFigureOut">
              <a:rPr lang="en-US" smtClean="0"/>
              <a:t>3/7/25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42803-5807-5C45-A08C-2451FC89E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F8A42-AC24-E64A-A06C-810CE98FC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F1841-D3E6-C846-B9F0-4FE322EF3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132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F6577-FD58-E94E-91C2-92B77EAED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C78E6-E59B-9643-BFB5-D0A7D19AC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30288-A0D7-7844-92B8-508E2DE4EB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3B5C-18AD-374D-8002-098851EC1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9BD03-3895-FC4A-8D60-7B7369CE1F0D}" type="datetimeFigureOut">
              <a:rPr lang="en-US" smtClean="0"/>
              <a:t>3/7/25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DC3B4-48EA-6342-B7F6-8A8FC8F8E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65B7D-705B-FF45-AD19-0C5C12C0B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F1841-D3E6-C846-B9F0-4FE322EF3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27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BD8-39C1-DB4F-98BE-45609EF31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D5B16-284C-9A41-8500-D274969BB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141D4-3109-2F43-93AD-31F0E8921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BCB5C6-052C-D142-AE03-FCAD51380C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703146-E7CE-FB43-A81C-C72EB274B6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63D351-5E91-9741-AC64-F06B5BD24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9BD03-3895-FC4A-8D60-7B7369CE1F0D}" type="datetimeFigureOut">
              <a:rPr lang="en-US" smtClean="0"/>
              <a:t>3/7/25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7E4EEC-4344-134A-8119-99330C31D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E42900-ECFC-DF42-A213-956E5C846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F1841-D3E6-C846-B9F0-4FE322EF3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43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42B4-413B-B444-9F97-B64B205AD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F18333-049E-9244-8450-D145A8021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9BD03-3895-FC4A-8D60-7B7369CE1F0D}" type="datetimeFigureOut">
              <a:rPr lang="en-US" smtClean="0"/>
              <a:t>3/7/25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08BEFC-C1AE-7946-B893-22906BF05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D2B104-C590-CD49-8C30-EE11681B8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F1841-D3E6-C846-B9F0-4FE322EF3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32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28F8AD-75EE-4E4A-8B7A-FE6A3622C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9BD03-3895-FC4A-8D60-7B7369CE1F0D}" type="datetimeFigureOut">
              <a:rPr lang="en-US" smtClean="0"/>
              <a:t>3/7/25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5AC635-0009-4143-B4C9-7E08ED988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0C890-8D43-4E43-93E6-AD9990AED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F1841-D3E6-C846-B9F0-4FE322EF3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92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4B436-4D21-C24F-BE72-E38556FAE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0670C-3E3D-A042-91AE-ED2231FE5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46FB5-AAAA-4A4C-AFA7-704A97A0A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E195C-1072-A641-B56D-D4D63D426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9BD03-3895-FC4A-8D60-7B7369CE1F0D}" type="datetimeFigureOut">
              <a:rPr lang="en-US" smtClean="0"/>
              <a:t>3/7/25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547F9-DC73-E346-A7AC-DF98905FF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94631-511D-2645-95D7-F6FB26DB4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F1841-D3E6-C846-B9F0-4FE322EF3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40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F0D86-A4EF-2D4D-B6D2-CDC349356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3B3ABF-0B94-174D-A423-5782AE96C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495D65-DE80-0449-94E7-955ABBE191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DBC82-DE1D-A142-BD21-7B133965D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9BD03-3895-FC4A-8D60-7B7369CE1F0D}" type="datetimeFigureOut">
              <a:rPr lang="en-US" smtClean="0"/>
              <a:t>3/7/25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5848A-BC13-D24D-98BA-BE45B9E41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15F73-AF69-B54E-BD43-DB31007DC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F1841-D3E6-C846-B9F0-4FE322EF3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079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0224C-67B7-5244-BA4E-85EBC5671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68A31-EE9E-514A-B9CE-6DC26EBDC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12DE7-99FC-2F41-8E80-67C824E63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9BD03-3895-FC4A-8D60-7B7369CE1F0D}" type="datetimeFigureOut">
              <a:rPr lang="en-US" smtClean="0"/>
              <a:t>3/7/25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652F2-EBDD-2A43-AFF2-A5D6D49D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0ED67-6737-AE48-BFD6-5E259FFF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F1841-D3E6-C846-B9F0-4FE322EF3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23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0F19E6-FC64-8942-94B5-F5B3C88C5C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14B805-BAFA-B14F-AA4B-0C85A6B29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7AA35-1DE1-A74D-BABC-9BB38515D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9BD03-3895-FC4A-8D60-7B7369CE1F0D}" type="datetimeFigureOut">
              <a:rPr lang="en-US" smtClean="0"/>
              <a:t>3/7/25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11999-8F48-384D-9840-C1589D6FB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DD956-6A39-ED4E-BA80-2C55510DD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F1841-D3E6-C846-B9F0-4FE322EF3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745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A3F074-B6F5-E145-BAA3-6294EE617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12631-B7B1-B947-967C-76B44C22E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03112-28EF-F84D-B3A7-4983BB443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09BD03-3895-FC4A-8D60-7B7369CE1F0D}" type="datetimeFigureOut">
              <a:rPr lang="en-US" smtClean="0"/>
              <a:t>3/7/25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C40B7-A1CC-6C42-B05E-0C21BF3890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B51C3-6833-924C-A0DB-5EC10CFB08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CF1841-D3E6-C846-B9F0-4FE322EF3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44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C9AD3-6A9C-E84B-97F1-D5CA7EEC71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IT694</a:t>
            </a:r>
            <a:br>
              <a:rPr lang="en-US" dirty="0"/>
            </a:br>
            <a:r>
              <a:rPr lang="en-US" dirty="0"/>
              <a:t>Computer Networks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BCB8EE-98EA-384E-9DA9-B3DECD7AB3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Week8_Lec3_Router Internals</a:t>
            </a:r>
          </a:p>
        </p:txBody>
      </p:sp>
    </p:spTree>
    <p:extLst>
      <p:ext uri="{BB962C8B-B14F-4D97-AF65-F5344CB8AC3E}">
        <p14:creationId xmlns:p14="http://schemas.microsoft.com/office/powerpoint/2010/main" val="1127673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B1128-B8E1-7C40-B73B-BD6D4E180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696" y="1379472"/>
            <a:ext cx="11035748" cy="634860"/>
          </a:xfrm>
        </p:spPr>
        <p:txBody>
          <a:bodyPr>
            <a:normAutofit/>
          </a:bodyPr>
          <a:lstStyle/>
          <a:p>
            <a:pPr indent="-287338">
              <a:buFont typeface="Wingdings" charset="2"/>
              <a:buChar char="§"/>
              <a:defRPr/>
            </a:pPr>
            <a:r>
              <a:rPr lang="en-US" sz="3200" dirty="0"/>
              <a:t>transfer packet from input link to appropriate output link</a:t>
            </a:r>
          </a:p>
          <a:p>
            <a:pPr indent="-287338">
              <a:buFont typeface="Wingdings" charset="2"/>
              <a:buChar char="§"/>
              <a:defRPr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800" dirty="0">
                <a:ea typeface="ＭＳ Ｐゴシック" panose="020B0600070205080204" pitchFamily="34" charset="-128"/>
              </a:rPr>
              <a:t>Switching fabrics</a:t>
            </a:r>
            <a:endParaRPr lang="en-US" sz="4800" dirty="0"/>
          </a:p>
        </p:txBody>
      </p:sp>
      <p:grpSp>
        <p:nvGrpSpPr>
          <p:cNvPr id="140" name="Group 60">
            <a:extLst>
              <a:ext uri="{FF2B5EF4-FFF2-40B4-BE49-F238E27FC236}">
                <a16:creationId xmlns:a16="http://schemas.microsoft.com/office/drawing/2014/main" id="{E16CE5B6-2BB1-8843-9C94-E2F2D5BE7F75}"/>
              </a:ext>
            </a:extLst>
          </p:cNvPr>
          <p:cNvGrpSpPr>
            <a:grpSpLocks/>
          </p:cNvGrpSpPr>
          <p:nvPr/>
        </p:nvGrpSpPr>
        <p:grpSpPr bwMode="auto">
          <a:xfrm>
            <a:off x="4510432" y="3943350"/>
            <a:ext cx="1609725" cy="2343150"/>
            <a:chOff x="2418" y="1882"/>
            <a:chExt cx="1014" cy="147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1" name="Rectangle 45">
              <a:extLst>
                <a:ext uri="{FF2B5EF4-FFF2-40B4-BE49-F238E27FC236}">
                  <a16:creationId xmlns:a16="http://schemas.microsoft.com/office/drawing/2014/main" id="{F26101B5-1F43-6C44-B633-4C17C2A3D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8" y="1882"/>
              <a:ext cx="1014" cy="147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2" name="Text Box 48">
              <a:extLst>
                <a:ext uri="{FF2B5EF4-FFF2-40B4-BE49-F238E27FC236}">
                  <a16:creationId xmlns:a16="http://schemas.microsoft.com/office/drawing/2014/main" id="{1E1E4579-D30C-D245-B0D4-E5A2AEC25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5" y="2418"/>
              <a:ext cx="876" cy="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high-speed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switching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fabric</a:t>
              </a:r>
            </a:p>
          </p:txBody>
        </p:sp>
      </p:grpSp>
      <p:sp>
        <p:nvSpPr>
          <p:cNvPr id="160" name="Text Box 57">
            <a:extLst>
              <a:ext uri="{FF2B5EF4-FFF2-40B4-BE49-F238E27FC236}">
                <a16:creationId xmlns:a16="http://schemas.microsoft.com/office/drawing/2014/main" id="{F1679189-37C6-6D40-A05F-4B13D87DE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772" y="4857819"/>
            <a:ext cx="14927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 input ports</a:t>
            </a:r>
          </a:p>
        </p:txBody>
      </p:sp>
      <p:grpSp>
        <p:nvGrpSpPr>
          <p:cNvPr id="168" name="Group 38">
            <a:extLst>
              <a:ext uri="{FF2B5EF4-FFF2-40B4-BE49-F238E27FC236}">
                <a16:creationId xmlns:a16="http://schemas.microsoft.com/office/drawing/2014/main" id="{8AC17FBD-D822-CD43-929D-2CC812BF0667}"/>
              </a:ext>
            </a:extLst>
          </p:cNvPr>
          <p:cNvGrpSpPr>
            <a:grpSpLocks/>
          </p:cNvGrpSpPr>
          <p:nvPr/>
        </p:nvGrpSpPr>
        <p:grpSpPr bwMode="auto">
          <a:xfrm>
            <a:off x="6149007" y="5709203"/>
            <a:ext cx="1472095" cy="386798"/>
            <a:chOff x="-51" y="2454"/>
            <a:chExt cx="1482" cy="357"/>
          </a:xfrm>
        </p:grpSpPr>
        <p:grpSp>
          <p:nvGrpSpPr>
            <p:cNvPr id="169" name="Group 39">
              <a:extLst>
                <a:ext uri="{FF2B5EF4-FFF2-40B4-BE49-F238E27FC236}">
                  <a16:creationId xmlns:a16="http://schemas.microsoft.com/office/drawing/2014/main" id="{0892708C-B62F-1443-A450-88C550BC04B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71" y="2454"/>
              <a:ext cx="1086" cy="357"/>
              <a:chOff x="171" y="2454"/>
              <a:chExt cx="1086" cy="357"/>
            </a:xfrm>
          </p:grpSpPr>
          <p:sp>
            <p:nvSpPr>
              <p:cNvPr id="171" name="Rectangle 40">
                <a:extLst>
                  <a:ext uri="{FF2B5EF4-FFF2-40B4-BE49-F238E27FC236}">
                    <a16:creationId xmlns:a16="http://schemas.microsoft.com/office/drawing/2014/main" id="{646AD0B4-3035-904E-BC08-F1F7B9E664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" y="2454"/>
                <a:ext cx="1084" cy="35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2" name="Rectangle 41">
                <a:extLst>
                  <a:ext uri="{FF2B5EF4-FFF2-40B4-BE49-F238E27FC236}">
                    <a16:creationId xmlns:a16="http://schemas.microsoft.com/office/drawing/2014/main" id="{C11D294C-080E-E146-92DD-4E0970AA19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" y="2554"/>
                <a:ext cx="337" cy="1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3" name="Rectangle 42">
                <a:extLst>
                  <a:ext uri="{FF2B5EF4-FFF2-40B4-BE49-F238E27FC236}">
                    <a16:creationId xmlns:a16="http://schemas.microsoft.com/office/drawing/2014/main" id="{AEC771A2-E626-8246-BD5D-885A3F2322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" y="2490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3C6CD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4" name="Rectangle 43">
                <a:extLst>
                  <a:ext uri="{FF2B5EF4-FFF2-40B4-BE49-F238E27FC236}">
                    <a16:creationId xmlns:a16="http://schemas.microsoft.com/office/drawing/2014/main" id="{D9ACADB5-CB99-0C44-953C-36D248E856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2488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70" name="Line 44">
              <a:extLst>
                <a:ext uri="{FF2B5EF4-FFF2-40B4-BE49-F238E27FC236}">
                  <a16:creationId xmlns:a16="http://schemas.microsoft.com/office/drawing/2014/main" id="{0B5CB4ED-80BB-FD4A-8E51-691C12DA6F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51" y="2634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1" name="Text Box 57">
            <a:extLst>
              <a:ext uri="{FF2B5EF4-FFF2-40B4-BE49-F238E27FC236}">
                <a16:creationId xmlns:a16="http://schemas.microsoft.com/office/drawing/2014/main" id="{7B04503A-E5E8-3F47-B2CA-2C4493C55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9378" y="4864446"/>
            <a:ext cx="16337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 output ports</a:t>
            </a:r>
          </a:p>
        </p:txBody>
      </p:sp>
      <p:grpSp>
        <p:nvGrpSpPr>
          <p:cNvPr id="182" name="Group 38">
            <a:extLst>
              <a:ext uri="{FF2B5EF4-FFF2-40B4-BE49-F238E27FC236}">
                <a16:creationId xmlns:a16="http://schemas.microsoft.com/office/drawing/2014/main" id="{0D66BD80-759C-4845-8712-8D0B4AF84EF1}"/>
              </a:ext>
            </a:extLst>
          </p:cNvPr>
          <p:cNvGrpSpPr>
            <a:grpSpLocks/>
          </p:cNvGrpSpPr>
          <p:nvPr/>
        </p:nvGrpSpPr>
        <p:grpSpPr bwMode="auto">
          <a:xfrm>
            <a:off x="6155633" y="4072559"/>
            <a:ext cx="1472095" cy="386798"/>
            <a:chOff x="-51" y="2454"/>
            <a:chExt cx="1482" cy="357"/>
          </a:xfrm>
        </p:grpSpPr>
        <p:grpSp>
          <p:nvGrpSpPr>
            <p:cNvPr id="183" name="Group 39">
              <a:extLst>
                <a:ext uri="{FF2B5EF4-FFF2-40B4-BE49-F238E27FC236}">
                  <a16:creationId xmlns:a16="http://schemas.microsoft.com/office/drawing/2014/main" id="{5C936A85-45B9-074E-B843-773AFF5135C9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71" y="2454"/>
              <a:ext cx="1086" cy="357"/>
              <a:chOff x="171" y="2454"/>
              <a:chExt cx="1086" cy="357"/>
            </a:xfrm>
          </p:grpSpPr>
          <p:sp>
            <p:nvSpPr>
              <p:cNvPr id="185" name="Rectangle 40">
                <a:extLst>
                  <a:ext uri="{FF2B5EF4-FFF2-40B4-BE49-F238E27FC236}">
                    <a16:creationId xmlns:a16="http://schemas.microsoft.com/office/drawing/2014/main" id="{B622FEB5-7929-1240-B7D5-15643E719F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" y="2454"/>
                <a:ext cx="1084" cy="357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6" name="Rectangle 41">
                <a:extLst>
                  <a:ext uri="{FF2B5EF4-FFF2-40B4-BE49-F238E27FC236}">
                    <a16:creationId xmlns:a16="http://schemas.microsoft.com/office/drawing/2014/main" id="{9EC76602-1084-F84D-AD9A-D96EB15A89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" y="2554"/>
                <a:ext cx="337" cy="16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7" name="Rectangle 42">
                <a:extLst>
                  <a:ext uri="{FF2B5EF4-FFF2-40B4-BE49-F238E27FC236}">
                    <a16:creationId xmlns:a16="http://schemas.microsoft.com/office/drawing/2014/main" id="{DD155316-70EC-7F4D-B61B-21231E854A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2" y="2490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3C6CD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8" name="Rectangle 43">
                <a:extLst>
                  <a:ext uri="{FF2B5EF4-FFF2-40B4-BE49-F238E27FC236}">
                    <a16:creationId xmlns:a16="http://schemas.microsoft.com/office/drawing/2014/main" id="{BFE2402A-9D06-854F-8BB0-978456C98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2488"/>
                <a:ext cx="274" cy="274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84" name="Line 44">
              <a:extLst>
                <a:ext uri="{FF2B5EF4-FFF2-40B4-BE49-F238E27FC236}">
                  <a16:creationId xmlns:a16="http://schemas.microsoft.com/office/drawing/2014/main" id="{D7FF759B-D504-9D47-8A31-C0C49E47A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51" y="2634"/>
              <a:ext cx="14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67B67A3-971A-E044-9E63-6007998B6291}"/>
              </a:ext>
            </a:extLst>
          </p:cNvPr>
          <p:cNvSpPr txBox="1"/>
          <p:nvPr/>
        </p:nvSpPr>
        <p:spPr>
          <a:xfrm rot="5400000">
            <a:off x="6248400" y="4708389"/>
            <a:ext cx="9276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. . 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90C8DE0E-9EEF-204C-9448-24E1458DC419}"/>
              </a:ext>
            </a:extLst>
          </p:cNvPr>
          <p:cNvSpPr txBox="1"/>
          <p:nvPr/>
        </p:nvSpPr>
        <p:spPr>
          <a:xfrm rot="5400000">
            <a:off x="3472070" y="4715016"/>
            <a:ext cx="9276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. . </a:t>
            </a:r>
          </a:p>
        </p:txBody>
      </p:sp>
      <p:grpSp>
        <p:nvGrpSpPr>
          <p:cNvPr id="192" name="Group 39">
            <a:extLst>
              <a:ext uri="{FF2B5EF4-FFF2-40B4-BE49-F238E27FC236}">
                <a16:creationId xmlns:a16="http://schemas.microsoft.com/office/drawing/2014/main" id="{43EE5875-DB50-8F42-9E84-EBF455D6C7E5}"/>
              </a:ext>
            </a:extLst>
          </p:cNvPr>
          <p:cNvGrpSpPr>
            <a:grpSpLocks/>
          </p:cNvGrpSpPr>
          <p:nvPr/>
        </p:nvGrpSpPr>
        <p:grpSpPr bwMode="auto">
          <a:xfrm rot="10800000" flipH="1">
            <a:off x="3242010" y="4065933"/>
            <a:ext cx="1078742" cy="386798"/>
            <a:chOff x="171" y="2454"/>
            <a:chExt cx="1086" cy="357"/>
          </a:xfrm>
        </p:grpSpPr>
        <p:sp>
          <p:nvSpPr>
            <p:cNvPr id="194" name="Rectangle 40">
              <a:extLst>
                <a:ext uri="{FF2B5EF4-FFF2-40B4-BE49-F238E27FC236}">
                  <a16:creationId xmlns:a16="http://schemas.microsoft.com/office/drawing/2014/main" id="{906CC695-2DD1-2E42-A750-72D294151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54"/>
              <a:ext cx="1084" cy="35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5" name="Rectangle 41">
              <a:extLst>
                <a:ext uri="{FF2B5EF4-FFF2-40B4-BE49-F238E27FC236}">
                  <a16:creationId xmlns:a16="http://schemas.microsoft.com/office/drawing/2014/main" id="{99D0D5A4-1E5B-0B43-A1B7-FD7BC835D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" y="2554"/>
              <a:ext cx="337" cy="1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6" name="Rectangle 42">
              <a:extLst>
                <a:ext uri="{FF2B5EF4-FFF2-40B4-BE49-F238E27FC236}">
                  <a16:creationId xmlns:a16="http://schemas.microsoft.com/office/drawing/2014/main" id="{6140224D-DBC1-EB40-AFE8-D6D0132B5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" y="2490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3C6CD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7" name="Rectangle 43">
              <a:extLst>
                <a:ext uri="{FF2B5EF4-FFF2-40B4-BE49-F238E27FC236}">
                  <a16:creationId xmlns:a16="http://schemas.microsoft.com/office/drawing/2014/main" id="{0A00DDFA-F665-324F-A415-D0B5E35A5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" y="2488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93" name="Line 44">
            <a:extLst>
              <a:ext uri="{FF2B5EF4-FFF2-40B4-BE49-F238E27FC236}">
                <a16:creationId xmlns:a16="http://schemas.microsoft.com/office/drawing/2014/main" id="{A888E476-EAD9-6C4A-A7A3-DDB9C8C3A0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1494" y="4260957"/>
            <a:ext cx="147209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9" name="Group 39">
            <a:extLst>
              <a:ext uri="{FF2B5EF4-FFF2-40B4-BE49-F238E27FC236}">
                <a16:creationId xmlns:a16="http://schemas.microsoft.com/office/drawing/2014/main" id="{861F8D20-AD91-3246-9499-A09CBEB79CED}"/>
              </a:ext>
            </a:extLst>
          </p:cNvPr>
          <p:cNvGrpSpPr>
            <a:grpSpLocks/>
          </p:cNvGrpSpPr>
          <p:nvPr/>
        </p:nvGrpSpPr>
        <p:grpSpPr bwMode="auto">
          <a:xfrm rot="10800000" flipH="1">
            <a:off x="3248636" y="5729080"/>
            <a:ext cx="1078742" cy="386798"/>
            <a:chOff x="171" y="2454"/>
            <a:chExt cx="1086" cy="357"/>
          </a:xfrm>
        </p:grpSpPr>
        <p:sp>
          <p:nvSpPr>
            <p:cNvPr id="201" name="Rectangle 40">
              <a:extLst>
                <a:ext uri="{FF2B5EF4-FFF2-40B4-BE49-F238E27FC236}">
                  <a16:creationId xmlns:a16="http://schemas.microsoft.com/office/drawing/2014/main" id="{C04E48EB-4A34-004B-84AD-61BC56BA5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" y="2454"/>
              <a:ext cx="1084" cy="35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2" name="Rectangle 41">
              <a:extLst>
                <a:ext uri="{FF2B5EF4-FFF2-40B4-BE49-F238E27FC236}">
                  <a16:creationId xmlns:a16="http://schemas.microsoft.com/office/drawing/2014/main" id="{D0C6BD53-6130-A748-BC48-3FA658887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" y="2554"/>
              <a:ext cx="337" cy="16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3" name="Rectangle 42">
              <a:extLst>
                <a:ext uri="{FF2B5EF4-FFF2-40B4-BE49-F238E27FC236}">
                  <a16:creationId xmlns:a16="http://schemas.microsoft.com/office/drawing/2014/main" id="{19984A44-E408-0A4C-A437-40EAEAA84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" y="2490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3C6CD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4" name="Rectangle 43">
              <a:extLst>
                <a:ext uri="{FF2B5EF4-FFF2-40B4-BE49-F238E27FC236}">
                  <a16:creationId xmlns:a16="http://schemas.microsoft.com/office/drawing/2014/main" id="{30660A84-3620-0541-9A93-C5E1D76F1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" y="2488"/>
              <a:ext cx="274" cy="27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00" name="Line 44">
            <a:extLst>
              <a:ext uri="{FF2B5EF4-FFF2-40B4-BE49-F238E27FC236}">
                <a16:creationId xmlns:a16="http://schemas.microsoft.com/office/drawing/2014/main" id="{975E947C-3697-5947-8DC9-3EF33B31BD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8120" y="5924104"/>
            <a:ext cx="147209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" name="Content Placeholder 2">
            <a:extLst>
              <a:ext uri="{FF2B5EF4-FFF2-40B4-BE49-F238E27FC236}">
                <a16:creationId xmlns:a16="http://schemas.microsoft.com/office/drawing/2014/main" id="{DC2E6EA4-0C86-5F4C-BB3E-C92E5B769FC5}"/>
              </a:ext>
            </a:extLst>
          </p:cNvPr>
          <p:cNvSpPr txBox="1">
            <a:spLocks/>
          </p:cNvSpPr>
          <p:nvPr/>
        </p:nvSpPr>
        <p:spPr>
          <a:xfrm>
            <a:off x="805070" y="1889680"/>
            <a:ext cx="11035748" cy="2317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switching rate: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rate at which packets can be transfer from inputs to outputs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often measured as multiple of input/output line rate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inputs: switching rate N times line rate desirable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E77334-DD7E-1B48-8BC7-370BDB02F09A}"/>
              </a:ext>
            </a:extLst>
          </p:cNvPr>
          <p:cNvSpPr txBox="1"/>
          <p:nvPr/>
        </p:nvSpPr>
        <p:spPr>
          <a:xfrm>
            <a:off x="2756452" y="408167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38F21D3F-8391-534C-9242-3758758C301A}"/>
              </a:ext>
            </a:extLst>
          </p:cNvPr>
          <p:cNvSpPr txBox="1"/>
          <p:nvPr/>
        </p:nvSpPr>
        <p:spPr>
          <a:xfrm>
            <a:off x="2749826" y="571831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58A4E43E-89E0-E547-8C85-19EA30836952}"/>
              </a:ext>
            </a:extLst>
          </p:cNvPr>
          <p:cNvSpPr txBox="1"/>
          <p:nvPr/>
        </p:nvSpPr>
        <p:spPr>
          <a:xfrm>
            <a:off x="7593495" y="408167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94AA5E3-B3F2-B445-8CEF-84D33DC4565C}"/>
              </a:ext>
            </a:extLst>
          </p:cNvPr>
          <p:cNvSpPr txBox="1"/>
          <p:nvPr/>
        </p:nvSpPr>
        <p:spPr>
          <a:xfrm>
            <a:off x="7586868" y="571831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D02FF0-F045-2443-B110-8EA634D57D8A}"/>
              </a:ext>
            </a:extLst>
          </p:cNvPr>
          <p:cNvSpPr txBox="1"/>
          <p:nvPr/>
        </p:nvSpPr>
        <p:spPr>
          <a:xfrm>
            <a:off x="4611758" y="4094922"/>
            <a:ext cx="1331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(rate: NR, ideally)</a:t>
            </a:r>
          </a:p>
        </p:txBody>
      </p:sp>
      <p:sp>
        <p:nvSpPr>
          <p:cNvPr id="43" name="Slide Number Placeholder 4">
            <a:extLst>
              <a:ext uri="{FF2B5EF4-FFF2-40B4-BE49-F238E27FC236}">
                <a16:creationId xmlns:a16="http://schemas.microsoft.com/office/drawing/2014/main" id="{1006AEB9-8E30-BF47-8218-D88E2916AC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Network Layer: 4-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9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800" dirty="0">
                <a:ea typeface="ＭＳ Ｐゴシック" panose="020B0600070205080204" pitchFamily="34" charset="-128"/>
              </a:rPr>
              <a:t>Switching fabrics</a:t>
            </a:r>
            <a:endParaRPr lang="en-US" sz="4800" dirty="0"/>
          </a:p>
        </p:txBody>
      </p:sp>
      <p:grpSp>
        <p:nvGrpSpPr>
          <p:cNvPr id="311" name="Group 80">
            <a:extLst>
              <a:ext uri="{FF2B5EF4-FFF2-40B4-BE49-F238E27FC236}">
                <a16:creationId xmlns:a16="http://schemas.microsoft.com/office/drawing/2014/main" id="{3ECBEF50-5AB0-494A-8A71-7779C83BEB48}"/>
              </a:ext>
            </a:extLst>
          </p:cNvPr>
          <p:cNvGrpSpPr>
            <a:grpSpLocks/>
          </p:cNvGrpSpPr>
          <p:nvPr/>
        </p:nvGrpSpPr>
        <p:grpSpPr bwMode="auto">
          <a:xfrm>
            <a:off x="4769281" y="4484392"/>
            <a:ext cx="1093120" cy="215900"/>
            <a:chOff x="876" y="2800"/>
            <a:chExt cx="788" cy="175"/>
          </a:xfrm>
        </p:grpSpPr>
        <p:sp>
          <p:nvSpPr>
            <p:cNvPr id="312" name="Rectangle 81">
              <a:extLst>
                <a:ext uri="{FF2B5EF4-FFF2-40B4-BE49-F238E27FC236}">
                  <a16:creationId xmlns:a16="http://schemas.microsoft.com/office/drawing/2014/main" id="{37D52850-F316-4144-A0B4-19C304D68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Rectangle 82">
              <a:extLst>
                <a:ext uri="{FF2B5EF4-FFF2-40B4-BE49-F238E27FC236}">
                  <a16:creationId xmlns:a16="http://schemas.microsoft.com/office/drawing/2014/main" id="{69439B26-261D-744E-9369-27374726E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Rectangle 83">
              <a:extLst>
                <a:ext uri="{FF2B5EF4-FFF2-40B4-BE49-F238E27FC236}">
                  <a16:creationId xmlns:a16="http://schemas.microsoft.com/office/drawing/2014/main" id="{1B510572-6B31-7748-A75A-BF9B27F849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Rectangle 84">
              <a:extLst>
                <a:ext uri="{FF2B5EF4-FFF2-40B4-BE49-F238E27FC236}">
                  <a16:creationId xmlns:a16="http://schemas.microsoft.com/office/drawing/2014/main" id="{09923AAC-D18D-164E-B81F-A06E6E34C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Line 85">
              <a:extLst>
                <a:ext uri="{FF2B5EF4-FFF2-40B4-BE49-F238E27FC236}">
                  <a16:creationId xmlns:a16="http://schemas.microsoft.com/office/drawing/2014/main" id="{7260ED2A-03CA-CD4D-ADAC-6C8DFBED0D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" y="2887"/>
              <a:ext cx="7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17" name="Group 86">
            <a:extLst>
              <a:ext uri="{FF2B5EF4-FFF2-40B4-BE49-F238E27FC236}">
                <a16:creationId xmlns:a16="http://schemas.microsoft.com/office/drawing/2014/main" id="{BE86221D-4C38-2645-B32F-F1F6D4B5168D}"/>
              </a:ext>
            </a:extLst>
          </p:cNvPr>
          <p:cNvGrpSpPr>
            <a:grpSpLocks/>
          </p:cNvGrpSpPr>
          <p:nvPr/>
        </p:nvGrpSpPr>
        <p:grpSpPr bwMode="auto">
          <a:xfrm>
            <a:off x="4767694" y="4879680"/>
            <a:ext cx="1094506" cy="215900"/>
            <a:chOff x="876" y="2800"/>
            <a:chExt cx="789" cy="175"/>
          </a:xfrm>
        </p:grpSpPr>
        <p:sp>
          <p:nvSpPr>
            <p:cNvPr id="318" name="Rectangle 87">
              <a:extLst>
                <a:ext uri="{FF2B5EF4-FFF2-40B4-BE49-F238E27FC236}">
                  <a16:creationId xmlns:a16="http://schemas.microsoft.com/office/drawing/2014/main" id="{996C6DCD-B0C9-FD49-B834-5736A5B7D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9" name="Rectangle 88">
              <a:extLst>
                <a:ext uri="{FF2B5EF4-FFF2-40B4-BE49-F238E27FC236}">
                  <a16:creationId xmlns:a16="http://schemas.microsoft.com/office/drawing/2014/main" id="{4C49FD79-8AA8-374F-9E0F-16366ADC4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Rectangle 89">
              <a:extLst>
                <a:ext uri="{FF2B5EF4-FFF2-40B4-BE49-F238E27FC236}">
                  <a16:creationId xmlns:a16="http://schemas.microsoft.com/office/drawing/2014/main" id="{30AA73C6-743D-744D-8076-CEB84412F6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Rectangle 90">
              <a:extLst>
                <a:ext uri="{FF2B5EF4-FFF2-40B4-BE49-F238E27FC236}">
                  <a16:creationId xmlns:a16="http://schemas.microsoft.com/office/drawing/2014/main" id="{4090BF92-DB22-2543-BF40-68E82A14D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Line 91">
              <a:extLst>
                <a:ext uri="{FF2B5EF4-FFF2-40B4-BE49-F238E27FC236}">
                  <a16:creationId xmlns:a16="http://schemas.microsoft.com/office/drawing/2014/main" id="{A9CC5C11-4FA7-CD4B-974B-BE7F20975D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" y="2887"/>
              <a:ext cx="7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3" name="Group 92">
            <a:extLst>
              <a:ext uri="{FF2B5EF4-FFF2-40B4-BE49-F238E27FC236}">
                <a16:creationId xmlns:a16="http://schemas.microsoft.com/office/drawing/2014/main" id="{7F0C30F0-93C0-7B41-A148-F2583C432712}"/>
              </a:ext>
            </a:extLst>
          </p:cNvPr>
          <p:cNvGrpSpPr>
            <a:grpSpLocks/>
          </p:cNvGrpSpPr>
          <p:nvPr/>
        </p:nvGrpSpPr>
        <p:grpSpPr bwMode="auto">
          <a:xfrm>
            <a:off x="4762932" y="5306717"/>
            <a:ext cx="1079248" cy="215900"/>
            <a:chOff x="876" y="2800"/>
            <a:chExt cx="778" cy="175"/>
          </a:xfrm>
        </p:grpSpPr>
        <p:sp>
          <p:nvSpPr>
            <p:cNvPr id="324" name="Rectangle 93">
              <a:extLst>
                <a:ext uri="{FF2B5EF4-FFF2-40B4-BE49-F238E27FC236}">
                  <a16:creationId xmlns:a16="http://schemas.microsoft.com/office/drawing/2014/main" id="{FE2D31CC-2899-6644-8262-069C836FE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" y="2800"/>
              <a:ext cx="485" cy="17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5" name="Rectangle 94">
              <a:extLst>
                <a:ext uri="{FF2B5EF4-FFF2-40B4-BE49-F238E27FC236}">
                  <a16:creationId xmlns:a16="http://schemas.microsoft.com/office/drawing/2014/main" id="{E084BCAF-AF68-F044-95BA-E9DD3AB8A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2849"/>
              <a:ext cx="151" cy="7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6" name="Rectangle 95">
              <a:extLst>
                <a:ext uri="{FF2B5EF4-FFF2-40B4-BE49-F238E27FC236}">
                  <a16:creationId xmlns:a16="http://schemas.microsoft.com/office/drawing/2014/main" id="{21E8CE31-B88B-E249-802C-CD6E7DB90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2818"/>
              <a:ext cx="124" cy="13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7" name="Rectangle 96">
              <a:extLst>
                <a:ext uri="{FF2B5EF4-FFF2-40B4-BE49-F238E27FC236}">
                  <a16:creationId xmlns:a16="http://schemas.microsoft.com/office/drawing/2014/main" id="{1D496C77-4D8A-4B49-BD5B-56233FC90D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815"/>
              <a:ext cx="125" cy="1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8" name="Line 97">
              <a:extLst>
                <a:ext uri="{FF2B5EF4-FFF2-40B4-BE49-F238E27FC236}">
                  <a16:creationId xmlns:a16="http://schemas.microsoft.com/office/drawing/2014/main" id="{A04C69F2-C1EE-854B-B285-27D90EB90A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" y="2887"/>
              <a:ext cx="77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29" name="Line 98">
            <a:extLst>
              <a:ext uri="{FF2B5EF4-FFF2-40B4-BE49-F238E27FC236}">
                <a16:creationId xmlns:a16="http://schemas.microsoft.com/office/drawing/2014/main" id="{C1BD91B1-20FC-3B4C-8D6A-F8B58DCC0D0C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8461" y="4492509"/>
            <a:ext cx="0" cy="10033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30" name="Group 99">
            <a:extLst>
              <a:ext uri="{FF2B5EF4-FFF2-40B4-BE49-F238E27FC236}">
                <a16:creationId xmlns:a16="http://schemas.microsoft.com/office/drawing/2014/main" id="{81F4A5FC-EF4D-2A48-8784-1750FC54BE25}"/>
              </a:ext>
            </a:extLst>
          </p:cNvPr>
          <p:cNvGrpSpPr>
            <a:grpSpLocks/>
          </p:cNvGrpSpPr>
          <p:nvPr/>
        </p:nvGrpSpPr>
        <p:grpSpPr bwMode="auto">
          <a:xfrm>
            <a:off x="5956300" y="4501349"/>
            <a:ext cx="1030288" cy="215900"/>
            <a:chOff x="367" y="3463"/>
            <a:chExt cx="649" cy="136"/>
          </a:xfrm>
        </p:grpSpPr>
        <p:sp>
          <p:nvSpPr>
            <p:cNvPr id="331" name="Rectangle 100">
              <a:extLst>
                <a:ext uri="{FF2B5EF4-FFF2-40B4-BE49-F238E27FC236}">
                  <a16:creationId xmlns:a16="http://schemas.microsoft.com/office/drawing/2014/main" id="{2FA335FE-AECE-F547-B1ED-C257408CF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Rectangle 101">
              <a:extLst>
                <a:ext uri="{FF2B5EF4-FFF2-40B4-BE49-F238E27FC236}">
                  <a16:creationId xmlns:a16="http://schemas.microsoft.com/office/drawing/2014/main" id="{5F80436E-3841-8349-8966-AB341E01A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102">
              <a:extLst>
                <a:ext uri="{FF2B5EF4-FFF2-40B4-BE49-F238E27FC236}">
                  <a16:creationId xmlns:a16="http://schemas.microsoft.com/office/drawing/2014/main" id="{36262B26-2B10-664E-B485-2B0BF6B95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4" name="Rectangle 103">
              <a:extLst>
                <a:ext uri="{FF2B5EF4-FFF2-40B4-BE49-F238E27FC236}">
                  <a16:creationId xmlns:a16="http://schemas.microsoft.com/office/drawing/2014/main" id="{B2511842-B5CE-E242-9E79-819A629F7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5" name="Line 104">
              <a:extLst>
                <a:ext uri="{FF2B5EF4-FFF2-40B4-BE49-F238E27FC236}">
                  <a16:creationId xmlns:a16="http://schemas.microsoft.com/office/drawing/2014/main" id="{CAAFBF8F-0301-0F4D-9DF5-B3DD1EC8C7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" y="3527"/>
              <a:ext cx="64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6" name="Group 105">
            <a:extLst>
              <a:ext uri="{FF2B5EF4-FFF2-40B4-BE49-F238E27FC236}">
                <a16:creationId xmlns:a16="http://schemas.microsoft.com/office/drawing/2014/main" id="{7BFAB449-E2DA-3147-849E-09A6366B098F}"/>
              </a:ext>
            </a:extLst>
          </p:cNvPr>
          <p:cNvGrpSpPr>
            <a:grpSpLocks/>
          </p:cNvGrpSpPr>
          <p:nvPr/>
        </p:nvGrpSpPr>
        <p:grpSpPr bwMode="auto">
          <a:xfrm>
            <a:off x="5946775" y="4893462"/>
            <a:ext cx="1044574" cy="215900"/>
            <a:chOff x="358" y="3463"/>
            <a:chExt cx="658" cy="136"/>
          </a:xfrm>
        </p:grpSpPr>
        <p:sp>
          <p:nvSpPr>
            <p:cNvPr id="337" name="Rectangle 106">
              <a:extLst>
                <a:ext uri="{FF2B5EF4-FFF2-40B4-BE49-F238E27FC236}">
                  <a16:creationId xmlns:a16="http://schemas.microsoft.com/office/drawing/2014/main" id="{9C435B71-B7F9-FB4C-83FD-6F3745D78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107">
              <a:extLst>
                <a:ext uri="{FF2B5EF4-FFF2-40B4-BE49-F238E27FC236}">
                  <a16:creationId xmlns:a16="http://schemas.microsoft.com/office/drawing/2014/main" id="{09CF7D3E-B128-CD40-817F-B76520EE2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9" name="Rectangle 108">
              <a:extLst>
                <a:ext uri="{FF2B5EF4-FFF2-40B4-BE49-F238E27FC236}">
                  <a16:creationId xmlns:a16="http://schemas.microsoft.com/office/drawing/2014/main" id="{86FC5905-2FC0-E848-B8C8-C68F4ACE3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0" name="Rectangle 109">
              <a:extLst>
                <a:ext uri="{FF2B5EF4-FFF2-40B4-BE49-F238E27FC236}">
                  <a16:creationId xmlns:a16="http://schemas.microsoft.com/office/drawing/2014/main" id="{D25B9F48-5027-6E4E-BF5B-3A43EB204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1" name="Line 110">
              <a:extLst>
                <a:ext uri="{FF2B5EF4-FFF2-40B4-BE49-F238E27FC236}">
                  <a16:creationId xmlns:a16="http://schemas.microsoft.com/office/drawing/2014/main" id="{9C3B50DE-BC7E-DC41-A996-2C8F99ABF5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8" y="3527"/>
              <a:ext cx="65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42" name="Group 111">
            <a:extLst>
              <a:ext uri="{FF2B5EF4-FFF2-40B4-BE49-F238E27FC236}">
                <a16:creationId xmlns:a16="http://schemas.microsoft.com/office/drawing/2014/main" id="{7DF99D71-DDE6-BB4A-B28F-8F67E7B81B51}"/>
              </a:ext>
            </a:extLst>
          </p:cNvPr>
          <p:cNvGrpSpPr>
            <a:grpSpLocks/>
          </p:cNvGrpSpPr>
          <p:nvPr/>
        </p:nvGrpSpPr>
        <p:grpSpPr bwMode="auto">
          <a:xfrm>
            <a:off x="5945368" y="5315556"/>
            <a:ext cx="1046163" cy="215900"/>
            <a:chOff x="357" y="3463"/>
            <a:chExt cx="659" cy="136"/>
          </a:xfrm>
        </p:grpSpPr>
        <p:sp>
          <p:nvSpPr>
            <p:cNvPr id="343" name="Rectangle 112">
              <a:extLst>
                <a:ext uri="{FF2B5EF4-FFF2-40B4-BE49-F238E27FC236}">
                  <a16:creationId xmlns:a16="http://schemas.microsoft.com/office/drawing/2014/main" id="{DADCADDA-AA8E-4A44-881D-9DC078380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463"/>
              <a:ext cx="424" cy="13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Rectangle 113">
              <a:extLst>
                <a:ext uri="{FF2B5EF4-FFF2-40B4-BE49-F238E27FC236}">
                  <a16:creationId xmlns:a16="http://schemas.microsoft.com/office/drawing/2014/main" id="{7B071F8D-7A94-0545-B654-6656D3617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" y="3500"/>
              <a:ext cx="132" cy="6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Rectangle 114">
              <a:extLst>
                <a:ext uri="{FF2B5EF4-FFF2-40B4-BE49-F238E27FC236}">
                  <a16:creationId xmlns:a16="http://schemas.microsoft.com/office/drawing/2014/main" id="{030036A2-20DE-2444-AEBC-ED30EF2E2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" y="3477"/>
              <a:ext cx="108" cy="10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Rectangle 115">
              <a:extLst>
                <a:ext uri="{FF2B5EF4-FFF2-40B4-BE49-F238E27FC236}">
                  <a16:creationId xmlns:a16="http://schemas.microsoft.com/office/drawing/2014/main" id="{618626AC-F6A7-144F-9ECD-C4110EE9D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480"/>
              <a:ext cx="108" cy="10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Line 116">
              <a:extLst>
                <a:ext uri="{FF2B5EF4-FFF2-40B4-BE49-F238E27FC236}">
                  <a16:creationId xmlns:a16="http://schemas.microsoft.com/office/drawing/2014/main" id="{75B1015E-550F-F445-8AAB-4865BC07F6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7" y="3527"/>
              <a:ext cx="65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48" name="Text Box 117">
            <a:extLst>
              <a:ext uri="{FF2B5EF4-FFF2-40B4-BE49-F238E27FC236}">
                <a16:creationId xmlns:a16="http://schemas.microsoft.com/office/drawing/2014/main" id="{65D98CB2-870D-B84B-9B0C-A2C174F40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4477" y="5835029"/>
            <a:ext cx="552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bus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D7B28A1-7CC4-EC46-9F15-0A766D5FA67A}"/>
              </a:ext>
            </a:extLst>
          </p:cNvPr>
          <p:cNvGrpSpPr/>
          <p:nvPr/>
        </p:nvGrpSpPr>
        <p:grpSpPr>
          <a:xfrm>
            <a:off x="1186899" y="4439064"/>
            <a:ext cx="2798763" cy="1752600"/>
            <a:chOff x="1968777" y="4452316"/>
            <a:chExt cx="2798763" cy="1752600"/>
          </a:xfrm>
        </p:grpSpPr>
        <p:grpSp>
          <p:nvGrpSpPr>
            <p:cNvPr id="272" name="Group 30">
              <a:extLst>
                <a:ext uri="{FF2B5EF4-FFF2-40B4-BE49-F238E27FC236}">
                  <a16:creationId xmlns:a16="http://schemas.microsoft.com/office/drawing/2014/main" id="{3C7C2E39-B8FC-2E4E-8EA7-9980DBE089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1177" y="4534866"/>
              <a:ext cx="890588" cy="215900"/>
              <a:chOff x="876" y="2800"/>
              <a:chExt cx="642" cy="175"/>
            </a:xfrm>
          </p:grpSpPr>
          <p:sp>
            <p:nvSpPr>
              <p:cNvPr id="273" name="Rectangle 7">
                <a:extLst>
                  <a:ext uri="{FF2B5EF4-FFF2-40B4-BE49-F238E27FC236}">
                    <a16:creationId xmlns:a16="http://schemas.microsoft.com/office/drawing/2014/main" id="{1C7F0720-4AD3-7241-A18F-1322594DDD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4" name="Rectangle 8">
                <a:extLst>
                  <a:ext uri="{FF2B5EF4-FFF2-40B4-BE49-F238E27FC236}">
                    <a16:creationId xmlns:a16="http://schemas.microsoft.com/office/drawing/2014/main" id="{6355CF5C-E1D3-BA4C-9C14-531EDEA37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5" name="Rectangle 9">
                <a:extLst>
                  <a:ext uri="{FF2B5EF4-FFF2-40B4-BE49-F238E27FC236}">
                    <a16:creationId xmlns:a16="http://schemas.microsoft.com/office/drawing/2014/main" id="{41497BCF-AE4C-5744-A422-5C5FDE760F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6" name="Rectangle 10">
                <a:extLst>
                  <a:ext uri="{FF2B5EF4-FFF2-40B4-BE49-F238E27FC236}">
                    <a16:creationId xmlns:a16="http://schemas.microsoft.com/office/drawing/2014/main" id="{BC5034A8-3C30-BA4E-9BC2-0F43C7DAE0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7" name="Line 11">
                <a:extLst>
                  <a:ext uri="{FF2B5EF4-FFF2-40B4-BE49-F238E27FC236}">
                    <a16:creationId xmlns:a16="http://schemas.microsoft.com/office/drawing/2014/main" id="{B5DB05AA-F635-D242-8616-F8A3AA1232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78" name="Group 45">
              <a:extLst>
                <a:ext uri="{FF2B5EF4-FFF2-40B4-BE49-F238E27FC236}">
                  <a16:creationId xmlns:a16="http://schemas.microsoft.com/office/drawing/2014/main" id="{8F35E416-2B65-1B4A-A2ED-DF0FCBEF83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7365" y="4930154"/>
              <a:ext cx="890587" cy="215900"/>
              <a:chOff x="876" y="2800"/>
              <a:chExt cx="642" cy="175"/>
            </a:xfrm>
          </p:grpSpPr>
          <p:sp>
            <p:nvSpPr>
              <p:cNvPr id="279" name="Rectangle 46">
                <a:extLst>
                  <a:ext uri="{FF2B5EF4-FFF2-40B4-BE49-F238E27FC236}">
                    <a16:creationId xmlns:a16="http://schemas.microsoft.com/office/drawing/2014/main" id="{38918ABB-CEF1-BE45-AEE3-24901AE839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0" name="Rectangle 47">
                <a:extLst>
                  <a:ext uri="{FF2B5EF4-FFF2-40B4-BE49-F238E27FC236}">
                    <a16:creationId xmlns:a16="http://schemas.microsoft.com/office/drawing/2014/main" id="{FA6EFB7D-6BC0-FB42-BB60-753DA2C2F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1" name="Rectangle 48">
                <a:extLst>
                  <a:ext uri="{FF2B5EF4-FFF2-40B4-BE49-F238E27FC236}">
                    <a16:creationId xmlns:a16="http://schemas.microsoft.com/office/drawing/2014/main" id="{E6160B5F-9E39-C440-A991-AFCD9768C2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2" name="Rectangle 49">
                <a:extLst>
                  <a:ext uri="{FF2B5EF4-FFF2-40B4-BE49-F238E27FC236}">
                    <a16:creationId xmlns:a16="http://schemas.microsoft.com/office/drawing/2014/main" id="{732D2AFE-3597-644A-97A1-28DD2F90A4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3" name="Line 50">
                <a:extLst>
                  <a:ext uri="{FF2B5EF4-FFF2-40B4-BE49-F238E27FC236}">
                    <a16:creationId xmlns:a16="http://schemas.microsoft.com/office/drawing/2014/main" id="{F3A2C82B-D735-2341-9B29-100DEE8F8C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84" name="Group 51">
              <a:extLst>
                <a:ext uri="{FF2B5EF4-FFF2-40B4-BE49-F238E27FC236}">
                  <a16:creationId xmlns:a16="http://schemas.microsoft.com/office/drawing/2014/main" id="{6BA36712-4E6B-3D4E-ABC4-0CE286CF56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2602" y="5357191"/>
              <a:ext cx="890588" cy="215900"/>
              <a:chOff x="876" y="2800"/>
              <a:chExt cx="642" cy="175"/>
            </a:xfrm>
          </p:grpSpPr>
          <p:sp>
            <p:nvSpPr>
              <p:cNvPr id="285" name="Rectangle 52">
                <a:extLst>
                  <a:ext uri="{FF2B5EF4-FFF2-40B4-BE49-F238E27FC236}">
                    <a16:creationId xmlns:a16="http://schemas.microsoft.com/office/drawing/2014/main" id="{129DC514-3311-A645-A11D-4FF6C0B87A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6" name="Rectangle 53">
                <a:extLst>
                  <a:ext uri="{FF2B5EF4-FFF2-40B4-BE49-F238E27FC236}">
                    <a16:creationId xmlns:a16="http://schemas.microsoft.com/office/drawing/2014/main" id="{E067EF7E-DADF-0B4B-A13F-44B8E34072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7" name="Rectangle 54">
                <a:extLst>
                  <a:ext uri="{FF2B5EF4-FFF2-40B4-BE49-F238E27FC236}">
                    <a16:creationId xmlns:a16="http://schemas.microsoft.com/office/drawing/2014/main" id="{9301E58F-0697-8D42-8D86-7240128C54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8" name="Rectangle 55">
                <a:extLst>
                  <a:ext uri="{FF2B5EF4-FFF2-40B4-BE49-F238E27FC236}">
                    <a16:creationId xmlns:a16="http://schemas.microsoft.com/office/drawing/2014/main" id="{91AC650D-8A42-5745-8F86-B02FF0476B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9" name="Line 56">
                <a:extLst>
                  <a:ext uri="{FF2B5EF4-FFF2-40B4-BE49-F238E27FC236}">
                    <a16:creationId xmlns:a16="http://schemas.microsoft.com/office/drawing/2014/main" id="{F9808253-1247-4A4E-96D0-B5614778EF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90" name="Rectangle 57">
              <a:extLst>
                <a:ext uri="{FF2B5EF4-FFF2-40B4-BE49-F238E27FC236}">
                  <a16:creationId xmlns:a16="http://schemas.microsoft.com/office/drawing/2014/main" id="{41269D84-F7BD-3F4B-9EE9-23A8785FC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0015" y="4452316"/>
              <a:ext cx="704850" cy="117633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1" name="Group 64">
              <a:extLst>
                <a:ext uri="{FF2B5EF4-FFF2-40B4-BE49-F238E27FC236}">
                  <a16:creationId xmlns:a16="http://schemas.microsoft.com/office/drawing/2014/main" id="{F48BF83F-9F4E-FD44-89AF-AD40F44A1B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9627" y="4533279"/>
              <a:ext cx="890588" cy="215900"/>
              <a:chOff x="455" y="3463"/>
              <a:chExt cx="561" cy="136"/>
            </a:xfrm>
          </p:grpSpPr>
          <p:sp>
            <p:nvSpPr>
              <p:cNvPr id="292" name="Rectangle 59">
                <a:extLst>
                  <a:ext uri="{FF2B5EF4-FFF2-40B4-BE49-F238E27FC236}">
                    <a16:creationId xmlns:a16="http://schemas.microsoft.com/office/drawing/2014/main" id="{4E120DDC-4D03-F842-94AF-27555EDB5C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" y="3463"/>
                <a:ext cx="424" cy="13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3" name="Rectangle 60">
                <a:extLst>
                  <a:ext uri="{FF2B5EF4-FFF2-40B4-BE49-F238E27FC236}">
                    <a16:creationId xmlns:a16="http://schemas.microsoft.com/office/drawing/2014/main" id="{3E424F24-DEF2-7747-8B32-D2D41DCCB1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1" y="3500"/>
                <a:ext cx="132" cy="6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4" name="Rectangle 61">
                <a:extLst>
                  <a:ext uri="{FF2B5EF4-FFF2-40B4-BE49-F238E27FC236}">
                    <a16:creationId xmlns:a16="http://schemas.microsoft.com/office/drawing/2014/main" id="{FCB1CF36-46B1-EA41-94AF-564D1A4536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" y="3477"/>
                <a:ext cx="108" cy="1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5" name="Rectangle 62">
                <a:extLst>
                  <a:ext uri="{FF2B5EF4-FFF2-40B4-BE49-F238E27FC236}">
                    <a16:creationId xmlns:a16="http://schemas.microsoft.com/office/drawing/2014/main" id="{1B49B267-612F-D84F-B02E-C419C0367B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" y="3480"/>
                <a:ext cx="108" cy="10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6" name="Line 63">
                <a:extLst>
                  <a:ext uri="{FF2B5EF4-FFF2-40B4-BE49-F238E27FC236}">
                    <a16:creationId xmlns:a16="http://schemas.microsoft.com/office/drawing/2014/main" id="{DCB1F4FA-6E22-F34F-B286-A108C325D3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5" y="3527"/>
                <a:ext cx="561" cy="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97" name="Group 65">
              <a:extLst>
                <a:ext uri="{FF2B5EF4-FFF2-40B4-BE49-F238E27FC236}">
                  <a16:creationId xmlns:a16="http://schemas.microsoft.com/office/drawing/2014/main" id="{719D39D4-FB51-7642-A36C-2BA36F1698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4390" y="4925391"/>
              <a:ext cx="890587" cy="215900"/>
              <a:chOff x="455" y="3463"/>
              <a:chExt cx="561" cy="136"/>
            </a:xfrm>
          </p:grpSpPr>
          <p:sp>
            <p:nvSpPr>
              <p:cNvPr id="298" name="Rectangle 66">
                <a:extLst>
                  <a:ext uri="{FF2B5EF4-FFF2-40B4-BE49-F238E27FC236}">
                    <a16:creationId xmlns:a16="http://schemas.microsoft.com/office/drawing/2014/main" id="{95FB090C-CEEB-C642-B6E3-796C33946B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" y="3463"/>
                <a:ext cx="424" cy="13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9" name="Rectangle 67">
                <a:extLst>
                  <a:ext uri="{FF2B5EF4-FFF2-40B4-BE49-F238E27FC236}">
                    <a16:creationId xmlns:a16="http://schemas.microsoft.com/office/drawing/2014/main" id="{90EE24D2-2A23-8A4B-AA6C-77A540AF2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1" y="3500"/>
                <a:ext cx="132" cy="6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0" name="Rectangle 68">
                <a:extLst>
                  <a:ext uri="{FF2B5EF4-FFF2-40B4-BE49-F238E27FC236}">
                    <a16:creationId xmlns:a16="http://schemas.microsoft.com/office/drawing/2014/main" id="{0EE5C8FE-A545-1047-B033-D000FCC810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" y="3477"/>
                <a:ext cx="108" cy="1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1" name="Rectangle 69">
                <a:extLst>
                  <a:ext uri="{FF2B5EF4-FFF2-40B4-BE49-F238E27FC236}">
                    <a16:creationId xmlns:a16="http://schemas.microsoft.com/office/drawing/2014/main" id="{4875E736-57B1-E048-9DED-51F8EBE441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" y="3480"/>
                <a:ext cx="108" cy="10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2" name="Line 70">
                <a:extLst>
                  <a:ext uri="{FF2B5EF4-FFF2-40B4-BE49-F238E27FC236}">
                    <a16:creationId xmlns:a16="http://schemas.microsoft.com/office/drawing/2014/main" id="{F1131A5F-4FDC-6741-B569-1128DD469C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5" y="3527"/>
                <a:ext cx="561" cy="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03" name="Group 71">
              <a:extLst>
                <a:ext uri="{FF2B5EF4-FFF2-40B4-BE49-F238E27FC236}">
                  <a16:creationId xmlns:a16="http://schemas.microsoft.com/office/drawing/2014/main" id="{563249F4-CC55-FB4F-A620-0484EEFEF1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9627" y="5352429"/>
              <a:ext cx="890588" cy="215900"/>
              <a:chOff x="455" y="3463"/>
              <a:chExt cx="561" cy="136"/>
            </a:xfrm>
          </p:grpSpPr>
          <p:sp>
            <p:nvSpPr>
              <p:cNvPr id="304" name="Rectangle 72">
                <a:extLst>
                  <a:ext uri="{FF2B5EF4-FFF2-40B4-BE49-F238E27FC236}">
                    <a16:creationId xmlns:a16="http://schemas.microsoft.com/office/drawing/2014/main" id="{C3C1DBA4-7D91-0449-AD0B-AD923E3486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" y="3463"/>
                <a:ext cx="424" cy="13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5" name="Rectangle 73">
                <a:extLst>
                  <a:ext uri="{FF2B5EF4-FFF2-40B4-BE49-F238E27FC236}">
                    <a16:creationId xmlns:a16="http://schemas.microsoft.com/office/drawing/2014/main" id="{0745B999-1569-3C4A-B569-9ACA756333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1" y="3500"/>
                <a:ext cx="132" cy="6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6" name="Rectangle 74">
                <a:extLst>
                  <a:ext uri="{FF2B5EF4-FFF2-40B4-BE49-F238E27FC236}">
                    <a16:creationId xmlns:a16="http://schemas.microsoft.com/office/drawing/2014/main" id="{521FB59F-393E-8043-969B-F335910062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" y="3477"/>
                <a:ext cx="108" cy="1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7" name="Rectangle 75">
                <a:extLst>
                  <a:ext uri="{FF2B5EF4-FFF2-40B4-BE49-F238E27FC236}">
                    <a16:creationId xmlns:a16="http://schemas.microsoft.com/office/drawing/2014/main" id="{8BDC1A78-9913-4044-AD8A-150F041266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" y="3480"/>
                <a:ext cx="108" cy="10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8" name="Line 76">
                <a:extLst>
                  <a:ext uri="{FF2B5EF4-FFF2-40B4-BE49-F238E27FC236}">
                    <a16:creationId xmlns:a16="http://schemas.microsoft.com/office/drawing/2014/main" id="{7CD69A6B-8BD5-4A41-B066-4747BB61C4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5" y="3527"/>
                <a:ext cx="561" cy="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9" name="Text Box 78">
              <a:extLst>
                <a:ext uri="{FF2B5EF4-FFF2-40B4-BE49-F238E27FC236}">
                  <a16:creationId xmlns:a16="http://schemas.microsoft.com/office/drawing/2014/main" id="{DA6CCE94-715B-FE44-98B3-B5292404E1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3327" y="5838204"/>
              <a:ext cx="10096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memory</a:t>
              </a:r>
            </a:p>
          </p:txBody>
        </p:sp>
        <p:sp>
          <p:nvSpPr>
            <p:cNvPr id="310" name="Text Box 79">
              <a:extLst>
                <a:ext uri="{FF2B5EF4-FFF2-40B4-BE49-F238E27FC236}">
                  <a16:creationId xmlns:a16="http://schemas.microsoft.com/office/drawing/2014/main" id="{021CED6C-C2DB-174F-9D8D-6ABDA56141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1752" y="4769816"/>
              <a:ext cx="82391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memory</a:t>
              </a:r>
            </a:p>
          </p:txBody>
        </p:sp>
        <p:sp>
          <p:nvSpPr>
            <p:cNvPr id="402" name="Freeform 171">
              <a:extLst>
                <a:ext uri="{FF2B5EF4-FFF2-40B4-BE49-F238E27FC236}">
                  <a16:creationId xmlns:a16="http://schemas.microsoft.com/office/drawing/2014/main" id="{7EB6C5B2-8711-C447-BA49-C9D20140F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777" y="4577729"/>
              <a:ext cx="2798763" cy="412750"/>
            </a:xfrm>
            <a:custGeom>
              <a:avLst/>
              <a:gdLst>
                <a:gd name="T0" fmla="*/ 0 w 1763"/>
                <a:gd name="T1" fmla="*/ 0 h 260"/>
                <a:gd name="T2" fmla="*/ 2147483647 w 1763"/>
                <a:gd name="T3" fmla="*/ 0 h 260"/>
                <a:gd name="T4" fmla="*/ 2147483647 w 1763"/>
                <a:gd name="T5" fmla="*/ 2147483647 h 260"/>
                <a:gd name="T6" fmla="*/ 2147483647 w 1763"/>
                <a:gd name="T7" fmla="*/ 2147483647 h 2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63"/>
                <a:gd name="T13" fmla="*/ 0 h 260"/>
                <a:gd name="T14" fmla="*/ 1763 w 1763"/>
                <a:gd name="T15" fmla="*/ 260 h 2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63" h="260">
                  <a:moveTo>
                    <a:pt x="0" y="0"/>
                  </a:moveTo>
                  <a:lnTo>
                    <a:pt x="689" y="0"/>
                  </a:lnTo>
                  <a:lnTo>
                    <a:pt x="1054" y="260"/>
                  </a:lnTo>
                  <a:lnTo>
                    <a:pt x="1763" y="26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03" name="Freeform 172">
            <a:extLst>
              <a:ext uri="{FF2B5EF4-FFF2-40B4-BE49-F238E27FC236}">
                <a16:creationId xmlns:a16="http://schemas.microsoft.com/office/drawing/2014/main" id="{FCB8CAB7-7CE5-7648-B2F4-FF9B29F4C17A}"/>
              </a:ext>
            </a:extLst>
          </p:cNvPr>
          <p:cNvSpPr>
            <a:spLocks/>
          </p:cNvSpPr>
          <p:nvPr/>
        </p:nvSpPr>
        <p:spPr bwMode="auto">
          <a:xfrm>
            <a:off x="5019952" y="4547566"/>
            <a:ext cx="2006600" cy="400050"/>
          </a:xfrm>
          <a:custGeom>
            <a:avLst/>
            <a:gdLst>
              <a:gd name="T0" fmla="*/ 0 w 1264"/>
              <a:gd name="T1" fmla="*/ 2147483647 h 252"/>
              <a:gd name="T2" fmla="*/ 2147483647 w 1264"/>
              <a:gd name="T3" fmla="*/ 0 h 252"/>
              <a:gd name="T4" fmla="*/ 2147483647 w 1264"/>
              <a:gd name="T5" fmla="*/ 2147483647 h 252"/>
              <a:gd name="T6" fmla="*/ 2147483647 w 1264"/>
              <a:gd name="T7" fmla="*/ 2147483647 h 252"/>
              <a:gd name="T8" fmla="*/ 0 60000 65536"/>
              <a:gd name="T9" fmla="*/ 0 60000 65536"/>
              <a:gd name="T10" fmla="*/ 0 60000 65536"/>
              <a:gd name="T11" fmla="*/ 0 60000 65536"/>
              <a:gd name="T12" fmla="*/ 0 w 1264"/>
              <a:gd name="T13" fmla="*/ 0 h 252"/>
              <a:gd name="T14" fmla="*/ 1264 w 1264"/>
              <a:gd name="T15" fmla="*/ 252 h 2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64" h="252">
                <a:moveTo>
                  <a:pt x="0" y="2"/>
                </a:moveTo>
                <a:lnTo>
                  <a:pt x="622" y="0"/>
                </a:lnTo>
                <a:lnTo>
                  <a:pt x="616" y="246"/>
                </a:lnTo>
                <a:lnTo>
                  <a:pt x="1264" y="252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1E24DDED-AAB8-1742-BEAA-647483FFA1F1}"/>
              </a:ext>
            </a:extLst>
          </p:cNvPr>
          <p:cNvGrpSpPr/>
          <p:nvPr/>
        </p:nvGrpSpPr>
        <p:grpSpPr>
          <a:xfrm>
            <a:off x="7258217" y="4512159"/>
            <a:ext cx="2854919" cy="2066925"/>
            <a:chOff x="6675121" y="4485654"/>
            <a:chExt cx="2854919" cy="2066925"/>
          </a:xfrm>
        </p:grpSpPr>
        <p:grpSp>
          <p:nvGrpSpPr>
            <p:cNvPr id="349" name="Group 118">
              <a:extLst>
                <a:ext uri="{FF2B5EF4-FFF2-40B4-BE49-F238E27FC236}">
                  <a16:creationId xmlns:a16="http://schemas.microsoft.com/office/drawing/2014/main" id="{2404D93A-580B-0343-A0B1-94D96A2957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69465" y="4485654"/>
              <a:ext cx="890587" cy="215900"/>
              <a:chOff x="876" y="2800"/>
              <a:chExt cx="642" cy="175"/>
            </a:xfrm>
          </p:grpSpPr>
          <p:sp>
            <p:nvSpPr>
              <p:cNvPr id="350" name="Rectangle 119">
                <a:extLst>
                  <a:ext uri="{FF2B5EF4-FFF2-40B4-BE49-F238E27FC236}">
                    <a16:creationId xmlns:a16="http://schemas.microsoft.com/office/drawing/2014/main" id="{DEAD9689-A93F-3A40-A1F0-D7AE2D9E48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1" name="Rectangle 120">
                <a:extLst>
                  <a:ext uri="{FF2B5EF4-FFF2-40B4-BE49-F238E27FC236}">
                    <a16:creationId xmlns:a16="http://schemas.microsoft.com/office/drawing/2014/main" id="{B3FFEF5C-2CF8-3F48-AA70-FCA4463DD7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2" name="Rectangle 121">
                <a:extLst>
                  <a:ext uri="{FF2B5EF4-FFF2-40B4-BE49-F238E27FC236}">
                    <a16:creationId xmlns:a16="http://schemas.microsoft.com/office/drawing/2014/main" id="{6DA8F41A-C8D0-E84A-BE1E-E5D24606E5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3" name="Rectangle 122">
                <a:extLst>
                  <a:ext uri="{FF2B5EF4-FFF2-40B4-BE49-F238E27FC236}">
                    <a16:creationId xmlns:a16="http://schemas.microsoft.com/office/drawing/2014/main" id="{71D1CE81-6E07-EF41-B20A-E71DD54276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4" name="Line 123">
                <a:extLst>
                  <a:ext uri="{FF2B5EF4-FFF2-40B4-BE49-F238E27FC236}">
                    <a16:creationId xmlns:a16="http://schemas.microsoft.com/office/drawing/2014/main" id="{FDFD10E9-723C-CD4E-9B1E-C974437C04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55" name="Group 124">
              <a:extLst>
                <a:ext uri="{FF2B5EF4-FFF2-40B4-BE49-F238E27FC236}">
                  <a16:creationId xmlns:a16="http://schemas.microsoft.com/office/drawing/2014/main" id="{531A9996-A8C0-EB41-BF87-89DBD438FC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45652" y="4880941"/>
              <a:ext cx="890588" cy="215900"/>
              <a:chOff x="876" y="2800"/>
              <a:chExt cx="642" cy="175"/>
            </a:xfrm>
          </p:grpSpPr>
          <p:sp>
            <p:nvSpPr>
              <p:cNvPr id="356" name="Rectangle 125">
                <a:extLst>
                  <a:ext uri="{FF2B5EF4-FFF2-40B4-BE49-F238E27FC236}">
                    <a16:creationId xmlns:a16="http://schemas.microsoft.com/office/drawing/2014/main" id="{2467BB19-E02A-7B43-9CA4-9F0EB6D87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7" name="Rectangle 126">
                <a:extLst>
                  <a:ext uri="{FF2B5EF4-FFF2-40B4-BE49-F238E27FC236}">
                    <a16:creationId xmlns:a16="http://schemas.microsoft.com/office/drawing/2014/main" id="{962D332A-F4A3-2648-892A-BD845A64A7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8" name="Rectangle 127">
                <a:extLst>
                  <a:ext uri="{FF2B5EF4-FFF2-40B4-BE49-F238E27FC236}">
                    <a16:creationId xmlns:a16="http://schemas.microsoft.com/office/drawing/2014/main" id="{72283283-9F77-C548-B1DC-7BED275E1B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9" name="Rectangle 128">
                <a:extLst>
                  <a:ext uri="{FF2B5EF4-FFF2-40B4-BE49-F238E27FC236}">
                    <a16:creationId xmlns:a16="http://schemas.microsoft.com/office/drawing/2014/main" id="{97305BF1-8C59-FD41-8C7C-DBF2671DC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0" name="Line 129">
                <a:extLst>
                  <a:ext uri="{FF2B5EF4-FFF2-40B4-BE49-F238E27FC236}">
                    <a16:creationId xmlns:a16="http://schemas.microsoft.com/office/drawing/2014/main" id="{EDA7687B-3958-E947-B115-E7E60D7772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61" name="Group 130">
              <a:extLst>
                <a:ext uri="{FF2B5EF4-FFF2-40B4-BE49-F238E27FC236}">
                  <a16:creationId xmlns:a16="http://schemas.microsoft.com/office/drawing/2014/main" id="{1D80AFC0-343E-BE4A-A3A1-7940B6D336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40890" y="5307979"/>
              <a:ext cx="890587" cy="215900"/>
              <a:chOff x="876" y="2800"/>
              <a:chExt cx="642" cy="175"/>
            </a:xfrm>
          </p:grpSpPr>
          <p:sp>
            <p:nvSpPr>
              <p:cNvPr id="362" name="Rectangle 131">
                <a:extLst>
                  <a:ext uri="{FF2B5EF4-FFF2-40B4-BE49-F238E27FC236}">
                    <a16:creationId xmlns:a16="http://schemas.microsoft.com/office/drawing/2014/main" id="{41CC58A8-B68E-884F-BD23-08890CD10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3" name="Rectangle 132">
                <a:extLst>
                  <a:ext uri="{FF2B5EF4-FFF2-40B4-BE49-F238E27FC236}">
                    <a16:creationId xmlns:a16="http://schemas.microsoft.com/office/drawing/2014/main" id="{328A28BC-2B66-004E-8A4C-0C3533209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4" name="Rectangle 133">
                <a:extLst>
                  <a:ext uri="{FF2B5EF4-FFF2-40B4-BE49-F238E27FC236}">
                    <a16:creationId xmlns:a16="http://schemas.microsoft.com/office/drawing/2014/main" id="{D3427F60-4900-B545-B8F2-23A9D4F798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5" name="Rectangle 134">
                <a:extLst>
                  <a:ext uri="{FF2B5EF4-FFF2-40B4-BE49-F238E27FC236}">
                    <a16:creationId xmlns:a16="http://schemas.microsoft.com/office/drawing/2014/main" id="{808AFD0A-2342-6644-842D-FE9FD6D74F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6" name="Line 135">
                <a:extLst>
                  <a:ext uri="{FF2B5EF4-FFF2-40B4-BE49-F238E27FC236}">
                    <a16:creationId xmlns:a16="http://schemas.microsoft.com/office/drawing/2014/main" id="{AA67B89E-6553-F34F-9540-BB2888CF45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67" name="Group 154">
              <a:extLst>
                <a:ext uri="{FF2B5EF4-FFF2-40B4-BE49-F238E27FC236}">
                  <a16:creationId xmlns:a16="http://schemas.microsoft.com/office/drawing/2014/main" id="{FCB38C9C-3886-1647-B1BB-77C45B97E5F0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8564840" y="5504829"/>
              <a:ext cx="895350" cy="1035050"/>
              <a:chOff x="2954" y="2776"/>
              <a:chExt cx="564" cy="652"/>
            </a:xfrm>
          </p:grpSpPr>
          <p:grpSp>
            <p:nvGrpSpPr>
              <p:cNvPr id="368" name="Group 136">
                <a:extLst>
                  <a:ext uri="{FF2B5EF4-FFF2-40B4-BE49-F238E27FC236}">
                    <a16:creationId xmlns:a16="http://schemas.microsoft.com/office/drawing/2014/main" id="{EC3B7F3C-2CB6-0642-A702-4D975C6E96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54" y="2776"/>
                <a:ext cx="561" cy="136"/>
                <a:chOff x="455" y="3463"/>
                <a:chExt cx="561" cy="136"/>
              </a:xfrm>
            </p:grpSpPr>
            <p:sp>
              <p:nvSpPr>
                <p:cNvPr id="381" name="Rectangle 137">
                  <a:extLst>
                    <a:ext uri="{FF2B5EF4-FFF2-40B4-BE49-F238E27FC236}">
                      <a16:creationId xmlns:a16="http://schemas.microsoft.com/office/drawing/2014/main" id="{333322CF-B6EA-B147-806E-4AA261E430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5F5F5F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2" name="Rectangle 138">
                  <a:extLst>
                    <a:ext uri="{FF2B5EF4-FFF2-40B4-BE49-F238E27FC236}">
                      <a16:creationId xmlns:a16="http://schemas.microsoft.com/office/drawing/2014/main" id="{884DB2A1-6022-954E-B68C-90C304DB2F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3" name="Rectangle 139">
                  <a:extLst>
                    <a:ext uri="{FF2B5EF4-FFF2-40B4-BE49-F238E27FC236}">
                      <a16:creationId xmlns:a16="http://schemas.microsoft.com/office/drawing/2014/main" id="{39F0096A-6580-4B46-9B00-336282120F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4" name="Rectangle 140">
                  <a:extLst>
                    <a:ext uri="{FF2B5EF4-FFF2-40B4-BE49-F238E27FC236}">
                      <a16:creationId xmlns:a16="http://schemas.microsoft.com/office/drawing/2014/main" id="{A02D0A4D-FA88-0445-B282-F1BA4FAC99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5" name="Line 141">
                  <a:extLst>
                    <a:ext uri="{FF2B5EF4-FFF2-40B4-BE49-F238E27FC236}">
                      <a16:creationId xmlns:a16="http://schemas.microsoft.com/office/drawing/2014/main" id="{89AD7EED-2D5A-5F4B-82F9-B59964C7DA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3" y="3529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369" name="Group 142">
                <a:extLst>
                  <a:ext uri="{FF2B5EF4-FFF2-40B4-BE49-F238E27FC236}">
                    <a16:creationId xmlns:a16="http://schemas.microsoft.com/office/drawing/2014/main" id="{971C6EFA-672B-694C-8BB8-27DE8BB10C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57" y="3023"/>
                <a:ext cx="561" cy="136"/>
                <a:chOff x="455" y="3463"/>
                <a:chExt cx="561" cy="136"/>
              </a:xfrm>
            </p:grpSpPr>
            <p:sp>
              <p:nvSpPr>
                <p:cNvPr id="376" name="Rectangle 143">
                  <a:extLst>
                    <a:ext uri="{FF2B5EF4-FFF2-40B4-BE49-F238E27FC236}">
                      <a16:creationId xmlns:a16="http://schemas.microsoft.com/office/drawing/2014/main" id="{E55A46DF-72A8-7647-876D-A80F15CE88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5F5F5F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7" name="Rectangle 144">
                  <a:extLst>
                    <a:ext uri="{FF2B5EF4-FFF2-40B4-BE49-F238E27FC236}">
                      <a16:creationId xmlns:a16="http://schemas.microsoft.com/office/drawing/2014/main" id="{D24335F7-9D53-044A-AB88-2B9DF89C15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8" name="Rectangle 145">
                  <a:extLst>
                    <a:ext uri="{FF2B5EF4-FFF2-40B4-BE49-F238E27FC236}">
                      <a16:creationId xmlns:a16="http://schemas.microsoft.com/office/drawing/2014/main" id="{6AEA3435-AA43-9F49-9087-3A3338DAFA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9" name="Rectangle 146">
                  <a:extLst>
                    <a:ext uri="{FF2B5EF4-FFF2-40B4-BE49-F238E27FC236}">
                      <a16:creationId xmlns:a16="http://schemas.microsoft.com/office/drawing/2014/main" id="{177A053B-0BAE-0640-AB44-0E043F06D9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0" name="Line 147">
                  <a:extLst>
                    <a:ext uri="{FF2B5EF4-FFF2-40B4-BE49-F238E27FC236}">
                      <a16:creationId xmlns:a16="http://schemas.microsoft.com/office/drawing/2014/main" id="{8AEFB38B-7DDC-9F44-A516-7DAA76A7E0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3" y="3529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370" name="Group 148">
                <a:extLst>
                  <a:ext uri="{FF2B5EF4-FFF2-40B4-BE49-F238E27FC236}">
                    <a16:creationId xmlns:a16="http://schemas.microsoft.com/office/drawing/2014/main" id="{FD714310-89A4-394D-B783-5EC2CA17AE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54" y="3292"/>
                <a:ext cx="561" cy="136"/>
                <a:chOff x="455" y="3463"/>
                <a:chExt cx="561" cy="136"/>
              </a:xfrm>
            </p:grpSpPr>
            <p:sp>
              <p:nvSpPr>
                <p:cNvPr id="371" name="Rectangle 149">
                  <a:extLst>
                    <a:ext uri="{FF2B5EF4-FFF2-40B4-BE49-F238E27FC236}">
                      <a16:creationId xmlns:a16="http://schemas.microsoft.com/office/drawing/2014/main" id="{ADDE511B-C129-9D4B-A35E-5B67168684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5F5F5F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2" name="Rectangle 150">
                  <a:extLst>
                    <a:ext uri="{FF2B5EF4-FFF2-40B4-BE49-F238E27FC236}">
                      <a16:creationId xmlns:a16="http://schemas.microsoft.com/office/drawing/2014/main" id="{1926829B-5C2B-7B46-AAD2-DCC04D10C2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3" name="Rectangle 151">
                  <a:extLst>
                    <a:ext uri="{FF2B5EF4-FFF2-40B4-BE49-F238E27FC236}">
                      <a16:creationId xmlns:a16="http://schemas.microsoft.com/office/drawing/2014/main" id="{5166BAC0-36EC-054B-AEAE-4083E2973B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4" name="Rectangle 152">
                  <a:extLst>
                    <a:ext uri="{FF2B5EF4-FFF2-40B4-BE49-F238E27FC236}">
                      <a16:creationId xmlns:a16="http://schemas.microsoft.com/office/drawing/2014/main" id="{B8D687ED-21A3-5844-8144-FC4568CCB8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75" name="Line 153">
                  <a:extLst>
                    <a:ext uri="{FF2B5EF4-FFF2-40B4-BE49-F238E27FC236}">
                      <a16:creationId xmlns:a16="http://schemas.microsoft.com/office/drawing/2014/main" id="{B0B99B84-F7F0-474D-9C17-F45572185C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3" y="3529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386" name="Line 155">
              <a:extLst>
                <a:ext uri="{FF2B5EF4-FFF2-40B4-BE49-F238E27FC236}">
                  <a16:creationId xmlns:a16="http://schemas.microsoft.com/office/drawing/2014/main" id="{03C8D9EA-BBBC-B346-8BF2-359A0A5077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60052" y="4592016"/>
              <a:ext cx="106362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7" name="Line 156">
              <a:extLst>
                <a:ext uri="{FF2B5EF4-FFF2-40B4-BE49-F238E27FC236}">
                  <a16:creationId xmlns:a16="http://schemas.microsoft.com/office/drawing/2014/main" id="{A11B99D5-398C-2B4F-8426-2A7897D267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21952" y="4979366"/>
              <a:ext cx="1111250" cy="317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8" name="Line 157">
              <a:extLst>
                <a:ext uri="{FF2B5EF4-FFF2-40B4-BE49-F238E27FC236}">
                  <a16:creationId xmlns:a16="http://schemas.microsoft.com/office/drawing/2014/main" id="{E19B9C74-C0F9-9C48-96BC-5083BFA426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21952" y="5411166"/>
              <a:ext cx="110172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9" name="Line 158">
              <a:extLst>
                <a:ext uri="{FF2B5EF4-FFF2-40B4-BE49-F238E27FC236}">
                  <a16:creationId xmlns:a16="http://schemas.microsoft.com/office/drawing/2014/main" id="{972BC1ED-3C65-0D48-80B7-F3828BC10B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04527" y="4592016"/>
              <a:ext cx="0" cy="9779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0" name="Line 159">
              <a:extLst>
                <a:ext uri="{FF2B5EF4-FFF2-40B4-BE49-F238E27FC236}">
                  <a16:creationId xmlns:a16="http://schemas.microsoft.com/office/drawing/2014/main" id="{C423A751-C773-8948-92DB-5C00303B00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26802" y="4592016"/>
              <a:ext cx="0" cy="9779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1" name="Line 160">
              <a:extLst>
                <a:ext uri="{FF2B5EF4-FFF2-40B4-BE49-F238E27FC236}">
                  <a16:creationId xmlns:a16="http://schemas.microsoft.com/office/drawing/2014/main" id="{2109E4A3-3D73-694A-B332-08F4B9DB2B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23677" y="4582491"/>
              <a:ext cx="0" cy="9779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2" name="Oval 161">
              <a:extLst>
                <a:ext uri="{FF2B5EF4-FFF2-40B4-BE49-F238E27FC236}">
                  <a16:creationId xmlns:a16="http://schemas.microsoft.com/office/drawing/2014/main" id="{560F0CCD-566F-2848-BC28-48AB5BC46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3252" y="4553916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3" name="Oval 162">
              <a:extLst>
                <a:ext uri="{FF2B5EF4-FFF2-40B4-BE49-F238E27FC236}">
                  <a16:creationId xmlns:a16="http://schemas.microsoft.com/office/drawing/2014/main" id="{6B545151-450A-F94D-A4C6-78382BC89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3252" y="493809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4" name="Oval 163">
              <a:extLst>
                <a:ext uri="{FF2B5EF4-FFF2-40B4-BE49-F238E27FC236}">
                  <a16:creationId xmlns:a16="http://schemas.microsoft.com/office/drawing/2014/main" id="{EA145C17-3847-3E48-8C50-06E7F086C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6902" y="536354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5" name="Oval 164">
              <a:extLst>
                <a:ext uri="{FF2B5EF4-FFF2-40B4-BE49-F238E27FC236}">
                  <a16:creationId xmlns:a16="http://schemas.microsoft.com/office/drawing/2014/main" id="{D583174B-E718-A249-BE75-33AB9B1F6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8702" y="4553916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Oval 165">
              <a:extLst>
                <a:ext uri="{FF2B5EF4-FFF2-40B4-BE49-F238E27FC236}">
                  <a16:creationId xmlns:a16="http://schemas.microsoft.com/office/drawing/2014/main" id="{FC9B88BE-9FFF-DE40-8BFE-380354604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8702" y="493809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Oval 166">
              <a:extLst>
                <a:ext uri="{FF2B5EF4-FFF2-40B4-BE49-F238E27FC236}">
                  <a16:creationId xmlns:a16="http://schemas.microsoft.com/office/drawing/2014/main" id="{6F896AF1-2C34-3149-8329-09390CA6B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2352" y="536354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Oval 167">
              <a:extLst>
                <a:ext uri="{FF2B5EF4-FFF2-40B4-BE49-F238E27FC236}">
                  <a16:creationId xmlns:a16="http://schemas.microsoft.com/office/drawing/2014/main" id="{54294AED-0555-D244-94AB-1E755BFB4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9227" y="4553916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9" name="Oval 168">
              <a:extLst>
                <a:ext uri="{FF2B5EF4-FFF2-40B4-BE49-F238E27FC236}">
                  <a16:creationId xmlns:a16="http://schemas.microsoft.com/office/drawing/2014/main" id="{89BB0930-936E-2C4A-B203-3AF50935C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9227" y="493809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0" name="Oval 169">
              <a:extLst>
                <a:ext uri="{FF2B5EF4-FFF2-40B4-BE49-F238E27FC236}">
                  <a16:creationId xmlns:a16="http://schemas.microsoft.com/office/drawing/2014/main" id="{54A896D0-B039-1C43-B23B-699A69438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2877" y="536354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1" name="Text Box 170">
              <a:extLst>
                <a:ext uri="{FF2B5EF4-FFF2-40B4-BE49-F238E27FC236}">
                  <a16:creationId xmlns:a16="http://schemas.microsoft.com/office/drawing/2014/main" id="{D7A7FAC4-A795-2344-B8A6-A06C120333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5121" y="5767934"/>
              <a:ext cx="174919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interconnection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sp>
          <p:nvSpPr>
            <p:cNvPr id="404" name="Freeform 173">
              <a:extLst>
                <a:ext uri="{FF2B5EF4-FFF2-40B4-BE49-F238E27FC236}">
                  <a16:creationId xmlns:a16="http://schemas.microsoft.com/office/drawing/2014/main" id="{7731649A-7A0C-FF4B-AE01-BDFE9F590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7077" y="4538041"/>
              <a:ext cx="1543050" cy="2014538"/>
            </a:xfrm>
            <a:custGeom>
              <a:avLst/>
              <a:gdLst>
                <a:gd name="T0" fmla="*/ 0 w 972"/>
                <a:gd name="T1" fmla="*/ 2147483647 h 1266"/>
                <a:gd name="T2" fmla="*/ 2147483647 w 972"/>
                <a:gd name="T3" fmla="*/ 0 h 1266"/>
                <a:gd name="T4" fmla="*/ 2147483647 w 972"/>
                <a:gd name="T5" fmla="*/ 2147483647 h 1266"/>
                <a:gd name="T6" fmla="*/ 0 60000 65536"/>
                <a:gd name="T7" fmla="*/ 0 60000 65536"/>
                <a:gd name="T8" fmla="*/ 0 60000 65536"/>
                <a:gd name="T9" fmla="*/ 0 w 972"/>
                <a:gd name="T10" fmla="*/ 0 h 1266"/>
                <a:gd name="T11" fmla="*/ 972 w 972"/>
                <a:gd name="T12" fmla="*/ 1266 h 12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2" h="1266">
                  <a:moveTo>
                    <a:pt x="0" y="3"/>
                  </a:moveTo>
                  <a:lnTo>
                    <a:pt x="969" y="0"/>
                  </a:lnTo>
                  <a:lnTo>
                    <a:pt x="972" y="1266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06" name="Content Placeholder 2">
            <a:extLst>
              <a:ext uri="{FF2B5EF4-FFF2-40B4-BE49-F238E27FC236}">
                <a16:creationId xmlns:a16="http://schemas.microsoft.com/office/drawing/2014/main" id="{2B7122AF-D615-5F41-945E-7E1D8CD01EF3}"/>
              </a:ext>
            </a:extLst>
          </p:cNvPr>
          <p:cNvSpPr txBox="1">
            <a:spLocks/>
          </p:cNvSpPr>
          <p:nvPr/>
        </p:nvSpPr>
        <p:spPr>
          <a:xfrm>
            <a:off x="818322" y="3691974"/>
            <a:ext cx="11035748" cy="654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three major types of switching fabrics:</a:t>
            </a:r>
          </a:p>
        </p:txBody>
      </p:sp>
      <p:sp>
        <p:nvSpPr>
          <p:cNvPr id="412" name="Content Placeholder 2">
            <a:extLst>
              <a:ext uri="{FF2B5EF4-FFF2-40B4-BE49-F238E27FC236}">
                <a16:creationId xmlns:a16="http://schemas.microsoft.com/office/drawing/2014/main" id="{B6082DFD-51BE-9044-ABA0-EB366AEB6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696" y="1379472"/>
            <a:ext cx="11035748" cy="634860"/>
          </a:xfrm>
        </p:spPr>
        <p:txBody>
          <a:bodyPr>
            <a:normAutofit/>
          </a:bodyPr>
          <a:lstStyle/>
          <a:p>
            <a:pPr indent="-287338">
              <a:buFont typeface="Wingdings" charset="2"/>
              <a:buChar char="§"/>
              <a:defRPr/>
            </a:pPr>
            <a:r>
              <a:rPr lang="en-US" sz="3200" dirty="0"/>
              <a:t>transfer packet from input link to appropriate output link</a:t>
            </a:r>
          </a:p>
          <a:p>
            <a:pPr indent="-287338">
              <a:buFont typeface="Wingdings" charset="2"/>
              <a:buChar char="§"/>
              <a:defRPr/>
            </a:pPr>
            <a:endParaRPr lang="en-US" dirty="0"/>
          </a:p>
        </p:txBody>
      </p:sp>
      <p:sp>
        <p:nvSpPr>
          <p:cNvPr id="413" name="Content Placeholder 2">
            <a:extLst>
              <a:ext uri="{FF2B5EF4-FFF2-40B4-BE49-F238E27FC236}">
                <a16:creationId xmlns:a16="http://schemas.microsoft.com/office/drawing/2014/main" id="{A6F34ABD-FD08-FA48-8F01-C889297B0D8A}"/>
              </a:ext>
            </a:extLst>
          </p:cNvPr>
          <p:cNvSpPr txBox="1">
            <a:spLocks/>
          </p:cNvSpPr>
          <p:nvPr/>
        </p:nvSpPr>
        <p:spPr>
          <a:xfrm>
            <a:off x="805070" y="1889680"/>
            <a:ext cx="11035748" cy="2317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switching rate: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rate at which packets can be transfer from inputs to outputs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often measured as multiple of input/output line rate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inputs: switching rate N times line rate desirable</a:t>
            </a:r>
          </a:p>
        </p:txBody>
      </p:sp>
      <p:sp>
        <p:nvSpPr>
          <p:cNvPr id="141" name="Slide Number Placeholder 4">
            <a:extLst>
              <a:ext uri="{FF2B5EF4-FFF2-40B4-BE49-F238E27FC236}">
                <a16:creationId xmlns:a16="http://schemas.microsoft.com/office/drawing/2014/main" id="{82EC96B9-9A8B-1444-8EB6-680BED473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Network Layer: 4-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391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B1128-B8E1-7C40-B73B-BD6D4E180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051" y="1353793"/>
            <a:ext cx="5654419" cy="2768460"/>
          </a:xfrm>
        </p:spPr>
        <p:txBody>
          <a:bodyPr>
            <a:normAutofit fontScale="92500"/>
          </a:bodyPr>
          <a:lstStyle/>
          <a:p>
            <a:pPr marL="234950" indent="-234950">
              <a:buNone/>
            </a:pPr>
            <a:r>
              <a:rPr lang="en-US" altLang="en-US" sz="3200" dirty="0">
                <a:solidFill>
                  <a:srgbClr val="C0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first generation routers:</a:t>
            </a:r>
          </a:p>
          <a:p>
            <a:pPr marL="404813" indent="-287338"/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traditional computers with switching under direct control of CPU</a:t>
            </a:r>
          </a:p>
          <a:p>
            <a:pPr marL="404813" indent="-287338"/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packet copied to system’</a:t>
            </a:r>
            <a:r>
              <a:rPr lang="en-US" altLang="ja-JP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 memory</a:t>
            </a:r>
          </a:p>
          <a:p>
            <a:pPr marL="404813" indent="-287338"/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speed limited by memory bandwidth</a:t>
            </a:r>
            <a:endParaRPr lang="en-US" altLang="en-US" sz="2000" dirty="0"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800" dirty="0">
                <a:ea typeface="ＭＳ Ｐゴシック" panose="020B0600070205080204" pitchFamily="34" charset="-128"/>
              </a:rPr>
              <a:t>Switching via memory</a:t>
            </a:r>
            <a:endParaRPr lang="en-US" sz="4800" dirty="0"/>
          </a:p>
        </p:txBody>
      </p:sp>
      <p:grpSp>
        <p:nvGrpSpPr>
          <p:cNvPr id="172" name="Group 42">
            <a:extLst>
              <a:ext uri="{FF2B5EF4-FFF2-40B4-BE49-F238E27FC236}">
                <a16:creationId xmlns:a16="http://schemas.microsoft.com/office/drawing/2014/main" id="{F2B5464E-F88B-A642-84D4-5094AFD5B16B}"/>
              </a:ext>
            </a:extLst>
          </p:cNvPr>
          <p:cNvGrpSpPr>
            <a:grpSpLocks/>
          </p:cNvGrpSpPr>
          <p:nvPr/>
        </p:nvGrpSpPr>
        <p:grpSpPr bwMode="auto">
          <a:xfrm>
            <a:off x="1629474" y="4058753"/>
            <a:ext cx="6611937" cy="1787525"/>
            <a:chOff x="983" y="2540"/>
            <a:chExt cx="4165" cy="1126"/>
          </a:xfrm>
        </p:grpSpPr>
        <p:sp>
          <p:nvSpPr>
            <p:cNvPr id="173" name="Rectangle 30">
              <a:extLst>
                <a:ext uri="{FF2B5EF4-FFF2-40B4-BE49-F238E27FC236}">
                  <a16:creationId xmlns:a16="http://schemas.microsoft.com/office/drawing/2014/main" id="{45BBBE01-E2E8-274B-8035-4961E1D9E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" y="2542"/>
              <a:ext cx="766" cy="70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4" name="Text Box 31">
              <a:extLst>
                <a:ext uri="{FF2B5EF4-FFF2-40B4-BE49-F238E27FC236}">
                  <a16:creationId xmlns:a16="http://schemas.microsoft.com/office/drawing/2014/main" id="{FFED6ECD-74D4-9944-B695-F1E1E045E3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1" y="2557"/>
              <a:ext cx="708" cy="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input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port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(e.g.,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Ethernet)</a:t>
              </a:r>
            </a:p>
          </p:txBody>
        </p:sp>
        <p:sp>
          <p:nvSpPr>
            <p:cNvPr id="175" name="Text Box 32">
              <a:extLst>
                <a:ext uri="{FF2B5EF4-FFF2-40B4-BE49-F238E27FC236}">
                  <a16:creationId xmlns:a16="http://schemas.microsoft.com/office/drawing/2014/main" id="{20392B0C-5AA1-5D4A-8C31-19BC5047BD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4" y="2773"/>
              <a:ext cx="636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memory</a:t>
              </a:r>
            </a:p>
          </p:txBody>
        </p:sp>
        <p:sp>
          <p:nvSpPr>
            <p:cNvPr id="176" name="Rectangle 34">
              <a:extLst>
                <a:ext uri="{FF2B5EF4-FFF2-40B4-BE49-F238E27FC236}">
                  <a16:creationId xmlns:a16="http://schemas.microsoft.com/office/drawing/2014/main" id="{EA86606E-2DCD-924C-A723-41E2CA4CDA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2" y="2542"/>
              <a:ext cx="1173" cy="688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7" name="Rectangle 35">
              <a:extLst>
                <a:ext uri="{FF2B5EF4-FFF2-40B4-BE49-F238E27FC236}">
                  <a16:creationId xmlns:a16="http://schemas.microsoft.com/office/drawing/2014/main" id="{24885012-DDCB-5048-A51F-1CDF934C2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7" y="2540"/>
              <a:ext cx="766" cy="70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8" name="Text Box 36">
              <a:extLst>
                <a:ext uri="{FF2B5EF4-FFF2-40B4-BE49-F238E27FC236}">
                  <a16:creationId xmlns:a16="http://schemas.microsoft.com/office/drawing/2014/main" id="{14386179-C33A-9940-94C2-AA092DA422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5" y="2555"/>
              <a:ext cx="708" cy="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output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port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(e.g.,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Ethernet)</a:t>
              </a:r>
            </a:p>
          </p:txBody>
        </p:sp>
        <p:sp>
          <p:nvSpPr>
            <p:cNvPr id="179" name="Line 37">
              <a:extLst>
                <a:ext uri="{FF2B5EF4-FFF2-40B4-BE49-F238E27FC236}">
                  <a16:creationId xmlns:a16="http://schemas.microsoft.com/office/drawing/2014/main" id="{65666B6A-D931-D542-B3CE-2E1BC9433D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3" y="3561"/>
              <a:ext cx="333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0" name="Line 38">
              <a:extLst>
                <a:ext uri="{FF2B5EF4-FFF2-40B4-BE49-F238E27FC236}">
                  <a16:creationId xmlns:a16="http://schemas.microsoft.com/office/drawing/2014/main" id="{60D852FF-88FA-2B42-8C46-DCE2935251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0" y="3252"/>
              <a:ext cx="0" cy="316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1" name="Line 39">
              <a:extLst>
                <a:ext uri="{FF2B5EF4-FFF2-40B4-BE49-F238E27FC236}">
                  <a16:creationId xmlns:a16="http://schemas.microsoft.com/office/drawing/2014/main" id="{6E64FFE5-A2FF-0849-879D-A0AA8D0578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9" y="3242"/>
              <a:ext cx="0" cy="316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2" name="Line 40">
              <a:extLst>
                <a:ext uri="{FF2B5EF4-FFF2-40B4-BE49-F238E27FC236}">
                  <a16:creationId xmlns:a16="http://schemas.microsoft.com/office/drawing/2014/main" id="{CA89C20C-F9FF-C845-B7D8-9DEA22C142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5" y="3240"/>
              <a:ext cx="0" cy="31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3" name="Text Box 41">
              <a:extLst>
                <a:ext uri="{FF2B5EF4-FFF2-40B4-BE49-F238E27FC236}">
                  <a16:creationId xmlns:a16="http://schemas.microsoft.com/office/drawing/2014/main" id="{2EA1FDDA-9659-AC45-86D4-9A50513453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4" y="3435"/>
              <a:ext cx="8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system bus</a:t>
              </a:r>
            </a:p>
          </p:txBody>
        </p:sp>
      </p:grpSp>
      <p:pic>
        <p:nvPicPr>
          <p:cNvPr id="184" name="Picture 43">
            <a:extLst>
              <a:ext uri="{FF2B5EF4-FFF2-40B4-BE49-F238E27FC236}">
                <a16:creationId xmlns:a16="http://schemas.microsoft.com/office/drawing/2014/main" id="{934DBF87-BC52-A04F-9252-6C0BA3F16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499" y="4252428"/>
            <a:ext cx="5334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" name="Picture 44">
            <a:extLst>
              <a:ext uri="{FF2B5EF4-FFF2-40B4-BE49-F238E27FC236}">
                <a16:creationId xmlns:a16="http://schemas.microsoft.com/office/drawing/2014/main" id="{F4E5056C-1E65-BD48-BC26-3C48FF565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3299" y="4215916"/>
            <a:ext cx="533400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6" name="Rectangle 45">
            <a:extLst>
              <a:ext uri="{FF2B5EF4-FFF2-40B4-BE49-F238E27FC236}">
                <a16:creationId xmlns:a16="http://schemas.microsoft.com/office/drawing/2014/main" id="{8A994D05-53E3-B047-9E60-A9448B35F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786" y="4487378"/>
            <a:ext cx="434975" cy="222250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7" name="Rectangle 46">
            <a:extLst>
              <a:ext uri="{FF2B5EF4-FFF2-40B4-BE49-F238E27FC236}">
                <a16:creationId xmlns:a16="http://schemas.microsoft.com/office/drawing/2014/main" id="{14B41E01-8B4F-2643-84CF-7D3D707C7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486" y="4496903"/>
            <a:ext cx="446088" cy="212725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E873C787-12AC-6546-8188-86FCEB09AB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Network Layer: 4-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1" name="Picture 3">
            <a:extLst>
              <a:ext uri="{FF2B5EF4-FFF2-40B4-BE49-F238E27FC236}">
                <a16:creationId xmlns:a16="http://schemas.microsoft.com/office/drawing/2014/main" id="{E6B8FCE7-61E9-514A-8033-08F648AB4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885" y="1353793"/>
            <a:ext cx="5137150" cy="2360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22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1 -0.00162 L 0.11159 -0.00162 L 0.11497 0.13334 L 0.26849 0.13334 L 0.26849 0.03912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29" y="67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7037E-6 L 0.1487 3.7037E-6 L 0.15195 0.13819 L 0.31055 0.13588 L 0.30924 0.03842 " pathEditMode="relative" rAng="0" ptsTypes="AAAAA">
                                      <p:cBhvr>
                                        <p:cTn id="13" dur="2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521" y="6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849 0.03912 L 0.28151 0.03912 L 0.28151 0.12685 L 0.44622 0.12199 L 0.44713 -0.00324 L 0.58046 -0.00324 " pathEditMode="relative" rAng="0" ptsTypes="AAAAAA">
                                      <p:cBhvr>
                                        <p:cTn id="17" dur="2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599" y="22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9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6" grpId="2" animBg="1"/>
      <p:bldP spid="187" grpId="0" animBg="1"/>
      <p:bldP spid="18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B1128-B8E1-7C40-B73B-BD6D4E180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940" y="1405975"/>
            <a:ext cx="10574934" cy="276846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charset="2"/>
              <a:buChar char="§"/>
              <a:defRPr/>
            </a:pPr>
            <a:r>
              <a:rPr lang="en-US" sz="3200" dirty="0"/>
              <a:t>datagram from input port memory to output port memory via a shared bus</a:t>
            </a:r>
          </a:p>
          <a:p>
            <a:pPr>
              <a:buFont typeface="Wingdings" charset="2"/>
              <a:buChar char="§"/>
              <a:defRPr/>
            </a:pPr>
            <a:r>
              <a:rPr lang="en-US" sz="3200" dirty="0"/>
              <a:t>Append with label indicating Output Port</a:t>
            </a:r>
          </a:p>
          <a:p>
            <a:pPr>
              <a:buFont typeface="Wingdings" charset="2"/>
              <a:buChar char="§"/>
              <a:defRPr/>
            </a:pPr>
            <a:r>
              <a:rPr lang="en-US" sz="3200" dirty="0"/>
              <a:t>Appropriate port responds </a:t>
            </a:r>
          </a:p>
          <a:p>
            <a:pPr>
              <a:buFont typeface="Wingdings" charset="2"/>
              <a:buChar char="§"/>
              <a:defRPr/>
            </a:pPr>
            <a:r>
              <a:rPr lang="en-US" sz="3200" i="1" dirty="0">
                <a:solidFill>
                  <a:srgbClr val="CC0000"/>
                </a:solidFill>
              </a:rPr>
              <a:t>bus contention:</a:t>
            </a:r>
            <a:r>
              <a:rPr lang="en-US" sz="3200" dirty="0"/>
              <a:t>  switching speed limited by bus bandwidth</a:t>
            </a:r>
          </a:p>
          <a:p>
            <a:pPr>
              <a:buFont typeface="Wingdings" charset="2"/>
              <a:buChar char="§"/>
              <a:defRPr/>
            </a:pPr>
            <a:r>
              <a:rPr lang="en-US" sz="3200" dirty="0"/>
              <a:t>32 Gbps bus, Cisco 5600: sufficient speed for access routers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800" dirty="0">
                <a:ea typeface="ＭＳ Ｐゴシック" panose="020B0600070205080204" pitchFamily="34" charset="-128"/>
              </a:rPr>
              <a:t>Switching via a bus</a:t>
            </a:r>
            <a:endParaRPr lang="en-US" sz="48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B8CD304-8CB5-AA4B-A0E8-C0ADE3BF0764}"/>
              </a:ext>
            </a:extLst>
          </p:cNvPr>
          <p:cNvGrpSpPr/>
          <p:nvPr/>
        </p:nvGrpSpPr>
        <p:grpSpPr>
          <a:xfrm>
            <a:off x="4078698" y="4298863"/>
            <a:ext cx="5296665" cy="1766337"/>
            <a:chOff x="4336991" y="4484392"/>
            <a:chExt cx="2903568" cy="1047064"/>
          </a:xfrm>
        </p:grpSpPr>
        <p:grpSp>
          <p:nvGrpSpPr>
            <p:cNvPr id="21" name="Group 80">
              <a:extLst>
                <a:ext uri="{FF2B5EF4-FFF2-40B4-BE49-F238E27FC236}">
                  <a16:creationId xmlns:a16="http://schemas.microsoft.com/office/drawing/2014/main" id="{6528F6A7-EDEC-9C4B-9732-5C83E48F24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9281" y="4484392"/>
              <a:ext cx="1093120" cy="215900"/>
              <a:chOff x="876" y="2800"/>
              <a:chExt cx="788" cy="175"/>
            </a:xfrm>
          </p:grpSpPr>
          <p:sp>
            <p:nvSpPr>
              <p:cNvPr id="22" name="Rectangle 81">
                <a:extLst>
                  <a:ext uri="{FF2B5EF4-FFF2-40B4-BE49-F238E27FC236}">
                    <a16:creationId xmlns:a16="http://schemas.microsoft.com/office/drawing/2014/main" id="{DFDBF7BA-06E4-494D-8F9D-FFA33A3BF9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" name="Rectangle 82">
                <a:extLst>
                  <a:ext uri="{FF2B5EF4-FFF2-40B4-BE49-F238E27FC236}">
                    <a16:creationId xmlns:a16="http://schemas.microsoft.com/office/drawing/2014/main" id="{2C9A0A09-54EF-D24E-84A4-0E4BF0FA6A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4" name="Rectangle 83">
                <a:extLst>
                  <a:ext uri="{FF2B5EF4-FFF2-40B4-BE49-F238E27FC236}">
                    <a16:creationId xmlns:a16="http://schemas.microsoft.com/office/drawing/2014/main" id="{AF1F9C4D-1234-2343-9758-A7BC801F60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" name="Rectangle 84">
                <a:extLst>
                  <a:ext uri="{FF2B5EF4-FFF2-40B4-BE49-F238E27FC236}">
                    <a16:creationId xmlns:a16="http://schemas.microsoft.com/office/drawing/2014/main" id="{FFA1C2EC-B4A7-7945-BE6D-F414040636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" name="Line 85">
                <a:extLst>
                  <a:ext uri="{FF2B5EF4-FFF2-40B4-BE49-F238E27FC236}">
                    <a16:creationId xmlns:a16="http://schemas.microsoft.com/office/drawing/2014/main" id="{BB9C01BB-870F-9B4A-8484-B8328825B5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7"/>
                <a:ext cx="78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7" name="Group 86">
              <a:extLst>
                <a:ext uri="{FF2B5EF4-FFF2-40B4-BE49-F238E27FC236}">
                  <a16:creationId xmlns:a16="http://schemas.microsoft.com/office/drawing/2014/main" id="{0507AB92-4047-F447-8DD5-6B9DDD7137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7694" y="4879680"/>
              <a:ext cx="1094506" cy="215900"/>
              <a:chOff x="876" y="2800"/>
              <a:chExt cx="789" cy="175"/>
            </a:xfrm>
          </p:grpSpPr>
          <p:sp>
            <p:nvSpPr>
              <p:cNvPr id="28" name="Rectangle 87">
                <a:extLst>
                  <a:ext uri="{FF2B5EF4-FFF2-40B4-BE49-F238E27FC236}">
                    <a16:creationId xmlns:a16="http://schemas.microsoft.com/office/drawing/2014/main" id="{1F3E0863-B0C8-C846-9E3A-94CA2AB7D1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" name="Rectangle 88">
                <a:extLst>
                  <a:ext uri="{FF2B5EF4-FFF2-40B4-BE49-F238E27FC236}">
                    <a16:creationId xmlns:a16="http://schemas.microsoft.com/office/drawing/2014/main" id="{E1208338-3967-594A-A93C-06C80B2EF0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" name="Rectangle 89">
                <a:extLst>
                  <a:ext uri="{FF2B5EF4-FFF2-40B4-BE49-F238E27FC236}">
                    <a16:creationId xmlns:a16="http://schemas.microsoft.com/office/drawing/2014/main" id="{AD425D1B-FA67-5D49-809C-40473A8533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" name="Rectangle 90">
                <a:extLst>
                  <a:ext uri="{FF2B5EF4-FFF2-40B4-BE49-F238E27FC236}">
                    <a16:creationId xmlns:a16="http://schemas.microsoft.com/office/drawing/2014/main" id="{C12121D2-ED33-1E48-B66D-BB7E3355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" name="Line 91">
                <a:extLst>
                  <a:ext uri="{FF2B5EF4-FFF2-40B4-BE49-F238E27FC236}">
                    <a16:creationId xmlns:a16="http://schemas.microsoft.com/office/drawing/2014/main" id="{29B1EBEE-9DC3-F248-883E-3C7EBBC5D9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7"/>
                <a:ext cx="789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3" name="Group 92">
              <a:extLst>
                <a:ext uri="{FF2B5EF4-FFF2-40B4-BE49-F238E27FC236}">
                  <a16:creationId xmlns:a16="http://schemas.microsoft.com/office/drawing/2014/main" id="{15849422-916A-D541-89DB-EDF9C76CA0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2932" y="5306717"/>
              <a:ext cx="1079248" cy="215900"/>
              <a:chOff x="876" y="2800"/>
              <a:chExt cx="778" cy="175"/>
            </a:xfrm>
          </p:grpSpPr>
          <p:sp>
            <p:nvSpPr>
              <p:cNvPr id="34" name="Rectangle 93">
                <a:extLst>
                  <a:ext uri="{FF2B5EF4-FFF2-40B4-BE49-F238E27FC236}">
                    <a16:creationId xmlns:a16="http://schemas.microsoft.com/office/drawing/2014/main" id="{6837A002-1AB6-B746-AB5C-86F943C2EA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" name="Rectangle 94">
                <a:extLst>
                  <a:ext uri="{FF2B5EF4-FFF2-40B4-BE49-F238E27FC236}">
                    <a16:creationId xmlns:a16="http://schemas.microsoft.com/office/drawing/2014/main" id="{3B8F334D-4C97-7143-9AC3-AC7B3FE5FF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" name="Rectangle 95">
                <a:extLst>
                  <a:ext uri="{FF2B5EF4-FFF2-40B4-BE49-F238E27FC236}">
                    <a16:creationId xmlns:a16="http://schemas.microsoft.com/office/drawing/2014/main" id="{4D921AF2-17CB-8E49-8671-3EAA4877DC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" name="Rectangle 96">
                <a:extLst>
                  <a:ext uri="{FF2B5EF4-FFF2-40B4-BE49-F238E27FC236}">
                    <a16:creationId xmlns:a16="http://schemas.microsoft.com/office/drawing/2014/main" id="{B87CC2E9-EF90-8543-8B83-B8D8ADCE2C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" name="Line 97">
                <a:extLst>
                  <a:ext uri="{FF2B5EF4-FFF2-40B4-BE49-F238E27FC236}">
                    <a16:creationId xmlns:a16="http://schemas.microsoft.com/office/drawing/2014/main" id="{B30FD0D3-0C14-504C-BBDC-CDFB3AC056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7"/>
                <a:ext cx="77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9" name="Line 98">
              <a:extLst>
                <a:ext uri="{FF2B5EF4-FFF2-40B4-BE49-F238E27FC236}">
                  <a16:creationId xmlns:a16="http://schemas.microsoft.com/office/drawing/2014/main" id="{DE23C0B3-C20C-6E4B-83D9-8205BD88B5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88461" y="4492509"/>
              <a:ext cx="0" cy="100330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" name="Group 99">
              <a:extLst>
                <a:ext uri="{FF2B5EF4-FFF2-40B4-BE49-F238E27FC236}">
                  <a16:creationId xmlns:a16="http://schemas.microsoft.com/office/drawing/2014/main" id="{B057B153-5339-C940-9B95-E3A19199C2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56300" y="4501349"/>
              <a:ext cx="1030288" cy="215900"/>
              <a:chOff x="367" y="3463"/>
              <a:chExt cx="649" cy="136"/>
            </a:xfrm>
          </p:grpSpPr>
          <p:sp>
            <p:nvSpPr>
              <p:cNvPr id="41" name="Rectangle 100">
                <a:extLst>
                  <a:ext uri="{FF2B5EF4-FFF2-40B4-BE49-F238E27FC236}">
                    <a16:creationId xmlns:a16="http://schemas.microsoft.com/office/drawing/2014/main" id="{8DEBF029-6DFE-F347-BF75-F0FE46DE48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" y="3463"/>
                <a:ext cx="424" cy="136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" name="Rectangle 101">
                <a:extLst>
                  <a:ext uri="{FF2B5EF4-FFF2-40B4-BE49-F238E27FC236}">
                    <a16:creationId xmlns:a16="http://schemas.microsoft.com/office/drawing/2014/main" id="{30E34A5E-46CF-1448-8180-33029F5850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1" y="3500"/>
                <a:ext cx="132" cy="6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3" name="Rectangle 102">
                <a:extLst>
                  <a:ext uri="{FF2B5EF4-FFF2-40B4-BE49-F238E27FC236}">
                    <a16:creationId xmlns:a16="http://schemas.microsoft.com/office/drawing/2014/main" id="{644A9EC6-2179-E746-B3EC-49E5DC46F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" y="3477"/>
                <a:ext cx="108" cy="1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4" name="Rectangle 103">
                <a:extLst>
                  <a:ext uri="{FF2B5EF4-FFF2-40B4-BE49-F238E27FC236}">
                    <a16:creationId xmlns:a16="http://schemas.microsoft.com/office/drawing/2014/main" id="{ADA4A993-AB6B-9847-94AF-6B5ABC32A5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" y="3480"/>
                <a:ext cx="108" cy="10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" name="Line 104">
                <a:extLst>
                  <a:ext uri="{FF2B5EF4-FFF2-40B4-BE49-F238E27FC236}">
                    <a16:creationId xmlns:a16="http://schemas.microsoft.com/office/drawing/2014/main" id="{7F7B93B6-8CCC-4246-80FD-A0BC1C0DE7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7" y="3527"/>
                <a:ext cx="649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6" name="Group 105">
              <a:extLst>
                <a:ext uri="{FF2B5EF4-FFF2-40B4-BE49-F238E27FC236}">
                  <a16:creationId xmlns:a16="http://schemas.microsoft.com/office/drawing/2014/main" id="{253A7FA6-AF01-EE46-AEBD-180DFBBE2B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46775" y="4893462"/>
              <a:ext cx="1044574" cy="215900"/>
              <a:chOff x="358" y="3463"/>
              <a:chExt cx="658" cy="136"/>
            </a:xfrm>
          </p:grpSpPr>
          <p:sp>
            <p:nvSpPr>
              <p:cNvPr id="47" name="Rectangle 106">
                <a:extLst>
                  <a:ext uri="{FF2B5EF4-FFF2-40B4-BE49-F238E27FC236}">
                    <a16:creationId xmlns:a16="http://schemas.microsoft.com/office/drawing/2014/main" id="{4CB26F35-0AB7-6C45-9E02-E33340F144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" y="3463"/>
                <a:ext cx="424" cy="136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8" name="Rectangle 107">
                <a:extLst>
                  <a:ext uri="{FF2B5EF4-FFF2-40B4-BE49-F238E27FC236}">
                    <a16:creationId xmlns:a16="http://schemas.microsoft.com/office/drawing/2014/main" id="{67BE3DEA-07EB-2B43-8B04-C28F828217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1" y="3500"/>
                <a:ext cx="132" cy="6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9" name="Rectangle 108">
                <a:extLst>
                  <a:ext uri="{FF2B5EF4-FFF2-40B4-BE49-F238E27FC236}">
                    <a16:creationId xmlns:a16="http://schemas.microsoft.com/office/drawing/2014/main" id="{B51ABD53-CAD7-F74A-89E0-FCB3F00BF2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" y="3477"/>
                <a:ext cx="108" cy="1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" name="Rectangle 109">
                <a:extLst>
                  <a:ext uri="{FF2B5EF4-FFF2-40B4-BE49-F238E27FC236}">
                    <a16:creationId xmlns:a16="http://schemas.microsoft.com/office/drawing/2014/main" id="{3F2D9755-73A8-9948-95A4-E712A4BDF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" y="3480"/>
                <a:ext cx="108" cy="10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" name="Line 110">
                <a:extLst>
                  <a:ext uri="{FF2B5EF4-FFF2-40B4-BE49-F238E27FC236}">
                    <a16:creationId xmlns:a16="http://schemas.microsoft.com/office/drawing/2014/main" id="{D7F71280-BF9B-274A-A19D-8AD6340BC1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8" y="3527"/>
                <a:ext cx="65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52" name="Group 111">
              <a:extLst>
                <a:ext uri="{FF2B5EF4-FFF2-40B4-BE49-F238E27FC236}">
                  <a16:creationId xmlns:a16="http://schemas.microsoft.com/office/drawing/2014/main" id="{AEA606A1-09BC-9842-A76E-4118C48EBE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45368" y="5315556"/>
              <a:ext cx="1046163" cy="215900"/>
              <a:chOff x="357" y="3463"/>
              <a:chExt cx="659" cy="136"/>
            </a:xfrm>
          </p:grpSpPr>
          <p:sp>
            <p:nvSpPr>
              <p:cNvPr id="53" name="Rectangle 112">
                <a:extLst>
                  <a:ext uri="{FF2B5EF4-FFF2-40B4-BE49-F238E27FC236}">
                    <a16:creationId xmlns:a16="http://schemas.microsoft.com/office/drawing/2014/main" id="{0AEBF59D-138D-7B49-A052-A32BEC6877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" y="3463"/>
                <a:ext cx="424" cy="136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" name="Rectangle 113">
                <a:extLst>
                  <a:ext uri="{FF2B5EF4-FFF2-40B4-BE49-F238E27FC236}">
                    <a16:creationId xmlns:a16="http://schemas.microsoft.com/office/drawing/2014/main" id="{3A86422E-A2BC-1241-A314-C1DCEDCA57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1" y="3500"/>
                <a:ext cx="132" cy="6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5" name="Rectangle 114">
                <a:extLst>
                  <a:ext uri="{FF2B5EF4-FFF2-40B4-BE49-F238E27FC236}">
                    <a16:creationId xmlns:a16="http://schemas.microsoft.com/office/drawing/2014/main" id="{2BDFF28F-4422-D64B-8B07-E2807D44A2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" y="3477"/>
                <a:ext cx="108" cy="1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6" name="Rectangle 115">
                <a:extLst>
                  <a:ext uri="{FF2B5EF4-FFF2-40B4-BE49-F238E27FC236}">
                    <a16:creationId xmlns:a16="http://schemas.microsoft.com/office/drawing/2014/main" id="{0A511C67-6757-134F-8367-4F223A2119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" y="3480"/>
                <a:ext cx="108" cy="10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7" name="Line 116">
                <a:extLst>
                  <a:ext uri="{FF2B5EF4-FFF2-40B4-BE49-F238E27FC236}">
                    <a16:creationId xmlns:a16="http://schemas.microsoft.com/office/drawing/2014/main" id="{761AAC06-8D58-1442-B04E-57C0C45D51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7" y="3527"/>
                <a:ext cx="659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9" name="Freeform 172">
              <a:extLst>
                <a:ext uri="{FF2B5EF4-FFF2-40B4-BE49-F238E27FC236}">
                  <a16:creationId xmlns:a16="http://schemas.microsoft.com/office/drawing/2014/main" id="{B11B5CDC-2A64-4848-B87A-BC58BA35A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6991" y="4553666"/>
              <a:ext cx="2903568" cy="396590"/>
            </a:xfrm>
            <a:custGeom>
              <a:avLst/>
              <a:gdLst>
                <a:gd name="T0" fmla="*/ 0 w 1264"/>
                <a:gd name="T1" fmla="*/ 2147483647 h 252"/>
                <a:gd name="T2" fmla="*/ 2147483647 w 1264"/>
                <a:gd name="T3" fmla="*/ 0 h 252"/>
                <a:gd name="T4" fmla="*/ 2147483647 w 1264"/>
                <a:gd name="T5" fmla="*/ 2147483647 h 252"/>
                <a:gd name="T6" fmla="*/ 2147483647 w 1264"/>
                <a:gd name="T7" fmla="*/ 2147483647 h 2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64"/>
                <a:gd name="T13" fmla="*/ 0 h 252"/>
                <a:gd name="T14" fmla="*/ 1264 w 1264"/>
                <a:gd name="T15" fmla="*/ 252 h 252"/>
                <a:gd name="connsiteX0" fmla="*/ 0 w 12819"/>
                <a:gd name="connsiteY0" fmla="*/ 155 h 10000"/>
                <a:gd name="connsiteX1" fmla="*/ 7740 w 12819"/>
                <a:gd name="connsiteY1" fmla="*/ 0 h 10000"/>
                <a:gd name="connsiteX2" fmla="*/ 7692 w 12819"/>
                <a:gd name="connsiteY2" fmla="*/ 9762 h 10000"/>
                <a:gd name="connsiteX3" fmla="*/ 12819 w 12819"/>
                <a:gd name="connsiteY3" fmla="*/ 10000 h 10000"/>
                <a:gd name="connsiteX0" fmla="*/ 0 w 12819"/>
                <a:gd name="connsiteY0" fmla="*/ 155 h 10000"/>
                <a:gd name="connsiteX1" fmla="*/ 7740 w 12819"/>
                <a:gd name="connsiteY1" fmla="*/ 0 h 10000"/>
                <a:gd name="connsiteX2" fmla="*/ 7773 w 12819"/>
                <a:gd name="connsiteY2" fmla="*/ 9838 h 10000"/>
                <a:gd name="connsiteX3" fmla="*/ 12819 w 12819"/>
                <a:gd name="connsiteY3" fmla="*/ 10000 h 10000"/>
                <a:gd name="connsiteX0" fmla="*/ 0 w 13839"/>
                <a:gd name="connsiteY0" fmla="*/ 155 h 9838"/>
                <a:gd name="connsiteX1" fmla="*/ 7740 w 13839"/>
                <a:gd name="connsiteY1" fmla="*/ 0 h 9838"/>
                <a:gd name="connsiteX2" fmla="*/ 7773 w 13839"/>
                <a:gd name="connsiteY2" fmla="*/ 9838 h 9838"/>
                <a:gd name="connsiteX3" fmla="*/ 13839 w 13839"/>
                <a:gd name="connsiteY3" fmla="*/ 9696 h 9838"/>
                <a:gd name="connsiteX0" fmla="*/ 0 w 10000"/>
                <a:gd name="connsiteY0" fmla="*/ 158 h 10077"/>
                <a:gd name="connsiteX1" fmla="*/ 5593 w 10000"/>
                <a:gd name="connsiteY1" fmla="*/ 0 h 10077"/>
                <a:gd name="connsiteX2" fmla="*/ 5375 w 10000"/>
                <a:gd name="connsiteY2" fmla="*/ 10077 h 10077"/>
                <a:gd name="connsiteX3" fmla="*/ 10000 w 10000"/>
                <a:gd name="connsiteY3" fmla="*/ 9856 h 10077"/>
                <a:gd name="connsiteX0" fmla="*/ 0 w 10000"/>
                <a:gd name="connsiteY0" fmla="*/ 3 h 9922"/>
                <a:gd name="connsiteX1" fmla="*/ 5351 w 10000"/>
                <a:gd name="connsiteY1" fmla="*/ 0 h 9922"/>
                <a:gd name="connsiteX2" fmla="*/ 5375 w 10000"/>
                <a:gd name="connsiteY2" fmla="*/ 9922 h 9922"/>
                <a:gd name="connsiteX3" fmla="*/ 10000 w 10000"/>
                <a:gd name="connsiteY3" fmla="*/ 9701 h 9922"/>
                <a:gd name="connsiteX0" fmla="*/ 0 w 10000"/>
                <a:gd name="connsiteY0" fmla="*/ 3 h 10078"/>
                <a:gd name="connsiteX1" fmla="*/ 5351 w 10000"/>
                <a:gd name="connsiteY1" fmla="*/ 0 h 10078"/>
                <a:gd name="connsiteX2" fmla="*/ 5346 w 10000"/>
                <a:gd name="connsiteY2" fmla="*/ 10078 h 10078"/>
                <a:gd name="connsiteX3" fmla="*/ 10000 w 10000"/>
                <a:gd name="connsiteY3" fmla="*/ 9777 h 10078"/>
                <a:gd name="connsiteX0" fmla="*/ 0 w 10000"/>
                <a:gd name="connsiteY0" fmla="*/ 3 h 10156"/>
                <a:gd name="connsiteX1" fmla="*/ 5351 w 10000"/>
                <a:gd name="connsiteY1" fmla="*/ 0 h 10156"/>
                <a:gd name="connsiteX2" fmla="*/ 5365 w 10000"/>
                <a:gd name="connsiteY2" fmla="*/ 10156 h 10156"/>
                <a:gd name="connsiteX3" fmla="*/ 10000 w 10000"/>
                <a:gd name="connsiteY3" fmla="*/ 9777 h 10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00" h="10156">
                  <a:moveTo>
                    <a:pt x="0" y="3"/>
                  </a:moveTo>
                  <a:lnTo>
                    <a:pt x="5351" y="0"/>
                  </a:lnTo>
                  <a:cubicBezTo>
                    <a:pt x="5359" y="3359"/>
                    <a:pt x="5357" y="6797"/>
                    <a:pt x="5365" y="10156"/>
                  </a:cubicBezTo>
                  <a:lnTo>
                    <a:pt x="10000" y="9777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8" name="Slide Number Placeholder 4">
            <a:extLst>
              <a:ext uri="{FF2B5EF4-FFF2-40B4-BE49-F238E27FC236}">
                <a16:creationId xmlns:a16="http://schemas.microsoft.com/office/drawing/2014/main" id="{804CF0B2-B0FB-2D4A-9DE1-131005920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Network Layer: 4-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211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B1128-B8E1-7C40-B73B-BD6D4E180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940" y="1405975"/>
            <a:ext cx="5414851" cy="5100842"/>
          </a:xfrm>
        </p:spPr>
        <p:txBody>
          <a:bodyPr>
            <a:normAutofit/>
          </a:bodyPr>
          <a:lstStyle/>
          <a:p>
            <a:pPr indent="-287338">
              <a:buFont typeface="Wingdings" charset="2"/>
              <a:buChar char="§"/>
              <a:defRPr/>
            </a:pPr>
            <a:r>
              <a:rPr lang="en-US" dirty="0"/>
              <a:t>Crossbar, Clos networks, other interconnection nets initially developed to connect processors in multiprocessor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813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Switching via interconnection network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3BC25E0-E8D5-F049-83E9-F0682565AF56}"/>
              </a:ext>
            </a:extLst>
          </p:cNvPr>
          <p:cNvGrpSpPr/>
          <p:nvPr/>
        </p:nvGrpSpPr>
        <p:grpSpPr>
          <a:xfrm>
            <a:off x="8083826" y="1590262"/>
            <a:ext cx="2319130" cy="1855304"/>
            <a:chOff x="7417077" y="4485654"/>
            <a:chExt cx="2112963" cy="2066925"/>
          </a:xfrm>
        </p:grpSpPr>
        <p:grpSp>
          <p:nvGrpSpPr>
            <p:cNvPr id="60" name="Group 118">
              <a:extLst>
                <a:ext uri="{FF2B5EF4-FFF2-40B4-BE49-F238E27FC236}">
                  <a16:creationId xmlns:a16="http://schemas.microsoft.com/office/drawing/2014/main" id="{BDFB8215-3D56-2D42-B36A-269A0DF68C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69465" y="4485654"/>
              <a:ext cx="890587" cy="215900"/>
              <a:chOff x="876" y="2800"/>
              <a:chExt cx="642" cy="175"/>
            </a:xfrm>
          </p:grpSpPr>
          <p:sp>
            <p:nvSpPr>
              <p:cNvPr id="109" name="Rectangle 119">
                <a:extLst>
                  <a:ext uri="{FF2B5EF4-FFF2-40B4-BE49-F238E27FC236}">
                    <a16:creationId xmlns:a16="http://schemas.microsoft.com/office/drawing/2014/main" id="{EF4B7892-A69C-B64C-8510-14C1B274D0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0" name="Rectangle 120">
                <a:extLst>
                  <a:ext uri="{FF2B5EF4-FFF2-40B4-BE49-F238E27FC236}">
                    <a16:creationId xmlns:a16="http://schemas.microsoft.com/office/drawing/2014/main" id="{FE2EA6C0-E7DC-1842-B380-66BD448F4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1" name="Rectangle 121">
                <a:extLst>
                  <a:ext uri="{FF2B5EF4-FFF2-40B4-BE49-F238E27FC236}">
                    <a16:creationId xmlns:a16="http://schemas.microsoft.com/office/drawing/2014/main" id="{7E0CFCBF-4656-A846-BB21-6FD14CE46A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2" name="Rectangle 122">
                <a:extLst>
                  <a:ext uri="{FF2B5EF4-FFF2-40B4-BE49-F238E27FC236}">
                    <a16:creationId xmlns:a16="http://schemas.microsoft.com/office/drawing/2014/main" id="{92F45F15-8114-484B-BB16-CBD68760A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3" name="Line 123">
                <a:extLst>
                  <a:ext uri="{FF2B5EF4-FFF2-40B4-BE49-F238E27FC236}">
                    <a16:creationId xmlns:a16="http://schemas.microsoft.com/office/drawing/2014/main" id="{2D95AFB2-02C8-3D4A-87D0-AE121B456C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61" name="Group 124">
              <a:extLst>
                <a:ext uri="{FF2B5EF4-FFF2-40B4-BE49-F238E27FC236}">
                  <a16:creationId xmlns:a16="http://schemas.microsoft.com/office/drawing/2014/main" id="{93E2D3F6-A7EF-6542-84C8-21B44C9CEE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45652" y="4880941"/>
              <a:ext cx="890588" cy="215900"/>
              <a:chOff x="876" y="2800"/>
              <a:chExt cx="642" cy="175"/>
            </a:xfrm>
          </p:grpSpPr>
          <p:sp>
            <p:nvSpPr>
              <p:cNvPr id="104" name="Rectangle 125">
                <a:extLst>
                  <a:ext uri="{FF2B5EF4-FFF2-40B4-BE49-F238E27FC236}">
                    <a16:creationId xmlns:a16="http://schemas.microsoft.com/office/drawing/2014/main" id="{41418EC7-91D0-5544-BCA0-2A1CC3DFC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5" name="Rectangle 126">
                <a:extLst>
                  <a:ext uri="{FF2B5EF4-FFF2-40B4-BE49-F238E27FC236}">
                    <a16:creationId xmlns:a16="http://schemas.microsoft.com/office/drawing/2014/main" id="{D8E3B2A9-3D82-AD48-A93B-71583BCE3A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6" name="Rectangle 127">
                <a:extLst>
                  <a:ext uri="{FF2B5EF4-FFF2-40B4-BE49-F238E27FC236}">
                    <a16:creationId xmlns:a16="http://schemas.microsoft.com/office/drawing/2014/main" id="{C0867EE3-2BC5-874A-814C-A4B0DAF954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" name="Rectangle 128">
                <a:extLst>
                  <a:ext uri="{FF2B5EF4-FFF2-40B4-BE49-F238E27FC236}">
                    <a16:creationId xmlns:a16="http://schemas.microsoft.com/office/drawing/2014/main" id="{75944114-E888-5043-A7C2-56BC12040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8" name="Line 129">
                <a:extLst>
                  <a:ext uri="{FF2B5EF4-FFF2-40B4-BE49-F238E27FC236}">
                    <a16:creationId xmlns:a16="http://schemas.microsoft.com/office/drawing/2014/main" id="{26320DB4-394D-0A43-A8A6-C99E5CC0BF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62" name="Group 130">
              <a:extLst>
                <a:ext uri="{FF2B5EF4-FFF2-40B4-BE49-F238E27FC236}">
                  <a16:creationId xmlns:a16="http://schemas.microsoft.com/office/drawing/2014/main" id="{DD7E937A-F922-3B49-B727-489978FC63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40890" y="5307979"/>
              <a:ext cx="890587" cy="215900"/>
              <a:chOff x="876" y="2800"/>
              <a:chExt cx="642" cy="175"/>
            </a:xfrm>
          </p:grpSpPr>
          <p:sp>
            <p:nvSpPr>
              <p:cNvPr id="99" name="Rectangle 131">
                <a:extLst>
                  <a:ext uri="{FF2B5EF4-FFF2-40B4-BE49-F238E27FC236}">
                    <a16:creationId xmlns:a16="http://schemas.microsoft.com/office/drawing/2014/main" id="{A0A7DC16-AAF0-0543-B181-2D06579675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0" name="Rectangle 132">
                <a:extLst>
                  <a:ext uri="{FF2B5EF4-FFF2-40B4-BE49-F238E27FC236}">
                    <a16:creationId xmlns:a16="http://schemas.microsoft.com/office/drawing/2014/main" id="{4888429E-949E-5C46-B8C3-47C65F62A4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1" name="Rectangle 133">
                <a:extLst>
                  <a:ext uri="{FF2B5EF4-FFF2-40B4-BE49-F238E27FC236}">
                    <a16:creationId xmlns:a16="http://schemas.microsoft.com/office/drawing/2014/main" id="{B17D677C-7F64-6F43-82D8-FCC88D2C0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2" name="Rectangle 134">
                <a:extLst>
                  <a:ext uri="{FF2B5EF4-FFF2-40B4-BE49-F238E27FC236}">
                    <a16:creationId xmlns:a16="http://schemas.microsoft.com/office/drawing/2014/main" id="{E19D732E-85B6-E34A-9661-7644732E7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15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3" name="Line 135">
                <a:extLst>
                  <a:ext uri="{FF2B5EF4-FFF2-40B4-BE49-F238E27FC236}">
                    <a16:creationId xmlns:a16="http://schemas.microsoft.com/office/drawing/2014/main" id="{9E926801-1D95-B942-965D-EC34909B22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63" name="Group 154">
              <a:extLst>
                <a:ext uri="{FF2B5EF4-FFF2-40B4-BE49-F238E27FC236}">
                  <a16:creationId xmlns:a16="http://schemas.microsoft.com/office/drawing/2014/main" id="{5D801805-22E9-3342-9E61-4013BDBDBF00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8564840" y="5504829"/>
              <a:ext cx="895350" cy="1035050"/>
              <a:chOff x="2954" y="2776"/>
              <a:chExt cx="564" cy="652"/>
            </a:xfrm>
          </p:grpSpPr>
          <p:grpSp>
            <p:nvGrpSpPr>
              <p:cNvPr id="81" name="Group 136">
                <a:extLst>
                  <a:ext uri="{FF2B5EF4-FFF2-40B4-BE49-F238E27FC236}">
                    <a16:creationId xmlns:a16="http://schemas.microsoft.com/office/drawing/2014/main" id="{DC4ACDF3-3A37-974C-9F24-96752CB4F9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54" y="2776"/>
                <a:ext cx="561" cy="136"/>
                <a:chOff x="455" y="3463"/>
                <a:chExt cx="561" cy="136"/>
              </a:xfrm>
            </p:grpSpPr>
            <p:sp>
              <p:nvSpPr>
                <p:cNvPr id="94" name="Rectangle 137">
                  <a:extLst>
                    <a:ext uri="{FF2B5EF4-FFF2-40B4-BE49-F238E27FC236}">
                      <a16:creationId xmlns:a16="http://schemas.microsoft.com/office/drawing/2014/main" id="{5140BCA1-AB6C-7246-9D38-40A1E491AA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5F5F5F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5" name="Rectangle 138">
                  <a:extLst>
                    <a:ext uri="{FF2B5EF4-FFF2-40B4-BE49-F238E27FC236}">
                      <a16:creationId xmlns:a16="http://schemas.microsoft.com/office/drawing/2014/main" id="{C37AD059-391A-BD44-8F54-18B650B064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6" name="Rectangle 139">
                  <a:extLst>
                    <a:ext uri="{FF2B5EF4-FFF2-40B4-BE49-F238E27FC236}">
                      <a16:creationId xmlns:a16="http://schemas.microsoft.com/office/drawing/2014/main" id="{EE27F0FF-5EF9-D843-929A-3953523A9F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7" name="Rectangle 140">
                  <a:extLst>
                    <a:ext uri="{FF2B5EF4-FFF2-40B4-BE49-F238E27FC236}">
                      <a16:creationId xmlns:a16="http://schemas.microsoft.com/office/drawing/2014/main" id="{09C2F96D-9977-7F48-B003-05EE8C4173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8" name="Line 141">
                  <a:extLst>
                    <a:ext uri="{FF2B5EF4-FFF2-40B4-BE49-F238E27FC236}">
                      <a16:creationId xmlns:a16="http://schemas.microsoft.com/office/drawing/2014/main" id="{B0A2C267-A8F8-5343-BBA6-24283D0BE1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3" y="3529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82" name="Group 142">
                <a:extLst>
                  <a:ext uri="{FF2B5EF4-FFF2-40B4-BE49-F238E27FC236}">
                    <a16:creationId xmlns:a16="http://schemas.microsoft.com/office/drawing/2014/main" id="{73020812-FECA-6246-AAD6-7B05930AC0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57" y="3023"/>
                <a:ext cx="561" cy="136"/>
                <a:chOff x="455" y="3463"/>
                <a:chExt cx="561" cy="136"/>
              </a:xfrm>
            </p:grpSpPr>
            <p:sp>
              <p:nvSpPr>
                <p:cNvPr id="89" name="Rectangle 143">
                  <a:extLst>
                    <a:ext uri="{FF2B5EF4-FFF2-40B4-BE49-F238E27FC236}">
                      <a16:creationId xmlns:a16="http://schemas.microsoft.com/office/drawing/2014/main" id="{D6FCD1B7-B959-994C-B29E-A9A5B76E36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5F5F5F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0" name="Rectangle 144">
                  <a:extLst>
                    <a:ext uri="{FF2B5EF4-FFF2-40B4-BE49-F238E27FC236}">
                      <a16:creationId xmlns:a16="http://schemas.microsoft.com/office/drawing/2014/main" id="{593F7969-8E89-2D47-BDE5-5210EAEE60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1" name="Rectangle 145">
                  <a:extLst>
                    <a:ext uri="{FF2B5EF4-FFF2-40B4-BE49-F238E27FC236}">
                      <a16:creationId xmlns:a16="http://schemas.microsoft.com/office/drawing/2014/main" id="{C1482B84-B84B-7E4B-AF00-6AA2344929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2" name="Rectangle 146">
                  <a:extLst>
                    <a:ext uri="{FF2B5EF4-FFF2-40B4-BE49-F238E27FC236}">
                      <a16:creationId xmlns:a16="http://schemas.microsoft.com/office/drawing/2014/main" id="{73FD5F69-21CF-0346-B2CA-EDA9FF6EFD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3" name="Line 147">
                  <a:extLst>
                    <a:ext uri="{FF2B5EF4-FFF2-40B4-BE49-F238E27FC236}">
                      <a16:creationId xmlns:a16="http://schemas.microsoft.com/office/drawing/2014/main" id="{31A2A149-6C13-3640-A322-7E1A5ED0BD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3" y="3529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83" name="Group 148">
                <a:extLst>
                  <a:ext uri="{FF2B5EF4-FFF2-40B4-BE49-F238E27FC236}">
                    <a16:creationId xmlns:a16="http://schemas.microsoft.com/office/drawing/2014/main" id="{6C1D3A5F-381C-864A-88EB-B040498493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54" y="3292"/>
                <a:ext cx="561" cy="136"/>
                <a:chOff x="455" y="3463"/>
                <a:chExt cx="561" cy="136"/>
              </a:xfrm>
            </p:grpSpPr>
            <p:sp>
              <p:nvSpPr>
                <p:cNvPr id="84" name="Rectangle 149">
                  <a:extLst>
                    <a:ext uri="{FF2B5EF4-FFF2-40B4-BE49-F238E27FC236}">
                      <a16:creationId xmlns:a16="http://schemas.microsoft.com/office/drawing/2014/main" id="{14AD2249-2359-6A4A-A176-4000523777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5F5F5F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5" name="Rectangle 150">
                  <a:extLst>
                    <a:ext uri="{FF2B5EF4-FFF2-40B4-BE49-F238E27FC236}">
                      <a16:creationId xmlns:a16="http://schemas.microsoft.com/office/drawing/2014/main" id="{04B515EF-281D-F94C-AED4-8ED9BEAE75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66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6" name="Rectangle 151">
                  <a:extLst>
                    <a:ext uri="{FF2B5EF4-FFF2-40B4-BE49-F238E27FC236}">
                      <a16:creationId xmlns:a16="http://schemas.microsoft.com/office/drawing/2014/main" id="{C272AC2F-2576-1447-A246-09AEE63AFD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7" name="Rectangle 152">
                  <a:extLst>
                    <a:ext uri="{FF2B5EF4-FFF2-40B4-BE49-F238E27FC236}">
                      <a16:creationId xmlns:a16="http://schemas.microsoft.com/office/drawing/2014/main" id="{7806C0E0-4DAD-EB43-94FA-6C7BFC6D43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8" name="Line 153">
                  <a:extLst>
                    <a:ext uri="{FF2B5EF4-FFF2-40B4-BE49-F238E27FC236}">
                      <a16:creationId xmlns:a16="http://schemas.microsoft.com/office/drawing/2014/main" id="{3BF9883C-66A0-5947-BC28-BF02D827A9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3" y="3529"/>
                  <a:ext cx="561" cy="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64" name="Line 155">
              <a:extLst>
                <a:ext uri="{FF2B5EF4-FFF2-40B4-BE49-F238E27FC236}">
                  <a16:creationId xmlns:a16="http://schemas.microsoft.com/office/drawing/2014/main" id="{A0B12453-ABAF-784E-9587-2EDADB3CEE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60052" y="4592016"/>
              <a:ext cx="106362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5" name="Line 156">
              <a:extLst>
                <a:ext uri="{FF2B5EF4-FFF2-40B4-BE49-F238E27FC236}">
                  <a16:creationId xmlns:a16="http://schemas.microsoft.com/office/drawing/2014/main" id="{3BA7B7A3-5901-8B41-AF4B-8AD856BE21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21952" y="4979366"/>
              <a:ext cx="1111250" cy="317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6" name="Line 157">
              <a:extLst>
                <a:ext uri="{FF2B5EF4-FFF2-40B4-BE49-F238E27FC236}">
                  <a16:creationId xmlns:a16="http://schemas.microsoft.com/office/drawing/2014/main" id="{F69E1FCD-BBAA-9E43-BED9-EE235364E4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21952" y="5411166"/>
              <a:ext cx="110172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7" name="Line 158">
              <a:extLst>
                <a:ext uri="{FF2B5EF4-FFF2-40B4-BE49-F238E27FC236}">
                  <a16:creationId xmlns:a16="http://schemas.microsoft.com/office/drawing/2014/main" id="{4DEB4277-4967-454A-9807-61DFB43FB2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04527" y="4592016"/>
              <a:ext cx="0" cy="9779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Line 159">
              <a:extLst>
                <a:ext uri="{FF2B5EF4-FFF2-40B4-BE49-F238E27FC236}">
                  <a16:creationId xmlns:a16="http://schemas.microsoft.com/office/drawing/2014/main" id="{32ED3CA0-6B4A-9940-A7FF-2B4B1FD494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26802" y="4592016"/>
              <a:ext cx="0" cy="9779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9" name="Line 160">
              <a:extLst>
                <a:ext uri="{FF2B5EF4-FFF2-40B4-BE49-F238E27FC236}">
                  <a16:creationId xmlns:a16="http://schemas.microsoft.com/office/drawing/2014/main" id="{D6336297-B3DB-A64E-8187-6A52BB96D5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23677" y="4582491"/>
              <a:ext cx="0" cy="9779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Oval 161">
              <a:extLst>
                <a:ext uri="{FF2B5EF4-FFF2-40B4-BE49-F238E27FC236}">
                  <a16:creationId xmlns:a16="http://schemas.microsoft.com/office/drawing/2014/main" id="{14FD0237-6962-7D4D-A26A-99F549DF7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3252" y="4553916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1" name="Oval 162">
              <a:extLst>
                <a:ext uri="{FF2B5EF4-FFF2-40B4-BE49-F238E27FC236}">
                  <a16:creationId xmlns:a16="http://schemas.microsoft.com/office/drawing/2014/main" id="{2384493A-323F-B14C-9F98-CA6218402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3252" y="493809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2" name="Oval 163">
              <a:extLst>
                <a:ext uri="{FF2B5EF4-FFF2-40B4-BE49-F238E27FC236}">
                  <a16:creationId xmlns:a16="http://schemas.microsoft.com/office/drawing/2014/main" id="{32E7692D-5C12-B442-80FF-C7B249514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6902" y="536354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3" name="Oval 164">
              <a:extLst>
                <a:ext uri="{FF2B5EF4-FFF2-40B4-BE49-F238E27FC236}">
                  <a16:creationId xmlns:a16="http://schemas.microsoft.com/office/drawing/2014/main" id="{0DDA2FFE-E5BA-0C4F-8A0B-F1CA4A5E3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8702" y="4553916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Oval 165">
              <a:extLst>
                <a:ext uri="{FF2B5EF4-FFF2-40B4-BE49-F238E27FC236}">
                  <a16:creationId xmlns:a16="http://schemas.microsoft.com/office/drawing/2014/main" id="{9CF681B8-BF04-5441-BEE3-A16AEEDE8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8702" y="493809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5" name="Oval 166">
              <a:extLst>
                <a:ext uri="{FF2B5EF4-FFF2-40B4-BE49-F238E27FC236}">
                  <a16:creationId xmlns:a16="http://schemas.microsoft.com/office/drawing/2014/main" id="{F756BE03-9919-5149-B8C1-27AA85376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2352" y="536354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6" name="Oval 167">
              <a:extLst>
                <a:ext uri="{FF2B5EF4-FFF2-40B4-BE49-F238E27FC236}">
                  <a16:creationId xmlns:a16="http://schemas.microsoft.com/office/drawing/2014/main" id="{ACBB363A-E96A-164C-982D-673D5C98F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9227" y="4553916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7" name="Oval 168">
              <a:extLst>
                <a:ext uri="{FF2B5EF4-FFF2-40B4-BE49-F238E27FC236}">
                  <a16:creationId xmlns:a16="http://schemas.microsoft.com/office/drawing/2014/main" id="{6B3D6E0C-831F-1C4C-A193-5B2FD8811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9227" y="493809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Oval 169">
              <a:extLst>
                <a:ext uri="{FF2B5EF4-FFF2-40B4-BE49-F238E27FC236}">
                  <a16:creationId xmlns:a16="http://schemas.microsoft.com/office/drawing/2014/main" id="{9A7D3398-0377-0B4F-823A-F463BA7F4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2877" y="5363541"/>
              <a:ext cx="88900" cy="889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Freeform 173">
              <a:extLst>
                <a:ext uri="{FF2B5EF4-FFF2-40B4-BE49-F238E27FC236}">
                  <a16:creationId xmlns:a16="http://schemas.microsoft.com/office/drawing/2014/main" id="{030444B6-CE0A-BD47-AC76-37A98FE88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7077" y="4538041"/>
              <a:ext cx="1543050" cy="2014538"/>
            </a:xfrm>
            <a:custGeom>
              <a:avLst/>
              <a:gdLst>
                <a:gd name="T0" fmla="*/ 0 w 972"/>
                <a:gd name="T1" fmla="*/ 2147483647 h 1266"/>
                <a:gd name="T2" fmla="*/ 2147483647 w 972"/>
                <a:gd name="T3" fmla="*/ 0 h 1266"/>
                <a:gd name="T4" fmla="*/ 2147483647 w 972"/>
                <a:gd name="T5" fmla="*/ 2147483647 h 1266"/>
                <a:gd name="T6" fmla="*/ 0 60000 65536"/>
                <a:gd name="T7" fmla="*/ 0 60000 65536"/>
                <a:gd name="T8" fmla="*/ 0 60000 65536"/>
                <a:gd name="T9" fmla="*/ 0 w 972"/>
                <a:gd name="T10" fmla="*/ 0 h 1266"/>
                <a:gd name="T11" fmla="*/ 972 w 972"/>
                <a:gd name="T12" fmla="*/ 1266 h 12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2" h="1266">
                  <a:moveTo>
                    <a:pt x="0" y="3"/>
                  </a:moveTo>
                  <a:lnTo>
                    <a:pt x="969" y="0"/>
                  </a:lnTo>
                  <a:lnTo>
                    <a:pt x="972" y="1266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41" name="TextBox 240">
            <a:extLst>
              <a:ext uri="{FF2B5EF4-FFF2-40B4-BE49-F238E27FC236}">
                <a16:creationId xmlns:a16="http://schemas.microsoft.com/office/drawing/2014/main" id="{B2396B77-B6FA-2840-BC57-4DD04AF562BD}"/>
              </a:ext>
            </a:extLst>
          </p:cNvPr>
          <p:cNvSpPr txBox="1"/>
          <p:nvPr/>
        </p:nvSpPr>
        <p:spPr>
          <a:xfrm>
            <a:off x="9071309" y="3438940"/>
            <a:ext cx="1229696" cy="303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3x3 crossbar</a:t>
            </a:r>
          </a:p>
        </p:txBody>
      </p:sp>
      <p:sp>
        <p:nvSpPr>
          <p:cNvPr id="79" name="Content Placeholder 2">
            <a:extLst>
              <a:ext uri="{FF2B5EF4-FFF2-40B4-BE49-F238E27FC236}">
                <a16:creationId xmlns:a16="http://schemas.microsoft.com/office/drawing/2014/main" id="{F80CBFA4-4A18-914C-A713-E4A5E18F64DB}"/>
              </a:ext>
            </a:extLst>
          </p:cNvPr>
          <p:cNvSpPr txBox="1">
            <a:spLocks/>
          </p:cNvSpPr>
          <p:nvPr/>
        </p:nvSpPr>
        <p:spPr>
          <a:xfrm>
            <a:off x="788873" y="3242734"/>
            <a:ext cx="4629004" cy="10937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multistage switch: </a:t>
            </a: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nxn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switch from multiple stages of smaller switches</a:t>
            </a:r>
          </a:p>
        </p:txBody>
      </p:sp>
      <p:sp>
        <p:nvSpPr>
          <p:cNvPr id="114" name="Content Placeholder 2">
            <a:extLst>
              <a:ext uri="{FF2B5EF4-FFF2-40B4-BE49-F238E27FC236}">
                <a16:creationId xmlns:a16="http://schemas.microsoft.com/office/drawing/2014/main" id="{C44BED26-0F25-A14C-A2DE-9DA48DF09A44}"/>
              </a:ext>
            </a:extLst>
          </p:cNvPr>
          <p:cNvSpPr txBox="1">
            <a:spLocks/>
          </p:cNvSpPr>
          <p:nvPr/>
        </p:nvSpPr>
        <p:spPr>
          <a:xfrm>
            <a:off x="775016" y="4281825"/>
            <a:ext cx="4555741" cy="2118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exploiting parallelism: </a:t>
            </a:r>
          </a:p>
          <a:p>
            <a:pPr marL="693738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fragment datagram into fixed length cells on entry</a:t>
            </a:r>
          </a:p>
          <a:p>
            <a:pPr marL="693738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switch cells through the fabric, reassemble datagram at exit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ACE683F-C3E3-E542-87F3-26A8CC51B32B}"/>
              </a:ext>
            </a:extLst>
          </p:cNvPr>
          <p:cNvSpPr txBox="1"/>
          <p:nvPr/>
        </p:nvSpPr>
        <p:spPr>
          <a:xfrm>
            <a:off x="7817222" y="2689668"/>
            <a:ext cx="1229696" cy="303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3x3 crossbar</a:t>
            </a:r>
          </a:p>
        </p:txBody>
      </p:sp>
      <p:sp>
        <p:nvSpPr>
          <p:cNvPr id="115" name="Slide Number Placeholder 4">
            <a:extLst>
              <a:ext uri="{FF2B5EF4-FFF2-40B4-BE49-F238E27FC236}">
                <a16:creationId xmlns:a16="http://schemas.microsoft.com/office/drawing/2014/main" id="{4F8C5248-5115-F748-B1EF-FF98DE1ECE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/>
              <a:t>Network Layer: 4-</a:t>
            </a:r>
            <a:fld id="{C4204591-24BD-A542-B9D5-F8D8A88D2FEE}" type="slidenum">
              <a:rPr lang="en-US" sz="1050" smtClean="0"/>
              <a:pPr/>
              <a:t>6</a:t>
            </a:fld>
            <a:endParaRPr lang="en-US" sz="1050" dirty="0"/>
          </a:p>
        </p:txBody>
      </p:sp>
      <p:sp>
        <p:nvSpPr>
          <p:cNvPr id="119" name="TextBox 7">
            <a:extLst>
              <a:ext uri="{FF2B5EF4-FFF2-40B4-BE49-F238E27FC236}">
                <a16:creationId xmlns:a16="http://schemas.microsoft.com/office/drawing/2014/main" id="{F5606C1B-BF0F-EA45-BB6E-781C28ABB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0395" y="4297024"/>
            <a:ext cx="2840038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 x N switching elements</a:t>
            </a:r>
          </a:p>
          <a:p>
            <a:pPr eaLnBrk="1" hangingPunct="1"/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allows N simultaneous packets switched (in the best case when all packets going to different outputs)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B51B9A-6282-C847-8B48-473DA166E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309" y="3304105"/>
            <a:ext cx="2774082" cy="283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198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1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B1128-B8E1-7C40-B73B-BD6D4E180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646" y="1287519"/>
            <a:ext cx="10585173" cy="1026189"/>
          </a:xfrm>
        </p:spPr>
        <p:txBody>
          <a:bodyPr>
            <a:normAutofit/>
          </a:bodyPr>
          <a:lstStyle/>
          <a:p>
            <a:pPr indent="-287338">
              <a:buFont typeface="Wingdings" charset="2"/>
              <a:buChar char="§"/>
              <a:defRPr/>
            </a:pPr>
            <a:r>
              <a:rPr lang="en-US" sz="3200" dirty="0"/>
              <a:t>scaling, using multiple switching “planes” in parallel: </a:t>
            </a:r>
          </a:p>
          <a:p>
            <a:pPr lvl="1" indent="-287338">
              <a:buFont typeface="Wingdings" charset="2"/>
              <a:buChar char="§"/>
              <a:defRPr/>
            </a:pPr>
            <a:r>
              <a:rPr lang="en-US" sz="2800" dirty="0"/>
              <a:t>speedup, scaleup via parallelism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B8519-F020-5F41-9762-E63B0FD7E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813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Switching via interconnection network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4ACF90F-291D-A84B-9EA4-A850C531F102}"/>
              </a:ext>
            </a:extLst>
          </p:cNvPr>
          <p:cNvGrpSpPr/>
          <p:nvPr/>
        </p:nvGrpSpPr>
        <p:grpSpPr>
          <a:xfrm>
            <a:off x="5465885" y="2987580"/>
            <a:ext cx="6504470" cy="2842592"/>
            <a:chOff x="2502527" y="2166731"/>
            <a:chExt cx="6504470" cy="2842592"/>
          </a:xfrm>
        </p:grpSpPr>
        <p:grpSp>
          <p:nvGrpSpPr>
            <p:cNvPr id="334" name="Group 118">
              <a:extLst>
                <a:ext uri="{FF2B5EF4-FFF2-40B4-BE49-F238E27FC236}">
                  <a16:creationId xmlns:a16="http://schemas.microsoft.com/office/drawing/2014/main" id="{AF49CF4D-AE10-6E4A-BE27-3F975761A6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61555" y="4446106"/>
              <a:ext cx="977484" cy="193795"/>
              <a:chOff x="876" y="2800"/>
              <a:chExt cx="642" cy="175"/>
            </a:xfrm>
          </p:grpSpPr>
          <p:sp>
            <p:nvSpPr>
              <p:cNvPr id="335" name="Rectangle 119">
                <a:extLst>
                  <a:ext uri="{FF2B5EF4-FFF2-40B4-BE49-F238E27FC236}">
                    <a16:creationId xmlns:a16="http://schemas.microsoft.com/office/drawing/2014/main" id="{4093A69A-1A26-8344-A1EE-EC3CD90B73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6" name="Rectangle 120">
                <a:extLst>
                  <a:ext uri="{FF2B5EF4-FFF2-40B4-BE49-F238E27FC236}">
                    <a16:creationId xmlns:a16="http://schemas.microsoft.com/office/drawing/2014/main" id="{2812FBDC-BDD7-A446-BBAE-BB6C428C79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7" name="Rectangle 121">
                <a:extLst>
                  <a:ext uri="{FF2B5EF4-FFF2-40B4-BE49-F238E27FC236}">
                    <a16:creationId xmlns:a16="http://schemas.microsoft.com/office/drawing/2014/main" id="{F1C83022-DCCD-824D-9EFC-DB58276AFE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8" name="Rectangle 122">
                <a:extLst>
                  <a:ext uri="{FF2B5EF4-FFF2-40B4-BE49-F238E27FC236}">
                    <a16:creationId xmlns:a16="http://schemas.microsoft.com/office/drawing/2014/main" id="{7EF3B5CA-CC9D-5D42-9788-BE1DCF3D21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21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9" name="Line 123">
                <a:extLst>
                  <a:ext uri="{FF2B5EF4-FFF2-40B4-BE49-F238E27FC236}">
                    <a16:creationId xmlns:a16="http://schemas.microsoft.com/office/drawing/2014/main" id="{888A3CB1-B901-B84C-9FDC-4A75C03255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28" name="Group 118">
              <a:extLst>
                <a:ext uri="{FF2B5EF4-FFF2-40B4-BE49-F238E27FC236}">
                  <a16:creationId xmlns:a16="http://schemas.microsoft.com/office/drawing/2014/main" id="{424B3156-291C-B04F-8BD2-8D13170A35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75415" y="4611758"/>
              <a:ext cx="977484" cy="193795"/>
              <a:chOff x="876" y="2800"/>
              <a:chExt cx="642" cy="175"/>
            </a:xfrm>
          </p:grpSpPr>
          <p:sp>
            <p:nvSpPr>
              <p:cNvPr id="329" name="Rectangle 119">
                <a:extLst>
                  <a:ext uri="{FF2B5EF4-FFF2-40B4-BE49-F238E27FC236}">
                    <a16:creationId xmlns:a16="http://schemas.microsoft.com/office/drawing/2014/main" id="{B9D5FCED-BF06-4C46-AE44-21C038F85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0" name="Rectangle 120">
                <a:extLst>
                  <a:ext uri="{FF2B5EF4-FFF2-40B4-BE49-F238E27FC236}">
                    <a16:creationId xmlns:a16="http://schemas.microsoft.com/office/drawing/2014/main" id="{51E04347-0FE1-6E45-B8AF-9085B6208D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1" name="Rectangle 121">
                <a:extLst>
                  <a:ext uri="{FF2B5EF4-FFF2-40B4-BE49-F238E27FC236}">
                    <a16:creationId xmlns:a16="http://schemas.microsoft.com/office/drawing/2014/main" id="{4B3FD1AD-66FF-344E-8B85-CE87F954D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18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2" name="Rectangle 122">
                <a:extLst>
                  <a:ext uri="{FF2B5EF4-FFF2-40B4-BE49-F238E27FC236}">
                    <a16:creationId xmlns:a16="http://schemas.microsoft.com/office/drawing/2014/main" id="{38C47484-37BF-CC4A-8AFC-5633045A3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21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3" name="Line 123">
                <a:extLst>
                  <a:ext uri="{FF2B5EF4-FFF2-40B4-BE49-F238E27FC236}">
                    <a16:creationId xmlns:a16="http://schemas.microsoft.com/office/drawing/2014/main" id="{E9322185-052D-CF4D-9604-30F5852D09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20BA766-6DB9-0342-ACF5-6818F39878BC}"/>
                </a:ext>
              </a:extLst>
            </p:cNvPr>
            <p:cNvGrpSpPr/>
            <p:nvPr/>
          </p:nvGrpSpPr>
          <p:grpSpPr>
            <a:xfrm>
              <a:off x="4623758" y="2166731"/>
              <a:ext cx="2290665" cy="2842592"/>
              <a:chOff x="4199689" y="2922105"/>
              <a:chExt cx="2290665" cy="2842592"/>
            </a:xfrm>
          </p:grpSpPr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40760763-7D13-D14C-B004-0516855F8019}"/>
                  </a:ext>
                </a:extLst>
              </p:cNvPr>
              <p:cNvGrpSpPr/>
              <p:nvPr/>
            </p:nvGrpSpPr>
            <p:grpSpPr>
              <a:xfrm>
                <a:off x="4802662" y="2922105"/>
                <a:ext cx="1687692" cy="1311965"/>
                <a:chOff x="1416732" y="5221357"/>
                <a:chExt cx="1687692" cy="1311965"/>
              </a:xfrm>
            </p:grpSpPr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A4E31C51-93A1-5042-9D84-F246E6733681}"/>
                    </a:ext>
                  </a:extLst>
                </p:cNvPr>
                <p:cNvCxnSpPr/>
                <p:nvPr/>
              </p:nvCxnSpPr>
              <p:spPr>
                <a:xfrm>
                  <a:off x="1629149" y="5306714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>
                  <a:extLst>
                    <a:ext uri="{FF2B5EF4-FFF2-40B4-BE49-F238E27FC236}">
                      <a16:creationId xmlns:a16="http://schemas.microsoft.com/office/drawing/2014/main" id="{C4626BFC-BC91-AE40-9E2F-1CAF813F24B3}"/>
                    </a:ext>
                  </a:extLst>
                </p:cNvPr>
                <p:cNvCxnSpPr/>
                <p:nvPr/>
              </p:nvCxnSpPr>
              <p:spPr>
                <a:xfrm>
                  <a:off x="1629814" y="5415191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>
                  <a:extLst>
                    <a:ext uri="{FF2B5EF4-FFF2-40B4-BE49-F238E27FC236}">
                      <a16:creationId xmlns:a16="http://schemas.microsoft.com/office/drawing/2014/main" id="{3D5CC8D6-8701-3148-9853-D5C192B7DF31}"/>
                    </a:ext>
                  </a:extLst>
                </p:cNvPr>
                <p:cNvCxnSpPr/>
                <p:nvPr/>
              </p:nvCxnSpPr>
              <p:spPr>
                <a:xfrm>
                  <a:off x="1626486" y="6458033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>
                  <a:extLst>
                    <a:ext uri="{FF2B5EF4-FFF2-40B4-BE49-F238E27FC236}">
                      <a16:creationId xmlns:a16="http://schemas.microsoft.com/office/drawing/2014/main" id="{DFBBFD44-0DFB-B049-98DF-A3EE6FC4071B}"/>
                    </a:ext>
                  </a:extLst>
                </p:cNvPr>
                <p:cNvCxnSpPr/>
                <p:nvPr/>
              </p:nvCxnSpPr>
              <p:spPr>
                <a:xfrm>
                  <a:off x="1627151" y="6358873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>
                  <a:extLst>
                    <a:ext uri="{FF2B5EF4-FFF2-40B4-BE49-F238E27FC236}">
                      <a16:creationId xmlns:a16="http://schemas.microsoft.com/office/drawing/2014/main" id="{3E13D79D-4110-5C48-B252-22BF34D55EEE}"/>
                    </a:ext>
                  </a:extLst>
                </p:cNvPr>
                <p:cNvCxnSpPr/>
                <p:nvPr/>
              </p:nvCxnSpPr>
              <p:spPr>
                <a:xfrm>
                  <a:off x="1627152" y="6251062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CF1ED62F-9B31-4E4D-A9A1-B5604E0F379D}"/>
                    </a:ext>
                  </a:extLst>
                </p:cNvPr>
                <p:cNvCxnSpPr/>
                <p:nvPr/>
              </p:nvCxnSpPr>
              <p:spPr>
                <a:xfrm>
                  <a:off x="1627817" y="6151902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F2389D36-0494-AF4B-BE1C-E8755716C377}"/>
                    </a:ext>
                  </a:extLst>
                </p:cNvPr>
                <p:cNvCxnSpPr/>
                <p:nvPr/>
              </p:nvCxnSpPr>
              <p:spPr>
                <a:xfrm>
                  <a:off x="1623825" y="5604859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AC930B35-8338-024A-815B-949A85C3DE94}"/>
                    </a:ext>
                  </a:extLst>
                </p:cNvPr>
                <p:cNvCxnSpPr/>
                <p:nvPr/>
              </p:nvCxnSpPr>
              <p:spPr>
                <a:xfrm>
                  <a:off x="1624490" y="5505699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45AFFA33-989B-6A44-AEC9-7FFF15DD3FD7}"/>
                    </a:ext>
                  </a:extLst>
                </p:cNvPr>
                <p:cNvGrpSpPr/>
                <p:nvPr/>
              </p:nvGrpSpPr>
              <p:grpSpPr>
                <a:xfrm>
                  <a:off x="1749287" y="5221357"/>
                  <a:ext cx="1200970" cy="1311965"/>
                  <a:chOff x="4426226" y="4479235"/>
                  <a:chExt cx="1200970" cy="1311965"/>
                </a:xfrm>
              </p:grpSpPr>
              <p:sp>
                <p:nvSpPr>
                  <p:cNvPr id="134" name="Rectangle 133">
                    <a:extLst>
                      <a:ext uri="{FF2B5EF4-FFF2-40B4-BE49-F238E27FC236}">
                        <a16:creationId xmlns:a16="http://schemas.microsoft.com/office/drawing/2014/main" id="{7AAD5D40-EBE5-7A46-BA23-4588D31D97BE}"/>
                      </a:ext>
                    </a:extLst>
                  </p:cNvPr>
                  <p:cNvSpPr/>
                  <p:nvPr/>
                </p:nvSpPr>
                <p:spPr>
                  <a:xfrm>
                    <a:off x="4426226" y="4479235"/>
                    <a:ext cx="1166191" cy="131196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5" name="TextBox 134">
                    <a:extLst>
                      <a:ext uri="{FF2B5EF4-FFF2-40B4-BE49-F238E27FC236}">
                        <a16:creationId xmlns:a16="http://schemas.microsoft.com/office/drawing/2014/main" id="{A09B1F95-9C4A-5041-A4C5-44BBBB463756}"/>
                      </a:ext>
                    </a:extLst>
                  </p:cNvPr>
                  <p:cNvSpPr txBox="1"/>
                  <p:nvPr/>
                </p:nvSpPr>
                <p:spPr>
                  <a:xfrm>
                    <a:off x="4426226" y="4479235"/>
                    <a:ext cx="1200970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fabric plane 0</a:t>
                    </a:r>
                  </a:p>
                </p:txBody>
              </p:sp>
            </p:grp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B61383D0-8600-7145-ABB4-73D8D87E126A}"/>
                    </a:ext>
                  </a:extLst>
                </p:cNvPr>
                <p:cNvSpPr txBox="1"/>
                <p:nvPr/>
              </p:nvSpPr>
              <p:spPr>
                <a:xfrm rot="16200000">
                  <a:off x="1369604" y="5690044"/>
                  <a:ext cx="463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. . .</a:t>
                  </a:r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C3A565F3-8853-E54F-91C8-30A8A3BB49DE}"/>
                    </a:ext>
                  </a:extLst>
                </p:cNvPr>
                <p:cNvSpPr txBox="1"/>
                <p:nvPr/>
              </p:nvSpPr>
              <p:spPr>
                <a:xfrm rot="16200000">
                  <a:off x="2687964" y="5686717"/>
                  <a:ext cx="463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. . .</a:t>
                  </a:r>
                </a:p>
              </p:txBody>
            </p:sp>
          </p:grp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1ECDB28F-7D58-FC47-90E4-A1884B6DED49}"/>
                  </a:ext>
                </a:extLst>
              </p:cNvPr>
              <p:cNvGrpSpPr/>
              <p:nvPr/>
            </p:nvGrpSpPr>
            <p:grpSpPr>
              <a:xfrm>
                <a:off x="4716523" y="3140766"/>
                <a:ext cx="1687692" cy="1311965"/>
                <a:chOff x="1416732" y="5221357"/>
                <a:chExt cx="1687692" cy="1311965"/>
              </a:xfrm>
            </p:grpSpPr>
            <p:cxnSp>
              <p:nvCxnSpPr>
                <p:cNvPr id="137" name="Straight Connector 136">
                  <a:extLst>
                    <a:ext uri="{FF2B5EF4-FFF2-40B4-BE49-F238E27FC236}">
                      <a16:creationId xmlns:a16="http://schemas.microsoft.com/office/drawing/2014/main" id="{22B49291-35C1-F646-9151-8D5CAD91152E}"/>
                    </a:ext>
                  </a:extLst>
                </p:cNvPr>
                <p:cNvCxnSpPr/>
                <p:nvPr/>
              </p:nvCxnSpPr>
              <p:spPr>
                <a:xfrm>
                  <a:off x="1629149" y="5306714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>
                  <a:extLst>
                    <a:ext uri="{FF2B5EF4-FFF2-40B4-BE49-F238E27FC236}">
                      <a16:creationId xmlns:a16="http://schemas.microsoft.com/office/drawing/2014/main" id="{AE4800AA-0F72-3B48-BF00-140135B900EF}"/>
                    </a:ext>
                  </a:extLst>
                </p:cNvPr>
                <p:cNvCxnSpPr/>
                <p:nvPr/>
              </p:nvCxnSpPr>
              <p:spPr>
                <a:xfrm>
                  <a:off x="1629814" y="5415191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96A1667E-854A-2D44-8A29-88B7998B7DBC}"/>
                    </a:ext>
                  </a:extLst>
                </p:cNvPr>
                <p:cNvCxnSpPr/>
                <p:nvPr/>
              </p:nvCxnSpPr>
              <p:spPr>
                <a:xfrm>
                  <a:off x="1626486" y="6458033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0307BC52-7519-E74E-82F4-7446D94755B4}"/>
                    </a:ext>
                  </a:extLst>
                </p:cNvPr>
                <p:cNvCxnSpPr/>
                <p:nvPr/>
              </p:nvCxnSpPr>
              <p:spPr>
                <a:xfrm>
                  <a:off x="1627151" y="6358873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2DFB66F9-2EEA-4F45-9982-AA0ECE4D0705}"/>
                    </a:ext>
                  </a:extLst>
                </p:cNvPr>
                <p:cNvCxnSpPr/>
                <p:nvPr/>
              </p:nvCxnSpPr>
              <p:spPr>
                <a:xfrm>
                  <a:off x="1627152" y="6251062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>
                  <a:extLst>
                    <a:ext uri="{FF2B5EF4-FFF2-40B4-BE49-F238E27FC236}">
                      <a16:creationId xmlns:a16="http://schemas.microsoft.com/office/drawing/2014/main" id="{C5AE7172-0A61-A943-AF6A-AA3B4966318B}"/>
                    </a:ext>
                  </a:extLst>
                </p:cNvPr>
                <p:cNvCxnSpPr/>
                <p:nvPr/>
              </p:nvCxnSpPr>
              <p:spPr>
                <a:xfrm>
                  <a:off x="1627817" y="6151902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>
                  <a:extLst>
                    <a:ext uri="{FF2B5EF4-FFF2-40B4-BE49-F238E27FC236}">
                      <a16:creationId xmlns:a16="http://schemas.microsoft.com/office/drawing/2014/main" id="{AB86A0CA-2BBD-3241-BDD7-CC2EA169186B}"/>
                    </a:ext>
                  </a:extLst>
                </p:cNvPr>
                <p:cNvCxnSpPr/>
                <p:nvPr/>
              </p:nvCxnSpPr>
              <p:spPr>
                <a:xfrm>
                  <a:off x="1623825" y="5604859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DB056F78-A09C-F34E-9087-9576AB942378}"/>
                    </a:ext>
                  </a:extLst>
                </p:cNvPr>
                <p:cNvCxnSpPr/>
                <p:nvPr/>
              </p:nvCxnSpPr>
              <p:spPr>
                <a:xfrm>
                  <a:off x="1624490" y="5505699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5" name="Group 144">
                  <a:extLst>
                    <a:ext uri="{FF2B5EF4-FFF2-40B4-BE49-F238E27FC236}">
                      <a16:creationId xmlns:a16="http://schemas.microsoft.com/office/drawing/2014/main" id="{6EAD8D3D-6C07-0C47-BC6F-F6E324523699}"/>
                    </a:ext>
                  </a:extLst>
                </p:cNvPr>
                <p:cNvGrpSpPr/>
                <p:nvPr/>
              </p:nvGrpSpPr>
              <p:grpSpPr>
                <a:xfrm>
                  <a:off x="1749287" y="5221357"/>
                  <a:ext cx="1175002" cy="1311965"/>
                  <a:chOff x="4426226" y="4479235"/>
                  <a:chExt cx="1175002" cy="1311965"/>
                </a:xfrm>
              </p:grpSpPr>
              <p:sp>
                <p:nvSpPr>
                  <p:cNvPr id="148" name="Rectangle 147">
                    <a:extLst>
                      <a:ext uri="{FF2B5EF4-FFF2-40B4-BE49-F238E27FC236}">
                        <a16:creationId xmlns:a16="http://schemas.microsoft.com/office/drawing/2014/main" id="{E1A34E00-2B81-5C43-BD96-BAC50603F9AB}"/>
                      </a:ext>
                    </a:extLst>
                  </p:cNvPr>
                  <p:cNvSpPr/>
                  <p:nvPr/>
                </p:nvSpPr>
                <p:spPr>
                  <a:xfrm>
                    <a:off x="4426226" y="4479235"/>
                    <a:ext cx="1166191" cy="131196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4E8CD73F-1D04-324E-8B5D-52BE9676926D}"/>
                      </a:ext>
                    </a:extLst>
                  </p:cNvPr>
                  <p:cNvSpPr txBox="1"/>
                  <p:nvPr/>
                </p:nvSpPr>
                <p:spPr>
                  <a:xfrm>
                    <a:off x="4426226" y="4479235"/>
                    <a:ext cx="117500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fabric plane 1</a:t>
                    </a:r>
                  </a:p>
                </p:txBody>
              </p:sp>
            </p:grpSp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AC67F0E3-96A7-9C40-9453-5DD6D22CDBF7}"/>
                    </a:ext>
                  </a:extLst>
                </p:cNvPr>
                <p:cNvSpPr txBox="1"/>
                <p:nvPr/>
              </p:nvSpPr>
              <p:spPr>
                <a:xfrm rot="16200000">
                  <a:off x="1369604" y="5690044"/>
                  <a:ext cx="463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. . .</a:t>
                  </a:r>
                </a:p>
              </p:txBody>
            </p:sp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A1B35328-3A8C-DC49-B311-E8D84E1C8394}"/>
                    </a:ext>
                  </a:extLst>
                </p:cNvPr>
                <p:cNvSpPr txBox="1"/>
                <p:nvPr/>
              </p:nvSpPr>
              <p:spPr>
                <a:xfrm rot="16200000">
                  <a:off x="2687964" y="5686717"/>
                  <a:ext cx="463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. . .</a:t>
                  </a:r>
                </a:p>
              </p:txBody>
            </p:sp>
          </p:grp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763257EE-6514-D14D-BB4B-808C84B0BBED}"/>
                  </a:ext>
                </a:extLst>
              </p:cNvPr>
              <p:cNvGrpSpPr/>
              <p:nvPr/>
            </p:nvGrpSpPr>
            <p:grpSpPr>
              <a:xfrm>
                <a:off x="4630384" y="3359427"/>
                <a:ext cx="1687692" cy="1311965"/>
                <a:chOff x="1416732" y="5221357"/>
                <a:chExt cx="1687692" cy="1311965"/>
              </a:xfrm>
            </p:grpSpPr>
            <p:cxnSp>
              <p:nvCxnSpPr>
                <p:cNvPr id="151" name="Straight Connector 150">
                  <a:extLst>
                    <a:ext uri="{FF2B5EF4-FFF2-40B4-BE49-F238E27FC236}">
                      <a16:creationId xmlns:a16="http://schemas.microsoft.com/office/drawing/2014/main" id="{625BA914-684C-6F4B-A078-484B0935E6E4}"/>
                    </a:ext>
                  </a:extLst>
                </p:cNvPr>
                <p:cNvCxnSpPr/>
                <p:nvPr/>
              </p:nvCxnSpPr>
              <p:spPr>
                <a:xfrm>
                  <a:off x="1629149" y="5306714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>
                  <a:extLst>
                    <a:ext uri="{FF2B5EF4-FFF2-40B4-BE49-F238E27FC236}">
                      <a16:creationId xmlns:a16="http://schemas.microsoft.com/office/drawing/2014/main" id="{DB5939BD-2E58-F046-B3EB-98CD21C55CFB}"/>
                    </a:ext>
                  </a:extLst>
                </p:cNvPr>
                <p:cNvCxnSpPr/>
                <p:nvPr/>
              </p:nvCxnSpPr>
              <p:spPr>
                <a:xfrm>
                  <a:off x="1629814" y="5415191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94550567-087F-7D4A-ABF2-7F3F4FACFA92}"/>
                    </a:ext>
                  </a:extLst>
                </p:cNvPr>
                <p:cNvCxnSpPr/>
                <p:nvPr/>
              </p:nvCxnSpPr>
              <p:spPr>
                <a:xfrm>
                  <a:off x="1626486" y="6458033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5D893FAE-2400-F144-9821-71CAA7E70A34}"/>
                    </a:ext>
                  </a:extLst>
                </p:cNvPr>
                <p:cNvCxnSpPr/>
                <p:nvPr/>
              </p:nvCxnSpPr>
              <p:spPr>
                <a:xfrm>
                  <a:off x="1627151" y="6358873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7B0FF6F9-EC58-C84A-B28F-451E6C448902}"/>
                    </a:ext>
                  </a:extLst>
                </p:cNvPr>
                <p:cNvCxnSpPr/>
                <p:nvPr/>
              </p:nvCxnSpPr>
              <p:spPr>
                <a:xfrm>
                  <a:off x="1627152" y="6251062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8841956C-2DE9-8B42-95DA-9121FCD6BE5D}"/>
                    </a:ext>
                  </a:extLst>
                </p:cNvPr>
                <p:cNvCxnSpPr/>
                <p:nvPr/>
              </p:nvCxnSpPr>
              <p:spPr>
                <a:xfrm>
                  <a:off x="1627817" y="6151902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3F88C77F-CF8B-2C4D-AD38-8280A026C0C2}"/>
                    </a:ext>
                  </a:extLst>
                </p:cNvPr>
                <p:cNvCxnSpPr/>
                <p:nvPr/>
              </p:nvCxnSpPr>
              <p:spPr>
                <a:xfrm>
                  <a:off x="1623825" y="5604859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EA7D2E27-F9F1-9C4C-9900-89369B77816F}"/>
                    </a:ext>
                  </a:extLst>
                </p:cNvPr>
                <p:cNvCxnSpPr/>
                <p:nvPr/>
              </p:nvCxnSpPr>
              <p:spPr>
                <a:xfrm>
                  <a:off x="1624490" y="5505699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F24FFC69-3FC3-EE40-BEED-9120F9E4723F}"/>
                    </a:ext>
                  </a:extLst>
                </p:cNvPr>
                <p:cNvGrpSpPr/>
                <p:nvPr/>
              </p:nvGrpSpPr>
              <p:grpSpPr>
                <a:xfrm>
                  <a:off x="1749287" y="5221357"/>
                  <a:ext cx="1175002" cy="1311965"/>
                  <a:chOff x="4426226" y="4479235"/>
                  <a:chExt cx="1175002" cy="1311965"/>
                </a:xfrm>
              </p:grpSpPr>
              <p:sp>
                <p:nvSpPr>
                  <p:cNvPr id="162" name="Rectangle 161">
                    <a:extLst>
                      <a:ext uri="{FF2B5EF4-FFF2-40B4-BE49-F238E27FC236}">
                        <a16:creationId xmlns:a16="http://schemas.microsoft.com/office/drawing/2014/main" id="{286D436C-A2D4-BF4B-8437-C11986C72671}"/>
                      </a:ext>
                    </a:extLst>
                  </p:cNvPr>
                  <p:cNvSpPr/>
                  <p:nvPr/>
                </p:nvSpPr>
                <p:spPr>
                  <a:xfrm>
                    <a:off x="4426226" y="4479235"/>
                    <a:ext cx="1166191" cy="131196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3" name="TextBox 162">
                    <a:extLst>
                      <a:ext uri="{FF2B5EF4-FFF2-40B4-BE49-F238E27FC236}">
                        <a16:creationId xmlns:a16="http://schemas.microsoft.com/office/drawing/2014/main" id="{88E4113D-A9CA-8949-8F16-E16EBD61CBD4}"/>
                      </a:ext>
                    </a:extLst>
                  </p:cNvPr>
                  <p:cNvSpPr txBox="1"/>
                  <p:nvPr/>
                </p:nvSpPr>
                <p:spPr>
                  <a:xfrm>
                    <a:off x="4426226" y="4479235"/>
                    <a:ext cx="117500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fabric plane 2</a:t>
                    </a:r>
                  </a:p>
                </p:txBody>
              </p:sp>
            </p:grp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BE7EBCF1-265E-5742-9AD9-4E6EA8AC8417}"/>
                    </a:ext>
                  </a:extLst>
                </p:cNvPr>
                <p:cNvSpPr txBox="1"/>
                <p:nvPr/>
              </p:nvSpPr>
              <p:spPr>
                <a:xfrm rot="16200000">
                  <a:off x="1369604" y="5690044"/>
                  <a:ext cx="463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. . .</a:t>
                  </a:r>
                </a:p>
              </p:txBody>
            </p:sp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2A4BCCF5-BAE8-7B49-93B9-352D63E3BADF}"/>
                    </a:ext>
                  </a:extLst>
                </p:cNvPr>
                <p:cNvSpPr txBox="1"/>
                <p:nvPr/>
              </p:nvSpPr>
              <p:spPr>
                <a:xfrm rot="16200000">
                  <a:off x="2687964" y="5686717"/>
                  <a:ext cx="463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. . .</a:t>
                  </a:r>
                </a:p>
              </p:txBody>
            </p:sp>
          </p:grp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4DCE3833-0A76-C643-A867-84E6834282A7}"/>
                  </a:ext>
                </a:extLst>
              </p:cNvPr>
              <p:cNvGrpSpPr/>
              <p:nvPr/>
            </p:nvGrpSpPr>
            <p:grpSpPr>
              <a:xfrm>
                <a:off x="4544245" y="3578088"/>
                <a:ext cx="1687692" cy="1311965"/>
                <a:chOff x="1416732" y="5221357"/>
                <a:chExt cx="1687692" cy="1311965"/>
              </a:xfrm>
            </p:grpSpPr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47C70EEA-30DB-8C4F-90AC-620FDA2A0138}"/>
                    </a:ext>
                  </a:extLst>
                </p:cNvPr>
                <p:cNvCxnSpPr/>
                <p:nvPr/>
              </p:nvCxnSpPr>
              <p:spPr>
                <a:xfrm>
                  <a:off x="1629149" y="5306714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Connector 165">
                  <a:extLst>
                    <a:ext uri="{FF2B5EF4-FFF2-40B4-BE49-F238E27FC236}">
                      <a16:creationId xmlns:a16="http://schemas.microsoft.com/office/drawing/2014/main" id="{4FFC5AE1-AA4D-9446-9C71-2CBADB228D10}"/>
                    </a:ext>
                  </a:extLst>
                </p:cNvPr>
                <p:cNvCxnSpPr/>
                <p:nvPr/>
              </p:nvCxnSpPr>
              <p:spPr>
                <a:xfrm>
                  <a:off x="1629814" y="5415191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499BB1B1-8E50-DB42-8699-52C4D6CE4F8F}"/>
                    </a:ext>
                  </a:extLst>
                </p:cNvPr>
                <p:cNvCxnSpPr/>
                <p:nvPr/>
              </p:nvCxnSpPr>
              <p:spPr>
                <a:xfrm>
                  <a:off x="1626486" y="6458033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FEDB77A6-D189-AA46-AEDF-2E616F256A12}"/>
                    </a:ext>
                  </a:extLst>
                </p:cNvPr>
                <p:cNvCxnSpPr/>
                <p:nvPr/>
              </p:nvCxnSpPr>
              <p:spPr>
                <a:xfrm>
                  <a:off x="1627151" y="6358873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91EBC83D-1513-A14A-B855-971436AA892D}"/>
                    </a:ext>
                  </a:extLst>
                </p:cNvPr>
                <p:cNvCxnSpPr/>
                <p:nvPr/>
              </p:nvCxnSpPr>
              <p:spPr>
                <a:xfrm>
                  <a:off x="1627152" y="6251062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539B859B-2C00-EC4B-BB9F-FA2A699D633A}"/>
                    </a:ext>
                  </a:extLst>
                </p:cNvPr>
                <p:cNvCxnSpPr/>
                <p:nvPr/>
              </p:nvCxnSpPr>
              <p:spPr>
                <a:xfrm>
                  <a:off x="1627817" y="6151902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0C304F32-EE17-864A-AE73-180F7283F1C8}"/>
                    </a:ext>
                  </a:extLst>
                </p:cNvPr>
                <p:cNvCxnSpPr/>
                <p:nvPr/>
              </p:nvCxnSpPr>
              <p:spPr>
                <a:xfrm>
                  <a:off x="1623825" y="5604859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F889F01C-0F8B-0B4D-9089-8FA49FB1058C}"/>
                    </a:ext>
                  </a:extLst>
                </p:cNvPr>
                <p:cNvCxnSpPr/>
                <p:nvPr/>
              </p:nvCxnSpPr>
              <p:spPr>
                <a:xfrm>
                  <a:off x="1624490" y="5505699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73" name="Group 172">
                  <a:extLst>
                    <a:ext uri="{FF2B5EF4-FFF2-40B4-BE49-F238E27FC236}">
                      <a16:creationId xmlns:a16="http://schemas.microsoft.com/office/drawing/2014/main" id="{8C5D3CC4-DD40-464E-81E7-9C5248FEC8AE}"/>
                    </a:ext>
                  </a:extLst>
                </p:cNvPr>
                <p:cNvGrpSpPr/>
                <p:nvPr/>
              </p:nvGrpSpPr>
              <p:grpSpPr>
                <a:xfrm>
                  <a:off x="1749287" y="5221357"/>
                  <a:ext cx="1175002" cy="1311965"/>
                  <a:chOff x="4426226" y="4479235"/>
                  <a:chExt cx="1175002" cy="1311965"/>
                </a:xfrm>
              </p:grpSpPr>
              <p:sp>
                <p:nvSpPr>
                  <p:cNvPr id="176" name="Rectangle 175">
                    <a:extLst>
                      <a:ext uri="{FF2B5EF4-FFF2-40B4-BE49-F238E27FC236}">
                        <a16:creationId xmlns:a16="http://schemas.microsoft.com/office/drawing/2014/main" id="{5CE93A9B-38A1-BF40-811E-E359099DDBBC}"/>
                      </a:ext>
                    </a:extLst>
                  </p:cNvPr>
                  <p:cNvSpPr/>
                  <p:nvPr/>
                </p:nvSpPr>
                <p:spPr>
                  <a:xfrm>
                    <a:off x="4426226" y="4479235"/>
                    <a:ext cx="1166191" cy="131196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7" name="TextBox 176">
                    <a:extLst>
                      <a:ext uri="{FF2B5EF4-FFF2-40B4-BE49-F238E27FC236}">
                        <a16:creationId xmlns:a16="http://schemas.microsoft.com/office/drawing/2014/main" id="{5B2E5208-A895-B14E-8DCB-4EA25D617FA8}"/>
                      </a:ext>
                    </a:extLst>
                  </p:cNvPr>
                  <p:cNvSpPr txBox="1"/>
                  <p:nvPr/>
                </p:nvSpPr>
                <p:spPr>
                  <a:xfrm>
                    <a:off x="4426226" y="4479235"/>
                    <a:ext cx="117500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fabric plane 3</a:t>
                    </a:r>
                  </a:p>
                </p:txBody>
              </p:sp>
            </p:grpSp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2C56D9DF-BEBF-9F41-9334-37C8562CF65B}"/>
                    </a:ext>
                  </a:extLst>
                </p:cNvPr>
                <p:cNvSpPr txBox="1"/>
                <p:nvPr/>
              </p:nvSpPr>
              <p:spPr>
                <a:xfrm rot="16200000">
                  <a:off x="1369604" y="5690044"/>
                  <a:ext cx="463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. . .</a:t>
                  </a:r>
                </a:p>
              </p:txBody>
            </p:sp>
            <p:sp>
              <p:nvSpPr>
                <p:cNvPr id="175" name="TextBox 174">
                  <a:extLst>
                    <a:ext uri="{FF2B5EF4-FFF2-40B4-BE49-F238E27FC236}">
                      <a16:creationId xmlns:a16="http://schemas.microsoft.com/office/drawing/2014/main" id="{5FB62124-F9A9-B74E-801E-939E6D55F5FC}"/>
                    </a:ext>
                  </a:extLst>
                </p:cNvPr>
                <p:cNvSpPr txBox="1"/>
                <p:nvPr/>
              </p:nvSpPr>
              <p:spPr>
                <a:xfrm rot="16200000">
                  <a:off x="2687964" y="5686717"/>
                  <a:ext cx="463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. . .</a:t>
                  </a:r>
                </a:p>
              </p:txBody>
            </p:sp>
          </p:grp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852B1340-D76B-4E46-856E-F639AB9F1AE8}"/>
                  </a:ext>
                </a:extLst>
              </p:cNvPr>
              <p:cNvGrpSpPr/>
              <p:nvPr/>
            </p:nvGrpSpPr>
            <p:grpSpPr>
              <a:xfrm>
                <a:off x="4458106" y="3796749"/>
                <a:ext cx="1687692" cy="1311965"/>
                <a:chOff x="1416732" y="5221357"/>
                <a:chExt cx="1687692" cy="1311965"/>
              </a:xfrm>
            </p:grpSpPr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F59DED08-18FE-834E-9DA0-0FC95C193D97}"/>
                    </a:ext>
                  </a:extLst>
                </p:cNvPr>
                <p:cNvCxnSpPr/>
                <p:nvPr/>
              </p:nvCxnSpPr>
              <p:spPr>
                <a:xfrm>
                  <a:off x="1629149" y="5306714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4FCA4BD1-13EE-CD49-9555-680BF4FBC4CB}"/>
                    </a:ext>
                  </a:extLst>
                </p:cNvPr>
                <p:cNvCxnSpPr/>
                <p:nvPr/>
              </p:nvCxnSpPr>
              <p:spPr>
                <a:xfrm>
                  <a:off x="1629814" y="5415191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DE1EB86E-EDA3-A241-9E9D-72B854D1C38F}"/>
                    </a:ext>
                  </a:extLst>
                </p:cNvPr>
                <p:cNvCxnSpPr/>
                <p:nvPr/>
              </p:nvCxnSpPr>
              <p:spPr>
                <a:xfrm>
                  <a:off x="1626486" y="6458033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D6A935F4-98BE-5444-BD08-78AC8A59CCE5}"/>
                    </a:ext>
                  </a:extLst>
                </p:cNvPr>
                <p:cNvCxnSpPr/>
                <p:nvPr/>
              </p:nvCxnSpPr>
              <p:spPr>
                <a:xfrm>
                  <a:off x="1627151" y="6358873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>
                  <a:extLst>
                    <a:ext uri="{FF2B5EF4-FFF2-40B4-BE49-F238E27FC236}">
                      <a16:creationId xmlns:a16="http://schemas.microsoft.com/office/drawing/2014/main" id="{B9C75665-BA08-3640-BED8-5DDF21BEBB11}"/>
                    </a:ext>
                  </a:extLst>
                </p:cNvPr>
                <p:cNvCxnSpPr/>
                <p:nvPr/>
              </p:nvCxnSpPr>
              <p:spPr>
                <a:xfrm>
                  <a:off x="1627152" y="6251062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>
                  <a:extLst>
                    <a:ext uri="{FF2B5EF4-FFF2-40B4-BE49-F238E27FC236}">
                      <a16:creationId xmlns:a16="http://schemas.microsoft.com/office/drawing/2014/main" id="{59C2AFDA-7A15-AB47-A801-28BE8DB6A7AE}"/>
                    </a:ext>
                  </a:extLst>
                </p:cNvPr>
                <p:cNvCxnSpPr/>
                <p:nvPr/>
              </p:nvCxnSpPr>
              <p:spPr>
                <a:xfrm>
                  <a:off x="1627817" y="6151902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DA760F63-3FCA-1E48-9694-3000FEDFCC64}"/>
                    </a:ext>
                  </a:extLst>
                </p:cNvPr>
                <p:cNvCxnSpPr/>
                <p:nvPr/>
              </p:nvCxnSpPr>
              <p:spPr>
                <a:xfrm>
                  <a:off x="1623825" y="5604859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>
                  <a:extLst>
                    <a:ext uri="{FF2B5EF4-FFF2-40B4-BE49-F238E27FC236}">
                      <a16:creationId xmlns:a16="http://schemas.microsoft.com/office/drawing/2014/main" id="{354AEC58-3B5E-C34C-A4BF-C9CABF071051}"/>
                    </a:ext>
                  </a:extLst>
                </p:cNvPr>
                <p:cNvCxnSpPr/>
                <p:nvPr/>
              </p:nvCxnSpPr>
              <p:spPr>
                <a:xfrm>
                  <a:off x="1624490" y="5505699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1170DB51-8293-234B-B9F1-B0B3101F4AF8}"/>
                    </a:ext>
                  </a:extLst>
                </p:cNvPr>
                <p:cNvGrpSpPr/>
                <p:nvPr/>
              </p:nvGrpSpPr>
              <p:grpSpPr>
                <a:xfrm>
                  <a:off x="1749287" y="5221357"/>
                  <a:ext cx="1175002" cy="1311965"/>
                  <a:chOff x="4426226" y="4479235"/>
                  <a:chExt cx="1175002" cy="1311965"/>
                </a:xfrm>
              </p:grpSpPr>
              <p:sp>
                <p:nvSpPr>
                  <p:cNvPr id="190" name="Rectangle 189">
                    <a:extLst>
                      <a:ext uri="{FF2B5EF4-FFF2-40B4-BE49-F238E27FC236}">
                        <a16:creationId xmlns:a16="http://schemas.microsoft.com/office/drawing/2014/main" id="{74C76E3E-68EE-114E-B49D-DCEC2C9B222A}"/>
                      </a:ext>
                    </a:extLst>
                  </p:cNvPr>
                  <p:cNvSpPr/>
                  <p:nvPr/>
                </p:nvSpPr>
                <p:spPr>
                  <a:xfrm>
                    <a:off x="4426226" y="4479235"/>
                    <a:ext cx="1166191" cy="131196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1" name="TextBox 190">
                    <a:extLst>
                      <a:ext uri="{FF2B5EF4-FFF2-40B4-BE49-F238E27FC236}">
                        <a16:creationId xmlns:a16="http://schemas.microsoft.com/office/drawing/2014/main" id="{A87D0399-6E79-5643-89F0-7906B987D4DB}"/>
                      </a:ext>
                    </a:extLst>
                  </p:cNvPr>
                  <p:cNvSpPr txBox="1"/>
                  <p:nvPr/>
                </p:nvSpPr>
                <p:spPr>
                  <a:xfrm>
                    <a:off x="4426226" y="4479235"/>
                    <a:ext cx="117500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fabric plane 4</a:t>
                    </a:r>
                  </a:p>
                </p:txBody>
              </p:sp>
            </p:grpSp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A79B0505-1934-F54D-B44C-8780B6463E57}"/>
                    </a:ext>
                  </a:extLst>
                </p:cNvPr>
                <p:cNvSpPr txBox="1"/>
                <p:nvPr/>
              </p:nvSpPr>
              <p:spPr>
                <a:xfrm rot="16200000">
                  <a:off x="1369604" y="5690044"/>
                  <a:ext cx="463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. . .</a:t>
                  </a:r>
                </a:p>
              </p:txBody>
            </p:sp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B0BBB775-1B8E-AF45-9C88-E7B9BFDFBD3A}"/>
                    </a:ext>
                  </a:extLst>
                </p:cNvPr>
                <p:cNvSpPr txBox="1"/>
                <p:nvPr/>
              </p:nvSpPr>
              <p:spPr>
                <a:xfrm rot="16200000">
                  <a:off x="2687964" y="5686717"/>
                  <a:ext cx="463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. . .</a:t>
                  </a:r>
                </a:p>
              </p:txBody>
            </p:sp>
          </p:grpSp>
          <p:grpSp>
            <p:nvGrpSpPr>
              <p:cNvPr id="192" name="Group 191">
                <a:extLst>
                  <a:ext uri="{FF2B5EF4-FFF2-40B4-BE49-F238E27FC236}">
                    <a16:creationId xmlns:a16="http://schemas.microsoft.com/office/drawing/2014/main" id="{27A16CD3-F266-6F4E-9433-67344A61D1CD}"/>
                  </a:ext>
                </a:extLst>
              </p:cNvPr>
              <p:cNvGrpSpPr/>
              <p:nvPr/>
            </p:nvGrpSpPr>
            <p:grpSpPr>
              <a:xfrm>
                <a:off x="4371967" y="4015410"/>
                <a:ext cx="1687692" cy="1311965"/>
                <a:chOff x="1416732" y="5221357"/>
                <a:chExt cx="1687692" cy="1311965"/>
              </a:xfrm>
            </p:grpSpPr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242CBD24-8BFA-4F4B-871C-88474723172A}"/>
                    </a:ext>
                  </a:extLst>
                </p:cNvPr>
                <p:cNvCxnSpPr/>
                <p:nvPr/>
              </p:nvCxnSpPr>
              <p:spPr>
                <a:xfrm>
                  <a:off x="1629149" y="5306714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EB9D3DD4-EFAB-BE46-97AE-6C051DD69973}"/>
                    </a:ext>
                  </a:extLst>
                </p:cNvPr>
                <p:cNvCxnSpPr/>
                <p:nvPr/>
              </p:nvCxnSpPr>
              <p:spPr>
                <a:xfrm>
                  <a:off x="1629814" y="5415191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>
                  <a:extLst>
                    <a:ext uri="{FF2B5EF4-FFF2-40B4-BE49-F238E27FC236}">
                      <a16:creationId xmlns:a16="http://schemas.microsoft.com/office/drawing/2014/main" id="{4300FE2E-5CE0-B442-98C0-BC4D3906A2E8}"/>
                    </a:ext>
                  </a:extLst>
                </p:cNvPr>
                <p:cNvCxnSpPr/>
                <p:nvPr/>
              </p:nvCxnSpPr>
              <p:spPr>
                <a:xfrm>
                  <a:off x="1626486" y="6458033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>
                  <a:extLst>
                    <a:ext uri="{FF2B5EF4-FFF2-40B4-BE49-F238E27FC236}">
                      <a16:creationId xmlns:a16="http://schemas.microsoft.com/office/drawing/2014/main" id="{A97E0211-B1F2-6149-9BC1-481F09996CD6}"/>
                    </a:ext>
                  </a:extLst>
                </p:cNvPr>
                <p:cNvCxnSpPr/>
                <p:nvPr/>
              </p:nvCxnSpPr>
              <p:spPr>
                <a:xfrm>
                  <a:off x="1627151" y="6358873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>
                  <a:extLst>
                    <a:ext uri="{FF2B5EF4-FFF2-40B4-BE49-F238E27FC236}">
                      <a16:creationId xmlns:a16="http://schemas.microsoft.com/office/drawing/2014/main" id="{7A3AA3DF-BABF-A94F-856A-2269148C5774}"/>
                    </a:ext>
                  </a:extLst>
                </p:cNvPr>
                <p:cNvCxnSpPr/>
                <p:nvPr/>
              </p:nvCxnSpPr>
              <p:spPr>
                <a:xfrm>
                  <a:off x="1627152" y="6251062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>
                  <a:extLst>
                    <a:ext uri="{FF2B5EF4-FFF2-40B4-BE49-F238E27FC236}">
                      <a16:creationId xmlns:a16="http://schemas.microsoft.com/office/drawing/2014/main" id="{B95EAEAA-4623-7644-9035-CD12D3CEDA0A}"/>
                    </a:ext>
                  </a:extLst>
                </p:cNvPr>
                <p:cNvCxnSpPr/>
                <p:nvPr/>
              </p:nvCxnSpPr>
              <p:spPr>
                <a:xfrm>
                  <a:off x="1627817" y="6151902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>
                  <a:extLst>
                    <a:ext uri="{FF2B5EF4-FFF2-40B4-BE49-F238E27FC236}">
                      <a16:creationId xmlns:a16="http://schemas.microsoft.com/office/drawing/2014/main" id="{9D777CAA-B533-BD47-8D37-FE2DB83393A3}"/>
                    </a:ext>
                  </a:extLst>
                </p:cNvPr>
                <p:cNvCxnSpPr/>
                <p:nvPr/>
              </p:nvCxnSpPr>
              <p:spPr>
                <a:xfrm>
                  <a:off x="1623825" y="5604859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>
                  <a:extLst>
                    <a:ext uri="{FF2B5EF4-FFF2-40B4-BE49-F238E27FC236}">
                      <a16:creationId xmlns:a16="http://schemas.microsoft.com/office/drawing/2014/main" id="{33884B12-0A7D-744B-B331-BAAC393D6F46}"/>
                    </a:ext>
                  </a:extLst>
                </p:cNvPr>
                <p:cNvCxnSpPr/>
                <p:nvPr/>
              </p:nvCxnSpPr>
              <p:spPr>
                <a:xfrm>
                  <a:off x="1624490" y="5505699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01" name="Group 200">
                  <a:extLst>
                    <a:ext uri="{FF2B5EF4-FFF2-40B4-BE49-F238E27FC236}">
                      <a16:creationId xmlns:a16="http://schemas.microsoft.com/office/drawing/2014/main" id="{6450D750-FD73-664B-A24E-E4A6F25DD06A}"/>
                    </a:ext>
                  </a:extLst>
                </p:cNvPr>
                <p:cNvGrpSpPr/>
                <p:nvPr/>
              </p:nvGrpSpPr>
              <p:grpSpPr>
                <a:xfrm>
                  <a:off x="1749287" y="5221357"/>
                  <a:ext cx="1175002" cy="1311965"/>
                  <a:chOff x="4426226" y="4479235"/>
                  <a:chExt cx="1175002" cy="1311965"/>
                </a:xfrm>
              </p:grpSpPr>
              <p:sp>
                <p:nvSpPr>
                  <p:cNvPr id="204" name="Rectangle 203">
                    <a:extLst>
                      <a:ext uri="{FF2B5EF4-FFF2-40B4-BE49-F238E27FC236}">
                        <a16:creationId xmlns:a16="http://schemas.microsoft.com/office/drawing/2014/main" id="{4EB2FFEE-D801-434F-811C-4D932D9FD863}"/>
                      </a:ext>
                    </a:extLst>
                  </p:cNvPr>
                  <p:cNvSpPr/>
                  <p:nvPr/>
                </p:nvSpPr>
                <p:spPr>
                  <a:xfrm>
                    <a:off x="4426226" y="4479235"/>
                    <a:ext cx="1166191" cy="131196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6338DC98-C356-5F4C-BDDB-19CFA45B2ADF}"/>
                      </a:ext>
                    </a:extLst>
                  </p:cNvPr>
                  <p:cNvSpPr txBox="1"/>
                  <p:nvPr/>
                </p:nvSpPr>
                <p:spPr>
                  <a:xfrm>
                    <a:off x="4426226" y="4479235"/>
                    <a:ext cx="117500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fabric plane 5</a:t>
                    </a:r>
                  </a:p>
                </p:txBody>
              </p:sp>
            </p:grpSp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4F03D8B2-18DF-9441-91C6-EDCF41C5DCFE}"/>
                    </a:ext>
                  </a:extLst>
                </p:cNvPr>
                <p:cNvSpPr txBox="1"/>
                <p:nvPr/>
              </p:nvSpPr>
              <p:spPr>
                <a:xfrm rot="16200000">
                  <a:off x="1369604" y="5690044"/>
                  <a:ext cx="463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. . .</a:t>
                  </a:r>
                </a:p>
              </p:txBody>
            </p: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B1680810-053C-1B44-97E5-1DCD007C9E5C}"/>
                    </a:ext>
                  </a:extLst>
                </p:cNvPr>
                <p:cNvSpPr txBox="1"/>
                <p:nvPr/>
              </p:nvSpPr>
              <p:spPr>
                <a:xfrm rot="16200000">
                  <a:off x="2687964" y="5686717"/>
                  <a:ext cx="463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. . .</a:t>
                  </a:r>
                </a:p>
              </p:txBody>
            </p:sp>
          </p:grpSp>
          <p:grpSp>
            <p:nvGrpSpPr>
              <p:cNvPr id="206" name="Group 205">
                <a:extLst>
                  <a:ext uri="{FF2B5EF4-FFF2-40B4-BE49-F238E27FC236}">
                    <a16:creationId xmlns:a16="http://schemas.microsoft.com/office/drawing/2014/main" id="{7D56FDB2-A56A-2049-AAEE-5D25D788A270}"/>
                  </a:ext>
                </a:extLst>
              </p:cNvPr>
              <p:cNvGrpSpPr/>
              <p:nvPr/>
            </p:nvGrpSpPr>
            <p:grpSpPr>
              <a:xfrm>
                <a:off x="4285828" y="4234071"/>
                <a:ext cx="1687692" cy="1311965"/>
                <a:chOff x="1416732" y="5221357"/>
                <a:chExt cx="1687692" cy="1311965"/>
              </a:xfrm>
            </p:grpSpPr>
            <p:cxnSp>
              <p:nvCxnSpPr>
                <p:cNvPr id="207" name="Straight Connector 206">
                  <a:extLst>
                    <a:ext uri="{FF2B5EF4-FFF2-40B4-BE49-F238E27FC236}">
                      <a16:creationId xmlns:a16="http://schemas.microsoft.com/office/drawing/2014/main" id="{22EAFDB0-6DE3-0E44-9902-0724F0EAB690}"/>
                    </a:ext>
                  </a:extLst>
                </p:cNvPr>
                <p:cNvCxnSpPr/>
                <p:nvPr/>
              </p:nvCxnSpPr>
              <p:spPr>
                <a:xfrm>
                  <a:off x="1629149" y="5306714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>
                  <a:extLst>
                    <a:ext uri="{FF2B5EF4-FFF2-40B4-BE49-F238E27FC236}">
                      <a16:creationId xmlns:a16="http://schemas.microsoft.com/office/drawing/2014/main" id="{08C7048B-F714-F84E-B906-722645E72990}"/>
                    </a:ext>
                  </a:extLst>
                </p:cNvPr>
                <p:cNvCxnSpPr/>
                <p:nvPr/>
              </p:nvCxnSpPr>
              <p:spPr>
                <a:xfrm>
                  <a:off x="1629814" y="5415191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>
                  <a:extLst>
                    <a:ext uri="{FF2B5EF4-FFF2-40B4-BE49-F238E27FC236}">
                      <a16:creationId xmlns:a16="http://schemas.microsoft.com/office/drawing/2014/main" id="{6E4A0C0A-06FA-5F4D-B2FA-1D4BF01B99CB}"/>
                    </a:ext>
                  </a:extLst>
                </p:cNvPr>
                <p:cNvCxnSpPr/>
                <p:nvPr/>
              </p:nvCxnSpPr>
              <p:spPr>
                <a:xfrm>
                  <a:off x="1626486" y="6458033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>
                  <a:extLst>
                    <a:ext uri="{FF2B5EF4-FFF2-40B4-BE49-F238E27FC236}">
                      <a16:creationId xmlns:a16="http://schemas.microsoft.com/office/drawing/2014/main" id="{5E372A1A-E34B-F942-9893-AA5FB31EFB57}"/>
                    </a:ext>
                  </a:extLst>
                </p:cNvPr>
                <p:cNvCxnSpPr/>
                <p:nvPr/>
              </p:nvCxnSpPr>
              <p:spPr>
                <a:xfrm>
                  <a:off x="1627151" y="6358873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>
                  <a:extLst>
                    <a:ext uri="{FF2B5EF4-FFF2-40B4-BE49-F238E27FC236}">
                      <a16:creationId xmlns:a16="http://schemas.microsoft.com/office/drawing/2014/main" id="{A99CA063-1FE2-EE45-84DD-A3F243F39CBA}"/>
                    </a:ext>
                  </a:extLst>
                </p:cNvPr>
                <p:cNvCxnSpPr/>
                <p:nvPr/>
              </p:nvCxnSpPr>
              <p:spPr>
                <a:xfrm>
                  <a:off x="1627152" y="6251062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>
                  <a:extLst>
                    <a:ext uri="{FF2B5EF4-FFF2-40B4-BE49-F238E27FC236}">
                      <a16:creationId xmlns:a16="http://schemas.microsoft.com/office/drawing/2014/main" id="{4621C27B-0228-544D-966D-4F474D033ED9}"/>
                    </a:ext>
                  </a:extLst>
                </p:cNvPr>
                <p:cNvCxnSpPr/>
                <p:nvPr/>
              </p:nvCxnSpPr>
              <p:spPr>
                <a:xfrm>
                  <a:off x="1627817" y="6151902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Straight Connector 212">
                  <a:extLst>
                    <a:ext uri="{FF2B5EF4-FFF2-40B4-BE49-F238E27FC236}">
                      <a16:creationId xmlns:a16="http://schemas.microsoft.com/office/drawing/2014/main" id="{E54809C9-307B-984C-AA4B-37B74EF60940}"/>
                    </a:ext>
                  </a:extLst>
                </p:cNvPr>
                <p:cNvCxnSpPr/>
                <p:nvPr/>
              </p:nvCxnSpPr>
              <p:spPr>
                <a:xfrm>
                  <a:off x="1623825" y="5604859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>
                  <a:extLst>
                    <a:ext uri="{FF2B5EF4-FFF2-40B4-BE49-F238E27FC236}">
                      <a16:creationId xmlns:a16="http://schemas.microsoft.com/office/drawing/2014/main" id="{534B91EF-1FC6-6947-8ABD-09296A096B07}"/>
                    </a:ext>
                  </a:extLst>
                </p:cNvPr>
                <p:cNvCxnSpPr/>
                <p:nvPr/>
              </p:nvCxnSpPr>
              <p:spPr>
                <a:xfrm>
                  <a:off x="1624490" y="5505699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15" name="Group 214">
                  <a:extLst>
                    <a:ext uri="{FF2B5EF4-FFF2-40B4-BE49-F238E27FC236}">
                      <a16:creationId xmlns:a16="http://schemas.microsoft.com/office/drawing/2014/main" id="{A3B5CB2A-7E9D-A740-9A3C-4E1E9C4E860E}"/>
                    </a:ext>
                  </a:extLst>
                </p:cNvPr>
                <p:cNvGrpSpPr/>
                <p:nvPr/>
              </p:nvGrpSpPr>
              <p:grpSpPr>
                <a:xfrm>
                  <a:off x="1749287" y="5221357"/>
                  <a:ext cx="1175002" cy="1311965"/>
                  <a:chOff x="4426226" y="4479235"/>
                  <a:chExt cx="1175002" cy="1311965"/>
                </a:xfrm>
              </p:grpSpPr>
              <p:sp>
                <p:nvSpPr>
                  <p:cNvPr id="218" name="Rectangle 217">
                    <a:extLst>
                      <a:ext uri="{FF2B5EF4-FFF2-40B4-BE49-F238E27FC236}">
                        <a16:creationId xmlns:a16="http://schemas.microsoft.com/office/drawing/2014/main" id="{67652EB3-8E5E-124E-8E46-0E70E5F5EB07}"/>
                      </a:ext>
                    </a:extLst>
                  </p:cNvPr>
                  <p:cNvSpPr/>
                  <p:nvPr/>
                </p:nvSpPr>
                <p:spPr>
                  <a:xfrm>
                    <a:off x="4426226" y="4479235"/>
                    <a:ext cx="1166191" cy="131196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1C717108-F21C-404D-BC48-34D7D27FDE9C}"/>
                      </a:ext>
                    </a:extLst>
                  </p:cNvPr>
                  <p:cNvSpPr txBox="1"/>
                  <p:nvPr/>
                </p:nvSpPr>
                <p:spPr>
                  <a:xfrm>
                    <a:off x="4426226" y="4479235"/>
                    <a:ext cx="117500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fabric plane 6</a:t>
                    </a:r>
                  </a:p>
                </p:txBody>
              </p:sp>
            </p:grpSp>
            <p:sp>
              <p:nvSpPr>
                <p:cNvPr id="216" name="TextBox 215">
                  <a:extLst>
                    <a:ext uri="{FF2B5EF4-FFF2-40B4-BE49-F238E27FC236}">
                      <a16:creationId xmlns:a16="http://schemas.microsoft.com/office/drawing/2014/main" id="{B69D0A55-0506-A841-9161-089AD1E68DB7}"/>
                    </a:ext>
                  </a:extLst>
                </p:cNvPr>
                <p:cNvSpPr txBox="1"/>
                <p:nvPr/>
              </p:nvSpPr>
              <p:spPr>
                <a:xfrm rot="16200000">
                  <a:off x="1369604" y="5690044"/>
                  <a:ext cx="463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. . .</a:t>
                  </a:r>
                </a:p>
              </p:txBody>
            </p:sp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A0CCAB8F-FD60-2243-B1B8-FF0A635D71D1}"/>
                    </a:ext>
                  </a:extLst>
                </p:cNvPr>
                <p:cNvSpPr txBox="1"/>
                <p:nvPr/>
              </p:nvSpPr>
              <p:spPr>
                <a:xfrm rot="16200000">
                  <a:off x="2687964" y="5686717"/>
                  <a:ext cx="463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. . .</a:t>
                  </a:r>
                </a:p>
              </p:txBody>
            </p:sp>
          </p:grpSp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EBE05E73-D99E-C147-9716-828223599C40}"/>
                  </a:ext>
                </a:extLst>
              </p:cNvPr>
              <p:cNvGrpSpPr/>
              <p:nvPr/>
            </p:nvGrpSpPr>
            <p:grpSpPr>
              <a:xfrm>
                <a:off x="4199689" y="4452732"/>
                <a:ext cx="1687692" cy="1311965"/>
                <a:chOff x="1416732" y="5221357"/>
                <a:chExt cx="1687692" cy="1311965"/>
              </a:xfrm>
            </p:grpSpPr>
            <p:cxnSp>
              <p:nvCxnSpPr>
                <p:cNvPr id="221" name="Straight Connector 220">
                  <a:extLst>
                    <a:ext uri="{FF2B5EF4-FFF2-40B4-BE49-F238E27FC236}">
                      <a16:creationId xmlns:a16="http://schemas.microsoft.com/office/drawing/2014/main" id="{BD2E3933-9FCB-D54C-9E07-9014FBA4EECE}"/>
                    </a:ext>
                  </a:extLst>
                </p:cNvPr>
                <p:cNvCxnSpPr/>
                <p:nvPr/>
              </p:nvCxnSpPr>
              <p:spPr>
                <a:xfrm>
                  <a:off x="1629149" y="5306714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>
                  <a:extLst>
                    <a:ext uri="{FF2B5EF4-FFF2-40B4-BE49-F238E27FC236}">
                      <a16:creationId xmlns:a16="http://schemas.microsoft.com/office/drawing/2014/main" id="{50DDC4D9-1AE1-124C-B7D3-5CBC537D97AC}"/>
                    </a:ext>
                  </a:extLst>
                </p:cNvPr>
                <p:cNvCxnSpPr/>
                <p:nvPr/>
              </p:nvCxnSpPr>
              <p:spPr>
                <a:xfrm>
                  <a:off x="1629814" y="5415191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Straight Connector 241">
                  <a:extLst>
                    <a:ext uri="{FF2B5EF4-FFF2-40B4-BE49-F238E27FC236}">
                      <a16:creationId xmlns:a16="http://schemas.microsoft.com/office/drawing/2014/main" id="{90194CF0-8839-CC4F-99D8-3F3A37783E56}"/>
                    </a:ext>
                  </a:extLst>
                </p:cNvPr>
                <p:cNvCxnSpPr/>
                <p:nvPr/>
              </p:nvCxnSpPr>
              <p:spPr>
                <a:xfrm>
                  <a:off x="1626486" y="6458033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>
                  <a:extLst>
                    <a:ext uri="{FF2B5EF4-FFF2-40B4-BE49-F238E27FC236}">
                      <a16:creationId xmlns:a16="http://schemas.microsoft.com/office/drawing/2014/main" id="{352B5416-5AAB-2D46-9B0E-CE3CA11D2ED9}"/>
                    </a:ext>
                  </a:extLst>
                </p:cNvPr>
                <p:cNvCxnSpPr/>
                <p:nvPr/>
              </p:nvCxnSpPr>
              <p:spPr>
                <a:xfrm>
                  <a:off x="1627151" y="6358873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Straight Connector 243">
                  <a:extLst>
                    <a:ext uri="{FF2B5EF4-FFF2-40B4-BE49-F238E27FC236}">
                      <a16:creationId xmlns:a16="http://schemas.microsoft.com/office/drawing/2014/main" id="{2E2826A0-6585-5742-B3D7-72AC0D8B5703}"/>
                    </a:ext>
                  </a:extLst>
                </p:cNvPr>
                <p:cNvCxnSpPr/>
                <p:nvPr/>
              </p:nvCxnSpPr>
              <p:spPr>
                <a:xfrm>
                  <a:off x="1627152" y="6251062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>
                  <a:extLst>
                    <a:ext uri="{FF2B5EF4-FFF2-40B4-BE49-F238E27FC236}">
                      <a16:creationId xmlns:a16="http://schemas.microsoft.com/office/drawing/2014/main" id="{985CEE96-F86A-3F45-A843-174A5CE01AEE}"/>
                    </a:ext>
                  </a:extLst>
                </p:cNvPr>
                <p:cNvCxnSpPr/>
                <p:nvPr/>
              </p:nvCxnSpPr>
              <p:spPr>
                <a:xfrm>
                  <a:off x="1627817" y="6151902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" name="Straight Connector 245">
                  <a:extLst>
                    <a:ext uri="{FF2B5EF4-FFF2-40B4-BE49-F238E27FC236}">
                      <a16:creationId xmlns:a16="http://schemas.microsoft.com/office/drawing/2014/main" id="{16F9E714-0E70-3C4B-995B-BA09A4319E0E}"/>
                    </a:ext>
                  </a:extLst>
                </p:cNvPr>
                <p:cNvCxnSpPr/>
                <p:nvPr/>
              </p:nvCxnSpPr>
              <p:spPr>
                <a:xfrm>
                  <a:off x="1623825" y="5604859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>
                  <a:extLst>
                    <a:ext uri="{FF2B5EF4-FFF2-40B4-BE49-F238E27FC236}">
                      <a16:creationId xmlns:a16="http://schemas.microsoft.com/office/drawing/2014/main" id="{99A2B0DD-2B68-0345-8098-716D1C4E5C05}"/>
                    </a:ext>
                  </a:extLst>
                </p:cNvPr>
                <p:cNvCxnSpPr/>
                <p:nvPr/>
              </p:nvCxnSpPr>
              <p:spPr>
                <a:xfrm>
                  <a:off x="1624490" y="5505699"/>
                  <a:ext cx="138557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48" name="Group 247">
                  <a:extLst>
                    <a:ext uri="{FF2B5EF4-FFF2-40B4-BE49-F238E27FC236}">
                      <a16:creationId xmlns:a16="http://schemas.microsoft.com/office/drawing/2014/main" id="{E207C60C-2027-014E-ACA1-A8C5FECF1B84}"/>
                    </a:ext>
                  </a:extLst>
                </p:cNvPr>
                <p:cNvGrpSpPr/>
                <p:nvPr/>
              </p:nvGrpSpPr>
              <p:grpSpPr>
                <a:xfrm>
                  <a:off x="1749287" y="5221357"/>
                  <a:ext cx="1200970" cy="1311965"/>
                  <a:chOff x="4426226" y="4479235"/>
                  <a:chExt cx="1200970" cy="1311965"/>
                </a:xfrm>
              </p:grpSpPr>
              <p:sp>
                <p:nvSpPr>
                  <p:cNvPr id="251" name="Rectangle 250">
                    <a:extLst>
                      <a:ext uri="{FF2B5EF4-FFF2-40B4-BE49-F238E27FC236}">
                        <a16:creationId xmlns:a16="http://schemas.microsoft.com/office/drawing/2014/main" id="{08D55DB1-B076-A04E-8054-6804391003C5}"/>
                      </a:ext>
                    </a:extLst>
                  </p:cNvPr>
                  <p:cNvSpPr/>
                  <p:nvPr/>
                </p:nvSpPr>
                <p:spPr>
                  <a:xfrm>
                    <a:off x="4426226" y="4479235"/>
                    <a:ext cx="1166191" cy="131196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2" name="TextBox 251">
                    <a:extLst>
                      <a:ext uri="{FF2B5EF4-FFF2-40B4-BE49-F238E27FC236}">
                        <a16:creationId xmlns:a16="http://schemas.microsoft.com/office/drawing/2014/main" id="{03F187CE-BFD2-954F-B4CF-08652524520B}"/>
                      </a:ext>
                    </a:extLst>
                  </p:cNvPr>
                  <p:cNvSpPr txBox="1"/>
                  <p:nvPr/>
                </p:nvSpPr>
                <p:spPr>
                  <a:xfrm>
                    <a:off x="4426226" y="4479235"/>
                    <a:ext cx="1200970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fabric plane 7</a:t>
                    </a:r>
                  </a:p>
                </p:txBody>
              </p:sp>
            </p:grpSp>
            <p:sp>
              <p:nvSpPr>
                <p:cNvPr id="249" name="TextBox 248">
                  <a:extLst>
                    <a:ext uri="{FF2B5EF4-FFF2-40B4-BE49-F238E27FC236}">
                      <a16:creationId xmlns:a16="http://schemas.microsoft.com/office/drawing/2014/main" id="{B8F709DD-A4C9-964E-9369-DC9024B01328}"/>
                    </a:ext>
                  </a:extLst>
                </p:cNvPr>
                <p:cNvSpPr txBox="1"/>
                <p:nvPr/>
              </p:nvSpPr>
              <p:spPr>
                <a:xfrm rot="16200000">
                  <a:off x="1369604" y="5690044"/>
                  <a:ext cx="463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. . .</a:t>
                  </a:r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0CB27A1C-1B33-8D47-A809-2A64EA9496C4}"/>
                    </a:ext>
                  </a:extLst>
                </p:cNvPr>
                <p:cNvSpPr txBox="1"/>
                <p:nvPr/>
              </p:nvSpPr>
              <p:spPr>
                <a:xfrm rot="16200000">
                  <a:off x="2687964" y="5686717"/>
                  <a:ext cx="4635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. . .</a:t>
                  </a:r>
                </a:p>
              </p:txBody>
            </p:sp>
          </p:grpSp>
        </p:grpSp>
        <p:grpSp>
          <p:nvGrpSpPr>
            <p:cNvPr id="276" name="Group 148">
              <a:extLst>
                <a:ext uri="{FF2B5EF4-FFF2-40B4-BE49-F238E27FC236}">
                  <a16:creationId xmlns:a16="http://schemas.microsoft.com/office/drawing/2014/main" id="{2E570F32-B5FE-CB40-B069-AF1FD15449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58844" y="4535520"/>
              <a:ext cx="799405" cy="236966"/>
              <a:chOff x="453" y="3465"/>
              <a:chExt cx="561" cy="136"/>
            </a:xfrm>
          </p:grpSpPr>
          <p:sp>
            <p:nvSpPr>
              <p:cNvPr id="277" name="Rectangle 149">
                <a:extLst>
                  <a:ext uri="{FF2B5EF4-FFF2-40B4-BE49-F238E27FC236}">
                    <a16:creationId xmlns:a16="http://schemas.microsoft.com/office/drawing/2014/main" id="{FEA32228-96F7-134B-A34B-AB55023184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" y="3465"/>
                <a:ext cx="424" cy="13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8" name="Rectangle 150">
                <a:extLst>
                  <a:ext uri="{FF2B5EF4-FFF2-40B4-BE49-F238E27FC236}">
                    <a16:creationId xmlns:a16="http://schemas.microsoft.com/office/drawing/2014/main" id="{2365A856-1D41-F642-858D-16C20FD0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" y="3504"/>
                <a:ext cx="132" cy="61"/>
              </a:xfrm>
              <a:prstGeom prst="rect">
                <a:avLst/>
              </a:prstGeom>
              <a:solidFill>
                <a:srgbClr val="FFFFFF"/>
              </a:solidFill>
              <a:ln w="15875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9" name="Rectangle 151">
                <a:extLst>
                  <a:ext uri="{FF2B5EF4-FFF2-40B4-BE49-F238E27FC236}">
                    <a16:creationId xmlns:a16="http://schemas.microsoft.com/office/drawing/2014/main" id="{0B0BE8CF-B7C0-7947-BE53-3B146B8EC0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2" y="3481"/>
                <a:ext cx="108" cy="104"/>
              </a:xfrm>
              <a:prstGeom prst="rect">
                <a:avLst/>
              </a:prstGeom>
              <a:solidFill>
                <a:srgbClr val="FFFFFF"/>
              </a:solidFill>
              <a:ln w="15875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0" name="Rectangle 152">
                <a:extLst>
                  <a:ext uri="{FF2B5EF4-FFF2-40B4-BE49-F238E27FC236}">
                    <a16:creationId xmlns:a16="http://schemas.microsoft.com/office/drawing/2014/main" id="{868D8C31-ED5A-E24D-8D93-00655F6384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" y="3478"/>
                <a:ext cx="108" cy="105"/>
              </a:xfrm>
              <a:prstGeom prst="rect">
                <a:avLst/>
              </a:prstGeom>
              <a:solidFill>
                <a:srgbClr val="FFFFFF"/>
              </a:solidFill>
              <a:ln w="1587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1" name="Line 153">
                <a:extLst>
                  <a:ext uri="{FF2B5EF4-FFF2-40B4-BE49-F238E27FC236}">
                    <a16:creationId xmlns:a16="http://schemas.microsoft.com/office/drawing/2014/main" id="{65D89C0F-33F9-8F40-A576-039AE5F239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3" y="3529"/>
                <a:ext cx="561" cy="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C5C06A7-CC33-B147-8CF7-72174E9EF5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4532" y="2250005"/>
              <a:ext cx="1064231" cy="2924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F8E278EB-F529-0245-8909-19F0275C51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9613" y="2473015"/>
              <a:ext cx="975008" cy="700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52CBCAC-3051-6E4F-BE6E-0E188B5230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74532" y="2542460"/>
              <a:ext cx="887706" cy="1453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7A1AA8BB-3481-5D4C-8AE1-96BF35A119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83143" y="2539506"/>
              <a:ext cx="803404" cy="3660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A8EE266F-7F85-D745-9E59-EFAAD06842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74532" y="2542460"/>
              <a:ext cx="721772" cy="5825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DA93283C-0C9E-8543-AF5F-81C9EADB16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79613" y="2543036"/>
              <a:ext cx="630409" cy="7967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AD9651E7-198A-4540-9EAA-6C1B85AACA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74532" y="2542460"/>
              <a:ext cx="554878" cy="10238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82B32D18-45B7-A544-93F3-482D031376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74532" y="2542460"/>
              <a:ext cx="463674" cy="12397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60B2CCF9-7FBB-EB49-9BF3-CFE052378D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4697" y="3196191"/>
              <a:ext cx="643514" cy="14580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F5AB2FF7-2FB7-E24A-9C38-598523278059}"/>
                </a:ext>
              </a:extLst>
            </p:cNvPr>
            <p:cNvCxnSpPr>
              <a:cxnSpLocks/>
              <a:stCxn id="281" idx="0"/>
            </p:cNvCxnSpPr>
            <p:nvPr/>
          </p:nvCxnSpPr>
          <p:spPr>
            <a:xfrm flipH="1" flipV="1">
              <a:off x="6730554" y="3415671"/>
              <a:ext cx="728290" cy="12383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8A0880C7-A15A-534A-90E6-FBF859429BDA}"/>
                </a:ext>
              </a:extLst>
            </p:cNvPr>
            <p:cNvCxnSpPr>
              <a:cxnSpLocks/>
              <a:stCxn id="281" idx="0"/>
            </p:cNvCxnSpPr>
            <p:nvPr/>
          </p:nvCxnSpPr>
          <p:spPr>
            <a:xfrm flipH="1" flipV="1">
              <a:off x="6653472" y="3638681"/>
              <a:ext cx="805372" cy="10153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3E017690-EC6F-FB4F-A1FF-CAE71BABDE52}"/>
                </a:ext>
              </a:extLst>
            </p:cNvPr>
            <p:cNvCxnSpPr>
              <a:cxnSpLocks/>
              <a:stCxn id="281" idx="0"/>
            </p:cNvCxnSpPr>
            <p:nvPr/>
          </p:nvCxnSpPr>
          <p:spPr>
            <a:xfrm flipH="1" flipV="1">
              <a:off x="6569330" y="3858161"/>
              <a:ext cx="889514" cy="7958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8412F5B1-1BE1-734A-B9C4-7E61DAACE56E}"/>
                </a:ext>
              </a:extLst>
            </p:cNvPr>
            <p:cNvCxnSpPr>
              <a:cxnSpLocks/>
              <a:stCxn id="281" idx="0"/>
            </p:cNvCxnSpPr>
            <p:nvPr/>
          </p:nvCxnSpPr>
          <p:spPr>
            <a:xfrm flipH="1" flipV="1">
              <a:off x="6478128" y="4074111"/>
              <a:ext cx="980716" cy="5798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B2D8881F-1594-4149-9DD1-52BC68531279}"/>
                </a:ext>
              </a:extLst>
            </p:cNvPr>
            <p:cNvCxnSpPr>
              <a:cxnSpLocks/>
              <a:stCxn id="281" idx="0"/>
            </p:cNvCxnSpPr>
            <p:nvPr/>
          </p:nvCxnSpPr>
          <p:spPr>
            <a:xfrm flipH="1" flipV="1">
              <a:off x="6390458" y="4290061"/>
              <a:ext cx="1068386" cy="3639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FB912C47-FFD4-2740-8D44-D2C1F2E1EFA0}"/>
                </a:ext>
              </a:extLst>
            </p:cNvPr>
            <p:cNvCxnSpPr>
              <a:cxnSpLocks/>
              <a:stCxn id="281" idx="0"/>
            </p:cNvCxnSpPr>
            <p:nvPr/>
          </p:nvCxnSpPr>
          <p:spPr>
            <a:xfrm flipH="1" flipV="1">
              <a:off x="6299258" y="4509543"/>
              <a:ext cx="1159586" cy="1444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9F4EF984-B0C2-4946-A8C1-37C7146F8B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18650" y="4657807"/>
              <a:ext cx="1228969" cy="782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2" name="Group 118">
              <a:extLst>
                <a:ext uri="{FF2B5EF4-FFF2-40B4-BE49-F238E27FC236}">
                  <a16:creationId xmlns:a16="http://schemas.microsoft.com/office/drawing/2014/main" id="{8531BEC6-8E48-1745-9FD6-6DA75DC1C2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2527" y="4777410"/>
              <a:ext cx="977484" cy="193795"/>
              <a:chOff x="876" y="2800"/>
              <a:chExt cx="642" cy="175"/>
            </a:xfrm>
          </p:grpSpPr>
          <p:sp>
            <p:nvSpPr>
              <p:cNvPr id="323" name="Rectangle 119">
                <a:extLst>
                  <a:ext uri="{FF2B5EF4-FFF2-40B4-BE49-F238E27FC236}">
                    <a16:creationId xmlns:a16="http://schemas.microsoft.com/office/drawing/2014/main" id="{AD85F25B-088A-FF43-8996-713EAF236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Rectangle 120">
                <a:extLst>
                  <a:ext uri="{FF2B5EF4-FFF2-40B4-BE49-F238E27FC236}">
                    <a16:creationId xmlns:a16="http://schemas.microsoft.com/office/drawing/2014/main" id="{881293D1-125C-CE4E-BDAC-ED5BE197B3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5" name="Rectangle 121">
                <a:extLst>
                  <a:ext uri="{FF2B5EF4-FFF2-40B4-BE49-F238E27FC236}">
                    <a16:creationId xmlns:a16="http://schemas.microsoft.com/office/drawing/2014/main" id="{512AFAA5-EC34-A742-993A-F06E45DCEA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21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6" name="Rectangle 122">
                <a:extLst>
                  <a:ext uri="{FF2B5EF4-FFF2-40B4-BE49-F238E27FC236}">
                    <a16:creationId xmlns:a16="http://schemas.microsoft.com/office/drawing/2014/main" id="{E5A9B695-D6BC-E646-8F7D-BABEDDBA0E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21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7" name="Line 123">
                <a:extLst>
                  <a:ext uri="{FF2B5EF4-FFF2-40B4-BE49-F238E27FC236}">
                    <a16:creationId xmlns:a16="http://schemas.microsoft.com/office/drawing/2014/main" id="{E65D8F28-EA0F-2244-AA7B-70C137E80E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810B165-77EB-1340-AB6E-272C262E9452}"/>
                </a:ext>
              </a:extLst>
            </p:cNvPr>
            <p:cNvGrpSpPr/>
            <p:nvPr/>
          </p:nvGrpSpPr>
          <p:grpSpPr>
            <a:xfrm>
              <a:off x="3507269" y="2955235"/>
              <a:ext cx="216590" cy="413440"/>
              <a:chOff x="3507269" y="2955235"/>
              <a:chExt cx="216590" cy="413440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C1FC9A4-61A1-B14D-939C-A6CF2C62ABA5}"/>
                  </a:ext>
                </a:extLst>
              </p:cNvPr>
              <p:cNvSpPr/>
              <p:nvPr/>
            </p:nvSpPr>
            <p:spPr>
              <a:xfrm>
                <a:off x="3631094" y="2955235"/>
                <a:ext cx="92765" cy="9276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0" name="Oval 339">
                <a:extLst>
                  <a:ext uri="{FF2B5EF4-FFF2-40B4-BE49-F238E27FC236}">
                    <a16:creationId xmlns:a16="http://schemas.microsoft.com/office/drawing/2014/main" id="{AC8158DD-C79C-C24C-AD83-DDBAB99ED80C}"/>
                  </a:ext>
                </a:extLst>
              </p:cNvPr>
              <p:cNvSpPr/>
              <p:nvPr/>
            </p:nvSpPr>
            <p:spPr>
              <a:xfrm>
                <a:off x="3570769" y="3117160"/>
                <a:ext cx="92765" cy="9276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1" name="Oval 340">
                <a:extLst>
                  <a:ext uri="{FF2B5EF4-FFF2-40B4-BE49-F238E27FC236}">
                    <a16:creationId xmlns:a16="http://schemas.microsoft.com/office/drawing/2014/main" id="{8FF7AB88-E320-7840-9DA7-5197F446D998}"/>
                  </a:ext>
                </a:extLst>
              </p:cNvPr>
              <p:cNvSpPr/>
              <p:nvPr/>
            </p:nvSpPr>
            <p:spPr>
              <a:xfrm>
                <a:off x="3507269" y="3275910"/>
                <a:ext cx="92765" cy="9276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42" name="Group 341">
              <a:extLst>
                <a:ext uri="{FF2B5EF4-FFF2-40B4-BE49-F238E27FC236}">
                  <a16:creationId xmlns:a16="http://schemas.microsoft.com/office/drawing/2014/main" id="{799C3A75-BFC9-2E48-85C8-5B7EC7CCDAB9}"/>
                </a:ext>
              </a:extLst>
            </p:cNvPr>
            <p:cNvGrpSpPr/>
            <p:nvPr/>
          </p:nvGrpSpPr>
          <p:grpSpPr>
            <a:xfrm>
              <a:off x="3177069" y="3850585"/>
              <a:ext cx="216590" cy="413440"/>
              <a:chOff x="3507269" y="2955235"/>
              <a:chExt cx="216590" cy="413440"/>
            </a:xfrm>
          </p:grpSpPr>
          <p:sp>
            <p:nvSpPr>
              <p:cNvPr id="343" name="Oval 342">
                <a:extLst>
                  <a:ext uri="{FF2B5EF4-FFF2-40B4-BE49-F238E27FC236}">
                    <a16:creationId xmlns:a16="http://schemas.microsoft.com/office/drawing/2014/main" id="{72ABB4E7-CCDD-1048-8C9B-331093124F08}"/>
                  </a:ext>
                </a:extLst>
              </p:cNvPr>
              <p:cNvSpPr/>
              <p:nvPr/>
            </p:nvSpPr>
            <p:spPr>
              <a:xfrm>
                <a:off x="3631094" y="2955235"/>
                <a:ext cx="92765" cy="9276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4" name="Oval 343">
                <a:extLst>
                  <a:ext uri="{FF2B5EF4-FFF2-40B4-BE49-F238E27FC236}">
                    <a16:creationId xmlns:a16="http://schemas.microsoft.com/office/drawing/2014/main" id="{788BF5C4-FCBC-234C-A3AA-4A94BEC19621}"/>
                  </a:ext>
                </a:extLst>
              </p:cNvPr>
              <p:cNvSpPr/>
              <p:nvPr/>
            </p:nvSpPr>
            <p:spPr>
              <a:xfrm>
                <a:off x="3570769" y="3117160"/>
                <a:ext cx="92765" cy="9276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5" name="Oval 344">
                <a:extLst>
                  <a:ext uri="{FF2B5EF4-FFF2-40B4-BE49-F238E27FC236}">
                    <a16:creationId xmlns:a16="http://schemas.microsoft.com/office/drawing/2014/main" id="{81E03BF8-40AA-A14E-A442-E2FE179942C4}"/>
                  </a:ext>
                </a:extLst>
              </p:cNvPr>
              <p:cNvSpPr/>
              <p:nvPr/>
            </p:nvSpPr>
            <p:spPr>
              <a:xfrm>
                <a:off x="3507269" y="3275910"/>
                <a:ext cx="92765" cy="9276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46" name="Group 118">
              <a:extLst>
                <a:ext uri="{FF2B5EF4-FFF2-40B4-BE49-F238E27FC236}">
                  <a16:creationId xmlns:a16="http://schemas.microsoft.com/office/drawing/2014/main" id="{09A94EFC-0C6E-AB46-BB6D-B8EDD8753E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99128" y="2453587"/>
              <a:ext cx="977484" cy="193795"/>
              <a:chOff x="876" y="2800"/>
              <a:chExt cx="642" cy="175"/>
            </a:xfrm>
          </p:grpSpPr>
          <p:sp>
            <p:nvSpPr>
              <p:cNvPr id="347" name="Rectangle 119">
                <a:extLst>
                  <a:ext uri="{FF2B5EF4-FFF2-40B4-BE49-F238E27FC236}">
                    <a16:creationId xmlns:a16="http://schemas.microsoft.com/office/drawing/2014/main" id="{95557478-C808-0A49-99F3-AB762999C6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2800"/>
                <a:ext cx="485" cy="1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8" name="Rectangle 120">
                <a:extLst>
                  <a:ext uri="{FF2B5EF4-FFF2-40B4-BE49-F238E27FC236}">
                    <a16:creationId xmlns:a16="http://schemas.microsoft.com/office/drawing/2014/main" id="{57DD8E6C-AE44-C246-A617-6D39406120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2849"/>
                <a:ext cx="151" cy="78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9" name="Rectangle 121">
                <a:extLst>
                  <a:ext uri="{FF2B5EF4-FFF2-40B4-BE49-F238E27FC236}">
                    <a16:creationId xmlns:a16="http://schemas.microsoft.com/office/drawing/2014/main" id="{EC25F33B-A2F2-E441-9E7F-31DC2E7A8A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7" y="2821"/>
                <a:ext cx="124" cy="134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0" name="Rectangle 122">
                <a:extLst>
                  <a:ext uri="{FF2B5EF4-FFF2-40B4-BE49-F238E27FC236}">
                    <a16:creationId xmlns:a16="http://schemas.microsoft.com/office/drawing/2014/main" id="{43EDE764-1035-AE47-96B5-71878F878C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" y="2821"/>
                <a:ext cx="125" cy="13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1" name="Line 123">
                <a:extLst>
                  <a:ext uri="{FF2B5EF4-FFF2-40B4-BE49-F238E27FC236}">
                    <a16:creationId xmlns:a16="http://schemas.microsoft.com/office/drawing/2014/main" id="{6F7EBE29-77D5-1443-A62A-0BCECCF4B6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76" y="2882"/>
                <a:ext cx="642" cy="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352" name="Group 351">
              <a:extLst>
                <a:ext uri="{FF2B5EF4-FFF2-40B4-BE49-F238E27FC236}">
                  <a16:creationId xmlns:a16="http://schemas.microsoft.com/office/drawing/2014/main" id="{190EAB13-BC95-254B-8BB7-4ECCA50E13F0}"/>
                </a:ext>
              </a:extLst>
            </p:cNvPr>
            <p:cNvGrpSpPr/>
            <p:nvPr/>
          </p:nvGrpSpPr>
          <p:grpSpPr>
            <a:xfrm>
              <a:off x="8205165" y="3160644"/>
              <a:ext cx="216590" cy="413440"/>
              <a:chOff x="3507269" y="2955235"/>
              <a:chExt cx="216590" cy="413440"/>
            </a:xfrm>
          </p:grpSpPr>
          <p:sp>
            <p:nvSpPr>
              <p:cNvPr id="353" name="Oval 352">
                <a:extLst>
                  <a:ext uri="{FF2B5EF4-FFF2-40B4-BE49-F238E27FC236}">
                    <a16:creationId xmlns:a16="http://schemas.microsoft.com/office/drawing/2014/main" id="{804BF0A2-3072-234A-8050-8FB74487C8DA}"/>
                  </a:ext>
                </a:extLst>
              </p:cNvPr>
              <p:cNvSpPr/>
              <p:nvPr/>
            </p:nvSpPr>
            <p:spPr>
              <a:xfrm>
                <a:off x="3631094" y="2955235"/>
                <a:ext cx="92765" cy="9276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4" name="Oval 353">
                <a:extLst>
                  <a:ext uri="{FF2B5EF4-FFF2-40B4-BE49-F238E27FC236}">
                    <a16:creationId xmlns:a16="http://schemas.microsoft.com/office/drawing/2014/main" id="{C413300F-0BEB-F24C-821D-DC72C49D43A3}"/>
                  </a:ext>
                </a:extLst>
              </p:cNvPr>
              <p:cNvSpPr/>
              <p:nvPr/>
            </p:nvSpPr>
            <p:spPr>
              <a:xfrm>
                <a:off x="3570769" y="3117160"/>
                <a:ext cx="92765" cy="9276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5" name="Oval 354">
                <a:extLst>
                  <a:ext uri="{FF2B5EF4-FFF2-40B4-BE49-F238E27FC236}">
                    <a16:creationId xmlns:a16="http://schemas.microsoft.com/office/drawing/2014/main" id="{31EB8237-FBF1-B04A-AB23-73699C8FBA07}"/>
                  </a:ext>
                </a:extLst>
              </p:cNvPr>
              <p:cNvSpPr/>
              <p:nvPr/>
            </p:nvSpPr>
            <p:spPr>
              <a:xfrm>
                <a:off x="3507269" y="3275910"/>
                <a:ext cx="92765" cy="9276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56" name="Group 355">
              <a:extLst>
                <a:ext uri="{FF2B5EF4-FFF2-40B4-BE49-F238E27FC236}">
                  <a16:creationId xmlns:a16="http://schemas.microsoft.com/office/drawing/2014/main" id="{96152ADC-604E-D743-A986-EE1E09F3192C}"/>
                </a:ext>
              </a:extLst>
            </p:cNvPr>
            <p:cNvGrpSpPr/>
            <p:nvPr/>
          </p:nvGrpSpPr>
          <p:grpSpPr>
            <a:xfrm>
              <a:off x="7874965" y="4055994"/>
              <a:ext cx="216590" cy="413440"/>
              <a:chOff x="3507269" y="2955235"/>
              <a:chExt cx="216590" cy="413440"/>
            </a:xfrm>
          </p:grpSpPr>
          <p:sp>
            <p:nvSpPr>
              <p:cNvPr id="357" name="Oval 356">
                <a:extLst>
                  <a:ext uri="{FF2B5EF4-FFF2-40B4-BE49-F238E27FC236}">
                    <a16:creationId xmlns:a16="http://schemas.microsoft.com/office/drawing/2014/main" id="{AD2413A3-D610-3A44-A8C9-D33C8445F06C}"/>
                  </a:ext>
                </a:extLst>
              </p:cNvPr>
              <p:cNvSpPr/>
              <p:nvPr/>
            </p:nvSpPr>
            <p:spPr>
              <a:xfrm>
                <a:off x="3631094" y="2955235"/>
                <a:ext cx="92765" cy="9276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8" name="Oval 357">
                <a:extLst>
                  <a:ext uri="{FF2B5EF4-FFF2-40B4-BE49-F238E27FC236}">
                    <a16:creationId xmlns:a16="http://schemas.microsoft.com/office/drawing/2014/main" id="{A236988D-798F-384E-8DDE-1AC0A77B3151}"/>
                  </a:ext>
                </a:extLst>
              </p:cNvPr>
              <p:cNvSpPr/>
              <p:nvPr/>
            </p:nvSpPr>
            <p:spPr>
              <a:xfrm>
                <a:off x="3570769" y="3117160"/>
                <a:ext cx="92765" cy="9276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9" name="Oval 358">
                <a:extLst>
                  <a:ext uri="{FF2B5EF4-FFF2-40B4-BE49-F238E27FC236}">
                    <a16:creationId xmlns:a16="http://schemas.microsoft.com/office/drawing/2014/main" id="{C4C673DD-75A7-5844-A4F5-64B9BEA27A98}"/>
                  </a:ext>
                </a:extLst>
              </p:cNvPr>
              <p:cNvSpPr/>
              <p:nvPr/>
            </p:nvSpPr>
            <p:spPr>
              <a:xfrm>
                <a:off x="3507269" y="3275910"/>
                <a:ext cx="92765" cy="9276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66" name="Group 148">
              <a:extLst>
                <a:ext uri="{FF2B5EF4-FFF2-40B4-BE49-F238E27FC236}">
                  <a16:creationId xmlns:a16="http://schemas.microsoft.com/office/drawing/2014/main" id="{F021FAE4-32E0-2144-BFDD-D6EFA8B276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07592" y="2673589"/>
              <a:ext cx="799405" cy="236966"/>
              <a:chOff x="453" y="3465"/>
              <a:chExt cx="561" cy="136"/>
            </a:xfrm>
          </p:grpSpPr>
          <p:sp>
            <p:nvSpPr>
              <p:cNvPr id="367" name="Rectangle 149">
                <a:extLst>
                  <a:ext uri="{FF2B5EF4-FFF2-40B4-BE49-F238E27FC236}">
                    <a16:creationId xmlns:a16="http://schemas.microsoft.com/office/drawing/2014/main" id="{93B37654-0763-114F-AA2F-3A9E07388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" y="3465"/>
                <a:ext cx="424" cy="13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8" name="Rectangle 150">
                <a:extLst>
                  <a:ext uri="{FF2B5EF4-FFF2-40B4-BE49-F238E27FC236}">
                    <a16:creationId xmlns:a16="http://schemas.microsoft.com/office/drawing/2014/main" id="{AABF2D8B-7487-0742-BA35-023E04B67A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" y="3504"/>
                <a:ext cx="132" cy="61"/>
              </a:xfrm>
              <a:prstGeom prst="rect">
                <a:avLst/>
              </a:prstGeom>
              <a:solidFill>
                <a:srgbClr val="FFFFFF"/>
              </a:solidFill>
              <a:ln w="15875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9" name="Rectangle 151">
                <a:extLst>
                  <a:ext uri="{FF2B5EF4-FFF2-40B4-BE49-F238E27FC236}">
                    <a16:creationId xmlns:a16="http://schemas.microsoft.com/office/drawing/2014/main" id="{D6D3CB67-9339-734B-AB0F-9E44535D5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2" y="3481"/>
                <a:ext cx="108" cy="104"/>
              </a:xfrm>
              <a:prstGeom prst="rect">
                <a:avLst/>
              </a:prstGeom>
              <a:solidFill>
                <a:srgbClr val="FFFFFF"/>
              </a:solidFill>
              <a:ln w="15875">
                <a:solidFill>
                  <a:srgbClr val="3333CC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0" name="Rectangle 152">
                <a:extLst>
                  <a:ext uri="{FF2B5EF4-FFF2-40B4-BE49-F238E27FC236}">
                    <a16:creationId xmlns:a16="http://schemas.microsoft.com/office/drawing/2014/main" id="{D8AB43B3-3B77-B646-A401-FABAFFFA16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5" y="3478"/>
                <a:ext cx="108" cy="105"/>
              </a:xfrm>
              <a:prstGeom prst="rect">
                <a:avLst/>
              </a:prstGeom>
              <a:solidFill>
                <a:srgbClr val="FFFFFF"/>
              </a:solidFill>
              <a:ln w="1587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1" name="Line 153">
                <a:extLst>
                  <a:ext uri="{FF2B5EF4-FFF2-40B4-BE49-F238E27FC236}">
                    <a16:creationId xmlns:a16="http://schemas.microsoft.com/office/drawing/2014/main" id="{E6B2B676-EED8-CB4D-921C-F264E4A9D7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3" y="3529"/>
                <a:ext cx="561" cy="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372" name="Content Placeholder 2">
            <a:extLst>
              <a:ext uri="{FF2B5EF4-FFF2-40B4-BE49-F238E27FC236}">
                <a16:creationId xmlns:a16="http://schemas.microsoft.com/office/drawing/2014/main" id="{79568C0E-EF16-3C4B-8D37-DECD1B4863BB}"/>
              </a:ext>
            </a:extLst>
          </p:cNvPr>
          <p:cNvSpPr txBox="1">
            <a:spLocks/>
          </p:cNvSpPr>
          <p:nvPr/>
        </p:nvSpPr>
        <p:spPr>
          <a:xfrm>
            <a:off x="942537" y="2612461"/>
            <a:ext cx="4009292" cy="3568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Cisco CRS router:</a:t>
            </a:r>
          </a:p>
          <a:p>
            <a:pPr marL="695325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basic unit: 8 switching planes</a:t>
            </a:r>
          </a:p>
          <a:p>
            <a:pPr marL="695325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plane: 3-stage interconnection network</a:t>
            </a:r>
          </a:p>
          <a:p>
            <a:pPr marL="695325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 to 100’s Tbps switching capacity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F52103-AEE1-3D43-8707-045D60286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909" y="4890993"/>
            <a:ext cx="937683" cy="733606"/>
          </a:xfrm>
          <a:prstGeom prst="rect">
            <a:avLst/>
          </a:prstGeom>
        </p:spPr>
      </p:pic>
      <p:sp>
        <p:nvSpPr>
          <p:cNvPr id="223" name="Slide Number Placeholder 4">
            <a:extLst>
              <a:ext uri="{FF2B5EF4-FFF2-40B4-BE49-F238E27FC236}">
                <a16:creationId xmlns:a16="http://schemas.microsoft.com/office/drawing/2014/main" id="{E7A4998C-0527-1B40-A7CD-C664065D21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Network Layer: 4-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885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Output port queuing</a:t>
            </a:r>
            <a:endParaRPr lang="en-US" dirty="0"/>
          </a:p>
        </p:txBody>
      </p:sp>
      <p:sp>
        <p:nvSpPr>
          <p:cNvPr id="142" name="Rectangle 3">
            <a:extLst>
              <a:ext uri="{FF2B5EF4-FFF2-40B4-BE49-F238E27FC236}">
                <a16:creationId xmlns:a16="http://schemas.microsoft.com/office/drawing/2014/main" id="{913FC5A4-1E19-7B47-9F20-2A2FD0E7A215}"/>
              </a:ext>
            </a:extLst>
          </p:cNvPr>
          <p:cNvSpPr txBox="1">
            <a:spLocks noChangeArrowheads="1"/>
          </p:cNvSpPr>
          <p:nvPr/>
        </p:nvSpPr>
        <p:spPr>
          <a:xfrm>
            <a:off x="888773" y="3417068"/>
            <a:ext cx="5977544" cy="1413266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Buffering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required when datagrams arrive from fabric faster than link transmission rate.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Drop policy: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which datagrams to drop if no free buffers?</a:t>
            </a:r>
          </a:p>
        </p:txBody>
      </p:sp>
      <p:sp>
        <p:nvSpPr>
          <p:cNvPr id="191" name="Rectangle 3">
            <a:extLst>
              <a:ext uri="{FF2B5EF4-FFF2-40B4-BE49-F238E27FC236}">
                <a16:creationId xmlns:a16="http://schemas.microsoft.com/office/drawing/2014/main" id="{655E40F4-C569-5647-83A5-4E4AC0D12CE4}"/>
              </a:ext>
            </a:extLst>
          </p:cNvPr>
          <p:cNvSpPr txBox="1">
            <a:spLocks noChangeArrowheads="1"/>
          </p:cNvSpPr>
          <p:nvPr/>
        </p:nvSpPr>
        <p:spPr>
          <a:xfrm>
            <a:off x="938650" y="5182135"/>
            <a:ext cx="5131875" cy="1289003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Scheduling discipline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chooses among queued datagrams for transmission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EACDE6A-9FE9-BD4D-9835-19E2A389BF2D}"/>
              </a:ext>
            </a:extLst>
          </p:cNvPr>
          <p:cNvGrpSpPr/>
          <p:nvPr/>
        </p:nvGrpSpPr>
        <p:grpSpPr>
          <a:xfrm>
            <a:off x="6900841" y="3768360"/>
            <a:ext cx="5036234" cy="1255728"/>
            <a:chOff x="6302327" y="3768360"/>
            <a:chExt cx="5036234" cy="1255728"/>
          </a:xfrm>
        </p:grpSpPr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30FDEEE0-B9AF-9D4C-ACC2-98B5C10379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5539" y="3768360"/>
              <a:ext cx="3953022" cy="1255728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Datagrams can be lost due to congestion, lack of buffers</a:t>
              </a:r>
            </a:p>
          </p:txBody>
        </p:sp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2B8D69F4-7226-5D4D-A695-DB1CC7F30950}"/>
                </a:ext>
              </a:extLst>
            </p:cNvPr>
            <p:cNvSpPr/>
            <p:nvPr/>
          </p:nvSpPr>
          <p:spPr>
            <a:xfrm>
              <a:off x="6302327" y="4135902"/>
              <a:ext cx="978408" cy="484632"/>
            </a:xfrm>
            <a:prstGeom prst="rightArrow">
              <a:avLst/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388476A-12F9-364B-B461-B0624DF38E97}"/>
              </a:ext>
            </a:extLst>
          </p:cNvPr>
          <p:cNvGrpSpPr/>
          <p:nvPr/>
        </p:nvGrpSpPr>
        <p:grpSpPr>
          <a:xfrm>
            <a:off x="6875475" y="5201260"/>
            <a:ext cx="5319932" cy="1255728"/>
            <a:chOff x="6243711" y="5201260"/>
            <a:chExt cx="5319932" cy="1255728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5EC532F3-AD2F-834B-A210-0023284DA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1470" y="5201260"/>
              <a:ext cx="4192173" cy="1255728"/>
            </a:xfrm>
            <a:prstGeom prst="rect">
              <a:avLst/>
            </a:prstGeom>
            <a:solidFill>
              <a:schemeClr val="bg1"/>
            </a:solidFill>
            <a:ln w="2540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Priority scheduling – who gets best performance, network neutrality</a:t>
              </a:r>
            </a:p>
          </p:txBody>
        </p:sp>
        <p:sp>
          <p:nvSpPr>
            <p:cNvPr id="192" name="Right Arrow 191">
              <a:extLst>
                <a:ext uri="{FF2B5EF4-FFF2-40B4-BE49-F238E27FC236}">
                  <a16:creationId xmlns:a16="http://schemas.microsoft.com/office/drawing/2014/main" id="{0BB35D2A-3275-9A47-BFA6-3685C1F9CA7F}"/>
                </a:ext>
              </a:extLst>
            </p:cNvPr>
            <p:cNvSpPr/>
            <p:nvPr/>
          </p:nvSpPr>
          <p:spPr>
            <a:xfrm>
              <a:off x="6243711" y="5512190"/>
              <a:ext cx="978408" cy="484632"/>
            </a:xfrm>
            <a:prstGeom prst="rightArrow">
              <a:avLst/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9D5CAC8-4273-BF4C-A720-130BA9B77F38}"/>
              </a:ext>
            </a:extLst>
          </p:cNvPr>
          <p:cNvGrpSpPr/>
          <p:nvPr/>
        </p:nvGrpSpPr>
        <p:grpSpPr>
          <a:xfrm>
            <a:off x="1178949" y="1396538"/>
            <a:ext cx="7113685" cy="1695796"/>
            <a:chOff x="763318" y="1529542"/>
            <a:chExt cx="7113685" cy="1695796"/>
          </a:xfrm>
        </p:grpSpPr>
        <p:sp>
          <p:nvSpPr>
            <p:cNvPr id="168" name="Rectangle 5">
              <a:extLst>
                <a:ext uri="{FF2B5EF4-FFF2-40B4-BE49-F238E27FC236}">
                  <a16:creationId xmlns:a16="http://schemas.microsoft.com/office/drawing/2014/main" id="{9B163D0F-CA1A-3E4C-BF5C-777B168A4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5123" y="1529542"/>
              <a:ext cx="4568825" cy="167917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9" name="Rectangle 6">
              <a:extLst>
                <a:ext uri="{FF2B5EF4-FFF2-40B4-BE49-F238E27FC236}">
                  <a16:creationId xmlns:a16="http://schemas.microsoft.com/office/drawing/2014/main" id="{D9ABA473-56A4-9140-B810-39DA1BF9A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7711" y="1946056"/>
              <a:ext cx="1417637" cy="82867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line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termination</a:t>
              </a:r>
            </a:p>
          </p:txBody>
        </p:sp>
        <p:sp>
          <p:nvSpPr>
            <p:cNvPr id="170" name="Rectangle 7">
              <a:extLst>
                <a:ext uri="{FF2B5EF4-FFF2-40B4-BE49-F238E27FC236}">
                  <a16:creationId xmlns:a16="http://schemas.microsoft.com/office/drawing/2014/main" id="{A93445FD-0A38-824D-AD5C-D69A392C9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8023" y="1673006"/>
              <a:ext cx="1152525" cy="14097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1" name="Line 10">
              <a:extLst>
                <a:ext uri="{FF2B5EF4-FFF2-40B4-BE49-F238E27FC236}">
                  <a16:creationId xmlns:a16="http://schemas.microsoft.com/office/drawing/2014/main" id="{F251D37A-1EA2-C048-A7C5-11851E5541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0223" y="2392143"/>
              <a:ext cx="190500" cy="15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2" name="Line 11">
              <a:extLst>
                <a:ext uri="{FF2B5EF4-FFF2-40B4-BE49-F238E27FC236}">
                  <a16:creationId xmlns:a16="http://schemas.microsoft.com/office/drawing/2014/main" id="{E70C16AE-A78C-2644-ACA1-5A2B601BF1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3723" y="2349281"/>
              <a:ext cx="190500" cy="158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4" name="Rectangle 13">
              <a:extLst>
                <a:ext uri="{FF2B5EF4-FFF2-40B4-BE49-F238E27FC236}">
                  <a16:creationId xmlns:a16="http://schemas.microsoft.com/office/drawing/2014/main" id="{A66255F7-4CD5-DF46-8B83-7D17A0565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361" y="1982568"/>
              <a:ext cx="1055687" cy="8286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layer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protocol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(send)</a:t>
              </a:r>
            </a:p>
          </p:txBody>
        </p:sp>
        <p:sp>
          <p:nvSpPr>
            <p:cNvPr id="175" name="Rectangle 16">
              <a:extLst>
                <a:ext uri="{FF2B5EF4-FFF2-40B4-BE49-F238E27FC236}">
                  <a16:creationId xmlns:a16="http://schemas.microsoft.com/office/drawing/2014/main" id="{DDB93494-97A6-8A4A-91E9-BC29A5AE3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318" y="1925822"/>
              <a:ext cx="1055688" cy="8286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switch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fabric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(</a:t>
              </a: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rate: </a:t>
              </a: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NR)</a:t>
              </a:r>
            </a:p>
          </p:txBody>
        </p:sp>
        <p:grpSp>
          <p:nvGrpSpPr>
            <p:cNvPr id="176" name="Group 28">
              <a:extLst>
                <a:ext uri="{FF2B5EF4-FFF2-40B4-BE49-F238E27FC236}">
                  <a16:creationId xmlns:a16="http://schemas.microsoft.com/office/drawing/2014/main" id="{D9BF0A2B-C5F9-A740-8460-7E12116245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7523" y="1623793"/>
              <a:ext cx="1247775" cy="1504950"/>
              <a:chOff x="3180" y="909"/>
              <a:chExt cx="786" cy="948"/>
            </a:xfrm>
          </p:grpSpPr>
          <p:sp>
            <p:nvSpPr>
              <p:cNvPr id="177" name="Rectangle 8">
                <a:extLst>
                  <a:ext uri="{FF2B5EF4-FFF2-40B4-BE49-F238E27FC236}">
                    <a16:creationId xmlns:a16="http://schemas.microsoft.com/office/drawing/2014/main" id="{DD4D9539-6E74-FE4C-939B-205C9E71D4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0" y="909"/>
                <a:ext cx="786" cy="948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8" name="Text Box 14">
                <a:extLst>
                  <a:ext uri="{FF2B5EF4-FFF2-40B4-BE49-F238E27FC236}">
                    <a16:creationId xmlns:a16="http://schemas.microsoft.com/office/drawing/2014/main" id="{AE54DBDF-A7F9-704B-B392-E2740194AA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32" y="917"/>
                <a:ext cx="724" cy="9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datagram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buffer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queueing</a:t>
                </a:r>
              </a:p>
            </p:txBody>
          </p:sp>
          <p:grpSp>
            <p:nvGrpSpPr>
              <p:cNvPr id="179" name="Group 17">
                <a:extLst>
                  <a:ext uri="{FF2B5EF4-FFF2-40B4-BE49-F238E27FC236}">
                    <a16:creationId xmlns:a16="http://schemas.microsoft.com/office/drawing/2014/main" id="{06F8403D-BA10-5144-A155-19FE3754BE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0" y="1299"/>
                <a:ext cx="626" cy="295"/>
                <a:chOff x="310" y="3526"/>
                <a:chExt cx="1040" cy="457"/>
              </a:xfrm>
            </p:grpSpPr>
            <p:sp>
              <p:nvSpPr>
                <p:cNvPr id="180" name="Rectangle 18">
                  <a:extLst>
                    <a:ext uri="{FF2B5EF4-FFF2-40B4-BE49-F238E27FC236}">
                      <a16:creationId xmlns:a16="http://schemas.microsoft.com/office/drawing/2014/main" id="{9A795CC1-826F-4C44-9993-319F64F49F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0" y="3526"/>
                  <a:ext cx="1040" cy="457"/>
                </a:xfrm>
                <a:prstGeom prst="rect">
                  <a:avLst/>
                </a:prstGeom>
                <a:solidFill>
                  <a:srgbClr val="FF0000"/>
                </a:solidFill>
                <a:ln w="38100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1" name="Line 19">
                  <a:extLst>
                    <a:ext uri="{FF2B5EF4-FFF2-40B4-BE49-F238E27FC236}">
                      <a16:creationId xmlns:a16="http://schemas.microsoft.com/office/drawing/2014/main" id="{4731A973-BD75-D041-B879-015ABFDDD7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6" y="3535"/>
                  <a:ext cx="2" cy="437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2" name="Line 20">
                  <a:extLst>
                    <a:ext uri="{FF2B5EF4-FFF2-40B4-BE49-F238E27FC236}">
                      <a16:creationId xmlns:a16="http://schemas.microsoft.com/office/drawing/2014/main" id="{E25B9F25-22CB-0447-9AC4-9FC92218F4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58" y="3538"/>
                  <a:ext cx="2" cy="435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3" name="Line 21">
                  <a:extLst>
                    <a:ext uri="{FF2B5EF4-FFF2-40B4-BE49-F238E27FC236}">
                      <a16:creationId xmlns:a16="http://schemas.microsoft.com/office/drawing/2014/main" id="{91851468-4893-D34C-9AE7-1771C894A6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1" y="3534"/>
                  <a:ext cx="2" cy="437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4" name="Line 22">
                  <a:extLst>
                    <a:ext uri="{FF2B5EF4-FFF2-40B4-BE49-F238E27FC236}">
                      <a16:creationId xmlns:a16="http://schemas.microsoft.com/office/drawing/2014/main" id="{24979CFA-E6E8-6443-8031-1C8E87B15C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82" y="3535"/>
                  <a:ext cx="2" cy="437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5" name="Line 23">
                  <a:extLst>
                    <a:ext uri="{FF2B5EF4-FFF2-40B4-BE49-F238E27FC236}">
                      <a16:creationId xmlns:a16="http://schemas.microsoft.com/office/drawing/2014/main" id="{DD3375EE-F46C-7845-8A16-1C39FA3943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95" y="3534"/>
                  <a:ext cx="2" cy="437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6" name="Line 24">
                  <a:extLst>
                    <a:ext uri="{FF2B5EF4-FFF2-40B4-BE49-F238E27FC236}">
                      <a16:creationId xmlns:a16="http://schemas.microsoft.com/office/drawing/2014/main" id="{2CF7F543-916F-574B-9CF5-E75F82B8E6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6" y="3534"/>
                  <a:ext cx="2" cy="437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7" name="Line 25">
                  <a:extLst>
                    <a:ext uri="{FF2B5EF4-FFF2-40B4-BE49-F238E27FC236}">
                      <a16:creationId xmlns:a16="http://schemas.microsoft.com/office/drawing/2014/main" id="{5571B680-4F31-6A43-B505-CB421081C0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21" y="3535"/>
                  <a:ext cx="2" cy="437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8" name="Line 26">
                  <a:extLst>
                    <a:ext uri="{FF2B5EF4-FFF2-40B4-BE49-F238E27FC236}">
                      <a16:creationId xmlns:a16="http://schemas.microsoft.com/office/drawing/2014/main" id="{87E5063B-F80B-F542-9BC3-D9BE9AAED9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29" y="3538"/>
                  <a:ext cx="2" cy="435"/>
                </a:xfrm>
                <a:prstGeom prst="line">
                  <a:avLst/>
                </a:prstGeom>
                <a:noFill/>
                <a:ln w="38100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189" name="Line 27">
              <a:extLst>
                <a:ext uri="{FF2B5EF4-FFF2-40B4-BE49-F238E27FC236}">
                  <a16:creationId xmlns:a16="http://schemas.microsoft.com/office/drawing/2014/main" id="{AC914BE7-EF9D-D444-B3B1-4333D5182D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8016" y="1579418"/>
              <a:ext cx="0" cy="16459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0" name="Line 9">
              <a:extLst>
                <a:ext uri="{FF2B5EF4-FFF2-40B4-BE49-F238E27FC236}">
                  <a16:creationId xmlns:a16="http://schemas.microsoft.com/office/drawing/2014/main" id="{CBD25FB7-BD31-354A-B607-0A105E81B2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0598" y="2435006"/>
              <a:ext cx="92551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2077A03-5191-4C4E-9229-0F4C5ED20B83}"/>
                </a:ext>
              </a:extLst>
            </p:cNvPr>
            <p:cNvCxnSpPr/>
            <p:nvPr/>
          </p:nvCxnSpPr>
          <p:spPr>
            <a:xfrm>
              <a:off x="6846225" y="2394066"/>
              <a:ext cx="1030778" cy="0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C49EDB8-5525-2E4A-8DBC-6D03E6692746}"/>
                </a:ext>
              </a:extLst>
            </p:cNvPr>
            <p:cNvSpPr txBox="1"/>
            <p:nvPr/>
          </p:nvSpPr>
          <p:spPr>
            <a:xfrm flipH="1">
              <a:off x="7215448" y="2377441"/>
              <a:ext cx="3158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</a:t>
              </a:r>
            </a:p>
          </p:txBody>
        </p:sp>
      </p:grpSp>
      <p:sp>
        <p:nvSpPr>
          <p:cNvPr id="39" name="Slide Number Placeholder 4">
            <a:extLst>
              <a:ext uri="{FF2B5EF4-FFF2-40B4-BE49-F238E27FC236}">
                <a16:creationId xmlns:a16="http://schemas.microsoft.com/office/drawing/2014/main" id="{00A3717F-1F0F-FC43-A1DA-5E87871F0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Network Layer: 4-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08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Output port queuing</a:t>
            </a:r>
            <a:endParaRPr lang="en-US" dirty="0"/>
          </a:p>
        </p:txBody>
      </p:sp>
      <p:grpSp>
        <p:nvGrpSpPr>
          <p:cNvPr id="109" name="Group 78">
            <a:extLst>
              <a:ext uri="{FF2B5EF4-FFF2-40B4-BE49-F238E27FC236}">
                <a16:creationId xmlns:a16="http://schemas.microsoft.com/office/drawing/2014/main" id="{082D51D0-D1D3-A942-9BB2-2D4682B56DD8}"/>
              </a:ext>
            </a:extLst>
          </p:cNvPr>
          <p:cNvGrpSpPr>
            <a:grpSpLocks/>
          </p:cNvGrpSpPr>
          <p:nvPr/>
        </p:nvGrpSpPr>
        <p:grpSpPr bwMode="auto">
          <a:xfrm>
            <a:off x="2375414" y="1576437"/>
            <a:ext cx="7412037" cy="2870200"/>
            <a:chOff x="550" y="931"/>
            <a:chExt cx="4669" cy="1808"/>
          </a:xfrm>
        </p:grpSpPr>
        <p:grpSp>
          <p:nvGrpSpPr>
            <p:cNvPr id="110" name="Group 29">
              <a:extLst>
                <a:ext uri="{FF2B5EF4-FFF2-40B4-BE49-F238E27FC236}">
                  <a16:creationId xmlns:a16="http://schemas.microsoft.com/office/drawing/2014/main" id="{A3EB5D9E-72A3-7745-8A3E-36D91FF392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9" y="948"/>
              <a:ext cx="2099" cy="1356"/>
              <a:chOff x="523" y="976"/>
              <a:chExt cx="2099" cy="1356"/>
            </a:xfrm>
          </p:grpSpPr>
          <p:sp>
            <p:nvSpPr>
              <p:cNvPr id="159" name="Rectangle 6">
                <a:extLst>
                  <a:ext uri="{FF2B5EF4-FFF2-40B4-BE49-F238E27FC236}">
                    <a16:creationId xmlns:a16="http://schemas.microsoft.com/office/drawing/2014/main" id="{D8B6A1DB-471C-CC4C-A15D-8F1744B849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8" y="976"/>
                <a:ext cx="745" cy="135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60" name="Group 10">
                <a:extLst>
                  <a:ext uri="{FF2B5EF4-FFF2-40B4-BE49-F238E27FC236}">
                    <a16:creationId xmlns:a16="http://schemas.microsoft.com/office/drawing/2014/main" id="{CF011BEC-3BD8-724A-930F-DF1BD144E0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4" y="997"/>
                <a:ext cx="249" cy="1295"/>
                <a:chOff x="748" y="997"/>
                <a:chExt cx="249" cy="1295"/>
              </a:xfrm>
            </p:grpSpPr>
            <p:sp>
              <p:nvSpPr>
                <p:cNvPr id="204" name="Rectangle 7">
                  <a:extLst>
                    <a:ext uri="{FF2B5EF4-FFF2-40B4-BE49-F238E27FC236}">
                      <a16:creationId xmlns:a16="http://schemas.microsoft.com/office/drawing/2014/main" id="{0ECFBAAE-DF3A-A940-A3AE-05CA1F501F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9" y="997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05" name="Rectangle 8">
                  <a:extLst>
                    <a:ext uri="{FF2B5EF4-FFF2-40B4-BE49-F238E27FC236}">
                      <a16:creationId xmlns:a16="http://schemas.microsoft.com/office/drawing/2014/main" id="{E7A662AD-6DCF-F34A-A047-07F4B580C1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1472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06" name="Rectangle 9">
                  <a:extLst>
                    <a:ext uri="{FF2B5EF4-FFF2-40B4-BE49-F238E27FC236}">
                      <a16:creationId xmlns:a16="http://schemas.microsoft.com/office/drawing/2014/main" id="{9926E030-FA12-C74C-949A-473AE1056F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1940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61" name="Group 11">
                <a:extLst>
                  <a:ext uri="{FF2B5EF4-FFF2-40B4-BE49-F238E27FC236}">
                    <a16:creationId xmlns:a16="http://schemas.microsoft.com/office/drawing/2014/main" id="{2DAF4907-42BF-A548-B33A-D2FBEF2C97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09" y="1002"/>
                <a:ext cx="249" cy="1295"/>
                <a:chOff x="748" y="997"/>
                <a:chExt cx="249" cy="1295"/>
              </a:xfrm>
            </p:grpSpPr>
            <p:sp>
              <p:nvSpPr>
                <p:cNvPr id="201" name="Rectangle 12">
                  <a:extLst>
                    <a:ext uri="{FF2B5EF4-FFF2-40B4-BE49-F238E27FC236}">
                      <a16:creationId xmlns:a16="http://schemas.microsoft.com/office/drawing/2014/main" id="{CD600951-D32E-2F4A-8B8D-2BC1898E47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9" y="997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02" name="Rectangle 13">
                  <a:extLst>
                    <a:ext uri="{FF2B5EF4-FFF2-40B4-BE49-F238E27FC236}">
                      <a16:creationId xmlns:a16="http://schemas.microsoft.com/office/drawing/2014/main" id="{349846DD-5315-9F46-A3D4-630D59325A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1472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03" name="Rectangle 14">
                  <a:extLst>
                    <a:ext uri="{FF2B5EF4-FFF2-40B4-BE49-F238E27FC236}">
                      <a16:creationId xmlns:a16="http://schemas.microsoft.com/office/drawing/2014/main" id="{AE0A909B-B320-604A-89A1-1760A69BDA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1940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8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62" name="Line 15">
                <a:extLst>
                  <a:ext uri="{FF2B5EF4-FFF2-40B4-BE49-F238E27FC236}">
                    <a16:creationId xmlns:a16="http://schemas.microsoft.com/office/drawing/2014/main" id="{B4E57E31-441A-7241-9895-1E601460DF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6" y="1180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3" name="Line 16">
                <a:extLst>
                  <a:ext uri="{FF2B5EF4-FFF2-40B4-BE49-F238E27FC236}">
                    <a16:creationId xmlns:a16="http://schemas.microsoft.com/office/drawing/2014/main" id="{51B07D47-E6CB-8D41-85B6-448EE5F8FF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0" y="1645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4" name="Line 17">
                <a:extLst>
                  <a:ext uri="{FF2B5EF4-FFF2-40B4-BE49-F238E27FC236}">
                    <a16:creationId xmlns:a16="http://schemas.microsoft.com/office/drawing/2014/main" id="{1BA71812-14CA-334D-B6DE-FC0BBC8501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0" y="2119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5" name="Line 18">
                <a:extLst>
                  <a:ext uri="{FF2B5EF4-FFF2-40B4-BE49-F238E27FC236}">
                    <a16:creationId xmlns:a16="http://schemas.microsoft.com/office/drawing/2014/main" id="{87EC818D-2CED-6445-96A3-B864E22C9C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4" y="1164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6" name="Line 19">
                <a:extLst>
                  <a:ext uri="{FF2B5EF4-FFF2-40B4-BE49-F238E27FC236}">
                    <a16:creationId xmlns:a16="http://schemas.microsoft.com/office/drawing/2014/main" id="{3FC82DB6-CD3B-1043-B270-4880E4F38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8" y="1629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7" name="Line 20">
                <a:extLst>
                  <a:ext uri="{FF2B5EF4-FFF2-40B4-BE49-F238E27FC236}">
                    <a16:creationId xmlns:a16="http://schemas.microsoft.com/office/drawing/2014/main" id="{291916CC-CF8D-0C43-904A-57618DC524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8" y="2103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93" name="Group 24">
                <a:extLst>
                  <a:ext uri="{FF2B5EF4-FFF2-40B4-BE49-F238E27FC236}">
                    <a16:creationId xmlns:a16="http://schemas.microsoft.com/office/drawing/2014/main" id="{8685B4BD-95B3-D548-8A50-02AB19D73F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3" y="1169"/>
                <a:ext cx="288" cy="939"/>
                <a:chOff x="-60" y="1148"/>
                <a:chExt cx="168" cy="939"/>
              </a:xfrm>
            </p:grpSpPr>
            <p:sp>
              <p:nvSpPr>
                <p:cNvPr id="198" name="Line 21">
                  <a:extLst>
                    <a:ext uri="{FF2B5EF4-FFF2-40B4-BE49-F238E27FC236}">
                      <a16:creationId xmlns:a16="http://schemas.microsoft.com/office/drawing/2014/main" id="{695AD499-8E12-5F4D-B492-77637F16E7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54" y="1148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99" name="Line 22">
                  <a:extLst>
                    <a:ext uri="{FF2B5EF4-FFF2-40B4-BE49-F238E27FC236}">
                      <a16:creationId xmlns:a16="http://schemas.microsoft.com/office/drawing/2014/main" id="{6D509BF4-A289-5848-B0EC-FF37900D68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1613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00" name="Line 23">
                  <a:extLst>
                    <a:ext uri="{FF2B5EF4-FFF2-40B4-BE49-F238E27FC236}">
                      <a16:creationId xmlns:a16="http://schemas.microsoft.com/office/drawing/2014/main" id="{77D1F46B-8487-0443-B204-6D39A32CAC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2087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94" name="Group 25">
                <a:extLst>
                  <a:ext uri="{FF2B5EF4-FFF2-40B4-BE49-F238E27FC236}">
                    <a16:creationId xmlns:a16="http://schemas.microsoft.com/office/drawing/2014/main" id="{8CC26DE9-2259-C249-BCBA-49FB43CFAD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34" y="1173"/>
                <a:ext cx="288" cy="939"/>
                <a:chOff x="-60" y="1148"/>
                <a:chExt cx="168" cy="939"/>
              </a:xfrm>
            </p:grpSpPr>
            <p:sp>
              <p:nvSpPr>
                <p:cNvPr id="195" name="Line 26">
                  <a:extLst>
                    <a:ext uri="{FF2B5EF4-FFF2-40B4-BE49-F238E27FC236}">
                      <a16:creationId xmlns:a16="http://schemas.microsoft.com/office/drawing/2014/main" id="{CAC9505F-8DFC-D849-A39D-F3F19EF2D5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54" y="1148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96" name="Line 27">
                  <a:extLst>
                    <a:ext uri="{FF2B5EF4-FFF2-40B4-BE49-F238E27FC236}">
                      <a16:creationId xmlns:a16="http://schemas.microsoft.com/office/drawing/2014/main" id="{55359C2D-B6B3-3344-987F-A1ADCD12D9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1613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97" name="Line 28">
                  <a:extLst>
                    <a:ext uri="{FF2B5EF4-FFF2-40B4-BE49-F238E27FC236}">
                      <a16:creationId xmlns:a16="http://schemas.microsoft.com/office/drawing/2014/main" id="{5F30395D-D362-F345-A3BD-DBCBEAE6AE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2087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grpSp>
          <p:nvGrpSpPr>
            <p:cNvPr id="111" name="Group 30">
              <a:extLst>
                <a:ext uri="{FF2B5EF4-FFF2-40B4-BE49-F238E27FC236}">
                  <a16:creationId xmlns:a16="http://schemas.microsoft.com/office/drawing/2014/main" id="{87B52D43-752A-3147-8555-38567E7FAD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931"/>
              <a:ext cx="2099" cy="1356"/>
              <a:chOff x="523" y="976"/>
              <a:chExt cx="2099" cy="1356"/>
            </a:xfrm>
          </p:grpSpPr>
          <p:sp>
            <p:nvSpPr>
              <p:cNvPr id="133" name="Rectangle 31">
                <a:extLst>
                  <a:ext uri="{FF2B5EF4-FFF2-40B4-BE49-F238E27FC236}">
                    <a16:creationId xmlns:a16="http://schemas.microsoft.com/office/drawing/2014/main" id="{01131CB9-416C-BC46-84D2-855A2BA95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8" y="976"/>
                <a:ext cx="745" cy="135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34" name="Group 32">
                <a:extLst>
                  <a:ext uri="{FF2B5EF4-FFF2-40B4-BE49-F238E27FC236}">
                    <a16:creationId xmlns:a16="http://schemas.microsoft.com/office/drawing/2014/main" id="{A51BEB8E-CB78-6343-AB5B-0FAAD83DDB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4" y="997"/>
                <a:ext cx="249" cy="1295"/>
                <a:chOff x="748" y="997"/>
                <a:chExt cx="249" cy="1295"/>
              </a:xfrm>
            </p:grpSpPr>
            <p:sp>
              <p:nvSpPr>
                <p:cNvPr id="156" name="Rectangle 33">
                  <a:extLst>
                    <a:ext uri="{FF2B5EF4-FFF2-40B4-BE49-F238E27FC236}">
                      <a16:creationId xmlns:a16="http://schemas.microsoft.com/office/drawing/2014/main" id="{1D2E2A7A-D30D-664E-A612-0857B3D0E4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9" y="997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57" name="Rectangle 34">
                  <a:extLst>
                    <a:ext uri="{FF2B5EF4-FFF2-40B4-BE49-F238E27FC236}">
                      <a16:creationId xmlns:a16="http://schemas.microsoft.com/office/drawing/2014/main" id="{8E72E2CC-79B7-6543-BC67-FF039A8E2F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1472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58" name="Rectangle 35">
                  <a:extLst>
                    <a:ext uri="{FF2B5EF4-FFF2-40B4-BE49-F238E27FC236}">
                      <a16:creationId xmlns:a16="http://schemas.microsoft.com/office/drawing/2014/main" id="{30FE5ACD-D95D-574F-9366-5EFC8A7E18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1940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35" name="Group 36">
                <a:extLst>
                  <a:ext uri="{FF2B5EF4-FFF2-40B4-BE49-F238E27FC236}">
                    <a16:creationId xmlns:a16="http://schemas.microsoft.com/office/drawing/2014/main" id="{5C3DD79B-12CD-B541-8D50-5DBDCC7A60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09" y="1002"/>
                <a:ext cx="249" cy="1295"/>
                <a:chOff x="748" y="997"/>
                <a:chExt cx="249" cy="1295"/>
              </a:xfrm>
            </p:grpSpPr>
            <p:sp>
              <p:nvSpPr>
                <p:cNvPr id="153" name="Rectangle 37">
                  <a:extLst>
                    <a:ext uri="{FF2B5EF4-FFF2-40B4-BE49-F238E27FC236}">
                      <a16:creationId xmlns:a16="http://schemas.microsoft.com/office/drawing/2014/main" id="{0D165B5C-42F0-7146-AA7F-E468E41E99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9" y="997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54" name="Rectangle 38">
                  <a:extLst>
                    <a:ext uri="{FF2B5EF4-FFF2-40B4-BE49-F238E27FC236}">
                      <a16:creationId xmlns:a16="http://schemas.microsoft.com/office/drawing/2014/main" id="{75AA2AC8-0434-1D42-B745-912205EEB8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1472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3333CC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55" name="Rectangle 39">
                  <a:extLst>
                    <a:ext uri="{FF2B5EF4-FFF2-40B4-BE49-F238E27FC236}">
                      <a16:creationId xmlns:a16="http://schemas.microsoft.com/office/drawing/2014/main" id="{53CBA0BE-8E05-424B-B90D-1C4E2ED729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8" y="1940"/>
                  <a:ext cx="238" cy="352"/>
                </a:xfrm>
                <a:prstGeom prst="rect">
                  <a:avLst/>
                </a:prstGeom>
                <a:solidFill>
                  <a:srgbClr val="FFFFFF"/>
                </a:solidFill>
                <a:ln w="19050">
                  <a:solidFill>
                    <a:srgbClr val="008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36" name="Line 40">
                <a:extLst>
                  <a:ext uri="{FF2B5EF4-FFF2-40B4-BE49-F238E27FC236}">
                    <a16:creationId xmlns:a16="http://schemas.microsoft.com/office/drawing/2014/main" id="{414D90B8-DEBE-B84E-92C6-CBB94C405F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6" y="1180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7" name="Line 41">
                <a:extLst>
                  <a:ext uri="{FF2B5EF4-FFF2-40B4-BE49-F238E27FC236}">
                    <a16:creationId xmlns:a16="http://schemas.microsoft.com/office/drawing/2014/main" id="{193F439E-A0CB-BE4E-A767-399A338483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0" y="1645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8" name="Line 42">
                <a:extLst>
                  <a:ext uri="{FF2B5EF4-FFF2-40B4-BE49-F238E27FC236}">
                    <a16:creationId xmlns:a16="http://schemas.microsoft.com/office/drawing/2014/main" id="{07DC5438-65CD-8040-9C95-EB788FCACA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0" y="2119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9" name="Line 43">
                <a:extLst>
                  <a:ext uri="{FF2B5EF4-FFF2-40B4-BE49-F238E27FC236}">
                    <a16:creationId xmlns:a16="http://schemas.microsoft.com/office/drawing/2014/main" id="{EC6AC95C-A7B2-8D45-BDD7-51C70380F2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4" y="1164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0" name="Line 44">
                <a:extLst>
                  <a:ext uri="{FF2B5EF4-FFF2-40B4-BE49-F238E27FC236}">
                    <a16:creationId xmlns:a16="http://schemas.microsoft.com/office/drawing/2014/main" id="{391784A2-88F1-CF43-B836-438D26F35D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8" y="1629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1" name="Line 45">
                <a:extLst>
                  <a:ext uri="{FF2B5EF4-FFF2-40B4-BE49-F238E27FC236}">
                    <a16:creationId xmlns:a16="http://schemas.microsoft.com/office/drawing/2014/main" id="{E4BF36D2-171F-B148-8431-04035400B2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8" y="2103"/>
                <a:ext cx="16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45" name="Group 46">
                <a:extLst>
                  <a:ext uri="{FF2B5EF4-FFF2-40B4-BE49-F238E27FC236}">
                    <a16:creationId xmlns:a16="http://schemas.microsoft.com/office/drawing/2014/main" id="{6A23E468-2FC0-D842-99E6-C85245510E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3" y="1169"/>
                <a:ext cx="288" cy="939"/>
                <a:chOff x="-60" y="1148"/>
                <a:chExt cx="168" cy="939"/>
              </a:xfrm>
            </p:grpSpPr>
            <p:sp>
              <p:nvSpPr>
                <p:cNvPr id="150" name="Line 47">
                  <a:extLst>
                    <a:ext uri="{FF2B5EF4-FFF2-40B4-BE49-F238E27FC236}">
                      <a16:creationId xmlns:a16="http://schemas.microsoft.com/office/drawing/2014/main" id="{46B8DCC8-C78E-5946-97FA-DF37A5D122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54" y="1148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51" name="Line 48">
                  <a:extLst>
                    <a:ext uri="{FF2B5EF4-FFF2-40B4-BE49-F238E27FC236}">
                      <a16:creationId xmlns:a16="http://schemas.microsoft.com/office/drawing/2014/main" id="{CDDE8C10-BFA8-D045-BFE9-3D6F6089A7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1613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52" name="Line 49">
                  <a:extLst>
                    <a:ext uri="{FF2B5EF4-FFF2-40B4-BE49-F238E27FC236}">
                      <a16:creationId xmlns:a16="http://schemas.microsoft.com/office/drawing/2014/main" id="{39539C18-A10C-DB44-A87D-DDBFE4B9A7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2087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46" name="Group 50">
                <a:extLst>
                  <a:ext uri="{FF2B5EF4-FFF2-40B4-BE49-F238E27FC236}">
                    <a16:creationId xmlns:a16="http://schemas.microsoft.com/office/drawing/2014/main" id="{C5C5F675-53F5-C345-BF7D-D175E0816F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34" y="1173"/>
                <a:ext cx="288" cy="939"/>
                <a:chOff x="-60" y="1148"/>
                <a:chExt cx="168" cy="939"/>
              </a:xfrm>
            </p:grpSpPr>
            <p:sp>
              <p:nvSpPr>
                <p:cNvPr id="147" name="Line 51">
                  <a:extLst>
                    <a:ext uri="{FF2B5EF4-FFF2-40B4-BE49-F238E27FC236}">
                      <a16:creationId xmlns:a16="http://schemas.microsoft.com/office/drawing/2014/main" id="{98C13E3B-D516-B947-BE59-93C8B104F3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54" y="1148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8" name="Line 52">
                  <a:extLst>
                    <a:ext uri="{FF2B5EF4-FFF2-40B4-BE49-F238E27FC236}">
                      <a16:creationId xmlns:a16="http://schemas.microsoft.com/office/drawing/2014/main" id="{CE252363-458C-C941-BAB9-6BC53DD18A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1613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9" name="Line 53">
                  <a:extLst>
                    <a:ext uri="{FF2B5EF4-FFF2-40B4-BE49-F238E27FC236}">
                      <a16:creationId xmlns:a16="http://schemas.microsoft.com/office/drawing/2014/main" id="{D9F4BF94-F778-5040-8CC6-996F2BF703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60" y="2087"/>
                  <a:ext cx="162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112" name="Rectangle 54">
              <a:extLst>
                <a:ext uri="{FF2B5EF4-FFF2-40B4-BE49-F238E27FC236}">
                  <a16:creationId xmlns:a16="http://schemas.microsoft.com/office/drawing/2014/main" id="{6533D250-EDC5-4146-A678-D8717156F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2" y="1012"/>
              <a:ext cx="175" cy="9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3" name="Rectangle 55">
              <a:extLst>
                <a:ext uri="{FF2B5EF4-FFF2-40B4-BE49-F238E27FC236}">
                  <a16:creationId xmlns:a16="http://schemas.microsoft.com/office/drawing/2014/main" id="{733150BE-256C-9945-B7EB-CAF89F9D7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" y="1494"/>
              <a:ext cx="175" cy="98"/>
            </a:xfrm>
            <a:prstGeom prst="rect">
              <a:avLst/>
            </a:prstGeom>
            <a:solidFill>
              <a:srgbClr val="0000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4" name="Rectangle 56">
              <a:extLst>
                <a:ext uri="{FF2B5EF4-FFF2-40B4-BE49-F238E27FC236}">
                  <a16:creationId xmlns:a16="http://schemas.microsoft.com/office/drawing/2014/main" id="{DCF223E2-6636-B042-B0AB-7F418AF1C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" y="1969"/>
              <a:ext cx="175" cy="9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5" name="Rectangle 57">
              <a:extLst>
                <a:ext uri="{FF2B5EF4-FFF2-40B4-BE49-F238E27FC236}">
                  <a16:creationId xmlns:a16="http://schemas.microsoft.com/office/drawing/2014/main" id="{42A5E003-C01F-464E-BA40-0D2180E7A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" y="1017"/>
              <a:ext cx="175" cy="98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6" name="Rectangle 58">
              <a:extLst>
                <a:ext uri="{FF2B5EF4-FFF2-40B4-BE49-F238E27FC236}">
                  <a16:creationId xmlns:a16="http://schemas.microsoft.com/office/drawing/2014/main" id="{AF8A4BDE-7DE0-5D4B-BAF3-25D6FE49F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" y="1953"/>
              <a:ext cx="175" cy="9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7" name="Line 60">
              <a:extLst>
                <a:ext uri="{FF2B5EF4-FFF2-40B4-BE49-F238E27FC236}">
                  <a16:creationId xmlns:a16="http://schemas.microsoft.com/office/drawing/2014/main" id="{96A833D6-A794-2B49-A8B8-2E8C1DECA3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5" y="1054"/>
              <a:ext cx="1026" cy="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8" name="Freeform 62">
              <a:extLst>
                <a:ext uri="{FF2B5EF4-FFF2-40B4-BE49-F238E27FC236}">
                  <a16:creationId xmlns:a16="http://schemas.microsoft.com/office/drawing/2014/main" id="{7BD68626-6CAA-5243-9905-C91EECAD0D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6" y="1285"/>
              <a:ext cx="967" cy="735"/>
            </a:xfrm>
            <a:custGeom>
              <a:avLst/>
              <a:gdLst>
                <a:gd name="T0" fmla="*/ 0 w 967"/>
                <a:gd name="T1" fmla="*/ 733 h 735"/>
                <a:gd name="T2" fmla="*/ 522 w 967"/>
                <a:gd name="T3" fmla="*/ 735 h 735"/>
                <a:gd name="T4" fmla="*/ 967 w 967"/>
                <a:gd name="T5" fmla="*/ 0 h 735"/>
                <a:gd name="T6" fmla="*/ 0 60000 65536"/>
                <a:gd name="T7" fmla="*/ 0 60000 65536"/>
                <a:gd name="T8" fmla="*/ 0 60000 65536"/>
                <a:gd name="T9" fmla="*/ 0 w 967"/>
                <a:gd name="T10" fmla="*/ 0 h 735"/>
                <a:gd name="T11" fmla="*/ 967 w 967"/>
                <a:gd name="T12" fmla="*/ 735 h 7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7" h="735">
                  <a:moveTo>
                    <a:pt x="0" y="733"/>
                  </a:moveTo>
                  <a:lnTo>
                    <a:pt x="522" y="735"/>
                  </a:lnTo>
                  <a:lnTo>
                    <a:pt x="967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9" name="Text Box 63">
              <a:extLst>
                <a:ext uri="{FF2B5EF4-FFF2-40B4-BE49-F238E27FC236}">
                  <a16:creationId xmlns:a16="http://schemas.microsoft.com/office/drawing/2014/main" id="{604F0A70-4585-C940-BDA5-31DD439A5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3" y="2335"/>
              <a:ext cx="1549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at </a:t>
              </a:r>
              <a:r>
                <a:rPr kumimoji="0" lang="en-US" alt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t,</a:t>
              </a: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packets more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from input to output</a:t>
              </a:r>
              <a:endPara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0" name="Text Box 64">
              <a:extLst>
                <a:ext uri="{FF2B5EF4-FFF2-40B4-BE49-F238E27FC236}">
                  <a16:creationId xmlns:a16="http://schemas.microsoft.com/office/drawing/2014/main" id="{96BB623D-5AC2-324A-9F19-41604686D0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4" y="2325"/>
              <a:ext cx="154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one packet time later</a:t>
              </a:r>
              <a:endPara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1" name="Text Box 66">
              <a:extLst>
                <a:ext uri="{FF2B5EF4-FFF2-40B4-BE49-F238E27FC236}">
                  <a16:creationId xmlns:a16="http://schemas.microsoft.com/office/drawing/2014/main" id="{7BEE8A84-29FF-8A46-80DB-4C86D5CEDC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545"/>
              <a:ext cx="471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switch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fabric</a:t>
              </a:r>
            </a:p>
          </p:txBody>
        </p:sp>
        <p:sp>
          <p:nvSpPr>
            <p:cNvPr id="122" name="Text Box 67">
              <a:extLst>
                <a:ext uri="{FF2B5EF4-FFF2-40B4-BE49-F238E27FC236}">
                  <a16:creationId xmlns:a16="http://schemas.microsoft.com/office/drawing/2014/main" id="{E29AC416-78AA-EF47-B951-CE10628CE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5" y="1479"/>
              <a:ext cx="471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switch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fabric</a:t>
              </a:r>
            </a:p>
          </p:txBody>
        </p:sp>
        <p:sp>
          <p:nvSpPr>
            <p:cNvPr id="123" name="Rectangle 68">
              <a:extLst>
                <a:ext uri="{FF2B5EF4-FFF2-40B4-BE49-F238E27FC236}">
                  <a16:creationId xmlns:a16="http://schemas.microsoft.com/office/drawing/2014/main" id="{EBBED845-CC7D-A448-A26A-9D83004FB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6" y="972"/>
              <a:ext cx="175" cy="9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4" name="Rectangle 69">
              <a:extLst>
                <a:ext uri="{FF2B5EF4-FFF2-40B4-BE49-F238E27FC236}">
                  <a16:creationId xmlns:a16="http://schemas.microsoft.com/office/drawing/2014/main" id="{B9035B93-B30D-CE44-9DA1-9C70506C0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6" y="1497"/>
              <a:ext cx="175" cy="98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5" name="Rectangle 70">
              <a:extLst>
                <a:ext uri="{FF2B5EF4-FFF2-40B4-BE49-F238E27FC236}">
                  <a16:creationId xmlns:a16="http://schemas.microsoft.com/office/drawing/2014/main" id="{5810B19B-3BE7-A24D-B82A-414C00ADC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3" y="1099"/>
              <a:ext cx="175" cy="9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6" name="Rectangle 71">
              <a:extLst>
                <a:ext uri="{FF2B5EF4-FFF2-40B4-BE49-F238E27FC236}">
                  <a16:creationId xmlns:a16="http://schemas.microsoft.com/office/drawing/2014/main" id="{6B5B1987-5B94-E443-9D49-E20CCF048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5" y="1001"/>
              <a:ext cx="175" cy="98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7" name="Rectangle 72">
              <a:extLst>
                <a:ext uri="{FF2B5EF4-FFF2-40B4-BE49-F238E27FC236}">
                  <a16:creationId xmlns:a16="http://schemas.microsoft.com/office/drawing/2014/main" id="{6534AE61-2C02-FF40-9B6B-178907698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4" y="1965"/>
              <a:ext cx="175" cy="9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8" name="Freeform 73">
              <a:extLst>
                <a:ext uri="{FF2B5EF4-FFF2-40B4-BE49-F238E27FC236}">
                  <a16:creationId xmlns:a16="http://schemas.microsoft.com/office/drawing/2014/main" id="{1E7AE224-FE87-FB4E-B36B-C15E6C5CA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2" y="1261"/>
              <a:ext cx="967" cy="735"/>
            </a:xfrm>
            <a:custGeom>
              <a:avLst/>
              <a:gdLst>
                <a:gd name="T0" fmla="*/ 0 w 967"/>
                <a:gd name="T1" fmla="*/ 733 h 735"/>
                <a:gd name="T2" fmla="*/ 522 w 967"/>
                <a:gd name="T3" fmla="*/ 735 h 735"/>
                <a:gd name="T4" fmla="*/ 967 w 967"/>
                <a:gd name="T5" fmla="*/ 0 h 735"/>
                <a:gd name="T6" fmla="*/ 0 60000 65536"/>
                <a:gd name="T7" fmla="*/ 0 60000 65536"/>
                <a:gd name="T8" fmla="*/ 0 60000 65536"/>
                <a:gd name="T9" fmla="*/ 0 w 967"/>
                <a:gd name="T10" fmla="*/ 0 h 735"/>
                <a:gd name="T11" fmla="*/ 967 w 967"/>
                <a:gd name="T12" fmla="*/ 735 h 7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7" h="735">
                  <a:moveTo>
                    <a:pt x="0" y="733"/>
                  </a:moveTo>
                  <a:lnTo>
                    <a:pt x="522" y="735"/>
                  </a:lnTo>
                  <a:lnTo>
                    <a:pt x="967" y="0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9" name="Freeform 74">
              <a:extLst>
                <a:ext uri="{FF2B5EF4-FFF2-40B4-BE49-F238E27FC236}">
                  <a16:creationId xmlns:a16="http://schemas.microsoft.com/office/drawing/2014/main" id="{2CC15758-62B6-7548-9E59-821BE4E8E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9" y="1051"/>
              <a:ext cx="988" cy="951"/>
            </a:xfrm>
            <a:custGeom>
              <a:avLst/>
              <a:gdLst>
                <a:gd name="T0" fmla="*/ 0 w 1002"/>
                <a:gd name="T1" fmla="*/ 29707 h 480"/>
                <a:gd name="T2" fmla="*/ 429 w 1002"/>
                <a:gd name="T3" fmla="*/ 0 h 480"/>
                <a:gd name="T4" fmla="*/ 822 w 1002"/>
                <a:gd name="T5" fmla="*/ 6892561 h 480"/>
                <a:gd name="T6" fmla="*/ 0 60000 65536"/>
                <a:gd name="T7" fmla="*/ 0 60000 65536"/>
                <a:gd name="T8" fmla="*/ 0 60000 65536"/>
                <a:gd name="T9" fmla="*/ 0 w 1002"/>
                <a:gd name="T10" fmla="*/ 0 h 480"/>
                <a:gd name="T11" fmla="*/ 1002 w 1002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2" h="480">
                  <a:moveTo>
                    <a:pt x="0" y="2"/>
                  </a:moveTo>
                  <a:lnTo>
                    <a:pt x="522" y="0"/>
                  </a:lnTo>
                  <a:lnTo>
                    <a:pt x="1002" y="480"/>
                  </a:lnTo>
                </a:path>
              </a:pathLst>
            </a:custGeom>
            <a:noFill/>
            <a:ln w="28575" cap="flat" cmpd="sng">
              <a:solidFill>
                <a:srgbClr val="008000"/>
              </a:solidFill>
              <a:prstDash val="dash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0" name="Line 75">
              <a:extLst>
                <a:ext uri="{FF2B5EF4-FFF2-40B4-BE49-F238E27FC236}">
                  <a16:creationId xmlns:a16="http://schemas.microsoft.com/office/drawing/2014/main" id="{44597880-5DB3-2847-9281-A57CE0DEB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8" y="1545"/>
              <a:ext cx="1012" cy="14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" name="Rectangle 76">
              <a:extLst>
                <a:ext uri="{FF2B5EF4-FFF2-40B4-BE49-F238E27FC236}">
                  <a16:creationId xmlns:a16="http://schemas.microsoft.com/office/drawing/2014/main" id="{55AA31C1-E06E-3A4D-9D65-59BD27F99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" y="1010"/>
              <a:ext cx="175" cy="98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2" name="Rectangle 77">
              <a:extLst>
                <a:ext uri="{FF2B5EF4-FFF2-40B4-BE49-F238E27FC236}">
                  <a16:creationId xmlns:a16="http://schemas.microsoft.com/office/drawing/2014/main" id="{57ED66FB-7C4E-D94C-9C1E-E868CE831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4" y="997"/>
              <a:ext cx="175" cy="98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07" name="Rectangle 3">
            <a:extLst>
              <a:ext uri="{FF2B5EF4-FFF2-40B4-BE49-F238E27FC236}">
                <a16:creationId xmlns:a16="http://schemas.microsoft.com/office/drawing/2014/main" id="{58037103-EAF8-5B49-9CFE-A0E92B794745}"/>
              </a:ext>
            </a:extLst>
          </p:cNvPr>
          <p:cNvSpPr txBox="1">
            <a:spLocks noChangeArrowheads="1"/>
          </p:cNvSpPr>
          <p:nvPr/>
        </p:nvSpPr>
        <p:spPr>
          <a:xfrm>
            <a:off x="900868" y="4672501"/>
            <a:ext cx="10057863" cy="17564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buffering when arrival rate via switch exceeds output line speed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queueing (delay) and loss due to output port buffer overflow!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</p:txBody>
      </p:sp>
      <p:sp>
        <p:nvSpPr>
          <p:cNvPr id="74" name="Slide Number Placeholder 4">
            <a:extLst>
              <a:ext uri="{FF2B5EF4-FFF2-40B4-BE49-F238E27FC236}">
                <a16:creationId xmlns:a16="http://schemas.microsoft.com/office/drawing/2014/main" id="{099ED71D-C4B2-544C-BD35-62F10A59E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Network Layer: 4-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994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</Words>
  <Application>Microsoft Macintosh PowerPoint</Application>
  <PresentationFormat>Widescreen</PresentationFormat>
  <Paragraphs>138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ＭＳ Ｐゴシック</vt:lpstr>
      <vt:lpstr>Arial</vt:lpstr>
      <vt:lpstr>Calibri</vt:lpstr>
      <vt:lpstr>Calibri Light</vt:lpstr>
      <vt:lpstr>Tahoma</vt:lpstr>
      <vt:lpstr>Wingdings</vt:lpstr>
      <vt:lpstr>Office Theme</vt:lpstr>
      <vt:lpstr>IT694 Computer Networks </vt:lpstr>
      <vt:lpstr>Switching fabrics</vt:lpstr>
      <vt:lpstr>Switching fabrics</vt:lpstr>
      <vt:lpstr>Switching via memory</vt:lpstr>
      <vt:lpstr>Switching via a bus</vt:lpstr>
      <vt:lpstr>Switching via interconnection network</vt:lpstr>
      <vt:lpstr>Switching via interconnection network</vt:lpstr>
      <vt:lpstr>Output port queuing</vt:lpstr>
      <vt:lpstr>Output port queuing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IT694 Computer Networks </dc:title>
  <dc:creator>Microsoft Office User</dc:creator>
  <cp:lastModifiedBy>Microsoft Office User</cp:lastModifiedBy>
  <cp:revision>1</cp:revision>
  <dcterms:created xsi:type="dcterms:W3CDTF">2025-03-07T03:22:58Z</dcterms:created>
  <dcterms:modified xsi:type="dcterms:W3CDTF">2025-03-07T03:23:31Z</dcterms:modified>
</cp:coreProperties>
</file>