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1082" r:id="rId3"/>
    <p:sldId id="1083" r:id="rId4"/>
    <p:sldId id="1068" r:id="rId5"/>
    <p:sldId id="1069" r:id="rId6"/>
    <p:sldId id="1072" r:id="rId7"/>
    <p:sldId id="1073" r:id="rId8"/>
    <p:sldId id="1074" r:id="rId9"/>
    <p:sldId id="1075" r:id="rId10"/>
    <p:sldId id="1076" r:id="rId11"/>
    <p:sldId id="1077" r:id="rId12"/>
    <p:sldId id="1078" r:id="rId13"/>
    <p:sldId id="1079" r:id="rId14"/>
    <p:sldId id="1080" r:id="rId15"/>
    <p:sldId id="10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6538"/>
  </p:normalViewPr>
  <p:slideViewPr>
    <p:cSldViewPr snapToGrid="0" snapToObjects="1">
      <p:cViewPr varScale="1">
        <p:scale>
          <a:sx n="112" d="100"/>
          <a:sy n="112" d="100"/>
        </p:scale>
        <p:origin x="22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049AD-E690-414B-8227-48C3A5A54B70}" type="datetimeFigureOut">
              <a:rPr lang="en-US" smtClean="0"/>
              <a:t>1/21/25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19B32-844F-454F-A2D2-F6A002836C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469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167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127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315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7543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7746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802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43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342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211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032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183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275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D28B5-97F4-E549-B94F-B2BB4C65A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C5CA20-D050-A940-8930-1B079BD50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7A18C-0943-4E42-91FB-74637B95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45FA-0BE5-5441-9D12-26DAEF6DA83B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D3FC1-2819-394A-A2C1-0102C52EB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90BC9-3640-5B49-AA2B-95981269B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0F26-5BCE-7241-B8B8-9CB569AE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78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70D6-9489-FF43-97A6-83AAB569E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60190-DE4A-6747-A414-D45C1D228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4658B-F72C-0D4C-8C11-4FC397CB5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45FA-0BE5-5441-9D12-26DAEF6DA83B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0B085-C113-0848-ADF5-1BDD425C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A43FE-0DEA-194C-B982-B4A61854C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0F26-5BCE-7241-B8B8-9CB569AE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6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6A6C-DE1C-5E4F-918D-5A7F098A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DDBB2-F646-7C4C-B403-F97E84F48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6E0D9-E18F-3240-8D17-4710FB19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45FA-0BE5-5441-9D12-26DAEF6DA83B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5C277-E256-F245-AE36-8C1C1A9A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D2B35-D957-6140-9316-AC311331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0F26-5BCE-7241-B8B8-9CB569AE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3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3A93-DD0E-464F-BB4B-1490B7022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C953B-FB41-5846-B4E3-BE876A918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CD1DA-4402-E14F-AB3F-C3EC7C519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2A43E-008E-0941-9C3B-21C95B59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45FA-0BE5-5441-9D12-26DAEF6DA83B}" type="datetimeFigureOut">
              <a:rPr lang="en-US" smtClean="0"/>
              <a:t>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A6996-08FF-F744-8796-15C2A3E4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46AC0-3531-DF4A-8938-F9736BC3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0F26-5BCE-7241-B8B8-9CB569AE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7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763A-7644-3548-B400-15A142A4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43275-EDCA-B548-BB55-59F572AB1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AF9F37-AA97-2043-8EE0-ABF39A989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29DD62-353C-5A42-8DDA-C2A1548BC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1D3C98-F712-E74E-9BE1-53E206063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380D8E-A8E8-7E40-9668-94792C3D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45FA-0BE5-5441-9D12-26DAEF6DA83B}" type="datetimeFigureOut">
              <a:rPr lang="en-US" smtClean="0"/>
              <a:t>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8B7016-CCD8-214A-8A1B-76D44503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C5ADF5-0C31-E141-97B2-0DB3F954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0F26-5BCE-7241-B8B8-9CB569AE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35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28AF-17AA-4E47-BB3C-687C68DD1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D73206-52E6-7444-928F-856C4B77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45FA-0BE5-5441-9D12-26DAEF6DA83B}" type="datetimeFigureOut">
              <a:rPr lang="en-US" smtClean="0"/>
              <a:t>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D9A0A-6E40-AB4C-AC85-4D894BDCC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23CE5-1038-CB4F-989B-EA91D3F65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0F26-5BCE-7241-B8B8-9CB569AE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2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F92C5F-C602-B147-AA83-B3C36AB82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45FA-0BE5-5441-9D12-26DAEF6DA83B}" type="datetimeFigureOut">
              <a:rPr lang="en-US" smtClean="0"/>
              <a:t>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7C91E1-B61B-5448-9529-EA36EEBD3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DA14E-A5F2-224E-8FE5-9299E6998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0F26-5BCE-7241-B8B8-9CB569AE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1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6876-608C-4945-8EA5-EC9BBA5B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A501F-58F9-2C45-B8F4-0A860C4CC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DE831-EC66-0848-9E37-597E709E3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0A187-A0B1-974F-BFEF-5D81EB40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45FA-0BE5-5441-9D12-26DAEF6DA83B}" type="datetimeFigureOut">
              <a:rPr lang="en-US" smtClean="0"/>
              <a:t>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2328E-6217-7942-BBD0-B80F72B8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44BE8-E709-494D-82DB-EC968B0F0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0F26-5BCE-7241-B8B8-9CB569AE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9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11F03-9EC6-664E-A457-8A121EC8A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ECD42-EB0C-3D40-8939-BE2E2E2A4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AC546-D852-D040-B5CA-78CC49E7E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B8B4B-06AB-E444-AB43-0B0286D06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45FA-0BE5-5441-9D12-26DAEF6DA83B}" type="datetimeFigureOut">
              <a:rPr lang="en-US" smtClean="0"/>
              <a:t>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33EEE-7589-8F4C-B4AA-41A7F38E4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2F817-6E99-384A-B0CF-99E1519C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0F26-5BCE-7241-B8B8-9CB569AE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523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62E6-7202-5F45-ACD5-1D925FE13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552FFA-14FF-CD47-AFFF-27E84E99B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26426-3396-704E-B010-EDC72CFA5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45FA-0BE5-5441-9D12-26DAEF6DA83B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86274-98CC-154A-B8DF-79663F1E1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61CDB-6F6E-5143-BE5E-6756E327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0F26-5BCE-7241-B8B8-9CB569AE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4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CE0AB8-752D-604B-B16F-517A5BBAC7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92ECF-486E-934A-A8A7-84828C706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520CC-B90F-3B4E-AF0F-32B5F3AB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45FA-0BE5-5441-9D12-26DAEF6DA83B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8C77B-2CEE-D84B-AFFE-C7D8A386E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2476A-831B-4540-BCC9-A28B1D16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40F26-5BCE-7241-B8B8-9CB569AE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14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89B7F6-AE19-7B4A-B902-316E49BE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20F5D-B2D9-F542-B88D-3C7A7C13B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74458-A260-8445-A918-194132F05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545FA-0BE5-5441-9D12-26DAEF6DA83B}" type="datetimeFigureOut">
              <a:rPr lang="en-US" smtClean="0"/>
              <a:t>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C20FF-E1FA-A943-8DB6-41BD1046CD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AEC32-D2B9-234B-AF60-0FB6CF842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40F26-5BCE-7241-B8B8-9CB569AED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1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7D7563-094E-8F49-A9B8-6B683C609F85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IT694 </a:t>
            </a:r>
          </a:p>
          <a:p>
            <a:r>
              <a:rPr lang="en-US" dirty="0"/>
              <a:t>Computer Networks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D98DB92-DF04-3C4E-9A6F-6B6BACE74347}"/>
              </a:ext>
            </a:extLst>
          </p:cNvPr>
          <p:cNvSpPr txBox="1">
            <a:spLocks/>
          </p:cNvSpPr>
          <p:nvPr/>
        </p:nvSpPr>
        <p:spPr>
          <a:xfrm>
            <a:off x="1676400" y="37544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Week4</a:t>
            </a:r>
            <a:r>
              <a:rPr lang="en-US"/>
              <a:t>_Lec1_</a:t>
            </a:r>
            <a:r>
              <a:rPr lang="en-US" dirty="0"/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235245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F86CFA-C876-9B43-8FD4-51C82714C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 protocol defines: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F729A-B2BE-B94B-9B67-0BD9D7568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types of messages exchanged,</a:t>
            </a:r>
          </a:p>
          <a:p>
            <a:pPr lvl="1"/>
            <a:r>
              <a:rPr lang="en-IN" dirty="0"/>
              <a:t>Request and response messages </a:t>
            </a:r>
          </a:p>
          <a:p>
            <a:r>
              <a:rPr lang="en-IN" dirty="0"/>
              <a:t>Syntax - message types, </a:t>
            </a:r>
          </a:p>
          <a:p>
            <a:pPr lvl="1"/>
            <a:r>
              <a:rPr lang="en-IN" dirty="0"/>
              <a:t>Fields and they are delineated </a:t>
            </a:r>
          </a:p>
          <a:p>
            <a:r>
              <a:rPr lang="en-IN" dirty="0"/>
              <a:t>Semantics  - meaning of the information in the fields </a:t>
            </a:r>
          </a:p>
          <a:p>
            <a:r>
              <a:rPr lang="en-IN" dirty="0"/>
              <a:t>Rules </a:t>
            </a:r>
          </a:p>
          <a:p>
            <a:pPr lvl="1"/>
            <a:r>
              <a:rPr lang="en-IN" dirty="0"/>
              <a:t>When and how a process sends messages &amp; responds to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596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8D73-6AE9-CB4D-92C7-46B00B4D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7A92A-CD73-F547-B863-AC9A34918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Web application </a:t>
            </a:r>
          </a:p>
          <a:p>
            <a:pPr lvl="1"/>
            <a:r>
              <a:rPr lang="en-IN" dirty="0"/>
              <a:t>document formats (that is, HTML)</a:t>
            </a:r>
          </a:p>
          <a:p>
            <a:pPr lvl="1"/>
            <a:r>
              <a:rPr lang="en-IN" dirty="0"/>
              <a:t>Web browsers (for example, Chrome and Microsoft Internet Explorer)</a:t>
            </a:r>
          </a:p>
          <a:p>
            <a:pPr lvl="1"/>
            <a:r>
              <a:rPr lang="en-IN" dirty="0"/>
              <a:t>Web servers (for example, Apache and Microsoft servers),  </a:t>
            </a:r>
          </a:p>
          <a:p>
            <a:pPr lvl="1"/>
            <a:r>
              <a:rPr lang="en-IN" dirty="0"/>
              <a:t>Application-layer protocol </a:t>
            </a:r>
          </a:p>
          <a:p>
            <a:pPr lvl="2"/>
            <a:r>
              <a:rPr lang="en-IN" dirty="0"/>
              <a:t>The Web’s application-layer protocol – HTTP	</a:t>
            </a:r>
          </a:p>
          <a:p>
            <a:pPr lvl="3"/>
            <a:r>
              <a:rPr lang="en-IN" dirty="0"/>
              <a:t>Defines the format and sequence of messages exchanged between browser and Web server. </a:t>
            </a:r>
            <a:endParaRPr lang="en-IN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39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Web and HTTP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AB7AFB9-05B7-8F45-B2AB-A2B2DBC22CCE}"/>
              </a:ext>
            </a:extLst>
          </p:cNvPr>
          <p:cNvSpPr txBox="1">
            <a:spLocks noChangeArrowheads="1"/>
          </p:cNvSpPr>
          <p:nvPr/>
        </p:nvSpPr>
        <p:spPr>
          <a:xfrm>
            <a:off x="669395" y="1559756"/>
            <a:ext cx="10774192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First, a quick review…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page consists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objects,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each of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which can be stored on different Web servers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can be HTML file, JPEG image, Java applet, audio file,…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page consists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base HTML-file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which includes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several referenced objects, each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addressable by a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URL,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e.g.,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A0C8A734-DC35-F347-AF3E-C7E64B7D785E}"/>
              </a:ext>
            </a:extLst>
          </p:cNvPr>
          <p:cNvGrpSpPr>
            <a:grpSpLocks/>
          </p:cNvGrpSpPr>
          <p:nvPr/>
        </p:nvGrpSpPr>
        <p:grpSpPr bwMode="auto">
          <a:xfrm>
            <a:off x="2463366" y="4853073"/>
            <a:ext cx="6835775" cy="1144588"/>
            <a:chOff x="788" y="2955"/>
            <a:chExt cx="4306" cy="721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id="{07B49400-3628-264C-8D3A-69378F85C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" y="2955"/>
              <a:ext cx="41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www.someschool.edu/someDept/pic.gif</a:t>
              </a:r>
            </a:p>
          </p:txBody>
        </p:sp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5B0BF68B-EFB6-904F-A81E-8D4DB716D3BA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821" y="2281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id="{BF004AC2-43AC-6449-B799-0D73A5E5822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024" y="2277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id="{4D5B851A-267A-1546-B45E-931C3F7AF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name</a:t>
              </a:r>
            </a:p>
          </p:txBody>
        </p:sp>
        <p:sp>
          <p:nvSpPr>
            <p:cNvPr id="18" name="Text Box 9">
              <a:extLst>
                <a:ext uri="{FF2B5EF4-FFF2-40B4-BE49-F238E27FC236}">
                  <a16:creationId xmlns:a16="http://schemas.microsoft.com/office/drawing/2014/main" id="{4EA9C80E-6BB3-B44E-A522-3C7B027B4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path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name</a:t>
              </a:r>
            </a:p>
          </p:txBody>
        </p:sp>
      </p:grp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1E9D565-6810-E44B-9B1D-6FAB7B7F8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2928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overview</a:t>
            </a:r>
            <a:endParaRPr lang="en-US" sz="4400" dirty="0"/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D0A9535F-9718-644A-A429-D02A2397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HTTP: hypertext transfer protocol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Web’</a:t>
            </a:r>
            <a:r>
              <a:rPr kumimoji="0" lang="en-US" altLang="ja-JP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application-layer protocol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client/server model:</a:t>
            </a:r>
          </a:p>
          <a:p>
            <a:pPr marL="685800" marR="0" lvl="1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browser that requests, receives, (using HTTP protocol) and </a:t>
            </a:r>
            <a:r>
              <a:rPr kumimoji="0" lang="ja-JP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“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displays</a:t>
            </a:r>
            <a:r>
              <a:rPr kumimoji="0" lang="ja-JP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”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objects </a:t>
            </a:r>
          </a:p>
          <a:p>
            <a:pPr marL="685800" marR="0" lvl="1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server sends (using HTTP protocol) objects in response to requests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75" name="Group 35">
            <a:extLst>
              <a:ext uri="{FF2B5EF4-FFF2-40B4-BE49-F238E27FC236}">
                <a16:creationId xmlns:a16="http://schemas.microsoft.com/office/drawing/2014/main" id="{9F18C3DA-1F75-254F-8252-0752283DD6D8}"/>
              </a:ext>
            </a:extLst>
          </p:cNvPr>
          <p:cNvGrpSpPr>
            <a:grpSpLocks/>
          </p:cNvGrpSpPr>
          <p:nvPr/>
        </p:nvGrpSpPr>
        <p:grpSpPr bwMode="auto">
          <a:xfrm>
            <a:off x="8129954" y="2391117"/>
            <a:ext cx="2101850" cy="946150"/>
            <a:chOff x="3640" y="1346"/>
            <a:chExt cx="1324" cy="596"/>
          </a:xfrm>
        </p:grpSpPr>
        <p:sp>
          <p:nvSpPr>
            <p:cNvPr id="76" name="Line 19">
              <a:extLst>
                <a:ext uri="{FF2B5EF4-FFF2-40B4-BE49-F238E27FC236}">
                  <a16:creationId xmlns:a16="http://schemas.microsoft.com/office/drawing/2014/main" id="{32A5B725-224A-8641-84D7-5E247267A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Text Box 24">
              <a:extLst>
                <a:ext uri="{FF2B5EF4-FFF2-40B4-BE49-F238E27FC236}">
                  <a16:creationId xmlns:a16="http://schemas.microsoft.com/office/drawing/2014/main" id="{AFF1AA49-1EC5-FD4D-A4C7-4E97FBE86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8" name="Group 36">
            <a:extLst>
              <a:ext uri="{FF2B5EF4-FFF2-40B4-BE49-F238E27FC236}">
                <a16:creationId xmlns:a16="http://schemas.microsoft.com/office/drawing/2014/main" id="{CCF7DC4F-F784-E14E-9279-0C9C13F3B891}"/>
              </a:ext>
            </a:extLst>
          </p:cNvPr>
          <p:cNvGrpSpPr>
            <a:grpSpLocks/>
          </p:cNvGrpSpPr>
          <p:nvPr/>
        </p:nvGrpSpPr>
        <p:grpSpPr bwMode="auto">
          <a:xfrm>
            <a:off x="8241079" y="2599080"/>
            <a:ext cx="1971675" cy="904875"/>
            <a:chOff x="4141" y="394"/>
            <a:chExt cx="1242" cy="570"/>
          </a:xfrm>
        </p:grpSpPr>
        <p:sp>
          <p:nvSpPr>
            <p:cNvPr id="79" name="Line 20">
              <a:extLst>
                <a:ext uri="{FF2B5EF4-FFF2-40B4-BE49-F238E27FC236}">
                  <a16:creationId xmlns:a16="http://schemas.microsoft.com/office/drawing/2014/main" id="{162E51BA-C1E2-004B-832B-C97F73DD4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id="{8A281BFE-8385-CA42-BA62-2631AB1C4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1" name="Group 37">
            <a:extLst>
              <a:ext uri="{FF2B5EF4-FFF2-40B4-BE49-F238E27FC236}">
                <a16:creationId xmlns:a16="http://schemas.microsoft.com/office/drawing/2014/main" id="{75AC8EC6-FB97-154F-8581-1A51362C9E51}"/>
              </a:ext>
            </a:extLst>
          </p:cNvPr>
          <p:cNvGrpSpPr>
            <a:grpSpLocks/>
          </p:cNvGrpSpPr>
          <p:nvPr/>
        </p:nvGrpSpPr>
        <p:grpSpPr bwMode="auto">
          <a:xfrm rot="-3183056">
            <a:off x="8106142" y="3884955"/>
            <a:ext cx="2101850" cy="946150"/>
            <a:chOff x="3640" y="1346"/>
            <a:chExt cx="1324" cy="596"/>
          </a:xfrm>
        </p:grpSpPr>
        <p:sp>
          <p:nvSpPr>
            <p:cNvPr id="82" name="Line 19">
              <a:extLst>
                <a:ext uri="{FF2B5EF4-FFF2-40B4-BE49-F238E27FC236}">
                  <a16:creationId xmlns:a16="http://schemas.microsoft.com/office/drawing/2014/main" id="{69FABD09-8D01-A244-A69C-7220481CA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3" name="Text Box 24">
              <a:extLst>
                <a:ext uri="{FF2B5EF4-FFF2-40B4-BE49-F238E27FC236}">
                  <a16:creationId xmlns:a16="http://schemas.microsoft.com/office/drawing/2014/main" id="{96F64D17-51D6-0A4A-BDA6-07C403F43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4" name="Group 40">
            <a:extLst>
              <a:ext uri="{FF2B5EF4-FFF2-40B4-BE49-F238E27FC236}">
                <a16:creationId xmlns:a16="http://schemas.microsoft.com/office/drawing/2014/main" id="{B9736B82-D8C5-DA43-B8F2-093DA6AB6E5D}"/>
              </a:ext>
            </a:extLst>
          </p:cNvPr>
          <p:cNvGrpSpPr>
            <a:grpSpLocks/>
          </p:cNvGrpSpPr>
          <p:nvPr/>
        </p:nvGrpSpPr>
        <p:grpSpPr bwMode="auto">
          <a:xfrm rot="-3264937">
            <a:off x="8152179" y="4124667"/>
            <a:ext cx="1971675" cy="904875"/>
            <a:chOff x="4141" y="394"/>
            <a:chExt cx="1242" cy="570"/>
          </a:xfrm>
        </p:grpSpPr>
        <p:sp>
          <p:nvSpPr>
            <p:cNvPr id="85" name="Line 20">
              <a:extLst>
                <a:ext uri="{FF2B5EF4-FFF2-40B4-BE49-F238E27FC236}">
                  <a16:creationId xmlns:a16="http://schemas.microsoft.com/office/drawing/2014/main" id="{1D55C3D5-A428-CC44-8B43-7C6CB47D04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Text Box 26">
              <a:extLst>
                <a:ext uri="{FF2B5EF4-FFF2-40B4-BE49-F238E27FC236}">
                  <a16:creationId xmlns:a16="http://schemas.microsoft.com/office/drawing/2014/main" id="{98847E99-AF68-1F43-AC46-9AD80D645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67724E3-B9EF-784C-81CF-0208D90CEEBE}"/>
              </a:ext>
            </a:extLst>
          </p:cNvPr>
          <p:cNvGrpSpPr/>
          <p:nvPr/>
        </p:nvGrpSpPr>
        <p:grpSpPr>
          <a:xfrm>
            <a:off x="7046475" y="4540592"/>
            <a:ext cx="2210665" cy="1578194"/>
            <a:chOff x="7046475" y="4540592"/>
            <a:chExt cx="2210665" cy="1578194"/>
          </a:xfrm>
        </p:grpSpPr>
        <p:sp>
          <p:nvSpPr>
            <p:cNvPr id="74" name="Text Box 23">
              <a:extLst>
                <a:ext uri="{FF2B5EF4-FFF2-40B4-BE49-F238E27FC236}">
                  <a16:creationId xmlns:a16="http://schemas.microsoft.com/office/drawing/2014/main" id="{61B2A806-9EFC-9449-97BE-336492E83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6475" y="5472455"/>
              <a:ext cx="221066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iPhone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Safari browser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87" name="Picture 43" descr="iphone_stylized_small">
              <a:extLst>
                <a:ext uri="{FF2B5EF4-FFF2-40B4-BE49-F238E27FC236}">
                  <a16:creationId xmlns:a16="http://schemas.microsoft.com/office/drawing/2014/main" id="{D1E934F1-FF6C-B341-A221-38110724AC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5E3F8E5-5BB6-9F4D-BD7D-96E3FCFF937E}"/>
              </a:ext>
            </a:extLst>
          </p:cNvPr>
          <p:cNvGrpSpPr/>
          <p:nvPr/>
        </p:nvGrpSpPr>
        <p:grpSpPr>
          <a:xfrm>
            <a:off x="6584832" y="1722780"/>
            <a:ext cx="2270564" cy="1610628"/>
            <a:chOff x="6584832" y="1722780"/>
            <a:chExt cx="2270564" cy="1610628"/>
          </a:xfrm>
        </p:grpSpPr>
        <p:sp>
          <p:nvSpPr>
            <p:cNvPr id="72" name="Text Box 7">
              <a:extLst>
                <a:ext uri="{FF2B5EF4-FFF2-40B4-BE49-F238E27FC236}">
                  <a16:creationId xmlns:a16="http://schemas.microsoft.com/office/drawing/2014/main" id="{EE5DED9F-E1C4-F34D-899C-5E5BAFDAD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4832" y="2687077"/>
              <a:ext cx="227056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PC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Firefox browser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8" name="Group 44">
              <a:extLst>
                <a:ext uri="{FF2B5EF4-FFF2-40B4-BE49-F238E27FC236}">
                  <a16:creationId xmlns:a16="http://schemas.microsoft.com/office/drawing/2014/main" id="{9EAD6FC3-A72E-8241-AA6C-FE53B680C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id="89" name="Picture 45" descr="desktop_computer_stylized_medium">
                <a:extLst>
                  <a:ext uri="{FF2B5EF4-FFF2-40B4-BE49-F238E27FC236}">
                    <a16:creationId xmlns:a16="http://schemas.microsoft.com/office/drawing/2014/main" id="{1ADDC1FA-6D07-3F4E-8F74-21843504B2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0" name="Freeform 46">
                <a:extLst>
                  <a:ext uri="{FF2B5EF4-FFF2-40B4-BE49-F238E27FC236}">
                    <a16:creationId xmlns:a16="http://schemas.microsoft.com/office/drawing/2014/main" id="{42A6104A-05E4-B94E-8AC8-1F8524B85F7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46FA54E-9DBE-BF46-9FA4-0BD5D56FE85D}"/>
              </a:ext>
            </a:extLst>
          </p:cNvPr>
          <p:cNvGrpSpPr/>
          <p:nvPr/>
        </p:nvGrpSpPr>
        <p:grpSpPr>
          <a:xfrm>
            <a:off x="9655810" y="2888005"/>
            <a:ext cx="2414547" cy="2197950"/>
            <a:chOff x="9655810" y="2888005"/>
            <a:chExt cx="2414547" cy="2197950"/>
          </a:xfrm>
        </p:grpSpPr>
        <p:sp>
          <p:nvSpPr>
            <p:cNvPr id="73" name="Text Box 9">
              <a:extLst>
                <a:ext uri="{FF2B5EF4-FFF2-40B4-BE49-F238E27FC236}">
                  <a16:creationId xmlns:a16="http://schemas.microsoft.com/office/drawing/2014/main" id="{1DB0406D-8424-A242-88CD-CF99DD0C8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5810" y="4162625"/>
              <a:ext cx="2414547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Apache Web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1" name="Group 47">
              <a:extLst>
                <a:ext uri="{FF2B5EF4-FFF2-40B4-BE49-F238E27FC236}">
                  <a16:creationId xmlns:a16="http://schemas.microsoft.com/office/drawing/2014/main" id="{1578750D-9ADE-FF47-A035-3F58F7F95E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92" name="Freeform 48">
                <a:extLst>
                  <a:ext uri="{FF2B5EF4-FFF2-40B4-BE49-F238E27FC236}">
                    <a16:creationId xmlns:a16="http://schemas.microsoft.com/office/drawing/2014/main" id="{30FC1D0E-933E-6B40-9A42-0E9717238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3" name="Rectangle 49">
                <a:extLst>
                  <a:ext uri="{FF2B5EF4-FFF2-40B4-BE49-F238E27FC236}">
                    <a16:creationId xmlns:a16="http://schemas.microsoft.com/office/drawing/2014/main" id="{B5655423-6CF0-CD49-B3A9-063B782C1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Freeform 50">
                <a:extLst>
                  <a:ext uri="{FF2B5EF4-FFF2-40B4-BE49-F238E27FC236}">
                    <a16:creationId xmlns:a16="http://schemas.microsoft.com/office/drawing/2014/main" id="{A0AC0D67-FA58-B147-A1DC-191134726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5" name="Freeform 51">
                <a:extLst>
                  <a:ext uri="{FF2B5EF4-FFF2-40B4-BE49-F238E27FC236}">
                    <a16:creationId xmlns:a16="http://schemas.microsoft.com/office/drawing/2014/main" id="{DE00B670-08D8-5142-A593-67DE6409B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Rectangle 52">
                <a:extLst>
                  <a:ext uri="{FF2B5EF4-FFF2-40B4-BE49-F238E27FC236}">
                    <a16:creationId xmlns:a16="http://schemas.microsoft.com/office/drawing/2014/main" id="{C0F46C25-0562-1D41-A932-B4DCFBC60F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97" name="Group 53">
                <a:extLst>
                  <a:ext uri="{FF2B5EF4-FFF2-40B4-BE49-F238E27FC236}">
                    <a16:creationId xmlns:a16="http://schemas.microsoft.com/office/drawing/2014/main" id="{42D2ADD9-FBDF-B348-8727-B1428057A1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22" name="AutoShape 54">
                  <a:extLst>
                    <a:ext uri="{FF2B5EF4-FFF2-40B4-BE49-F238E27FC236}">
                      <a16:creationId xmlns:a16="http://schemas.microsoft.com/office/drawing/2014/main" id="{B3A024BC-0571-B343-B957-96A9956CB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27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3" name="AutoShape 55">
                  <a:extLst>
                    <a:ext uri="{FF2B5EF4-FFF2-40B4-BE49-F238E27FC236}">
                      <a16:creationId xmlns:a16="http://schemas.microsoft.com/office/drawing/2014/main" id="{BCE631BE-5109-0446-9778-CCBD1DF0A6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6"/>
                  <a:ext cx="694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98" name="Rectangle 56">
                <a:extLst>
                  <a:ext uri="{FF2B5EF4-FFF2-40B4-BE49-F238E27FC236}">
                    <a16:creationId xmlns:a16="http://schemas.microsoft.com/office/drawing/2014/main" id="{5D3DFADC-1C8D-AF4C-85AA-0F7A2C55C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99" name="Group 57">
                <a:extLst>
                  <a:ext uri="{FF2B5EF4-FFF2-40B4-BE49-F238E27FC236}">
                    <a16:creationId xmlns:a16="http://schemas.microsoft.com/office/drawing/2014/main" id="{C1D33EC1-1E29-8544-B98D-73191F02F7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20" name="AutoShape 58">
                  <a:extLst>
                    <a:ext uri="{FF2B5EF4-FFF2-40B4-BE49-F238E27FC236}">
                      <a16:creationId xmlns:a16="http://schemas.microsoft.com/office/drawing/2014/main" id="{82D153A1-613C-9C4E-A2C0-B1C929BC01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1" name="AutoShape 59">
                  <a:extLst>
                    <a:ext uri="{FF2B5EF4-FFF2-40B4-BE49-F238E27FC236}">
                      <a16:creationId xmlns:a16="http://schemas.microsoft.com/office/drawing/2014/main" id="{F147FCC4-6131-8F44-A906-F0D80C4D72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8"/>
                  <a:ext cx="690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0" name="Rectangle 60">
                <a:extLst>
                  <a:ext uri="{FF2B5EF4-FFF2-40B4-BE49-F238E27FC236}">
                    <a16:creationId xmlns:a16="http://schemas.microsoft.com/office/drawing/2014/main" id="{85C735FA-9571-F248-9BA5-6CDBDBE01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1" name="Rectangle 61">
                <a:extLst>
                  <a:ext uri="{FF2B5EF4-FFF2-40B4-BE49-F238E27FC236}">
                    <a16:creationId xmlns:a16="http://schemas.microsoft.com/office/drawing/2014/main" id="{5812C6A4-3EC0-A249-9E63-F46527542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02" name="Group 62">
                <a:extLst>
                  <a:ext uri="{FF2B5EF4-FFF2-40B4-BE49-F238E27FC236}">
                    <a16:creationId xmlns:a16="http://schemas.microsoft.com/office/drawing/2014/main" id="{7E620A9B-CBE1-F240-88FD-5855746633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8" name="AutoShape 63">
                  <a:extLst>
                    <a:ext uri="{FF2B5EF4-FFF2-40B4-BE49-F238E27FC236}">
                      <a16:creationId xmlns:a16="http://schemas.microsoft.com/office/drawing/2014/main" id="{042898BA-1F4B-D343-83D2-32F6B871E1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9" name="AutoShape 64">
                  <a:extLst>
                    <a:ext uri="{FF2B5EF4-FFF2-40B4-BE49-F238E27FC236}">
                      <a16:creationId xmlns:a16="http://schemas.microsoft.com/office/drawing/2014/main" id="{43D7819E-9A5B-E741-ACC4-82E6487AE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" name="Freeform 65">
                <a:extLst>
                  <a:ext uri="{FF2B5EF4-FFF2-40B4-BE49-F238E27FC236}">
                    <a16:creationId xmlns:a16="http://schemas.microsoft.com/office/drawing/2014/main" id="{7CC2BA69-A482-5D4B-8CA5-B5AC73726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04" name="Group 66">
                <a:extLst>
                  <a:ext uri="{FF2B5EF4-FFF2-40B4-BE49-F238E27FC236}">
                    <a16:creationId xmlns:a16="http://schemas.microsoft.com/office/drawing/2014/main" id="{F21B3CA3-EDB9-ED4A-9790-00B6351372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6" name="AutoShape 67">
                  <a:extLst>
                    <a:ext uri="{FF2B5EF4-FFF2-40B4-BE49-F238E27FC236}">
                      <a16:creationId xmlns:a16="http://schemas.microsoft.com/office/drawing/2014/main" id="{9EDB1FCF-F653-F642-8D80-BF382D9E0C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7" name="AutoShape 68">
                  <a:extLst>
                    <a:ext uri="{FF2B5EF4-FFF2-40B4-BE49-F238E27FC236}">
                      <a16:creationId xmlns:a16="http://schemas.microsoft.com/office/drawing/2014/main" id="{609BFCAD-4861-EE43-8362-EA6C485563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5" name="Rectangle 69">
                <a:extLst>
                  <a:ext uri="{FF2B5EF4-FFF2-40B4-BE49-F238E27FC236}">
                    <a16:creationId xmlns:a16="http://schemas.microsoft.com/office/drawing/2014/main" id="{5D47278C-43D3-204F-86FD-15B202090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32"/>
                <a:ext cx="68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6" name="Freeform 70">
                <a:extLst>
                  <a:ext uri="{FF2B5EF4-FFF2-40B4-BE49-F238E27FC236}">
                    <a16:creationId xmlns:a16="http://schemas.microsoft.com/office/drawing/2014/main" id="{C4685EB6-AA09-4243-9AED-1759E88D1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Freeform 71">
                <a:extLst>
                  <a:ext uri="{FF2B5EF4-FFF2-40B4-BE49-F238E27FC236}">
                    <a16:creationId xmlns:a16="http://schemas.microsoft.com/office/drawing/2014/main" id="{F8013113-6639-D746-8787-464D70E73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" name="Oval 72">
                <a:extLst>
                  <a:ext uri="{FF2B5EF4-FFF2-40B4-BE49-F238E27FC236}">
                    <a16:creationId xmlns:a16="http://schemas.microsoft.com/office/drawing/2014/main" id="{BAF4B182-B231-9044-AFF9-C80B2E27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" name="Freeform 73">
                <a:extLst>
                  <a:ext uri="{FF2B5EF4-FFF2-40B4-BE49-F238E27FC236}">
                    <a16:creationId xmlns:a16="http://schemas.microsoft.com/office/drawing/2014/main" id="{5BF1720C-9B23-A442-9078-1CB2D3EAD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" name="AutoShape 74">
                <a:extLst>
                  <a:ext uri="{FF2B5EF4-FFF2-40B4-BE49-F238E27FC236}">
                    <a16:creationId xmlns:a16="http://schemas.microsoft.com/office/drawing/2014/main" id="{5C72D219-90B2-E948-8C51-2DF4C76E6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1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1" name="AutoShape 75">
                <a:extLst>
                  <a:ext uri="{FF2B5EF4-FFF2-40B4-BE49-F238E27FC236}">
                    <a16:creationId xmlns:a16="http://schemas.microsoft.com/office/drawing/2014/main" id="{83107432-CCDD-3F4A-A673-5C965AB66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2712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2" name="Oval 76">
                <a:extLst>
                  <a:ext uri="{FF2B5EF4-FFF2-40B4-BE49-F238E27FC236}">
                    <a16:creationId xmlns:a16="http://schemas.microsoft.com/office/drawing/2014/main" id="{93D83AE9-CB35-4043-B0A0-1FFA79087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Oval 77">
                <a:extLst>
                  <a:ext uri="{FF2B5EF4-FFF2-40B4-BE49-F238E27FC236}">
                    <a16:creationId xmlns:a16="http://schemas.microsoft.com/office/drawing/2014/main" id="{C8BA1D5C-380B-5844-9DFE-FB0350399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14" name="Oval 78">
                <a:extLst>
                  <a:ext uri="{FF2B5EF4-FFF2-40B4-BE49-F238E27FC236}">
                    <a16:creationId xmlns:a16="http://schemas.microsoft.com/office/drawing/2014/main" id="{EF0EACD3-D07B-0F4F-BB94-4F2D63912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Rectangle 79">
                <a:extLst>
                  <a:ext uri="{FF2B5EF4-FFF2-40B4-BE49-F238E27FC236}">
                    <a16:creationId xmlns:a16="http://schemas.microsoft.com/office/drawing/2014/main" id="{C545DB8D-EFCD-9A46-858D-A246B93C7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C473C8CC-FB59-904B-86D0-BFB6A6140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Rectangle 4">
            <a:extLst>
              <a:ext uri="{FF2B5EF4-FFF2-40B4-BE49-F238E27FC236}">
                <a16:creationId xmlns:a16="http://schemas.microsoft.com/office/drawing/2014/main" id="{0F89CCBD-A3B6-AD45-9356-E7FCAE3AA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094" y="252070"/>
            <a:ext cx="4652851" cy="1411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HTTP is “</a:t>
            </a:r>
            <a:r>
              <a:rPr kumimoji="0" lang="en-US" altLang="ja-JP" sz="2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stateless”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server maintains</a:t>
            </a: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 no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</a:rPr>
              <a:t>information about past client requests</a:t>
            </a:r>
          </a:p>
        </p:txBody>
      </p:sp>
    </p:spTree>
    <p:extLst>
      <p:ext uri="{BB962C8B-B14F-4D97-AF65-F5344CB8AC3E}">
        <p14:creationId xmlns:p14="http://schemas.microsoft.com/office/powerpoint/2010/main" val="11964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connections: two types</a:t>
            </a:r>
            <a:endParaRPr lang="en-US" sz="4400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0F92E26-A453-3745-8C0F-BF92C1E3A8B6}"/>
              </a:ext>
            </a:extLst>
          </p:cNvPr>
          <p:cNvSpPr txBox="1">
            <a:spLocks noChangeArrowheads="1"/>
          </p:cNvSpPr>
          <p:nvPr/>
        </p:nvSpPr>
        <p:spPr>
          <a:xfrm>
            <a:off x="798690" y="1543086"/>
            <a:ext cx="503940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Non-persistent HTTP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opened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at most one object sent over TCP connection</a:t>
            </a:r>
          </a:p>
          <a:p>
            <a:pPr marL="644525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closed</a:t>
            </a:r>
          </a:p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downloading multiple objects required multiple connections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E46F3CB-B7A2-6C4C-B085-55F383976BB8}"/>
              </a:ext>
            </a:extLst>
          </p:cNvPr>
          <p:cNvSpPr txBox="1">
            <a:spLocks noChangeArrowheads="1"/>
          </p:cNvSpPr>
          <p:nvPr/>
        </p:nvSpPr>
        <p:spPr>
          <a:xfrm>
            <a:off x="6781215" y="1543086"/>
            <a:ext cx="503940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Persistent HTTP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opened to a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multiple objects can be sent over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single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TCP connection between client, and that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TCP connection closed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55A10CF-7248-164C-A5EF-FC5AA96E9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192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example</a:t>
            </a:r>
            <a:endParaRPr lang="en-US" sz="4400" dirty="0"/>
          </a:p>
        </p:txBody>
      </p:sp>
      <p:sp>
        <p:nvSpPr>
          <p:cNvPr id="6" name="Line 11">
            <a:extLst>
              <a:ext uri="{FF2B5EF4-FFF2-40B4-BE49-F238E27FC236}">
                <a16:creationId xmlns:a16="http://schemas.microsoft.com/office/drawing/2014/main" id="{67AC580C-18A4-D247-92B5-6D862101F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91" y="2868166"/>
            <a:ext cx="10658" cy="3480471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301A620-3B2F-B341-BCAC-A3E4F12C8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58" y="5641558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809349" y="1351435"/>
            <a:ext cx="7942262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enters URL: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E22C996-6035-504C-97CC-082C3EAD4AF4}"/>
              </a:ext>
            </a:extLst>
          </p:cNvPr>
          <p:cNvSpPr txBox="1">
            <a:spLocks noChangeArrowheads="1"/>
          </p:cNvSpPr>
          <p:nvPr/>
        </p:nvSpPr>
        <p:spPr>
          <a:xfrm>
            <a:off x="944384" y="2447251"/>
            <a:ext cx="4850242" cy="1905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initiates TCP connection to HTTP server (process) at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www.someSchool.edu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 port 80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518B9B7-A17A-DD48-BBA8-A1AC04589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983" y="4077834"/>
            <a:ext cx="421653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sends HTTP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message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(containing URL) into TCP connection socket. Message indicates that client wants object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someDepartment/home.index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AC1983CF-C4CB-FF47-A69D-3E65B8C96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018" y="2733157"/>
            <a:ext cx="5389528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1b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server at host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www.someSchool.edu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waiting for TCP connection at port 80 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accepts” connection, notifying client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0B2B9504-D191-9144-8C84-929183C16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3976" y="4739906"/>
            <a:ext cx="539487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server receives request message, forms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 message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containing requested object, and sends message into its socket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B4DAFA34-3C73-6F47-8061-690804DAF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2530" y="4961816"/>
            <a:ext cx="1800180" cy="60195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0A9DB4DB-78BB-C14F-903C-4C820480B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89517" y="5671992"/>
            <a:ext cx="1410287" cy="89186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27BF3D34-DFF2-A04F-84F9-CBAE80221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3" y="5563771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8D8A0BF5-72E5-9E41-A2AE-DE0F79C9B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6851" y="2779258"/>
            <a:ext cx="155102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Line 14">
            <a:extLst>
              <a:ext uri="{FF2B5EF4-FFF2-40B4-BE49-F238E27FC236}">
                <a16:creationId xmlns:a16="http://schemas.microsoft.com/office/drawing/2014/main" id="{054521BF-054B-B342-A343-164F3CB503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2530" y="3366635"/>
            <a:ext cx="1551026" cy="1006986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(containing text, references to 10 jpeg images)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www.someSchool.edu/someDepartment/home.index</a:t>
            </a: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FD2215CF-ECE6-6746-8DE5-3833EE239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880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example (cont.)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809349" y="1351435"/>
            <a:ext cx="7942262" cy="4667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enters URL:</a:t>
            </a: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390" y="1660654"/>
            <a:ext cx="63784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(containing text, references to 10 jpeg images)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021" y="1414937"/>
            <a:ext cx="794226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www.someSchool.edu/someDepartment/home.index</a:t>
            </a: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371687" y="2060763"/>
            <a:ext cx="784845" cy="730423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6367322" y="2347016"/>
            <a:ext cx="286234" cy="640019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" name="Rectangle 6">
            <a:extLst>
              <a:ext uri="{FF2B5EF4-FFF2-40B4-BE49-F238E27FC236}">
                <a16:creationId xmlns:a16="http://schemas.microsoft.com/office/drawing/2014/main" id="{F5ECC14E-6AC7-4243-86F2-25BD5F2B8464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3200188"/>
            <a:ext cx="5085273" cy="201012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5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client receives response message containing html file, displays html.  Parsing html file, finds 10 referenced jpeg  objects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" name="Rectangle 7">
            <a:extLst>
              <a:ext uri="{FF2B5EF4-FFF2-40B4-BE49-F238E27FC236}">
                <a16:creationId xmlns:a16="http://schemas.microsoft.com/office/drawing/2014/main" id="{D3260771-3905-E24E-8B12-64D566C6B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480" y="4851930"/>
            <a:ext cx="38100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6.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Steps 1-5 repeated for each of 10 jpeg objects</a:t>
            </a:r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9E1B76BD-C8EB-7245-9B75-E2D499F3E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6580" y="2782360"/>
            <a:ext cx="3810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4.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HTTP server closes TCP connection. </a:t>
            </a:r>
          </a:p>
        </p:txBody>
      </p:sp>
      <p:sp>
        <p:nvSpPr>
          <p:cNvPr id="65" name="Line 17">
            <a:extLst>
              <a:ext uri="{FF2B5EF4-FFF2-40B4-BE49-F238E27FC236}">
                <a16:creationId xmlns:a16="http://schemas.microsoft.com/office/drawing/2014/main" id="{4F85C1F3-F91B-C04C-B746-8E5570895A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7465" y="3200187"/>
            <a:ext cx="1095375" cy="5238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Line 11">
            <a:extLst>
              <a:ext uri="{FF2B5EF4-FFF2-40B4-BE49-F238E27FC236}">
                <a16:creationId xmlns:a16="http://schemas.microsoft.com/office/drawing/2014/main" id="{F8CE636E-DC4B-BA4E-A771-E70EE904F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91" y="2868166"/>
            <a:ext cx="10658" cy="3480471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3787AF32-7BD3-C144-BD02-222C42900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58" y="5641558"/>
            <a:ext cx="657225" cy="2952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" name="Text Box 12">
            <a:extLst>
              <a:ext uri="{FF2B5EF4-FFF2-40B4-BE49-F238E27FC236}">
                <a16:creationId xmlns:a16="http://schemas.microsoft.com/office/drawing/2014/main" id="{B3CFBAD8-5CBD-8B48-A941-3E86D5E65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883" y="5563771"/>
            <a:ext cx="673100" cy="406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62" name="Slide Number Placeholder 2">
            <a:extLst>
              <a:ext uri="{FF2B5EF4-FFF2-40B4-BE49-F238E27FC236}">
                <a16:creationId xmlns:a16="http://schemas.microsoft.com/office/drawing/2014/main" id="{805F15D5-7E9E-E54C-BDFB-FEFBBAA1DB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37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p"/>
      <p:bldP spid="6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Non-persistent HTTP: response time</a:t>
            </a:r>
            <a:endParaRPr lang="en-US" sz="4400" dirty="0"/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6FDB6615-546D-6440-BBC8-3C06990BF0E4}"/>
              </a:ext>
            </a:extLst>
          </p:cNvPr>
          <p:cNvSpPr txBox="1">
            <a:spLocks noChangeArrowheads="1"/>
          </p:cNvSpPr>
          <p:nvPr/>
        </p:nvSpPr>
        <p:spPr>
          <a:xfrm>
            <a:off x="736393" y="1919178"/>
            <a:ext cx="5683502" cy="333733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 (definition):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time for a small packet to travel from client to server and back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response time (per object):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RTT to initiate TCP connection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one RTT for HTTP request and first few bytes of HTTP response to return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object/file transmission time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Line 15">
            <a:extLst>
              <a:ext uri="{FF2B5EF4-FFF2-40B4-BE49-F238E27FC236}">
                <a16:creationId xmlns:a16="http://schemas.microsoft.com/office/drawing/2014/main" id="{4929D219-0DD0-EE4D-B40F-3D0B3F80F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7229" y="2671284"/>
            <a:ext cx="0" cy="28321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Line 16">
            <a:extLst>
              <a:ext uri="{FF2B5EF4-FFF2-40B4-BE49-F238E27FC236}">
                <a16:creationId xmlns:a16="http://schemas.microsoft.com/office/drawing/2014/main" id="{8CAAC30A-AACE-CA43-94F8-6356C7DBF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87916" y="2664934"/>
            <a:ext cx="0" cy="2881312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Line 17">
            <a:extLst>
              <a:ext uri="{FF2B5EF4-FFF2-40B4-BE49-F238E27FC236}">
                <a16:creationId xmlns:a16="http://schemas.microsoft.com/office/drawing/2014/main" id="{AF42B5BB-493F-1A4F-A479-A45F6B472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1516" y="2903059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Line 18">
            <a:extLst>
              <a:ext uri="{FF2B5EF4-FFF2-40B4-BE49-F238E27FC236}">
                <a16:creationId xmlns:a16="http://schemas.microsoft.com/office/drawing/2014/main" id="{C9AE042D-B868-CC49-B9F2-374B1A84C6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229" y="3341209"/>
            <a:ext cx="1673225" cy="403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Line 19">
            <a:extLst>
              <a:ext uri="{FF2B5EF4-FFF2-40B4-BE49-F238E27FC236}">
                <a16:creationId xmlns:a16="http://schemas.microsoft.com/office/drawing/2014/main" id="{99C22C7D-D82A-5C41-99D1-EA13F1243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5166" y="3849209"/>
            <a:ext cx="1684338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AutoShape 21">
            <a:extLst>
              <a:ext uri="{FF2B5EF4-FFF2-40B4-BE49-F238E27FC236}">
                <a16:creationId xmlns:a16="http://schemas.microsoft.com/office/drawing/2014/main" id="{DD02DF36-65CF-F14E-88DF-53BB17EBFDA7}"/>
              </a:ext>
            </a:extLst>
          </p:cNvPr>
          <p:cNvSpPr>
            <a:spLocks/>
          </p:cNvSpPr>
          <p:nvPr/>
        </p:nvSpPr>
        <p:spPr bwMode="auto">
          <a:xfrm>
            <a:off x="9903942" y="4249143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Text Box 22">
            <a:extLst>
              <a:ext uri="{FF2B5EF4-FFF2-40B4-BE49-F238E27FC236}">
                <a16:creationId xmlns:a16="http://schemas.microsoft.com/office/drawing/2014/main" id="{CCB0A876-D266-4A45-A302-8A1ECD42C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7454" y="3944459"/>
            <a:ext cx="1123577" cy="879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 to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transmit 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file</a:t>
            </a:r>
          </a:p>
        </p:txBody>
      </p:sp>
      <p:sp>
        <p:nvSpPr>
          <p:cNvPr id="75" name="Line 23">
            <a:extLst>
              <a:ext uri="{FF2B5EF4-FFF2-40B4-BE49-F238E27FC236}">
                <a16:creationId xmlns:a16="http://schemas.microsoft.com/office/drawing/2014/main" id="{5718D752-EA30-EF40-828E-5D0FFEB1D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06704" y="2877659"/>
            <a:ext cx="390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 Box 24">
            <a:extLst>
              <a:ext uri="{FF2B5EF4-FFF2-40B4-BE49-F238E27FC236}">
                <a16:creationId xmlns:a16="http://schemas.microsoft.com/office/drawing/2014/main" id="{8BC58F30-FF48-FF4E-819B-1E40B9095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60" y="2563010"/>
            <a:ext cx="1363707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initiate TCP</a:t>
            </a:r>
          </a:p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connection</a:t>
            </a:r>
          </a:p>
        </p:txBody>
      </p:sp>
      <p:sp>
        <p:nvSpPr>
          <p:cNvPr id="77" name="AutoShape 25">
            <a:extLst>
              <a:ext uri="{FF2B5EF4-FFF2-40B4-BE49-F238E27FC236}">
                <a16:creationId xmlns:a16="http://schemas.microsoft.com/office/drawing/2014/main" id="{1676996C-B2C6-6440-BDFC-70D850B75C3C}"/>
              </a:ext>
            </a:extLst>
          </p:cNvPr>
          <p:cNvSpPr>
            <a:spLocks/>
          </p:cNvSpPr>
          <p:nvPr/>
        </p:nvSpPr>
        <p:spPr bwMode="auto">
          <a:xfrm>
            <a:off x="7941641" y="2928459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Text Box 26">
            <a:extLst>
              <a:ext uri="{FF2B5EF4-FFF2-40B4-BE49-F238E27FC236}">
                <a16:creationId xmlns:a16="http://schemas.microsoft.com/office/drawing/2014/main" id="{86DB8643-EF07-8F4F-9625-5A4CA4A15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041" y="3139596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79" name="Line 27">
            <a:extLst>
              <a:ext uri="{FF2B5EF4-FFF2-40B4-BE49-F238E27FC236}">
                <a16:creationId xmlns:a16="http://schemas.microsoft.com/office/drawing/2014/main" id="{981309A0-6209-8843-8011-139102021A7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5916" y="3782534"/>
            <a:ext cx="354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 Box 28">
            <a:extLst>
              <a:ext uri="{FF2B5EF4-FFF2-40B4-BE49-F238E27FC236}">
                <a16:creationId xmlns:a16="http://schemas.microsoft.com/office/drawing/2014/main" id="{F8F4F9A2-8F8A-0A49-A582-7B28C50C8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3113" y="3589815"/>
            <a:ext cx="1969956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 file</a:t>
            </a:r>
          </a:p>
        </p:txBody>
      </p:sp>
      <p:sp>
        <p:nvSpPr>
          <p:cNvPr id="81" name="AutoShape 29">
            <a:extLst>
              <a:ext uri="{FF2B5EF4-FFF2-40B4-BE49-F238E27FC236}">
                <a16:creationId xmlns:a16="http://schemas.microsoft.com/office/drawing/2014/main" id="{38B5D7F5-BB3A-C042-A65C-E340A56B8131}"/>
              </a:ext>
            </a:extLst>
          </p:cNvPr>
          <p:cNvSpPr>
            <a:spLocks/>
          </p:cNvSpPr>
          <p:nvPr/>
        </p:nvSpPr>
        <p:spPr bwMode="auto">
          <a:xfrm>
            <a:off x="7947991" y="3838096"/>
            <a:ext cx="128588" cy="803275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0">
            <a:extLst>
              <a:ext uri="{FF2B5EF4-FFF2-40B4-BE49-F238E27FC236}">
                <a16:creationId xmlns:a16="http://schemas.microsoft.com/office/drawing/2014/main" id="{F6FF37B4-B442-4047-946B-77B07E91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8091" y="4061934"/>
            <a:ext cx="575222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RTT</a:t>
            </a:r>
          </a:p>
        </p:txBody>
      </p:sp>
      <p:sp>
        <p:nvSpPr>
          <p:cNvPr id="83" name="Line 35">
            <a:extLst>
              <a:ext uri="{FF2B5EF4-FFF2-40B4-BE49-F238E27FC236}">
                <a16:creationId xmlns:a16="http://schemas.microsoft.com/office/drawing/2014/main" id="{1D97958B-3B35-E742-B7C6-848FC7C172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8988" y="4805006"/>
            <a:ext cx="361323" cy="2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 Box 36">
            <a:extLst>
              <a:ext uri="{FF2B5EF4-FFF2-40B4-BE49-F238E27FC236}">
                <a16:creationId xmlns:a16="http://schemas.microsoft.com/office/drawing/2014/main" id="{24A3B2D9-8989-434A-9FC2-223A7BF47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5684" y="4617233"/>
            <a:ext cx="1647627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file received</a:t>
            </a:r>
          </a:p>
        </p:txBody>
      </p:sp>
      <p:sp>
        <p:nvSpPr>
          <p:cNvPr id="85" name="Text Box 37">
            <a:extLst>
              <a:ext uri="{FF2B5EF4-FFF2-40B4-BE49-F238E27FC236}">
                <a16:creationId xmlns:a16="http://schemas.microsoft.com/office/drawing/2014/main" id="{5F7EC06B-E293-DF46-888B-439F61ED3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1804" y="5517671"/>
            <a:ext cx="663964" cy="356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sp>
        <p:nvSpPr>
          <p:cNvPr id="86" name="Text Box 38">
            <a:extLst>
              <a:ext uri="{FF2B5EF4-FFF2-40B4-BE49-F238E27FC236}">
                <a16:creationId xmlns:a16="http://schemas.microsoft.com/office/drawing/2014/main" id="{29F1D00D-DC1A-684B-8E6D-3829DD41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9791" y="5500209"/>
            <a:ext cx="6639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time</a:t>
            </a:r>
          </a:p>
        </p:txBody>
      </p:sp>
      <p:grpSp>
        <p:nvGrpSpPr>
          <p:cNvPr id="87" name="Group 43">
            <a:extLst>
              <a:ext uri="{FF2B5EF4-FFF2-40B4-BE49-F238E27FC236}">
                <a16:creationId xmlns:a16="http://schemas.microsoft.com/office/drawing/2014/main" id="{541F6086-47C8-874D-8AA5-F7E42EE4D031}"/>
              </a:ext>
            </a:extLst>
          </p:cNvPr>
          <p:cNvGrpSpPr>
            <a:grpSpLocks/>
          </p:cNvGrpSpPr>
          <p:nvPr/>
        </p:nvGrpSpPr>
        <p:grpSpPr bwMode="auto">
          <a:xfrm>
            <a:off x="9687891" y="1898171"/>
            <a:ext cx="423863" cy="684213"/>
            <a:chOff x="4140" y="429"/>
            <a:chExt cx="1425" cy="2396"/>
          </a:xfrm>
        </p:grpSpPr>
        <p:sp>
          <p:nvSpPr>
            <p:cNvPr id="88" name="Freeform 44">
              <a:extLst>
                <a:ext uri="{FF2B5EF4-FFF2-40B4-BE49-F238E27FC236}">
                  <a16:creationId xmlns:a16="http://schemas.microsoft.com/office/drawing/2014/main" id="{6DAF6B62-B819-F74E-96B5-613320600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9" name="Rectangle 45">
              <a:extLst>
                <a:ext uri="{FF2B5EF4-FFF2-40B4-BE49-F238E27FC236}">
                  <a16:creationId xmlns:a16="http://schemas.microsoft.com/office/drawing/2014/main" id="{50F7D37B-F313-5C49-8576-42FF33D8D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Freeform 46">
              <a:extLst>
                <a:ext uri="{FF2B5EF4-FFF2-40B4-BE49-F238E27FC236}">
                  <a16:creationId xmlns:a16="http://schemas.microsoft.com/office/drawing/2014/main" id="{87E40F45-93DC-2B4E-ADDC-55D37D40B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Freeform 47">
              <a:extLst>
                <a:ext uri="{FF2B5EF4-FFF2-40B4-BE49-F238E27FC236}">
                  <a16:creationId xmlns:a16="http://schemas.microsoft.com/office/drawing/2014/main" id="{7B112D55-79F9-1F4D-B446-8C88751F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Rectangle 48">
              <a:extLst>
                <a:ext uri="{FF2B5EF4-FFF2-40B4-BE49-F238E27FC236}">
                  <a16:creationId xmlns:a16="http://schemas.microsoft.com/office/drawing/2014/main" id="{956D8EF0-FF87-9E4B-887E-2B313EF77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3" name="Group 49">
              <a:extLst>
                <a:ext uri="{FF2B5EF4-FFF2-40B4-BE49-F238E27FC236}">
                  <a16:creationId xmlns:a16="http://schemas.microsoft.com/office/drawing/2014/main" id="{66F581E1-4301-C04A-BC92-0FE36983E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18" name="AutoShape 50">
                <a:extLst>
                  <a:ext uri="{FF2B5EF4-FFF2-40B4-BE49-F238E27FC236}">
                    <a16:creationId xmlns:a16="http://schemas.microsoft.com/office/drawing/2014/main" id="{060EE10F-40BB-F147-A18B-D592D4900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9" name="AutoShape 51">
                <a:extLst>
                  <a:ext uri="{FF2B5EF4-FFF2-40B4-BE49-F238E27FC236}">
                    <a16:creationId xmlns:a16="http://schemas.microsoft.com/office/drawing/2014/main" id="{964C81AE-2600-6248-820C-48DB107C0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4" name="Rectangle 52">
              <a:extLst>
                <a:ext uri="{FF2B5EF4-FFF2-40B4-BE49-F238E27FC236}">
                  <a16:creationId xmlns:a16="http://schemas.microsoft.com/office/drawing/2014/main" id="{0B3B5D85-0106-D947-B9AB-3DEF402BD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5" name="Group 53">
              <a:extLst>
                <a:ext uri="{FF2B5EF4-FFF2-40B4-BE49-F238E27FC236}">
                  <a16:creationId xmlns:a16="http://schemas.microsoft.com/office/drawing/2014/main" id="{21E327E2-0D3F-BB45-88FA-94BE824723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16" name="AutoShape 54">
                <a:extLst>
                  <a:ext uri="{FF2B5EF4-FFF2-40B4-BE49-F238E27FC236}">
                    <a16:creationId xmlns:a16="http://schemas.microsoft.com/office/drawing/2014/main" id="{A09779CB-5E1C-FF46-9276-B827DEE6B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7" name="AutoShape 55">
                <a:extLst>
                  <a:ext uri="{FF2B5EF4-FFF2-40B4-BE49-F238E27FC236}">
                    <a16:creationId xmlns:a16="http://schemas.microsoft.com/office/drawing/2014/main" id="{67162A33-48AB-8447-8BA1-9899B1EFA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6" name="Rectangle 56">
              <a:extLst>
                <a:ext uri="{FF2B5EF4-FFF2-40B4-BE49-F238E27FC236}">
                  <a16:creationId xmlns:a16="http://schemas.microsoft.com/office/drawing/2014/main" id="{C0727CA6-9309-D04B-829F-614EF5BEA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Rectangle 57">
              <a:extLst>
                <a:ext uri="{FF2B5EF4-FFF2-40B4-BE49-F238E27FC236}">
                  <a16:creationId xmlns:a16="http://schemas.microsoft.com/office/drawing/2014/main" id="{17B7496E-619F-B745-A3B6-4EDDE39B5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8" name="Group 58">
              <a:extLst>
                <a:ext uri="{FF2B5EF4-FFF2-40B4-BE49-F238E27FC236}">
                  <a16:creationId xmlns:a16="http://schemas.microsoft.com/office/drawing/2014/main" id="{B3F5CCBA-FB37-F741-A1BE-6A326312AB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14" name="AutoShape 59">
                <a:extLst>
                  <a:ext uri="{FF2B5EF4-FFF2-40B4-BE49-F238E27FC236}">
                    <a16:creationId xmlns:a16="http://schemas.microsoft.com/office/drawing/2014/main" id="{DEAAF06F-764B-A04C-A4F4-4AF808C89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AutoShape 60">
                <a:extLst>
                  <a:ext uri="{FF2B5EF4-FFF2-40B4-BE49-F238E27FC236}">
                    <a16:creationId xmlns:a16="http://schemas.microsoft.com/office/drawing/2014/main" id="{73A61CB6-ED08-FD4B-8F83-3336B8F82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9" name="Freeform 61">
              <a:extLst>
                <a:ext uri="{FF2B5EF4-FFF2-40B4-BE49-F238E27FC236}">
                  <a16:creationId xmlns:a16="http://schemas.microsoft.com/office/drawing/2014/main" id="{1AB063BC-5497-FD41-9B58-4C27970B6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00" name="Group 62">
              <a:extLst>
                <a:ext uri="{FF2B5EF4-FFF2-40B4-BE49-F238E27FC236}">
                  <a16:creationId xmlns:a16="http://schemas.microsoft.com/office/drawing/2014/main" id="{20634D40-DCFD-8449-B684-70B31A9B3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12" name="AutoShape 63">
                <a:extLst>
                  <a:ext uri="{FF2B5EF4-FFF2-40B4-BE49-F238E27FC236}">
                    <a16:creationId xmlns:a16="http://schemas.microsoft.com/office/drawing/2014/main" id="{F58EC583-5702-1E4B-A6F2-1309BD877B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AutoShape 64">
                <a:extLst>
                  <a:ext uri="{FF2B5EF4-FFF2-40B4-BE49-F238E27FC236}">
                    <a16:creationId xmlns:a16="http://schemas.microsoft.com/office/drawing/2014/main" id="{DB3DA62B-8007-4E4C-93B9-0F102F104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1" name="Rectangle 65">
              <a:extLst>
                <a:ext uri="{FF2B5EF4-FFF2-40B4-BE49-F238E27FC236}">
                  <a16:creationId xmlns:a16="http://schemas.microsoft.com/office/drawing/2014/main" id="{C31A2516-63E0-E740-AE1D-B59F6C976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Freeform 66">
              <a:extLst>
                <a:ext uri="{FF2B5EF4-FFF2-40B4-BE49-F238E27FC236}">
                  <a16:creationId xmlns:a16="http://schemas.microsoft.com/office/drawing/2014/main" id="{B8246D8C-6855-C044-A8BA-8F170062C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Freeform 67">
              <a:extLst>
                <a:ext uri="{FF2B5EF4-FFF2-40B4-BE49-F238E27FC236}">
                  <a16:creationId xmlns:a16="http://schemas.microsoft.com/office/drawing/2014/main" id="{924E847A-F4E0-DA4B-8D4E-A56FEAA69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Oval 68">
              <a:extLst>
                <a:ext uri="{FF2B5EF4-FFF2-40B4-BE49-F238E27FC236}">
                  <a16:creationId xmlns:a16="http://schemas.microsoft.com/office/drawing/2014/main" id="{8CAE9087-3C8E-F24B-A512-CEB1940F0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5" name="Freeform 69">
              <a:extLst>
                <a:ext uri="{FF2B5EF4-FFF2-40B4-BE49-F238E27FC236}">
                  <a16:creationId xmlns:a16="http://schemas.microsoft.com/office/drawing/2014/main" id="{2AB5FE84-419E-EB41-B46F-B90EA8215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" name="AutoShape 70">
              <a:extLst>
                <a:ext uri="{FF2B5EF4-FFF2-40B4-BE49-F238E27FC236}">
                  <a16:creationId xmlns:a16="http://schemas.microsoft.com/office/drawing/2014/main" id="{5044997C-6434-1F4E-951A-58848E528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AutoShape 71">
              <a:extLst>
                <a:ext uri="{FF2B5EF4-FFF2-40B4-BE49-F238E27FC236}">
                  <a16:creationId xmlns:a16="http://schemas.microsoft.com/office/drawing/2014/main" id="{E0E22BAF-7B23-B44C-827B-153E00211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Oval 72">
              <a:extLst>
                <a:ext uri="{FF2B5EF4-FFF2-40B4-BE49-F238E27FC236}">
                  <a16:creationId xmlns:a16="http://schemas.microsoft.com/office/drawing/2014/main" id="{E772A220-7A72-DF4C-B4F3-72E6DDF1F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" name="Oval 73">
              <a:extLst>
                <a:ext uri="{FF2B5EF4-FFF2-40B4-BE49-F238E27FC236}">
                  <a16:creationId xmlns:a16="http://schemas.microsoft.com/office/drawing/2014/main" id="{E52F28FE-19A0-E943-AE0B-DEEA92222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10" name="Oval 74">
              <a:extLst>
                <a:ext uri="{FF2B5EF4-FFF2-40B4-BE49-F238E27FC236}">
                  <a16:creationId xmlns:a16="http://schemas.microsoft.com/office/drawing/2014/main" id="{679A21A4-960E-C240-991F-7A91E9D33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1" name="Rectangle 75">
              <a:extLst>
                <a:ext uri="{FF2B5EF4-FFF2-40B4-BE49-F238E27FC236}">
                  <a16:creationId xmlns:a16="http://schemas.microsoft.com/office/drawing/2014/main" id="{5FE7BC29-1F3A-FC4D-B0A8-E7C985E21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76">
            <a:extLst>
              <a:ext uri="{FF2B5EF4-FFF2-40B4-BE49-F238E27FC236}">
                <a16:creationId xmlns:a16="http://schemas.microsoft.com/office/drawing/2014/main" id="{ACB35F9B-E584-6A4C-A928-821626F2884C}"/>
              </a:ext>
            </a:extLst>
          </p:cNvPr>
          <p:cNvGrpSpPr>
            <a:grpSpLocks/>
          </p:cNvGrpSpPr>
          <p:nvPr/>
        </p:nvGrpSpPr>
        <p:grpSpPr bwMode="auto">
          <a:xfrm>
            <a:off x="7686054" y="1920396"/>
            <a:ext cx="698500" cy="709613"/>
            <a:chOff x="-44" y="1473"/>
            <a:chExt cx="981" cy="1105"/>
          </a:xfrm>
        </p:grpSpPr>
        <p:pic>
          <p:nvPicPr>
            <p:cNvPr id="121" name="Picture 77" descr="desktop_computer_stylized_medium">
              <a:extLst>
                <a:ext uri="{FF2B5EF4-FFF2-40B4-BE49-F238E27FC236}">
                  <a16:creationId xmlns:a16="http://schemas.microsoft.com/office/drawing/2014/main" id="{C2C6AD66-1148-CD4D-99F7-5C6A689E28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78">
              <a:extLst>
                <a:ext uri="{FF2B5EF4-FFF2-40B4-BE49-F238E27FC236}">
                  <a16:creationId xmlns:a16="http://schemas.microsoft.com/office/drawing/2014/main" id="{40C43405-EE8F-6348-9658-64CCF319FF4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Freeform 1">
            <a:extLst>
              <a:ext uri="{FF2B5EF4-FFF2-40B4-BE49-F238E27FC236}">
                <a16:creationId xmlns:a16="http://schemas.microsoft.com/office/drawing/2014/main" id="{2D3ED81E-7823-0B47-8E02-97411E72ACFD}"/>
              </a:ext>
            </a:extLst>
          </p:cNvPr>
          <p:cNvSpPr/>
          <p:nvPr/>
        </p:nvSpPr>
        <p:spPr>
          <a:xfrm>
            <a:off x="8188984" y="4246818"/>
            <a:ext cx="1700270" cy="558188"/>
          </a:xfrm>
          <a:custGeom>
            <a:avLst/>
            <a:gdLst>
              <a:gd name="connsiteX0" fmla="*/ 0 w 1700270"/>
              <a:gd name="connsiteY0" fmla="*/ 389262 h 543498"/>
              <a:gd name="connsiteX1" fmla="*/ 1700270 w 1700270"/>
              <a:gd name="connsiteY1" fmla="*/ 0 h 543498"/>
              <a:gd name="connsiteX2" fmla="*/ 1696598 w 1700270"/>
              <a:gd name="connsiteY2" fmla="*/ 176269 h 543498"/>
              <a:gd name="connsiteX3" fmla="*/ 0 w 1700270"/>
              <a:gd name="connsiteY3" fmla="*/ 543498 h 543498"/>
              <a:gd name="connsiteX4" fmla="*/ 0 w 1700270"/>
              <a:gd name="connsiteY4" fmla="*/ 389262 h 543498"/>
              <a:gd name="connsiteX0" fmla="*/ 0 w 1700270"/>
              <a:gd name="connsiteY0" fmla="*/ 389262 h 558188"/>
              <a:gd name="connsiteX1" fmla="*/ 1700270 w 1700270"/>
              <a:gd name="connsiteY1" fmla="*/ 0 h 558188"/>
              <a:gd name="connsiteX2" fmla="*/ 1696598 w 1700270"/>
              <a:gd name="connsiteY2" fmla="*/ 176269 h 558188"/>
              <a:gd name="connsiteX3" fmla="*/ 7344 w 1700270"/>
              <a:gd name="connsiteY3" fmla="*/ 558188 h 558188"/>
              <a:gd name="connsiteX4" fmla="*/ 0 w 1700270"/>
              <a:gd name="connsiteY4" fmla="*/ 389262 h 55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0270" h="558188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AutoShape 21">
            <a:extLst>
              <a:ext uri="{FF2B5EF4-FFF2-40B4-BE49-F238E27FC236}">
                <a16:creationId xmlns:a16="http://schemas.microsoft.com/office/drawing/2014/main" id="{B46E8531-A1AB-F94F-83A6-88018FC274AE}"/>
              </a:ext>
            </a:extLst>
          </p:cNvPr>
          <p:cNvSpPr>
            <a:spLocks/>
          </p:cNvSpPr>
          <p:nvPr/>
        </p:nvSpPr>
        <p:spPr bwMode="auto">
          <a:xfrm flipH="1" flipV="1">
            <a:off x="8069711" y="4643267"/>
            <a:ext cx="99857" cy="161739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BF7570-9992-2546-969B-3F60B086818E}"/>
              </a:ext>
            </a:extLst>
          </p:cNvPr>
          <p:cNvSpPr txBox="1"/>
          <p:nvPr/>
        </p:nvSpPr>
        <p:spPr>
          <a:xfrm>
            <a:off x="1056514" y="5919854"/>
            <a:ext cx="92572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Non-persistent HTTP response time =  2RTT+ file transmission 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Slide Number Placeholder 2">
            <a:extLst>
              <a:ext uri="{FF2B5EF4-FFF2-40B4-BE49-F238E27FC236}">
                <a16:creationId xmlns:a16="http://schemas.microsoft.com/office/drawing/2014/main" id="{7E482904-1521-274F-AE73-DF7E96ACE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46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Persistent HTTP </a:t>
            </a:r>
            <a:r>
              <a:rPr lang="en-US" altLang="en-US" sz="3200" dirty="0">
                <a:cs typeface="Calibri" panose="020F0502020204030204" pitchFamily="34" charset="0"/>
              </a:rPr>
              <a:t>(HTTP 1.1)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B14C937-79C9-6642-8B0C-15F130B4AF98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401764"/>
            <a:ext cx="5165547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Non-persistent HTTP issues: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requires 2 RTTs per object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 overhead for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TCP connection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browsers often open multiple parallel TCP connections to fetch referenced objects in parallel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996C596E-CBDC-1641-AE54-06AC7ADF3759}"/>
              </a:ext>
            </a:extLst>
          </p:cNvPr>
          <p:cNvSpPr txBox="1">
            <a:spLocks noChangeArrowheads="1"/>
          </p:cNvSpPr>
          <p:nvPr/>
        </p:nvSpPr>
        <p:spPr>
          <a:xfrm>
            <a:off x="6227762" y="1414463"/>
            <a:ext cx="573505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Persistent  HTTP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(HTTP1.1):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server leaves connection open after sending response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subsequent HTTP messages  between same client/server sent over open connection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sends requests as soon as it encounters a referenced object</a:t>
            </a:r>
          </a:p>
          <a:p>
            <a:pPr marL="346075" marR="0" lvl="0" indent="-2174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little as one RTT for all the referenced objects (cutting response time in half)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C9DB959-15FC-7A47-B54E-965B407AA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973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request </a:t>
            </a:r>
            <a:r>
              <a:rPr lang="en-US" altLang="en-US" dirty="0">
                <a:cs typeface="Calibri" panose="020F0502020204030204" pitchFamily="34" charset="0"/>
              </a:rPr>
              <a:t>m</a:t>
            </a:r>
            <a:r>
              <a:rPr lang="en-US" altLang="en-US" sz="4400" dirty="0">
                <a:cs typeface="Calibri" panose="020F0502020204030204" pitchFamily="34" charset="0"/>
              </a:rPr>
              <a:t>essage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21ECE79-BBE4-B646-A84C-F451AD02B983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444625"/>
            <a:ext cx="11658600" cy="142920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two types of HTTP messages: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request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message: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ASCII (human-readable format)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9D189007-4005-564E-B421-909E89E9E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677" y="4189643"/>
            <a:ext cx="1071127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header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lines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Text Box 16">
            <a:extLst>
              <a:ext uri="{FF2B5EF4-FFF2-40B4-BE49-F238E27FC236}">
                <a16:creationId xmlns:a16="http://schemas.microsoft.com/office/drawing/2014/main" id="{BFD47085-0DF5-F849-923F-6D72DB7EB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046" y="3323999"/>
            <a:ext cx="7921878" cy="2342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GET /index.html HTTP/1.1\r\n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Host: www-net.cs.umass.edu\r\n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User-Agent: Mozilla/5.0 (Macintosh; Intel Mac OS X 10.15; rv:80.0) Gecko/20100101 Firefox/80.0 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Accept: text/html,application/xhtml+xml\r\n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Accept-Language: en-us,en;q=0.5\r\n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Accept-Encoding: gzip,deflate\r\n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Connection: keep-alive\r\n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C8212B-5FF3-1B41-8A79-6C4F774EA6B6}"/>
              </a:ext>
            </a:extLst>
          </p:cNvPr>
          <p:cNvGrpSpPr/>
          <p:nvPr/>
        </p:nvGrpSpPr>
        <p:grpSpPr>
          <a:xfrm>
            <a:off x="7524296" y="2623511"/>
            <a:ext cx="2834575" cy="849313"/>
            <a:chOff x="7524296" y="2554061"/>
            <a:chExt cx="2834575" cy="849313"/>
          </a:xfrm>
        </p:grpSpPr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3F48C300-763A-B54F-B0A7-01186DC91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4296" y="2841399"/>
              <a:ext cx="166688" cy="51435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6AE4689D-D5B0-114C-898E-652FE1146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5096" y="2554061"/>
              <a:ext cx="278377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carriage return character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BF17A6F8-488B-914D-8FD5-D0101F59C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7496" y="2850924"/>
              <a:ext cx="21493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line-feed character</a:t>
              </a: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36550CDC-D06A-104F-8EAA-1F14B32B7A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05284" y="3150961"/>
              <a:ext cx="80962" cy="25241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D1DA586-D2C5-594D-BC4F-D63F85BDFA27}"/>
              </a:ext>
            </a:extLst>
          </p:cNvPr>
          <p:cNvGrpSpPr/>
          <p:nvPr/>
        </p:nvGrpSpPr>
        <p:grpSpPr>
          <a:xfrm>
            <a:off x="304572" y="3050979"/>
            <a:ext cx="3691165" cy="830997"/>
            <a:chOff x="304572" y="3050979"/>
            <a:chExt cx="3691165" cy="830997"/>
          </a:xfrm>
        </p:grpSpPr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B6C3DB56-846D-8E43-9453-A014201EC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572" y="3050979"/>
              <a:ext cx="3163155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request line (GET, POST,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HEAD commands)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1EF472D7-7102-3D4F-8FB9-8F68234EDD8D}"/>
                </a:ext>
              </a:extLst>
            </p:cNvPr>
            <p:cNvCxnSpPr>
              <a:cxnSpLocks/>
            </p:cNvCxnSpPr>
            <p:nvPr/>
          </p:nvCxnSpPr>
          <p:spPr>
            <a:xfrm>
              <a:off x="2558822" y="3471412"/>
              <a:ext cx="1436915" cy="0"/>
            </a:xfrm>
            <a:prstGeom prst="straightConnector1">
              <a:avLst/>
            </a:prstGeom>
            <a:ln w="1905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CEE239-9E6A-4845-9F03-74B240F246F8}"/>
              </a:ext>
            </a:extLst>
          </p:cNvPr>
          <p:cNvGrpSpPr/>
          <p:nvPr/>
        </p:nvGrpSpPr>
        <p:grpSpPr>
          <a:xfrm>
            <a:off x="743905" y="5548787"/>
            <a:ext cx="7763054" cy="1145473"/>
            <a:chOff x="743905" y="5548787"/>
            <a:chExt cx="7763054" cy="1145473"/>
          </a:xfrm>
        </p:grpSpPr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6CA9B985-18B2-6347-8689-E6656C025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984" y="5710011"/>
              <a:ext cx="511175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DED6E2F1-61E7-E241-8E2D-ADEC5E8A80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905" y="5548787"/>
              <a:ext cx="2771636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carriage return, line feed at start of line indicates end of header lines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TextBox 1">
              <a:extLst>
                <a:ext uri="{FF2B5EF4-FFF2-40B4-BE49-F238E27FC236}">
                  <a16:creationId xmlns:a16="http://schemas.microsoft.com/office/drawing/2014/main" id="{EF5DEF07-DC95-F343-B9CA-F9BD40638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046" y="6171973"/>
              <a:ext cx="4506913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* Check out the online interactive exercises for more examples: h</a:t>
              </a:r>
              <a:r>
                <a:rPr kumimoji="0" lang="en-US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ttp://gaia.cs.umass.edu/kurose_ross/interactive/</a:t>
              </a:r>
            </a:p>
          </p:txBody>
        </p:sp>
      </p:grpSp>
      <p:sp>
        <p:nvSpPr>
          <p:cNvPr id="5" name="Left Brace 4">
            <a:extLst>
              <a:ext uri="{FF2B5EF4-FFF2-40B4-BE49-F238E27FC236}">
                <a16:creationId xmlns:a16="http://schemas.microsoft.com/office/drawing/2014/main" id="{36B9FB67-1AD8-6146-8926-BFEB803718A3}"/>
              </a:ext>
            </a:extLst>
          </p:cNvPr>
          <p:cNvSpPr/>
          <p:nvPr/>
        </p:nvSpPr>
        <p:spPr>
          <a:xfrm>
            <a:off x="3812583" y="3704095"/>
            <a:ext cx="217442" cy="1797803"/>
          </a:xfrm>
          <a:prstGeom prst="leftBrace">
            <a:avLst/>
          </a:prstGeom>
          <a:ln w="19050">
            <a:solidFill>
              <a:srgbClr val="0000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809E13-4068-2140-8EEF-80CD03B5F69C}"/>
              </a:ext>
            </a:extLst>
          </p:cNvPr>
          <p:cNvSpPr/>
          <p:nvPr/>
        </p:nvSpPr>
        <p:spPr>
          <a:xfrm>
            <a:off x="4019515" y="3331027"/>
            <a:ext cx="6620718" cy="302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D7502B-9EA4-9D49-A251-DB91BDC6BB3C}"/>
              </a:ext>
            </a:extLst>
          </p:cNvPr>
          <p:cNvSpPr/>
          <p:nvPr/>
        </p:nvSpPr>
        <p:spPr>
          <a:xfrm>
            <a:off x="2726871" y="3599519"/>
            <a:ext cx="8392886" cy="19685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Slide Number Placeholder 2">
            <a:extLst>
              <a:ext uri="{FF2B5EF4-FFF2-40B4-BE49-F238E27FC236}">
                <a16:creationId xmlns:a16="http://schemas.microsoft.com/office/drawing/2014/main" id="{C3381709-4DCC-204B-A742-66F4884C7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76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request message: general format</a:t>
            </a:r>
            <a:endParaRPr lang="en-US" sz="4400" dirty="0"/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CAB95007-032C-1849-B460-3E4D66901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4472" y="1752600"/>
            <a:ext cx="1030287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line</a:t>
            </a: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0CB38CB5-45F7-C847-AE71-4F4C5B6FD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709" y="2768600"/>
            <a:ext cx="9747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header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lines</a:t>
            </a: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E645219C-0302-5E46-AE15-64BD65153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5534" y="2338387"/>
            <a:ext cx="346075" cy="18192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CAFB1EEC-4EBF-6E41-B9CB-E4B01F156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2184" y="2287587"/>
            <a:ext cx="290513" cy="2017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009CBE09-CA75-A245-B675-9042959F1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0484" y="4394200"/>
            <a:ext cx="712788" cy="1216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548D8BC5-234B-1340-9AE4-2B7B4CCDF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1297" y="4959350"/>
            <a:ext cx="735012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body</a:t>
            </a:r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8BE22D39-29E3-DB4E-8BB7-B366225B4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934" y="1789112"/>
            <a:ext cx="5638800" cy="44608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" name="Line 22">
            <a:extLst>
              <a:ext uri="{FF2B5EF4-FFF2-40B4-BE49-F238E27FC236}">
                <a16:creationId xmlns:a16="http://schemas.microsoft.com/office/drawing/2014/main" id="{E517253E-A702-9F4B-B692-C2D297AE8C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80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Line 23">
            <a:extLst>
              <a:ext uri="{FF2B5EF4-FFF2-40B4-BE49-F238E27FC236}">
                <a16:creationId xmlns:a16="http://schemas.microsoft.com/office/drawing/2014/main" id="{9A3ED2FB-B252-C14F-B645-419D36E7F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25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B2B62443-11E1-2B43-9DCA-4AE37C7E4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06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Line 25">
            <a:extLst>
              <a:ext uri="{FF2B5EF4-FFF2-40B4-BE49-F238E27FC236}">
                <a16:creationId xmlns:a16="http://schemas.microsoft.com/office/drawing/2014/main" id="{04CD6AC7-3A8A-D448-ACDB-A1CAAAE45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6084" y="178593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Line 26">
            <a:extLst>
              <a:ext uri="{FF2B5EF4-FFF2-40B4-BE49-F238E27FC236}">
                <a16:creationId xmlns:a16="http://schemas.microsoft.com/office/drawing/2014/main" id="{116D6361-9C6F-384A-940A-DBEE668B1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83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Line 27">
            <a:extLst>
              <a:ext uri="{FF2B5EF4-FFF2-40B4-BE49-F238E27FC236}">
                <a16:creationId xmlns:a16="http://schemas.microsoft.com/office/drawing/2014/main" id="{66F44111-14E6-9047-91A5-35A207202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5984" y="1792287"/>
            <a:ext cx="0" cy="438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 Box 28">
            <a:extLst>
              <a:ext uri="{FF2B5EF4-FFF2-40B4-BE49-F238E27FC236}">
                <a16:creationId xmlns:a16="http://schemas.microsoft.com/office/drawing/2014/main" id="{101CD148-0CB6-B64C-B622-686BDB7E0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759" y="1816100"/>
            <a:ext cx="10302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method</a:t>
            </a:r>
          </a:p>
        </p:txBody>
      </p:sp>
      <p:sp>
        <p:nvSpPr>
          <p:cNvPr id="36" name="Text Box 29">
            <a:extLst>
              <a:ext uri="{FF2B5EF4-FFF2-40B4-BE49-F238E27FC236}">
                <a16:creationId xmlns:a16="http://schemas.microsoft.com/office/drawing/2014/main" id="{803519B0-4DBB-0446-BBAE-FAAA993CE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809" y="1797050"/>
            <a:ext cx="45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sp</a:t>
            </a:r>
          </a:p>
        </p:txBody>
      </p:sp>
      <p:sp>
        <p:nvSpPr>
          <p:cNvPr id="37" name="Text Box 30">
            <a:extLst>
              <a:ext uri="{FF2B5EF4-FFF2-40B4-BE49-F238E27FC236}">
                <a16:creationId xmlns:a16="http://schemas.microsoft.com/office/drawing/2014/main" id="{2AE14B96-40BF-C44D-B226-47487039E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1109" y="1803400"/>
            <a:ext cx="452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sp</a:t>
            </a:r>
          </a:p>
        </p:txBody>
      </p:sp>
      <p:sp>
        <p:nvSpPr>
          <p:cNvPr id="38" name="Text Box 31">
            <a:extLst>
              <a:ext uri="{FF2B5EF4-FFF2-40B4-BE49-F238E27FC236}">
                <a16:creationId xmlns:a16="http://schemas.microsoft.com/office/drawing/2014/main" id="{499F11E0-2AAF-FC46-939A-844BDA8F3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709" y="1809750"/>
            <a:ext cx="403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cr</a:t>
            </a: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id="{74D4C75B-57F6-FC40-A95F-1EA89717E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609" y="1820862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lf</a:t>
            </a:r>
          </a:p>
        </p:txBody>
      </p:sp>
      <p:sp>
        <p:nvSpPr>
          <p:cNvPr id="40" name="Text Box 33">
            <a:extLst>
              <a:ext uri="{FF2B5EF4-FFF2-40B4-BE49-F238E27FC236}">
                <a16:creationId xmlns:a16="http://schemas.microsoft.com/office/drawing/2014/main" id="{D3CF33E6-800C-C34A-9A2F-34E6C60D7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1659" y="1803400"/>
            <a:ext cx="1003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version</a:t>
            </a:r>
          </a:p>
        </p:txBody>
      </p:sp>
      <p:sp>
        <p:nvSpPr>
          <p:cNvPr id="41" name="Text Box 34">
            <a:extLst>
              <a:ext uri="{FF2B5EF4-FFF2-40B4-BE49-F238E27FC236}">
                <a16:creationId xmlns:a16="http://schemas.microsoft.com/office/drawing/2014/main" id="{064EF9BF-C55B-3041-B970-830A38934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6059" y="1816100"/>
            <a:ext cx="693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URL</a:t>
            </a:r>
          </a:p>
        </p:txBody>
      </p:sp>
      <p:grpSp>
        <p:nvGrpSpPr>
          <p:cNvPr id="42" name="Group 45">
            <a:extLst>
              <a:ext uri="{FF2B5EF4-FFF2-40B4-BE49-F238E27FC236}">
                <a16:creationId xmlns:a16="http://schemas.microsoft.com/office/drawing/2014/main" id="{BF6F8085-A891-0844-94E6-578F3AFB50F3}"/>
              </a:ext>
            </a:extLst>
          </p:cNvPr>
          <p:cNvGrpSpPr>
            <a:grpSpLocks/>
          </p:cNvGrpSpPr>
          <p:nvPr/>
        </p:nvGrpSpPr>
        <p:grpSpPr bwMode="auto">
          <a:xfrm>
            <a:off x="2879934" y="2233612"/>
            <a:ext cx="4565650" cy="446088"/>
            <a:chOff x="192" y="1894"/>
            <a:chExt cx="2876" cy="281"/>
          </a:xfrm>
        </p:grpSpPr>
        <p:sp>
          <p:nvSpPr>
            <p:cNvPr id="43" name="Rectangle 35">
              <a:extLst>
                <a:ext uri="{FF2B5EF4-FFF2-40B4-BE49-F238E27FC236}">
                  <a16:creationId xmlns:a16="http://schemas.microsoft.com/office/drawing/2014/main" id="{37CAD855-2626-9B4A-87B5-BBFB2178C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" name="Line 36">
              <a:extLst>
                <a:ext uri="{FF2B5EF4-FFF2-40B4-BE49-F238E27FC236}">
                  <a16:creationId xmlns:a16="http://schemas.microsoft.com/office/drawing/2014/main" id="{3882514C-0ADC-584D-AAA4-E4882A2DE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Line 37">
              <a:extLst>
                <a:ext uri="{FF2B5EF4-FFF2-40B4-BE49-F238E27FC236}">
                  <a16:creationId xmlns:a16="http://schemas.microsoft.com/office/drawing/2014/main" id="{688D6AB7-0894-2D4A-9EE3-CF8BFFA30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Line 39">
              <a:extLst>
                <a:ext uri="{FF2B5EF4-FFF2-40B4-BE49-F238E27FC236}">
                  <a16:creationId xmlns:a16="http://schemas.microsoft.com/office/drawing/2014/main" id="{8B2EC183-EB51-C64D-B126-461EEABB1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Line 40">
              <a:extLst>
                <a:ext uri="{FF2B5EF4-FFF2-40B4-BE49-F238E27FC236}">
                  <a16:creationId xmlns:a16="http://schemas.microsoft.com/office/drawing/2014/main" id="{4DE50D57-00F5-134E-8F40-FDF964831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Text Box 41">
              <a:extLst>
                <a:ext uri="{FF2B5EF4-FFF2-40B4-BE49-F238E27FC236}">
                  <a16:creationId xmlns:a16="http://schemas.microsoft.com/office/drawing/2014/main" id="{54D07A27-F429-7046-9310-3A09B05FC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</a:t>
              </a:r>
            </a:p>
          </p:txBody>
        </p:sp>
        <p:sp>
          <p:nvSpPr>
            <p:cNvPr id="49" name="Text Box 42">
              <a:extLst>
                <a:ext uri="{FF2B5EF4-FFF2-40B4-BE49-F238E27FC236}">
                  <a16:creationId xmlns:a16="http://schemas.microsoft.com/office/drawing/2014/main" id="{C2EDB89B-2549-D34E-89E0-D083A1B07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lf</a:t>
              </a:r>
            </a:p>
          </p:txBody>
        </p:sp>
        <p:sp>
          <p:nvSpPr>
            <p:cNvPr id="50" name="Text Box 43">
              <a:extLst>
                <a:ext uri="{FF2B5EF4-FFF2-40B4-BE49-F238E27FC236}">
                  <a16:creationId xmlns:a16="http://schemas.microsoft.com/office/drawing/2014/main" id="{C7C20190-6015-D24C-8172-D12AE7AC2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</a:t>
              </a:r>
            </a:p>
          </p:txBody>
        </p:sp>
        <p:sp>
          <p:nvSpPr>
            <p:cNvPr id="51" name="Text Box 44">
              <a:extLst>
                <a:ext uri="{FF2B5EF4-FFF2-40B4-BE49-F238E27FC236}">
                  <a16:creationId xmlns:a16="http://schemas.microsoft.com/office/drawing/2014/main" id="{9D74CC94-6309-9D4E-AC17-7834303D29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field name</a:t>
              </a:r>
            </a:p>
          </p:txBody>
        </p:sp>
      </p:grpSp>
      <p:grpSp>
        <p:nvGrpSpPr>
          <p:cNvPr id="52" name="Group 46">
            <a:extLst>
              <a:ext uri="{FF2B5EF4-FFF2-40B4-BE49-F238E27FC236}">
                <a16:creationId xmlns:a16="http://schemas.microsoft.com/office/drawing/2014/main" id="{F763EEE1-8E7B-574B-9B12-C02141AD6CEE}"/>
              </a:ext>
            </a:extLst>
          </p:cNvPr>
          <p:cNvGrpSpPr>
            <a:grpSpLocks/>
          </p:cNvGrpSpPr>
          <p:nvPr/>
        </p:nvGrpSpPr>
        <p:grpSpPr bwMode="auto">
          <a:xfrm>
            <a:off x="2876759" y="3709987"/>
            <a:ext cx="4565650" cy="446088"/>
            <a:chOff x="192" y="1894"/>
            <a:chExt cx="2876" cy="281"/>
          </a:xfrm>
        </p:grpSpPr>
        <p:sp>
          <p:nvSpPr>
            <p:cNvPr id="53" name="Rectangle 47">
              <a:extLst>
                <a:ext uri="{FF2B5EF4-FFF2-40B4-BE49-F238E27FC236}">
                  <a16:creationId xmlns:a16="http://schemas.microsoft.com/office/drawing/2014/main" id="{03037660-A975-AC41-9666-AFCCB3A0B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894"/>
              <a:ext cx="2876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" name="Line 48">
              <a:extLst>
                <a:ext uri="{FF2B5EF4-FFF2-40B4-BE49-F238E27FC236}">
                  <a16:creationId xmlns:a16="http://schemas.microsoft.com/office/drawing/2014/main" id="{7DAB01D5-4A4C-0848-8E97-EACA6A36C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Line 49">
              <a:extLst>
                <a:ext uri="{FF2B5EF4-FFF2-40B4-BE49-F238E27FC236}">
                  <a16:creationId xmlns:a16="http://schemas.microsoft.com/office/drawing/2014/main" id="{12F13F26-AF12-FB44-9B51-D0B6944C6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2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Line 50">
              <a:extLst>
                <a:ext uri="{FF2B5EF4-FFF2-40B4-BE49-F238E27FC236}">
                  <a16:creationId xmlns:a16="http://schemas.microsoft.com/office/drawing/2014/main" id="{781CA89B-E86B-F843-A1BF-431E56792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Line 51">
              <a:extLst>
                <a:ext uri="{FF2B5EF4-FFF2-40B4-BE49-F238E27FC236}">
                  <a16:creationId xmlns:a16="http://schemas.microsoft.com/office/drawing/2014/main" id="{74911CA3-EBEB-B142-B4CE-F45E57712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1896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Text Box 52">
              <a:extLst>
                <a:ext uri="{FF2B5EF4-FFF2-40B4-BE49-F238E27FC236}">
                  <a16:creationId xmlns:a16="http://schemas.microsoft.com/office/drawing/2014/main" id="{D0CB791B-5400-C244-A515-F158CF9A2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8" y="1907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</a:t>
              </a:r>
            </a:p>
          </p:txBody>
        </p:sp>
        <p:sp>
          <p:nvSpPr>
            <p:cNvPr id="59" name="Text Box 53">
              <a:extLst>
                <a:ext uri="{FF2B5EF4-FFF2-40B4-BE49-F238E27FC236}">
                  <a16:creationId xmlns:a16="http://schemas.microsoft.com/office/drawing/2014/main" id="{E5D6E821-F80C-7046-BF97-7FA229C97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9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lf</a:t>
              </a:r>
            </a:p>
          </p:txBody>
        </p:sp>
        <p:sp>
          <p:nvSpPr>
            <p:cNvPr id="60" name="Text Box 54">
              <a:extLst>
                <a:ext uri="{FF2B5EF4-FFF2-40B4-BE49-F238E27FC236}">
                  <a16:creationId xmlns:a16="http://schemas.microsoft.com/office/drawing/2014/main" id="{5F6B0327-AD11-4545-B4F6-735084B85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2" y="1895"/>
              <a:ext cx="4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value</a:t>
              </a:r>
            </a:p>
          </p:txBody>
        </p:sp>
        <p:sp>
          <p:nvSpPr>
            <p:cNvPr id="61" name="Text Box 55">
              <a:extLst>
                <a:ext uri="{FF2B5EF4-FFF2-40B4-BE49-F238E27FC236}">
                  <a16:creationId xmlns:a16="http://schemas.microsoft.com/office/drawing/2014/main" id="{95580CF6-5A42-2640-82F1-B4775A071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" y="1903"/>
              <a:ext cx="13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field name</a:t>
              </a:r>
            </a:p>
          </p:txBody>
        </p:sp>
      </p:grpSp>
      <p:sp>
        <p:nvSpPr>
          <p:cNvPr id="62" name="Line 56">
            <a:extLst>
              <a:ext uri="{FF2B5EF4-FFF2-40B4-BE49-F238E27FC236}">
                <a16:creationId xmlns:a16="http://schemas.microsoft.com/office/drawing/2014/main" id="{923CEA11-D6DF-1C46-A3A4-FD9F81E7CB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9934" y="2681287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3" name="Group 61">
            <a:extLst>
              <a:ext uri="{FF2B5EF4-FFF2-40B4-BE49-F238E27FC236}">
                <a16:creationId xmlns:a16="http://schemas.microsoft.com/office/drawing/2014/main" id="{331FDA17-3586-0A4D-9D97-B7C360855EC7}"/>
              </a:ext>
            </a:extLst>
          </p:cNvPr>
          <p:cNvGrpSpPr>
            <a:grpSpLocks/>
          </p:cNvGrpSpPr>
          <p:nvPr/>
        </p:nvGrpSpPr>
        <p:grpSpPr bwMode="auto">
          <a:xfrm>
            <a:off x="2711659" y="2905125"/>
            <a:ext cx="331788" cy="461962"/>
            <a:chOff x="462" y="1727"/>
            <a:chExt cx="209" cy="291"/>
          </a:xfrm>
        </p:grpSpPr>
        <p:sp>
          <p:nvSpPr>
            <p:cNvPr id="64" name="Rectangle 59">
              <a:extLst>
                <a:ext uri="{FF2B5EF4-FFF2-40B4-BE49-F238E27FC236}">
                  <a16:creationId xmlns:a16="http://schemas.microsoft.com/office/drawing/2014/main" id="{C1850415-E4E6-744B-A59A-4CBBE0004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Text Box 57">
              <a:extLst>
                <a:ext uri="{FF2B5EF4-FFF2-40B4-BE49-F238E27FC236}">
                  <a16:creationId xmlns:a16="http://schemas.microsoft.com/office/drawing/2014/main" id="{26A802CD-661F-6548-9B20-03447D673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66" name="Text Box 58">
              <a:extLst>
                <a:ext uri="{FF2B5EF4-FFF2-40B4-BE49-F238E27FC236}">
                  <a16:creationId xmlns:a16="http://schemas.microsoft.com/office/drawing/2014/main" id="{5857CADE-C5FA-4D45-86A4-A527BB099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sp>
        <p:nvSpPr>
          <p:cNvPr id="67" name="Line 62">
            <a:extLst>
              <a:ext uri="{FF2B5EF4-FFF2-40B4-BE49-F238E27FC236}">
                <a16:creationId xmlns:a16="http://schemas.microsoft.com/office/drawing/2014/main" id="{4AD99966-51D9-144F-843E-CA57BB5A9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3997" y="2668587"/>
            <a:ext cx="0" cy="1041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8" name="Group 63">
            <a:extLst>
              <a:ext uri="{FF2B5EF4-FFF2-40B4-BE49-F238E27FC236}">
                <a16:creationId xmlns:a16="http://schemas.microsoft.com/office/drawing/2014/main" id="{21BE7B05-C0E3-2847-AA19-1D559561D8E0}"/>
              </a:ext>
            </a:extLst>
          </p:cNvPr>
          <p:cNvGrpSpPr>
            <a:grpSpLocks/>
          </p:cNvGrpSpPr>
          <p:nvPr/>
        </p:nvGrpSpPr>
        <p:grpSpPr bwMode="auto">
          <a:xfrm>
            <a:off x="7275722" y="2892425"/>
            <a:ext cx="331787" cy="461962"/>
            <a:chOff x="462" y="1727"/>
            <a:chExt cx="209" cy="291"/>
          </a:xfrm>
        </p:grpSpPr>
        <p:sp>
          <p:nvSpPr>
            <p:cNvPr id="69" name="Rectangle 64">
              <a:extLst>
                <a:ext uri="{FF2B5EF4-FFF2-40B4-BE49-F238E27FC236}">
                  <a16:creationId xmlns:a16="http://schemas.microsoft.com/office/drawing/2014/main" id="{1068B7F8-AE57-0A4E-92E6-32182A78C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Text Box 65">
              <a:extLst>
                <a:ext uri="{FF2B5EF4-FFF2-40B4-BE49-F238E27FC236}">
                  <a16:creationId xmlns:a16="http://schemas.microsoft.com/office/drawing/2014/main" id="{304BAA75-EDF9-3049-8146-D4E3B77D4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71" name="Text Box 66">
              <a:extLst>
                <a:ext uri="{FF2B5EF4-FFF2-40B4-BE49-F238E27FC236}">
                  <a16:creationId xmlns:a16="http://schemas.microsoft.com/office/drawing/2014/main" id="{7B98EC85-B737-7A4A-B367-0CDBC6B02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grpSp>
        <p:nvGrpSpPr>
          <p:cNvPr id="72" name="Group 77">
            <a:extLst>
              <a:ext uri="{FF2B5EF4-FFF2-40B4-BE49-F238E27FC236}">
                <a16:creationId xmlns:a16="http://schemas.microsoft.com/office/drawing/2014/main" id="{3F072947-4F12-CC4D-A114-F6AA680D477F}"/>
              </a:ext>
            </a:extLst>
          </p:cNvPr>
          <p:cNvGrpSpPr>
            <a:grpSpLocks/>
          </p:cNvGrpSpPr>
          <p:nvPr/>
        </p:nvGrpSpPr>
        <p:grpSpPr bwMode="auto">
          <a:xfrm>
            <a:off x="2875172" y="4156075"/>
            <a:ext cx="963612" cy="446087"/>
            <a:chOff x="3105" y="2650"/>
            <a:chExt cx="607" cy="281"/>
          </a:xfrm>
        </p:grpSpPr>
        <p:sp>
          <p:nvSpPr>
            <p:cNvPr id="73" name="Rectangle 68">
              <a:extLst>
                <a:ext uri="{FF2B5EF4-FFF2-40B4-BE49-F238E27FC236}">
                  <a16:creationId xmlns:a16="http://schemas.microsoft.com/office/drawing/2014/main" id="{B30322FD-E3EE-8748-B949-5646BF3FD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" y="2650"/>
              <a:ext cx="607" cy="2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48E1F9CF-9FEF-5347-B932-F18E52F7D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6" y="2652"/>
              <a:ext cx="0" cy="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Text Box 73">
              <a:extLst>
                <a:ext uri="{FF2B5EF4-FFF2-40B4-BE49-F238E27FC236}">
                  <a16:creationId xmlns:a16="http://schemas.microsoft.com/office/drawing/2014/main" id="{3F1DCBAA-5080-0B49-ADD4-12FFFAF8A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2663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</a:t>
              </a:r>
            </a:p>
          </p:txBody>
        </p:sp>
        <p:sp>
          <p:nvSpPr>
            <p:cNvPr id="76" name="Text Box 74">
              <a:extLst>
                <a:ext uri="{FF2B5EF4-FFF2-40B4-BE49-F238E27FC236}">
                  <a16:creationId xmlns:a16="http://schemas.microsoft.com/office/drawing/2014/main" id="{30F8DE49-8702-8242-B74B-8F1C10B8D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6" y="2670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lf</a:t>
              </a:r>
            </a:p>
          </p:txBody>
        </p:sp>
      </p:grpSp>
      <p:sp>
        <p:nvSpPr>
          <p:cNvPr id="77" name="Rectangle 78">
            <a:extLst>
              <a:ext uri="{FF2B5EF4-FFF2-40B4-BE49-F238E27FC236}">
                <a16:creationId xmlns:a16="http://schemas.microsoft.com/office/drawing/2014/main" id="{6229F0FB-98BB-B944-85C4-25A52FBA6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172" y="4603750"/>
            <a:ext cx="5170487" cy="1120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Text Box 80">
            <a:extLst>
              <a:ext uri="{FF2B5EF4-FFF2-40B4-BE49-F238E27FC236}">
                <a16:creationId xmlns:a16="http://schemas.microsoft.com/office/drawing/2014/main" id="{15C2EA86-0F4F-3247-A569-CE038874C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1922" y="4927600"/>
            <a:ext cx="1411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entity body</a:t>
            </a:r>
          </a:p>
        </p:txBody>
      </p:sp>
      <p:grpSp>
        <p:nvGrpSpPr>
          <p:cNvPr id="79" name="Group 81">
            <a:extLst>
              <a:ext uri="{FF2B5EF4-FFF2-40B4-BE49-F238E27FC236}">
                <a16:creationId xmlns:a16="http://schemas.microsoft.com/office/drawing/2014/main" id="{FBD71B37-ADDE-7A46-9420-5D7F558DE36A}"/>
              </a:ext>
            </a:extLst>
          </p:cNvPr>
          <p:cNvGrpSpPr>
            <a:grpSpLocks/>
          </p:cNvGrpSpPr>
          <p:nvPr/>
        </p:nvGrpSpPr>
        <p:grpSpPr bwMode="auto">
          <a:xfrm>
            <a:off x="2711659" y="4941887"/>
            <a:ext cx="331788" cy="461963"/>
            <a:chOff x="462" y="1727"/>
            <a:chExt cx="209" cy="291"/>
          </a:xfrm>
        </p:grpSpPr>
        <p:sp>
          <p:nvSpPr>
            <p:cNvPr id="80" name="Rectangle 82">
              <a:extLst>
                <a:ext uri="{FF2B5EF4-FFF2-40B4-BE49-F238E27FC236}">
                  <a16:creationId xmlns:a16="http://schemas.microsoft.com/office/drawing/2014/main" id="{EB685F5D-49A7-714D-B0CE-A681FE471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Text Box 83">
              <a:extLst>
                <a:ext uri="{FF2B5EF4-FFF2-40B4-BE49-F238E27FC236}">
                  <a16:creationId xmlns:a16="http://schemas.microsoft.com/office/drawing/2014/main" id="{F39503FA-5AF7-1343-97ED-74063A1F1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82" name="Text Box 84">
              <a:extLst>
                <a:ext uri="{FF2B5EF4-FFF2-40B4-BE49-F238E27FC236}">
                  <a16:creationId xmlns:a16="http://schemas.microsoft.com/office/drawing/2014/main" id="{65445F71-0392-1545-8E73-EFFA475F7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grpSp>
        <p:nvGrpSpPr>
          <p:cNvPr id="83" name="Group 85">
            <a:extLst>
              <a:ext uri="{FF2B5EF4-FFF2-40B4-BE49-F238E27FC236}">
                <a16:creationId xmlns:a16="http://schemas.microsoft.com/office/drawing/2014/main" id="{948FB213-CBD1-754F-9A31-92B73ABB091D}"/>
              </a:ext>
            </a:extLst>
          </p:cNvPr>
          <p:cNvGrpSpPr>
            <a:grpSpLocks/>
          </p:cNvGrpSpPr>
          <p:nvPr/>
        </p:nvGrpSpPr>
        <p:grpSpPr bwMode="auto">
          <a:xfrm>
            <a:off x="7871034" y="4932362"/>
            <a:ext cx="331788" cy="461963"/>
            <a:chOff x="462" y="1727"/>
            <a:chExt cx="209" cy="291"/>
          </a:xfrm>
        </p:grpSpPr>
        <p:sp>
          <p:nvSpPr>
            <p:cNvPr id="84" name="Rectangle 86">
              <a:extLst>
                <a:ext uri="{FF2B5EF4-FFF2-40B4-BE49-F238E27FC236}">
                  <a16:creationId xmlns:a16="http://schemas.microsoft.com/office/drawing/2014/main" id="{2099BE28-2CBD-FA47-A576-86B1CF474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" y="1854"/>
              <a:ext cx="56" cy="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Text Box 87">
              <a:extLst>
                <a:ext uri="{FF2B5EF4-FFF2-40B4-BE49-F238E27FC236}">
                  <a16:creationId xmlns:a16="http://schemas.microsoft.com/office/drawing/2014/main" id="{94AB5515-CA17-A64C-8C42-F07410243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27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  <p:sp>
          <p:nvSpPr>
            <p:cNvPr id="86" name="Text Box 88">
              <a:extLst>
                <a:ext uri="{FF2B5EF4-FFF2-40B4-BE49-F238E27FC236}">
                  <a16:creationId xmlns:a16="http://schemas.microsoft.com/office/drawing/2014/main" id="{157CE15D-905D-5B44-91B2-249371FA4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768"/>
              <a:ext cx="2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~</a:t>
              </a:r>
            </a:p>
          </p:txBody>
        </p:sp>
      </p:grpSp>
      <p:sp>
        <p:nvSpPr>
          <p:cNvPr id="87" name="Slide Number Placeholder 2">
            <a:extLst>
              <a:ext uri="{FF2B5EF4-FFF2-40B4-BE49-F238E27FC236}">
                <a16:creationId xmlns:a16="http://schemas.microsoft.com/office/drawing/2014/main" id="{09896B4E-767E-074F-8EDA-CDA62F290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8140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Other HTTP request </a:t>
            </a:r>
            <a:r>
              <a:rPr lang="en-US" altLang="en-US" dirty="0">
                <a:ea typeface="ＭＳ Ｐゴシック" panose="020B0600070205080204" pitchFamily="34" charset="-128"/>
              </a:rPr>
              <a:t>m</a:t>
            </a:r>
            <a:r>
              <a:rPr lang="en-US" altLang="en-US" sz="4400" dirty="0">
                <a:ea typeface="ＭＳ Ｐゴシック" panose="020B0600070205080204" pitchFamily="34" charset="-128"/>
              </a:rPr>
              <a:t>essages</a:t>
            </a:r>
            <a:endParaRPr lang="en-US" sz="4400" dirty="0"/>
          </a:p>
        </p:txBody>
      </p:sp>
      <p:sp>
        <p:nvSpPr>
          <p:cNvPr id="87" name="Rectangle 3">
            <a:extLst>
              <a:ext uri="{FF2B5EF4-FFF2-40B4-BE49-F238E27FC236}">
                <a16:creationId xmlns:a16="http://schemas.microsoft.com/office/drawing/2014/main" id="{25316CA5-99B5-7F45-AFB7-B3A2CBFABDDC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1727394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POST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web page often includes form input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input sent from client to server in entity body of HTTP POST request message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EC7D421B-4EDF-C343-AB2D-4624467F5415}"/>
              </a:ext>
            </a:extLst>
          </p:cNvPr>
          <p:cNvSpPr txBox="1">
            <a:spLocks noChangeArrowheads="1"/>
          </p:cNvSpPr>
          <p:nvPr/>
        </p:nvSpPr>
        <p:spPr>
          <a:xfrm>
            <a:off x="685573" y="4466964"/>
            <a:ext cx="5541055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method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(for sending data to server):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include user data in URL field of HTTP GET request message (following a ‘?’):</a:t>
            </a:r>
          </a:p>
        </p:txBody>
      </p:sp>
      <p:sp>
        <p:nvSpPr>
          <p:cNvPr id="89" name="Text Box 5">
            <a:extLst>
              <a:ext uri="{FF2B5EF4-FFF2-40B4-BE49-F238E27FC236}">
                <a16:creationId xmlns:a16="http://schemas.microsoft.com/office/drawing/2014/main" id="{B785588B-2DEA-474F-89CA-2613413F7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2" y="5806133"/>
            <a:ext cx="6280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www.somesite.com/animalsearch?monkeys&amp;banana</a:t>
            </a:r>
          </a:p>
        </p:txBody>
      </p:sp>
      <p:sp>
        <p:nvSpPr>
          <p:cNvPr id="90" name="Rectangle 3">
            <a:extLst>
              <a:ext uri="{FF2B5EF4-FFF2-40B4-BE49-F238E27FC236}">
                <a16:creationId xmlns:a16="http://schemas.microsoft.com/office/drawing/2014/main" id="{F9FB5262-4D63-A149-A391-3CDD424427AC}"/>
              </a:ext>
            </a:extLst>
          </p:cNvPr>
          <p:cNvSpPr txBox="1">
            <a:spLocks noChangeArrowheads="1"/>
          </p:cNvSpPr>
          <p:nvPr/>
        </p:nvSpPr>
        <p:spPr>
          <a:xfrm>
            <a:off x="6991758" y="1752600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requests headers (only) that would be returned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if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specified URL were requested  with an HTTP GET method. </a:t>
            </a:r>
          </a:p>
        </p:txBody>
      </p:sp>
      <p:sp>
        <p:nvSpPr>
          <p:cNvPr id="91" name="Rectangle 3">
            <a:extLst>
              <a:ext uri="{FF2B5EF4-FFF2-40B4-BE49-F238E27FC236}">
                <a16:creationId xmlns:a16="http://schemas.microsoft.com/office/drawing/2014/main" id="{2D3C6453-B336-C04B-8A91-4E7D3B632FEB}"/>
              </a:ext>
            </a:extLst>
          </p:cNvPr>
          <p:cNvSpPr txBox="1">
            <a:spLocks noChangeArrowheads="1"/>
          </p:cNvSpPr>
          <p:nvPr/>
        </p:nvSpPr>
        <p:spPr>
          <a:xfrm>
            <a:off x="6993371" y="3839527"/>
            <a:ext cx="4684713" cy="1701606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PUT method: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uploads new file (object) to server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completely replaces file that exists at specified URL with content in entity body of POST HTTP request message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0C538BA-1C71-0F4D-B753-A7D597D98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49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HTTP response </a:t>
            </a:r>
            <a:r>
              <a:rPr lang="en-US" altLang="en-US" dirty="0">
                <a:ea typeface="ＭＳ Ｐゴシック" panose="020B0600070205080204" pitchFamily="34" charset="-128"/>
              </a:rPr>
              <a:t>m</a:t>
            </a:r>
            <a:r>
              <a:rPr lang="en-US" altLang="en-US" sz="4400" dirty="0">
                <a:ea typeface="ＭＳ Ｐゴシック" panose="020B0600070205080204" pitchFamily="34" charset="-128"/>
              </a:rPr>
              <a:t>essage</a:t>
            </a:r>
            <a:endParaRPr lang="en-US" sz="4400" dirty="0"/>
          </a:p>
        </p:txBody>
      </p:sp>
      <p:sp>
        <p:nvSpPr>
          <p:cNvPr id="87" name="Text Box 5">
            <a:extLst>
              <a:ext uri="{FF2B5EF4-FFF2-40B4-BE49-F238E27FC236}">
                <a16:creationId xmlns:a16="http://schemas.microsoft.com/office/drawing/2014/main" id="{A994AECC-DC16-7847-B8EE-F2F612ABB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630" y="1555730"/>
            <a:ext cx="40561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status line (protocol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status code status phrase)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0" name="Text Box 8">
            <a:extLst>
              <a:ext uri="{FF2B5EF4-FFF2-40B4-BE49-F238E27FC236}">
                <a16:creationId xmlns:a16="http://schemas.microsoft.com/office/drawing/2014/main" id="{9695B2A1-768B-CE41-87A1-8D564F953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618" y="2984961"/>
            <a:ext cx="10711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header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lines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10">
            <a:extLst>
              <a:ext uri="{FF2B5EF4-FFF2-40B4-BE49-F238E27FC236}">
                <a16:creationId xmlns:a16="http://schemas.microsoft.com/office/drawing/2014/main" id="{71D3CD43-9088-2144-992C-3A77F783A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397" y="4607159"/>
            <a:ext cx="36028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data, e.g.,  requested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HTML file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3" name="Rectangle 15">
            <a:extLst>
              <a:ext uri="{FF2B5EF4-FFF2-40B4-BE49-F238E27FC236}">
                <a16:creationId xmlns:a16="http://schemas.microsoft.com/office/drawing/2014/main" id="{AE1D96B5-48F4-B842-9424-43BC570F6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481" y="1710879"/>
            <a:ext cx="6311900" cy="3490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HTTP/1.1 200 OK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Date: Tue, 08 Sep 2020 00:53:20 GMT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Server: Apache/2.4.6 (CentOS) OpenSSL/1.0.2k-fips PHP/7.4.9 mod_perl/2.0.11 Perl/v5.16.3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Last-Modified: Tue, 01 Mar 2016 18:57:50 GMT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ETag: "a5b-52d015789ee9e"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Accept-Ranges: bytes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Content-Length: 2651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Content-Type: text/html; charset=UTF-8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\r\n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+mn-cs"/>
              </a:rPr>
              <a:t>data data data data data ... </a:t>
            </a:r>
            <a:endParaRPr kumimoji="0" lang="en-US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1248C33-8978-FA4A-B68D-07F7345C9C4D}"/>
              </a:ext>
            </a:extLst>
          </p:cNvPr>
          <p:cNvCxnSpPr>
            <a:cxnSpLocks/>
          </p:cNvCxnSpPr>
          <p:nvPr/>
        </p:nvCxnSpPr>
        <p:spPr>
          <a:xfrm>
            <a:off x="3593872" y="1845820"/>
            <a:ext cx="1436915" cy="0"/>
          </a:xfrm>
          <a:prstGeom prst="straightConnector1">
            <a:avLst/>
          </a:prstGeom>
          <a:ln w="19050">
            <a:solidFill>
              <a:srgbClr val="000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1C1D39C-E830-C840-962A-5EF5A5C89548}"/>
              </a:ext>
            </a:extLst>
          </p:cNvPr>
          <p:cNvCxnSpPr>
            <a:cxnSpLocks/>
          </p:cNvCxnSpPr>
          <p:nvPr/>
        </p:nvCxnSpPr>
        <p:spPr>
          <a:xfrm>
            <a:off x="3642857" y="4850277"/>
            <a:ext cx="1436915" cy="0"/>
          </a:xfrm>
          <a:prstGeom prst="straightConnector1">
            <a:avLst/>
          </a:prstGeom>
          <a:ln w="19050">
            <a:solidFill>
              <a:srgbClr val="0000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1">
            <a:extLst>
              <a:ext uri="{FF2B5EF4-FFF2-40B4-BE49-F238E27FC236}">
                <a16:creationId xmlns:a16="http://schemas.microsoft.com/office/drawing/2014/main" id="{2551C779-9290-AD4E-91BD-E60A7E927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630" y="6155251"/>
            <a:ext cx="95213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ttp://gaia.cs.umass.edu/kurose_ross/interactive/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A44120-8306-2742-A6C5-833CF39C2053}"/>
              </a:ext>
            </a:extLst>
          </p:cNvPr>
          <p:cNvSpPr/>
          <p:nvPr/>
        </p:nvSpPr>
        <p:spPr>
          <a:xfrm>
            <a:off x="506185" y="4724398"/>
            <a:ext cx="10733315" cy="18941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7B4A04F6-6325-3B46-B996-B1257F5CC1D8}"/>
              </a:ext>
            </a:extLst>
          </p:cNvPr>
          <p:cNvSpPr/>
          <p:nvPr/>
        </p:nvSpPr>
        <p:spPr>
          <a:xfrm>
            <a:off x="4963885" y="2057400"/>
            <a:ext cx="261258" cy="2694214"/>
          </a:xfrm>
          <a:prstGeom prst="leftBrace">
            <a:avLst/>
          </a:prstGeom>
          <a:ln w="22225">
            <a:solidFill>
              <a:srgbClr val="0000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0BCB5-3B5E-AE49-AE9B-AE6FFB902BA8}"/>
              </a:ext>
            </a:extLst>
          </p:cNvPr>
          <p:cNvSpPr/>
          <p:nvPr/>
        </p:nvSpPr>
        <p:spPr>
          <a:xfrm>
            <a:off x="4359729" y="2041072"/>
            <a:ext cx="7151914" cy="2982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7232E2-6D04-AD43-8E7F-3073A3A01F08}"/>
              </a:ext>
            </a:extLst>
          </p:cNvPr>
          <p:cNvSpPr/>
          <p:nvPr/>
        </p:nvSpPr>
        <p:spPr>
          <a:xfrm>
            <a:off x="3858986" y="2939143"/>
            <a:ext cx="7151914" cy="135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1A72BEEE-6164-8340-B1FC-05E6C79CF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01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HTTP response 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</a:t>
            </a:r>
            <a:r>
              <a:rPr lang="en-US" altLang="en-US" sz="44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tatus 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</a:t>
            </a:r>
            <a:r>
              <a:rPr lang="en-US" altLang="en-US" sz="44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odes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7D9FAF8-ACB6-2648-AF49-4F1CA2DD361E}"/>
              </a:ext>
            </a:extLst>
          </p:cNvPr>
          <p:cNvSpPr txBox="1">
            <a:spLocks noChangeArrowheads="1"/>
          </p:cNvSpPr>
          <p:nvPr/>
        </p:nvSpPr>
        <p:spPr>
          <a:xfrm>
            <a:off x="1179871" y="2274314"/>
            <a:ext cx="10678300" cy="41687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200 OK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request succeeded, requested object later in this message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301 Moved Permanently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requested object moved, new location specified later in this message (in Location: field)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400 Bad Request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request msg not understood by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404 Not Found</a:t>
            </a:r>
          </a:p>
          <a:p>
            <a:pPr marL="695325" marR="0" lvl="1" indent="-231775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requested document not found on this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505 HTTP Version Not Supported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C98F9E3-E57A-7844-89F3-A6331B046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691" y="1325562"/>
            <a:ext cx="1085628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0838" indent="-350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0838" marR="0" lvl="0" indent="-350838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status code appears in 1st line in server-to-client response message.</a:t>
            </a:r>
          </a:p>
          <a:p>
            <a:pPr marL="350838" marR="0" lvl="0" indent="-350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some sample codes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F3EBF3D-1991-B942-BC94-7A161F525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292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1288</Words>
  <Application>Microsoft Macintosh PowerPoint</Application>
  <PresentationFormat>Widescreen</PresentationFormat>
  <Paragraphs>220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ＭＳ Ｐゴシック</vt:lpstr>
      <vt:lpstr>Arial</vt:lpstr>
      <vt:lpstr>Calibri</vt:lpstr>
      <vt:lpstr>Calibri Light</vt:lpstr>
      <vt:lpstr>Comic Sans MS</vt:lpstr>
      <vt:lpstr>Courier</vt:lpstr>
      <vt:lpstr>Courier New</vt:lpstr>
      <vt:lpstr>Times New Roman</vt:lpstr>
      <vt:lpstr>Wingdings</vt:lpstr>
      <vt:lpstr>ZapfDingbats</vt:lpstr>
      <vt:lpstr>Office Theme</vt:lpstr>
      <vt:lpstr>PowerPoint Presentation</vt:lpstr>
      <vt:lpstr>Application layer protocol defines:</vt:lpstr>
      <vt:lpstr>HTTP</vt:lpstr>
      <vt:lpstr>Web and HTTP</vt:lpstr>
      <vt:lpstr>HTTP overview</vt:lpstr>
      <vt:lpstr>HTTP connections: two types</vt:lpstr>
      <vt:lpstr>Non-persistent HTTP: example</vt:lpstr>
      <vt:lpstr>Non-persistent HTTP: example (cont.)</vt:lpstr>
      <vt:lpstr>Non-persistent HTTP: response time</vt:lpstr>
      <vt:lpstr>Persistent HTTP (HTTP 1.1)</vt:lpstr>
      <vt:lpstr>HTTP request message</vt:lpstr>
      <vt:lpstr>HTTP request message: general format</vt:lpstr>
      <vt:lpstr>Other HTTP request messages</vt:lpstr>
      <vt:lpstr>HTTP response message</vt:lpstr>
      <vt:lpstr>HTTP response status codes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</cp:revision>
  <dcterms:created xsi:type="dcterms:W3CDTF">2025-01-21T06:09:45Z</dcterms:created>
  <dcterms:modified xsi:type="dcterms:W3CDTF">2025-01-21T06:23:39Z</dcterms:modified>
</cp:coreProperties>
</file>