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1092" r:id="rId3"/>
    <p:sldId id="1087" r:id="rId4"/>
    <p:sldId id="1088" r:id="rId5"/>
    <p:sldId id="1089" r:id="rId6"/>
    <p:sldId id="283" r:id="rId7"/>
    <p:sldId id="258" r:id="rId8"/>
    <p:sldId id="1090" r:id="rId9"/>
    <p:sldId id="1091" r:id="rId10"/>
    <p:sldId id="257" r:id="rId11"/>
    <p:sldId id="260" r:id="rId12"/>
    <p:sldId id="25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8"/>
    <p:restoredTop sz="96405"/>
  </p:normalViewPr>
  <p:slideViewPr>
    <p:cSldViewPr snapToGrid="0" snapToObjects="1">
      <p:cViewPr varScale="1">
        <p:scale>
          <a:sx n="133" d="100"/>
          <a:sy n="133" d="100"/>
        </p:scale>
        <p:origin x="62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file:////Users/kalyansasidhar/Downloads/IT694%20Student%20Record.xlsx" TargetMode="External"/></Relationships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Exams!$E$4:$E$131</cx:f>
        <cx:lvl ptCount="128" formatCode="General">
          <cx:pt idx="0">11.5</cx:pt>
          <cx:pt idx="1">3.5</cx:pt>
          <cx:pt idx="2">3.5</cx:pt>
          <cx:pt idx="3">4</cx:pt>
          <cx:pt idx="4">5</cx:pt>
          <cx:pt idx="5">5.5</cx:pt>
          <cx:pt idx="6">6</cx:pt>
          <cx:pt idx="7">6.5</cx:pt>
          <cx:pt idx="8">7</cx:pt>
          <cx:pt idx="9">8</cx:pt>
          <cx:pt idx="10">8</cx:pt>
          <cx:pt idx="11">9</cx:pt>
          <cx:pt idx="12">9</cx:pt>
          <cx:pt idx="13">9</cx:pt>
          <cx:pt idx="14">9.1999999999999993</cx:pt>
          <cx:pt idx="15">9.5</cx:pt>
          <cx:pt idx="16">9.5</cx:pt>
          <cx:pt idx="17">9.5</cx:pt>
          <cx:pt idx="18">9.5</cx:pt>
          <cx:pt idx="19">10</cx:pt>
          <cx:pt idx="20">10</cx:pt>
          <cx:pt idx="21">10.5</cx:pt>
          <cx:pt idx="22">10.5</cx:pt>
          <cx:pt idx="23">10.5</cx:pt>
          <cx:pt idx="24">10.5</cx:pt>
          <cx:pt idx="25">10.5</cx:pt>
          <cx:pt idx="26">10.5</cx:pt>
          <cx:pt idx="27">11</cx:pt>
          <cx:pt idx="28">11</cx:pt>
          <cx:pt idx="29">11</cx:pt>
          <cx:pt idx="30">11</cx:pt>
          <cx:pt idx="31">11</cx:pt>
          <cx:pt idx="32">11</cx:pt>
          <cx:pt idx="33">11</cx:pt>
          <cx:pt idx="34">11</cx:pt>
          <cx:pt idx="35">11</cx:pt>
          <cx:pt idx="36">11</cx:pt>
          <cx:pt idx="37">11</cx:pt>
          <cx:pt idx="38">11</cx:pt>
          <cx:pt idx="39">11.5</cx:pt>
          <cx:pt idx="40">11.5</cx:pt>
          <cx:pt idx="41">11.5</cx:pt>
          <cx:pt idx="42">11.5</cx:pt>
          <cx:pt idx="43">11.5</cx:pt>
          <cx:pt idx="44">12</cx:pt>
          <cx:pt idx="45">12</cx:pt>
          <cx:pt idx="46">12</cx:pt>
          <cx:pt idx="47">12.5</cx:pt>
          <cx:pt idx="48">12.5</cx:pt>
          <cx:pt idx="49">12.5</cx:pt>
          <cx:pt idx="50">12.5</cx:pt>
          <cx:pt idx="51">12.5</cx:pt>
          <cx:pt idx="52">12.5</cx:pt>
          <cx:pt idx="53">12.5</cx:pt>
          <cx:pt idx="54">12.5</cx:pt>
          <cx:pt idx="55">13</cx:pt>
          <cx:pt idx="56">13</cx:pt>
          <cx:pt idx="57">13</cx:pt>
          <cx:pt idx="58">13</cx:pt>
          <cx:pt idx="59">13</cx:pt>
          <cx:pt idx="60">13</cx:pt>
          <cx:pt idx="61">13</cx:pt>
          <cx:pt idx="62">13</cx:pt>
          <cx:pt idx="63">13</cx:pt>
          <cx:pt idx="64">13</cx:pt>
          <cx:pt idx="65">13.5</cx:pt>
          <cx:pt idx="66">13.5</cx:pt>
          <cx:pt idx="67">13.5</cx:pt>
          <cx:pt idx="68">14</cx:pt>
          <cx:pt idx="69">14</cx:pt>
          <cx:pt idx="70">14</cx:pt>
          <cx:pt idx="71">14</cx:pt>
          <cx:pt idx="72">14</cx:pt>
          <cx:pt idx="73">14</cx:pt>
          <cx:pt idx="74">14</cx:pt>
          <cx:pt idx="75">14</cx:pt>
          <cx:pt idx="76">14</cx:pt>
          <cx:pt idx="77">14</cx:pt>
          <cx:pt idx="78">14</cx:pt>
          <cx:pt idx="79">14</cx:pt>
          <cx:pt idx="80">14.5</cx:pt>
          <cx:pt idx="81">14.5</cx:pt>
          <cx:pt idx="82">14.5</cx:pt>
          <cx:pt idx="83">14.5</cx:pt>
          <cx:pt idx="84">14.5</cx:pt>
          <cx:pt idx="85">14.5</cx:pt>
          <cx:pt idx="86">15</cx:pt>
          <cx:pt idx="87">15</cx:pt>
          <cx:pt idx="88">15</cx:pt>
          <cx:pt idx="89">15</cx:pt>
          <cx:pt idx="90">15</cx:pt>
          <cx:pt idx="91">15</cx:pt>
          <cx:pt idx="92">15</cx:pt>
          <cx:pt idx="93">15</cx:pt>
          <cx:pt idx="94">15</cx:pt>
          <cx:pt idx="95">15</cx:pt>
          <cx:pt idx="96">15</cx:pt>
          <cx:pt idx="97">15</cx:pt>
          <cx:pt idx="98">15.5</cx:pt>
          <cx:pt idx="99">15.5</cx:pt>
          <cx:pt idx="100">15.5</cx:pt>
          <cx:pt idx="101">15.5</cx:pt>
          <cx:pt idx="102">15.5</cx:pt>
          <cx:pt idx="103">16</cx:pt>
          <cx:pt idx="104">16</cx:pt>
          <cx:pt idx="105">16</cx:pt>
          <cx:pt idx="106">16</cx:pt>
          <cx:pt idx="107">16</cx:pt>
          <cx:pt idx="108">16</cx:pt>
          <cx:pt idx="109">16</cx:pt>
          <cx:pt idx="110">16</cx:pt>
          <cx:pt idx="111">16</cx:pt>
          <cx:pt idx="112">16</cx:pt>
          <cx:pt idx="113">16</cx:pt>
          <cx:pt idx="114">16</cx:pt>
          <cx:pt idx="115">16</cx:pt>
          <cx:pt idx="116">16.5</cx:pt>
          <cx:pt idx="117">16.5</cx:pt>
          <cx:pt idx="118">16.5</cx:pt>
          <cx:pt idx="119">16.5</cx:pt>
          <cx:pt idx="120">16.5</cx:pt>
          <cx:pt idx="121">17</cx:pt>
          <cx:pt idx="122">17</cx:pt>
          <cx:pt idx="123">17</cx:pt>
          <cx:pt idx="124">17</cx:pt>
          <cx:pt idx="125">17.5</cx:pt>
          <cx:pt idx="126">18</cx:pt>
          <cx:pt idx="127">18</cx:pt>
        </cx:lvl>
      </cx:numDim>
    </cx:data>
  </cx:chartData>
  <cx:chart>
    <cx:title pos="t" align="ctr" overlay="0"/>
    <cx:plotArea>
      <cx:plotAreaRegion>
        <cx:series layoutId="clusteredColumn" uniqueId="{C80552D3-A1FD-2A4D-A211-C0376391EB6F}">
          <cx:dataId val="0"/>
          <cx:layoutPr>
            <cx:binning intervalClosed="r"/>
          </cx:layoutPr>
        </cx:series>
      </cx:plotAreaRegion>
      <cx:axis id="0">
        <cx:catScaling gapWidth="0"/>
        <cx:tickLabels/>
      </cx:axis>
      <cx:axis id="1">
        <cx:valScaling/>
        <cx:majorGridlines/>
        <cx:tickLabels/>
      </cx:axis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467DA9-0D1D-0545-A574-A442383B943C}" type="datetimeFigureOut">
              <a:rPr lang="en-US" smtClean="0"/>
              <a:t>3/21/25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6FC580-6430-9644-ACA7-5A088AF415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623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729EA-B3EB-274A-B9C7-79FCF5BCFD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832D48-9E13-A348-94EA-52C5CE894D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9A5AA8-43DB-DD42-BAAE-0D04CC5D1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7DBE2-2C8B-764D-9EF7-C9C1691D3269}" type="datetimeFigureOut">
              <a:rPr lang="en-US" smtClean="0"/>
              <a:t>3/21/25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4257C3-F954-784B-92EE-AD84D5405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C0CF36-35CD-EC43-B067-3CAB5F476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EA169-AD92-C744-AC73-D583434CC0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56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EE123-1320-E747-B457-A3B507FAE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78B89-AB4E-D448-86A5-4F35E9CE66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E2C448-A566-984E-8529-8E6A623FC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7DBE2-2C8B-764D-9EF7-C9C1691D3269}" type="datetimeFigureOut">
              <a:rPr lang="en-US" smtClean="0"/>
              <a:t>3/21/25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DD1543-DD10-BE4A-9A85-344B74420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33BF4-4B1F-474E-8314-A5B5A18F0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EA169-AD92-C744-AC73-D583434CC0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344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7F180-6305-0440-B0BF-626CE73E1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A7BFC8-D96C-D94E-AEAB-AA5829588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08AED3-7DD6-BF42-896D-7196EFC5E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7DBE2-2C8B-764D-9EF7-C9C1691D3269}" type="datetimeFigureOut">
              <a:rPr lang="en-US" smtClean="0"/>
              <a:t>3/21/25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1B3AE8-0297-7F40-B7DC-62485B8D5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901CE8-677E-9945-9E1A-55BEC2098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EA169-AD92-C744-AC73-D583434CC0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050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2EDF1-5CC8-5B46-8254-9FDD9D5BC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F5DC1E-2657-E44B-8BCB-9E014E7AF5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D52053-4650-1446-9D62-7572E4027D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5A6F0B-4F78-F848-9B7E-E2570682C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7DBE2-2C8B-764D-9EF7-C9C1691D3269}" type="datetimeFigureOut">
              <a:rPr lang="en-US" smtClean="0"/>
              <a:t>3/21/25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592A51-55AC-AA44-BE33-C555D5F3F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D91D90-881F-F546-AB02-96D7E7084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EA169-AD92-C744-AC73-D583434CC0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291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2836B-6D7A-C947-86CF-31D208736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CE4CAF-B551-8C4A-8C28-15A2135625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94A506-D328-9247-AFEF-D4DBB55DBA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C89E6A-0762-8A41-9B85-CC5EB63037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89E435-E54E-CE45-94F8-BF2D520328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B8600E-DBC2-D54B-A9F7-7D2D6A162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7DBE2-2C8B-764D-9EF7-C9C1691D3269}" type="datetimeFigureOut">
              <a:rPr lang="en-US" smtClean="0"/>
              <a:t>3/21/25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261E63-A5A5-BE44-8742-89D0C28C7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26E145-3B95-1A4B-BAA4-5C06EBF19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EA169-AD92-C744-AC73-D583434CC0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5062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CA2A7-4986-1448-BE3B-928F23F5D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827543-8D2B-724F-A087-FB1C19FFF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7DBE2-2C8B-764D-9EF7-C9C1691D3269}" type="datetimeFigureOut">
              <a:rPr lang="en-US" smtClean="0"/>
              <a:t>3/21/25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CD627E-C41C-214E-BE46-B6AD418A2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6F58B3-93D5-A747-B803-3605BA945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EA169-AD92-C744-AC73-D583434CC0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462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A3CDE2-C3AB-484E-862A-157E0410F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7DBE2-2C8B-764D-9EF7-C9C1691D3269}" type="datetimeFigureOut">
              <a:rPr lang="en-US" smtClean="0"/>
              <a:t>3/21/25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8D4617-2E93-7847-9DE0-919F2443A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AE2FC9-6AE6-BB42-A5A6-09DCA2BAF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EA169-AD92-C744-AC73-D583434CC0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87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88470-BF3D-2141-A2CF-BE74D254D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0DF40B-A5C0-8F4C-AD39-80D11AE45E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ABFCF5-9A6D-3840-A302-16999B595D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C07433-72E3-6041-BAB4-13C1F78EF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7DBE2-2C8B-764D-9EF7-C9C1691D3269}" type="datetimeFigureOut">
              <a:rPr lang="en-US" smtClean="0"/>
              <a:t>3/21/25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13FB2A-AB5E-504C-B9E2-656E7C88E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B17B91-9634-DA44-B9B7-EA8C7D7C5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EA169-AD92-C744-AC73-D583434CC0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766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7B2A6-9025-F547-964B-F8D9CBDA8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888CB6-78A8-E343-AF81-7AFF6A804B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C09923-CCF2-E84F-9E72-BD821B713D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E11210-3360-BB40-BC7D-A0B924EEA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7DBE2-2C8B-764D-9EF7-C9C1691D3269}" type="datetimeFigureOut">
              <a:rPr lang="en-US" smtClean="0"/>
              <a:t>3/21/25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42D23B-FC56-2240-B1CD-AB6C6031A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B48517-26CC-6048-82CB-A066D6161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EA169-AD92-C744-AC73-D583434CC0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917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D74AA-B5E8-B849-8867-8F3AAAE7E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0B40AC-41A1-8B4D-B9B8-D993AE5BFD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96B3EB-D31C-434A-87BB-591EA7D0F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7DBE2-2C8B-764D-9EF7-C9C1691D3269}" type="datetimeFigureOut">
              <a:rPr lang="en-US" smtClean="0"/>
              <a:t>3/21/25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CBCC66-BBB4-FA42-B5D5-EF3802F69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903C2-DC9C-C446-A997-7B190B08B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EA169-AD92-C744-AC73-D583434CC0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043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A1F33F-9B8E-A049-A379-DF6A5437D1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542CF0-2507-8F42-BCAC-E5D651A414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4CFDBD-8E8A-4F41-A7B9-07E2F5A51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7DBE2-2C8B-764D-9EF7-C9C1691D3269}" type="datetimeFigureOut">
              <a:rPr lang="en-US" smtClean="0"/>
              <a:t>3/21/25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C91D95-8824-D24D-A0D2-317A7EE99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26D6F2-A3F8-1946-B72B-E0268443A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EA169-AD92-C744-AC73-D583434CC0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155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027079-24D5-244F-A9BD-5F149E5A0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DB229-B5D8-6E41-AD14-BC290A8E07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912EC5-E933-D249-BA2F-0374171663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77DBE2-2C8B-764D-9EF7-C9C1691D3269}" type="datetimeFigureOut">
              <a:rPr lang="en-US" smtClean="0"/>
              <a:t>3/21/25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EF89D3-0C8F-B64C-8668-A53358D136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3B503F-E2A9-5B46-8034-8D194E7E3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2EA169-AD92-C744-AC73-D583434CC0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95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5AEAE-55E1-C240-929F-1F27FF1ED8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IT694 Computer Networks</a:t>
            </a:r>
            <a:br>
              <a:rPr lang="en-US" dirty="0"/>
            </a:br>
            <a:r>
              <a:rPr lang="en-US" dirty="0"/>
              <a:t>Week 8-Lec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411040-D338-3B40-BD28-0B8E8986F3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IP addressing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55285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FF2E2-7B81-F94B-A1EE-102570C67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Mid-</a:t>
            </a:r>
            <a:r>
              <a:rPr lang="en-US" dirty="0" err="1"/>
              <a:t>Sem</a:t>
            </a:r>
            <a:r>
              <a:rPr lang="en-US" dirty="0"/>
              <a:t> I Mark distribution </a:t>
            </a:r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4" name="Chart 3">
                <a:extLst>
                  <a:ext uri="{FF2B5EF4-FFF2-40B4-BE49-F238E27FC236}">
                    <a16:creationId xmlns:a16="http://schemas.microsoft.com/office/drawing/2014/main" id="{013ACBE3-DEED-8843-A491-A621D655CD95}"/>
                  </a:ext>
                </a:extLst>
              </p:cNvPr>
              <p:cNvGraphicFramePr/>
              <p:nvPr/>
            </p:nvGraphicFramePr>
            <p:xfrm>
              <a:off x="2974975" y="1508125"/>
              <a:ext cx="6242050" cy="384175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4" name="Chart 3">
                <a:extLst>
                  <a:ext uri="{FF2B5EF4-FFF2-40B4-BE49-F238E27FC236}">
                    <a16:creationId xmlns:a16="http://schemas.microsoft.com/office/drawing/2014/main" id="{013ACBE3-DEED-8843-A491-A621D655CD9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74975" y="1508125"/>
                <a:ext cx="6242050" cy="384175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AF48347-9B42-4C45-8121-F606A3A11D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8251689"/>
              </p:ext>
            </p:extLst>
          </p:nvPr>
        </p:nvGraphicFramePr>
        <p:xfrm>
          <a:off x="4689374" y="5742640"/>
          <a:ext cx="2683578" cy="4457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41789">
                  <a:extLst>
                    <a:ext uri="{9D8B030D-6E8A-4147-A177-3AD203B41FA5}">
                      <a16:colId xmlns:a16="http://schemas.microsoft.com/office/drawing/2014/main" val="2357379655"/>
                    </a:ext>
                  </a:extLst>
                </a:gridCol>
                <a:gridCol w="1341789">
                  <a:extLst>
                    <a:ext uri="{9D8B030D-6E8A-4147-A177-3AD203B41FA5}">
                      <a16:colId xmlns:a16="http://schemas.microsoft.com/office/drawing/2014/main" val="3474240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Mean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400" u="none" strike="noStrike" dirty="0">
                          <a:effectLst/>
                        </a:rPr>
                        <a:t>12.8609375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98323658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r" fontAlgn="b"/>
                      <a:r>
                        <a:rPr lang="en-IN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Std</a:t>
                      </a: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Dev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400" u="none" strike="noStrike" dirty="0">
                          <a:effectLst/>
                        </a:rPr>
                        <a:t>3.084077329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466825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50277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154EF-DC73-9D46-B357-8C7498167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and Host IDs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0A498C-1594-4C45-ACE2-9E35E92191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840" y="1582420"/>
            <a:ext cx="9259971" cy="341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4843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BA0F4-588B-9945-BCFE-9B0F0CC5D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Subnet Mask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024308-1638-8C43-AC51-54F61868F1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55420"/>
            <a:ext cx="6405418" cy="3522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299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BA0F4-588B-9945-BCFE-9B0F0CC5D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7F803B-2B69-BE4E-9FCD-B585B751C4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10864"/>
            <a:ext cx="10515600" cy="805815"/>
          </a:xfrm>
        </p:spPr>
        <p:txBody>
          <a:bodyPr>
            <a:normAutofit lnSpcReduction="10000"/>
          </a:bodyPr>
          <a:lstStyle/>
          <a:p>
            <a:r>
              <a:rPr lang="en-IN" dirty="0"/>
              <a:t>Given the address 23.56.7.91 and the default class A mask, find the beginning address (network address). </a:t>
            </a:r>
            <a:endParaRPr lang="en-IN" dirty="0">
              <a:effectLst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7631F1-59CC-E44F-8707-D614C28D8692}"/>
              </a:ext>
            </a:extLst>
          </p:cNvPr>
          <p:cNvSpPr/>
          <p:nvPr/>
        </p:nvSpPr>
        <p:spPr>
          <a:xfrm>
            <a:off x="1290320" y="2936855"/>
            <a:ext cx="900176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i="1" dirty="0">
                <a:solidFill>
                  <a:schemeClr val="accent2"/>
                </a:solidFill>
              </a:rPr>
              <a:t>The default mask is 255.0.0.0, which means that only the first byte is preserved and the other 3 bytes are set to 0s. The network address is 23.0.0.0. </a:t>
            </a:r>
            <a:endParaRPr lang="en-IN" sz="2000" i="1" dirty="0">
              <a:solidFill>
                <a:schemeClr val="accent2"/>
              </a:solidFill>
              <a:effectLst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C8C0F34-11D3-3A4E-A77A-80F3AC89C6A7}"/>
              </a:ext>
            </a:extLst>
          </p:cNvPr>
          <p:cNvSpPr txBox="1">
            <a:spLocks/>
          </p:cNvSpPr>
          <p:nvPr/>
        </p:nvSpPr>
        <p:spPr>
          <a:xfrm>
            <a:off x="838200" y="3864917"/>
            <a:ext cx="10515600" cy="80581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Given the address 132.6.17.85 and the default class B mask, find the beginning address (network address).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18AB79-5A69-2E4E-8389-C810F2061A1D}"/>
              </a:ext>
            </a:extLst>
          </p:cNvPr>
          <p:cNvSpPr/>
          <p:nvPr/>
        </p:nvSpPr>
        <p:spPr>
          <a:xfrm>
            <a:off x="1290319" y="4880535"/>
            <a:ext cx="915113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accent2"/>
                </a:solidFill>
                <a:latin typeface="TimesNewRoman"/>
              </a:rPr>
              <a:t>The default mask is 255.255.0.0, which means that the first 2 bytes are preserved and the other 2 bytes are set to 0s. The network address is 132.6.0.0. </a:t>
            </a:r>
            <a:endParaRPr lang="en-IN" dirty="0">
              <a:solidFill>
                <a:schemeClr val="accent2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412218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Methods of allocating addresses?</a:t>
            </a:r>
            <a:br>
              <a:rPr lang="en-US" dirty="0"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914400" lvl="1" indent="-457200">
              <a:buFont typeface="+mj-lt"/>
              <a:buAutoNum type="arabicPeriod"/>
              <a:defRPr/>
            </a:pPr>
            <a:r>
              <a:rPr lang="en-US" dirty="0" err="1"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Classful</a:t>
            </a:r>
            <a:endParaRPr lang="en-US" dirty="0">
              <a:latin typeface="Times New Roman" panose="02020603050405020304" pitchFamily="18" charset="0"/>
              <a:ea typeface="ＭＳ Ｐゴシック" charset="0"/>
              <a:cs typeface="Times New Roman" panose="02020603050405020304" pitchFamily="18" charset="0"/>
            </a:endParaRPr>
          </a:p>
          <a:p>
            <a:pPr marL="914400" lvl="1" indent="-457200">
              <a:buFont typeface="+mj-lt"/>
              <a:buAutoNum type="arabicPeriod"/>
              <a:defRPr/>
            </a:pPr>
            <a:r>
              <a:rPr lang="en-US" dirty="0"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Fixed Length Subnet Mask (FLSM)</a:t>
            </a:r>
          </a:p>
          <a:p>
            <a:pPr marL="914400" lvl="1" indent="-457200">
              <a:buFont typeface="+mj-lt"/>
              <a:buAutoNum type="arabicPeriod"/>
              <a:defRPr/>
            </a:pPr>
            <a:r>
              <a:rPr lang="en-US" dirty="0"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Variable Length Subnet Mask(VLSM)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59264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Subnetting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three types of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subnetting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examples :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Subnetting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when given a required number of networks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Subnetting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when given a required number of clients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Given an IP address &amp; Subnet Mask, finding original network range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127699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95722-4E6B-4943-8174-30D2711915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8642" y="219246"/>
            <a:ext cx="11002991" cy="6441045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You have a Class C network, and you need ten subnets. Each subnet should get as many number of addresses for hosts as possible. How would you break the network ? What is the new subnet mask?</a:t>
            </a:r>
          </a:p>
          <a:p>
            <a:r>
              <a:rPr lang="en-IN" dirty="0"/>
              <a:t>Solution steps:</a:t>
            </a:r>
          </a:p>
          <a:p>
            <a:pPr lvl="1"/>
            <a:r>
              <a:rPr lang="en-IN" dirty="0"/>
              <a:t>How many subnets required?  </a:t>
            </a:r>
          </a:p>
          <a:p>
            <a:pPr lvl="1"/>
            <a:r>
              <a:rPr lang="en-IN" dirty="0"/>
              <a:t>How many bits can I modify? </a:t>
            </a:r>
          </a:p>
          <a:p>
            <a:pPr lvl="1"/>
            <a:r>
              <a:rPr lang="en-IN" dirty="0"/>
              <a:t>How many bits can I retain for hosts and give away for subnets?</a:t>
            </a:r>
          </a:p>
          <a:p>
            <a:pPr lvl="2"/>
            <a:r>
              <a:rPr lang="en-IN" dirty="0"/>
              <a:t>2</a:t>
            </a:r>
            <a:r>
              <a:rPr lang="en-IN" baseline="30000" dirty="0"/>
              <a:t>x</a:t>
            </a:r>
            <a:r>
              <a:rPr lang="en-IN" dirty="0"/>
              <a:t> = 10</a:t>
            </a:r>
          </a:p>
          <a:p>
            <a:pPr lvl="2"/>
            <a:r>
              <a:rPr lang="en-IN" dirty="0"/>
              <a:t>Closest  but highest value – 4. </a:t>
            </a:r>
          </a:p>
          <a:p>
            <a:pPr lvl="2"/>
            <a:r>
              <a:rPr lang="en-IN" dirty="0"/>
              <a:t>2</a:t>
            </a:r>
            <a:r>
              <a:rPr lang="en-IN" baseline="30000" dirty="0"/>
              <a:t>4</a:t>
            </a:r>
            <a:r>
              <a:rPr lang="en-IN" dirty="0"/>
              <a:t>=16 networks possible  </a:t>
            </a:r>
          </a:p>
          <a:p>
            <a:pPr lvl="2"/>
            <a:r>
              <a:rPr lang="en-IN" dirty="0"/>
              <a:t>16&gt; 10 , no other number close to 10</a:t>
            </a:r>
          </a:p>
          <a:p>
            <a:pPr marL="914400" lvl="2" indent="0">
              <a:buNone/>
            </a:pPr>
            <a:endParaRPr lang="en-IN" dirty="0"/>
          </a:p>
          <a:p>
            <a:pPr lvl="1"/>
            <a:r>
              <a:rPr lang="en-IN" dirty="0"/>
              <a:t>If 4 bits have to be given , retain remaining 4 bits starting from Right most bit to left in the default subnet mask</a:t>
            </a:r>
          </a:p>
          <a:p>
            <a:pPr lvl="2"/>
            <a:r>
              <a:rPr lang="en-IN" dirty="0"/>
              <a:t>255.255.255.0 = 1 1 1 1 1 1 1 1. 1 1 1 1 1 1 1 1 .1 1 1 1 1 1 1 1. 0 0 0 0 0 0 0 0</a:t>
            </a:r>
          </a:p>
          <a:p>
            <a:pPr lvl="3"/>
            <a:r>
              <a:rPr lang="en-IN" dirty="0"/>
              <a:t>= 1 1 1 1 1 1 1 1. 1 1 1 1 1 1 1 1 .1 1 1 1 1 1 1 1. </a:t>
            </a:r>
            <a:r>
              <a:rPr lang="en-IN" dirty="0">
                <a:solidFill>
                  <a:srgbClr val="FF0000"/>
                </a:solidFill>
              </a:rPr>
              <a:t>1 1 1 1 </a:t>
            </a:r>
            <a:r>
              <a:rPr lang="en-IN" dirty="0"/>
              <a:t>0 0 0 0 </a:t>
            </a:r>
          </a:p>
          <a:p>
            <a:r>
              <a:rPr lang="en-US" dirty="0"/>
              <a:t>New subnet?</a:t>
            </a:r>
          </a:p>
          <a:p>
            <a:r>
              <a:rPr lang="en-US" dirty="0"/>
              <a:t>16 subnets, each subnet accommodates 16 hosts. </a:t>
            </a:r>
          </a:p>
        </p:txBody>
      </p:sp>
    </p:spTree>
    <p:extLst>
      <p:ext uri="{BB962C8B-B14F-4D97-AF65-F5344CB8AC3E}">
        <p14:creationId xmlns:p14="http://schemas.microsoft.com/office/powerpoint/2010/main" val="3965411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2BAB34-82AC-F046-BC14-D1B22999E0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21276"/>
            <a:ext cx="10515600" cy="5855687"/>
          </a:xfrm>
        </p:spPr>
        <p:txBody>
          <a:bodyPr>
            <a:normAutofit fontScale="92500" lnSpcReduction="20000"/>
          </a:bodyPr>
          <a:lstStyle/>
          <a:p>
            <a:r>
              <a:rPr lang="en-IN" dirty="0"/>
              <a:t>You have a Class C network, and you need ten subnets. Each subnet should get as many number of addresses for hosts as possible. How would you break the network ? What is the new subnet mask?</a:t>
            </a:r>
          </a:p>
          <a:p>
            <a:r>
              <a:rPr lang="en-IN" dirty="0"/>
              <a:t>Solution steps:</a:t>
            </a:r>
          </a:p>
          <a:p>
            <a:pPr lvl="1"/>
            <a:r>
              <a:rPr lang="en-IN" dirty="0"/>
              <a:t>How many subnets required?  10</a:t>
            </a:r>
          </a:p>
          <a:p>
            <a:pPr lvl="1"/>
            <a:r>
              <a:rPr lang="en-IN" dirty="0"/>
              <a:t>How many bits can I modify? 8 bits since it is class C</a:t>
            </a:r>
          </a:p>
          <a:p>
            <a:pPr marL="457200" lvl="1" indent="0">
              <a:buNone/>
            </a:pPr>
            <a:endParaRPr lang="en-IN" dirty="0"/>
          </a:p>
          <a:p>
            <a:pPr lvl="1"/>
            <a:r>
              <a:rPr lang="en-IN" dirty="0"/>
              <a:t>How many bits can I retain for hosts and give away for subnets?</a:t>
            </a:r>
          </a:p>
          <a:p>
            <a:pPr lvl="2"/>
            <a:r>
              <a:rPr lang="en-IN" dirty="0"/>
              <a:t>2</a:t>
            </a:r>
            <a:r>
              <a:rPr lang="en-IN" baseline="30000" dirty="0"/>
              <a:t>x</a:t>
            </a:r>
            <a:r>
              <a:rPr lang="en-IN" dirty="0"/>
              <a:t> = 10</a:t>
            </a:r>
          </a:p>
          <a:p>
            <a:pPr lvl="2"/>
            <a:r>
              <a:rPr lang="en-IN" dirty="0"/>
              <a:t>Closest  but highest value – 4. </a:t>
            </a:r>
          </a:p>
          <a:p>
            <a:pPr lvl="2"/>
            <a:r>
              <a:rPr lang="en-IN" dirty="0"/>
              <a:t>2</a:t>
            </a:r>
            <a:r>
              <a:rPr lang="en-IN" baseline="30000" dirty="0"/>
              <a:t>4</a:t>
            </a:r>
            <a:r>
              <a:rPr lang="en-IN" dirty="0"/>
              <a:t>=16 networks possible  </a:t>
            </a:r>
          </a:p>
          <a:p>
            <a:pPr lvl="2"/>
            <a:r>
              <a:rPr lang="en-IN" dirty="0"/>
              <a:t>16&gt; 10 , no other number close to 10</a:t>
            </a:r>
          </a:p>
          <a:p>
            <a:pPr marL="914400" lvl="2" indent="0">
              <a:buNone/>
            </a:pPr>
            <a:endParaRPr lang="en-IN" dirty="0"/>
          </a:p>
          <a:p>
            <a:pPr lvl="1"/>
            <a:r>
              <a:rPr lang="en-IN" dirty="0"/>
              <a:t>If 4 bits have to be given , retain remaining 4 bits starting from Right most bit to left in the default subnet mask</a:t>
            </a:r>
          </a:p>
          <a:p>
            <a:pPr lvl="2"/>
            <a:r>
              <a:rPr lang="en-IN" dirty="0"/>
              <a:t>255.255.255.0 = 1 1 1 1 1 1 1 1. 1 1 1 1 1 1 1 1 .1 1 1 1 1 1 1 1. 0 0 0 0 0 0 0 0</a:t>
            </a:r>
          </a:p>
          <a:p>
            <a:pPr lvl="3"/>
            <a:r>
              <a:rPr lang="en-IN" dirty="0"/>
              <a:t>= 1 1 1 1 1 1 1 1. 1 1 1 1 1 1 1 1 .1 1 1 1 1 1 1 1. 1 1 1 1 0 0 0 0 </a:t>
            </a:r>
          </a:p>
          <a:p>
            <a:r>
              <a:rPr lang="en-US" dirty="0"/>
              <a:t>New subnet mask = 255.255.255.240</a:t>
            </a:r>
          </a:p>
          <a:p>
            <a:r>
              <a:rPr lang="en-US" dirty="0"/>
              <a:t>16 subnets, each subnet accommodates 16 hosts.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73829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Requirement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297424" cy="4351338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host, then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1:2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</a:t>
            </a:r>
            <a:r>
              <a:rPr lang="en-US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Hosts</a:t>
            </a:r>
            <a:endParaRPr 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 0s to 1s and compute new subnet mask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 getting separate subnets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2(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last possible network bit)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4: Allot IP addresses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745480" y="2035987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will tell us how many bits to retain(R2L) and how many to convert to 1's </a:t>
            </a:r>
          </a:p>
        </p:txBody>
      </p:sp>
      <p:sp>
        <p:nvSpPr>
          <p:cNvPr id="5" name="Rectangle 4"/>
          <p:cNvSpPr/>
          <p:nvPr/>
        </p:nvSpPr>
        <p:spPr>
          <a:xfrm>
            <a:off x="6236208" y="2682318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will get us the desired number of hosts with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number of subnets. </a:t>
            </a:r>
          </a:p>
        </p:txBody>
      </p:sp>
      <p:sp>
        <p:nvSpPr>
          <p:cNvPr id="6" name="Rectangle 5"/>
          <p:cNvSpPr/>
          <p:nvPr/>
        </p:nvSpPr>
        <p:spPr>
          <a:xfrm>
            <a:off x="6315075" y="4167011"/>
            <a:ext cx="42369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will give you the range for each subnet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67214" y="4868683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and last cannot be : first is subnet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last is broadcast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that subnet. 2nd-lastbutone are usable host addresses. 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10784" y="4920677"/>
            <a:ext cx="5843016" cy="866884"/>
          </a:xfrm>
          <a:prstGeom prst="roundRect">
            <a:avLst/>
          </a:prstGeom>
          <a:solidFill>
            <a:schemeClr val="accent1">
              <a:alpha val="2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ounded Rectangle 9"/>
          <p:cNvSpPr/>
          <p:nvPr/>
        </p:nvSpPr>
        <p:spPr>
          <a:xfrm>
            <a:off x="6315075" y="3969812"/>
            <a:ext cx="4333875" cy="687743"/>
          </a:xfrm>
          <a:prstGeom prst="roundRect">
            <a:avLst/>
          </a:prstGeom>
          <a:solidFill>
            <a:schemeClr val="accent1">
              <a:alpha val="2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ounded Rectangle 8"/>
          <p:cNvSpPr/>
          <p:nvPr/>
        </p:nvSpPr>
        <p:spPr>
          <a:xfrm>
            <a:off x="5940742" y="2766859"/>
            <a:ext cx="5146358" cy="646331"/>
          </a:xfrm>
          <a:prstGeom prst="roundRect">
            <a:avLst/>
          </a:prstGeom>
          <a:solidFill>
            <a:schemeClr val="accent1">
              <a:alpha val="2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ounded Rectangle 10"/>
          <p:cNvSpPr/>
          <p:nvPr/>
        </p:nvSpPr>
        <p:spPr>
          <a:xfrm>
            <a:off x="5745480" y="1786487"/>
            <a:ext cx="5950077" cy="870675"/>
          </a:xfrm>
          <a:prstGeom prst="roundRect">
            <a:avLst/>
          </a:prstGeom>
          <a:solidFill>
            <a:schemeClr val="accent1">
              <a:alpha val="2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3" name="Straight Arrow Connector 12"/>
          <p:cNvCxnSpPr>
            <a:endCxn id="11" idx="1"/>
          </p:cNvCxnSpPr>
          <p:nvPr/>
        </p:nvCxnSpPr>
        <p:spPr>
          <a:xfrm flipV="1">
            <a:off x="3265933" y="2221825"/>
            <a:ext cx="2479547" cy="79970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endCxn id="9" idx="1"/>
          </p:cNvCxnSpPr>
          <p:nvPr/>
        </p:nvCxnSpPr>
        <p:spPr>
          <a:xfrm flipV="1">
            <a:off x="4504699" y="3090025"/>
            <a:ext cx="1436043" cy="42780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V="1">
            <a:off x="5048250" y="4455535"/>
            <a:ext cx="1266825" cy="14060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4848225" y="5535386"/>
            <a:ext cx="720471" cy="4052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82437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Requirement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297424" cy="4351338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nwk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then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1:2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</a:t>
            </a:r>
            <a:r>
              <a:rPr lang="en-US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Nwks</a:t>
            </a:r>
            <a:endParaRPr 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 0s to 1s and compute new subnet mask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 getting separate subnets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2(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last possible network bit)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Allott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IP addresses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745480" y="1811643"/>
            <a:ext cx="5950077" cy="870675"/>
          </a:xfrm>
          <a:prstGeom prst="roundRect">
            <a:avLst/>
          </a:prstGeom>
          <a:solidFill>
            <a:schemeClr val="accent1">
              <a:alpha val="2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will tell us how many bits to give 0s to 1s (L2R) and how many to retain </a:t>
            </a:r>
          </a:p>
          <a:p>
            <a:pPr algn="ctr"/>
            <a:endParaRPr lang="en-IN" dirty="0"/>
          </a:p>
        </p:txBody>
      </p:sp>
      <p:cxnSp>
        <p:nvCxnSpPr>
          <p:cNvPr id="6" name="Straight Arrow Connector 5"/>
          <p:cNvCxnSpPr/>
          <p:nvPr/>
        </p:nvCxnSpPr>
        <p:spPr>
          <a:xfrm flipV="1">
            <a:off x="3547872" y="2221825"/>
            <a:ext cx="2197608" cy="74083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10195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6905625" cy="3898900"/>
          </a:xfrm>
        </p:spPr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service provider has given you the Class C network range 209.50.1.0. Your company must break the network into 20 separate subnets. </a:t>
            </a:r>
          </a:p>
          <a:p>
            <a:pPr marL="514350" indent="-514350"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service provider has given you the Class C network range 209.50.1.0. Your company must break the network into as many subnets as possible as long as there are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least 50 clients per network.</a:t>
            </a:r>
          </a:p>
          <a:p>
            <a:pPr marL="514350" indent="-514350">
              <a:buFont typeface="+mj-lt"/>
              <a:buAutoNum type="arabicPeriod"/>
            </a:pP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service provider has given you the Class C network range 209.50.1.0. Your company must break the network as shown below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1026" name="Picture 2" descr="vlsm-router-diagra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890" y="1925466"/>
            <a:ext cx="3737209" cy="2014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719762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865</Words>
  <Application>Microsoft Macintosh PowerPoint</Application>
  <PresentationFormat>Widescreen</PresentationFormat>
  <Paragraphs>87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ＭＳ Ｐゴシック</vt:lpstr>
      <vt:lpstr>Arial</vt:lpstr>
      <vt:lpstr>Calibri</vt:lpstr>
      <vt:lpstr>Calibri Light</vt:lpstr>
      <vt:lpstr>Times New Roman</vt:lpstr>
      <vt:lpstr>TimesNewRoman</vt:lpstr>
      <vt:lpstr>Wingdings</vt:lpstr>
      <vt:lpstr>Office Theme</vt:lpstr>
      <vt:lpstr>IT694 Computer Networks Week 8-Lec 2</vt:lpstr>
      <vt:lpstr>Mid-Sem I Mark distribution </vt:lpstr>
      <vt:lpstr>Network and Host IDs</vt:lpstr>
      <vt:lpstr>Subnet Mask</vt:lpstr>
      <vt:lpstr>PowerPoint Presentation</vt:lpstr>
      <vt:lpstr>Methods of allocating addresses? </vt:lpstr>
      <vt:lpstr>Subnetting Types</vt:lpstr>
      <vt:lpstr>PowerPoint Presentation</vt:lpstr>
      <vt:lpstr>PowerPoint Presentation</vt:lpstr>
      <vt:lpstr>Requirement</vt:lpstr>
      <vt:lpstr>Requirement</vt:lpstr>
      <vt:lpstr>Questions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8-Lec 1</dc:title>
  <dc:creator>Microsoft Office User</dc:creator>
  <cp:lastModifiedBy>Microsoft Office User</cp:lastModifiedBy>
  <cp:revision>10</cp:revision>
  <dcterms:created xsi:type="dcterms:W3CDTF">2023-09-15T08:13:59Z</dcterms:created>
  <dcterms:modified xsi:type="dcterms:W3CDTF">2025-03-21T03:27:38Z</dcterms:modified>
</cp:coreProperties>
</file>