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1229" r:id="rId3"/>
    <p:sldId id="1230" r:id="rId4"/>
    <p:sldId id="1352" r:id="rId5"/>
    <p:sldId id="1353" r:id="rId6"/>
    <p:sldId id="1354" r:id="rId7"/>
    <p:sldId id="1355" r:id="rId8"/>
    <p:sldId id="1356" r:id="rId9"/>
    <p:sldId id="1357" r:id="rId10"/>
    <p:sldId id="1358" r:id="rId11"/>
    <p:sldId id="1359" r:id="rId12"/>
    <p:sldId id="1300" r:id="rId13"/>
    <p:sldId id="1360" r:id="rId14"/>
    <p:sldId id="1361" r:id="rId15"/>
    <p:sldId id="1232" r:id="rId16"/>
    <p:sldId id="1233" r:id="rId17"/>
    <p:sldId id="1259" r:id="rId18"/>
    <p:sldId id="1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9"/>
    <p:restoredTop sz="96405"/>
  </p:normalViewPr>
  <p:slideViewPr>
    <p:cSldViewPr snapToGrid="0" snapToObjects="1">
      <p:cViewPr varScale="1">
        <p:scale>
          <a:sx n="133" d="100"/>
          <a:sy n="133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BBCD3-5713-8F44-AC5B-C9756323D685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25F3D-9EEC-CD45-9688-37C17582C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4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365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602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283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206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426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1436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837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314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5964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6437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966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9053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7633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63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441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201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693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7629-535D-1749-87E4-6B903C142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32BC8-22EC-964A-9CD4-53829132C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47227-94A9-B84A-B31B-D7C0684F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65063-F074-D349-A312-56ED75A16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CEEB1-AE4A-574B-8D8B-4DD280CC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6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922A1-1F7C-8642-A621-43E5AF19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DB06D-EC59-D646-B14F-A947D0423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6CBEC-AE90-974F-A2E0-46F78D1A3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CED5C-AE0E-F146-9E29-52A61E07D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25DFE-F5C5-CF4B-A00D-06486FFB7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2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6B1AD-8399-354F-9D71-EEA9319E5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6DF88-73F7-FC48-8637-7BE75E709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CB6-B2A1-E245-9B91-EE9281332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9F403-5642-E14F-9096-57B27EBA6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C87C4-3117-3940-ACF9-32314AD6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8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D8611-2354-F849-A8AE-F5701DA0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2C4EF-7BDB-D84F-97D7-53415BEAD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7040A-7A00-DE4F-A21F-543464C99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EF94D-4A2E-9544-8DFC-892DBB38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73571-9619-EE46-9007-C78049BD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F1F26-BC96-2341-9E02-B7AD68D0E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6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592F-EF5F-5A40-B5BE-F1E40AC4B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9CCCB-887B-6540-B69B-87358330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13B9E-E073-9446-8EEF-AE5B64D18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6740B-4A7D-0747-8319-EF8D9297D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6A32C8-8917-5546-9FC7-9F58B3FA28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C2D5EE-3FE1-2C43-B53D-F251C2A67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F4580-B5A3-2347-89B5-51E12C37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483F80-E1A0-1445-BD8F-7125900E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3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76AD-46DE-DA4C-9EB1-F26C20D8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AAB9B-526D-0947-AF8D-D0C38BAA9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83872-FCC6-CF44-BD75-BC540A50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5153C-E70E-6B41-B6C6-02BFA797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1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22184-4BAA-A94E-BAB0-04EC6BADB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3DA95-67A9-4148-896B-EC1D4607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A52BA-32FB-1E4A-B40E-A1DC3C9DF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56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BD8F-20B9-D348-BF96-200E22EA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7A4D8-CFCD-F547-8CC9-B5B00D29C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F32EF-34C9-264B-B17A-BC6660A55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84C8C-C842-6045-8EA6-14262767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4D4FE-B4DF-3C4B-BB01-92AFC4A5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A40-56A2-1149-9509-10657FC3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0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3C6B-4D7F-E44A-B0E9-3309BD8B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2BB138-4E5D-6B42-91BE-8BFD2A7BC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B78A8-C5CF-3B4A-BE8B-611550AAB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833E6-49D1-8B48-9906-5B982633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1FBDD-D27C-B643-B6FB-7E12675B3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50C7F-55A8-6D44-AD1D-6C9FAD3F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94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1D5C-E62D-D04C-AF91-F9AE4EE4C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F82C2-69B7-F64D-84AE-AE06CC1B4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DB36F-EB9E-8542-8371-F6139605A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B2BD2-2D8F-F445-9AED-6AE2A5D7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CDFB3-5BD2-DD49-8673-F76743AFB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2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207671-32C3-8E4C-8DE5-EEE3C49E92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FD5A3-021A-0C45-A710-966191B25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29ECE-E451-2E42-AC5C-305358F13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F8488-7479-4945-859E-64290E99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E4186-05BA-7A48-907E-E1AFD63E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34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A1C6C-7646-2844-9FA9-BD3CE0F29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DDFAA-6E1B-AA41-B151-D97002E6C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62B6D-FF9F-604A-9996-3C0EA2928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DCF13-1BCB-5E49-B243-CB3FD4A212A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F9CFE-6408-D945-863B-5DF98A8BE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067F6-AABC-BE42-AAE5-1BAD80FD4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0FABC-6750-AA41-B205-CA52C80A0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28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872D-9170-A541-8F32-893BFB8E68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IT694 Computer Networks</a:t>
            </a:r>
            <a:br>
              <a:rPr lang="en-US" sz="4400" dirty="0"/>
            </a:br>
            <a:r>
              <a:rPr lang="en-US" sz="4400" dirty="0"/>
              <a:t>Week11_Lec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73133-335E-404F-922A-DEA8E8C4EA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Link State Algorithm</a:t>
            </a:r>
          </a:p>
        </p:txBody>
      </p:sp>
    </p:spTree>
    <p:extLst>
      <p:ext uri="{BB962C8B-B14F-4D97-AF65-F5344CB8AC3E}">
        <p14:creationId xmlns:p14="http://schemas.microsoft.com/office/powerpoint/2010/main" val="276311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AE9CCC8F-9B64-9843-9FF6-322BE507C6B3}"/>
              </a:ext>
            </a:extLst>
          </p:cNvPr>
          <p:cNvSpPr txBox="1">
            <a:spLocks noChangeArrowheads="1"/>
          </p:cNvSpPr>
          <p:nvPr/>
        </p:nvSpPr>
        <p:spPr>
          <a:xfrm>
            <a:off x="750989" y="1541236"/>
            <a:ext cx="5708805" cy="4903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00A8"/>
                </a:solidFill>
                <a:latin typeface="+mj-lt"/>
              </a:rPr>
              <a:t>centralized: </a:t>
            </a:r>
            <a:r>
              <a:rPr lang="en-US" sz="2000" dirty="0">
                <a:latin typeface="+mj-lt"/>
              </a:rPr>
              <a:t>network topology, link costs known to </a:t>
            </a:r>
            <a:r>
              <a:rPr lang="en-US" sz="2000" i="1" dirty="0">
                <a:latin typeface="+mj-lt"/>
              </a:rPr>
              <a:t>all</a:t>
            </a:r>
            <a:r>
              <a:rPr lang="en-US" sz="2000" dirty="0">
                <a:latin typeface="+mj-lt"/>
              </a:rPr>
              <a:t> nodes</a:t>
            </a:r>
          </a:p>
          <a:p>
            <a:pPr lvl="1"/>
            <a:r>
              <a:rPr lang="en-US" sz="1800" dirty="0">
                <a:latin typeface="+mj-lt"/>
              </a:rPr>
              <a:t>accomplished via “</a:t>
            </a:r>
            <a:r>
              <a:rPr lang="en-US" altLang="ja-JP" sz="1800" dirty="0">
                <a:latin typeface="+mj-lt"/>
              </a:rPr>
              <a:t>link state broadcast” </a:t>
            </a:r>
          </a:p>
          <a:p>
            <a:pPr lvl="1"/>
            <a:r>
              <a:rPr lang="en-US" sz="1800" dirty="0">
                <a:latin typeface="+mj-lt"/>
              </a:rPr>
              <a:t>all nodes have same info</a:t>
            </a:r>
          </a:p>
          <a:p>
            <a:r>
              <a:rPr lang="en-US" sz="2000" dirty="0">
                <a:latin typeface="+mj-lt"/>
              </a:rPr>
              <a:t>computes least cost paths from one node (“</a:t>
            </a:r>
            <a:r>
              <a:rPr lang="en-US" altLang="ja-JP" sz="2000" dirty="0">
                <a:latin typeface="+mj-lt"/>
              </a:rPr>
              <a:t>source”) to all other nodes</a:t>
            </a:r>
          </a:p>
          <a:p>
            <a:pPr lvl="1"/>
            <a:r>
              <a:rPr lang="en-US" sz="1800" dirty="0">
                <a:latin typeface="+mj-lt"/>
              </a:rPr>
              <a:t>gives </a:t>
            </a:r>
            <a:r>
              <a:rPr lang="en-US" sz="1800" i="1" dirty="0">
                <a:solidFill>
                  <a:srgbClr val="000099"/>
                </a:solidFill>
                <a:latin typeface="+mj-lt"/>
              </a:rPr>
              <a:t>forwarding table</a:t>
            </a:r>
            <a:r>
              <a:rPr lang="en-US" sz="1800" dirty="0">
                <a:latin typeface="+mj-lt"/>
              </a:rPr>
              <a:t> for that node</a:t>
            </a:r>
          </a:p>
          <a:p>
            <a:r>
              <a:rPr lang="en-US" sz="2000" dirty="0">
                <a:solidFill>
                  <a:srgbClr val="0000A8"/>
                </a:solidFill>
                <a:latin typeface="+mj-lt"/>
              </a:rPr>
              <a:t>iterative: </a:t>
            </a:r>
            <a:r>
              <a:rPr lang="en-US" sz="2000" dirty="0">
                <a:latin typeface="+mj-lt"/>
              </a:rPr>
              <a:t>after </a:t>
            </a:r>
            <a:r>
              <a:rPr lang="en-US" sz="2000" i="1" dirty="0">
                <a:latin typeface="+mj-lt"/>
              </a:rPr>
              <a:t>k</a:t>
            </a:r>
            <a:r>
              <a:rPr lang="en-US" sz="2000" dirty="0">
                <a:latin typeface="+mj-lt"/>
              </a:rPr>
              <a:t> iterations, know least cost path to </a:t>
            </a:r>
            <a:r>
              <a:rPr lang="en-US" sz="2000" i="1" dirty="0">
                <a:latin typeface="+mj-lt"/>
              </a:rPr>
              <a:t>k </a:t>
            </a:r>
            <a:r>
              <a:rPr lang="en-US" sz="2000" dirty="0">
                <a:latin typeface="+mj-lt"/>
              </a:rPr>
              <a:t>destinations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E67AF1-7D2F-A84A-A994-30B5519FB522}"/>
              </a:ext>
            </a:extLst>
          </p:cNvPr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D11D1E9D-A4E0-2D4D-8EB8-EB3C738C05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  <a:latin typeface="+mj-lt"/>
                </a:rPr>
                <a:t>c</a:t>
              </a:r>
              <a:r>
                <a:rPr lang="en-US" i="1" baseline="-25000" dirty="0">
                  <a:solidFill>
                    <a:srgbClr val="000099"/>
                  </a:solidFill>
                  <a:latin typeface="+mj-lt"/>
                </a:rPr>
                <a:t>x,y</a:t>
              </a:r>
              <a:r>
                <a:rPr lang="en-US" i="1" dirty="0">
                  <a:solidFill>
                    <a:srgbClr val="000099"/>
                  </a:solidFill>
                  <a:latin typeface="+mj-lt"/>
                </a:rPr>
                <a:t>:</a:t>
              </a:r>
              <a:r>
                <a:rPr lang="en-US" sz="2400" i="1" dirty="0">
                  <a:latin typeface="+mj-lt"/>
                </a:rPr>
                <a:t> </a:t>
              </a:r>
              <a:r>
                <a:rPr lang="en-US" sz="2400" u="sng" dirty="0">
                  <a:latin typeface="+mj-lt"/>
                </a:rPr>
                <a:t>direct</a:t>
              </a:r>
              <a:r>
                <a:rPr lang="en-US" sz="2400" dirty="0">
                  <a:latin typeface="+mj-lt"/>
                </a:rPr>
                <a:t> link cost from node </a:t>
              </a:r>
              <a:r>
                <a:rPr lang="en-US" sz="2400" i="1" dirty="0">
                  <a:latin typeface="+mj-lt"/>
                </a:rPr>
                <a:t>x</a:t>
              </a:r>
              <a:r>
                <a:rPr lang="en-US" sz="2400" dirty="0">
                  <a:latin typeface="+mj-lt"/>
                </a:rPr>
                <a:t> to </a:t>
              </a:r>
              <a:r>
                <a:rPr lang="en-US" sz="2400" i="1" dirty="0">
                  <a:latin typeface="+mj-lt"/>
                </a:rPr>
                <a:t>y</a:t>
              </a:r>
              <a:r>
                <a:rPr lang="en-US" sz="2400" dirty="0">
                  <a:latin typeface="+mj-lt"/>
                </a:rPr>
                <a:t>;  = ∞ if not direct </a:t>
              </a:r>
              <a:r>
                <a:rPr lang="en-US" sz="2000" dirty="0">
                  <a:latin typeface="+mj-lt"/>
                </a:rPr>
                <a:t>neighbors</a:t>
              </a:r>
              <a:endParaRPr lang="en-US" sz="2400" dirty="0">
                <a:latin typeface="+mj-lt"/>
              </a:endParaRP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  <a:latin typeface="+mj-lt"/>
                </a:rPr>
                <a:t>D(v):</a:t>
              </a:r>
              <a:r>
                <a:rPr lang="en-US" sz="2400" i="1" dirty="0">
                  <a:latin typeface="+mj-lt"/>
                </a:rPr>
                <a:t> current</a:t>
              </a:r>
              <a:r>
                <a:rPr lang="en-US" sz="2400" dirty="0">
                  <a:latin typeface="+mj-lt"/>
                </a:rPr>
                <a:t> estimate of cost of least-cost-path from source to destination </a:t>
              </a:r>
              <a:r>
                <a:rPr lang="en-US" sz="2400" i="1" dirty="0">
                  <a:latin typeface="+mj-lt"/>
                </a:rPr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  <a:latin typeface="+mj-lt"/>
                </a:rPr>
                <a:t>p(v):</a:t>
              </a:r>
              <a:r>
                <a:rPr lang="en-US" sz="2400" i="1" dirty="0">
                  <a:latin typeface="+mj-lt"/>
                </a:rPr>
                <a:t> </a:t>
              </a:r>
              <a:r>
                <a:rPr lang="en-US" sz="2400" dirty="0">
                  <a:latin typeface="+mj-lt"/>
                </a:rPr>
                <a:t>predecessor node along path from source to </a:t>
              </a:r>
              <a:r>
                <a:rPr lang="en-US" sz="2400" i="1" dirty="0">
                  <a:latin typeface="+mj-lt"/>
                </a:rPr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  <a:latin typeface="+mj-lt"/>
                </a:rPr>
                <a:t>N</a:t>
              </a:r>
              <a:r>
                <a:rPr lang="en-US" i="1" dirty="0">
                  <a:solidFill>
                    <a:srgbClr val="000099"/>
                  </a:solidFill>
                  <a:latin typeface="+mj-lt"/>
                  <a:cs typeface="Arial" charset="0"/>
                </a:rPr>
                <a:t>'</a:t>
              </a:r>
              <a:r>
                <a:rPr lang="en-US" i="1" dirty="0">
                  <a:solidFill>
                    <a:srgbClr val="000099"/>
                  </a:solidFill>
                  <a:latin typeface="+mj-lt"/>
                </a:rPr>
                <a:t>:</a:t>
              </a:r>
              <a:r>
                <a:rPr lang="en-US" sz="2400" i="1" dirty="0">
                  <a:latin typeface="+mj-lt"/>
                </a:rPr>
                <a:t> </a:t>
              </a:r>
              <a:r>
                <a:rPr lang="en-US" sz="2400" dirty="0">
                  <a:latin typeface="+mj-lt"/>
                </a:rPr>
                <a:t>set of nodes whose least-cost-path </a:t>
              </a:r>
              <a:r>
                <a:rPr lang="en-US" sz="2400" i="1" dirty="0">
                  <a:latin typeface="+mj-lt"/>
                </a:rPr>
                <a:t>definitively</a:t>
              </a:r>
              <a:r>
                <a:rPr lang="en-US" sz="2400" dirty="0">
                  <a:latin typeface="+mj-lt"/>
                </a:rPr>
                <a:t> known</a:t>
              </a:r>
            </a:p>
            <a:p>
              <a:pPr>
                <a:lnSpc>
                  <a:spcPct val="75000"/>
                </a:lnSpc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75BF574-1695-D54B-8932-9F284CCA9BE5}"/>
                </a:ext>
              </a:extLst>
            </p:cNvPr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AE01A3-6135-9744-BC6A-3A4D19D0FA06}"/>
                </a:ext>
              </a:extLst>
            </p:cNvPr>
            <p:cNvSpPr txBox="1"/>
            <p:nvPr/>
          </p:nvSpPr>
          <p:spPr>
            <a:xfrm>
              <a:off x="7823199" y="1524000"/>
              <a:ext cx="1359668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C00000"/>
                  </a:solidFill>
                  <a:latin typeface="+mj-lt"/>
                </a:rPr>
                <a:t>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127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D1BF78F-2764-A548-ABF1-4B1E42A705DA}"/>
              </a:ext>
            </a:extLst>
          </p:cNvPr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D7BEC2C-0D8F-4B40-94FB-EBBC0F3C072B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5DE2F2-C2A0-5A4A-BDC1-ACDB6130E0FD}"/>
                </a:ext>
              </a:extLst>
            </p:cNvPr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99703E9-6EB8-4942-9B41-791473B66075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/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60F75D-37CB-A045-9AC4-50629DAD8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2" y="1225689"/>
            <a:ext cx="9799235" cy="266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latin typeface="+mj-lt"/>
              </a:rPr>
              <a:t>1  </a:t>
            </a:r>
            <a:r>
              <a:rPr lang="en-US" i="1" dirty="0">
                <a:solidFill>
                  <a:srgbClr val="0000A8"/>
                </a:solidFill>
                <a:latin typeface="+mj-lt"/>
              </a:rPr>
              <a:t>Initialization:</a:t>
            </a:r>
            <a:r>
              <a:rPr lang="en-US" dirty="0">
                <a:solidFill>
                  <a:srgbClr val="0000A8"/>
                </a:solidFill>
                <a:latin typeface="+mj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j-lt"/>
              </a:rPr>
              <a:t>2   </a:t>
            </a:r>
            <a:r>
              <a:rPr lang="en-US" i="1" dirty="0">
                <a:latin typeface="+mj-lt"/>
              </a:rPr>
              <a:t> N</a:t>
            </a:r>
            <a:r>
              <a:rPr lang="en-US" i="1" dirty="0">
                <a:latin typeface="+mj-lt"/>
                <a:cs typeface="Arial" charset="0"/>
              </a:rPr>
              <a:t>'</a:t>
            </a:r>
            <a:r>
              <a:rPr lang="en-US" i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= {</a:t>
            </a:r>
            <a:r>
              <a:rPr lang="en-US" i="1" dirty="0">
                <a:latin typeface="+mj-lt"/>
              </a:rPr>
              <a:t>u</a:t>
            </a:r>
            <a:r>
              <a:rPr lang="en-US" dirty="0">
                <a:latin typeface="+mj-lt"/>
              </a:rPr>
              <a:t>}                               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/* compute </a:t>
            </a:r>
            <a:r>
              <a:rPr lang="en-US" sz="1600" dirty="0">
                <a:latin typeface="+mj-lt"/>
              </a:rPr>
              <a:t>least cost path from u </a:t>
            </a:r>
            <a:r>
              <a:rPr lang="en-US" altLang="ja-JP" sz="1600" dirty="0">
                <a:latin typeface="+mj-lt"/>
              </a:rPr>
              <a:t>to all other nodes */</a:t>
            </a:r>
            <a:endParaRPr lang="en-US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j-lt"/>
              </a:rPr>
              <a:t>3    for all nodes </a:t>
            </a:r>
            <a:r>
              <a:rPr lang="en-US" i="1" dirty="0">
                <a:latin typeface="+mj-lt"/>
              </a:rPr>
              <a:t>v</a:t>
            </a:r>
            <a:r>
              <a:rPr lang="en-US" dirty="0">
                <a:latin typeface="+mj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j-lt"/>
              </a:rPr>
              <a:t>4      if </a:t>
            </a:r>
            <a:r>
              <a:rPr lang="en-US" i="1" dirty="0">
                <a:latin typeface="+mj-lt"/>
              </a:rPr>
              <a:t>v</a:t>
            </a:r>
            <a:r>
              <a:rPr lang="en-US" dirty="0">
                <a:latin typeface="+mj-lt"/>
              </a:rPr>
              <a:t> adjacent to </a:t>
            </a:r>
            <a:r>
              <a:rPr lang="en-US" i="1" dirty="0">
                <a:latin typeface="+mj-lt"/>
              </a:rPr>
              <a:t>u</a:t>
            </a:r>
            <a:r>
              <a:rPr lang="en-US" dirty="0">
                <a:latin typeface="+mj-lt"/>
              </a:rPr>
              <a:t>            </a:t>
            </a:r>
            <a:r>
              <a:rPr lang="en-US" sz="1800" dirty="0">
                <a:latin typeface="+mj-lt"/>
              </a:rPr>
              <a:t>/* </a:t>
            </a:r>
            <a:r>
              <a:rPr lang="en-US" sz="1800" i="1" dirty="0">
                <a:latin typeface="+mj-lt"/>
              </a:rPr>
              <a:t>u </a:t>
            </a:r>
            <a:r>
              <a:rPr lang="en-US" sz="1800" dirty="0">
                <a:latin typeface="+mj-lt"/>
              </a:rPr>
              <a:t>initially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dirty="0">
                <a:latin typeface="+mj-lt"/>
              </a:rPr>
              <a:t>knows direct-path-cost only to  direct neighbors    */</a:t>
            </a:r>
            <a:endParaRPr lang="en-US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j-lt"/>
              </a:rPr>
              <a:t>5          then </a:t>
            </a:r>
            <a:r>
              <a:rPr lang="en-US" i="1" dirty="0">
                <a:latin typeface="+mj-lt"/>
              </a:rPr>
              <a:t>D(v) = c</a:t>
            </a:r>
            <a:r>
              <a:rPr lang="en-US" i="1" baseline="-25000" dirty="0">
                <a:latin typeface="+mj-lt"/>
              </a:rPr>
              <a:t>u,v      </a:t>
            </a:r>
            <a:r>
              <a:rPr lang="en-US" sz="1800" baseline="-25000" dirty="0">
                <a:latin typeface="+mj-lt"/>
              </a:rPr>
              <a:t>             </a:t>
            </a:r>
            <a:r>
              <a:rPr lang="en-US" sz="1800" dirty="0">
                <a:latin typeface="+mj-lt"/>
              </a:rPr>
              <a:t>/* but may not be </a:t>
            </a:r>
            <a:r>
              <a:rPr lang="en-US" sz="1800" i="1" dirty="0">
                <a:latin typeface="+mj-lt"/>
              </a:rPr>
              <a:t>minimum</a:t>
            </a:r>
            <a:r>
              <a:rPr lang="en-US" sz="1800" dirty="0">
                <a:latin typeface="+mj-lt"/>
              </a:rPr>
              <a:t> cost!                                                    */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j-lt"/>
              </a:rPr>
              <a:t>6      else </a:t>
            </a:r>
            <a:r>
              <a:rPr lang="en-US" i="1" dirty="0">
                <a:latin typeface="+mj-lt"/>
              </a:rPr>
              <a:t>D(v) </a:t>
            </a:r>
            <a:r>
              <a:rPr lang="en-US" dirty="0">
                <a:latin typeface="+mj-lt"/>
              </a:rPr>
              <a:t>= </a:t>
            </a:r>
            <a:r>
              <a:rPr lang="en-US" dirty="0">
                <a:latin typeface="+mj-lt"/>
                <a:cs typeface="Arial" charset="0"/>
              </a:rPr>
              <a:t>∞</a:t>
            </a:r>
            <a:r>
              <a:rPr lang="en-US" dirty="0">
                <a:latin typeface="+mj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j-lt"/>
              </a:rPr>
              <a:t>7 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E6A5B365-6E84-8F48-A98B-CE54B371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184" y="3194942"/>
            <a:ext cx="314541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j-lt"/>
            </a:endParaRPr>
          </a:p>
          <a:p>
            <a:r>
              <a:rPr lang="en-US" dirty="0">
                <a:solidFill>
                  <a:srgbClr val="0000A8"/>
                </a:solidFill>
                <a:latin typeface="+mj-lt"/>
              </a:rPr>
              <a:t>8   </a:t>
            </a:r>
            <a:r>
              <a:rPr lang="en-US" i="1" dirty="0">
                <a:solidFill>
                  <a:srgbClr val="0000A8"/>
                </a:solidFill>
                <a:latin typeface="+mj-lt"/>
              </a:rPr>
              <a:t>Loop </a:t>
            </a:r>
            <a:endParaRPr lang="en-US" dirty="0">
              <a:solidFill>
                <a:srgbClr val="0000A8"/>
              </a:solidFill>
              <a:latin typeface="+mj-lt"/>
            </a:endParaRPr>
          </a:p>
          <a:p>
            <a:r>
              <a:rPr lang="en-US" dirty="0">
                <a:latin typeface="+mj-lt"/>
              </a:rPr>
              <a:t>9     </a:t>
            </a:r>
          </a:p>
          <a:p>
            <a:r>
              <a:rPr lang="en-US" dirty="0">
                <a:latin typeface="+mj-lt"/>
              </a:rPr>
              <a:t>10    </a:t>
            </a:r>
          </a:p>
          <a:p>
            <a:r>
              <a:rPr lang="en-US" dirty="0">
                <a:latin typeface="+mj-lt"/>
              </a:rPr>
              <a:t>11</a:t>
            </a:r>
          </a:p>
          <a:p>
            <a:r>
              <a:rPr lang="en-US" dirty="0">
                <a:latin typeface="+mj-lt"/>
              </a:rPr>
              <a:t>12</a:t>
            </a:r>
            <a:endParaRPr lang="en-US" b="1" dirty="0">
              <a:solidFill>
                <a:srgbClr val="CC0000"/>
              </a:solidFill>
              <a:latin typeface="+mj-lt"/>
            </a:endParaRPr>
          </a:p>
          <a:p>
            <a:r>
              <a:rPr lang="en-US" dirty="0">
                <a:latin typeface="+mj-lt"/>
              </a:rPr>
              <a:t>13</a:t>
            </a:r>
          </a:p>
          <a:p>
            <a:r>
              <a:rPr lang="en-US" dirty="0">
                <a:latin typeface="+mj-lt"/>
              </a:rPr>
              <a:t>14</a:t>
            </a:r>
          </a:p>
          <a:p>
            <a:r>
              <a:rPr lang="en-US" b="1" dirty="0">
                <a:solidFill>
                  <a:srgbClr val="0000A8"/>
                </a:solidFill>
                <a:latin typeface="+mj-lt"/>
              </a:rPr>
              <a:t>15  </a:t>
            </a:r>
            <a:r>
              <a:rPr lang="en-US" i="1" dirty="0">
                <a:solidFill>
                  <a:srgbClr val="0000A8"/>
                </a:solidFill>
                <a:latin typeface="+mj-lt"/>
              </a:rPr>
              <a:t>until all nodes in N</a:t>
            </a:r>
            <a:r>
              <a:rPr lang="en-US" i="1" dirty="0">
                <a:solidFill>
                  <a:srgbClr val="0000A8"/>
                </a:solidFill>
                <a:latin typeface="+mj-lt"/>
                <a:cs typeface="Arial" charset="0"/>
              </a:rPr>
              <a:t>'</a:t>
            </a:r>
            <a:r>
              <a:rPr lang="en-US" dirty="0">
                <a:solidFill>
                  <a:srgbClr val="0000A8"/>
                </a:solidFill>
                <a:latin typeface="+mj-lt"/>
              </a:rPr>
              <a:t> 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C3FDD5E0-11CC-FC44-8118-718358E5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find </a:t>
            </a:r>
            <a:r>
              <a:rPr lang="en-US" i="1" dirty="0">
                <a:latin typeface="+mj-lt"/>
              </a:rPr>
              <a:t>w</a:t>
            </a:r>
            <a:r>
              <a:rPr lang="en-US" dirty="0">
                <a:latin typeface="+mj-lt"/>
              </a:rPr>
              <a:t> not in </a:t>
            </a:r>
            <a:r>
              <a:rPr lang="en-US" i="1" dirty="0">
                <a:latin typeface="+mj-lt"/>
              </a:rPr>
              <a:t>N</a:t>
            </a:r>
            <a:r>
              <a:rPr lang="en-US" i="1" dirty="0">
                <a:latin typeface="+mj-lt"/>
                <a:cs typeface="Arial" charset="0"/>
              </a:rPr>
              <a:t>'</a:t>
            </a:r>
            <a:r>
              <a:rPr lang="en-US" i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such that </a:t>
            </a:r>
            <a:r>
              <a:rPr lang="en-US" i="1" dirty="0">
                <a:latin typeface="+mj-lt"/>
              </a:rPr>
              <a:t>D(w) </a:t>
            </a:r>
            <a:r>
              <a:rPr lang="en-US" dirty="0">
                <a:latin typeface="+mj-lt"/>
              </a:rPr>
              <a:t>is a minimum </a:t>
            </a:r>
          </a:p>
          <a:p>
            <a:r>
              <a:rPr lang="en-US" dirty="0">
                <a:latin typeface="+mj-lt"/>
              </a:rPr>
              <a:t>add </a:t>
            </a:r>
            <a:r>
              <a:rPr lang="en-US" i="1" dirty="0">
                <a:latin typeface="+mj-lt"/>
              </a:rPr>
              <a:t>w</a:t>
            </a:r>
            <a:r>
              <a:rPr lang="en-US" dirty="0">
                <a:latin typeface="+mj-lt"/>
              </a:rPr>
              <a:t> to </a:t>
            </a:r>
            <a:r>
              <a:rPr lang="en-US" i="1" dirty="0">
                <a:latin typeface="+mj-lt"/>
              </a:rPr>
              <a:t>N</a:t>
            </a:r>
            <a:r>
              <a:rPr lang="en-US" i="1" dirty="0">
                <a:latin typeface="+mj-lt"/>
                <a:cs typeface="Arial" charset="0"/>
              </a:rPr>
              <a:t>'</a:t>
            </a:r>
            <a:r>
              <a:rPr lang="en-US" i="1" dirty="0">
                <a:latin typeface="+mj-lt"/>
              </a:rPr>
              <a:t> </a:t>
            </a:r>
          </a:p>
          <a:p>
            <a:r>
              <a:rPr lang="en-US" dirty="0">
                <a:latin typeface="+mj-lt"/>
              </a:rPr>
              <a:t>update </a:t>
            </a:r>
            <a:r>
              <a:rPr lang="en-US" i="1" dirty="0">
                <a:latin typeface="+mj-lt"/>
              </a:rPr>
              <a:t>D(v) </a:t>
            </a:r>
            <a:r>
              <a:rPr lang="en-US" dirty="0">
                <a:latin typeface="+mj-lt"/>
              </a:rPr>
              <a:t>for all</a:t>
            </a:r>
            <a:r>
              <a:rPr lang="en-US" i="1" dirty="0">
                <a:latin typeface="+mj-lt"/>
              </a:rPr>
              <a:t> v </a:t>
            </a:r>
            <a:r>
              <a:rPr lang="en-US" dirty="0">
                <a:latin typeface="+mj-lt"/>
              </a:rPr>
              <a:t>adjacent to </a:t>
            </a:r>
            <a:r>
              <a:rPr lang="en-US" i="1" dirty="0">
                <a:latin typeface="+mj-lt"/>
              </a:rPr>
              <a:t>w</a:t>
            </a:r>
            <a:r>
              <a:rPr lang="en-US" dirty="0">
                <a:latin typeface="+mj-lt"/>
              </a:rPr>
              <a:t> and not in </a:t>
            </a:r>
            <a:r>
              <a:rPr lang="en-US" i="1" dirty="0">
                <a:latin typeface="+mj-lt"/>
              </a:rPr>
              <a:t>N</a:t>
            </a:r>
            <a:r>
              <a:rPr lang="en-US" i="1" dirty="0">
                <a:latin typeface="+mj-lt"/>
                <a:cs typeface="Arial" charset="0"/>
              </a:rPr>
              <a:t>'</a:t>
            </a:r>
            <a:r>
              <a:rPr lang="en-US" i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: </a:t>
            </a:r>
          </a:p>
          <a:p>
            <a:r>
              <a:rPr lang="en-US" b="1" i="1" dirty="0">
                <a:solidFill>
                  <a:srgbClr val="CC0000"/>
                </a:solidFill>
                <a:latin typeface="+mj-lt"/>
              </a:rPr>
              <a:t>     D(v) = </a:t>
            </a:r>
            <a:r>
              <a:rPr lang="en-US" b="1" dirty="0">
                <a:solidFill>
                  <a:srgbClr val="CC0000"/>
                </a:solidFill>
                <a:latin typeface="+mj-lt"/>
              </a:rPr>
              <a:t>min</a:t>
            </a:r>
            <a:r>
              <a:rPr lang="en-US" b="1" i="1" dirty="0">
                <a:solidFill>
                  <a:srgbClr val="CC0000"/>
                </a:solidFill>
                <a:latin typeface="+mj-lt"/>
              </a:rPr>
              <a:t> </a:t>
            </a:r>
            <a:r>
              <a:rPr lang="en-US" b="1" dirty="0">
                <a:solidFill>
                  <a:srgbClr val="CC0000"/>
                </a:solidFill>
                <a:latin typeface="+mj-lt"/>
              </a:rPr>
              <a:t>( </a:t>
            </a:r>
            <a:r>
              <a:rPr lang="en-US" b="1" i="1" dirty="0">
                <a:solidFill>
                  <a:srgbClr val="CC0000"/>
                </a:solidFill>
                <a:latin typeface="+mj-lt"/>
              </a:rPr>
              <a:t>D(v),  D(w) + c</a:t>
            </a:r>
            <a:r>
              <a:rPr lang="en-US" b="1" i="1" baseline="-25000" dirty="0">
                <a:solidFill>
                  <a:srgbClr val="CC0000"/>
                </a:solidFill>
                <a:latin typeface="+mj-lt"/>
              </a:rPr>
              <a:t>w,v  </a:t>
            </a:r>
            <a:r>
              <a:rPr lang="en-US" b="1" dirty="0">
                <a:solidFill>
                  <a:srgbClr val="CC0000"/>
                </a:solidFill>
                <a:latin typeface="+mj-lt"/>
              </a:rPr>
              <a:t>)</a:t>
            </a:r>
            <a:r>
              <a:rPr lang="en-US" b="1" i="1" dirty="0">
                <a:solidFill>
                  <a:srgbClr val="CC0000"/>
                </a:solidFill>
                <a:latin typeface="+mj-lt"/>
              </a:rPr>
              <a:t>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j-lt"/>
              </a:rPr>
              <a:t>/* new least-path-cost to </a:t>
            </a:r>
            <a:r>
              <a:rPr lang="en-US" sz="2000" i="1" dirty="0">
                <a:latin typeface="+mj-lt"/>
              </a:rPr>
              <a:t>v </a:t>
            </a:r>
            <a:r>
              <a:rPr lang="en-US" sz="2000" dirty="0">
                <a:latin typeface="+mj-lt"/>
              </a:rPr>
              <a:t>is either old least-cost-path to</a:t>
            </a:r>
            <a:r>
              <a:rPr lang="en-US" sz="2000" i="1" dirty="0">
                <a:latin typeface="+mj-lt"/>
              </a:rPr>
              <a:t> v </a:t>
            </a:r>
            <a:r>
              <a:rPr lang="en-US" sz="2000" dirty="0">
                <a:latin typeface="+mj-lt"/>
              </a:rPr>
              <a:t>or known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j-lt"/>
              </a:rPr>
              <a:t>least-cost-path to </a:t>
            </a:r>
            <a:r>
              <a:rPr lang="en-US" sz="2000" i="1" dirty="0">
                <a:latin typeface="+mj-lt"/>
              </a:rPr>
              <a:t>w</a:t>
            </a:r>
            <a:r>
              <a:rPr lang="en-US" sz="2000" dirty="0">
                <a:latin typeface="+mj-lt"/>
              </a:rPr>
              <a:t> plus direct-cost from </a:t>
            </a:r>
            <a:r>
              <a:rPr lang="en-US" sz="2000" i="1" dirty="0">
                <a:latin typeface="+mj-lt"/>
              </a:rPr>
              <a:t>w</a:t>
            </a:r>
            <a:r>
              <a:rPr lang="en-US" sz="2000" dirty="0">
                <a:latin typeface="+mj-lt"/>
              </a:rPr>
              <a:t> to </a:t>
            </a:r>
            <a:r>
              <a:rPr lang="en-US" sz="2000" i="1" dirty="0">
                <a:latin typeface="+mj-lt"/>
              </a:rPr>
              <a:t>v</a:t>
            </a:r>
            <a:r>
              <a:rPr lang="en-US" sz="2000" dirty="0">
                <a:latin typeface="+mj-lt"/>
              </a:rPr>
              <a:t> */ </a:t>
            </a:r>
          </a:p>
        </p:txBody>
      </p:sp>
    </p:spTree>
    <p:extLst>
      <p:ext uri="{BB962C8B-B14F-4D97-AF65-F5344CB8AC3E}">
        <p14:creationId xmlns:p14="http://schemas.microsoft.com/office/powerpoint/2010/main" val="50755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C637-11FC-0A49-8C82-7AF7D38C6CD6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C80ECA4-7464-CB40-8CC6-A7EDC7E7964C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052726D-C214-914F-AE65-3CE2B48F9FD7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B04DCE1-2FE2-A84B-8E64-4C946D2739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9A4E2888-3BE6-BB46-8B3E-D324D269A9FF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2B11F0-0B2B-E548-A572-A488F5822281}"/>
              </a:ext>
            </a:extLst>
          </p:cNvPr>
          <p:cNvSpPr/>
          <p:nvPr/>
        </p:nvSpPr>
        <p:spPr>
          <a:xfrm>
            <a:off x="4413452" y="4056991"/>
            <a:ext cx="616508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Initialization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(step 0):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For all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adjacent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D(a) = c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u,a 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42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60C12B-CA9D-6543-A68D-C936C6CE5E54}"/>
              </a:ext>
            </a:extLst>
          </p:cNvPr>
          <p:cNvGrpSpPr/>
          <p:nvPr/>
        </p:nvGrpSpPr>
        <p:grpSpPr>
          <a:xfrm>
            <a:off x="3119488" y="1277257"/>
            <a:ext cx="4176312" cy="1355408"/>
            <a:chOff x="3119488" y="1277257"/>
            <a:chExt cx="4176312" cy="1355408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0BB51FE9-3B2A-5947-8D58-8E568A2FD108}"/>
                </a:ext>
              </a:extLst>
            </p:cNvPr>
            <p:cNvSpPr/>
            <p:nvPr/>
          </p:nvSpPr>
          <p:spPr>
            <a:xfrm>
              <a:off x="6845203" y="1277257"/>
              <a:ext cx="450597" cy="40266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0BAB8D84-2299-D54C-8DF2-B7D547E53934}"/>
                </a:ext>
              </a:extLst>
            </p:cNvPr>
            <p:cNvCxnSpPr>
              <a:cxnSpLocks/>
              <a:stCxn id="169" idx="2"/>
              <a:endCxn id="171" idx="6"/>
            </p:cNvCxnSpPr>
            <p:nvPr/>
          </p:nvCxnSpPr>
          <p:spPr>
            <a:xfrm flipH="1">
              <a:off x="3421705" y="1478590"/>
              <a:ext cx="3423498" cy="1006309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336CD7A6-BFF0-864F-A9C0-5C593F3F14CE}"/>
                </a:ext>
              </a:extLst>
            </p:cNvPr>
            <p:cNvSpPr/>
            <p:nvPr/>
          </p:nvSpPr>
          <p:spPr>
            <a:xfrm>
              <a:off x="3119488" y="2337133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26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FE3D221-D37B-6E43-BD5C-9D85D700EE88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523ACA7E-7391-D44A-806F-75B7293D7DA7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53749D51-CECB-9D44-B018-F266EF41FC5F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449FB44A-FC51-6244-B19F-B77DE67800AB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 Box 3">
            <a:extLst>
              <a:ext uri="{FF2B5EF4-FFF2-40B4-BE49-F238E27FC236}">
                <a16:creationId xmlns:a16="http://schemas.microsoft.com/office/drawing/2014/main" id="{54D4CD9F-2B44-4E41-8C1C-698D78A39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4FE5F7E-81B8-0042-A839-1B9EEAE596EE}"/>
              </a:ext>
            </a:extLst>
          </p:cNvPr>
          <p:cNvGrpSpPr/>
          <p:nvPr/>
        </p:nvGrpSpPr>
        <p:grpSpPr>
          <a:xfrm>
            <a:off x="6514034" y="5634994"/>
            <a:ext cx="5187639" cy="1034693"/>
            <a:chOff x="4625273" y="5620004"/>
            <a:chExt cx="5187639" cy="103469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EFA9DB6-36A1-8443-BC46-7E2E5C2CA3C9}"/>
                </a:ext>
              </a:extLst>
            </p:cNvPr>
            <p:cNvSpPr/>
            <p:nvPr/>
          </p:nvSpPr>
          <p:spPr>
            <a:xfrm>
              <a:off x="4661941" y="5696262"/>
              <a:ext cx="5066675" cy="9293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Text Box 3">
              <a:extLst>
                <a:ext uri="{FF2B5EF4-FFF2-40B4-BE49-F238E27FC236}">
                  <a16:creationId xmlns:a16="http://schemas.microsoft.com/office/drawing/2014/main" id="{350582EB-9CCF-9849-A56A-C61F6B12D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49471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D(v) = min ( D(v),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x,v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min(2, 1+2) = 2 </a:t>
              </a:r>
            </a:p>
          </p:txBody>
        </p:sp>
        <p:sp>
          <p:nvSpPr>
            <p:cNvPr id="165" name="Text Box 3">
              <a:extLst>
                <a:ext uri="{FF2B5EF4-FFF2-40B4-BE49-F238E27FC236}">
                  <a16:creationId xmlns:a16="http://schemas.microsoft.com/office/drawing/2014/main" id="{6D23D369-4A04-F94C-80EB-D2103B646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(5, 1+3) = 4 </a:t>
              </a:r>
            </a:p>
          </p:txBody>
        </p:sp>
        <p:sp>
          <p:nvSpPr>
            <p:cNvPr id="166" name="Text Box 3">
              <a:extLst>
                <a:ext uri="{FF2B5EF4-FFF2-40B4-BE49-F238E27FC236}">
                  <a16:creationId xmlns:a16="http://schemas.microsoft.com/office/drawing/2014/main" id="{9A053085-7294-F842-BE4A-5164EBA43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721" y="6254587"/>
              <a:ext cx="50777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D(y) = min ( D(y),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x,y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min(inf,1+1) = 2 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1D4041-E2D0-984B-A342-59B7AC5550DB}"/>
              </a:ext>
            </a:extLst>
          </p:cNvPr>
          <p:cNvGrpSpPr/>
          <p:nvPr/>
        </p:nvGrpSpPr>
        <p:grpSpPr>
          <a:xfrm>
            <a:off x="11325192" y="5891134"/>
            <a:ext cx="706683" cy="802632"/>
            <a:chOff x="11325192" y="5891134"/>
            <a:chExt cx="706683" cy="802632"/>
          </a:xfrm>
        </p:grpSpPr>
        <p:pic>
          <p:nvPicPr>
            <p:cNvPr id="8" name="Picture 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A37D52F4-FDE5-2845-8949-5A1C24B98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</p:spPr>
        </p:pic>
        <p:pic>
          <p:nvPicPr>
            <p:cNvPr id="168" name="Picture 16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CE04A19A-A505-8C4A-BBEB-B8773FACE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687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 Box 9">
            <a:extLst>
              <a:ext uri="{FF2B5EF4-FFF2-40B4-BE49-F238E27FC236}">
                <a16:creationId xmlns:a16="http://schemas.microsoft.com/office/drawing/2014/main" id="{65B395D1-ACAF-AB4A-A53B-728973E1F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4285" y="2301914"/>
            <a:ext cx="3786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charset="0"/>
                <a:ea typeface="ＭＳ Ｐゴシック" charset="0"/>
              </a:rPr>
              <a:t>∞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1" name="Text Box 8">
            <a:extLst>
              <a:ext uri="{FF2B5EF4-FFF2-40B4-BE49-F238E27FC236}">
                <a16:creationId xmlns:a16="http://schemas.microsoft.com/office/drawing/2014/main" id="{C4F3D1DE-8C63-AD4B-B1C0-FE339DA1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6722" y="2260378"/>
            <a:ext cx="5261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2,x</a:t>
            </a:r>
          </a:p>
        </p:txBody>
      </p:sp>
      <p:sp>
        <p:nvSpPr>
          <p:cNvPr id="117" name="Text Box 6">
            <a:extLst>
              <a:ext uri="{FF2B5EF4-FFF2-40B4-BE49-F238E27FC236}">
                <a16:creationId xmlns:a16="http://schemas.microsoft.com/office/drawing/2014/main" id="{C9401439-4F9A-5245-B5D8-98F93D2D3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6247" y="2271953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</p:txBody>
      </p:sp>
      <p:sp>
        <p:nvSpPr>
          <p:cNvPr id="118" name="Text Box 5">
            <a:extLst>
              <a:ext uri="{FF2B5EF4-FFF2-40B4-BE49-F238E27FC236}">
                <a16:creationId xmlns:a16="http://schemas.microsoft.com/office/drawing/2014/main" id="{05199638-1656-3440-8601-484D6E8D2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3633" y="2255616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2,u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52DFC02-823F-0242-A6A7-87C32B9FF392}"/>
              </a:ext>
            </a:extLst>
          </p:cNvPr>
          <p:cNvGrpSpPr/>
          <p:nvPr/>
        </p:nvGrpSpPr>
        <p:grpSpPr>
          <a:xfrm>
            <a:off x="3117557" y="1351723"/>
            <a:ext cx="5481203" cy="1572238"/>
            <a:chOff x="-1091379" y="187714"/>
            <a:chExt cx="5481203" cy="1572238"/>
          </a:xfrm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EFA519F-FE06-0A48-8A17-DA293779C4C4}"/>
                </a:ext>
              </a:extLst>
            </p:cNvPr>
            <p:cNvSpPr/>
            <p:nvPr/>
          </p:nvSpPr>
          <p:spPr>
            <a:xfrm>
              <a:off x="4024279" y="187714"/>
              <a:ext cx="365545" cy="33667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C8090F2C-8033-B647-B950-11726A728ED6}"/>
                </a:ext>
              </a:extLst>
            </p:cNvPr>
            <p:cNvCxnSpPr>
              <a:cxnSpLocks/>
              <a:stCxn id="206" idx="2"/>
              <a:endCxn id="208" idx="6"/>
            </p:cNvCxnSpPr>
            <p:nvPr/>
          </p:nvCxnSpPr>
          <p:spPr>
            <a:xfrm flipH="1">
              <a:off x="-789162" y="356054"/>
              <a:ext cx="4813441" cy="1256132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C5FE25E1-AB82-7F4C-9E98-117B763167D9}"/>
                </a:ext>
              </a:extLst>
            </p:cNvPr>
            <p:cNvSpPr/>
            <p:nvPr/>
          </p:nvSpPr>
          <p:spPr>
            <a:xfrm>
              <a:off x="-1091379" y="1464420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DC1F592-D3EA-B141-B522-4F04B922D235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80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20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B4A4D5E-EA3A-C342-BD4B-5D42FD84497D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9C4666A-0739-D747-9911-F956173AF6C0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E2FD13B-449B-A542-8297-BC85BC14FEA0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001580FF-6C15-794F-AB65-D39811DB8230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sp>
        <p:nvSpPr>
          <p:cNvPr id="119" name="Text Box 3">
            <a:extLst>
              <a:ext uri="{FF2B5EF4-FFF2-40B4-BE49-F238E27FC236}">
                <a16:creationId xmlns:a16="http://schemas.microsoft.com/office/drawing/2014/main" id="{8F59C2A4-0007-4F40-B4AB-15442E39B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398422E-1EB1-DC4A-944E-B1DAB402E4DD}"/>
              </a:ext>
            </a:extLst>
          </p:cNvPr>
          <p:cNvGrpSpPr/>
          <p:nvPr/>
        </p:nvGrpSpPr>
        <p:grpSpPr>
          <a:xfrm>
            <a:off x="6497409" y="5402237"/>
            <a:ext cx="5187639" cy="1034693"/>
            <a:chOff x="4625273" y="5620004"/>
            <a:chExt cx="5187639" cy="1034693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D601628C-73DE-794F-B777-3EE0738C013A}"/>
                </a:ext>
              </a:extLst>
            </p:cNvPr>
            <p:cNvSpPr/>
            <p:nvPr/>
          </p:nvSpPr>
          <p:spPr>
            <a:xfrm>
              <a:off x="4661941" y="5934396"/>
              <a:ext cx="5066675" cy="6912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Text Box 3">
              <a:extLst>
                <a:ext uri="{FF2B5EF4-FFF2-40B4-BE49-F238E27FC236}">
                  <a16:creationId xmlns:a16="http://schemas.microsoft.com/office/drawing/2014/main" id="{1244B68D-FA8E-C74C-924A-A43B38E7E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4" name="Text Box 3">
              <a:extLst>
                <a:ext uri="{FF2B5EF4-FFF2-40B4-BE49-F238E27FC236}">
                  <a16:creationId xmlns:a16="http://schemas.microsoft.com/office/drawing/2014/main" id="{A1525B23-46ED-3A4C-BC35-A13418697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D(y) + </a:t>
              </a:r>
              <a:r>
                <a:rPr kumimoji="0" lang="en-US" sz="20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c</a:t>
              </a:r>
              <a:r>
                <a:rPr lang="en-US" sz="2000" i="1" baseline="-25000" dirty="0">
                  <a:solidFill>
                    <a:prstClr val="black"/>
                  </a:solidFill>
                  <a:latin typeface="Calibri" panose="020F0502020204030204"/>
                </a:rPr>
                <a:t>y</a:t>
              </a:r>
              <a:r>
                <a:rPr kumimoji="0" lang="en-US" sz="200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(4, 2+1) = 3 </a:t>
              </a:r>
            </a:p>
          </p:txBody>
        </p:sp>
        <p:sp>
          <p:nvSpPr>
            <p:cNvPr id="215" name="Text Box 3">
              <a:extLst>
                <a:ext uri="{FF2B5EF4-FFF2-40B4-BE49-F238E27FC236}">
                  <a16:creationId xmlns:a16="http://schemas.microsoft.com/office/drawing/2014/main" id="{BFB54203-76D7-E14F-8811-A49D9AAE5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721" y="6254587"/>
              <a:ext cx="504375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D(z) = min ( D(z), D(y)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y,z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min(inf,2+2) = 4  </a:t>
              </a:r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9C32DC86-6E33-9543-9C89-8F3F1B0CEF86}"/>
              </a:ext>
            </a:extLst>
          </p:cNvPr>
          <p:cNvGrpSpPr/>
          <p:nvPr/>
        </p:nvGrpSpPr>
        <p:grpSpPr>
          <a:xfrm>
            <a:off x="11325192" y="5675005"/>
            <a:ext cx="706683" cy="802632"/>
            <a:chOff x="11325192" y="5891134"/>
            <a:chExt cx="706683" cy="802632"/>
          </a:xfrm>
        </p:grpSpPr>
        <p:pic>
          <p:nvPicPr>
            <p:cNvPr id="217" name="Picture 216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925DA252-1100-254E-886E-E31054C9C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</p:spPr>
        </p:pic>
        <p:pic>
          <p:nvPicPr>
            <p:cNvPr id="218" name="Picture 21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01C56154-A60F-024F-BBFB-A6C93EE3F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</p:spPr>
        </p:pic>
      </p:grp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349870A5-9F71-CB43-8128-DFD8B0AA58C1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59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7430957-A0D6-EA4C-B6BF-820C3230276D}"/>
              </a:ext>
            </a:extLst>
          </p:cNvPr>
          <p:cNvGrpSpPr/>
          <p:nvPr/>
        </p:nvGrpSpPr>
        <p:grpSpPr>
          <a:xfrm>
            <a:off x="3109189" y="1355510"/>
            <a:ext cx="1542110" cy="1873826"/>
            <a:chOff x="3109189" y="1355510"/>
            <a:chExt cx="1542110" cy="1873826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015F7C7-310D-FD46-9C9C-A1683A72BDDD}"/>
                </a:ext>
              </a:extLst>
            </p:cNvPr>
            <p:cNvSpPr/>
            <p:nvPr/>
          </p:nvSpPr>
          <p:spPr>
            <a:xfrm>
              <a:off x="4336203" y="135551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CB6EBC2E-EA66-0348-8BB3-7224B5E190A1}"/>
                </a:ext>
              </a:extLst>
            </p:cNvPr>
            <p:cNvCxnSpPr>
              <a:cxnSpLocks/>
              <a:stCxn id="207" idx="2"/>
              <a:endCxn id="219" idx="6"/>
            </p:cNvCxnSpPr>
            <p:nvPr/>
          </p:nvCxnSpPr>
          <p:spPr>
            <a:xfrm flipH="1">
              <a:off x="3411406" y="1503276"/>
              <a:ext cx="924797" cy="1578294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79D32FBA-D726-A343-8DEE-BA9A2943F951}"/>
                </a:ext>
              </a:extLst>
            </p:cNvPr>
            <p:cNvSpPr/>
            <p:nvPr/>
          </p:nvSpPr>
          <p:spPr>
            <a:xfrm>
              <a:off x="3109189" y="2933804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52E9057B-6B98-BE42-AE62-4832BA11F8FB}"/>
              </a:ext>
            </a:extLst>
          </p:cNvPr>
          <p:cNvCxnSpPr>
            <a:cxnSpLocks/>
          </p:cNvCxnSpPr>
          <p:nvPr/>
        </p:nvCxnSpPr>
        <p:spPr>
          <a:xfrm flipV="1">
            <a:off x="1137745" y="5040040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01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animBg="1"/>
      <p:bldP spid="2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BE35B4C-1AED-A841-AF80-60F24BC61CA4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91E4B38D-7546-F94C-8A43-DBD52AA7A376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739AB7A4-25A9-1A45-A7AC-64A8E69B1628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C05BCE45-1F78-4A42-83C7-96D7950CC9CB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 Box 3">
            <a:extLst>
              <a:ext uri="{FF2B5EF4-FFF2-40B4-BE49-F238E27FC236}">
                <a16:creationId xmlns:a16="http://schemas.microsoft.com/office/drawing/2014/main" id="{CD703E57-0A32-2F40-B813-84CEA4FC5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F68506E-3C2C-FA41-9AFF-AC306C688A51}"/>
              </a:ext>
            </a:extLst>
          </p:cNvPr>
          <p:cNvGrpSpPr/>
          <p:nvPr/>
        </p:nvGrpSpPr>
        <p:grpSpPr>
          <a:xfrm>
            <a:off x="6497409" y="5402237"/>
            <a:ext cx="5183535" cy="749181"/>
            <a:chOff x="4625273" y="5620004"/>
            <a:chExt cx="5183535" cy="749181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B78CF965-1E51-204E-87C1-40BC5F8B1953}"/>
                </a:ext>
              </a:extLst>
            </p:cNvPr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Text Box 3">
              <a:extLst>
                <a:ext uri="{FF2B5EF4-FFF2-40B4-BE49-F238E27FC236}">
                  <a16:creationId xmlns:a16="http://schemas.microsoft.com/office/drawing/2014/main" id="{A0BD265B-56BC-C648-9DAB-18969CF60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2" name="Text Box 3">
              <a:extLst>
                <a:ext uri="{FF2B5EF4-FFF2-40B4-BE49-F238E27FC236}">
                  <a16:creationId xmlns:a16="http://schemas.microsoft.com/office/drawing/2014/main" id="{E3E25232-20F1-B64B-98A3-BB2E6B5A6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35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D(v)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v,w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(3, 2+3) = 3 </a:t>
              </a: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CB03B215-D4F4-B240-9C4C-7FD543D4FF60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16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01EBFD0-D4AD-9247-9D77-B94D622E1FAA}"/>
              </a:ext>
            </a:extLst>
          </p:cNvPr>
          <p:cNvGrpSpPr/>
          <p:nvPr/>
        </p:nvGrpSpPr>
        <p:grpSpPr>
          <a:xfrm>
            <a:off x="3082834" y="1345224"/>
            <a:ext cx="2890824" cy="2192195"/>
            <a:chOff x="1559224" y="-432243"/>
            <a:chExt cx="2890824" cy="2192195"/>
          </a:xfrm>
        </p:grpSpPr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746423EF-63DD-3343-9662-5B2931DA7273}"/>
                </a:ext>
              </a:extLst>
            </p:cNvPr>
            <p:cNvSpPr/>
            <p:nvPr/>
          </p:nvSpPr>
          <p:spPr>
            <a:xfrm>
              <a:off x="4134952" y="-432243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85760C0E-983E-B441-806E-22BCF64E7382}"/>
                </a:ext>
              </a:extLst>
            </p:cNvPr>
            <p:cNvCxnSpPr>
              <a:cxnSpLocks/>
              <a:stCxn id="216" idx="2"/>
              <a:endCxn id="223" idx="6"/>
            </p:cNvCxnSpPr>
            <p:nvPr/>
          </p:nvCxnSpPr>
          <p:spPr>
            <a:xfrm flipH="1">
              <a:off x="1861441" y="-284477"/>
              <a:ext cx="2273511" cy="189666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5D5E27BC-D759-D946-87D8-DD12082603F9}"/>
                </a:ext>
              </a:extLst>
            </p:cNvPr>
            <p:cNvSpPr/>
            <p:nvPr/>
          </p:nvSpPr>
          <p:spPr>
            <a:xfrm>
              <a:off x="1559224" y="1464420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4983EAC5-E137-B845-8167-8FF621B46BC3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77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 animBg="1"/>
      <p:bldP spid="2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D55AC0E-D2D6-F941-9AA6-9306F9726C0A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75F79124-CB88-0245-A13C-A9F8EF8B54A5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C662265B-7333-144C-975B-222F0D3A4281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A9ED63E9-B922-974A-A009-C20182AD3D17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 Box 3">
            <a:extLst>
              <a:ext uri="{FF2B5EF4-FFF2-40B4-BE49-F238E27FC236}">
                <a16:creationId xmlns:a16="http://schemas.microsoft.com/office/drawing/2014/main" id="{6F3DAD70-4F0A-6440-969F-3CCEA1CAD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AB668A7-AFC7-C746-8D74-2C3BEE2C0C90}"/>
              </a:ext>
            </a:extLst>
          </p:cNvPr>
          <p:cNvGrpSpPr/>
          <p:nvPr/>
        </p:nvGrpSpPr>
        <p:grpSpPr>
          <a:xfrm>
            <a:off x="6497409" y="5402237"/>
            <a:ext cx="5103343" cy="749181"/>
            <a:chOff x="4625273" y="5620004"/>
            <a:chExt cx="5103343" cy="749181"/>
          </a:xfrm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75C3332E-25DC-5548-B18A-0DFEE9ABA6BC}"/>
                </a:ext>
              </a:extLst>
            </p:cNvPr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Text Box 3">
              <a:extLst>
                <a:ext uri="{FF2B5EF4-FFF2-40B4-BE49-F238E27FC236}">
                  <a16:creationId xmlns:a16="http://schemas.microsoft.com/office/drawing/2014/main" id="{66CA504C-894E-9D46-958C-24EC91FC6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1" name="Text Box 3">
              <a:extLst>
                <a:ext uri="{FF2B5EF4-FFF2-40B4-BE49-F238E27FC236}">
                  <a16:creationId xmlns:a16="http://schemas.microsoft.com/office/drawing/2014/main" id="{818E7B6F-01C5-BD4D-81E3-08541D884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08895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D(z) = min ( D(z), D(w)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w,z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(4, 3+5) = 4 </a:t>
              </a: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41F1CF94-F7B7-9947-B9CB-42D5664FC48B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84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AA203BF5-54E3-A247-B525-DAD7C3FFFA30}"/>
              </a:ext>
            </a:extLst>
          </p:cNvPr>
          <p:cNvGrpSpPr/>
          <p:nvPr/>
        </p:nvGrpSpPr>
        <p:grpSpPr>
          <a:xfrm>
            <a:off x="3084763" y="1369564"/>
            <a:ext cx="6736985" cy="2493877"/>
            <a:chOff x="-2329870" y="-444558"/>
            <a:chExt cx="6736985" cy="2493877"/>
          </a:xfrm>
        </p:grpSpPr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EC7C9367-2990-6D43-A15C-2F5B4E8649C4}"/>
                </a:ext>
              </a:extLst>
            </p:cNvPr>
            <p:cNvSpPr/>
            <p:nvPr/>
          </p:nvSpPr>
          <p:spPr>
            <a:xfrm>
              <a:off x="4092019" y="-444558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F11A43D7-7771-3E49-94AA-7FB8202B3A43}"/>
                </a:ext>
              </a:extLst>
            </p:cNvPr>
            <p:cNvCxnSpPr>
              <a:cxnSpLocks/>
              <a:stCxn id="223" idx="2"/>
              <a:endCxn id="226" idx="6"/>
            </p:cNvCxnSpPr>
            <p:nvPr/>
          </p:nvCxnSpPr>
          <p:spPr>
            <a:xfrm flipH="1">
              <a:off x="-2027653" y="-296792"/>
              <a:ext cx="6119672" cy="219834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8F40879-FE48-7941-9529-6385E99DA5B8}"/>
                </a:ext>
              </a:extLst>
            </p:cNvPr>
            <p:cNvSpPr/>
            <p:nvPr/>
          </p:nvSpPr>
          <p:spPr>
            <a:xfrm>
              <a:off x="-2329870" y="1753787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6" name="Oval 114">
            <a:extLst>
              <a:ext uri="{FF2B5EF4-FFF2-40B4-BE49-F238E27FC236}">
                <a16:creationId xmlns:a16="http://schemas.microsoft.com/office/drawing/2014/main" id="{C308C696-C703-8F42-B968-5CF9C8EE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034" y="326791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7" name="Text Box 4">
            <a:extLst>
              <a:ext uri="{FF2B5EF4-FFF2-40B4-BE49-F238E27FC236}">
                <a16:creationId xmlns:a16="http://schemas.microsoft.com/office/drawing/2014/main" id="{7503A458-C386-184E-899F-151FF388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FF0B2969-0D91-644B-9FF5-3BB4F0D073E4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BABE8C73-6B5D-7F4B-AA15-26746F00DEF9}"/>
              </a:ext>
            </a:extLst>
          </p:cNvPr>
          <p:cNvCxnSpPr>
            <a:cxnSpLocks/>
          </p:cNvCxnSpPr>
          <p:nvPr/>
        </p:nvCxnSpPr>
        <p:spPr>
          <a:xfrm flipV="1">
            <a:off x="3059661" y="5610320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90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sp>
        <p:nvSpPr>
          <p:cNvPr id="216" name="Oval 114">
            <a:extLst>
              <a:ext uri="{FF2B5EF4-FFF2-40B4-BE49-F238E27FC236}">
                <a16:creationId xmlns:a16="http://schemas.microsoft.com/office/drawing/2014/main" id="{C308C696-C703-8F42-B968-5CF9C8EE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034" y="326791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7" name="Text Box 4">
            <a:extLst>
              <a:ext uri="{FF2B5EF4-FFF2-40B4-BE49-F238E27FC236}">
                <a16:creationId xmlns:a16="http://schemas.microsoft.com/office/drawing/2014/main" id="{7503A458-C386-184E-899F-151FF388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sp>
        <p:nvSpPr>
          <p:cNvPr id="165" name="Text Box 3">
            <a:extLst>
              <a:ext uri="{FF2B5EF4-FFF2-40B4-BE49-F238E27FC236}">
                <a16:creationId xmlns:a16="http://schemas.microsoft.com/office/drawing/2014/main" id="{DDAD2418-A8D1-1A4C-9685-0ABBFA899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C502BE32-581E-614C-8C19-401954352B23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7BAAF5DE-5EBE-1D41-BC0E-9C07EB3F9FC5}"/>
              </a:ext>
            </a:extLst>
          </p:cNvPr>
          <p:cNvCxnSpPr>
            <a:cxnSpLocks/>
          </p:cNvCxnSpPr>
          <p:nvPr/>
        </p:nvCxnSpPr>
        <p:spPr>
          <a:xfrm flipV="1">
            <a:off x="3059661" y="5610320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58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3DC340D0-8A95-8143-AD57-B872A9C6CD43}"/>
              </a:ext>
            </a:extLst>
          </p:cNvPr>
          <p:cNvGrpSpPr/>
          <p:nvPr/>
        </p:nvGrpSpPr>
        <p:grpSpPr>
          <a:xfrm>
            <a:off x="5701792" y="4279392"/>
            <a:ext cx="918006" cy="1764574"/>
            <a:chOff x="4618299" y="5972536"/>
            <a:chExt cx="2734563" cy="194454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27F7A7B-99F0-6C4B-B48D-B877DEAB2FD6}"/>
                </a:ext>
              </a:extLst>
            </p:cNvPr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01376935-088F-E14B-99BC-C62CE0D1A8D3}"/>
                </a:ext>
              </a:extLst>
            </p:cNvPr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id="{EE536074-780C-B94B-BB7B-5519ED0B8ED5}"/>
                </a:ext>
              </a:extLst>
            </p:cNvPr>
            <p:cNvCxnSpPr>
              <a:cxnSpLocks/>
            </p:cNvCxnSpPr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ln w="2540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1528762" y="4132366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0" name="Text Box 9">
            <a:extLst>
              <a:ext uri="{FF2B5EF4-FFF2-40B4-BE49-F238E27FC236}">
                <a16:creationId xmlns:a16="http://schemas.microsoft.com/office/drawing/2014/main" id="{7264032F-FC16-7043-941E-B120E8ED9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0547" y="3198952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2" y="1633417"/>
            <a:ext cx="12955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973CA4-9B72-A545-BA9F-40D90EB8CE03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489" name="Text Box 9">
              <a:extLst>
                <a:ext uri="{FF2B5EF4-FFF2-40B4-BE49-F238E27FC236}">
                  <a16:creationId xmlns:a16="http://schemas.microsoft.com/office/drawing/2014/main" id="{AF5565C2-0153-3D44-85CB-BBD065682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9" name="Text Box 6">
              <a:extLst>
                <a:ext uri="{FF2B5EF4-FFF2-40B4-BE49-F238E27FC236}">
                  <a16:creationId xmlns:a16="http://schemas.microsoft.com/office/drawing/2014/main" id="{B7834F0D-0E0E-F04D-A076-86B8692EF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E6F247-A516-EB44-B218-3523C7F1525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487" name="Text Box 9">
              <a:extLst>
                <a:ext uri="{FF2B5EF4-FFF2-40B4-BE49-F238E27FC236}">
                  <a16:creationId xmlns:a16="http://schemas.microsoft.com/office/drawing/2014/main" id="{6DD8D8CE-3DDC-DF48-BBFB-EBDD1F221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Text Box 8">
              <a:extLst>
                <a:ext uri="{FF2B5EF4-FFF2-40B4-BE49-F238E27FC236}">
                  <a16:creationId xmlns:a16="http://schemas.microsoft.com/office/drawing/2014/main" id="{9DBF3B61-BEF7-8A40-AF7C-22BFA4A5F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496" name="Text Box 6">
              <a:extLst>
                <a:ext uri="{FF2B5EF4-FFF2-40B4-BE49-F238E27FC236}">
                  <a16:creationId xmlns:a16="http://schemas.microsoft.com/office/drawing/2014/main" id="{F4E69EDF-A458-174E-A9A1-51CA8C7BC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501" name="Text Box 5">
              <a:extLst>
                <a:ext uri="{FF2B5EF4-FFF2-40B4-BE49-F238E27FC236}">
                  <a16:creationId xmlns:a16="http://schemas.microsoft.com/office/drawing/2014/main" id="{3ACD38CB-FB5D-F74D-8F1B-D1ED77652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9389ED-B03B-214C-ADF2-72A54A5A4AFE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488" name="Text Box 9">
              <a:extLst>
                <a:ext uri="{FF2B5EF4-FFF2-40B4-BE49-F238E27FC236}">
                  <a16:creationId xmlns:a16="http://schemas.microsoft.com/office/drawing/2014/main" id="{A038CE8D-1564-2D4D-A52D-5FACBB86F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7" name="Text Box 6">
              <a:extLst>
                <a:ext uri="{FF2B5EF4-FFF2-40B4-BE49-F238E27FC236}">
                  <a16:creationId xmlns:a16="http://schemas.microsoft.com/office/drawing/2014/main" id="{A382A71E-E492-4443-89C5-C12D644FE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502" name="Text Box 5">
              <a:extLst>
                <a:ext uri="{FF2B5EF4-FFF2-40B4-BE49-F238E27FC236}">
                  <a16:creationId xmlns:a16="http://schemas.microsoft.com/office/drawing/2014/main" id="{C9B2A270-7336-FE45-A405-3057D86CB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3" name="Text Box 4">
            <a:extLst>
              <a:ext uri="{FF2B5EF4-FFF2-40B4-BE49-F238E27FC236}">
                <a16:creationId xmlns:a16="http://schemas.microsoft.com/office/drawing/2014/main" id="{E994D46E-7D0F-9843-807C-ABB0D4B5F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sp>
        <p:nvSpPr>
          <p:cNvPr id="504" name="Text Box 4">
            <a:extLst>
              <a:ext uri="{FF2B5EF4-FFF2-40B4-BE49-F238E27FC236}">
                <a16:creationId xmlns:a16="http://schemas.microsoft.com/office/drawing/2014/main" id="{0A3ED467-D430-4A47-866D-6A5E75B0C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505" name="Text Box 4">
            <a:extLst>
              <a:ext uri="{FF2B5EF4-FFF2-40B4-BE49-F238E27FC236}">
                <a16:creationId xmlns:a16="http://schemas.microsoft.com/office/drawing/2014/main" id="{DBDC054B-9144-E046-848B-AA4FB410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sp>
        <p:nvSpPr>
          <p:cNvPr id="506" name="Text Box 4">
            <a:extLst>
              <a:ext uri="{FF2B5EF4-FFF2-40B4-BE49-F238E27FC236}">
                <a16:creationId xmlns:a16="http://schemas.microsoft.com/office/drawing/2014/main" id="{BBFEB9F8-55C5-9340-9F0D-07D6265CD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sp>
        <p:nvSpPr>
          <p:cNvPr id="507" name="Text Box 4">
            <a:extLst>
              <a:ext uri="{FF2B5EF4-FFF2-40B4-BE49-F238E27FC236}">
                <a16:creationId xmlns:a16="http://schemas.microsoft.com/office/drawing/2014/main" id="{2AA27EEE-C105-4546-92C9-79D7A34A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C637-11FC-0A49-8C82-7AF7D38C6CD6}"/>
              </a:ext>
            </a:extLst>
          </p:cNvPr>
          <p:cNvSpPr txBox="1"/>
          <p:nvPr/>
        </p:nvSpPr>
        <p:spPr>
          <a:xfrm>
            <a:off x="4409954" y="134266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C80ECA4-7464-CB40-8CC6-A7EDC7E7964C}"/>
              </a:ext>
            </a:extLst>
          </p:cNvPr>
          <p:cNvSpPr txBox="1"/>
          <p:nvPr/>
        </p:nvSpPr>
        <p:spPr>
          <a:xfrm>
            <a:off x="5685099" y="1337058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052726D-C214-914F-AE65-3CE2B48F9FD7}"/>
              </a:ext>
            </a:extLst>
          </p:cNvPr>
          <p:cNvSpPr txBox="1"/>
          <p:nvPr/>
        </p:nvSpPr>
        <p:spPr>
          <a:xfrm>
            <a:off x="6994969" y="133145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B04DCE1-2FE2-A84B-8E64-4C946D2739CC}"/>
              </a:ext>
            </a:extLst>
          </p:cNvPr>
          <p:cNvSpPr txBox="1"/>
          <p:nvPr/>
        </p:nvSpPr>
        <p:spPr>
          <a:xfrm>
            <a:off x="8327989" y="133742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9A4E2888-3BE6-BB46-8B3E-D324D269A9FF}"/>
              </a:ext>
            </a:extLst>
          </p:cNvPr>
          <p:cNvSpPr txBox="1"/>
          <p:nvPr/>
        </p:nvSpPr>
        <p:spPr>
          <a:xfrm>
            <a:off x="9591559" y="1354968"/>
            <a:ext cx="285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C9846B-B76F-EC46-B3DD-08ED42B2D986}"/>
              </a:ext>
            </a:extLst>
          </p:cNvPr>
          <p:cNvGrpSpPr/>
          <p:nvPr/>
        </p:nvGrpSpPr>
        <p:grpSpPr>
          <a:xfrm>
            <a:off x="3119488" y="1398905"/>
            <a:ext cx="4326893" cy="1233760"/>
            <a:chOff x="3104054" y="1398906"/>
            <a:chExt cx="4326893" cy="1233760"/>
          </a:xfrm>
        </p:grpSpPr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E48D8571-6045-3E40-9668-A4DCC2FFD7ED}"/>
                </a:ext>
              </a:extLst>
            </p:cNvPr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517" name="Oval 516">
                <a:extLst>
                  <a:ext uri="{FF2B5EF4-FFF2-40B4-BE49-F238E27FC236}">
                    <a16:creationId xmlns:a16="http://schemas.microsoft.com/office/drawing/2014/main" id="{68A21CC6-2268-6A4F-86A7-EE2A64DDB546}"/>
                  </a:ext>
                </a:extLst>
              </p:cNvPr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18" name="Straight Arrow Connector 517">
                <a:extLst>
                  <a:ext uri="{FF2B5EF4-FFF2-40B4-BE49-F238E27FC236}">
                    <a16:creationId xmlns:a16="http://schemas.microsoft.com/office/drawing/2014/main" id="{0C2832E9-BE63-D54F-9A07-797BB768C48C}"/>
                  </a:ext>
                </a:extLst>
              </p:cNvPr>
              <p:cNvCxnSpPr>
                <a:cxnSpLocks/>
                <a:stCxn id="517" idx="4"/>
                <a:endCxn id="520" idx="6"/>
              </p:cNvCxnSpPr>
              <p:nvPr/>
            </p:nvCxnSpPr>
            <p:spPr>
              <a:xfrm flipH="1">
                <a:off x="541927" y="821724"/>
                <a:ext cx="3736601" cy="790462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id="{17653CE0-07E1-464B-8144-C45075F66FA4}"/>
                  </a:ext>
                </a:extLst>
              </p:cNvPr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25" name="Oval 114">
              <a:extLst>
                <a:ext uri="{FF2B5EF4-FFF2-40B4-BE49-F238E27FC236}">
                  <a16:creationId xmlns:a16="http://schemas.microsoft.com/office/drawing/2014/main" id="{C682F2F6-CA7A-944A-9033-FDDB0D769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809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661659-5D13-8544-B931-6BD6A0036B25}"/>
                </a:ext>
              </a:extLst>
            </p:cNvPr>
            <p:cNvCxnSpPr>
              <a:cxnSpLocks/>
              <a:stCxn id="525" idx="0"/>
            </p:cNvCxnSpPr>
            <p:nvPr/>
          </p:nvCxnSpPr>
          <p:spPr>
            <a:xfrm flipV="1">
              <a:off x="7129521" y="1638301"/>
              <a:ext cx="484" cy="38726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E156D929-7F75-B740-BEE1-71E12F7E0BCF}"/>
              </a:ext>
            </a:extLst>
          </p:cNvPr>
          <p:cNvGrpSpPr/>
          <p:nvPr/>
        </p:nvGrpSpPr>
        <p:grpSpPr>
          <a:xfrm>
            <a:off x="3117557" y="1389255"/>
            <a:ext cx="5681132" cy="1534706"/>
            <a:chOff x="1772965" y="1097960"/>
            <a:chExt cx="5681132" cy="1534706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405B06F4-42C4-874B-8775-68CE587789F1}"/>
                </a:ext>
              </a:extLst>
            </p:cNvPr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6413A5FF-0871-0C46-8A58-9D04A8AADA7E}"/>
                  </a:ext>
                </a:extLst>
              </p:cNvPr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5" name="Straight Arrow Connector 534">
                <a:extLst>
                  <a:ext uri="{FF2B5EF4-FFF2-40B4-BE49-F238E27FC236}">
                    <a16:creationId xmlns:a16="http://schemas.microsoft.com/office/drawing/2014/main" id="{4BBE828C-BFCA-9E42-9A8E-855E80AB79F7}"/>
                  </a:ext>
                </a:extLst>
              </p:cNvPr>
              <p:cNvCxnSpPr>
                <a:cxnSpLocks/>
                <a:stCxn id="534" idx="4"/>
                <a:endCxn id="536" idx="6"/>
              </p:cNvCxnSpPr>
              <p:nvPr/>
            </p:nvCxnSpPr>
            <p:spPr>
              <a:xfrm flipH="1">
                <a:off x="-789162" y="520778"/>
                <a:ext cx="5079265" cy="109140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29408050-96BC-544E-9C63-1E100FDDF6A2}"/>
                  </a:ext>
                </a:extLst>
              </p:cNvPr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2" name="Oval 114">
              <a:extLst>
                <a:ext uri="{FF2B5EF4-FFF2-40B4-BE49-F238E27FC236}">
                  <a16:creationId xmlns:a16="http://schemas.microsoft.com/office/drawing/2014/main" id="{685FCE3A-E651-194B-82B8-7C5CF12FA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124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33" name="Straight Arrow Connector 532">
              <a:extLst>
                <a:ext uri="{FF2B5EF4-FFF2-40B4-BE49-F238E27FC236}">
                  <a16:creationId xmlns:a16="http://schemas.microsoft.com/office/drawing/2014/main" id="{017D4077-E857-0E47-AE8D-9DAEDC889967}"/>
                </a:ext>
              </a:extLst>
            </p:cNvPr>
            <p:cNvCxnSpPr>
              <a:cxnSpLocks/>
              <a:stCxn id="532" idx="0"/>
              <a:endCxn id="534" idx="4"/>
            </p:cNvCxnSpPr>
            <p:nvPr/>
          </p:nvCxnSpPr>
          <p:spPr>
            <a:xfrm flipV="1">
              <a:off x="7152671" y="1393492"/>
              <a:ext cx="1776" cy="6320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911D6D48-B41E-C748-8CC0-00A6299B0AAA}"/>
              </a:ext>
            </a:extLst>
          </p:cNvPr>
          <p:cNvGrpSpPr/>
          <p:nvPr/>
        </p:nvGrpSpPr>
        <p:grpSpPr>
          <a:xfrm>
            <a:off x="3109189" y="1412217"/>
            <a:ext cx="1746239" cy="1817119"/>
            <a:chOff x="5709634" y="1003247"/>
            <a:chExt cx="1746239" cy="1817119"/>
          </a:xfrm>
        </p:grpSpPr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476B669B-D835-7546-8C5D-745C28DBA626}"/>
                </a:ext>
              </a:extLst>
            </p:cNvPr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541" name="Oval 540">
                <a:extLst>
                  <a:ext uri="{FF2B5EF4-FFF2-40B4-BE49-F238E27FC236}">
                    <a16:creationId xmlns:a16="http://schemas.microsoft.com/office/drawing/2014/main" id="{5000BC0A-ACF3-A743-B038-FE3A215C971F}"/>
                  </a:ext>
                </a:extLst>
              </p:cNvPr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42" name="Straight Arrow Connector 541">
                <a:extLst>
                  <a:ext uri="{FF2B5EF4-FFF2-40B4-BE49-F238E27FC236}">
                    <a16:creationId xmlns:a16="http://schemas.microsoft.com/office/drawing/2014/main" id="{AF172589-3BBB-8C42-AF91-ED4A3B8F251F}"/>
                  </a:ext>
                </a:extLst>
              </p:cNvPr>
              <p:cNvCxnSpPr>
                <a:cxnSpLocks/>
                <a:stCxn id="541" idx="4"/>
                <a:endCxn id="543" idx="6"/>
              </p:cNvCxnSpPr>
              <p:nvPr/>
            </p:nvCxnSpPr>
            <p:spPr>
              <a:xfrm flipH="1">
                <a:off x="3147507" y="426065"/>
                <a:ext cx="1142596" cy="137382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id="{983583A7-CF39-514C-B2F9-EC8A8919C008}"/>
                  </a:ext>
                </a:extLst>
              </p:cNvPr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9" name="Oval 114">
              <a:extLst>
                <a:ext uri="{FF2B5EF4-FFF2-40B4-BE49-F238E27FC236}">
                  <a16:creationId xmlns:a16="http://schemas.microsoft.com/office/drawing/2014/main" id="{88D76B70-8DB1-1F44-AC98-B4B908DE7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3021" y="219918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0" name="Straight Arrow Connector 539">
              <a:extLst>
                <a:ext uri="{FF2B5EF4-FFF2-40B4-BE49-F238E27FC236}">
                  <a16:creationId xmlns:a16="http://schemas.microsoft.com/office/drawing/2014/main" id="{01FD8F8E-8376-A54A-8760-9722F14602E4}"/>
                </a:ext>
              </a:extLst>
            </p:cNvPr>
            <p:cNvCxnSpPr>
              <a:cxnSpLocks/>
              <a:stCxn id="539" idx="0"/>
              <a:endCxn id="541" idx="4"/>
            </p:cNvCxnSpPr>
            <p:nvPr/>
          </p:nvCxnSpPr>
          <p:spPr>
            <a:xfrm flipV="1">
              <a:off x="7154447" y="1298779"/>
              <a:ext cx="0" cy="90041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E03EF3CA-2D9B-664C-A155-84446468FB79}"/>
              </a:ext>
            </a:extLst>
          </p:cNvPr>
          <p:cNvGrpSpPr/>
          <p:nvPr/>
        </p:nvGrpSpPr>
        <p:grpSpPr>
          <a:xfrm>
            <a:off x="3082834" y="1400642"/>
            <a:ext cx="3065254" cy="2136777"/>
            <a:chOff x="4423568" y="495889"/>
            <a:chExt cx="3065254" cy="2136777"/>
          </a:xfrm>
        </p:grpSpPr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id="{9E0A8781-B42F-7A49-819E-17E215845ED5}"/>
                </a:ext>
              </a:extLst>
            </p:cNvPr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549" name="Oval 548">
                <a:extLst>
                  <a:ext uri="{FF2B5EF4-FFF2-40B4-BE49-F238E27FC236}">
                    <a16:creationId xmlns:a16="http://schemas.microsoft.com/office/drawing/2014/main" id="{D753C51A-4350-514E-8575-255BE71968EF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0" name="Straight Arrow Connector 549">
                <a:extLst>
                  <a:ext uri="{FF2B5EF4-FFF2-40B4-BE49-F238E27FC236}">
                    <a16:creationId xmlns:a16="http://schemas.microsoft.com/office/drawing/2014/main" id="{52E7D202-00E1-0940-872A-88DE48D25A31}"/>
                  </a:ext>
                </a:extLst>
              </p:cNvPr>
              <p:cNvCxnSpPr>
                <a:cxnSpLocks/>
                <a:stCxn id="549" idx="4"/>
                <a:endCxn id="551" idx="6"/>
              </p:cNvCxnSpPr>
              <p:nvPr/>
            </p:nvCxnSpPr>
            <p:spPr>
              <a:xfrm flipH="1">
                <a:off x="1861441" y="-81293"/>
                <a:ext cx="2463386" cy="169347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0C65CD2E-F916-7F44-8015-E772F7A08327}"/>
                  </a:ext>
                </a:extLst>
              </p:cNvPr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47" name="Oval 114">
              <a:extLst>
                <a:ext uri="{FF2B5EF4-FFF2-40B4-BE49-F238E27FC236}">
                  <a16:creationId xmlns:a16="http://schemas.microsoft.com/office/drawing/2014/main" id="{C71CC878-55D7-AD4F-B3B1-13953C4E6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5970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7B56A3C2-EAE1-8E49-9661-485FF1A1FAA4}"/>
                </a:ext>
              </a:extLst>
            </p:cNvPr>
            <p:cNvCxnSpPr>
              <a:cxnSpLocks/>
              <a:stCxn id="547" idx="0"/>
              <a:endCxn id="549" idx="4"/>
            </p:cNvCxnSpPr>
            <p:nvPr/>
          </p:nvCxnSpPr>
          <p:spPr>
            <a:xfrm flipV="1">
              <a:off x="7187396" y="791421"/>
              <a:ext cx="1775" cy="123414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837723A6-32DA-4C49-8E78-4111930D0945}"/>
              </a:ext>
            </a:extLst>
          </p:cNvPr>
          <p:cNvGrpSpPr/>
          <p:nvPr/>
        </p:nvGrpSpPr>
        <p:grpSpPr>
          <a:xfrm>
            <a:off x="3084763" y="1437297"/>
            <a:ext cx="6956123" cy="2426144"/>
            <a:chOff x="534474" y="495889"/>
            <a:chExt cx="6956123" cy="2426144"/>
          </a:xfrm>
        </p:grpSpPr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id="{D4AF9FEB-87B8-2440-BFF7-2388513CCB4D}"/>
                </a:ext>
              </a:extLst>
            </p:cNvPr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E833C45F-B922-8B4F-A541-13D5EDF3D166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7" name="Straight Arrow Connector 556">
                <a:extLst>
                  <a:ext uri="{FF2B5EF4-FFF2-40B4-BE49-F238E27FC236}">
                    <a16:creationId xmlns:a16="http://schemas.microsoft.com/office/drawing/2014/main" id="{BAC38F32-13CD-8D49-B140-20E9CE2B7D81}"/>
                  </a:ext>
                </a:extLst>
              </p:cNvPr>
              <p:cNvCxnSpPr>
                <a:cxnSpLocks/>
                <a:stCxn id="556" idx="4"/>
                <a:endCxn id="558" idx="6"/>
              </p:cNvCxnSpPr>
              <p:nvPr/>
            </p:nvCxnSpPr>
            <p:spPr>
              <a:xfrm flipH="1">
                <a:off x="-2027653" y="-81293"/>
                <a:ext cx="6352480" cy="198284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8" name="Oval 557">
                <a:extLst>
                  <a:ext uri="{FF2B5EF4-FFF2-40B4-BE49-F238E27FC236}">
                    <a16:creationId xmlns:a16="http://schemas.microsoft.com/office/drawing/2014/main" id="{5A968801-B5C0-774E-9189-C0C84CCD1C5E}"/>
                  </a:ext>
                </a:extLst>
              </p:cNvPr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54" name="Oval 114">
              <a:extLst>
                <a:ext uri="{FF2B5EF4-FFF2-40B4-BE49-F238E27FC236}">
                  <a16:creationId xmlns:a16="http://schemas.microsoft.com/office/drawing/2014/main" id="{2DD21A52-3AB5-1146-AA26-D2C240D0B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7745" y="2326511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id="{31B6FC9B-38BD-A74B-95DB-48A86BA94800}"/>
                </a:ext>
              </a:extLst>
            </p:cNvPr>
            <p:cNvCxnSpPr>
              <a:cxnSpLocks/>
              <a:stCxn id="554" idx="0"/>
              <a:endCxn id="556" idx="4"/>
            </p:cNvCxnSpPr>
            <p:nvPr/>
          </p:nvCxnSpPr>
          <p:spPr>
            <a:xfrm flipV="1">
              <a:off x="7189171" y="791421"/>
              <a:ext cx="0" cy="153509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1957653" y="554427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2908706" y="6055489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2068770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3744012" y="4988689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4007312" y="5577069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Text Box 3">
            <a:extLst>
              <a:ext uri="{FF2B5EF4-FFF2-40B4-BE49-F238E27FC236}">
                <a16:creationId xmlns:a16="http://schemas.microsoft.com/office/drawing/2014/main" id="{26DB9EA5-AEE6-8446-BB60-338C393AB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442" y="4463262"/>
            <a:ext cx="5770234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200" dirty="0">
                <a:latin typeface="+mn-lt"/>
              </a:rPr>
              <a:t>find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such that </a:t>
            </a:r>
            <a:r>
              <a:rPr lang="en-US" sz="2200" i="1" dirty="0">
                <a:latin typeface="+mn-lt"/>
              </a:rPr>
              <a:t>D(a) </a:t>
            </a:r>
            <a:r>
              <a:rPr lang="en-US" sz="2200" dirty="0">
                <a:latin typeface="+mn-lt"/>
              </a:rPr>
              <a:t>is a minimum </a:t>
            </a:r>
          </a:p>
          <a:p>
            <a:r>
              <a:rPr lang="en-US" sz="2200" dirty="0">
                <a:latin typeface="+mn-lt"/>
              </a:rPr>
              <a:t>add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to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</a:p>
          <a:p>
            <a:r>
              <a:rPr lang="en-US" sz="2200" dirty="0">
                <a:latin typeface="+mn-lt"/>
              </a:rPr>
              <a:t>update </a:t>
            </a:r>
            <a:r>
              <a:rPr lang="en-US" sz="2200" i="1" dirty="0">
                <a:latin typeface="+mn-lt"/>
              </a:rPr>
              <a:t>D(b) </a:t>
            </a:r>
            <a:r>
              <a:rPr lang="en-US" sz="2200" dirty="0">
                <a:latin typeface="+mn-lt"/>
              </a:rPr>
              <a:t>for all </a:t>
            </a:r>
            <a:r>
              <a:rPr lang="en-US" sz="2200" i="1" dirty="0">
                <a:latin typeface="+mn-lt"/>
              </a:rPr>
              <a:t>b</a:t>
            </a:r>
            <a:r>
              <a:rPr lang="en-US" sz="2200" dirty="0">
                <a:latin typeface="+mn-lt"/>
              </a:rPr>
              <a:t> adjacent to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and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: </a:t>
            </a:r>
          </a:p>
          <a:p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    D(b) = </a:t>
            </a:r>
            <a:r>
              <a:rPr lang="en-US" sz="2200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( D(b), D(a) + c</a:t>
            </a:r>
            <a:r>
              <a:rPr lang="en-US" sz="2200" b="1" i="1" baseline="-25000" dirty="0">
                <a:solidFill>
                  <a:srgbClr val="CC0000"/>
                </a:solidFill>
                <a:latin typeface="+mn-lt"/>
              </a:rPr>
              <a:t>a,b 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)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2B11F0-0B2B-E548-A572-A488F5822281}"/>
              </a:ext>
            </a:extLst>
          </p:cNvPr>
          <p:cNvSpPr/>
          <p:nvPr/>
        </p:nvSpPr>
        <p:spPr>
          <a:xfrm>
            <a:off x="5606004" y="3868305"/>
            <a:ext cx="6721033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Initialization (step 0): For all a: if </a:t>
            </a:r>
            <a:r>
              <a:rPr lang="en-US" i="1" dirty="0"/>
              <a:t>a</a:t>
            </a:r>
            <a:r>
              <a:rPr lang="en-US" dirty="0"/>
              <a:t> adjacent to then </a:t>
            </a:r>
            <a:r>
              <a:rPr lang="en-US" i="1" dirty="0"/>
              <a:t>D(a) = c</a:t>
            </a:r>
            <a:r>
              <a:rPr lang="en-US" i="1" baseline="-25000" dirty="0"/>
              <a:t>u,a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60346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/>
      <p:bldP spid="503" grpId="0"/>
      <p:bldP spid="504" grpId="0"/>
      <p:bldP spid="505" grpId="0"/>
      <p:bldP spid="506" grpId="0"/>
      <p:bldP spid="507" grpId="0"/>
      <p:bldP spid="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4666129" y="2789499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5617182" y="3300714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4777246" y="2268639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6452488" y="22339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6715788" y="2822294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3">
            <a:extLst>
              <a:ext uri="{FF2B5EF4-FFF2-40B4-BE49-F238E27FC236}">
                <a16:creationId xmlns:a16="http://schemas.microsoft.com/office/drawing/2014/main" id="{CAD83B90-6A61-424F-807D-7507674811C5}"/>
              </a:ext>
            </a:extLst>
          </p:cNvPr>
          <p:cNvGrpSpPr>
            <a:grpSpLocks/>
          </p:cNvGrpSpPr>
          <p:nvPr/>
        </p:nvGrpSpPr>
        <p:grpSpPr bwMode="auto"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235" name="Freeform 4">
              <a:extLst>
                <a:ext uri="{FF2B5EF4-FFF2-40B4-BE49-F238E27FC236}">
                  <a16:creationId xmlns:a16="http://schemas.microsoft.com/office/drawing/2014/main" id="{D55BBFC2-7A7F-8B48-AC36-5E367A010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1465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Oval 5">
              <a:extLst>
                <a:ext uri="{FF2B5EF4-FFF2-40B4-BE49-F238E27FC236}">
                  <a16:creationId xmlns:a16="http://schemas.microsoft.com/office/drawing/2014/main" id="{D1E533AD-8D87-7A4B-8A7E-E763008FB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6">
              <a:extLst>
                <a:ext uri="{FF2B5EF4-FFF2-40B4-BE49-F238E27FC236}">
                  <a16:creationId xmlns:a16="http://schemas.microsoft.com/office/drawing/2014/main" id="{8393A25C-8E73-3945-96CC-27CA319F0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Line 7">
              <a:extLst>
                <a:ext uri="{FF2B5EF4-FFF2-40B4-BE49-F238E27FC236}">
                  <a16:creationId xmlns:a16="http://schemas.microsoft.com/office/drawing/2014/main" id="{00CB3848-99BB-D84B-AFA1-D2A40790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Rectangle 8">
              <a:extLst>
                <a:ext uri="{FF2B5EF4-FFF2-40B4-BE49-F238E27FC236}">
                  <a16:creationId xmlns:a16="http://schemas.microsoft.com/office/drawing/2014/main" id="{D86D7FD3-F350-4745-AAE8-4DC4DEC22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Oval 9">
              <a:extLst>
                <a:ext uri="{FF2B5EF4-FFF2-40B4-BE49-F238E27FC236}">
                  <a16:creationId xmlns:a16="http://schemas.microsoft.com/office/drawing/2014/main" id="{9A82BFE7-2A38-894C-A32D-46DEDFCA2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Oval 10">
              <a:extLst>
                <a:ext uri="{FF2B5EF4-FFF2-40B4-BE49-F238E27FC236}">
                  <a16:creationId xmlns:a16="http://schemas.microsoft.com/office/drawing/2014/main" id="{AA854307-5377-8A41-9AEB-75CD5A873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2" name="Line 11">
              <a:extLst>
                <a:ext uri="{FF2B5EF4-FFF2-40B4-BE49-F238E27FC236}">
                  <a16:creationId xmlns:a16="http://schemas.microsoft.com/office/drawing/2014/main" id="{9FA810B5-81B4-AB4E-9CB4-8AB6FC42F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12">
              <a:extLst>
                <a:ext uri="{FF2B5EF4-FFF2-40B4-BE49-F238E27FC236}">
                  <a16:creationId xmlns:a16="http://schemas.microsoft.com/office/drawing/2014/main" id="{1F897DDB-A59F-8A49-AA62-3734F23BB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Rectangle 13">
              <a:extLst>
                <a:ext uri="{FF2B5EF4-FFF2-40B4-BE49-F238E27FC236}">
                  <a16:creationId xmlns:a16="http://schemas.microsoft.com/office/drawing/2014/main" id="{109513FF-1C63-234A-9B1E-75D62A42C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Oval 14">
              <a:extLst>
                <a:ext uri="{FF2B5EF4-FFF2-40B4-BE49-F238E27FC236}">
                  <a16:creationId xmlns:a16="http://schemas.microsoft.com/office/drawing/2014/main" id="{30EA6A56-1EC2-C342-B322-0BD69F60A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4" name="Oval 15">
              <a:extLst>
                <a:ext uri="{FF2B5EF4-FFF2-40B4-BE49-F238E27FC236}">
                  <a16:creationId xmlns:a16="http://schemas.microsoft.com/office/drawing/2014/main" id="{91BAA6D5-E6E6-3F47-BA4B-0311E071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5" name="Line 16">
              <a:extLst>
                <a:ext uri="{FF2B5EF4-FFF2-40B4-BE49-F238E27FC236}">
                  <a16:creationId xmlns:a16="http://schemas.microsoft.com/office/drawing/2014/main" id="{A8F35EF4-8155-D144-9887-2394E21FD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6" name="Line 17">
              <a:extLst>
                <a:ext uri="{FF2B5EF4-FFF2-40B4-BE49-F238E27FC236}">
                  <a16:creationId xmlns:a16="http://schemas.microsoft.com/office/drawing/2014/main" id="{C0FFA446-EED0-654F-8B59-830BB7BE9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7" name="Rectangle 18">
              <a:extLst>
                <a:ext uri="{FF2B5EF4-FFF2-40B4-BE49-F238E27FC236}">
                  <a16:creationId xmlns:a16="http://schemas.microsoft.com/office/drawing/2014/main" id="{8C6FDE51-7923-3B44-830E-2DB780796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8" name="Oval 19">
              <a:extLst>
                <a:ext uri="{FF2B5EF4-FFF2-40B4-BE49-F238E27FC236}">
                  <a16:creationId xmlns:a16="http://schemas.microsoft.com/office/drawing/2014/main" id="{48735EAA-D015-2749-B8E6-A932F1A86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6" name="Oval 20">
              <a:extLst>
                <a:ext uri="{FF2B5EF4-FFF2-40B4-BE49-F238E27FC236}">
                  <a16:creationId xmlns:a16="http://schemas.microsoft.com/office/drawing/2014/main" id="{2C0D7CB9-B6B7-7F48-A7C9-A5362FCF3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7" name="Line 21">
              <a:extLst>
                <a:ext uri="{FF2B5EF4-FFF2-40B4-BE49-F238E27FC236}">
                  <a16:creationId xmlns:a16="http://schemas.microsoft.com/office/drawing/2014/main" id="{5710184A-753A-EF4E-A1BA-C728CC0A0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8" name="Line 22">
              <a:extLst>
                <a:ext uri="{FF2B5EF4-FFF2-40B4-BE49-F238E27FC236}">
                  <a16:creationId xmlns:a16="http://schemas.microsoft.com/office/drawing/2014/main" id="{77D8EC50-7DE6-D947-804E-5FF59E342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Rectangle 23">
              <a:extLst>
                <a:ext uri="{FF2B5EF4-FFF2-40B4-BE49-F238E27FC236}">
                  <a16:creationId xmlns:a16="http://schemas.microsoft.com/office/drawing/2014/main" id="{640A0C04-CA0A-D44B-AE10-2BB26102D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0" name="Oval 24">
              <a:extLst>
                <a:ext uri="{FF2B5EF4-FFF2-40B4-BE49-F238E27FC236}">
                  <a16:creationId xmlns:a16="http://schemas.microsoft.com/office/drawing/2014/main" id="{3DBD615F-4385-7F48-84F4-A38AEA1D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1" name="Oval 25">
              <a:extLst>
                <a:ext uri="{FF2B5EF4-FFF2-40B4-BE49-F238E27FC236}">
                  <a16:creationId xmlns:a16="http://schemas.microsoft.com/office/drawing/2014/main" id="{5EAEA945-6C71-7244-8444-F5DE78D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2" name="Line 26">
              <a:extLst>
                <a:ext uri="{FF2B5EF4-FFF2-40B4-BE49-F238E27FC236}">
                  <a16:creationId xmlns:a16="http://schemas.microsoft.com/office/drawing/2014/main" id="{B239EFA1-CE87-FA45-AECE-0A1D04B2E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3" name="Line 27">
              <a:extLst>
                <a:ext uri="{FF2B5EF4-FFF2-40B4-BE49-F238E27FC236}">
                  <a16:creationId xmlns:a16="http://schemas.microsoft.com/office/drawing/2014/main" id="{F57F8B7F-1DEE-0646-944B-3627E0503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Rectangle 28">
              <a:extLst>
                <a:ext uri="{FF2B5EF4-FFF2-40B4-BE49-F238E27FC236}">
                  <a16:creationId xmlns:a16="http://schemas.microsoft.com/office/drawing/2014/main" id="{48E9AA69-2A64-F44B-AF24-4B58BF3B8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Oval 29">
              <a:extLst>
                <a:ext uri="{FF2B5EF4-FFF2-40B4-BE49-F238E27FC236}">
                  <a16:creationId xmlns:a16="http://schemas.microsoft.com/office/drawing/2014/main" id="{DB57CF03-5C7F-7446-BFCA-6885962A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Oval 30">
              <a:extLst>
                <a:ext uri="{FF2B5EF4-FFF2-40B4-BE49-F238E27FC236}">
                  <a16:creationId xmlns:a16="http://schemas.microsoft.com/office/drawing/2014/main" id="{57E7565D-361A-0649-83E3-41C966CE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31">
              <a:extLst>
                <a:ext uri="{FF2B5EF4-FFF2-40B4-BE49-F238E27FC236}">
                  <a16:creationId xmlns:a16="http://schemas.microsoft.com/office/drawing/2014/main" id="{7307AAD6-1B7B-3E4C-AD3F-1CB98C243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Line 32">
              <a:extLst>
                <a:ext uri="{FF2B5EF4-FFF2-40B4-BE49-F238E27FC236}">
                  <a16:creationId xmlns:a16="http://schemas.microsoft.com/office/drawing/2014/main" id="{85AADD66-C3FE-324C-91AE-0057BDCFD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Rectangle 33">
              <a:extLst>
                <a:ext uri="{FF2B5EF4-FFF2-40B4-BE49-F238E27FC236}">
                  <a16:creationId xmlns:a16="http://schemas.microsoft.com/office/drawing/2014/main" id="{8FC4E749-70CE-3946-A306-97D91D35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Oval 34">
              <a:extLst>
                <a:ext uri="{FF2B5EF4-FFF2-40B4-BE49-F238E27FC236}">
                  <a16:creationId xmlns:a16="http://schemas.microsoft.com/office/drawing/2014/main" id="{83AC3490-7FA4-A843-9DD7-EAD43C14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Freeform 35">
              <a:extLst>
                <a:ext uri="{FF2B5EF4-FFF2-40B4-BE49-F238E27FC236}">
                  <a16:creationId xmlns:a16="http://schemas.microsoft.com/office/drawing/2014/main" id="{E0CB0E6F-0318-5A42-804B-74DE7351E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492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Freeform 36">
              <a:extLst>
                <a:ext uri="{FF2B5EF4-FFF2-40B4-BE49-F238E27FC236}">
                  <a16:creationId xmlns:a16="http://schemas.microsoft.com/office/drawing/2014/main" id="{8911BBF2-790A-F940-A9A6-265EE2DED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831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37">
              <a:extLst>
                <a:ext uri="{FF2B5EF4-FFF2-40B4-BE49-F238E27FC236}">
                  <a16:creationId xmlns:a16="http://schemas.microsoft.com/office/drawing/2014/main" id="{5FCEA00D-30D9-AD48-B36B-87D306BD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113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4" name="Freeform 38">
              <a:extLst>
                <a:ext uri="{FF2B5EF4-FFF2-40B4-BE49-F238E27FC236}">
                  <a16:creationId xmlns:a16="http://schemas.microsoft.com/office/drawing/2014/main" id="{FFF79244-8621-1B4A-A951-D5F42829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789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5" name="Group 39">
              <a:extLst>
                <a:ext uri="{FF2B5EF4-FFF2-40B4-BE49-F238E27FC236}">
                  <a16:creationId xmlns:a16="http://schemas.microsoft.com/office/drawing/2014/main" id="{3FE22FDD-2AF6-2F45-9D94-A7E347A87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311" name="Rectangle 40">
                <a:extLst>
                  <a:ext uri="{FF2B5EF4-FFF2-40B4-BE49-F238E27FC236}">
                    <a16:creationId xmlns:a16="http://schemas.microsoft.com/office/drawing/2014/main" id="{7F9E7EA5-4703-3A4F-83AA-78477F6D2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Text Box 41">
                <a:extLst>
                  <a:ext uri="{FF2B5EF4-FFF2-40B4-BE49-F238E27FC236}">
                    <a16:creationId xmlns:a16="http://schemas.microsoft.com/office/drawing/2014/main" id="{7F6788A4-B028-5E46-BA6B-8260B340CC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6" name="Group 42">
              <a:extLst>
                <a:ext uri="{FF2B5EF4-FFF2-40B4-BE49-F238E27FC236}">
                  <a16:creationId xmlns:a16="http://schemas.microsoft.com/office/drawing/2014/main" id="{3B399E80-BBE9-DE42-9C20-F733C3486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309" name="Rectangle 43">
                <a:extLst>
                  <a:ext uri="{FF2B5EF4-FFF2-40B4-BE49-F238E27FC236}">
                    <a16:creationId xmlns:a16="http://schemas.microsoft.com/office/drawing/2014/main" id="{C759317C-74E3-004E-8696-C6730D2A7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44">
                <a:extLst>
                  <a:ext uri="{FF2B5EF4-FFF2-40B4-BE49-F238E27FC236}">
                    <a16:creationId xmlns:a16="http://schemas.microsoft.com/office/drawing/2014/main" id="{5EC66565-CE3C-DC49-A451-6127C9B7F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7" name="Group 45">
              <a:extLst>
                <a:ext uri="{FF2B5EF4-FFF2-40B4-BE49-F238E27FC236}">
                  <a16:creationId xmlns:a16="http://schemas.microsoft.com/office/drawing/2014/main" id="{24F7013F-EE6F-1840-BCC7-9CF2E43BDE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307" name="Rectangle 46">
                <a:extLst>
                  <a:ext uri="{FF2B5EF4-FFF2-40B4-BE49-F238E27FC236}">
                    <a16:creationId xmlns:a16="http://schemas.microsoft.com/office/drawing/2014/main" id="{534C2F14-5739-6A42-A4B7-963A8F9D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Text Box 47">
                <a:extLst>
                  <a:ext uri="{FF2B5EF4-FFF2-40B4-BE49-F238E27FC236}">
                    <a16:creationId xmlns:a16="http://schemas.microsoft.com/office/drawing/2014/main" id="{06099668-A654-B443-AD81-E015DBEC4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298" name="Group 48">
              <a:extLst>
                <a:ext uri="{FF2B5EF4-FFF2-40B4-BE49-F238E27FC236}">
                  <a16:creationId xmlns:a16="http://schemas.microsoft.com/office/drawing/2014/main" id="{9DDFF683-1C8F-C14A-B1E0-84D48C9766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305" name="Rectangle 49">
                <a:extLst>
                  <a:ext uri="{FF2B5EF4-FFF2-40B4-BE49-F238E27FC236}">
                    <a16:creationId xmlns:a16="http://schemas.microsoft.com/office/drawing/2014/main" id="{6ACA49F7-2DDA-174A-BA02-F0E6DC5FE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Text Box 50">
                <a:extLst>
                  <a:ext uri="{FF2B5EF4-FFF2-40B4-BE49-F238E27FC236}">
                    <a16:creationId xmlns:a16="http://schemas.microsoft.com/office/drawing/2014/main" id="{B380098B-5F1B-B443-B890-D9D80D58A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9" name="Group 51">
              <a:extLst>
                <a:ext uri="{FF2B5EF4-FFF2-40B4-BE49-F238E27FC236}">
                  <a16:creationId xmlns:a16="http://schemas.microsoft.com/office/drawing/2014/main" id="{657C09A9-0D00-C341-97E4-BFE0D534E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303" name="Rectangle 52">
                <a:extLst>
                  <a:ext uri="{FF2B5EF4-FFF2-40B4-BE49-F238E27FC236}">
                    <a16:creationId xmlns:a16="http://schemas.microsoft.com/office/drawing/2014/main" id="{DA96FFA9-8E2C-F446-A90C-1D2C3A740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4" name="Text Box 53">
                <a:extLst>
                  <a:ext uri="{FF2B5EF4-FFF2-40B4-BE49-F238E27FC236}">
                    <a16:creationId xmlns:a16="http://schemas.microsoft.com/office/drawing/2014/main" id="{4094D47B-3C2E-1549-9303-FE64B14C5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00" name="Group 54">
              <a:extLst>
                <a:ext uri="{FF2B5EF4-FFF2-40B4-BE49-F238E27FC236}">
                  <a16:creationId xmlns:a16="http://schemas.microsoft.com/office/drawing/2014/main" id="{4895C555-2EC4-9F4B-9A35-FF3D23C07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301" name="Rectangle 55">
                <a:extLst>
                  <a:ext uri="{FF2B5EF4-FFF2-40B4-BE49-F238E27FC236}">
                    <a16:creationId xmlns:a16="http://schemas.microsoft.com/office/drawing/2014/main" id="{1594FC40-950D-DD4E-9742-69A340A7F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2" name="Text Box 56">
                <a:extLst>
                  <a:ext uri="{FF2B5EF4-FFF2-40B4-BE49-F238E27FC236}">
                    <a16:creationId xmlns:a16="http://schemas.microsoft.com/office/drawing/2014/main" id="{70D90BEE-05A4-FA49-8BE7-08E95F13A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</p:grpSp>
      <p:sp>
        <p:nvSpPr>
          <p:cNvPr id="313" name="Text Box 57">
            <a:extLst>
              <a:ext uri="{FF2B5EF4-FFF2-40B4-BE49-F238E27FC236}">
                <a16:creationId xmlns:a16="http://schemas.microsoft.com/office/drawing/2014/main" id="{64A60984-9F92-014B-A1A1-4ED6EE18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resulting least-cost-path tree from u: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B75B83-340D-DF48-B11B-E4763431618C}"/>
              </a:ext>
            </a:extLst>
          </p:cNvPr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329" name="Text Box 73">
              <a:extLst>
                <a:ext uri="{FF2B5EF4-FFF2-40B4-BE49-F238E27FC236}">
                  <a16:creationId xmlns:a16="http://schemas.microsoft.com/office/drawing/2014/main" id="{33F13002-9C84-AC45-85CD-36E5D057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resulting forwarding table in u: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A06AC3B-3519-6940-83CC-F298AC6E1530}"/>
                </a:ext>
              </a:extLst>
            </p:cNvPr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510DE8-21E1-A542-BA94-C8D9DE35CF35}"/>
                  </a:ext>
                </a:extLst>
              </p:cNvPr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54B982-B7D4-D841-A53C-E699EE81E943}"/>
                  </a:ext>
                </a:extLst>
              </p:cNvPr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7A910-2025-F047-93E1-3DCFBCE13ED1}"/>
                  </a:ext>
                </a:extLst>
              </p:cNvPr>
              <p:cNvSpPr txBox="1"/>
              <p:nvPr/>
            </p:nvSpPr>
            <p:spPr>
              <a:xfrm>
                <a:off x="9572264" y="2060295"/>
                <a:ext cx="404278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v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y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w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  <a:endParaRPr lang="en-US" dirty="0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2ECC22B-FD29-854E-98E6-577039BEAFC8}"/>
                  </a:ext>
                </a:extLst>
              </p:cNvPr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(u,v)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A1932-3100-C346-AA74-8048C9EF5669}"/>
                  </a:ext>
                </a:extLst>
              </p:cNvPr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destination</a:t>
                </a:r>
                <a:endParaRPr lang="en-US" dirty="0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5C520567-C138-9F4F-972E-A6D6E1C098AE}"/>
                  </a:ext>
                </a:extLst>
              </p:cNvPr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outgoing link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AB781-8439-8C4F-8F97-23D8CA7B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8724" y="2060293"/>
                <a:ext cx="2395960" cy="0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7D2336-FF8B-F94C-A7C3-827D1CE1B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9342" y="1770927"/>
                <a:ext cx="0" cy="1990845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EB9AF4-5603-FB43-B05B-61449C2AEFFB}"/>
              </a:ext>
            </a:extLst>
          </p:cNvPr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6387EE-3D37-4948-8425-E51C56BFAD3E}"/>
                </a:ext>
              </a:extLst>
            </p:cNvPr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route from </a:t>
              </a:r>
              <a:r>
                <a:rPr lang="en-US" i="1" dirty="0"/>
                <a:t>u</a:t>
              </a:r>
              <a:r>
                <a:rPr lang="en-US" dirty="0"/>
                <a:t> to</a:t>
              </a:r>
              <a:r>
                <a:rPr lang="en-US" i="1" dirty="0"/>
                <a:t> v </a:t>
              </a:r>
              <a:r>
                <a:rPr lang="en-US" dirty="0"/>
                <a:t>directly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27B774-BBDB-844B-9FDB-AFB31AC4A39F}"/>
                </a:ext>
              </a:extLst>
            </p:cNvPr>
            <p:cNvCxnSpPr>
              <a:cxnSpLocks/>
            </p:cNvCxnSpPr>
            <p:nvPr/>
          </p:nvCxnSpPr>
          <p:spPr>
            <a:xfrm>
              <a:off x="8565265" y="5000264"/>
              <a:ext cx="68290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3C6B55-B326-044B-8E06-D5159D43754E}"/>
              </a:ext>
            </a:extLst>
          </p:cNvPr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C09FF997-745F-784E-9A60-C291F499E8CB}"/>
                </a:ext>
              </a:extLst>
            </p:cNvPr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route from u to all other destinations via </a:t>
              </a:r>
              <a:r>
                <a:rPr lang="en-US" i="1" dirty="0"/>
                <a:t>x</a:t>
              </a:r>
              <a:r>
                <a:rPr lang="en-US" dirty="0"/>
                <a:t> </a:t>
              </a:r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68ADB3E5-D636-BB44-86FA-BBB701733A10}"/>
                </a:ext>
              </a:extLst>
            </p:cNvPr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299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another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6" name="Group 2">
            <a:extLst>
              <a:ext uri="{FF2B5EF4-FFF2-40B4-BE49-F238E27FC236}">
                <a16:creationId xmlns:a16="http://schemas.microsoft.com/office/drawing/2014/main" id="{32F1096F-92AF-264C-9891-4B2131A1535A}"/>
              </a:ext>
            </a:extLst>
          </p:cNvPr>
          <p:cNvGrpSpPr>
            <a:grpSpLocks/>
          </p:cNvGrpSpPr>
          <p:nvPr/>
        </p:nvGrpSpPr>
        <p:grpSpPr bwMode="auto">
          <a:xfrm>
            <a:off x="7267328" y="1497821"/>
            <a:ext cx="4217987" cy="3364357"/>
            <a:chOff x="415" y="856"/>
            <a:chExt cx="2910" cy="2258"/>
          </a:xfrm>
        </p:grpSpPr>
        <p:grpSp>
          <p:nvGrpSpPr>
            <p:cNvPr id="277" name="Group 3">
              <a:extLst>
                <a:ext uri="{FF2B5EF4-FFF2-40B4-BE49-F238E27FC236}">
                  <a16:creationId xmlns:a16="http://schemas.microsoft.com/office/drawing/2014/main" id="{658BC70D-BFE1-3445-B630-7B3A4A796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0" y="1997"/>
              <a:ext cx="316" cy="267"/>
              <a:chOff x="1613" y="2011"/>
              <a:chExt cx="316" cy="267"/>
            </a:xfrm>
          </p:grpSpPr>
          <p:sp>
            <p:nvSpPr>
              <p:cNvPr id="339" name="Oval 4">
                <a:extLst>
                  <a:ext uri="{FF2B5EF4-FFF2-40B4-BE49-F238E27FC236}">
                    <a16:creationId xmlns:a16="http://schemas.microsoft.com/office/drawing/2014/main" id="{12B70928-94ED-274E-B17E-6E7CC5A85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0" name="Line 5">
                <a:extLst>
                  <a:ext uri="{FF2B5EF4-FFF2-40B4-BE49-F238E27FC236}">
                    <a16:creationId xmlns:a16="http://schemas.microsoft.com/office/drawing/2014/main" id="{724BACA0-C784-AA40-8F39-24AD77537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1" name="Line 6">
                <a:extLst>
                  <a:ext uri="{FF2B5EF4-FFF2-40B4-BE49-F238E27FC236}">
                    <a16:creationId xmlns:a16="http://schemas.microsoft.com/office/drawing/2014/main" id="{60ABD3DF-926A-F240-941E-16F8EC7F8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2" name="Rectangle 7">
                <a:extLst>
                  <a:ext uri="{FF2B5EF4-FFF2-40B4-BE49-F238E27FC236}">
                    <a16:creationId xmlns:a16="http://schemas.microsoft.com/office/drawing/2014/main" id="{422D10D2-9AFE-1242-8892-1E7B20AE2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3" name="Oval 8">
                <a:extLst>
                  <a:ext uri="{FF2B5EF4-FFF2-40B4-BE49-F238E27FC236}">
                    <a16:creationId xmlns:a16="http://schemas.microsoft.com/office/drawing/2014/main" id="{A63B1AAC-711F-694A-BF58-5189313DB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4" name="Rectangle 9">
                <a:extLst>
                  <a:ext uri="{FF2B5EF4-FFF2-40B4-BE49-F238E27FC236}">
                    <a16:creationId xmlns:a16="http://schemas.microsoft.com/office/drawing/2014/main" id="{C458B676-20F1-6E43-A811-83BAEA22C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5" name="Text Box 10">
                <a:extLst>
                  <a:ext uri="{FF2B5EF4-FFF2-40B4-BE49-F238E27FC236}">
                    <a16:creationId xmlns:a16="http://schemas.microsoft.com/office/drawing/2014/main" id="{484CB1B7-C628-9F42-990E-9F7B96F344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2C66EC07-AF51-8046-9F06-245C35A6B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Text Box 12">
              <a:extLst>
                <a:ext uri="{FF2B5EF4-FFF2-40B4-BE49-F238E27FC236}">
                  <a16:creationId xmlns:a16="http://schemas.microsoft.com/office/drawing/2014/main" id="{FD2DA6DD-F18F-9646-A088-CBDDFC298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80" name="Group 13">
              <a:extLst>
                <a:ext uri="{FF2B5EF4-FFF2-40B4-BE49-F238E27FC236}">
                  <a16:creationId xmlns:a16="http://schemas.microsoft.com/office/drawing/2014/main" id="{471A1164-4650-7144-A6A9-CC01236964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9" y="2848"/>
              <a:ext cx="316" cy="266"/>
              <a:chOff x="1613" y="2011"/>
              <a:chExt cx="316" cy="266"/>
            </a:xfrm>
          </p:grpSpPr>
          <p:sp>
            <p:nvSpPr>
              <p:cNvPr id="332" name="Oval 14">
                <a:extLst>
                  <a:ext uri="{FF2B5EF4-FFF2-40B4-BE49-F238E27FC236}">
                    <a16:creationId xmlns:a16="http://schemas.microsoft.com/office/drawing/2014/main" id="{80A336F3-1162-5342-AC4A-8B2AED4E9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3" name="Line 15">
                <a:extLst>
                  <a:ext uri="{FF2B5EF4-FFF2-40B4-BE49-F238E27FC236}">
                    <a16:creationId xmlns:a16="http://schemas.microsoft.com/office/drawing/2014/main" id="{9FF9E86E-2F60-184C-8322-81DAB6CC7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4" name="Line 16">
                <a:extLst>
                  <a:ext uri="{FF2B5EF4-FFF2-40B4-BE49-F238E27FC236}">
                    <a16:creationId xmlns:a16="http://schemas.microsoft.com/office/drawing/2014/main" id="{139291DA-0B23-AF4A-80E1-C5AB8C8D5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5" name="Rectangle 17">
                <a:extLst>
                  <a:ext uri="{FF2B5EF4-FFF2-40B4-BE49-F238E27FC236}">
                    <a16:creationId xmlns:a16="http://schemas.microsoft.com/office/drawing/2014/main" id="{DCCEEA9D-E3E7-3E47-B22F-9936B2939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6" name="Oval 18">
                <a:extLst>
                  <a:ext uri="{FF2B5EF4-FFF2-40B4-BE49-F238E27FC236}">
                    <a16:creationId xmlns:a16="http://schemas.microsoft.com/office/drawing/2014/main" id="{BC673A69-9F19-6E48-B78B-300E678AB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7" name="Rectangle 19">
                <a:extLst>
                  <a:ext uri="{FF2B5EF4-FFF2-40B4-BE49-F238E27FC236}">
                    <a16:creationId xmlns:a16="http://schemas.microsoft.com/office/drawing/2014/main" id="{9CB54AFD-33DB-F34A-A696-9C14C1F2B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8" name="Text Box 20">
                <a:extLst>
                  <a:ext uri="{FF2B5EF4-FFF2-40B4-BE49-F238E27FC236}">
                    <a16:creationId xmlns:a16="http://schemas.microsoft.com/office/drawing/2014/main" id="{AC845383-9D3E-5C42-BB6B-3E65197E8A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1" name="Group 21">
              <a:extLst>
                <a:ext uri="{FF2B5EF4-FFF2-40B4-BE49-F238E27FC236}">
                  <a16:creationId xmlns:a16="http://schemas.microsoft.com/office/drawing/2014/main" id="{BA8E377E-CA1A-ED4B-BF90-295028D96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" y="856"/>
              <a:ext cx="316" cy="266"/>
              <a:chOff x="1613" y="2011"/>
              <a:chExt cx="316" cy="266"/>
            </a:xfrm>
          </p:grpSpPr>
          <p:sp>
            <p:nvSpPr>
              <p:cNvPr id="325" name="Oval 22">
                <a:extLst>
                  <a:ext uri="{FF2B5EF4-FFF2-40B4-BE49-F238E27FC236}">
                    <a16:creationId xmlns:a16="http://schemas.microsoft.com/office/drawing/2014/main" id="{BDA57358-5E81-8C48-92CB-61DF13F50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6" name="Line 23">
                <a:extLst>
                  <a:ext uri="{FF2B5EF4-FFF2-40B4-BE49-F238E27FC236}">
                    <a16:creationId xmlns:a16="http://schemas.microsoft.com/office/drawing/2014/main" id="{25B69C18-8DE4-7742-9F14-35A6A8894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7" name="Line 24">
                <a:extLst>
                  <a:ext uri="{FF2B5EF4-FFF2-40B4-BE49-F238E27FC236}">
                    <a16:creationId xmlns:a16="http://schemas.microsoft.com/office/drawing/2014/main" id="{6CB89C37-D416-D242-8479-89D57F652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" name="Rectangle 25">
                <a:extLst>
                  <a:ext uri="{FF2B5EF4-FFF2-40B4-BE49-F238E27FC236}">
                    <a16:creationId xmlns:a16="http://schemas.microsoft.com/office/drawing/2014/main" id="{21DBFB42-3378-4745-AF73-D425CA55A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9" name="Oval 26">
                <a:extLst>
                  <a:ext uri="{FF2B5EF4-FFF2-40B4-BE49-F238E27FC236}">
                    <a16:creationId xmlns:a16="http://schemas.microsoft.com/office/drawing/2014/main" id="{447835FA-E0FB-B943-9D6A-5FD526148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0" name="Rectangle 27">
                <a:extLst>
                  <a:ext uri="{FF2B5EF4-FFF2-40B4-BE49-F238E27FC236}">
                    <a16:creationId xmlns:a16="http://schemas.microsoft.com/office/drawing/2014/main" id="{07E675A6-015B-7F42-BDF9-8330D4ADC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1" name="Text Box 28">
                <a:extLst>
                  <a:ext uri="{FF2B5EF4-FFF2-40B4-BE49-F238E27FC236}">
                    <a16:creationId xmlns:a16="http://schemas.microsoft.com/office/drawing/2014/main" id="{9E12F9CF-21DB-3349-B2C0-3044A3D51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2" name="Group 29">
              <a:extLst>
                <a:ext uri="{FF2B5EF4-FFF2-40B4-BE49-F238E27FC236}">
                  <a16:creationId xmlns:a16="http://schemas.microsoft.com/office/drawing/2014/main" id="{21FBA163-2A78-6543-B0CC-7CA119F1B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2028"/>
              <a:ext cx="316" cy="267"/>
              <a:chOff x="1613" y="2011"/>
              <a:chExt cx="316" cy="267"/>
            </a:xfrm>
          </p:grpSpPr>
          <p:sp>
            <p:nvSpPr>
              <p:cNvPr id="318" name="Oval 30">
                <a:extLst>
                  <a:ext uri="{FF2B5EF4-FFF2-40B4-BE49-F238E27FC236}">
                    <a16:creationId xmlns:a16="http://schemas.microsoft.com/office/drawing/2014/main" id="{29825365-4AD8-5E4B-8933-DB1422AA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9" name="Line 31">
                <a:extLst>
                  <a:ext uri="{FF2B5EF4-FFF2-40B4-BE49-F238E27FC236}">
                    <a16:creationId xmlns:a16="http://schemas.microsoft.com/office/drawing/2014/main" id="{F38B670B-8807-404D-9154-5457C970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0" name="Line 32">
                <a:extLst>
                  <a:ext uri="{FF2B5EF4-FFF2-40B4-BE49-F238E27FC236}">
                    <a16:creationId xmlns:a16="http://schemas.microsoft.com/office/drawing/2014/main" id="{00108054-5F4F-9447-84AE-A11B0755C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1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1" name="Rectangle 33">
                <a:extLst>
                  <a:ext uri="{FF2B5EF4-FFF2-40B4-BE49-F238E27FC236}">
                    <a16:creationId xmlns:a16="http://schemas.microsoft.com/office/drawing/2014/main" id="{D048D158-7C67-CC4B-A11E-67C17E0A2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2" name="Oval 34">
                <a:extLst>
                  <a:ext uri="{FF2B5EF4-FFF2-40B4-BE49-F238E27FC236}">
                    <a16:creationId xmlns:a16="http://schemas.microsoft.com/office/drawing/2014/main" id="{138D5ABE-A76B-984C-BC94-76AC43F40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3" name="Rectangle 35">
                <a:extLst>
                  <a:ext uri="{FF2B5EF4-FFF2-40B4-BE49-F238E27FC236}">
                    <a16:creationId xmlns:a16="http://schemas.microsoft.com/office/drawing/2014/main" id="{A4BA8382-8E98-814C-B112-88E0250B6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4" name="Text Box 36">
                <a:extLst>
                  <a:ext uri="{FF2B5EF4-FFF2-40B4-BE49-F238E27FC236}">
                    <a16:creationId xmlns:a16="http://schemas.microsoft.com/office/drawing/2014/main" id="{C430FDFB-B840-284A-B1DA-B79B43768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83" name="Line 37">
              <a:extLst>
                <a:ext uri="{FF2B5EF4-FFF2-40B4-BE49-F238E27FC236}">
                  <a16:creationId xmlns:a16="http://schemas.microsoft.com/office/drawing/2014/main" id="{808D4F56-0160-9841-BF84-39B90D2E1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" y="2156"/>
              <a:ext cx="6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Line 38">
              <a:extLst>
                <a:ext uri="{FF2B5EF4-FFF2-40B4-BE49-F238E27FC236}">
                  <a16:creationId xmlns:a16="http://schemas.microsoft.com/office/drawing/2014/main" id="{7AFA0E43-6979-C944-8C7A-BFE8A232B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082"/>
              <a:ext cx="0" cy="9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Line 39">
              <a:extLst>
                <a:ext uri="{FF2B5EF4-FFF2-40B4-BE49-F238E27FC236}">
                  <a16:creationId xmlns:a16="http://schemas.microsoft.com/office/drawing/2014/main" id="{8B831959-D369-6E45-8A3C-8760AE925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" y="1021"/>
              <a:ext cx="674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Text Box 40">
              <a:extLst>
                <a:ext uri="{FF2B5EF4-FFF2-40B4-BE49-F238E27FC236}">
                  <a16:creationId xmlns:a16="http://schemas.microsoft.com/office/drawing/2014/main" id="{4F3E9232-C703-104F-A4AB-12CF1F981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41">
              <a:extLst>
                <a:ext uri="{FF2B5EF4-FFF2-40B4-BE49-F238E27FC236}">
                  <a16:creationId xmlns:a16="http://schemas.microsoft.com/office/drawing/2014/main" id="{5BC1DD56-6FD0-6A4A-8705-9C46BE3DC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2206"/>
              <a:ext cx="9" cy="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Text Box 42">
              <a:extLst>
                <a:ext uri="{FF2B5EF4-FFF2-40B4-BE49-F238E27FC236}">
                  <a16:creationId xmlns:a16="http://schemas.microsoft.com/office/drawing/2014/main" id="{8B65710B-4630-3345-85EB-E3A08BF77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Freeform 43">
              <a:extLst>
                <a:ext uri="{FF2B5EF4-FFF2-40B4-BE49-F238E27FC236}">
                  <a16:creationId xmlns:a16="http://schemas.microsoft.com/office/drawing/2014/main" id="{1DA37895-BEA5-2F44-B0FB-06B2F676B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" y="2227"/>
              <a:ext cx="860" cy="799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Text Box 44">
              <a:extLst>
                <a:ext uri="{FF2B5EF4-FFF2-40B4-BE49-F238E27FC236}">
                  <a16:creationId xmlns:a16="http://schemas.microsoft.com/office/drawing/2014/main" id="{14130176-E966-1940-B020-47161106B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Line 45">
              <a:extLst>
                <a:ext uri="{FF2B5EF4-FFF2-40B4-BE49-F238E27FC236}">
                  <a16:creationId xmlns:a16="http://schemas.microsoft.com/office/drawing/2014/main" id="{5FA533BD-9B17-724F-B020-409CFC3CE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0" y="2158"/>
              <a:ext cx="998" cy="8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Text Box 46">
              <a:extLst>
                <a:ext uri="{FF2B5EF4-FFF2-40B4-BE49-F238E27FC236}">
                  <a16:creationId xmlns:a16="http://schemas.microsoft.com/office/drawing/2014/main" id="{4B9E6712-F2E9-6348-B7CF-9CEC9EE3D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47">
              <a:extLst>
                <a:ext uri="{FF2B5EF4-FFF2-40B4-BE49-F238E27FC236}">
                  <a16:creationId xmlns:a16="http://schemas.microsoft.com/office/drawing/2014/main" id="{61A0A93C-B128-F646-84CC-2F72C42DF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946"/>
              <a:ext cx="991" cy="484"/>
            </a:xfrm>
            <a:custGeom>
              <a:avLst/>
              <a:gdLst>
                <a:gd name="T0" fmla="*/ 0 w 991"/>
                <a:gd name="T1" fmla="*/ 168 h 484"/>
                <a:gd name="T2" fmla="*/ 204 w 991"/>
                <a:gd name="T3" fmla="*/ 484 h 484"/>
                <a:gd name="T4" fmla="*/ 302 w 991"/>
                <a:gd name="T5" fmla="*/ 7 h 484"/>
                <a:gd name="T6" fmla="*/ 379 w 991"/>
                <a:gd name="T7" fmla="*/ 442 h 484"/>
                <a:gd name="T8" fmla="*/ 534 w 991"/>
                <a:gd name="T9" fmla="*/ 21 h 484"/>
                <a:gd name="T10" fmla="*/ 611 w 991"/>
                <a:gd name="T11" fmla="*/ 351 h 484"/>
                <a:gd name="T12" fmla="*/ 660 w 991"/>
                <a:gd name="T13" fmla="*/ 77 h 484"/>
                <a:gd name="T14" fmla="*/ 991 w 991"/>
                <a:gd name="T15" fmla="*/ 218 h 4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1"/>
                <a:gd name="T25" fmla="*/ 0 h 484"/>
                <a:gd name="T26" fmla="*/ 991 w 991"/>
                <a:gd name="T27" fmla="*/ 484 h 4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1" h="484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4" name="Group 48">
              <a:extLst>
                <a:ext uri="{FF2B5EF4-FFF2-40B4-BE49-F238E27FC236}">
                  <a16:creationId xmlns:a16="http://schemas.microsoft.com/office/drawing/2014/main" id="{B7C23859-55BB-9B44-ADBB-F78119E7BD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311" name="Oval 49">
                <a:extLst>
                  <a:ext uri="{FF2B5EF4-FFF2-40B4-BE49-F238E27FC236}">
                    <a16:creationId xmlns:a16="http://schemas.microsoft.com/office/drawing/2014/main" id="{949CF37C-265E-D64E-B325-9AB7E8C27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Line 50">
                <a:extLst>
                  <a:ext uri="{FF2B5EF4-FFF2-40B4-BE49-F238E27FC236}">
                    <a16:creationId xmlns:a16="http://schemas.microsoft.com/office/drawing/2014/main" id="{97FEF3EE-7C25-6444-B8E7-03C400A28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3" name="Line 51">
                <a:extLst>
                  <a:ext uri="{FF2B5EF4-FFF2-40B4-BE49-F238E27FC236}">
                    <a16:creationId xmlns:a16="http://schemas.microsoft.com/office/drawing/2014/main" id="{FE3C484F-0565-0E43-B670-DA87C89A2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4" name="Rectangle 52">
                <a:extLst>
                  <a:ext uri="{FF2B5EF4-FFF2-40B4-BE49-F238E27FC236}">
                    <a16:creationId xmlns:a16="http://schemas.microsoft.com/office/drawing/2014/main" id="{03D9537A-3264-0D40-B097-904F19670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5" name="Oval 53">
                <a:extLst>
                  <a:ext uri="{FF2B5EF4-FFF2-40B4-BE49-F238E27FC236}">
                    <a16:creationId xmlns:a16="http://schemas.microsoft.com/office/drawing/2014/main" id="{39EFFB9B-60D2-6F4A-AE7C-381CD9E03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6" name="Rectangle 54">
                <a:extLst>
                  <a:ext uri="{FF2B5EF4-FFF2-40B4-BE49-F238E27FC236}">
                    <a16:creationId xmlns:a16="http://schemas.microsoft.com/office/drawing/2014/main" id="{56D1F98E-84A8-024C-B33E-AF0196C29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7" name="Text Box 55">
                <a:extLst>
                  <a:ext uri="{FF2B5EF4-FFF2-40B4-BE49-F238E27FC236}">
                    <a16:creationId xmlns:a16="http://schemas.microsoft.com/office/drawing/2014/main" id="{FF2D3BFC-D492-494B-B3FC-F2B37848F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5" name="Text Box 56">
              <a:extLst>
                <a:ext uri="{FF2B5EF4-FFF2-40B4-BE49-F238E27FC236}">
                  <a16:creationId xmlns:a16="http://schemas.microsoft.com/office/drawing/2014/main" id="{B415EC29-BD23-5146-8BE4-412D2D3F3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8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6" name="Group 57">
              <a:extLst>
                <a:ext uri="{FF2B5EF4-FFF2-40B4-BE49-F238E27FC236}">
                  <a16:creationId xmlns:a16="http://schemas.microsoft.com/office/drawing/2014/main" id="{C4202DE4-8110-9149-847A-09872B32E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9" y="2002"/>
              <a:ext cx="316" cy="266"/>
              <a:chOff x="1613" y="2011"/>
              <a:chExt cx="316" cy="266"/>
            </a:xfrm>
          </p:grpSpPr>
          <p:sp>
            <p:nvSpPr>
              <p:cNvPr id="304" name="Oval 58">
                <a:extLst>
                  <a:ext uri="{FF2B5EF4-FFF2-40B4-BE49-F238E27FC236}">
                    <a16:creationId xmlns:a16="http://schemas.microsoft.com/office/drawing/2014/main" id="{9EF75287-5339-3F4B-9A63-10529CE67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5" name="Line 59">
                <a:extLst>
                  <a:ext uri="{FF2B5EF4-FFF2-40B4-BE49-F238E27FC236}">
                    <a16:creationId xmlns:a16="http://schemas.microsoft.com/office/drawing/2014/main" id="{2AB637C9-6517-4947-A07D-D630784FB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Line 60">
                <a:extLst>
                  <a:ext uri="{FF2B5EF4-FFF2-40B4-BE49-F238E27FC236}">
                    <a16:creationId xmlns:a16="http://schemas.microsoft.com/office/drawing/2014/main" id="{2495A212-75B8-3943-99C1-206BECF8D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id="{8AA8B627-1CEC-4142-A0A3-32829E047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Oval 62">
                <a:extLst>
                  <a:ext uri="{FF2B5EF4-FFF2-40B4-BE49-F238E27FC236}">
                    <a16:creationId xmlns:a16="http://schemas.microsoft.com/office/drawing/2014/main" id="{F2AD727A-865F-A446-B467-3543A7C5A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id="{694BCF0D-8965-434E-92FD-E4E57EB0A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64">
                <a:extLst>
                  <a:ext uri="{FF2B5EF4-FFF2-40B4-BE49-F238E27FC236}">
                    <a16:creationId xmlns:a16="http://schemas.microsoft.com/office/drawing/2014/main" id="{0A90B092-1D02-6E42-B19F-DD4E347FB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7" name="Line 65">
              <a:extLst>
                <a:ext uri="{FF2B5EF4-FFF2-40B4-BE49-F238E27FC236}">
                  <a16:creationId xmlns:a16="http://schemas.microsoft.com/office/drawing/2014/main" id="{65E888B4-5F50-3146-B1A9-976CBB418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149"/>
              <a:ext cx="3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8" name="Text Box 66">
              <a:extLst>
                <a:ext uri="{FF2B5EF4-FFF2-40B4-BE49-F238E27FC236}">
                  <a16:creationId xmlns:a16="http://schemas.microsoft.com/office/drawing/2014/main" id="{F6469025-7017-984A-AA1F-2D5626DC3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9" name="Line 67">
              <a:extLst>
                <a:ext uri="{FF2B5EF4-FFF2-40B4-BE49-F238E27FC236}">
                  <a16:creationId xmlns:a16="http://schemas.microsoft.com/office/drawing/2014/main" id="{9DCC2A67-B231-F242-991B-5F4693B17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" y="990"/>
              <a:ext cx="965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0" name="Text Box 68">
              <a:extLst>
                <a:ext uri="{FF2B5EF4-FFF2-40B4-BE49-F238E27FC236}">
                  <a16:creationId xmlns:a16="http://schemas.microsoft.com/office/drawing/2014/main" id="{8129B7AB-5637-0844-AC15-1A3C9C295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1" name="Freeform 69">
              <a:extLst>
                <a:ext uri="{FF2B5EF4-FFF2-40B4-BE49-F238E27FC236}">
                  <a16:creationId xmlns:a16="http://schemas.microsoft.com/office/drawing/2014/main" id="{29AAE3EF-0505-6F46-BD2A-6D6911598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976"/>
              <a:ext cx="28" cy="14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2" name="Freeform 70">
              <a:extLst>
                <a:ext uri="{FF2B5EF4-FFF2-40B4-BE49-F238E27FC236}">
                  <a16:creationId xmlns:a16="http://schemas.microsoft.com/office/drawing/2014/main" id="{8B2F3D65-7E00-5D45-B201-518DAF552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999"/>
              <a:ext cx="1510" cy="1052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3" name="Text Box 71">
              <a:extLst>
                <a:ext uri="{FF2B5EF4-FFF2-40B4-BE49-F238E27FC236}">
                  <a16:creationId xmlns:a16="http://schemas.microsoft.com/office/drawing/2014/main" id="{E68507B9-D09E-784A-9037-01E28A337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46" name="Text Box 73">
            <a:extLst>
              <a:ext uri="{FF2B5EF4-FFF2-40B4-BE49-F238E27FC236}">
                <a16:creationId xmlns:a16="http://schemas.microsoft.com/office/drawing/2014/main" id="{A7B8CE6F-D2D0-C64A-985C-14A532171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7" name="Text Box 74">
            <a:extLst>
              <a:ext uri="{FF2B5EF4-FFF2-40B4-BE49-F238E27FC236}">
                <a16:creationId xmlns:a16="http://schemas.microsoft.com/office/drawing/2014/main" id="{68BAE725-C9B0-4841-BC00-DFE4ABCC8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348" name="Text Box 75">
            <a:extLst>
              <a:ext uri="{FF2B5EF4-FFF2-40B4-BE49-F238E27FC236}">
                <a16:creationId xmlns:a16="http://schemas.microsoft.com/office/drawing/2014/main" id="{852A35C1-53FD-CB4F-B4CA-0E3908EA5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p(v)</a:t>
            </a:r>
          </a:p>
        </p:txBody>
      </p:sp>
      <p:sp>
        <p:nvSpPr>
          <p:cNvPr id="349" name="Text Box 76">
            <a:extLst>
              <a:ext uri="{FF2B5EF4-FFF2-40B4-BE49-F238E27FC236}">
                <a16:creationId xmlns:a16="http://schemas.microsoft.com/office/drawing/2014/main" id="{BBDC5F24-2BBB-0D44-B8B8-9CFC425F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350" name="Text Box 77">
            <a:extLst>
              <a:ext uri="{FF2B5EF4-FFF2-40B4-BE49-F238E27FC236}">
                <a16:creationId xmlns:a16="http://schemas.microsoft.com/office/drawing/2014/main" id="{1F8B1E53-4D00-F94A-8B2B-876B77360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351" name="Text Box 78">
            <a:extLst>
              <a:ext uri="{FF2B5EF4-FFF2-40B4-BE49-F238E27FC236}">
                <a16:creationId xmlns:a16="http://schemas.microsoft.com/office/drawing/2014/main" id="{E227DF10-F3CE-8B4B-80AA-C1325789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352" name="Text Box 79">
            <a:extLst>
              <a:ext uri="{FF2B5EF4-FFF2-40B4-BE49-F238E27FC236}">
                <a16:creationId xmlns:a16="http://schemas.microsoft.com/office/drawing/2014/main" id="{58F5B987-DA0B-DE4E-A3DB-E7A0F640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353" name="Text Box 80">
            <a:extLst>
              <a:ext uri="{FF2B5EF4-FFF2-40B4-BE49-F238E27FC236}">
                <a16:creationId xmlns:a16="http://schemas.microsoft.com/office/drawing/2014/main" id="{E271C2C0-9C9D-0843-979B-F9ADBEE6B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354" name="Text Box 81">
            <a:extLst>
              <a:ext uri="{FF2B5EF4-FFF2-40B4-BE49-F238E27FC236}">
                <a16:creationId xmlns:a16="http://schemas.microsoft.com/office/drawing/2014/main" id="{448385CC-395B-0249-94AC-C347F1C7C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355" name="Text Box 82">
            <a:extLst>
              <a:ext uri="{FF2B5EF4-FFF2-40B4-BE49-F238E27FC236}">
                <a16:creationId xmlns:a16="http://schemas.microsoft.com/office/drawing/2014/main" id="{CB1E6E3C-1D2C-0440-BB3B-C048D495B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p(w)</a:t>
            </a:r>
          </a:p>
        </p:txBody>
      </p:sp>
      <p:sp>
        <p:nvSpPr>
          <p:cNvPr id="356" name="Text Box 83">
            <a:extLst>
              <a:ext uri="{FF2B5EF4-FFF2-40B4-BE49-F238E27FC236}">
                <a16:creationId xmlns:a16="http://schemas.microsoft.com/office/drawing/2014/main" id="{3D04A92E-6A73-6E4A-8741-77860D627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p(x)</a:t>
            </a:r>
          </a:p>
        </p:txBody>
      </p:sp>
      <p:sp>
        <p:nvSpPr>
          <p:cNvPr id="357" name="Text Box 84">
            <a:extLst>
              <a:ext uri="{FF2B5EF4-FFF2-40B4-BE49-F238E27FC236}">
                <a16:creationId xmlns:a16="http://schemas.microsoft.com/office/drawing/2014/main" id="{2192712D-9E59-B944-BD03-C11BC423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p(y)</a:t>
            </a:r>
          </a:p>
        </p:txBody>
      </p:sp>
      <p:sp>
        <p:nvSpPr>
          <p:cNvPr id="358" name="Text Box 85">
            <a:extLst>
              <a:ext uri="{FF2B5EF4-FFF2-40B4-BE49-F238E27FC236}">
                <a16:creationId xmlns:a16="http://schemas.microsoft.com/office/drawing/2014/main" id="{9759BEB2-4722-4F4D-9B33-21A7ED7DE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p(z)</a:t>
            </a:r>
          </a:p>
        </p:txBody>
      </p:sp>
      <p:sp>
        <p:nvSpPr>
          <p:cNvPr id="360" name="Line 87">
            <a:extLst>
              <a:ext uri="{FF2B5EF4-FFF2-40B4-BE49-F238E27FC236}">
                <a16:creationId xmlns:a16="http://schemas.microsoft.com/office/drawing/2014/main" id="{8A5F9E13-788E-9143-9F2C-DF086CF70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39397" y="2690590"/>
            <a:ext cx="5150117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1" name="Text Box 88">
            <a:extLst>
              <a:ext uri="{FF2B5EF4-FFF2-40B4-BE49-F238E27FC236}">
                <a16:creationId xmlns:a16="http://schemas.microsoft.com/office/drawing/2014/main" id="{B5D75FC0-2828-1E41-B4E4-7454030F9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sp>
        <p:nvSpPr>
          <p:cNvPr id="362" name="Line 89">
            <a:extLst>
              <a:ext uri="{FF2B5EF4-FFF2-40B4-BE49-F238E27FC236}">
                <a16:creationId xmlns:a16="http://schemas.microsoft.com/office/drawing/2014/main" id="{8BD77020-FC12-9249-83A7-84423976E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151241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3" name="Line 90">
            <a:extLst>
              <a:ext uri="{FF2B5EF4-FFF2-40B4-BE49-F238E27FC236}">
                <a16:creationId xmlns:a16="http://schemas.microsoft.com/office/drawing/2014/main" id="{9B928B6B-4609-A44E-A6B9-1009B9CF8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618848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4" name="Line 91">
            <a:extLst>
              <a:ext uri="{FF2B5EF4-FFF2-40B4-BE49-F238E27FC236}">
                <a16:creationId xmlns:a16="http://schemas.microsoft.com/office/drawing/2014/main" id="{C76CD917-F8A2-084E-A595-FE42589B9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428" y="4551040"/>
            <a:ext cx="5277571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5" name="Line 92">
            <a:extLst>
              <a:ext uri="{FF2B5EF4-FFF2-40B4-BE49-F238E27FC236}">
                <a16:creationId xmlns:a16="http://schemas.microsoft.com/office/drawing/2014/main" id="{676FEE77-1F18-B34E-9F67-2476A2B29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540" y="4075166"/>
            <a:ext cx="5229460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6" name="Line 93">
            <a:extLst>
              <a:ext uri="{FF2B5EF4-FFF2-40B4-BE49-F238E27FC236}">
                <a16:creationId xmlns:a16="http://schemas.microsoft.com/office/drawing/2014/main" id="{3EEF148F-9B80-C748-A557-23B2FBFF0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016" y="5009992"/>
            <a:ext cx="5229984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67" name="Group 94">
            <a:extLst>
              <a:ext uri="{FF2B5EF4-FFF2-40B4-BE49-F238E27FC236}">
                <a16:creationId xmlns:a16="http://schemas.microsoft.com/office/drawing/2014/main" id="{558A3619-2058-4548-85D0-840189D30DCE}"/>
              </a:ext>
            </a:extLst>
          </p:cNvPr>
          <p:cNvGrpSpPr>
            <a:grpSpLocks/>
          </p:cNvGrpSpPr>
          <p:nvPr/>
        </p:nvGrpSpPr>
        <p:grpSpPr bwMode="auto"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368" name="Text Box 95">
              <a:extLst>
                <a:ext uri="{FF2B5EF4-FFF2-40B4-BE49-F238E27FC236}">
                  <a16:creationId xmlns:a16="http://schemas.microsoft.com/office/drawing/2014/main" id="{A9A49627-FB9F-6845-8479-4BEAC4277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Text Box 96">
              <a:extLst>
                <a:ext uri="{FF2B5EF4-FFF2-40B4-BE49-F238E27FC236}">
                  <a16:creationId xmlns:a16="http://schemas.microsoft.com/office/drawing/2014/main" id="{41F7B139-E678-B342-AD4B-7706825D1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0" name="Text Box 97">
              <a:extLst>
                <a:ext uri="{FF2B5EF4-FFF2-40B4-BE49-F238E27FC236}">
                  <a16:creationId xmlns:a16="http://schemas.microsoft.com/office/drawing/2014/main" id="{5B097C3C-A220-B449-93F9-E7D23003D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7,u</a:t>
              </a:r>
            </a:p>
          </p:txBody>
        </p:sp>
        <p:sp>
          <p:nvSpPr>
            <p:cNvPr id="371" name="Text Box 98">
              <a:extLst>
                <a:ext uri="{FF2B5EF4-FFF2-40B4-BE49-F238E27FC236}">
                  <a16:creationId xmlns:a16="http://schemas.microsoft.com/office/drawing/2014/main" id="{A0B94B27-CE7D-C949-AB21-F3E5E557F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3,u</a:t>
              </a:r>
            </a:p>
          </p:txBody>
        </p:sp>
        <p:sp>
          <p:nvSpPr>
            <p:cNvPr id="372" name="Text Box 99">
              <a:extLst>
                <a:ext uri="{FF2B5EF4-FFF2-40B4-BE49-F238E27FC236}">
                  <a16:creationId xmlns:a16="http://schemas.microsoft.com/office/drawing/2014/main" id="{8F8C77A4-ABDE-6E4B-A507-A4A1C104D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sp>
        <p:nvSpPr>
          <p:cNvPr id="373" name="Text Box 100">
            <a:extLst>
              <a:ext uri="{FF2B5EF4-FFF2-40B4-BE49-F238E27FC236}">
                <a16:creationId xmlns:a16="http://schemas.microsoft.com/office/drawing/2014/main" id="{ACA0D86F-02A7-B84B-A3AB-5BBFB524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</a:t>
            </a:r>
          </a:p>
        </p:txBody>
      </p:sp>
      <p:grpSp>
        <p:nvGrpSpPr>
          <p:cNvPr id="374" name="Group 101">
            <a:extLst>
              <a:ext uri="{FF2B5EF4-FFF2-40B4-BE49-F238E27FC236}">
                <a16:creationId xmlns:a16="http://schemas.microsoft.com/office/drawing/2014/main" id="{BC7C6C04-9C61-5440-80EF-C809C32DFA20}"/>
              </a:ext>
            </a:extLst>
          </p:cNvPr>
          <p:cNvGrpSpPr>
            <a:grpSpLocks/>
          </p:cNvGrpSpPr>
          <p:nvPr/>
        </p:nvGrpSpPr>
        <p:grpSpPr bwMode="auto"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375" name="Text Box 102">
              <a:extLst>
                <a:ext uri="{FF2B5EF4-FFF2-40B4-BE49-F238E27FC236}">
                  <a16:creationId xmlns:a16="http://schemas.microsoft.com/office/drawing/2014/main" id="{ABAEF0CA-F3B4-3F40-B673-304562BCE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6" name="Text Box 103">
              <a:extLst>
                <a:ext uri="{FF2B5EF4-FFF2-40B4-BE49-F238E27FC236}">
                  <a16:creationId xmlns:a16="http://schemas.microsoft.com/office/drawing/2014/main" id="{E1707184-54DA-3043-95FA-5D2589479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,w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7" name="Text Box 104">
              <a:extLst>
                <a:ext uri="{FF2B5EF4-FFF2-40B4-BE49-F238E27FC236}">
                  <a16:creationId xmlns:a16="http://schemas.microsoft.com/office/drawing/2014/main" id="{D3F92256-ECF4-674D-BB01-22E8F8101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78" name="Text Box 105">
              <a:extLst>
                <a:ext uri="{FF2B5EF4-FFF2-40B4-BE49-F238E27FC236}">
                  <a16:creationId xmlns:a16="http://schemas.microsoft.com/office/drawing/2014/main" id="{71B35D57-CA7D-E747-B1BC-4BCC98CEE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9" name="Text Box 106">
              <a:extLst>
                <a:ext uri="{FF2B5EF4-FFF2-40B4-BE49-F238E27FC236}">
                  <a16:creationId xmlns:a16="http://schemas.microsoft.com/office/drawing/2014/main" id="{05FF3FA7-68BA-E148-B1AB-F1DC697DD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grpSp>
        <p:nvGrpSpPr>
          <p:cNvPr id="380" name="Group 107">
            <a:extLst>
              <a:ext uri="{FF2B5EF4-FFF2-40B4-BE49-F238E27FC236}">
                <a16:creationId xmlns:a16="http://schemas.microsoft.com/office/drawing/2014/main" id="{7E2626C5-CF93-9948-940E-8D5F72A7FC73}"/>
              </a:ext>
            </a:extLst>
          </p:cNvPr>
          <p:cNvGrpSpPr>
            <a:grpSpLocks/>
          </p:cNvGrpSpPr>
          <p:nvPr/>
        </p:nvGrpSpPr>
        <p:grpSpPr bwMode="auto"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381" name="Text Box 108">
              <a:extLst>
                <a:ext uri="{FF2B5EF4-FFF2-40B4-BE49-F238E27FC236}">
                  <a16:creationId xmlns:a16="http://schemas.microsoft.com/office/drawing/2014/main" id="{AFBD965A-43AF-524E-B4A9-98B017154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82" name="Text Box 109">
              <a:extLst>
                <a:ext uri="{FF2B5EF4-FFF2-40B4-BE49-F238E27FC236}">
                  <a16:creationId xmlns:a16="http://schemas.microsoft.com/office/drawing/2014/main" id="{AC0F38BE-BBC3-6F4E-B9EA-051436270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w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3" name="Text Box 110">
              <a:extLst>
                <a:ext uri="{FF2B5EF4-FFF2-40B4-BE49-F238E27FC236}">
                  <a16:creationId xmlns:a16="http://schemas.microsoft.com/office/drawing/2014/main" id="{A05F7448-12D1-D84F-9CDE-912BCF72A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84" name="Text Box 111">
              <a:extLst>
                <a:ext uri="{FF2B5EF4-FFF2-40B4-BE49-F238E27FC236}">
                  <a16:creationId xmlns:a16="http://schemas.microsoft.com/office/drawing/2014/main" id="{FD8E90C8-7E27-9944-8C71-AF1BD0233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5" name="Text Box 112">
              <a:extLst>
                <a:ext uri="{FF2B5EF4-FFF2-40B4-BE49-F238E27FC236}">
                  <a16:creationId xmlns:a16="http://schemas.microsoft.com/office/drawing/2014/main" id="{42882C9F-E751-B44C-9ECC-51EC29977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86" name="Oval 113">
            <a:extLst>
              <a:ext uri="{FF2B5EF4-FFF2-40B4-BE49-F238E27FC236}">
                <a16:creationId xmlns:a16="http://schemas.microsoft.com/office/drawing/2014/main" id="{CA07159E-E1BA-F141-B1FF-A9FEC3AB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2476" y="2263739"/>
            <a:ext cx="661410" cy="406374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7" name="Oval 114">
            <a:extLst>
              <a:ext uri="{FF2B5EF4-FFF2-40B4-BE49-F238E27FC236}">
                <a16:creationId xmlns:a16="http://schemas.microsoft.com/office/drawing/2014/main" id="{62801FA1-0308-3F47-AABC-89A1C31D0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170" y="2719263"/>
            <a:ext cx="679816" cy="40693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8" name="Text Box 115">
            <a:extLst>
              <a:ext uri="{FF2B5EF4-FFF2-40B4-BE49-F238E27FC236}">
                <a16:creationId xmlns:a16="http://schemas.microsoft.com/office/drawing/2014/main" id="{FDC188CB-240A-384E-B25B-A5EC55C6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</a:t>
            </a:r>
          </a:p>
        </p:txBody>
      </p:sp>
      <p:sp>
        <p:nvSpPr>
          <p:cNvPr id="389" name="Oval 116">
            <a:extLst>
              <a:ext uri="{FF2B5EF4-FFF2-40B4-BE49-F238E27FC236}">
                <a16:creationId xmlns:a16="http://schemas.microsoft.com/office/drawing/2014/main" id="{B75F5C54-5678-6548-96E7-8FA9101FC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191" y="3175054"/>
            <a:ext cx="665830" cy="42509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0" name="Text Box 117">
            <a:extLst>
              <a:ext uri="{FF2B5EF4-FFF2-40B4-BE49-F238E27FC236}">
                <a16:creationId xmlns:a16="http://schemas.microsoft.com/office/drawing/2014/main" id="{842A56D7-E405-6242-9B11-D34F99B3B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</a:t>
            </a:r>
          </a:p>
        </p:txBody>
      </p:sp>
      <p:grpSp>
        <p:nvGrpSpPr>
          <p:cNvPr id="391" name="Group 118">
            <a:extLst>
              <a:ext uri="{FF2B5EF4-FFF2-40B4-BE49-F238E27FC236}">
                <a16:creationId xmlns:a16="http://schemas.microsoft.com/office/drawing/2014/main" id="{24891FB7-CCEA-1C44-8641-F1973787CC8B}"/>
              </a:ext>
            </a:extLst>
          </p:cNvPr>
          <p:cNvGrpSpPr>
            <a:grpSpLocks/>
          </p:cNvGrpSpPr>
          <p:nvPr/>
        </p:nvGrpSpPr>
        <p:grpSpPr bwMode="auto"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392" name="Text Box 119">
              <a:extLst>
                <a:ext uri="{FF2B5EF4-FFF2-40B4-BE49-F238E27FC236}">
                  <a16:creationId xmlns:a16="http://schemas.microsoft.com/office/drawing/2014/main" id="{FDD3AD43-F8C3-954D-8CC1-37DDA254D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93" name="Text Box 120">
              <a:extLst>
                <a:ext uri="{FF2B5EF4-FFF2-40B4-BE49-F238E27FC236}">
                  <a16:creationId xmlns:a16="http://schemas.microsoft.com/office/drawing/2014/main" id="{A5A6672A-2DAC-A548-AE0D-9C0BEAE1F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94" name="Oval 121">
            <a:extLst>
              <a:ext uri="{FF2B5EF4-FFF2-40B4-BE49-F238E27FC236}">
                <a16:creationId xmlns:a16="http://schemas.microsoft.com/office/drawing/2014/main" id="{611DDB78-2B7E-2542-9D8B-A5C45FB4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116" y="3652013"/>
            <a:ext cx="676583" cy="39336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5" name="Text Box 122">
            <a:extLst>
              <a:ext uri="{FF2B5EF4-FFF2-40B4-BE49-F238E27FC236}">
                <a16:creationId xmlns:a16="http://schemas.microsoft.com/office/drawing/2014/main" id="{8C60FCAA-A8DF-9E4E-9A07-3A30DE5CF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</a:t>
            </a:r>
          </a:p>
        </p:txBody>
      </p:sp>
      <p:sp>
        <p:nvSpPr>
          <p:cNvPr id="396" name="Text Box 123">
            <a:extLst>
              <a:ext uri="{FF2B5EF4-FFF2-40B4-BE49-F238E27FC236}">
                <a16:creationId xmlns:a16="http://schemas.microsoft.com/office/drawing/2014/main" id="{F1BFAA7C-7ACD-2F4D-86BB-F5DA8784B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,y </a:t>
            </a:r>
          </a:p>
        </p:txBody>
      </p:sp>
      <p:sp>
        <p:nvSpPr>
          <p:cNvPr id="397" name="Oval 124">
            <a:extLst>
              <a:ext uri="{FF2B5EF4-FFF2-40B4-BE49-F238E27FC236}">
                <a16:creationId xmlns:a16="http://schemas.microsoft.com/office/drawing/2014/main" id="{0595C3F1-3B4E-AC41-9EFD-C0BB66A3E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111" y="4130222"/>
            <a:ext cx="707756" cy="38911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8" name="Rectangle 125">
            <a:extLst>
              <a:ext uri="{FF2B5EF4-FFF2-40B4-BE49-F238E27FC236}">
                <a16:creationId xmlns:a16="http://schemas.microsoft.com/office/drawing/2014/main" id="{0037DF6F-3A02-DE43-B518-773A20FBE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dirty="0">
                <a:solidFill>
                  <a:srgbClr val="CC0000"/>
                </a:solidFill>
                <a:ea typeface="ＭＳ Ｐゴシック" charset="0"/>
              </a:rPr>
              <a:t>notes:</a:t>
            </a: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construct least-cost-path tree by tracing predecessor nodes</a:t>
            </a: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ties can exist (can be broken arbitrarily)</a:t>
            </a:r>
          </a:p>
        </p:txBody>
      </p:sp>
      <p:sp>
        <p:nvSpPr>
          <p:cNvPr id="399" name="Line 126">
            <a:extLst>
              <a:ext uri="{FF2B5EF4-FFF2-40B4-BE49-F238E27FC236}">
                <a16:creationId xmlns:a16="http://schemas.microsoft.com/office/drawing/2014/main" id="{C99F0D07-C97F-7244-BE7D-62DDB539F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77917" y="3471860"/>
            <a:ext cx="5905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0" name="Line 127">
            <a:extLst>
              <a:ext uri="{FF2B5EF4-FFF2-40B4-BE49-F238E27FC236}">
                <a16:creationId xmlns:a16="http://schemas.microsoft.com/office/drawing/2014/main" id="{8F3B222C-0283-4642-B404-4B8A996A5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1087" y="3483435"/>
            <a:ext cx="1463675" cy="12049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1" name="Line 128">
            <a:extLst>
              <a:ext uri="{FF2B5EF4-FFF2-40B4-BE49-F238E27FC236}">
                <a16:creationId xmlns:a16="http://schemas.microsoft.com/office/drawing/2014/main" id="{F0DFADDD-C351-D342-B3F8-01384E324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8966" y="3539863"/>
            <a:ext cx="9525" cy="1047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2" name="Line 129">
            <a:extLst>
              <a:ext uri="{FF2B5EF4-FFF2-40B4-BE49-F238E27FC236}">
                <a16:creationId xmlns:a16="http://schemas.microsoft.com/office/drawing/2014/main" id="{917DAF3B-7743-C54C-9109-8A2DC3590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755" y="1754709"/>
            <a:ext cx="1012825" cy="1628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3" name="Line 130">
            <a:extLst>
              <a:ext uri="{FF2B5EF4-FFF2-40B4-BE49-F238E27FC236}">
                <a16:creationId xmlns:a16="http://schemas.microsoft.com/office/drawing/2014/main" id="{F3B9ECBE-8021-EC4B-8E7D-26831A93B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3502" y="3475036"/>
            <a:ext cx="9445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4" name="Text Box 131">
            <a:extLst>
              <a:ext uri="{FF2B5EF4-FFF2-40B4-BE49-F238E27FC236}">
                <a16:creationId xmlns:a16="http://schemas.microsoft.com/office/drawing/2014/main" id="{F5BA4ED6-2050-C341-8B0F-1599D2341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uwxvyz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5D16F8-4952-FE4D-91E2-4F6D021B6D74}"/>
              </a:ext>
            </a:extLst>
          </p:cNvPr>
          <p:cNvCxnSpPr/>
          <p:nvPr/>
        </p:nvCxnSpPr>
        <p:spPr>
          <a:xfrm>
            <a:off x="668005" y="2233984"/>
            <a:ext cx="5645188" cy="0"/>
          </a:xfrm>
          <a:prstGeom prst="line">
            <a:avLst/>
          </a:prstGeom>
          <a:ln w="2540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TextBox 511">
            <a:extLst>
              <a:ext uri="{FF2B5EF4-FFF2-40B4-BE49-F238E27FC236}">
                <a16:creationId xmlns:a16="http://schemas.microsoft.com/office/drawing/2014/main" id="{1F94D8F7-F56C-4044-B4A2-EFA8658B0151}"/>
              </a:ext>
            </a:extLst>
          </p:cNvPr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7F4BE64D-5BB6-3946-92A1-758E1216783E}"/>
              </a:ext>
            </a:extLst>
          </p:cNvPr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A1DE38EA-067E-254B-81F2-AFB941CD30A7}"/>
              </a:ext>
            </a:extLst>
          </p:cNvPr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FC94161-DABC-FD40-9A12-0A0B92FB9413}"/>
              </a:ext>
            </a:extLst>
          </p:cNvPr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288BE9D6-D8FD-304E-9D68-FE3AAEE6F204}"/>
              </a:ext>
            </a:extLst>
          </p:cNvPr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CCBC2688-EEF7-0A41-A1D1-FD3592861590}"/>
              </a:ext>
            </a:extLst>
          </p:cNvPr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3C2FF37F-A919-434C-8979-051B31CFD835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15" name="Straight Arrow Connector 514">
              <a:extLst>
                <a:ext uri="{FF2B5EF4-FFF2-40B4-BE49-F238E27FC236}">
                  <a16:creationId xmlns:a16="http://schemas.microsoft.com/office/drawing/2014/main" id="{6361C28B-7EB6-4E49-801C-002A7038AF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5CDBFCDB-3AB4-FE47-9C83-3D6DE05B385E}"/>
                </a:ext>
              </a:extLst>
            </p:cNvPr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34492E69-FC51-D44D-A0DF-E498D79FEC0F}"/>
              </a:ext>
            </a:extLst>
          </p:cNvPr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8B78A21D-0C51-5E40-A873-B41F0061767F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E057DF8D-CA83-344B-BC32-922BE22FB3C6}"/>
                </a:ext>
              </a:extLst>
            </p:cNvPr>
            <p:cNvCxnSpPr>
              <a:cxnSpLocks/>
              <a:endCxn id="426" idx="7"/>
            </p:cNvCxnSpPr>
            <p:nvPr/>
          </p:nvCxnSpPr>
          <p:spPr>
            <a:xfrm flipH="1">
              <a:off x="1224541" y="1686697"/>
              <a:ext cx="2198284" cy="163627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1144855E-246F-7640-9688-9DE68CCDF895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5C63813B-DF47-A04D-AB7C-06783AC116F7}"/>
              </a:ext>
            </a:extLst>
          </p:cNvPr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D4DF0F4E-4FAB-7E4A-B79C-58901FD967B2}"/>
                </a:ext>
              </a:extLst>
            </p:cNvPr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253E7A77-3CD8-4444-8652-326E4122CA29}"/>
                </a:ext>
              </a:extLst>
            </p:cNvPr>
            <p:cNvCxnSpPr>
              <a:cxnSpLocks/>
              <a:stCxn id="429" idx="4"/>
              <a:endCxn id="431" idx="0"/>
            </p:cNvCxnSpPr>
            <p:nvPr/>
          </p:nvCxnSpPr>
          <p:spPr>
            <a:xfrm flipH="1">
              <a:off x="1113138" y="1272747"/>
              <a:ext cx="675503" cy="200694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77F07FF7-2B96-0646-A06A-6A4413FB14D0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0CCDB2C5-7C8F-BA48-8528-642609B263D7}"/>
              </a:ext>
            </a:extLst>
          </p:cNvPr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B6DFCC8C-1043-294A-BBDC-453DCF8BA68B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97B46750-16A8-574E-A52F-46729E9F7031}"/>
                </a:ext>
              </a:extLst>
            </p:cNvPr>
            <p:cNvCxnSpPr>
              <a:cxnSpLocks/>
              <a:stCxn id="435" idx="3"/>
              <a:endCxn id="437" idx="7"/>
            </p:cNvCxnSpPr>
            <p:nvPr/>
          </p:nvCxnSpPr>
          <p:spPr>
            <a:xfrm flipH="1">
              <a:off x="1224541" y="778444"/>
              <a:ext cx="2942584" cy="2544526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904708D2-FA76-7B48-81BA-5EC9975951EB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D192E325-2F11-F54E-90FD-CBE3F2807D0F}"/>
              </a:ext>
            </a:extLst>
          </p:cNvPr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10536CE6-8D99-2348-945A-2105D954DF20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1" name="Straight Arrow Connector 440">
              <a:extLst>
                <a:ext uri="{FF2B5EF4-FFF2-40B4-BE49-F238E27FC236}">
                  <a16:creationId xmlns:a16="http://schemas.microsoft.com/office/drawing/2014/main" id="{F0B19E82-F38B-574C-B89D-511382F96E8E}"/>
                </a:ext>
              </a:extLst>
            </p:cNvPr>
            <p:cNvCxnSpPr>
              <a:cxnSpLocks/>
              <a:stCxn id="440" idx="3"/>
              <a:endCxn id="442" idx="7"/>
            </p:cNvCxnSpPr>
            <p:nvPr/>
          </p:nvCxnSpPr>
          <p:spPr>
            <a:xfrm flipH="1">
              <a:off x="285428" y="778444"/>
              <a:ext cx="3881697" cy="3032618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532A319F-9E77-E440-8542-72A35376DAE1}"/>
                </a:ext>
              </a:extLst>
            </p:cNvPr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64358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6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/>
      <p:bldP spid="386" grpId="0" animBg="1"/>
      <p:bldP spid="387" grpId="0" animBg="1"/>
      <p:bldP spid="388" grpId="0"/>
      <p:bldP spid="389" grpId="0" animBg="1"/>
      <p:bldP spid="390" grpId="0"/>
      <p:bldP spid="394" grpId="0" animBg="1"/>
      <p:bldP spid="395" grpId="0"/>
      <p:bldP spid="396" grpId="0"/>
      <p:bldP spid="397" grpId="0" animBg="1"/>
      <p:bldP spid="398" grpId="0"/>
      <p:bldP spid="399" grpId="0" animBg="1"/>
      <p:bldP spid="400" grpId="0" animBg="1"/>
      <p:bldP spid="401" grpId="0" animBg="1"/>
      <p:bldP spid="402" grpId="0" animBg="1"/>
      <p:bldP spid="403" grpId="0" animBg="1"/>
      <p:bldP spid="40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Comparison of LS and DV algorithms</a:t>
            </a: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E69A0B3F-EBFC-164A-821B-5A70757FB250}"/>
              </a:ext>
            </a:extLst>
          </p:cNvPr>
          <p:cNvSpPr txBox="1">
            <a:spLocks noChangeArrowheads="1"/>
          </p:cNvSpPr>
          <p:nvPr/>
        </p:nvSpPr>
        <p:spPr>
          <a:xfrm>
            <a:off x="749342" y="1478070"/>
            <a:ext cx="5162943" cy="1615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2000" dirty="0">
                <a:solidFill>
                  <a:srgbClr val="0000A8"/>
                </a:solidFill>
              </a:rPr>
              <a:t>message complexity</a:t>
            </a:r>
          </a:p>
          <a:p>
            <a:pPr marL="696913" lvl="1" indent="-349250">
              <a:buNone/>
            </a:pPr>
            <a:r>
              <a:rPr lang="en-US" sz="1800" dirty="0">
                <a:solidFill>
                  <a:srgbClr val="0000A8"/>
                </a:solidFill>
              </a:rPr>
              <a:t>LS: </a:t>
            </a:r>
            <a:r>
              <a:rPr lang="en-US" sz="1800" i="1" dirty="0">
                <a:solidFill>
                  <a:srgbClr val="0000A8"/>
                </a:solidFill>
              </a:rPr>
              <a:t>n</a:t>
            </a:r>
            <a:r>
              <a:rPr lang="en-US" sz="1800" dirty="0">
                <a:solidFill>
                  <a:srgbClr val="0000A8"/>
                </a:solidFill>
              </a:rPr>
              <a:t> </a:t>
            </a:r>
            <a:r>
              <a:rPr lang="en-US" sz="1800" dirty="0"/>
              <a:t>routers, O(</a:t>
            </a:r>
            <a:r>
              <a:rPr lang="en-US" sz="1800" i="1" dirty="0"/>
              <a:t>n</a:t>
            </a:r>
            <a:r>
              <a:rPr lang="en-US" sz="1800" i="1" baseline="30000" dirty="0"/>
              <a:t>2</a:t>
            </a:r>
            <a:r>
              <a:rPr lang="en-US" sz="1800" dirty="0"/>
              <a:t>) messages sent  </a:t>
            </a:r>
          </a:p>
          <a:p>
            <a:pPr marL="696913" lvl="1" indent="-349250">
              <a:buNone/>
            </a:pPr>
            <a:r>
              <a:rPr lang="en-US" sz="1800" dirty="0">
                <a:solidFill>
                  <a:srgbClr val="0000A8"/>
                </a:solidFill>
              </a:rPr>
              <a:t>DV: </a:t>
            </a:r>
            <a:r>
              <a:rPr lang="en-US" sz="1800" dirty="0"/>
              <a:t>exchange between neighbors; convergence time varies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88AB766F-5F85-0D4D-90A7-D36ED49CD024}"/>
              </a:ext>
            </a:extLst>
          </p:cNvPr>
          <p:cNvSpPr txBox="1">
            <a:spLocks noChangeArrowheads="1"/>
          </p:cNvSpPr>
          <p:nvPr/>
        </p:nvSpPr>
        <p:spPr>
          <a:xfrm>
            <a:off x="738904" y="3382027"/>
            <a:ext cx="5060647" cy="2367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 typeface="Wingdings" charset="0"/>
              <a:buNone/>
            </a:pPr>
            <a:r>
              <a:rPr lang="en-US" sz="2000" dirty="0">
                <a:solidFill>
                  <a:srgbClr val="0000A8"/>
                </a:solidFill>
              </a:rPr>
              <a:t>speed of convergence</a:t>
            </a:r>
          </a:p>
          <a:p>
            <a:pPr marL="696913" indent="-34925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A8"/>
                </a:solidFill>
              </a:rPr>
              <a:t>LS: </a:t>
            </a:r>
            <a:r>
              <a:rPr lang="en-US" sz="1800" dirty="0"/>
              <a:t>O(</a:t>
            </a:r>
            <a:r>
              <a:rPr lang="en-US" sz="1800" i="1" dirty="0"/>
              <a:t>n</a:t>
            </a:r>
            <a:r>
              <a:rPr lang="en-US" sz="1800" b="1" i="1" baseline="30000" dirty="0"/>
              <a:t>2</a:t>
            </a:r>
            <a:r>
              <a:rPr lang="en-US" sz="1800" dirty="0"/>
              <a:t>) algorithm, O(</a:t>
            </a:r>
            <a:r>
              <a:rPr lang="en-US" sz="1800" i="1" dirty="0"/>
              <a:t>n</a:t>
            </a:r>
            <a:r>
              <a:rPr lang="en-US" sz="1800" i="1" baseline="30000" dirty="0"/>
              <a:t>2</a:t>
            </a:r>
            <a:r>
              <a:rPr lang="en-US" sz="1800" dirty="0"/>
              <a:t>) messages</a:t>
            </a:r>
          </a:p>
          <a:p>
            <a:pPr marL="696913" lvl="1" indent="-236538">
              <a:spcBef>
                <a:spcPts val="0"/>
              </a:spcBef>
            </a:pPr>
            <a:r>
              <a:rPr lang="en-US" sz="1800" dirty="0"/>
              <a:t>may have oscillations</a:t>
            </a:r>
            <a:endParaRPr lang="en-US" sz="1600" dirty="0"/>
          </a:p>
          <a:p>
            <a:pPr marL="696913" indent="-34925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A8"/>
                </a:solidFill>
              </a:rPr>
              <a:t>DV: </a:t>
            </a:r>
            <a:r>
              <a:rPr lang="en-US" sz="1800" dirty="0"/>
              <a:t>convergence time varies</a:t>
            </a:r>
          </a:p>
          <a:p>
            <a:pPr marL="696913" lvl="1" indent="-236538">
              <a:spcBef>
                <a:spcPts val="0"/>
              </a:spcBef>
            </a:pPr>
            <a:r>
              <a:rPr lang="en-US" sz="1800" dirty="0"/>
              <a:t>may have routing loops</a:t>
            </a:r>
          </a:p>
          <a:p>
            <a:pPr marL="696913" lvl="1" indent="-236538">
              <a:spcBef>
                <a:spcPts val="0"/>
              </a:spcBef>
            </a:pPr>
            <a:r>
              <a:rPr lang="en-US" sz="1800" dirty="0"/>
              <a:t>count-to-infinity problem</a:t>
            </a:r>
            <a:endParaRPr lang="en-US" sz="1400" dirty="0"/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DC033023-B5B6-A345-83EB-C080F9647406}"/>
              </a:ext>
            </a:extLst>
          </p:cNvPr>
          <p:cNvSpPr txBox="1">
            <a:spLocks noChangeArrowheads="1"/>
          </p:cNvSpPr>
          <p:nvPr/>
        </p:nvSpPr>
        <p:spPr>
          <a:xfrm>
            <a:off x="6087648" y="1498948"/>
            <a:ext cx="5574083" cy="4939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2000" dirty="0">
                <a:solidFill>
                  <a:srgbClr val="0000A8"/>
                </a:solidFill>
              </a:rPr>
              <a:t>robustness: </a:t>
            </a:r>
            <a:r>
              <a:rPr lang="en-US" sz="2000" dirty="0"/>
              <a:t>what happens if router malfunctions, or is compromised?</a:t>
            </a:r>
          </a:p>
          <a:p>
            <a:pPr>
              <a:buFont typeface="Wingdings" charset="0"/>
              <a:buNone/>
            </a:pPr>
            <a:r>
              <a:rPr lang="en-US" sz="1800" dirty="0">
                <a:solidFill>
                  <a:srgbClr val="0000A8"/>
                </a:solidFill>
              </a:rPr>
              <a:t>LS: </a:t>
            </a:r>
          </a:p>
          <a:p>
            <a:pPr marL="522288" lvl="1" indent="-236538"/>
            <a:r>
              <a:rPr lang="en-US" sz="1800" dirty="0"/>
              <a:t>router can advertise incorrect </a:t>
            </a:r>
            <a:r>
              <a:rPr lang="en-US" sz="1800" i="1" dirty="0">
                <a:solidFill>
                  <a:srgbClr val="000099"/>
                </a:solidFill>
              </a:rPr>
              <a:t>link</a:t>
            </a:r>
            <a:r>
              <a:rPr lang="en-US" sz="1800" dirty="0"/>
              <a:t> cost</a:t>
            </a:r>
          </a:p>
          <a:p>
            <a:pPr marL="522288" lvl="1" indent="-236538"/>
            <a:r>
              <a:rPr lang="en-US" sz="1800" dirty="0"/>
              <a:t>each router computes only its </a:t>
            </a:r>
            <a:r>
              <a:rPr lang="en-US" sz="1800" i="1" dirty="0"/>
              <a:t>own</a:t>
            </a:r>
            <a:r>
              <a:rPr lang="en-US" sz="1800" dirty="0"/>
              <a:t> table</a:t>
            </a:r>
          </a:p>
          <a:p>
            <a:pPr>
              <a:buFont typeface="Wingdings" charset="0"/>
              <a:buNone/>
            </a:pPr>
            <a:r>
              <a:rPr lang="en-US" sz="1800" dirty="0">
                <a:solidFill>
                  <a:srgbClr val="0000A8"/>
                </a:solidFill>
              </a:rPr>
              <a:t>DV:</a:t>
            </a:r>
          </a:p>
          <a:p>
            <a:pPr marL="460375" lvl="1" indent="-223838"/>
            <a:r>
              <a:rPr lang="en-US" sz="1800" dirty="0"/>
              <a:t>DV router can advertise incorrect </a:t>
            </a:r>
            <a:r>
              <a:rPr lang="en-US" sz="1800" i="1" dirty="0">
                <a:solidFill>
                  <a:srgbClr val="000099"/>
                </a:solidFill>
              </a:rPr>
              <a:t>path</a:t>
            </a:r>
            <a:r>
              <a:rPr lang="en-US" sz="1800" dirty="0"/>
              <a:t> cost (“I have a </a:t>
            </a:r>
            <a:r>
              <a:rPr lang="en-US" sz="1800" i="1" dirty="0"/>
              <a:t>really</a:t>
            </a:r>
            <a:r>
              <a:rPr lang="en-US" sz="1800" dirty="0"/>
              <a:t> low-cost path to everywhere”): </a:t>
            </a:r>
            <a:r>
              <a:rPr lang="en-US" sz="1800" i="1" dirty="0">
                <a:solidFill>
                  <a:srgbClr val="0000A8"/>
                </a:solidFill>
              </a:rPr>
              <a:t>black-holing</a:t>
            </a:r>
          </a:p>
          <a:p>
            <a:pPr marL="460375" lvl="1" indent="-223838"/>
            <a:r>
              <a:rPr lang="en-US" sz="1800" dirty="0"/>
              <a:t>each router’</a:t>
            </a:r>
            <a:r>
              <a:rPr lang="en-US" altLang="ja-JP" sz="1800" dirty="0"/>
              <a:t>s DV is used by others: </a:t>
            </a:r>
            <a:r>
              <a:rPr lang="en-US" sz="1800" dirty="0"/>
              <a:t>error propagate thru network</a:t>
            </a:r>
          </a:p>
        </p:txBody>
      </p:sp>
    </p:spTree>
    <p:extLst>
      <p:ext uri="{BB962C8B-B14F-4D97-AF65-F5344CB8AC3E}">
        <p14:creationId xmlns:p14="http://schemas.microsoft.com/office/powerpoint/2010/main" val="314834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2866</Words>
  <Application>Microsoft Macintosh PowerPoint</Application>
  <PresentationFormat>Widescreen</PresentationFormat>
  <Paragraphs>924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ＭＳ Ｐゴシック</vt:lpstr>
      <vt:lpstr>Arial</vt:lpstr>
      <vt:lpstr>Calibri</vt:lpstr>
      <vt:lpstr>Comic Sans MS</vt:lpstr>
      <vt:lpstr>Gill Sans MT</vt:lpstr>
      <vt:lpstr>Times New Roman</vt:lpstr>
      <vt:lpstr>Wingdings</vt:lpstr>
      <vt:lpstr>Office Theme</vt:lpstr>
      <vt:lpstr>IT694 Computer Networks Week11_Lec 1</vt:lpstr>
      <vt:lpstr>Dijkstra’s link-state routing algorithm</vt:lpstr>
      <vt:lpstr>Dijkstra’s link-state routing algorithm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another example</vt:lpstr>
      <vt:lpstr>Comparison of LS and DV algorithms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10_Lec 1</dc:title>
  <dc:creator>Microsoft Office User</dc:creator>
  <cp:lastModifiedBy>Microsoft Office User</cp:lastModifiedBy>
  <cp:revision>20</cp:revision>
  <dcterms:created xsi:type="dcterms:W3CDTF">2023-10-05T03:28:57Z</dcterms:created>
  <dcterms:modified xsi:type="dcterms:W3CDTF">2025-04-08T05:33:34Z</dcterms:modified>
</cp:coreProperties>
</file>