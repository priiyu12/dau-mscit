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1223" r:id="rId2"/>
    <p:sldId id="1206" r:id="rId3"/>
    <p:sldId id="1224" r:id="rId4"/>
    <p:sldId id="1225" r:id="rId5"/>
    <p:sldId id="1081" r:id="rId6"/>
    <p:sldId id="1207" r:id="rId7"/>
    <p:sldId id="1226" r:id="rId8"/>
    <p:sldId id="1100" r:id="rId9"/>
    <p:sldId id="1101" r:id="rId10"/>
    <p:sldId id="1102" r:id="rId11"/>
    <p:sldId id="1227" r:id="rId12"/>
    <p:sldId id="122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9"/>
    <p:restoredTop sz="96538"/>
  </p:normalViewPr>
  <p:slideViewPr>
    <p:cSldViewPr snapToGrid="0" snapToObjects="1">
      <p:cViewPr varScale="1">
        <p:scale>
          <a:sx n="137" d="100"/>
          <a:sy n="137" d="100"/>
        </p:scale>
        <p:origin x="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2CA88E-CFBA-2647-B349-C80D258A5EB1}" type="datetimeFigureOut">
              <a:rPr lang="en-US" smtClean="0"/>
              <a:t>2/14/25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A6D80-3DD6-0F42-931C-74324F4CF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59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5114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2016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two generic forms of pipelined protocols: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go-Back-N, selective repeat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43891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3612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This is how TCP re-computes the estimated RTT each time a new SampleRTT is taken.</a:t>
            </a:r>
          </a:p>
          <a:p>
            <a:r>
              <a:rPr lang="en-US" dirty="0"/>
              <a:t>The process is knows as an exponentially weighted moving average, shown by the equation here.</a:t>
            </a:r>
          </a:p>
          <a:p>
            <a:r>
              <a:rPr lang="en-US" dirty="0"/>
              <a:t>&lt;say it&gt;</a:t>
            </a:r>
          </a:p>
          <a:p>
            <a:r>
              <a:rPr lang="en-US" dirty="0"/>
              <a:t>Where alpha reflects the influence of the most recent measurements on the estimated RTT; a typical value of alpha used in implementations is .125</a:t>
            </a:r>
          </a:p>
          <a:p>
            <a:endParaRPr lang="en-US" dirty="0"/>
          </a:p>
          <a:p>
            <a:r>
              <a:rPr lang="en-US" dirty="0"/>
              <a:t>The graph at the bottom show measured RTTs between a host in the Massachusetts and a host in France, as well as the estimated, “smoothed”  RTT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20633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Given this value of the estimated RTT, TCP computes the timeout interval to be the estimated RTT plus a “safety margin”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And the intuition is that if we are seeing a large variation in SAMPLERTT – the RTT estimates are fluctuating a lot - then we’ll want a larger safety margin</a:t>
            </a:r>
          </a:p>
          <a:p>
            <a:endParaRPr lang="en-US" dirty="0"/>
          </a:p>
          <a:p>
            <a:r>
              <a:rPr lang="en-US" dirty="0"/>
              <a:t>So TCP computes the Timeout interval to be the Estimated RTT plus 4 times a measure of deviation in the RTT.</a:t>
            </a:r>
          </a:p>
          <a:p>
            <a:endParaRPr lang="en-US" dirty="0"/>
          </a:p>
          <a:p>
            <a:r>
              <a:rPr lang="en-US" dirty="0"/>
              <a:t>The deviation in the RTT is computed as the eWMA of the difference between the most recently measured SampleRTT from the Estimated RTT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9103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8B188-4C5E-4247-99FF-B3C96684A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9C2411-2F98-454D-A188-57B9CB694B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3EE633-5158-1946-BD6E-920E4E598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4BEE-01ED-0E40-9F1D-621DFD1D35E5}" type="datetimeFigureOut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F20C9-89EE-C446-99FE-242995EF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0BFD1-135F-D64C-9370-606E3D7D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A903-5C1D-4C40-A157-1B1C8FB4A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974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7CA16-F96D-0C41-AC97-ED9F98FD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C8589-7BFF-9542-B866-3E497B044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ABDE31-951F-5E4B-A26B-31A1FC5A3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4BEE-01ED-0E40-9F1D-621DFD1D35E5}" type="datetimeFigureOut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55997-0175-6C4D-B886-BE280E779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AB278-29CF-9E46-B937-3E0668222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A903-5C1D-4C40-A157-1B1C8FB4A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63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774FD-51D4-9541-B413-982460A26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9CB3-BE3F-0541-86B7-832935444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3456C-78EE-1949-93DB-AE494DC1D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4BEE-01ED-0E40-9F1D-621DFD1D35E5}" type="datetimeFigureOut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8FADE-845C-A342-8E53-B16179CA3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4CB9B-6069-DB42-897A-F6762780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A903-5C1D-4C40-A157-1B1C8FB4A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38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6E08-3027-9149-BF77-CE81FEE4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96D53-FE0F-B144-91AB-B2032C8894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3CE210-96B2-234B-8AD1-22AB8FB647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A3D6F-D825-AE46-BDAF-6576A749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4BEE-01ED-0E40-9F1D-621DFD1D35E5}" type="datetimeFigureOut">
              <a:rPr lang="en-US" smtClean="0"/>
              <a:t>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C022B-C3C9-DC44-B00E-21DF8036E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F8D63-8EA6-E14C-BB8B-EE150CA0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A903-5C1D-4C40-A157-1B1C8FB4A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235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C77DA-02C1-F545-B4E1-ADC2EDE22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6DF8E-681F-5B4B-9389-1F5085133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017304-3631-B84F-9070-2D995AE46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8BAA68-D8B4-054C-B35B-6B8DAB2C19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0A6FA4-A298-8647-84F7-8AC26EB44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FAB55-C641-B942-8BD0-BD60B8E29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4BEE-01ED-0E40-9F1D-621DFD1D35E5}" type="datetimeFigureOut">
              <a:rPr lang="en-US" smtClean="0"/>
              <a:t>2/14/25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36CC0F-E32F-6842-9B2E-3499595E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B5DEE-114F-A743-8B09-98FB3717E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A903-5C1D-4C40-A157-1B1C8FB4A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1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43702-2327-CB47-9FF6-AA2FCA23C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5040F2-CCD0-0945-8CD7-5722D690A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4BEE-01ED-0E40-9F1D-621DFD1D35E5}" type="datetimeFigureOut">
              <a:rPr lang="en-US" smtClean="0"/>
              <a:t>2/14/25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DF67D-1693-474E-ADD4-EF5819FAC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184F66-2E69-7F43-8A86-A5BC33BF4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A903-5C1D-4C40-A157-1B1C8FB4A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379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0E55FC-9FD1-6340-BFCC-91637295C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4BEE-01ED-0E40-9F1D-621DFD1D35E5}" type="datetimeFigureOut">
              <a:rPr lang="en-US" smtClean="0"/>
              <a:t>2/14/25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3186A4-807F-6B44-B144-095CEED90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D0D0F-DB00-C849-8B18-F4A383D98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A903-5C1D-4C40-A157-1B1C8FB4A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145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33C4F-4F7C-BD4B-80D7-4C82941C1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2955C-8231-3748-B10D-52F070922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E6B9D-95ED-CC4F-965D-6C99BD9C7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37F24F-3062-D141-BA62-E36D2D22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4BEE-01ED-0E40-9F1D-621DFD1D35E5}" type="datetimeFigureOut">
              <a:rPr lang="en-US" smtClean="0"/>
              <a:t>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26C13-B5F6-674D-9EAB-D5CA3CFAA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59A90-DA86-F24D-BFD0-A03142096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A903-5C1D-4C40-A157-1B1C8FB4A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789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80AA2-19E7-B644-9D28-FDE2AE9F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FCEF88-4312-3E4C-8B72-95DCC13175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BC0F4D-1771-A241-8DFA-57F7AD84CE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FC7900-7E01-304A-8694-93DC47DC0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4BEE-01ED-0E40-9F1D-621DFD1D35E5}" type="datetimeFigureOut">
              <a:rPr lang="en-US" smtClean="0"/>
              <a:t>2/14/25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BEB55-FB5D-414B-BDD3-A8574481E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0BDD4-57D0-A643-AD45-8FC9846BF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A903-5C1D-4C40-A157-1B1C8FB4A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38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13CFD-F8DF-D848-8AE9-FB0204EDA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CC12FF-5675-C343-8FDC-B7A53A2C0B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88844-DBB4-294B-87F5-F79248725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4BEE-01ED-0E40-9F1D-621DFD1D35E5}" type="datetimeFigureOut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812DB-0FEF-794B-A3CF-365A3B52B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3E225-ED8C-1D44-BD78-5DD6FD348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A903-5C1D-4C40-A157-1B1C8FB4A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115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AB3238-D8C4-1243-ACCC-ECE0FA0BBB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A41C46-6AC6-114B-829F-C747802B3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F6690-38A7-2F4D-B6C4-7AE7E3B89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04BEE-01ED-0E40-9F1D-621DFD1D35E5}" type="datetimeFigureOut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24E0F-25D7-A944-86AC-3CBC9B49A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C38DC-90A3-394F-A222-622E93331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27A903-5C1D-4C40-A157-1B1C8FB4A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24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5A6853-40DC-BE46-9DEA-6F9D9B032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E1766-DEB9-564B-9DA3-B979729BD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700FE-823E-7642-AA08-087E5F7871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04BEE-01ED-0E40-9F1D-621DFD1D35E5}" type="datetimeFigureOut">
              <a:rPr lang="en-US" smtClean="0"/>
              <a:t>2/14/25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5EB48-0026-3C4F-856A-D84FC83AF7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DFFF1-D399-4E43-8C54-1E3C831D94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7A903-5C1D-4C40-A157-1B1C8FB4A9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17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7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FRux1w3QLk" TargetMode="External"/><Relationship Id="rId2" Type="http://schemas.openxmlformats.org/officeDocument/2006/relationships/hyperlink" Target="https://www.youtube.com/watch?v=lLsEXPzIP7c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3778D-D784-8520-B717-D3A6C6A5EB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IT694 Computer Networks</a:t>
            </a:r>
            <a:br>
              <a:rPr lang="en-US" dirty="0"/>
            </a:br>
            <a:r>
              <a:rPr lang="en-US" dirty="0"/>
              <a:t>Week 6-Lec 1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BCA9DF-0771-34F8-0974-E7222044E4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TCP-Reliable transfer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89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Reliable Data Transfer: stop-and-wait operation</a:t>
            </a:r>
            <a:endParaRPr lang="en-US" sz="4400" dirty="0"/>
          </a:p>
        </p:txBody>
      </p:sp>
      <p:sp>
        <p:nvSpPr>
          <p:cNvPr id="50" name="Line 3">
            <a:extLst>
              <a:ext uri="{FF2B5EF4-FFF2-40B4-BE49-F238E27FC236}">
                <a16:creationId xmlns:a16="http://schemas.microsoft.com/office/drawing/2014/main" id="{65EF62F5-AF0F-154C-9C6E-93BB51897ED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3093" y="1992313"/>
            <a:ext cx="2227262" cy="9223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" name="Line 5">
            <a:extLst>
              <a:ext uri="{FF2B5EF4-FFF2-40B4-BE49-F238E27FC236}">
                <a16:creationId xmlns:a16="http://schemas.microsoft.com/office/drawing/2014/main" id="{1F5607F9-D0CE-8742-843E-05AFCDCA2F2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11980" y="1773238"/>
            <a:ext cx="23813" cy="29130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" name="Line 6">
            <a:extLst>
              <a:ext uri="{FF2B5EF4-FFF2-40B4-BE49-F238E27FC236}">
                <a16:creationId xmlns:a16="http://schemas.microsoft.com/office/drawing/2014/main" id="{D5AC1D3D-9418-5F46-82ED-FBA189A7139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9243" y="1785938"/>
            <a:ext cx="22225" cy="28908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4" name="Text Box 7">
            <a:extLst>
              <a:ext uri="{FF2B5EF4-FFF2-40B4-BE49-F238E27FC236}">
                <a16:creationId xmlns:a16="http://schemas.microsoft.com/office/drawing/2014/main" id="{1AA39350-7ADC-E840-B7FD-CAF65C7EFE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3343" y="1436688"/>
            <a:ext cx="885825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sender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" name="Text Box 8">
            <a:extLst>
              <a:ext uri="{FF2B5EF4-FFF2-40B4-BE49-F238E27FC236}">
                <a16:creationId xmlns:a16="http://schemas.microsoft.com/office/drawing/2014/main" id="{388F41A8-01FA-884F-8140-E9FD1F2C68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1393" y="1436688"/>
            <a:ext cx="946150" cy="35083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receiver</a:t>
            </a:r>
            <a:endParaRPr kumimoji="0" lang="en-US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6" name="Line 9">
            <a:extLst>
              <a:ext uri="{FF2B5EF4-FFF2-40B4-BE49-F238E27FC236}">
                <a16:creationId xmlns:a16="http://schemas.microsoft.com/office/drawing/2014/main" id="{4E1B3F21-B373-CA48-9AD5-5632396CBD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5793" y="1987550"/>
            <a:ext cx="2190750" cy="3175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7" name="Line 10">
            <a:extLst>
              <a:ext uri="{FF2B5EF4-FFF2-40B4-BE49-F238E27FC236}">
                <a16:creationId xmlns:a16="http://schemas.microsoft.com/office/drawing/2014/main" id="{89DD14FE-5B5B-3B43-8920-2EDFA30D8A6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40555" y="4098925"/>
            <a:ext cx="2192338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8" name="Line 11">
            <a:extLst>
              <a:ext uri="{FF2B5EF4-FFF2-40B4-BE49-F238E27FC236}">
                <a16:creationId xmlns:a16="http://schemas.microsoft.com/office/drawing/2014/main" id="{0833BE20-CC42-354E-8D97-D533E108B5A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40555" y="3155950"/>
            <a:ext cx="2209800" cy="9223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9" name="Freeform 12">
            <a:extLst>
              <a:ext uri="{FF2B5EF4-FFF2-40B4-BE49-F238E27FC236}">
                <a16:creationId xmlns:a16="http://schemas.microsoft.com/office/drawing/2014/main" id="{6DCE969D-C1B5-6B4F-8E82-11FE17209698}"/>
              </a:ext>
            </a:extLst>
          </p:cNvPr>
          <p:cNvSpPr>
            <a:spLocks/>
          </p:cNvSpPr>
          <p:nvPr/>
        </p:nvSpPr>
        <p:spPr bwMode="auto">
          <a:xfrm>
            <a:off x="6518330" y="1985963"/>
            <a:ext cx="2232025" cy="1155700"/>
          </a:xfrm>
          <a:custGeom>
            <a:avLst/>
            <a:gdLst>
              <a:gd name="T0" fmla="*/ 0 w 2902"/>
              <a:gd name="T1" fmla="*/ 0 h 1185"/>
              <a:gd name="T2" fmla="*/ 2147483647 w 2902"/>
              <a:gd name="T3" fmla="*/ 2147483647 h 1185"/>
              <a:gd name="T4" fmla="*/ 2147483647 w 2902"/>
              <a:gd name="T5" fmla="*/ 2147483647 h 1185"/>
              <a:gd name="T6" fmla="*/ 0 w 2902"/>
              <a:gd name="T7" fmla="*/ 2147483647 h 1185"/>
              <a:gd name="T8" fmla="*/ 0 w 2902"/>
              <a:gd name="T9" fmla="*/ 0 h 11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2" h="1185">
                <a:moveTo>
                  <a:pt x="0" y="0"/>
                </a:moveTo>
                <a:lnTo>
                  <a:pt x="2895" y="937"/>
                </a:lnTo>
                <a:lnTo>
                  <a:pt x="2902" y="1185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solidFill>
            <a:srgbClr val="00CC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0" name="Line 13">
            <a:extLst>
              <a:ext uri="{FF2B5EF4-FFF2-40B4-BE49-F238E27FC236}">
                <a16:creationId xmlns:a16="http://schemas.microsoft.com/office/drawing/2014/main" id="{71ECF681-371C-214F-B431-3EBF5FCA54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3868" y="1985963"/>
            <a:ext cx="1317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1" name="Line 14">
            <a:extLst>
              <a:ext uri="{FF2B5EF4-FFF2-40B4-BE49-F238E27FC236}">
                <a16:creationId xmlns:a16="http://schemas.microsoft.com/office/drawing/2014/main" id="{D5FC9E24-2362-D949-AD1B-27FDE18130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73868" y="2227263"/>
            <a:ext cx="1317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2" name="Line 15">
            <a:extLst>
              <a:ext uri="{FF2B5EF4-FFF2-40B4-BE49-F238E27FC236}">
                <a16:creationId xmlns:a16="http://schemas.microsoft.com/office/drawing/2014/main" id="{8E885B36-6DC7-A647-8328-79BA2FEF9A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84980" y="4086225"/>
            <a:ext cx="1333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6" name="Line 20">
            <a:extLst>
              <a:ext uri="{FF2B5EF4-FFF2-40B4-BE49-F238E27FC236}">
                <a16:creationId xmlns:a16="http://schemas.microsoft.com/office/drawing/2014/main" id="{F450D6B2-ED0C-2A4C-8BFC-156E65F46C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26543" y="2900363"/>
            <a:ext cx="1333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8" name="Line 22">
            <a:extLst>
              <a:ext uri="{FF2B5EF4-FFF2-40B4-BE49-F238E27FC236}">
                <a16:creationId xmlns:a16="http://schemas.microsoft.com/office/drawing/2014/main" id="{B416D5CF-1045-E44E-A7DD-0F2BA9A28495}"/>
              </a:ext>
            </a:extLst>
          </p:cNvPr>
          <p:cNvSpPr>
            <a:spLocks noChangeShapeType="1"/>
          </p:cNvSpPr>
          <p:nvPr/>
        </p:nvSpPr>
        <p:spPr bwMode="auto">
          <a:xfrm>
            <a:off x="8750355" y="3149600"/>
            <a:ext cx="127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1" name="Freeform 25">
            <a:extLst>
              <a:ext uri="{FF2B5EF4-FFF2-40B4-BE49-F238E27FC236}">
                <a16:creationId xmlns:a16="http://schemas.microsoft.com/office/drawing/2014/main" id="{A4A7A1DD-E270-2148-B390-9D3198E6E533}"/>
              </a:ext>
            </a:extLst>
          </p:cNvPr>
          <p:cNvSpPr>
            <a:spLocks/>
          </p:cNvSpPr>
          <p:nvPr/>
        </p:nvSpPr>
        <p:spPr bwMode="auto">
          <a:xfrm>
            <a:off x="6535793" y="4094163"/>
            <a:ext cx="1419225" cy="577850"/>
          </a:xfrm>
          <a:custGeom>
            <a:avLst/>
            <a:gdLst>
              <a:gd name="T0" fmla="*/ 0 w 1845"/>
              <a:gd name="T1" fmla="*/ 0 h 592"/>
              <a:gd name="T2" fmla="*/ 2147483647 w 1845"/>
              <a:gd name="T3" fmla="*/ 2147483647 h 592"/>
              <a:gd name="T4" fmla="*/ 2147483647 w 1845"/>
              <a:gd name="T5" fmla="*/ 2147483647 h 592"/>
              <a:gd name="T6" fmla="*/ 0 w 1845"/>
              <a:gd name="T7" fmla="*/ 2147483647 h 592"/>
              <a:gd name="T8" fmla="*/ 0 w 1845"/>
              <a:gd name="T9" fmla="*/ 0 h 5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45" h="592">
                <a:moveTo>
                  <a:pt x="0" y="0"/>
                </a:moveTo>
                <a:lnTo>
                  <a:pt x="1845" y="592"/>
                </a:lnTo>
                <a:lnTo>
                  <a:pt x="1095" y="592"/>
                </a:lnTo>
                <a:lnTo>
                  <a:pt x="0" y="247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00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2" name="Group 26">
            <a:extLst>
              <a:ext uri="{FF2B5EF4-FFF2-40B4-BE49-F238E27FC236}">
                <a16:creationId xmlns:a16="http://schemas.microsoft.com/office/drawing/2014/main" id="{9CA64688-75A8-D347-9FA8-19BC93D4C937}"/>
              </a:ext>
            </a:extLst>
          </p:cNvPr>
          <p:cNvGrpSpPr>
            <a:grpSpLocks/>
          </p:cNvGrpSpPr>
          <p:nvPr/>
        </p:nvGrpSpPr>
        <p:grpSpPr bwMode="auto">
          <a:xfrm>
            <a:off x="6529443" y="4086225"/>
            <a:ext cx="1281112" cy="534988"/>
            <a:chOff x="12315" y="13225"/>
            <a:chExt cx="2775" cy="913"/>
          </a:xfrm>
        </p:grpSpPr>
        <p:sp>
          <p:nvSpPr>
            <p:cNvPr id="73" name="Line 27">
              <a:extLst>
                <a:ext uri="{FF2B5EF4-FFF2-40B4-BE49-F238E27FC236}">
                  <a16:creationId xmlns:a16="http://schemas.microsoft.com/office/drawing/2014/main" id="{3615449C-C628-4A4E-8FD9-6CEA1CB5AF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315" y="13225"/>
              <a:ext cx="1587" cy="5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Line 28">
              <a:extLst>
                <a:ext uri="{FF2B5EF4-FFF2-40B4-BE49-F238E27FC236}">
                  <a16:creationId xmlns:a16="http://schemas.microsoft.com/office/drawing/2014/main" id="{BC197F6C-E6E2-CC4F-B4CD-24052A68C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15" y="13737"/>
              <a:ext cx="1175" cy="40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75" name="Line 29">
            <a:extLst>
              <a:ext uri="{FF2B5EF4-FFF2-40B4-BE49-F238E27FC236}">
                <a16:creationId xmlns:a16="http://schemas.microsoft.com/office/drawing/2014/main" id="{C09632D7-180D-4B4F-9D42-55DC28E6A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9443" y="4327525"/>
            <a:ext cx="317500" cy="123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6" name="Line 30">
            <a:extLst>
              <a:ext uri="{FF2B5EF4-FFF2-40B4-BE49-F238E27FC236}">
                <a16:creationId xmlns:a16="http://schemas.microsoft.com/office/drawing/2014/main" id="{0C325B2C-A250-0F40-9312-8A7316454882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3293" y="4451350"/>
            <a:ext cx="541337" cy="234950"/>
          </a:xfrm>
          <a:prstGeom prst="line">
            <a:avLst/>
          </a:prstGeom>
          <a:noFill/>
          <a:ln w="9525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C6AF9F3-99D9-6F40-B127-7A6785C46B41}"/>
              </a:ext>
            </a:extLst>
          </p:cNvPr>
          <p:cNvGrpSpPr/>
          <p:nvPr/>
        </p:nvGrpSpPr>
        <p:grpSpPr>
          <a:xfrm>
            <a:off x="2244612" y="2022637"/>
            <a:ext cx="1278602" cy="597475"/>
            <a:chOff x="749300" y="3009900"/>
            <a:chExt cx="1278602" cy="59747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21E4313-1A1A-3A42-AC4C-44CC986CCAC5}"/>
                </a:ext>
              </a:extLst>
            </p:cNvPr>
            <p:cNvSpPr txBox="1"/>
            <p:nvPr/>
          </p:nvSpPr>
          <p:spPr>
            <a:xfrm>
              <a:off x="749300" y="3022600"/>
              <a:ext cx="11112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U</a:t>
              </a:r>
              <a:r>
                <a:rPr kumimoji="0" lang="en-US" sz="2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sender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C13E07F-DCC8-5C42-B670-E68B309E1374}"/>
                </a:ext>
              </a:extLst>
            </p:cNvPr>
            <p:cNvSpPr txBox="1"/>
            <p:nvPr/>
          </p:nvSpPr>
          <p:spPr>
            <a:xfrm>
              <a:off x="1663700" y="3009900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=</a:t>
              </a: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2394E0F-C5BE-F842-A8F0-CE5EB7D410B7}"/>
              </a:ext>
            </a:extLst>
          </p:cNvPr>
          <p:cNvSpPr txBox="1"/>
          <p:nvPr/>
        </p:nvSpPr>
        <p:spPr>
          <a:xfrm>
            <a:off x="4022612" y="1768637"/>
            <a:ext cx="8338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 / 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C6C6FA9-6BC1-BE4F-985A-814A76374A78}"/>
              </a:ext>
            </a:extLst>
          </p:cNvPr>
          <p:cNvSpPr txBox="1"/>
          <p:nvPr/>
        </p:nvSpPr>
        <p:spPr>
          <a:xfrm>
            <a:off x="3565412" y="2314737"/>
            <a:ext cx="731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RTT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471EC5E-49D5-C845-A523-BB2BA82777FB}"/>
              </a:ext>
            </a:extLst>
          </p:cNvPr>
          <p:cNvCxnSpPr/>
          <p:nvPr/>
        </p:nvCxnSpPr>
        <p:spPr>
          <a:xfrm>
            <a:off x="3654312" y="2314737"/>
            <a:ext cx="154940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9EBE743-5B5A-CB4C-ADBF-D607BDC87774}"/>
              </a:ext>
            </a:extLst>
          </p:cNvPr>
          <p:cNvGrpSpPr/>
          <p:nvPr/>
        </p:nvGrpSpPr>
        <p:grpSpPr>
          <a:xfrm>
            <a:off x="5721405" y="2234921"/>
            <a:ext cx="847725" cy="1860804"/>
            <a:chOff x="4183062" y="2436876"/>
            <a:chExt cx="847725" cy="1860804"/>
          </a:xfrm>
        </p:grpSpPr>
        <p:sp>
          <p:nvSpPr>
            <p:cNvPr id="63" name="Text Box 16">
              <a:extLst>
                <a:ext uri="{FF2B5EF4-FFF2-40B4-BE49-F238E27FC236}">
                  <a16:creationId xmlns:a16="http://schemas.microsoft.com/office/drawing/2014/main" id="{C1807A2B-4600-F444-94CF-68DC8044B3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3062" y="3161055"/>
              <a:ext cx="8477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RTT</a:t>
              </a:r>
              <a:r>
                <a:rPr kumimoji="0" lang="en-US" alt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" name="Line 17">
              <a:extLst>
                <a:ext uri="{FF2B5EF4-FFF2-40B4-BE49-F238E27FC236}">
                  <a16:creationId xmlns:a16="http://schemas.microsoft.com/office/drawing/2014/main" id="{4CA4ACE4-80D6-094A-B612-CEDFE37137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0450" y="3469030"/>
              <a:ext cx="11112" cy="8112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5" name="Line 18">
              <a:extLst>
                <a:ext uri="{FF2B5EF4-FFF2-40B4-BE49-F238E27FC236}">
                  <a16:creationId xmlns:a16="http://schemas.microsoft.com/office/drawing/2014/main" id="{86419EA2-8CA9-1949-935B-FB9C7863AF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75212" y="2451443"/>
              <a:ext cx="3175" cy="7683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49C2C2C-CE28-5843-8415-9EE09E6947FC}"/>
                </a:ext>
              </a:extLst>
            </p:cNvPr>
            <p:cNvSpPr/>
            <p:nvPr/>
          </p:nvSpPr>
          <p:spPr>
            <a:xfrm>
              <a:off x="4421124" y="2436876"/>
              <a:ext cx="77724" cy="1860804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59E1995-34BF-7E4C-A8E6-79D6D91B735F}"/>
              </a:ext>
            </a:extLst>
          </p:cNvPr>
          <p:cNvGrpSpPr/>
          <p:nvPr/>
        </p:nvGrpSpPr>
        <p:grpSpPr>
          <a:xfrm>
            <a:off x="5737741" y="1941782"/>
            <a:ext cx="847725" cy="336550"/>
            <a:chOff x="4199398" y="2143737"/>
            <a:chExt cx="847725" cy="336550"/>
          </a:xfrm>
        </p:grpSpPr>
        <p:sp>
          <p:nvSpPr>
            <p:cNvPr id="34" name="Text Box 16">
              <a:extLst>
                <a:ext uri="{FF2B5EF4-FFF2-40B4-BE49-F238E27FC236}">
                  <a16:creationId xmlns:a16="http://schemas.microsoft.com/office/drawing/2014/main" id="{CE11628B-6BAA-5F4D-83D0-1C375AA4B5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9398" y="2143737"/>
              <a:ext cx="8477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L/R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925C961-57CF-D349-AB32-A9692749F035}"/>
                </a:ext>
              </a:extLst>
            </p:cNvPr>
            <p:cNvSpPr/>
            <p:nvPr/>
          </p:nvSpPr>
          <p:spPr>
            <a:xfrm>
              <a:off x="4418854" y="2180844"/>
              <a:ext cx="85344" cy="24688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075CB59D-6E37-644B-87A0-86A5D61EB620}"/>
              </a:ext>
            </a:extLst>
          </p:cNvPr>
          <p:cNvSpPr txBox="1"/>
          <p:nvPr/>
        </p:nvSpPr>
        <p:spPr>
          <a:xfrm>
            <a:off x="4175012" y="2314737"/>
            <a:ext cx="1095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 L / R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A4AEDD2-EED9-9242-A1CE-295F5C6A03DB}"/>
              </a:ext>
            </a:extLst>
          </p:cNvPr>
          <p:cNvGrpSpPr/>
          <p:nvPr/>
        </p:nvGrpSpPr>
        <p:grpSpPr>
          <a:xfrm>
            <a:off x="3156251" y="2947504"/>
            <a:ext cx="1781653" cy="1463020"/>
            <a:chOff x="1660939" y="3934767"/>
            <a:chExt cx="1781653" cy="146302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0101E67-F8E3-5F43-87A5-EEE3F55BCF5A}"/>
                </a:ext>
              </a:extLst>
            </p:cNvPr>
            <p:cNvSpPr txBox="1"/>
            <p:nvPr/>
          </p:nvSpPr>
          <p:spPr>
            <a:xfrm>
              <a:off x="1673639" y="4856490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3ADC375-683E-5F46-8229-0B251E9F0CDD}"/>
                </a:ext>
              </a:extLst>
            </p:cNvPr>
            <p:cNvSpPr txBox="1"/>
            <p:nvPr/>
          </p:nvSpPr>
          <p:spPr>
            <a:xfrm>
              <a:off x="2070100" y="4874567"/>
              <a:ext cx="13724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0.00027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AD14E5C-D408-D34F-A4E3-3FF2736B1748}"/>
                </a:ext>
              </a:extLst>
            </p:cNvPr>
            <p:cNvGrpSpPr/>
            <p:nvPr/>
          </p:nvGrpSpPr>
          <p:grpSpPr>
            <a:xfrm>
              <a:off x="1660939" y="3934767"/>
              <a:ext cx="1473628" cy="868065"/>
              <a:chOff x="1660939" y="3795067"/>
              <a:chExt cx="1473628" cy="868065"/>
            </a:xfrm>
          </p:grpSpPr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2A82ED6-4EB6-9646-9813-CD52285AEECC}"/>
                  </a:ext>
                </a:extLst>
              </p:cNvPr>
              <p:cNvSpPr txBox="1"/>
              <p:nvPr/>
            </p:nvSpPr>
            <p:spPr>
              <a:xfrm>
                <a:off x="1660939" y="3952557"/>
                <a:ext cx="3642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</a:t>
                </a: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2D5D5FF4-838F-754C-8978-6526E35349A3}"/>
                  </a:ext>
                </a:extLst>
              </p:cNvPr>
              <p:cNvGrpSpPr/>
              <p:nvPr/>
            </p:nvGrpSpPr>
            <p:grpSpPr>
              <a:xfrm>
                <a:off x="2095500" y="3795067"/>
                <a:ext cx="1039067" cy="868065"/>
                <a:chOff x="2032000" y="3795067"/>
                <a:chExt cx="1039067" cy="868065"/>
              </a:xfrm>
            </p:grpSpPr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E983D372-880E-BD47-AF86-736C61470D97}"/>
                    </a:ext>
                  </a:extLst>
                </p:cNvPr>
                <p:cNvSpPr txBox="1"/>
                <p:nvPr/>
              </p:nvSpPr>
              <p:spPr>
                <a:xfrm>
                  <a:off x="2146300" y="3795067"/>
                  <a:ext cx="72808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.008</a:t>
                  </a:r>
                </a:p>
              </p:txBody>
            </p:sp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C1BDCBB7-422E-9B44-86BF-FE476616B58A}"/>
                    </a:ext>
                  </a:extLst>
                </p:cNvPr>
                <p:cNvSpPr txBox="1"/>
                <p:nvPr/>
              </p:nvSpPr>
              <p:spPr>
                <a:xfrm>
                  <a:off x="2032000" y="4201467"/>
                  <a:ext cx="103906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30.008</a:t>
                  </a:r>
                </a:p>
              </p:txBody>
            </p: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BBAC316F-2A0D-B744-BBEB-CB399528A356}"/>
                    </a:ext>
                  </a:extLst>
                </p:cNvPr>
                <p:cNvCxnSpPr/>
                <p:nvPr/>
              </p:nvCxnSpPr>
              <p:spPr>
                <a:xfrm>
                  <a:off x="2120900" y="4239567"/>
                  <a:ext cx="8255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85" name="Rectangle 84">
            <a:extLst>
              <a:ext uri="{FF2B5EF4-FFF2-40B4-BE49-F238E27FC236}">
                <a16:creationId xmlns:a16="http://schemas.microsoft.com/office/drawing/2014/main" id="{6A30693C-EFD3-504D-9986-8B04D7557A03}"/>
              </a:ext>
            </a:extLst>
          </p:cNvPr>
          <p:cNvSpPr/>
          <p:nvPr/>
        </p:nvSpPr>
        <p:spPr>
          <a:xfrm>
            <a:off x="5728597" y="1978889"/>
            <a:ext cx="85344" cy="24688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lide Number Placeholder 2">
            <a:extLst>
              <a:ext uri="{FF2B5EF4-FFF2-40B4-BE49-F238E27FC236}">
                <a16:creationId xmlns:a16="http://schemas.microsoft.com/office/drawing/2014/main" id="{CB5285FE-6F5F-D849-A9CB-EEFE33B31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72B740A-D360-4C4D-A400-4F4684230821}"/>
              </a:ext>
            </a:extLst>
          </p:cNvPr>
          <p:cNvGrpSpPr/>
          <p:nvPr/>
        </p:nvGrpSpPr>
        <p:grpSpPr>
          <a:xfrm>
            <a:off x="2434590" y="4760283"/>
            <a:ext cx="3616460" cy="1431098"/>
            <a:chOff x="1660939" y="3966689"/>
            <a:chExt cx="2311998" cy="1431098"/>
          </a:xfrm>
        </p:grpSpPr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108D853D-E562-2747-B4EC-BDA056A0EDD2}"/>
                </a:ext>
              </a:extLst>
            </p:cNvPr>
            <p:cNvSpPr txBox="1"/>
            <p:nvPr/>
          </p:nvSpPr>
          <p:spPr>
            <a:xfrm>
              <a:off x="1673639" y="4856490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=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A3FDE65-FC4B-B349-A761-B5CBD4112F5F}"/>
                </a:ext>
              </a:extLst>
            </p:cNvPr>
            <p:cNvSpPr txBox="1"/>
            <p:nvPr/>
          </p:nvSpPr>
          <p:spPr>
            <a:xfrm>
              <a:off x="2070100" y="4874567"/>
              <a:ext cx="15935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~300kbps</a:t>
              </a:r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0D8B0C26-F4C5-AC47-9EF6-2F4EB2FBB6F0}"/>
                </a:ext>
              </a:extLst>
            </p:cNvPr>
            <p:cNvGrpSpPr/>
            <p:nvPr/>
          </p:nvGrpSpPr>
          <p:grpSpPr>
            <a:xfrm>
              <a:off x="1660939" y="3966689"/>
              <a:ext cx="2311998" cy="836143"/>
              <a:chOff x="1660939" y="3826989"/>
              <a:chExt cx="2311998" cy="836143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FB26D338-90A2-1145-B385-E5A395BA8785}"/>
                  </a:ext>
                </a:extLst>
              </p:cNvPr>
              <p:cNvSpPr txBox="1"/>
              <p:nvPr/>
            </p:nvSpPr>
            <p:spPr>
              <a:xfrm>
                <a:off x="1660939" y="3952557"/>
                <a:ext cx="3642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=</a:t>
                </a:r>
              </a:p>
            </p:txBody>
          </p: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A2342E89-49E1-CB49-8E97-61798558B066}"/>
                  </a:ext>
                </a:extLst>
              </p:cNvPr>
              <p:cNvGrpSpPr/>
              <p:nvPr/>
            </p:nvGrpSpPr>
            <p:grpSpPr>
              <a:xfrm>
                <a:off x="2095500" y="3826989"/>
                <a:ext cx="1877437" cy="836143"/>
                <a:chOff x="2032000" y="3826989"/>
                <a:chExt cx="1877437" cy="836143"/>
              </a:xfrm>
            </p:grpSpPr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C9264273-2D9B-CE4A-B58B-AD448949EAE7}"/>
                    </a:ext>
                  </a:extLst>
                </p:cNvPr>
                <p:cNvSpPr txBox="1"/>
                <p:nvPr/>
              </p:nvSpPr>
              <p:spPr>
                <a:xfrm>
                  <a:off x="2154897" y="3826989"/>
                  <a:ext cx="155029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1000 bytes</a:t>
                  </a:r>
                </a:p>
              </p:txBody>
            </p:sp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3BADB5A-D188-3143-ABFF-08DB3A8E0EC7}"/>
                    </a:ext>
                  </a:extLst>
                </p:cNvPr>
                <p:cNvSpPr txBox="1"/>
                <p:nvPr/>
              </p:nvSpPr>
              <p:spPr>
                <a:xfrm>
                  <a:off x="2032000" y="4201467"/>
                  <a:ext cx="1877437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30.008 </a:t>
                  </a:r>
                  <a:r>
                    <a:rPr kumimoji="0" lang="en-US" sz="24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msecs</a:t>
                  </a: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86" name="Straight Connector 85">
                  <a:extLst>
                    <a:ext uri="{FF2B5EF4-FFF2-40B4-BE49-F238E27FC236}">
                      <a16:creationId xmlns:a16="http://schemas.microsoft.com/office/drawing/2014/main" id="{FDF90DF4-4DB1-5846-9CC6-04039C3EC1DD}"/>
                    </a:ext>
                  </a:extLst>
                </p:cNvPr>
                <p:cNvCxnSpPr/>
                <p:nvPr/>
              </p:nvCxnSpPr>
              <p:spPr>
                <a:xfrm>
                  <a:off x="2120900" y="4239567"/>
                  <a:ext cx="825500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1E6956C2-847D-0149-BC8D-513442E54DEA}"/>
              </a:ext>
            </a:extLst>
          </p:cNvPr>
          <p:cNvGrpSpPr/>
          <p:nvPr/>
        </p:nvGrpSpPr>
        <p:grpSpPr>
          <a:xfrm>
            <a:off x="370700" y="4848723"/>
            <a:ext cx="2151358" cy="597475"/>
            <a:chOff x="749300" y="3009900"/>
            <a:chExt cx="2151358" cy="597475"/>
          </a:xfrm>
        </p:grpSpPr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1DB6D248-C847-D64D-93EE-EBB35791C553}"/>
                </a:ext>
              </a:extLst>
            </p:cNvPr>
            <p:cNvSpPr txBox="1"/>
            <p:nvPr/>
          </p:nvSpPr>
          <p:spPr>
            <a:xfrm>
              <a:off x="749300" y="3022600"/>
              <a:ext cx="215135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Throughput</a:t>
              </a:r>
              <a:endParaRPr kumimoji="0" lang="en-US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086136E-E64F-ED44-98C0-B23469FFAF73}"/>
                </a:ext>
              </a:extLst>
            </p:cNvPr>
            <p:cNvSpPr txBox="1"/>
            <p:nvPr/>
          </p:nvSpPr>
          <p:spPr>
            <a:xfrm>
              <a:off x="1663700" y="3009900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695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43" grpId="0"/>
      <p:bldP spid="8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7F751-7D91-7945-A469-018B7AB84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Stop and Wait – Alternating Bit Protocol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D0359-E8D4-1E4B-A2CB-8716FF0AD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457" y="2109949"/>
            <a:ext cx="3565849" cy="42623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1848846-B069-0141-9609-8F90F1EDA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557" y="2202751"/>
            <a:ext cx="35814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63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4DC0B-239A-A640-BAFB-2791AD183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96A310-BA63-F349-84D0-EC822A59A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053" y="1690688"/>
            <a:ext cx="3454400" cy="4521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2A15A8-699A-8A44-95BC-01E2A497B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249" y="1690688"/>
            <a:ext cx="4318000" cy="448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522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 fontScale="90000"/>
          </a:bodyPr>
          <a:lstStyle/>
          <a:p>
            <a:r>
              <a:rPr lang="en-US" sz="4800" dirty="0"/>
              <a:t>Reliable Data Transfer : pipelined protocols operation</a:t>
            </a:r>
            <a:endParaRPr lang="en-US" sz="4400" dirty="0"/>
          </a:p>
        </p:txBody>
      </p:sp>
      <p:sp>
        <p:nvSpPr>
          <p:cNvPr id="78" name="Rectangle 3">
            <a:extLst>
              <a:ext uri="{FF2B5EF4-FFF2-40B4-BE49-F238E27FC236}">
                <a16:creationId xmlns:a16="http://schemas.microsoft.com/office/drawing/2014/main" id="{58138FEE-B5E2-DF48-8378-96F53EA03F37}"/>
              </a:ext>
            </a:extLst>
          </p:cNvPr>
          <p:cNvSpPr txBox="1">
            <a:spLocks noChangeArrowheads="1"/>
          </p:cNvSpPr>
          <p:nvPr/>
        </p:nvSpPr>
        <p:spPr>
          <a:xfrm>
            <a:off x="722556" y="1312877"/>
            <a:ext cx="10988826" cy="2033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pipelining: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sender allows multiple,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in-flight”, yet-to-be-acknowledged packets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range of sequence numbers must be increased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buffering at sender and/or receiver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5D14E0-A0D3-934D-BBAE-EEDB9CC51924}"/>
              </a:ext>
            </a:extLst>
          </p:cNvPr>
          <p:cNvGrpSpPr/>
          <p:nvPr/>
        </p:nvGrpSpPr>
        <p:grpSpPr>
          <a:xfrm>
            <a:off x="2916237" y="2993267"/>
            <a:ext cx="6359525" cy="2370138"/>
            <a:chOff x="1673403" y="3019025"/>
            <a:chExt cx="6359525" cy="2370138"/>
          </a:xfrm>
        </p:grpSpPr>
        <p:pic>
          <p:nvPicPr>
            <p:cNvPr id="80" name="Picture 5" descr="rdt_pipelined1">
              <a:extLst>
                <a:ext uri="{FF2B5EF4-FFF2-40B4-BE49-F238E27FC236}">
                  <a16:creationId xmlns:a16="http://schemas.microsoft.com/office/drawing/2014/main" id="{2F295627-AEBF-DA46-A59F-B81177F032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7403" y="3019025"/>
              <a:ext cx="6105525" cy="2370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1" name="Group 44">
              <a:extLst>
                <a:ext uri="{FF2B5EF4-FFF2-40B4-BE49-F238E27FC236}">
                  <a16:creationId xmlns:a16="http://schemas.microsoft.com/office/drawing/2014/main" id="{1111BB3D-3EE3-524B-ADDE-3374E7ACC1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3403" y="3696888"/>
              <a:ext cx="469900" cy="465137"/>
              <a:chOff x="881" y="2283"/>
              <a:chExt cx="296" cy="293"/>
            </a:xfrm>
          </p:grpSpPr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10716B48-25E1-7F4D-87AA-377041B562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6" y="2283"/>
                <a:ext cx="122" cy="2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83" name="Group 36">
                <a:extLst>
                  <a:ext uri="{FF2B5EF4-FFF2-40B4-BE49-F238E27FC236}">
                    <a16:creationId xmlns:a16="http://schemas.microsoft.com/office/drawing/2014/main" id="{F805DF4F-95A4-BD4D-AD9B-A0F477F1C3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881" y="2283"/>
                <a:ext cx="296" cy="293"/>
                <a:chOff x="2839" y="3501"/>
                <a:chExt cx="755" cy="803"/>
              </a:xfrm>
            </p:grpSpPr>
            <p:pic>
              <p:nvPicPr>
                <p:cNvPr id="84" name="Picture 37" descr="desktop_computer_stylized_medium">
                  <a:extLst>
                    <a:ext uri="{FF2B5EF4-FFF2-40B4-BE49-F238E27FC236}">
                      <a16:creationId xmlns:a16="http://schemas.microsoft.com/office/drawing/2014/main" id="{85D0573B-AA1D-C647-947D-E75FC498BEA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85" name="Freeform 38">
                  <a:extLst>
                    <a:ext uri="{FF2B5EF4-FFF2-40B4-BE49-F238E27FC236}">
                      <a16:creationId xmlns:a16="http://schemas.microsoft.com/office/drawing/2014/main" id="{D280CE14-8944-254D-8B1F-894AD27B66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86" name="Freeform 48">
              <a:extLst>
                <a:ext uri="{FF2B5EF4-FFF2-40B4-BE49-F238E27FC236}">
                  <a16:creationId xmlns:a16="http://schemas.microsoft.com/office/drawing/2014/main" id="{A1C3D94C-83E9-0F40-97E5-B369E0868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613828" y="3709588"/>
              <a:ext cx="185737" cy="431800"/>
            </a:xfrm>
            <a:custGeom>
              <a:avLst/>
              <a:gdLst>
                <a:gd name="T0" fmla="*/ 2147483647 w 117"/>
                <a:gd name="T1" fmla="*/ 2147483647 h 272"/>
                <a:gd name="T2" fmla="*/ 2147483647 w 117"/>
                <a:gd name="T3" fmla="*/ 2147483647 h 272"/>
                <a:gd name="T4" fmla="*/ 2147483647 w 117"/>
                <a:gd name="T5" fmla="*/ 2147483647 h 272"/>
                <a:gd name="T6" fmla="*/ 0 w 117"/>
                <a:gd name="T7" fmla="*/ 2147483647 h 272"/>
                <a:gd name="T8" fmla="*/ 2147483647 w 117"/>
                <a:gd name="T9" fmla="*/ 2147483647 h 272"/>
                <a:gd name="T10" fmla="*/ 2147483647 w 117"/>
                <a:gd name="T11" fmla="*/ 2147483647 h 272"/>
                <a:gd name="T12" fmla="*/ 2147483647 w 117"/>
                <a:gd name="T13" fmla="*/ 0 h 272"/>
                <a:gd name="T14" fmla="*/ 2147483647 w 117"/>
                <a:gd name="T15" fmla="*/ 2147483647 h 2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7" h="272">
                  <a:moveTo>
                    <a:pt x="6" y="6"/>
                  </a:moveTo>
                  <a:lnTo>
                    <a:pt x="3" y="77"/>
                  </a:lnTo>
                  <a:lnTo>
                    <a:pt x="59" y="120"/>
                  </a:lnTo>
                  <a:lnTo>
                    <a:pt x="0" y="146"/>
                  </a:lnTo>
                  <a:lnTo>
                    <a:pt x="3" y="270"/>
                  </a:lnTo>
                  <a:lnTo>
                    <a:pt x="117" y="272"/>
                  </a:lnTo>
                  <a:lnTo>
                    <a:pt x="114" y="0"/>
                  </a:lnTo>
                  <a:lnTo>
                    <a:pt x="6" y="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87" name="Group 50">
              <a:extLst>
                <a:ext uri="{FF2B5EF4-FFF2-40B4-BE49-F238E27FC236}">
                  <a16:creationId xmlns:a16="http://schemas.microsoft.com/office/drawing/2014/main" id="{605457C9-55E9-234B-AF40-1C2CEC7BD5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4903" y="3714350"/>
              <a:ext cx="469900" cy="465138"/>
              <a:chOff x="881" y="2283"/>
              <a:chExt cx="296" cy="293"/>
            </a:xfrm>
          </p:grpSpPr>
          <p:sp>
            <p:nvSpPr>
              <p:cNvPr id="88" name="Rectangle 51">
                <a:extLst>
                  <a:ext uri="{FF2B5EF4-FFF2-40B4-BE49-F238E27FC236}">
                    <a16:creationId xmlns:a16="http://schemas.microsoft.com/office/drawing/2014/main" id="{5A66C211-A318-FD43-B1DC-494380C212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6" y="2283"/>
                <a:ext cx="122" cy="26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89" name="Group 52">
                <a:extLst>
                  <a:ext uri="{FF2B5EF4-FFF2-40B4-BE49-F238E27FC236}">
                    <a16:creationId xmlns:a16="http://schemas.microsoft.com/office/drawing/2014/main" id="{028FC7D3-7EE7-2840-8091-94C524E05F4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881" y="2283"/>
                <a:ext cx="296" cy="293"/>
                <a:chOff x="2839" y="3501"/>
                <a:chExt cx="755" cy="803"/>
              </a:xfrm>
            </p:grpSpPr>
            <p:pic>
              <p:nvPicPr>
                <p:cNvPr id="90" name="Picture 53" descr="desktop_computer_stylized_medium">
                  <a:extLst>
                    <a:ext uri="{FF2B5EF4-FFF2-40B4-BE49-F238E27FC236}">
                      <a16:creationId xmlns:a16="http://schemas.microsoft.com/office/drawing/2014/main" id="{5DF1881B-0BF4-AD42-A217-8A59265F13F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91" name="Freeform 54">
                  <a:extLst>
                    <a:ext uri="{FF2B5EF4-FFF2-40B4-BE49-F238E27FC236}">
                      <a16:creationId xmlns:a16="http://schemas.microsoft.com/office/drawing/2014/main" id="{70153128-AD53-344E-AC41-31C4A7A688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92" name="Group 55">
              <a:extLst>
                <a:ext uri="{FF2B5EF4-FFF2-40B4-BE49-F238E27FC236}">
                  <a16:creationId xmlns:a16="http://schemas.microsoft.com/office/drawing/2014/main" id="{BC8220C0-F289-EA49-A8E3-C57D20507A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93546" y="3633388"/>
              <a:ext cx="223838" cy="501650"/>
              <a:chOff x="4140" y="429"/>
              <a:chExt cx="1425" cy="2396"/>
            </a:xfrm>
          </p:grpSpPr>
          <p:sp>
            <p:nvSpPr>
              <p:cNvPr id="93" name="Freeform 56">
                <a:extLst>
                  <a:ext uri="{FF2B5EF4-FFF2-40B4-BE49-F238E27FC236}">
                    <a16:creationId xmlns:a16="http://schemas.microsoft.com/office/drawing/2014/main" id="{4F76258E-0BBD-8E40-98DF-823F02EF9A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4" name="Rectangle 57">
                <a:extLst>
                  <a:ext uri="{FF2B5EF4-FFF2-40B4-BE49-F238E27FC236}">
                    <a16:creationId xmlns:a16="http://schemas.microsoft.com/office/drawing/2014/main" id="{7ED94245-5F5F-444B-9321-EDC0812D8D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429"/>
                <a:ext cx="1041" cy="2282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95" name="Freeform 58">
                <a:extLst>
                  <a:ext uri="{FF2B5EF4-FFF2-40B4-BE49-F238E27FC236}">
                    <a16:creationId xmlns:a16="http://schemas.microsoft.com/office/drawing/2014/main" id="{1F9330A9-C80A-E34C-9993-F9F6EFA2E9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6" name="Freeform 59">
                <a:extLst>
                  <a:ext uri="{FF2B5EF4-FFF2-40B4-BE49-F238E27FC236}">
                    <a16:creationId xmlns:a16="http://schemas.microsoft.com/office/drawing/2014/main" id="{EED46AB6-5210-284B-BD15-CC7F3CC066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7" name="Rectangle 60">
                <a:extLst>
                  <a:ext uri="{FF2B5EF4-FFF2-40B4-BE49-F238E27FC236}">
                    <a16:creationId xmlns:a16="http://schemas.microsoft.com/office/drawing/2014/main" id="{FCD372CD-8E16-EB40-BCB5-6518B2E541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6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98" name="Group 61">
                <a:extLst>
                  <a:ext uri="{FF2B5EF4-FFF2-40B4-BE49-F238E27FC236}">
                    <a16:creationId xmlns:a16="http://schemas.microsoft.com/office/drawing/2014/main" id="{A9F56FC0-6211-5447-8838-1C3E5659D8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1" name="AutoShape 62">
                  <a:extLst>
                    <a:ext uri="{FF2B5EF4-FFF2-40B4-BE49-F238E27FC236}">
                      <a16:creationId xmlns:a16="http://schemas.microsoft.com/office/drawing/2014/main" id="{B2006563-73E3-C341-BE69-A2D714EE0E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42" name="AutoShape 63">
                  <a:extLst>
                    <a:ext uri="{FF2B5EF4-FFF2-40B4-BE49-F238E27FC236}">
                      <a16:creationId xmlns:a16="http://schemas.microsoft.com/office/drawing/2014/main" id="{452EDF48-634C-DC4E-976C-1E4013FE65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3" y="2586"/>
                  <a:ext cx="70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99" name="Rectangle 64">
                <a:extLst>
                  <a:ext uri="{FF2B5EF4-FFF2-40B4-BE49-F238E27FC236}">
                    <a16:creationId xmlns:a16="http://schemas.microsoft.com/office/drawing/2014/main" id="{517F2B13-C563-4E43-B2A5-C5BD2544B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1020"/>
                <a:ext cx="596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00" name="Group 65">
                <a:extLst>
                  <a:ext uri="{FF2B5EF4-FFF2-40B4-BE49-F238E27FC236}">
                    <a16:creationId xmlns:a16="http://schemas.microsoft.com/office/drawing/2014/main" id="{4ED80E09-23D9-1444-A08C-74DBBD9F35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39" name="AutoShape 66">
                  <a:extLst>
                    <a:ext uri="{FF2B5EF4-FFF2-40B4-BE49-F238E27FC236}">
                      <a16:creationId xmlns:a16="http://schemas.microsoft.com/office/drawing/2014/main" id="{BD5E8DEF-A6A7-524F-A3E8-38105351EF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40" name="AutoShape 67">
                  <a:extLst>
                    <a:ext uri="{FF2B5EF4-FFF2-40B4-BE49-F238E27FC236}">
                      <a16:creationId xmlns:a16="http://schemas.microsoft.com/office/drawing/2014/main" id="{83CE605A-8B9B-FF4A-ADD9-77EFF07CEC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8"/>
                  <a:ext cx="70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01" name="Rectangle 68">
                <a:extLst>
                  <a:ext uri="{FF2B5EF4-FFF2-40B4-BE49-F238E27FC236}">
                    <a16:creationId xmlns:a16="http://schemas.microsoft.com/office/drawing/2014/main" id="{13298108-AEB2-9C4B-9F8E-E0273C39A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1362"/>
                <a:ext cx="596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2" name="Rectangle 69">
                <a:extLst>
                  <a:ext uri="{FF2B5EF4-FFF2-40B4-BE49-F238E27FC236}">
                    <a16:creationId xmlns:a16="http://schemas.microsoft.com/office/drawing/2014/main" id="{998350A7-0615-C644-9F45-39D62BDB98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1" y="1657"/>
                <a:ext cx="596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03" name="Group 70">
                <a:extLst>
                  <a:ext uri="{FF2B5EF4-FFF2-40B4-BE49-F238E27FC236}">
                    <a16:creationId xmlns:a16="http://schemas.microsoft.com/office/drawing/2014/main" id="{B66F256F-0190-C34D-B1CF-5EC3FBA6E0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19" name="AutoShape 71">
                  <a:extLst>
                    <a:ext uri="{FF2B5EF4-FFF2-40B4-BE49-F238E27FC236}">
                      <a16:creationId xmlns:a16="http://schemas.microsoft.com/office/drawing/2014/main" id="{B44DED58-257C-B64B-BAD6-1093812EF7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18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20" name="AutoShape 72">
                  <a:extLst>
                    <a:ext uri="{FF2B5EF4-FFF2-40B4-BE49-F238E27FC236}">
                      <a16:creationId xmlns:a16="http://schemas.microsoft.com/office/drawing/2014/main" id="{17264758-5A11-0143-AA34-8D5FF585E9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2" cy="11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04" name="Freeform 73">
                <a:extLst>
                  <a:ext uri="{FF2B5EF4-FFF2-40B4-BE49-F238E27FC236}">
                    <a16:creationId xmlns:a16="http://schemas.microsoft.com/office/drawing/2014/main" id="{F9396AFF-50A0-E543-85ED-A1775DCAB5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05" name="Group 74">
                <a:extLst>
                  <a:ext uri="{FF2B5EF4-FFF2-40B4-BE49-F238E27FC236}">
                    <a16:creationId xmlns:a16="http://schemas.microsoft.com/office/drawing/2014/main" id="{EFAA059B-DB96-6A46-B4E6-8F3321F531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17" name="AutoShape 75">
                  <a:extLst>
                    <a:ext uri="{FF2B5EF4-FFF2-40B4-BE49-F238E27FC236}">
                      <a16:creationId xmlns:a16="http://schemas.microsoft.com/office/drawing/2014/main" id="{83348DAB-4511-F04F-BD32-D337DF959B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5"/>
                  <a:ext cx="730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18" name="AutoShape 76">
                  <a:extLst>
                    <a:ext uri="{FF2B5EF4-FFF2-40B4-BE49-F238E27FC236}">
                      <a16:creationId xmlns:a16="http://schemas.microsoft.com/office/drawing/2014/main" id="{A1C8B31D-3D51-2648-9688-2AEA89487C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3" y="2580"/>
                  <a:ext cx="705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06" name="Rectangle 77">
                <a:extLst>
                  <a:ext uri="{FF2B5EF4-FFF2-40B4-BE49-F238E27FC236}">
                    <a16:creationId xmlns:a16="http://schemas.microsoft.com/office/drawing/2014/main" id="{7EF69E7C-0C67-7148-8FE3-54101303E3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07" name="Freeform 78">
                <a:extLst>
                  <a:ext uri="{FF2B5EF4-FFF2-40B4-BE49-F238E27FC236}">
                    <a16:creationId xmlns:a16="http://schemas.microsoft.com/office/drawing/2014/main" id="{FBDFC7A2-78F6-6B42-8CB8-7F23EE4E35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8" name="Freeform 79">
                <a:extLst>
                  <a:ext uri="{FF2B5EF4-FFF2-40B4-BE49-F238E27FC236}">
                    <a16:creationId xmlns:a16="http://schemas.microsoft.com/office/drawing/2014/main" id="{CC939040-7BF3-9046-BF6A-0458E0E2E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9" name="Oval 80">
                <a:extLst>
                  <a:ext uri="{FF2B5EF4-FFF2-40B4-BE49-F238E27FC236}">
                    <a16:creationId xmlns:a16="http://schemas.microsoft.com/office/drawing/2014/main" id="{D3889CB4-554F-C549-9233-410F2A702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4" y="2613"/>
                <a:ext cx="51" cy="91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0" name="Freeform 81">
                <a:extLst>
                  <a:ext uri="{FF2B5EF4-FFF2-40B4-BE49-F238E27FC236}">
                    <a16:creationId xmlns:a16="http://schemas.microsoft.com/office/drawing/2014/main" id="{01CB4D71-6B24-D14B-8E88-E20AA937EA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1" name="AutoShape 82">
                <a:extLst>
                  <a:ext uri="{FF2B5EF4-FFF2-40B4-BE49-F238E27FC236}">
                    <a16:creationId xmlns:a16="http://schemas.microsoft.com/office/drawing/2014/main" id="{765BBEDF-3C6B-1040-8B52-503C49ECEE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1"/>
                <a:ext cx="1203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2" name="AutoShape 83">
                <a:extLst>
                  <a:ext uri="{FF2B5EF4-FFF2-40B4-BE49-F238E27FC236}">
                    <a16:creationId xmlns:a16="http://schemas.microsoft.com/office/drawing/2014/main" id="{6FAE78A0-65F7-5C4E-B7EA-70A785714C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2711"/>
                <a:ext cx="1061" cy="8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3" name="Oval 84">
                <a:extLst>
                  <a:ext uri="{FF2B5EF4-FFF2-40B4-BE49-F238E27FC236}">
                    <a16:creationId xmlns:a16="http://schemas.microsoft.com/office/drawing/2014/main" id="{AABAB6CF-26FB-E547-93D6-6BFF671724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2" y="2385"/>
                <a:ext cx="152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4" name="Oval 85">
                <a:extLst>
                  <a:ext uri="{FF2B5EF4-FFF2-40B4-BE49-F238E27FC236}">
                    <a16:creationId xmlns:a16="http://schemas.microsoft.com/office/drawing/2014/main" id="{EE66FB07-9865-0B46-8669-F1B01050BF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85"/>
                <a:ext cx="162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15" name="Oval 86">
                <a:extLst>
                  <a:ext uri="{FF2B5EF4-FFF2-40B4-BE49-F238E27FC236}">
                    <a16:creationId xmlns:a16="http://schemas.microsoft.com/office/drawing/2014/main" id="{5A789240-A8CA-A84D-A9E3-BD6D371736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6" y="2378"/>
                <a:ext cx="152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16" name="Rectangle 87">
                <a:extLst>
                  <a:ext uri="{FF2B5EF4-FFF2-40B4-BE49-F238E27FC236}">
                    <a16:creationId xmlns:a16="http://schemas.microsoft.com/office/drawing/2014/main" id="{A762B790-F441-E240-934E-A9664B2F53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0" y="1832"/>
                <a:ext cx="91" cy="766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grpSp>
          <p:nvGrpSpPr>
            <p:cNvPr id="143" name="Group 88">
              <a:extLst>
                <a:ext uri="{FF2B5EF4-FFF2-40B4-BE49-F238E27FC236}">
                  <a16:creationId xmlns:a16="http://schemas.microsoft.com/office/drawing/2014/main" id="{17DC5732-628F-6741-852D-2CBD1EC0FD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59865" y="3576238"/>
              <a:ext cx="223838" cy="501650"/>
              <a:chOff x="4140" y="429"/>
              <a:chExt cx="1425" cy="2396"/>
            </a:xfrm>
          </p:grpSpPr>
          <p:sp>
            <p:nvSpPr>
              <p:cNvPr id="144" name="Freeform 89">
                <a:extLst>
                  <a:ext uri="{FF2B5EF4-FFF2-40B4-BE49-F238E27FC236}">
                    <a16:creationId xmlns:a16="http://schemas.microsoft.com/office/drawing/2014/main" id="{66258626-CF43-4144-AFB5-A001FE5BE7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5" name="Rectangle 90">
                <a:extLst>
                  <a:ext uri="{FF2B5EF4-FFF2-40B4-BE49-F238E27FC236}">
                    <a16:creationId xmlns:a16="http://schemas.microsoft.com/office/drawing/2014/main" id="{75E92CB8-71C3-E048-84D7-F08068A4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429"/>
                <a:ext cx="1041" cy="2282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46" name="Freeform 91">
                <a:extLst>
                  <a:ext uri="{FF2B5EF4-FFF2-40B4-BE49-F238E27FC236}">
                    <a16:creationId xmlns:a16="http://schemas.microsoft.com/office/drawing/2014/main" id="{71C22EB9-D8A4-F04F-A304-D772EEAB70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7" name="Freeform 92">
                <a:extLst>
                  <a:ext uri="{FF2B5EF4-FFF2-40B4-BE49-F238E27FC236}">
                    <a16:creationId xmlns:a16="http://schemas.microsoft.com/office/drawing/2014/main" id="{A649EF14-8235-8B4A-8B8B-3AC2B2B64C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8" name="Rectangle 93">
                <a:extLst>
                  <a:ext uri="{FF2B5EF4-FFF2-40B4-BE49-F238E27FC236}">
                    <a16:creationId xmlns:a16="http://schemas.microsoft.com/office/drawing/2014/main" id="{2C3B9489-DBCD-1B41-A1E0-9939F842AA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694"/>
                <a:ext cx="596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49" name="Group 94">
                <a:extLst>
                  <a:ext uri="{FF2B5EF4-FFF2-40B4-BE49-F238E27FC236}">
                    <a16:creationId xmlns:a16="http://schemas.microsoft.com/office/drawing/2014/main" id="{5EA53608-D5A4-FB4B-8294-6D9D65EFF0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74" name="AutoShape 95">
                  <a:extLst>
                    <a:ext uri="{FF2B5EF4-FFF2-40B4-BE49-F238E27FC236}">
                      <a16:creationId xmlns:a16="http://schemas.microsoft.com/office/drawing/2014/main" id="{AED3F1D5-BB8C-254E-83E5-6EAB6528B9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71"/>
                  <a:ext cx="73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75" name="AutoShape 96">
                  <a:extLst>
                    <a:ext uri="{FF2B5EF4-FFF2-40B4-BE49-F238E27FC236}">
                      <a16:creationId xmlns:a16="http://schemas.microsoft.com/office/drawing/2014/main" id="{942D2E9F-6E36-084E-9FBC-AD82CA243A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3" y="2586"/>
                  <a:ext cx="706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50" name="Rectangle 97">
                <a:extLst>
                  <a:ext uri="{FF2B5EF4-FFF2-40B4-BE49-F238E27FC236}">
                    <a16:creationId xmlns:a16="http://schemas.microsoft.com/office/drawing/2014/main" id="{E8FF0B53-6745-A84C-89E0-B850FA20B8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1020"/>
                <a:ext cx="596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51" name="Group 98">
                <a:extLst>
                  <a:ext uri="{FF2B5EF4-FFF2-40B4-BE49-F238E27FC236}">
                    <a16:creationId xmlns:a16="http://schemas.microsoft.com/office/drawing/2014/main" id="{3E1DFAB8-85DC-9B47-A3FC-17FA76E4DB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72" name="AutoShape 99">
                  <a:extLst>
                    <a:ext uri="{FF2B5EF4-FFF2-40B4-BE49-F238E27FC236}">
                      <a16:creationId xmlns:a16="http://schemas.microsoft.com/office/drawing/2014/main" id="{9B63DA8A-7611-6449-A57A-B40172E56E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73" name="AutoShape 100">
                  <a:extLst>
                    <a:ext uri="{FF2B5EF4-FFF2-40B4-BE49-F238E27FC236}">
                      <a16:creationId xmlns:a16="http://schemas.microsoft.com/office/drawing/2014/main" id="{AB3060D8-D09B-3F4B-AEE4-AEE61862CA5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8"/>
                  <a:ext cx="706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52" name="Rectangle 101">
                <a:extLst>
                  <a:ext uri="{FF2B5EF4-FFF2-40B4-BE49-F238E27FC236}">
                    <a16:creationId xmlns:a16="http://schemas.microsoft.com/office/drawing/2014/main" id="{3C0F1872-3B7D-4A41-8B0C-E81E4AC44A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1" y="1362"/>
                <a:ext cx="596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3" name="Rectangle 102">
                <a:extLst>
                  <a:ext uri="{FF2B5EF4-FFF2-40B4-BE49-F238E27FC236}">
                    <a16:creationId xmlns:a16="http://schemas.microsoft.com/office/drawing/2014/main" id="{660918F1-C396-1647-B4E6-234CB13D95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1" y="1657"/>
                <a:ext cx="596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154" name="Group 103">
                <a:extLst>
                  <a:ext uri="{FF2B5EF4-FFF2-40B4-BE49-F238E27FC236}">
                    <a16:creationId xmlns:a16="http://schemas.microsoft.com/office/drawing/2014/main" id="{A148F5A9-0478-8F4F-89E7-8C39446345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70" name="AutoShape 104">
                  <a:extLst>
                    <a:ext uri="{FF2B5EF4-FFF2-40B4-BE49-F238E27FC236}">
                      <a16:creationId xmlns:a16="http://schemas.microsoft.com/office/drawing/2014/main" id="{80F9D10C-B532-B14A-B8EA-13E7BE80A4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18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71" name="AutoShape 105">
                  <a:extLst>
                    <a:ext uri="{FF2B5EF4-FFF2-40B4-BE49-F238E27FC236}">
                      <a16:creationId xmlns:a16="http://schemas.microsoft.com/office/drawing/2014/main" id="{88383691-0F9A-5544-9926-129A049B8A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2" cy="11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55" name="Freeform 106">
                <a:extLst>
                  <a:ext uri="{FF2B5EF4-FFF2-40B4-BE49-F238E27FC236}">
                    <a16:creationId xmlns:a16="http://schemas.microsoft.com/office/drawing/2014/main" id="{5F307D13-C702-C846-AAC3-1F59F5B96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56" name="Group 107">
                <a:extLst>
                  <a:ext uri="{FF2B5EF4-FFF2-40B4-BE49-F238E27FC236}">
                    <a16:creationId xmlns:a16="http://schemas.microsoft.com/office/drawing/2014/main" id="{26FB1383-43C2-B14E-B7B3-0D43473DA4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68" name="AutoShape 108">
                  <a:extLst>
                    <a:ext uri="{FF2B5EF4-FFF2-40B4-BE49-F238E27FC236}">
                      <a16:creationId xmlns:a16="http://schemas.microsoft.com/office/drawing/2014/main" id="{D061EDA9-2C53-BE45-915E-589037D845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5"/>
                  <a:ext cx="730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69" name="AutoShape 109">
                  <a:extLst>
                    <a:ext uri="{FF2B5EF4-FFF2-40B4-BE49-F238E27FC236}">
                      <a16:creationId xmlns:a16="http://schemas.microsoft.com/office/drawing/2014/main" id="{998AB447-94FE-834C-84AB-CB37AB3038D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3" y="2580"/>
                  <a:ext cx="705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157" name="Rectangle 110">
                <a:extLst>
                  <a:ext uri="{FF2B5EF4-FFF2-40B4-BE49-F238E27FC236}">
                    <a16:creationId xmlns:a16="http://schemas.microsoft.com/office/drawing/2014/main" id="{7E161FDF-4931-A54D-9200-97C2E9F03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71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58" name="Freeform 111">
                <a:extLst>
                  <a:ext uri="{FF2B5EF4-FFF2-40B4-BE49-F238E27FC236}">
                    <a16:creationId xmlns:a16="http://schemas.microsoft.com/office/drawing/2014/main" id="{6F205231-B042-214A-BAF1-BBBFAAE865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9" name="Freeform 112">
                <a:extLst>
                  <a:ext uri="{FF2B5EF4-FFF2-40B4-BE49-F238E27FC236}">
                    <a16:creationId xmlns:a16="http://schemas.microsoft.com/office/drawing/2014/main" id="{2C9F0014-AAE6-1E42-B6A0-5FDBFB0943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0" name="Oval 113">
                <a:extLst>
                  <a:ext uri="{FF2B5EF4-FFF2-40B4-BE49-F238E27FC236}">
                    <a16:creationId xmlns:a16="http://schemas.microsoft.com/office/drawing/2014/main" id="{8553CA72-700C-7E4C-96EA-C8E02AC51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4" y="2613"/>
                <a:ext cx="51" cy="91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1" name="Freeform 114">
                <a:extLst>
                  <a:ext uri="{FF2B5EF4-FFF2-40B4-BE49-F238E27FC236}">
                    <a16:creationId xmlns:a16="http://schemas.microsoft.com/office/drawing/2014/main" id="{E1B0C7DC-C796-224B-95BB-EA9A64983E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2" name="AutoShape 115">
                <a:extLst>
                  <a:ext uri="{FF2B5EF4-FFF2-40B4-BE49-F238E27FC236}">
                    <a16:creationId xmlns:a16="http://schemas.microsoft.com/office/drawing/2014/main" id="{38969B4B-14F8-4C4B-9F4D-1C9709448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1"/>
                <a:ext cx="1203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3" name="AutoShape 116">
                <a:extLst>
                  <a:ext uri="{FF2B5EF4-FFF2-40B4-BE49-F238E27FC236}">
                    <a16:creationId xmlns:a16="http://schemas.microsoft.com/office/drawing/2014/main" id="{20FB94C7-96EF-D64F-9AEA-E2F1422FE2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1" y="2711"/>
                <a:ext cx="1061" cy="8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4" name="Oval 117">
                <a:extLst>
                  <a:ext uri="{FF2B5EF4-FFF2-40B4-BE49-F238E27FC236}">
                    <a16:creationId xmlns:a16="http://schemas.microsoft.com/office/drawing/2014/main" id="{307DF5A4-259A-DC44-9789-8EE9243823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2" y="2385"/>
                <a:ext cx="152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5" name="Oval 118">
                <a:extLst>
                  <a:ext uri="{FF2B5EF4-FFF2-40B4-BE49-F238E27FC236}">
                    <a16:creationId xmlns:a16="http://schemas.microsoft.com/office/drawing/2014/main" id="{6D1DB86E-92BD-2544-B8B1-844EDAE57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85"/>
                <a:ext cx="162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66" name="Oval 119">
                <a:extLst>
                  <a:ext uri="{FF2B5EF4-FFF2-40B4-BE49-F238E27FC236}">
                    <a16:creationId xmlns:a16="http://schemas.microsoft.com/office/drawing/2014/main" id="{B13B6B0E-57D8-B54A-814C-263EB46D92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6" y="2378"/>
                <a:ext cx="152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167" name="Rectangle 120">
                <a:extLst>
                  <a:ext uri="{FF2B5EF4-FFF2-40B4-BE49-F238E27FC236}">
                    <a16:creationId xmlns:a16="http://schemas.microsoft.com/office/drawing/2014/main" id="{270171A8-F5A4-F640-8B20-2A908A8BA7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0" y="1832"/>
                <a:ext cx="91" cy="766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</p:grpSp>
      <p:sp>
        <p:nvSpPr>
          <p:cNvPr id="6" name="Freeform 5">
            <a:extLst>
              <a:ext uri="{FF2B5EF4-FFF2-40B4-BE49-F238E27FC236}">
                <a16:creationId xmlns:a16="http://schemas.microsoft.com/office/drawing/2014/main" id="{E31BA10A-DEA2-4D4B-AB0D-89FB36E5C7B3}"/>
              </a:ext>
            </a:extLst>
          </p:cNvPr>
          <p:cNvSpPr/>
          <p:nvPr/>
        </p:nvSpPr>
        <p:spPr>
          <a:xfrm>
            <a:off x="6069496" y="2941983"/>
            <a:ext cx="3750365" cy="2491408"/>
          </a:xfrm>
          <a:custGeom>
            <a:avLst/>
            <a:gdLst>
              <a:gd name="connsiteX0" fmla="*/ 331304 w 3750365"/>
              <a:gd name="connsiteY0" fmla="*/ 0 h 2491408"/>
              <a:gd name="connsiteX1" fmla="*/ 0 w 3750365"/>
              <a:gd name="connsiteY1" fmla="*/ 861391 h 2491408"/>
              <a:gd name="connsiteX2" fmla="*/ 13252 w 3750365"/>
              <a:gd name="connsiteY2" fmla="*/ 1378226 h 2491408"/>
              <a:gd name="connsiteX3" fmla="*/ 26504 w 3750365"/>
              <a:gd name="connsiteY3" fmla="*/ 2491408 h 2491408"/>
              <a:gd name="connsiteX4" fmla="*/ 3750365 w 3750365"/>
              <a:gd name="connsiteY4" fmla="*/ 2451652 h 2491408"/>
              <a:gd name="connsiteX5" fmla="*/ 3723861 w 3750365"/>
              <a:gd name="connsiteY5" fmla="*/ 79513 h 2491408"/>
              <a:gd name="connsiteX6" fmla="*/ 331304 w 3750365"/>
              <a:gd name="connsiteY6" fmla="*/ 0 h 2491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50365" h="2491408">
                <a:moveTo>
                  <a:pt x="331304" y="0"/>
                </a:moveTo>
                <a:lnTo>
                  <a:pt x="0" y="861391"/>
                </a:lnTo>
                <a:lnTo>
                  <a:pt x="13252" y="1378226"/>
                </a:lnTo>
                <a:lnTo>
                  <a:pt x="26504" y="2491408"/>
                </a:lnTo>
                <a:lnTo>
                  <a:pt x="3750365" y="2451652"/>
                </a:lnTo>
                <a:lnTo>
                  <a:pt x="3723861" y="79513"/>
                </a:lnTo>
                <a:lnTo>
                  <a:pt x="33130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Slide Number Placeholder 2">
            <a:extLst>
              <a:ext uri="{FF2B5EF4-FFF2-40B4-BE49-F238E27FC236}">
                <a16:creationId xmlns:a16="http://schemas.microsoft.com/office/drawing/2014/main" id="{1DCC9415-F6BD-EB4B-8CBA-8543440AF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14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800" dirty="0"/>
              <a:t>Pipelining: increased utilization</a:t>
            </a:r>
            <a:endParaRPr lang="en-US" sz="4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2D9612C-CE0F-6C45-B7EC-FE1D2900506E}"/>
              </a:ext>
            </a:extLst>
          </p:cNvPr>
          <p:cNvGrpSpPr/>
          <p:nvPr/>
        </p:nvGrpSpPr>
        <p:grpSpPr>
          <a:xfrm>
            <a:off x="282485" y="1417186"/>
            <a:ext cx="9144000" cy="3759200"/>
            <a:chOff x="1436915" y="1417186"/>
            <a:chExt cx="9144000" cy="37592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0C3BE89-6F62-424C-BFB2-28F71C43CE69}"/>
                </a:ext>
              </a:extLst>
            </p:cNvPr>
            <p:cNvGrpSpPr/>
            <p:nvPr/>
          </p:nvGrpSpPr>
          <p:grpSpPr>
            <a:xfrm>
              <a:off x="1436915" y="1744211"/>
              <a:ext cx="5265738" cy="3432175"/>
              <a:chOff x="1436915" y="1744211"/>
              <a:chExt cx="5265738" cy="3432175"/>
            </a:xfrm>
          </p:grpSpPr>
          <p:sp>
            <p:nvSpPr>
              <p:cNvPr id="271" name="Text Box 4">
                <a:extLst>
                  <a:ext uri="{FF2B5EF4-FFF2-40B4-BE49-F238E27FC236}">
                    <a16:creationId xmlns:a16="http://schemas.microsoft.com/office/drawing/2014/main" id="{8A9D06FA-5302-274C-84A9-DD1CED4599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36915" y="1760086"/>
                <a:ext cx="3086100" cy="35401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first packet bit transmitted, t = 0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2" name="Line 5">
                <a:extLst>
                  <a:ext uri="{FF2B5EF4-FFF2-40B4-BE49-F238E27FC236}">
                    <a16:creationId xmlns:a16="http://schemas.microsoft.com/office/drawing/2014/main" id="{EBE74238-0C8D-D64B-8C2E-687BBF2285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9215" y="1744211"/>
                <a:ext cx="20638" cy="328453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3" name="Line 6">
                <a:extLst>
                  <a:ext uri="{FF2B5EF4-FFF2-40B4-BE49-F238E27FC236}">
                    <a16:creationId xmlns:a16="http://schemas.microsoft.com/office/drawing/2014/main" id="{0C9FFAAE-DCDE-8044-9CE7-6F8A7B2FC0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80428" y="1756911"/>
                <a:ext cx="22225" cy="335121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90" name="Group 23">
                <a:extLst>
                  <a:ext uri="{FF2B5EF4-FFF2-40B4-BE49-F238E27FC236}">
                    <a16:creationId xmlns:a16="http://schemas.microsoft.com/office/drawing/2014/main" id="{C2DCCE27-7917-EA41-B0D5-20716F45FD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80153" y="4081011"/>
                <a:ext cx="1466850" cy="608013"/>
                <a:chOff x="12502" y="21425"/>
                <a:chExt cx="3400" cy="1025"/>
              </a:xfrm>
            </p:grpSpPr>
            <p:sp>
              <p:nvSpPr>
                <p:cNvPr id="291" name="Line 24">
                  <a:extLst>
                    <a:ext uri="{FF2B5EF4-FFF2-40B4-BE49-F238E27FC236}">
                      <a16:creationId xmlns:a16="http://schemas.microsoft.com/office/drawing/2014/main" id="{A9FA2FEB-7650-5B42-A31A-A637A45CA6F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502" y="21425"/>
                  <a:ext cx="288" cy="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92" name="Freeform 25">
                  <a:extLst>
                    <a:ext uri="{FF2B5EF4-FFF2-40B4-BE49-F238E27FC236}">
                      <a16:creationId xmlns:a16="http://schemas.microsoft.com/office/drawing/2014/main" id="{5BCD89AD-C50C-6545-ADEB-A57C6CDD92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827" y="21438"/>
                  <a:ext cx="3075" cy="987"/>
                </a:xfrm>
                <a:custGeom>
                  <a:avLst/>
                  <a:gdLst>
                    <a:gd name="T0" fmla="*/ 0 w 1845"/>
                    <a:gd name="T1" fmla="*/ 0 h 592"/>
                    <a:gd name="T2" fmla="*/ 305147 w 1845"/>
                    <a:gd name="T3" fmla="*/ 98267 h 592"/>
                    <a:gd name="T4" fmla="*/ 181112 w 1845"/>
                    <a:gd name="T5" fmla="*/ 98267 h 592"/>
                    <a:gd name="T6" fmla="*/ 0 w 1845"/>
                    <a:gd name="T7" fmla="*/ 41006 h 592"/>
                    <a:gd name="T8" fmla="*/ 0 w 1845"/>
                    <a:gd name="T9" fmla="*/ 0 h 5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45" h="592">
                      <a:moveTo>
                        <a:pt x="0" y="0"/>
                      </a:moveTo>
                      <a:lnTo>
                        <a:pt x="1845" y="592"/>
                      </a:lnTo>
                      <a:lnTo>
                        <a:pt x="1095" y="592"/>
                      </a:lnTo>
                      <a:lnTo>
                        <a:pt x="0" y="2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93" name="Group 26">
                  <a:extLst>
                    <a:ext uri="{FF2B5EF4-FFF2-40B4-BE49-F238E27FC236}">
                      <a16:creationId xmlns:a16="http://schemas.microsoft.com/office/drawing/2014/main" id="{CD5FB7C7-CD97-554F-9528-260B8217603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815" y="21425"/>
                  <a:ext cx="2776" cy="913"/>
                  <a:chOff x="12315" y="13225"/>
                  <a:chExt cx="2775" cy="913"/>
                </a:xfrm>
              </p:grpSpPr>
              <p:sp>
                <p:nvSpPr>
                  <p:cNvPr id="296" name="Line 27">
                    <a:extLst>
                      <a:ext uri="{FF2B5EF4-FFF2-40B4-BE49-F238E27FC236}">
                        <a16:creationId xmlns:a16="http://schemas.microsoft.com/office/drawing/2014/main" id="{73F94F66-30C4-DD47-A1F3-8FC6B19EB61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315" y="13225"/>
                    <a:ext cx="1587" cy="51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97" name="Line 28">
                    <a:extLst>
                      <a:ext uri="{FF2B5EF4-FFF2-40B4-BE49-F238E27FC236}">
                        <a16:creationId xmlns:a16="http://schemas.microsoft.com/office/drawing/2014/main" id="{5CF9459B-BF29-474D-BD49-51BFB74A16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915" y="13737"/>
                    <a:ext cx="1175" cy="40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94" name="Line 29">
                  <a:extLst>
                    <a:ext uri="{FF2B5EF4-FFF2-40B4-BE49-F238E27FC236}">
                      <a16:creationId xmlns:a16="http://schemas.microsoft.com/office/drawing/2014/main" id="{C83DFF49-AFA9-B447-8725-97F2F7C266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815" y="21837"/>
                  <a:ext cx="687" cy="2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95" name="Line 30">
                  <a:extLst>
                    <a:ext uri="{FF2B5EF4-FFF2-40B4-BE49-F238E27FC236}">
                      <a16:creationId xmlns:a16="http://schemas.microsoft.com/office/drawing/2014/main" id="{9326AF50-13D7-574E-AFF2-CD2DDBD17BD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15" y="22048"/>
                  <a:ext cx="1175" cy="40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302" name="Group 35">
                <a:extLst>
                  <a:ext uri="{FF2B5EF4-FFF2-40B4-BE49-F238E27FC236}">
                    <a16:creationId xmlns:a16="http://schemas.microsoft.com/office/drawing/2014/main" id="{22FDE4C6-35BE-AD41-8733-199E0B0C39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69040" y="4319136"/>
                <a:ext cx="1466850" cy="606425"/>
                <a:chOff x="12502" y="21425"/>
                <a:chExt cx="3400" cy="1025"/>
              </a:xfrm>
            </p:grpSpPr>
            <p:sp>
              <p:nvSpPr>
                <p:cNvPr id="303" name="Line 36">
                  <a:extLst>
                    <a:ext uri="{FF2B5EF4-FFF2-40B4-BE49-F238E27FC236}">
                      <a16:creationId xmlns:a16="http://schemas.microsoft.com/office/drawing/2014/main" id="{C65011A2-C10F-4E4E-950F-6344F3BFE5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502" y="21425"/>
                  <a:ext cx="288" cy="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4" name="Freeform 37">
                  <a:extLst>
                    <a:ext uri="{FF2B5EF4-FFF2-40B4-BE49-F238E27FC236}">
                      <a16:creationId xmlns:a16="http://schemas.microsoft.com/office/drawing/2014/main" id="{4BC1F15A-0B55-9B41-BB0E-8078C84DD8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827" y="21438"/>
                  <a:ext cx="3075" cy="987"/>
                </a:xfrm>
                <a:custGeom>
                  <a:avLst/>
                  <a:gdLst>
                    <a:gd name="T0" fmla="*/ 0 w 1845"/>
                    <a:gd name="T1" fmla="*/ 0 h 592"/>
                    <a:gd name="T2" fmla="*/ 305147 w 1845"/>
                    <a:gd name="T3" fmla="*/ 98267 h 592"/>
                    <a:gd name="T4" fmla="*/ 181112 w 1845"/>
                    <a:gd name="T5" fmla="*/ 98267 h 592"/>
                    <a:gd name="T6" fmla="*/ 0 w 1845"/>
                    <a:gd name="T7" fmla="*/ 41006 h 592"/>
                    <a:gd name="T8" fmla="*/ 0 w 1845"/>
                    <a:gd name="T9" fmla="*/ 0 h 5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45" h="592">
                      <a:moveTo>
                        <a:pt x="0" y="0"/>
                      </a:moveTo>
                      <a:lnTo>
                        <a:pt x="1845" y="592"/>
                      </a:lnTo>
                      <a:lnTo>
                        <a:pt x="1095" y="592"/>
                      </a:lnTo>
                      <a:lnTo>
                        <a:pt x="0" y="2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05" name="Group 38">
                  <a:extLst>
                    <a:ext uri="{FF2B5EF4-FFF2-40B4-BE49-F238E27FC236}">
                      <a16:creationId xmlns:a16="http://schemas.microsoft.com/office/drawing/2014/main" id="{C74149F6-2BD9-1547-B14C-69B2E641BD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815" y="21425"/>
                  <a:ext cx="2776" cy="913"/>
                  <a:chOff x="12315" y="13225"/>
                  <a:chExt cx="2775" cy="913"/>
                </a:xfrm>
              </p:grpSpPr>
              <p:sp>
                <p:nvSpPr>
                  <p:cNvPr id="308" name="Line 39">
                    <a:extLst>
                      <a:ext uri="{FF2B5EF4-FFF2-40B4-BE49-F238E27FC236}">
                        <a16:creationId xmlns:a16="http://schemas.microsoft.com/office/drawing/2014/main" id="{59CC4175-88B4-8C40-B032-807D24CE24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315" y="13225"/>
                    <a:ext cx="1587" cy="51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09" name="Line 40">
                    <a:extLst>
                      <a:ext uri="{FF2B5EF4-FFF2-40B4-BE49-F238E27FC236}">
                        <a16:creationId xmlns:a16="http://schemas.microsoft.com/office/drawing/2014/main" id="{2A62733E-86E9-C64F-8671-78D818E6BE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915" y="13737"/>
                    <a:ext cx="1175" cy="40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306" name="Line 41">
                  <a:extLst>
                    <a:ext uri="{FF2B5EF4-FFF2-40B4-BE49-F238E27FC236}">
                      <a16:creationId xmlns:a16="http://schemas.microsoft.com/office/drawing/2014/main" id="{11893E37-487E-1C43-93FA-50C9B2770C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815" y="21837"/>
                  <a:ext cx="687" cy="2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07" name="Line 42">
                  <a:extLst>
                    <a:ext uri="{FF2B5EF4-FFF2-40B4-BE49-F238E27FC236}">
                      <a16:creationId xmlns:a16="http://schemas.microsoft.com/office/drawing/2014/main" id="{30CC5948-C914-3749-A6FB-7CBA6CEFC2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15" y="22048"/>
                  <a:ext cx="1175" cy="40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grpSp>
            <p:nvGrpSpPr>
              <p:cNvPr id="310" name="Group 43">
                <a:extLst>
                  <a:ext uri="{FF2B5EF4-FFF2-40B4-BE49-F238E27FC236}">
                    <a16:creationId xmlns:a16="http://schemas.microsoft.com/office/drawing/2014/main" id="{EF1CBAE6-6435-1B41-BF0D-D5BDA59F7D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80153" y="4569961"/>
                <a:ext cx="1466850" cy="606425"/>
                <a:chOff x="12502" y="21425"/>
                <a:chExt cx="3400" cy="1025"/>
              </a:xfrm>
            </p:grpSpPr>
            <p:sp>
              <p:nvSpPr>
                <p:cNvPr id="311" name="Line 44">
                  <a:extLst>
                    <a:ext uri="{FF2B5EF4-FFF2-40B4-BE49-F238E27FC236}">
                      <a16:creationId xmlns:a16="http://schemas.microsoft.com/office/drawing/2014/main" id="{F14701CF-76F1-2A4D-B2B4-A5BD8ECC327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12502" y="21425"/>
                  <a:ext cx="288" cy="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12" name="Freeform 45">
                  <a:extLst>
                    <a:ext uri="{FF2B5EF4-FFF2-40B4-BE49-F238E27FC236}">
                      <a16:creationId xmlns:a16="http://schemas.microsoft.com/office/drawing/2014/main" id="{731F34A3-5536-D645-BFF8-86128FA9A6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2827" y="21438"/>
                  <a:ext cx="3075" cy="987"/>
                </a:xfrm>
                <a:custGeom>
                  <a:avLst/>
                  <a:gdLst>
                    <a:gd name="T0" fmla="*/ 0 w 1845"/>
                    <a:gd name="T1" fmla="*/ 0 h 592"/>
                    <a:gd name="T2" fmla="*/ 305147 w 1845"/>
                    <a:gd name="T3" fmla="*/ 98267 h 592"/>
                    <a:gd name="T4" fmla="*/ 181112 w 1845"/>
                    <a:gd name="T5" fmla="*/ 98267 h 592"/>
                    <a:gd name="T6" fmla="*/ 0 w 1845"/>
                    <a:gd name="T7" fmla="*/ 41006 h 592"/>
                    <a:gd name="T8" fmla="*/ 0 w 1845"/>
                    <a:gd name="T9" fmla="*/ 0 h 5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845" h="592">
                      <a:moveTo>
                        <a:pt x="0" y="0"/>
                      </a:moveTo>
                      <a:lnTo>
                        <a:pt x="1845" y="592"/>
                      </a:lnTo>
                      <a:lnTo>
                        <a:pt x="1095" y="592"/>
                      </a:lnTo>
                      <a:lnTo>
                        <a:pt x="0" y="2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CCFF"/>
                    </a:gs>
                    <a:gs pos="100000">
                      <a:srgbClr val="FFFF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313" name="Group 46">
                  <a:extLst>
                    <a:ext uri="{FF2B5EF4-FFF2-40B4-BE49-F238E27FC236}">
                      <a16:creationId xmlns:a16="http://schemas.microsoft.com/office/drawing/2014/main" id="{85521E25-61DD-F442-81A5-F4A019724E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815" y="21425"/>
                  <a:ext cx="2776" cy="913"/>
                  <a:chOff x="12315" y="13225"/>
                  <a:chExt cx="2775" cy="913"/>
                </a:xfrm>
              </p:grpSpPr>
              <p:sp>
                <p:nvSpPr>
                  <p:cNvPr id="316" name="Line 47">
                    <a:extLst>
                      <a:ext uri="{FF2B5EF4-FFF2-40B4-BE49-F238E27FC236}">
                        <a16:creationId xmlns:a16="http://schemas.microsoft.com/office/drawing/2014/main" id="{1A001C50-CAEA-3442-AFBA-E51180AC45B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2315" y="13225"/>
                    <a:ext cx="1587" cy="513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317" name="Line 48">
                    <a:extLst>
                      <a:ext uri="{FF2B5EF4-FFF2-40B4-BE49-F238E27FC236}">
                        <a16:creationId xmlns:a16="http://schemas.microsoft.com/office/drawing/2014/main" id="{37926C33-0CD4-CD45-BDFA-BADA6AC2CF0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3915" y="13737"/>
                    <a:ext cx="1175" cy="401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prstDash val="sysDot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ctr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panose="020B060403050404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314" name="Line 49">
                  <a:extLst>
                    <a:ext uri="{FF2B5EF4-FFF2-40B4-BE49-F238E27FC236}">
                      <a16:creationId xmlns:a16="http://schemas.microsoft.com/office/drawing/2014/main" id="{2F091D1F-079B-8B42-8F5F-7A038D533A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815" y="21837"/>
                  <a:ext cx="687" cy="213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15" name="Line 50">
                  <a:extLst>
                    <a:ext uri="{FF2B5EF4-FFF2-40B4-BE49-F238E27FC236}">
                      <a16:creationId xmlns:a16="http://schemas.microsoft.com/office/drawing/2014/main" id="{5D3DE632-11F8-E547-996E-81F2B81B1B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515" y="22048"/>
                  <a:ext cx="1175" cy="40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panose="020B060403050404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318" name="Line 51">
                <a:extLst>
                  <a:ext uri="{FF2B5EF4-FFF2-40B4-BE49-F238E27FC236}">
                    <a16:creationId xmlns:a16="http://schemas.microsoft.com/office/drawing/2014/main" id="{DB7CC19A-0A6A-DC4D-BED1-5955B59496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30965" y="3646036"/>
                <a:ext cx="2065338" cy="9318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DE6FBFC-B25F-574B-9C74-BFE13D65297A}"/>
                </a:ext>
              </a:extLst>
            </p:cNvPr>
            <p:cNvGrpSpPr/>
            <p:nvPr/>
          </p:nvGrpSpPr>
          <p:grpSpPr>
            <a:xfrm>
              <a:off x="1782990" y="1417186"/>
              <a:ext cx="8797925" cy="2974975"/>
              <a:chOff x="1782990" y="1417186"/>
              <a:chExt cx="8797925" cy="2974975"/>
            </a:xfrm>
          </p:grpSpPr>
          <p:sp>
            <p:nvSpPr>
              <p:cNvPr id="270" name="Line 3">
                <a:extLst>
                  <a:ext uri="{FF2B5EF4-FFF2-40B4-BE49-F238E27FC236}">
                    <a16:creationId xmlns:a16="http://schemas.microsoft.com/office/drawing/2014/main" id="{8578E745-D056-4142-B481-0269A61348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740" y="1966461"/>
                <a:ext cx="2082800" cy="93186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4" name="Text Box 7">
                <a:extLst>
                  <a:ext uri="{FF2B5EF4-FFF2-40B4-BE49-F238E27FC236}">
                    <a16:creationId xmlns:a16="http://schemas.microsoft.com/office/drawing/2014/main" id="{275A02AE-605A-8841-9D53-53820A5CF6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38840" y="1417186"/>
                <a:ext cx="1042988" cy="355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sender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5" name="Text Box 8">
                <a:extLst>
                  <a:ext uri="{FF2B5EF4-FFF2-40B4-BE49-F238E27FC236}">
                    <a16:creationId xmlns:a16="http://schemas.microsoft.com/office/drawing/2014/main" id="{27A750B8-38FA-9A48-B75F-4D9DAA80B3C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67665" y="1417186"/>
                <a:ext cx="1108075" cy="355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receiver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6" name="Line 9">
                <a:extLst>
                  <a:ext uri="{FF2B5EF4-FFF2-40B4-BE49-F238E27FC236}">
                    <a16:creationId xmlns:a16="http://schemas.microsoft.com/office/drawing/2014/main" id="{9EF9145B-0631-6D40-844E-0FEE146AD8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19853" y="1961699"/>
                <a:ext cx="2049462" cy="31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7" name="Line 10">
                <a:extLst>
                  <a:ext uri="{FF2B5EF4-FFF2-40B4-BE49-F238E27FC236}">
                    <a16:creationId xmlns:a16="http://schemas.microsoft.com/office/drawing/2014/main" id="{89818B7B-1767-9D41-8631-8A3B93FF67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26203" y="4093711"/>
                <a:ext cx="204946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8" name="Freeform 11">
                <a:extLst>
                  <a:ext uri="{FF2B5EF4-FFF2-40B4-BE49-F238E27FC236}">
                    <a16:creationId xmlns:a16="http://schemas.microsoft.com/office/drawing/2014/main" id="{7C53C3B4-7876-5B43-ABD7-074C37F12B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3978" y="1958524"/>
                <a:ext cx="2087562" cy="1169987"/>
              </a:xfrm>
              <a:custGeom>
                <a:avLst/>
                <a:gdLst>
                  <a:gd name="T0" fmla="*/ 0 w 2902"/>
                  <a:gd name="T1" fmla="*/ 0 h 1185"/>
                  <a:gd name="T2" fmla="*/ 2147483647 w 2902"/>
                  <a:gd name="T3" fmla="*/ 2147483647 h 1185"/>
                  <a:gd name="T4" fmla="*/ 2147483647 w 2902"/>
                  <a:gd name="T5" fmla="*/ 2147483647 h 1185"/>
                  <a:gd name="T6" fmla="*/ 0 w 2902"/>
                  <a:gd name="T7" fmla="*/ 2147483647 h 1185"/>
                  <a:gd name="T8" fmla="*/ 0 w 2902"/>
                  <a:gd name="T9" fmla="*/ 0 h 118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02" h="1185">
                    <a:moveTo>
                      <a:pt x="0" y="0"/>
                    </a:moveTo>
                    <a:lnTo>
                      <a:pt x="2895" y="937"/>
                    </a:lnTo>
                    <a:lnTo>
                      <a:pt x="2902" y="1185"/>
                    </a:lnTo>
                    <a:lnTo>
                      <a:pt x="0" y="2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9" name="Line 12">
                <a:extLst>
                  <a:ext uri="{FF2B5EF4-FFF2-40B4-BE49-F238E27FC236}">
                    <a16:creationId xmlns:a16="http://schemas.microsoft.com/office/drawing/2014/main" id="{A956E0A5-AC1B-5447-84D9-4593A3E93C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9040" y="1958524"/>
                <a:ext cx="123825" cy="3175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0" name="Line 13">
                <a:extLst>
                  <a:ext uri="{FF2B5EF4-FFF2-40B4-BE49-F238E27FC236}">
                    <a16:creationId xmlns:a16="http://schemas.microsoft.com/office/drawing/2014/main" id="{4E911566-59D1-CB47-B826-2D5CA791D0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9040" y="2202999"/>
                <a:ext cx="12382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1" name="Text Box 14">
                <a:extLst>
                  <a:ext uri="{FF2B5EF4-FFF2-40B4-BE49-F238E27FC236}">
                    <a16:creationId xmlns:a16="http://schemas.microsoft.com/office/drawing/2014/main" id="{445CA97C-CB18-2644-916B-02A60272C8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87990" y="2942774"/>
                <a:ext cx="965200" cy="3397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RTT 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2" name="Line 15">
                <a:extLst>
                  <a:ext uri="{FF2B5EF4-FFF2-40B4-BE49-F238E27FC236}">
                    <a16:creationId xmlns:a16="http://schemas.microsoft.com/office/drawing/2014/main" id="{05D08CE0-2B2A-6943-A3AF-E51CE2FDFD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02378" y="3253924"/>
                <a:ext cx="9525" cy="82073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3" name="Line 16">
                <a:extLst>
                  <a:ext uri="{FF2B5EF4-FFF2-40B4-BE49-F238E27FC236}">
                    <a16:creationId xmlns:a16="http://schemas.microsoft.com/office/drawing/2014/main" id="{E60C4BA4-F185-6C4D-81D1-73276FF1E0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07140" y="2225224"/>
                <a:ext cx="1588" cy="77628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4" name="Text Box 17">
                <a:extLst>
                  <a:ext uri="{FF2B5EF4-FFF2-40B4-BE49-F238E27FC236}">
                    <a16:creationId xmlns:a16="http://schemas.microsoft.com/office/drawing/2014/main" id="{2D2A4BCC-1CF4-BE4F-9159-6547BADEC7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82990" y="2041074"/>
                <a:ext cx="2740025" cy="3540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last bit transmitted, t = L / R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5" name="Line 18">
                <a:extLst>
                  <a:ext uri="{FF2B5EF4-FFF2-40B4-BE49-F238E27FC236}">
                    <a16:creationId xmlns:a16="http://schemas.microsoft.com/office/drawing/2014/main" id="{7DA72F70-6275-E44B-B3B2-867A077BBE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669315" y="2884036"/>
                <a:ext cx="12541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6" name="Text Box 19">
                <a:extLst>
                  <a:ext uri="{FF2B5EF4-FFF2-40B4-BE49-F238E27FC236}">
                    <a16:creationId xmlns:a16="http://schemas.microsoft.com/office/drawing/2014/main" id="{090538B9-64B8-8249-A097-902A990BDC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45515" y="2706236"/>
                <a:ext cx="2641600" cy="355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first packet bit arrives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7" name="Line 20">
                <a:extLst>
                  <a:ext uri="{FF2B5EF4-FFF2-40B4-BE49-F238E27FC236}">
                    <a16:creationId xmlns:a16="http://schemas.microsoft.com/office/drawing/2014/main" id="{43859A12-C8B1-7F4C-996B-A2335F971C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91540" y="3134861"/>
                <a:ext cx="11906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8" name="Text Box 21">
                <a:extLst>
                  <a:ext uri="{FF2B5EF4-FFF2-40B4-BE49-F238E27FC236}">
                    <a16:creationId xmlns:a16="http://schemas.microsoft.com/office/drawing/2014/main" id="{D5887813-0036-6B4B-A7D4-5F561E3F104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50278" y="2958649"/>
                <a:ext cx="3581400" cy="384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last packet bit arrives, send ACK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89" name="Text Box 22">
                <a:extLst>
                  <a:ext uri="{FF2B5EF4-FFF2-40B4-BE49-F238E27FC236}">
                    <a16:creationId xmlns:a16="http://schemas.microsoft.com/office/drawing/2014/main" id="{FCD4E8AC-1B13-DA41-948F-91A8386496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30628" y="3750811"/>
                <a:ext cx="2635250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ACK arrives, send next </a:t>
                </a:r>
              </a:p>
              <a:p>
                <a:pPr marL="0" marR="0" lvl="0" indent="0" algn="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packet, t = RTT + L / R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8" name="Freeform 31">
                <a:extLst>
                  <a:ext uri="{FF2B5EF4-FFF2-40B4-BE49-F238E27FC236}">
                    <a16:creationId xmlns:a16="http://schemas.microsoft.com/office/drawing/2014/main" id="{F38321EB-FAE2-904A-9B81-21D0186CBC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8740" y="2210936"/>
                <a:ext cx="2087563" cy="1168400"/>
              </a:xfrm>
              <a:custGeom>
                <a:avLst/>
                <a:gdLst>
                  <a:gd name="T0" fmla="*/ 0 w 2902"/>
                  <a:gd name="T1" fmla="*/ 0 h 1185"/>
                  <a:gd name="T2" fmla="*/ 2147483647 w 2902"/>
                  <a:gd name="T3" fmla="*/ 2147483647 h 1185"/>
                  <a:gd name="T4" fmla="*/ 2147483647 w 2902"/>
                  <a:gd name="T5" fmla="*/ 2147483647 h 1185"/>
                  <a:gd name="T6" fmla="*/ 0 w 2902"/>
                  <a:gd name="T7" fmla="*/ 2147483647 h 1185"/>
                  <a:gd name="T8" fmla="*/ 0 w 2902"/>
                  <a:gd name="T9" fmla="*/ 0 h 118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02" h="1185">
                    <a:moveTo>
                      <a:pt x="0" y="0"/>
                    </a:moveTo>
                    <a:lnTo>
                      <a:pt x="2895" y="937"/>
                    </a:lnTo>
                    <a:lnTo>
                      <a:pt x="2902" y="1185"/>
                    </a:lnTo>
                    <a:lnTo>
                      <a:pt x="0" y="2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99" name="Freeform 32">
                <a:extLst>
                  <a:ext uri="{FF2B5EF4-FFF2-40B4-BE49-F238E27FC236}">
                    <a16:creationId xmlns:a16="http://schemas.microsoft.com/office/drawing/2014/main" id="{FBE57882-6BB0-FB42-8297-3020DB77FC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8740" y="2461761"/>
                <a:ext cx="2087563" cy="1168400"/>
              </a:xfrm>
              <a:custGeom>
                <a:avLst/>
                <a:gdLst>
                  <a:gd name="T0" fmla="*/ 0 w 2902"/>
                  <a:gd name="T1" fmla="*/ 0 h 1185"/>
                  <a:gd name="T2" fmla="*/ 2147483647 w 2902"/>
                  <a:gd name="T3" fmla="*/ 2147483647 h 1185"/>
                  <a:gd name="T4" fmla="*/ 2147483647 w 2902"/>
                  <a:gd name="T5" fmla="*/ 2147483647 h 1185"/>
                  <a:gd name="T6" fmla="*/ 0 w 2902"/>
                  <a:gd name="T7" fmla="*/ 2147483647 h 1185"/>
                  <a:gd name="T8" fmla="*/ 0 w 2902"/>
                  <a:gd name="T9" fmla="*/ 0 h 118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02" h="1185">
                    <a:moveTo>
                      <a:pt x="0" y="0"/>
                    </a:moveTo>
                    <a:lnTo>
                      <a:pt x="2895" y="937"/>
                    </a:lnTo>
                    <a:lnTo>
                      <a:pt x="2902" y="1185"/>
                    </a:lnTo>
                    <a:lnTo>
                      <a:pt x="0" y="2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0" name="Line 33">
                <a:extLst>
                  <a:ext uri="{FF2B5EF4-FFF2-40B4-BE49-F238E27FC236}">
                    <a16:creationId xmlns:a16="http://schemas.microsoft.com/office/drawing/2014/main" id="{FEACB0C4-D684-9C47-A7A0-8FB12C2D6D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26203" y="3142799"/>
                <a:ext cx="2065337" cy="93186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1" name="Line 34">
                <a:extLst>
                  <a:ext uri="{FF2B5EF4-FFF2-40B4-BE49-F238E27FC236}">
                    <a16:creationId xmlns:a16="http://schemas.microsoft.com/office/drawing/2014/main" id="{B381B3DB-0359-7246-93D3-750B1DF800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26203" y="3393624"/>
                <a:ext cx="2065337" cy="93186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19" name="Text Box 52">
                <a:extLst>
                  <a:ext uri="{FF2B5EF4-FFF2-40B4-BE49-F238E27FC236}">
                    <a16:creationId xmlns:a16="http://schemas.microsoft.com/office/drawing/2014/main" id="{7C41A37A-EA25-6B42-B8A7-D7B83D3352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47103" y="3212649"/>
                <a:ext cx="3833812" cy="384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last bit of 2</a:t>
                </a:r>
                <a:r>
                  <a:rPr kumimoji="0" lang="en-US" altLang="en-US" sz="16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nd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 packet arrives, send ACK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0" name="Line 53">
                <a:extLst>
                  <a:ext uri="{FF2B5EF4-FFF2-40B4-BE49-F238E27FC236}">
                    <a16:creationId xmlns:a16="http://schemas.microsoft.com/office/drawing/2014/main" id="{87E7DB36-E98C-7E44-A72B-F7EAC66CB0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91540" y="3371399"/>
                <a:ext cx="11271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1" name="Line 54">
                <a:extLst>
                  <a:ext uri="{FF2B5EF4-FFF2-40B4-BE49-F238E27FC236}">
                    <a16:creationId xmlns:a16="http://schemas.microsoft.com/office/drawing/2014/main" id="{6F1B7C9A-215A-474C-BA01-5D7C972719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702653" y="3623811"/>
                <a:ext cx="11271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2" name="Text Box 55">
                <a:extLst>
                  <a:ext uri="{FF2B5EF4-FFF2-40B4-BE49-F238E27FC236}">
                    <a16:creationId xmlns:a16="http://schemas.microsoft.com/office/drawing/2014/main" id="{2CD16A00-05F1-344E-A3E7-C5304F7F92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742340" y="3446011"/>
                <a:ext cx="3838575" cy="3841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last bit of 3</a:t>
                </a:r>
                <a:r>
                  <a:rPr kumimoji="0" lang="en-US" altLang="en-US" sz="1600" b="0" i="0" u="none" strike="noStrike" kern="1200" cap="none" spc="0" normalizeH="0" baseline="30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rd</a:t>
                </a: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 packet arrives, send ACK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B6176C9-7176-F240-9157-3D2494A14415}"/>
              </a:ext>
            </a:extLst>
          </p:cNvPr>
          <p:cNvGrpSpPr/>
          <p:nvPr/>
        </p:nvGrpSpPr>
        <p:grpSpPr>
          <a:xfrm>
            <a:off x="5800635" y="4341361"/>
            <a:ext cx="3460750" cy="1145039"/>
            <a:chOff x="6955065" y="4341361"/>
            <a:chExt cx="3460750" cy="1145039"/>
          </a:xfrm>
        </p:grpSpPr>
        <p:sp>
          <p:nvSpPr>
            <p:cNvPr id="323" name="Text Box 57">
              <a:extLst>
                <a:ext uri="{FF2B5EF4-FFF2-40B4-BE49-F238E27FC236}">
                  <a16:creationId xmlns:a16="http://schemas.microsoft.com/office/drawing/2014/main" id="{FB511FDF-D49A-204F-9558-B726F99E6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5065" y="4341361"/>
              <a:ext cx="3460750" cy="7016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3-packet pipelining increases</a:t>
              </a: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utilization by a factor of 3!</a:t>
              </a:r>
            </a:p>
          </p:txBody>
        </p:sp>
        <p:sp>
          <p:nvSpPr>
            <p:cNvPr id="324" name="Line 58">
              <a:extLst>
                <a:ext uri="{FF2B5EF4-FFF2-40B4-BE49-F238E27FC236}">
                  <a16:creationId xmlns:a16="http://schemas.microsoft.com/office/drawing/2014/main" id="{D6D6E111-408F-FB4E-BDCF-4A37A9DB38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48840" y="5009699"/>
              <a:ext cx="1360" cy="476701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aphicFrame>
        <p:nvGraphicFramePr>
          <p:cNvPr id="325" name="Object 61">
            <a:extLst>
              <a:ext uri="{FF2B5EF4-FFF2-40B4-BE49-F238E27FC236}">
                <a16:creationId xmlns:a16="http://schemas.microsoft.com/office/drawing/2014/main" id="{A3FC3780-5690-F049-A6E0-28EEB6C29D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2420822"/>
              </p:ext>
            </p:extLst>
          </p:nvPr>
        </p:nvGraphicFramePr>
        <p:xfrm>
          <a:off x="1838235" y="5276399"/>
          <a:ext cx="674846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Picture" r:id="rId4" imgW="2578100" imgH="355600" progId="Word.Picture.8">
                  <p:embed/>
                </p:oleObj>
              </mc:Choice>
              <mc:Fallback>
                <p:oleObj name="Picture" r:id="rId4" imgW="2578100" imgH="355600" progId="Word.Picture.8">
                  <p:embed/>
                  <p:pic>
                    <p:nvPicPr>
                      <p:cNvPr id="325" name="Object 61">
                        <a:extLst>
                          <a:ext uri="{FF2B5EF4-FFF2-40B4-BE49-F238E27FC236}">
                            <a16:creationId xmlns:a16="http://schemas.microsoft.com/office/drawing/2014/main" id="{A3FC3780-5690-F049-A6E0-28EEB6C29DD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8235" y="5276399"/>
                        <a:ext cx="6748463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Slide Number Placeholder 2">
            <a:extLst>
              <a:ext uri="{FF2B5EF4-FFF2-40B4-BE49-F238E27FC236}">
                <a16:creationId xmlns:a16="http://schemas.microsoft.com/office/drawing/2014/main" id="{5140CCE3-35CF-C249-B39A-9608764C93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1012700-D0CA-BB47-B6B3-E261CFA92C73}"/>
              </a:ext>
            </a:extLst>
          </p:cNvPr>
          <p:cNvSpPr/>
          <p:nvPr/>
        </p:nvSpPr>
        <p:spPr>
          <a:xfrm>
            <a:off x="8170773" y="1216930"/>
            <a:ext cx="392534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i="1" dirty="0">
                <a:solidFill>
                  <a:srgbClr val="000000"/>
                </a:solidFill>
                <a:latin typeface="Times" panose="02020603050405020304" pitchFamily="18" charset="0"/>
              </a:rPr>
              <a:t>Because a well tuned sliding window protocol keeps the network completely saturated with packets, it obtains substantially higher throughput than a stop and wait</a:t>
            </a:r>
            <a:endParaRPr lang="en-IN" dirty="0">
              <a:solidFill>
                <a:srgbClr val="000000"/>
              </a:solidFill>
              <a:effectLst/>
              <a:latin typeface="Times" panose="02020603050405020304" pitchFamily="18" charset="0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5F1F55A-05A7-AF42-ABFE-9D66DA9E354E}"/>
              </a:ext>
            </a:extLst>
          </p:cNvPr>
          <p:cNvSpPr/>
          <p:nvPr/>
        </p:nvSpPr>
        <p:spPr>
          <a:xfrm>
            <a:off x="8148548" y="1050853"/>
            <a:ext cx="3814268" cy="1626808"/>
          </a:xfrm>
          <a:prstGeom prst="roundRect">
            <a:avLst/>
          </a:prstGeom>
          <a:solidFill>
            <a:schemeClr val="accent1">
              <a:alpha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035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70117-0577-B74D-9721-09DC4FF7A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Sliding Window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A907AC-6E4D-8549-BC01-1BFC79CAAD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7970" y="2295964"/>
            <a:ext cx="4970217" cy="406507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55FE7A-0A55-144A-8D94-9C0FA8B60130}"/>
              </a:ext>
            </a:extLst>
          </p:cNvPr>
          <p:cNvSpPr txBox="1"/>
          <p:nvPr/>
        </p:nvSpPr>
        <p:spPr>
          <a:xfrm>
            <a:off x="7898130" y="1543050"/>
            <a:ext cx="3476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Receiver Window and Flow Control</a:t>
            </a:r>
          </a:p>
        </p:txBody>
      </p:sp>
    </p:spTree>
    <p:extLst>
      <p:ext uri="{BB962C8B-B14F-4D97-AF65-F5344CB8AC3E}">
        <p14:creationId xmlns:p14="http://schemas.microsoft.com/office/powerpoint/2010/main" val="3016523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round trip time, timeout</a:t>
            </a:r>
            <a:endParaRPr lang="en-US" sz="4400" b="0" dirty="0"/>
          </a:p>
        </p:txBody>
      </p:sp>
      <p:sp>
        <p:nvSpPr>
          <p:cNvPr id="29" name="Rectangle 1027">
            <a:extLst>
              <a:ext uri="{FF2B5EF4-FFF2-40B4-BE49-F238E27FC236}">
                <a16:creationId xmlns:a16="http://schemas.microsoft.com/office/drawing/2014/main" id="{E2121436-377D-9943-817E-B014539AAB14}"/>
              </a:ext>
            </a:extLst>
          </p:cNvPr>
          <p:cNvSpPr txBox="1">
            <a:spLocks noChangeArrowheads="1"/>
          </p:cNvSpPr>
          <p:nvPr/>
        </p:nvSpPr>
        <p:spPr>
          <a:xfrm>
            <a:off x="673789" y="1393136"/>
            <a:ext cx="5213444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</a:t>
            </a: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to set TCP timeout value?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longer than RTT, but RTT varies!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too short: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premature timeout, unnecessary retransmissions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too long: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slow reaction to segment loss</a:t>
            </a:r>
          </a:p>
        </p:txBody>
      </p:sp>
      <p:sp>
        <p:nvSpPr>
          <p:cNvPr id="30" name="Rectangle 1028">
            <a:extLst>
              <a:ext uri="{FF2B5EF4-FFF2-40B4-BE49-F238E27FC236}">
                <a16:creationId xmlns:a16="http://schemas.microsoft.com/office/drawing/2014/main" id="{EBDCCB72-DE33-3D44-BBEA-E4C6F08C3D8E}"/>
              </a:ext>
            </a:extLst>
          </p:cNvPr>
          <p:cNvSpPr txBox="1">
            <a:spLocks noChangeArrowheads="1"/>
          </p:cNvSpPr>
          <p:nvPr/>
        </p:nvSpPr>
        <p:spPr>
          <a:xfrm>
            <a:off x="6258838" y="1393136"/>
            <a:ext cx="5565913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</a:t>
            </a:r>
            <a:r>
              <a:rPr kumimoji="0" lang="en-US" altLang="en-US" sz="32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how to estimate RTT?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altLang="en-US" dirty="0" err="1">
                <a:solidFill>
                  <a:srgbClr val="000099"/>
                </a:solidFill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Meas</a:t>
            </a:r>
            <a:r>
              <a:rPr kumimoji="0" lang="en-US" altLang="en-US" sz="2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RTT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:</a:t>
            </a:r>
            <a:r>
              <a:rPr kumimoji="0" lang="en-US" alt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measured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time from segment transmission until ACK receipt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ignore retransmissions</a:t>
            </a:r>
          </a:p>
          <a:p>
            <a:pPr lvl="0">
              <a:spcBef>
                <a:spcPts val="600"/>
              </a:spcBef>
              <a:defRPr/>
            </a:pPr>
            <a:r>
              <a:rPr lang="en-US" altLang="en-US" dirty="0" err="1">
                <a:solidFill>
                  <a:srgbClr val="000099"/>
                </a:solidFill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Meas</a:t>
            </a:r>
            <a:r>
              <a:rPr lang="en-US" altLang="en-US" sz="4000" baseline="-25000" dirty="0" err="1">
                <a:solidFill>
                  <a:srgbClr val="000099"/>
                </a:solidFill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RTT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A8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will vary, want estimated RTT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smoother</a:t>
            </a:r>
            <a:r>
              <a:rPr kumimoji="0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”</a:t>
            </a:r>
            <a:endParaRPr kumimoji="0" lang="en-US" altLang="ja-JP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average several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recent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measurements, not just current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value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969C69A2-4389-474B-8FF4-E0D66DDE42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10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3F844AE2-7CBB-B241-ABD8-7F7D48828D4B}"/>
              </a:ext>
            </a:extLst>
          </p:cNvPr>
          <p:cNvSpPr/>
          <p:nvPr/>
        </p:nvSpPr>
        <p:spPr>
          <a:xfrm>
            <a:off x="876300" y="1261543"/>
            <a:ext cx="8974869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round trip time, timeout</a:t>
            </a:r>
            <a:endParaRPr lang="en-US" sz="4400" b="0" dirty="0"/>
          </a:p>
        </p:txBody>
      </p:sp>
      <p:sp>
        <p:nvSpPr>
          <p:cNvPr id="28" name="Text Box 3">
            <a:extLst>
              <a:ext uri="{FF2B5EF4-FFF2-40B4-BE49-F238E27FC236}">
                <a16:creationId xmlns:a16="http://schemas.microsoft.com/office/drawing/2014/main" id="{6466E19A-B1DF-1A42-B002-F49CA04A4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473" y="1246817"/>
            <a:ext cx="886813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EstimatedRTT = (1-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  <a:sym typeface="Symbol" charset="0"/>
              </a:rPr>
              <a:t>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)*EstimatedRTT +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  <a:sym typeface="Symbol" charset="0"/>
              </a:rPr>
              <a:t>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charset="0"/>
                <a:ea typeface="ＭＳ Ｐゴシック" charset="0"/>
                <a:cs typeface="+mn-cs"/>
              </a:rPr>
              <a:t>*</a:t>
            </a:r>
            <a:r>
              <a:rPr lang="en-US" altLang="en-US" sz="2400" dirty="0">
                <a:solidFill>
                  <a:srgbClr val="000099"/>
                </a:solidFill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 </a:t>
            </a:r>
            <a:r>
              <a:rPr lang="en-US" altLang="en-US" sz="2400" dirty="0" err="1">
                <a:solidFill>
                  <a:srgbClr val="000099"/>
                </a:solidFill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Meas</a:t>
            </a:r>
            <a:r>
              <a:rPr lang="en-US" altLang="en-US" sz="3600" baseline="-25000" dirty="0" err="1">
                <a:solidFill>
                  <a:srgbClr val="000099"/>
                </a:solidFill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RTT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charset="0"/>
              <a:ea typeface="ＭＳ Ｐゴシック" charset="0"/>
              <a:cs typeface="+mn-cs"/>
            </a:endParaRPr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4A4474B4-4EC5-0C4B-8B43-3433BA1CD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1602" y="1857328"/>
            <a:ext cx="7067550" cy="14244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92100" marR="0" lvl="0" indent="-2921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xponential </a:t>
            </a: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w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eighted </a:t>
            </a: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m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oving </a:t>
            </a:r>
            <a:r>
              <a:rPr kumimoji="0" lang="en-US" sz="24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verage (EWMA)</a:t>
            </a:r>
          </a:p>
          <a:p>
            <a:pPr marL="292100" marR="0" lvl="0" indent="-2921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influence of past sample decreases exponentially fast</a:t>
            </a:r>
          </a:p>
          <a:p>
            <a:pPr marL="292100" marR="0" lvl="0" indent="-2921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typical value: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  <a:sym typeface="Symbol" charset="0"/>
              </a:rPr>
              <a:t>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  <a:sym typeface="Symbol" charset="0"/>
              </a:rPr>
              <a:t>=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0.125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081A723-2F83-4149-BCD6-BF02F3F3BE24}"/>
              </a:ext>
            </a:extLst>
          </p:cNvPr>
          <p:cNvGrpSpPr/>
          <p:nvPr/>
        </p:nvGrpSpPr>
        <p:grpSpPr>
          <a:xfrm>
            <a:off x="4673229" y="2443135"/>
            <a:ext cx="6448425" cy="4292600"/>
            <a:chOff x="1531938" y="2565400"/>
            <a:chExt cx="6448425" cy="4292600"/>
          </a:xfrm>
        </p:grpSpPr>
        <p:grpSp>
          <p:nvGrpSpPr>
            <p:cNvPr id="25" name="Group 14">
              <a:extLst>
                <a:ext uri="{FF2B5EF4-FFF2-40B4-BE49-F238E27FC236}">
                  <a16:creationId xmlns:a16="http://schemas.microsoft.com/office/drawing/2014/main" id="{B47CB747-71BF-F246-8D51-35EDB4E56B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8150" y="2565400"/>
              <a:ext cx="6272213" cy="4292600"/>
              <a:chOff x="782" y="1865"/>
              <a:chExt cx="3951" cy="2704"/>
            </a:xfrm>
          </p:grpSpPr>
          <p:pic>
            <p:nvPicPr>
              <p:cNvPr id="26" name="Picture 12">
                <a:extLst>
                  <a:ext uri="{FF2B5EF4-FFF2-40B4-BE49-F238E27FC236}">
                    <a16:creationId xmlns:a16="http://schemas.microsoft.com/office/drawing/2014/main" id="{1B79C964-96AD-AA4A-B4CF-C6377C29E5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2" y="1865"/>
                <a:ext cx="3951" cy="27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7" name="Rectangle 13">
                <a:extLst>
                  <a:ext uri="{FF2B5EF4-FFF2-40B4-BE49-F238E27FC236}">
                    <a16:creationId xmlns:a16="http://schemas.microsoft.com/office/drawing/2014/main" id="{92FABEFD-E51C-0A49-A008-5D94B930D2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0" y="1926"/>
                <a:ext cx="1404" cy="16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32" name="Text Box 18">
              <a:extLst>
                <a:ext uri="{FF2B5EF4-FFF2-40B4-BE49-F238E27FC236}">
                  <a16:creationId xmlns:a16="http://schemas.microsoft.com/office/drawing/2014/main" id="{F9CA757D-88CC-BF41-8C8F-6A16BC6C04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1531938" y="3535363"/>
              <a:ext cx="428625" cy="17478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vert="eaVert"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RTT (milliseconds)</a:t>
              </a:r>
            </a:p>
          </p:txBody>
        </p:sp>
        <p:sp>
          <p:nvSpPr>
            <p:cNvPr id="33" name="Text Box 19">
              <a:extLst>
                <a:ext uri="{FF2B5EF4-FFF2-40B4-BE49-F238E27FC236}">
                  <a16:creationId xmlns:a16="http://schemas.microsoft.com/office/drawing/2014/main" id="{5783915F-0896-D04A-9D0B-BE930F5392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65363" y="3168650"/>
              <a:ext cx="3867150" cy="3048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RTT: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gaia.cs.umass.edu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to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 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+mn-cs"/>
                </a:rPr>
                <a:t>fantasia.eurecom.fr</a:t>
              </a:r>
            </a:p>
          </p:txBody>
        </p:sp>
        <p:sp>
          <p:nvSpPr>
            <p:cNvPr id="34" name="Text Box 20">
              <a:extLst>
                <a:ext uri="{FF2B5EF4-FFF2-40B4-BE49-F238E27FC236}">
                  <a16:creationId xmlns:a16="http://schemas.microsoft.com/office/drawing/2014/main" id="{FDF3CC5E-05FF-9348-AFEA-B37BF0709D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57926" y="5112692"/>
              <a:ext cx="1048685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lvl="0"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en-US" dirty="0" err="1">
                  <a:solidFill>
                    <a:srgbClr val="000099"/>
                  </a:solidFill>
                  <a:latin typeface="Courier New" panose="02070309020205020404" pitchFamily="49" charset="0"/>
                  <a:ea typeface="ＭＳ Ｐゴシック" panose="020B0600070205080204" pitchFamily="34" charset="-128"/>
                  <a:cs typeface="Courier New" panose="02070309020205020404" pitchFamily="49" charset="0"/>
                </a:rPr>
                <a:t>Meas</a:t>
              </a:r>
              <a:r>
                <a:rPr lang="en-US" altLang="en-US" sz="2400" baseline="-25000" dirty="0" err="1">
                  <a:solidFill>
                    <a:srgbClr val="000099"/>
                  </a:solidFill>
                  <a:latin typeface="Courier New" panose="02070309020205020404" pitchFamily="49" charset="0"/>
                  <a:ea typeface="ＭＳ Ｐゴシック" panose="020B0600070205080204" pitchFamily="34" charset="-128"/>
                  <a:cs typeface="Courier New" panose="02070309020205020404" pitchFamily="49" charset="0"/>
                </a:rPr>
                <a:t>RTT</a:t>
              </a: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5" name="Text Box 21">
              <a:extLst>
                <a:ext uri="{FF2B5EF4-FFF2-40B4-BE49-F238E27FC236}">
                  <a16:creationId xmlns:a16="http://schemas.microsoft.com/office/drawing/2014/main" id="{F17B9932-059C-5C46-AFDC-5141617F4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15063" y="5548313"/>
              <a:ext cx="1431925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EstimatedRTT</a:t>
              </a:r>
            </a:p>
          </p:txBody>
        </p:sp>
        <p:sp>
          <p:nvSpPr>
            <p:cNvPr id="36" name="AutoShape 22">
              <a:extLst>
                <a:ext uri="{FF2B5EF4-FFF2-40B4-BE49-F238E27FC236}">
                  <a16:creationId xmlns:a16="http://schemas.microsoft.com/office/drawing/2014/main" id="{5C984DD6-69E3-6841-B32A-69B38C890B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513" y="5343525"/>
              <a:ext cx="147637" cy="142875"/>
            </a:xfrm>
            <a:prstGeom prst="diamond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7" name="AutoShape 23">
              <a:extLst>
                <a:ext uri="{FF2B5EF4-FFF2-40B4-BE49-F238E27FC236}">
                  <a16:creationId xmlns:a16="http://schemas.microsoft.com/office/drawing/2014/main" id="{949FCF6B-A257-E540-8887-09B596633DC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76382">
              <a:off x="6011069" y="5633244"/>
              <a:ext cx="147637" cy="142875"/>
            </a:xfrm>
            <a:prstGeom prst="diamond">
              <a:avLst/>
            </a:prstGeom>
            <a:solidFill>
              <a:srgbClr val="FF66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38" name="Rectangle 24">
              <a:extLst>
                <a:ext uri="{FF2B5EF4-FFF2-40B4-BE49-F238E27FC236}">
                  <a16:creationId xmlns:a16="http://schemas.microsoft.com/office/drawing/2014/main" id="{1C4D877B-9F3D-6342-9DFB-B8DAC5F2E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8450" y="6389688"/>
              <a:ext cx="1863725" cy="4683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39" name="Group 15">
              <a:extLst>
                <a:ext uri="{FF2B5EF4-FFF2-40B4-BE49-F238E27FC236}">
                  <a16:creationId xmlns:a16="http://schemas.microsoft.com/office/drawing/2014/main" id="{46A7C35C-F55E-D448-9F19-A868DE731A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1775" y="6386513"/>
              <a:ext cx="1512888" cy="336550"/>
              <a:chOff x="2343" y="3645"/>
              <a:chExt cx="953" cy="212"/>
            </a:xfrm>
          </p:grpSpPr>
          <p:sp>
            <p:nvSpPr>
              <p:cNvPr id="40" name="Rectangle 16">
                <a:extLst>
                  <a:ext uri="{FF2B5EF4-FFF2-40B4-BE49-F238E27FC236}">
                    <a16:creationId xmlns:a16="http://schemas.microsoft.com/office/drawing/2014/main" id="{76A5B688-5F66-A646-903E-26608C06EF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3695"/>
                <a:ext cx="527" cy="9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41" name="Text Box 17">
                <a:extLst>
                  <a:ext uri="{FF2B5EF4-FFF2-40B4-BE49-F238E27FC236}">
                    <a16:creationId xmlns:a16="http://schemas.microsoft.com/office/drawing/2014/main" id="{9530FDC0-AF61-1C41-8AC4-6B29BC1A8D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43" y="3645"/>
                <a:ext cx="95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time (seconds)</a:t>
                </a:r>
              </a:p>
            </p:txBody>
          </p:sp>
        </p:grpSp>
      </p:grp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80D2031C-D174-0C4C-B2D2-3D6ED62403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190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393310" cy="894622"/>
          </a:xfrm>
        </p:spPr>
        <p:txBody>
          <a:bodyPr>
            <a:normAutofit/>
          </a:bodyPr>
          <a:lstStyle/>
          <a:p>
            <a:r>
              <a:rPr lang="en-US" sz="4800" dirty="0"/>
              <a:t>TCP round trip time, timeout</a:t>
            </a:r>
            <a:endParaRPr lang="en-US" sz="4400" b="0" dirty="0"/>
          </a:p>
        </p:txBody>
      </p:sp>
      <p:sp>
        <p:nvSpPr>
          <p:cNvPr id="59" name="Rectangle 5">
            <a:extLst>
              <a:ext uri="{FF2B5EF4-FFF2-40B4-BE49-F238E27FC236}">
                <a16:creationId xmlns:a16="http://schemas.microsoft.com/office/drawing/2014/main" id="{818E497C-5ADD-8648-BF4A-762A1B89120F}"/>
              </a:ext>
            </a:extLst>
          </p:cNvPr>
          <p:cNvSpPr txBox="1">
            <a:spLocks noChangeArrowheads="1"/>
          </p:cNvSpPr>
          <p:nvPr/>
        </p:nvSpPr>
        <p:spPr>
          <a:xfrm>
            <a:off x="635138" y="1537841"/>
            <a:ext cx="11327678" cy="1129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timeout interval: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EstimatedRTT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plus 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safety margin”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large variation in 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EstimatedRTT: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want a larger safety margin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8DFD149-D3B6-7049-8FD3-A4E0D481C064}"/>
              </a:ext>
            </a:extLst>
          </p:cNvPr>
          <p:cNvGrpSpPr/>
          <p:nvPr/>
        </p:nvGrpSpPr>
        <p:grpSpPr>
          <a:xfrm>
            <a:off x="1061454" y="2679700"/>
            <a:ext cx="9532485" cy="1193800"/>
            <a:chOff x="858254" y="2667000"/>
            <a:chExt cx="9532485" cy="1193800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6D78BD41-D638-4D4B-B561-317912C0037E}"/>
                </a:ext>
              </a:extLst>
            </p:cNvPr>
            <p:cNvSpPr/>
            <p:nvPr/>
          </p:nvSpPr>
          <p:spPr>
            <a:xfrm>
              <a:off x="858254" y="2667000"/>
              <a:ext cx="9532485" cy="4616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ectangle 13">
              <a:extLst>
                <a:ext uri="{FF2B5EF4-FFF2-40B4-BE49-F238E27FC236}">
                  <a16:creationId xmlns:a16="http://schemas.microsoft.com/office/drawing/2014/main" id="{13338CC9-61FA-4847-87D5-4B4830DB8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9979" y="2701243"/>
              <a:ext cx="7918450" cy="6921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TimeoutInterval = EstimatedRTT + 4*DevRTT</a:t>
              </a:r>
            </a:p>
          </p:txBody>
        </p:sp>
        <p:sp>
          <p:nvSpPr>
            <p:cNvPr id="63" name="Text Box 14">
              <a:extLst>
                <a:ext uri="{FF2B5EF4-FFF2-40B4-BE49-F238E27FC236}">
                  <a16:creationId xmlns:a16="http://schemas.microsoft.com/office/drawing/2014/main" id="{29ECD817-A810-F04B-85CA-8D6E49B8D6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4854" y="3442606"/>
              <a:ext cx="1811338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estimated RTT</a:t>
              </a:r>
            </a:p>
          </p:txBody>
        </p:sp>
        <p:sp>
          <p:nvSpPr>
            <p:cNvPr id="64" name="Text Box 16">
              <a:extLst>
                <a:ext uri="{FF2B5EF4-FFF2-40B4-BE49-F238E27FC236}">
                  <a16:creationId xmlns:a16="http://schemas.microsoft.com/office/drawing/2014/main" id="{B6E79AC7-559E-CA4D-B400-169E15D644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6904" y="3461656"/>
              <a:ext cx="1917700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ja-JP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“</a:t>
              </a:r>
              <a:r>
                <a:rPr kumimoji="0" lang="en-US" altLang="ja-JP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safety margin</a:t>
              </a:r>
              <a:r>
                <a:rPr kumimoji="0" lang="ja-JP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”</a:t>
              </a: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5" name="Line 17">
              <a:extLst>
                <a:ext uri="{FF2B5EF4-FFF2-40B4-BE49-F238E27FC236}">
                  <a16:creationId xmlns:a16="http://schemas.microsoft.com/office/drawing/2014/main" id="{FF049043-4FEA-C546-ADC2-E314E7D23C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1779" y="3082243"/>
              <a:ext cx="0" cy="44608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6" name="Line 19">
              <a:extLst>
                <a:ext uri="{FF2B5EF4-FFF2-40B4-BE49-F238E27FC236}">
                  <a16:creationId xmlns:a16="http://schemas.microsoft.com/office/drawing/2014/main" id="{F55903EC-FD0A-654A-913F-52F13FFBE6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673529" y="3088593"/>
              <a:ext cx="0" cy="446088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pic>
          <p:nvPicPr>
            <p:cNvPr id="67" name="Picture 20" descr="alarm_clock_ringing">
              <a:extLst>
                <a:ext uri="{FF2B5EF4-FFF2-40B4-BE49-F238E27FC236}">
                  <a16:creationId xmlns:a16="http://schemas.microsoft.com/office/drawing/2014/main" id="{DF906935-706B-2B43-B876-CAD3FE51C7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95043" y="3238052"/>
              <a:ext cx="646558" cy="622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8" name="TextBox 1">
            <a:extLst>
              <a:ext uri="{FF2B5EF4-FFF2-40B4-BE49-F238E27FC236}">
                <a16:creationId xmlns:a16="http://schemas.microsoft.com/office/drawing/2014/main" id="{04CEDEED-587A-DF46-A338-0F70AC9A2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300" y="6343507"/>
            <a:ext cx="1001864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* Check out the online interactive exercises for more examples: h</a:t>
            </a: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ttp://gaia.cs.umass.edu/kurose_ross/interactive/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2E77073-7604-A04F-8597-12BF5941CCE7}"/>
              </a:ext>
            </a:extLst>
          </p:cNvPr>
          <p:cNvGrpSpPr/>
          <p:nvPr/>
        </p:nvGrpSpPr>
        <p:grpSpPr>
          <a:xfrm>
            <a:off x="1304479" y="4827690"/>
            <a:ext cx="10446405" cy="940044"/>
            <a:chOff x="1837879" y="3151290"/>
            <a:chExt cx="10446405" cy="940044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D88E7C6-ABA1-FA45-A2D5-10F964EB5DB8}"/>
                </a:ext>
              </a:extLst>
            </p:cNvPr>
            <p:cNvSpPr/>
            <p:nvPr/>
          </p:nvSpPr>
          <p:spPr>
            <a:xfrm>
              <a:off x="1837879" y="3151290"/>
              <a:ext cx="9532486" cy="52228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0" name="Text Box 7">
              <a:extLst>
                <a:ext uri="{FF2B5EF4-FFF2-40B4-BE49-F238E27FC236}">
                  <a16:creationId xmlns:a16="http://schemas.microsoft.com/office/drawing/2014/main" id="{2F6AE672-95B4-DF44-B435-567781B49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7879" y="3151831"/>
              <a:ext cx="10018644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lvl="0"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" pitchFamily="2" charset="0"/>
                  <a:ea typeface="ＭＳ Ｐゴシック" charset="0"/>
                  <a:cs typeface="+mn-cs"/>
                </a:rPr>
                <a:t>DevRTT =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(1-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  <a:sym typeface="Symbol" charset="0"/>
                </a:rPr>
                <a:t>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)*DevRTT +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  <a:sym typeface="Symbol" charset="0"/>
                </a:rPr>
                <a:t>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*|</a:t>
              </a:r>
              <a:r>
                <a:rPr lang="en-US" altLang="en-US" sz="2400" dirty="0">
                  <a:solidFill>
                    <a:srgbClr val="000099"/>
                  </a:solidFill>
                  <a:latin typeface="Courier New" panose="02070309020205020404" pitchFamily="49" charset="0"/>
                  <a:ea typeface="ＭＳ Ｐゴシック" panose="020B0600070205080204" pitchFamily="34" charset="-128"/>
                  <a:cs typeface="Courier New" panose="02070309020205020404" pitchFamily="49" charset="0"/>
                </a:rPr>
                <a:t> </a:t>
              </a:r>
              <a:r>
                <a:rPr lang="en-US" altLang="en-US" sz="2400" dirty="0" err="1">
                  <a:solidFill>
                    <a:srgbClr val="000099"/>
                  </a:solidFill>
                  <a:latin typeface="Courier New" panose="02070309020205020404" pitchFamily="49" charset="0"/>
                  <a:ea typeface="ＭＳ Ｐゴシック" panose="020B0600070205080204" pitchFamily="34" charset="-128"/>
                  <a:cs typeface="Courier New" panose="02070309020205020404" pitchFamily="49" charset="0"/>
                </a:rPr>
                <a:t>Meas</a:t>
              </a:r>
              <a:r>
                <a:rPr lang="en-US" altLang="en-US" sz="3600" baseline="-25000" dirty="0" err="1">
                  <a:solidFill>
                    <a:srgbClr val="000099"/>
                  </a:solidFill>
                  <a:latin typeface="Courier New" panose="02070309020205020404" pitchFamily="49" charset="0"/>
                  <a:ea typeface="ＭＳ Ｐゴシック" panose="020B0600070205080204" pitchFamily="34" charset="-128"/>
                  <a:cs typeface="Courier New" panose="02070309020205020404" pitchFamily="49" charset="0"/>
                </a:rPr>
                <a:t>RTT</a:t>
              </a:r>
              <a:r>
                <a:rPr lang="en-US" altLang="en-US" sz="3600" baseline="-25000" dirty="0">
                  <a:solidFill>
                    <a:srgbClr val="000099"/>
                  </a:solidFill>
                  <a:latin typeface="Courier New" panose="02070309020205020404" pitchFamily="49" charset="0"/>
                  <a:ea typeface="ＭＳ Ｐゴシック" panose="020B0600070205080204" pitchFamily="34" charset="-128"/>
                  <a:cs typeface="Courier New" panose="02070309020205020404" pitchFamily="49" charset="0"/>
                </a:rPr>
                <a:t>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</a:rPr>
                <a:t>-EstimatedRTT|</a:t>
              </a:r>
            </a:p>
          </p:txBody>
        </p:sp>
        <p:sp>
          <p:nvSpPr>
            <p:cNvPr id="61" name="Text Box 12">
              <a:extLst>
                <a:ext uri="{FF2B5EF4-FFF2-40B4-BE49-F238E27FC236}">
                  <a16:creationId xmlns:a16="http://schemas.microsoft.com/office/drawing/2014/main" id="{D33A459F-5B30-B942-A281-437341BBF1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98147" y="3694459"/>
              <a:ext cx="3386137" cy="396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(typically,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  <a:sym typeface="Symbol" charset="0"/>
                </a:rPr>
                <a:t></a:t>
              </a: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ourier New" charset="0"/>
                  <a:ea typeface="ＭＳ Ｐゴシック" charset="0"/>
                  <a:cs typeface="+mn-cs"/>
                  <a:sym typeface="Symbol" charset="0"/>
                </a:rPr>
                <a:t>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  <a:sym typeface="Symbol" charset="0"/>
                </a:rPr>
                <a:t>= 0.25)</a:t>
              </a:r>
            </a:p>
          </p:txBody>
        </p:sp>
      </p:grpSp>
      <p:sp>
        <p:nvSpPr>
          <p:cNvPr id="16" name="Rectangle 5">
            <a:extLst>
              <a:ext uri="{FF2B5EF4-FFF2-40B4-BE49-F238E27FC236}">
                <a16:creationId xmlns:a16="http://schemas.microsoft.com/office/drawing/2014/main" id="{4DBD9BE8-0206-984D-9734-DB015980BF63}"/>
              </a:ext>
            </a:extLst>
          </p:cNvPr>
          <p:cNvSpPr txBox="1">
            <a:spLocks noChangeArrowheads="1"/>
          </p:cNvSpPr>
          <p:nvPr/>
        </p:nvSpPr>
        <p:spPr>
          <a:xfrm>
            <a:off x="660538" y="4192141"/>
            <a:ext cx="11327678" cy="544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DevRTT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 EWMA of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SampleRTT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deviation from </a:t>
            </a: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" pitchFamily="2" charset="0"/>
                <a:ea typeface="ＭＳ Ｐゴシック" panose="020B0600070205080204" pitchFamily="34" charset="-128"/>
                <a:cs typeface="+mn-cs"/>
              </a:rPr>
              <a:t>EstimatedRTT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: 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0FC6F86E-C16B-C949-B055-1DD32A8601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Transport Layer: 3-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67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AA0CED9-298F-0746-9D01-FB7D604DD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08F652-7F31-9B4F-8BA8-33E210C130C0}"/>
              </a:ext>
            </a:extLst>
          </p:cNvPr>
          <p:cNvSpPr txBox="1"/>
          <p:nvPr/>
        </p:nvSpPr>
        <p:spPr>
          <a:xfrm>
            <a:off x="1642188" y="2232163"/>
            <a:ext cx="128753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Short Video</a:t>
            </a:r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6B9009-8091-5841-9126-4E82E5122ED2}"/>
              </a:ext>
            </a:extLst>
          </p:cNvPr>
          <p:cNvSpPr txBox="1"/>
          <p:nvPr/>
        </p:nvSpPr>
        <p:spPr>
          <a:xfrm>
            <a:off x="1950098" y="3228392"/>
            <a:ext cx="2126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Packet tracer for TCP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139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0EC6A0-BFB0-784D-8731-ADF22FFDF3BE}"/>
              </a:ext>
            </a:extLst>
          </p:cNvPr>
          <p:cNvSpPr/>
          <p:nvPr/>
        </p:nvSpPr>
        <p:spPr>
          <a:xfrm>
            <a:off x="298581" y="0"/>
            <a:ext cx="5831632" cy="6646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37465" lvl="0" indent="-342900" algn="just">
              <a:lnSpc>
                <a:spcPct val="104000"/>
              </a:lnSpc>
              <a:spcAft>
                <a:spcPts val="0"/>
              </a:spcAft>
              <a:buSzPts val="1200"/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Suppose that the three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MeasuredRTT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values are 106ms, 120ms, 140ms. Compute the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EstimatedRTT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after each of these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MeasuredRTT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values is obtained, using a value of alpha = 0.125 and assuming that the value of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EstimatedRTT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was 100ms just before the first of these 3 samples were obtained. Compute also the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DevRTT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after each sample is obtained, assuming a value of beta = 0.25 and assuming the value of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DevRTT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was 5ms just before the first of these three samples was obtained. Last, Compute the TCP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TimeoutInterval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after each of these samples is obtained.    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EstimatedRTT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xSampleRTT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+ (1 - x ) </a:t>
            </a:r>
            <a:r>
              <a:rPr lang="en-US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EstimatedR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TT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DevRTT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y </a:t>
            </a:r>
            <a:r>
              <a:rPr lang="en-US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SampleRTT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en-US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EstimatedRTT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+ (1 - y ) </a:t>
            </a:r>
            <a:r>
              <a:rPr lang="en-US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DevRTT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TimeoutInterval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</a:t>
            </a:r>
            <a:r>
              <a:rPr lang="en-US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EstimatedRTT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+ 4 * </a:t>
            </a:r>
            <a:r>
              <a:rPr lang="en-US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DevRTT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After obtaining first </a:t>
            </a:r>
            <a:r>
              <a:rPr lang="en-US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sampleRTT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is </a:t>
            </a:r>
            <a:r>
              <a:rPr lang="en-US" sz="2000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EstimatedRTT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0.125 * 106 + 0.875 * 100 = 100.75ms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7F39FA-B6A4-1A40-863B-62FED67923EE}"/>
              </a:ext>
            </a:extLst>
          </p:cNvPr>
          <p:cNvSpPr/>
          <p:nvPr/>
        </p:nvSpPr>
        <p:spPr>
          <a:xfrm>
            <a:off x="6130213" y="691952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>
              <a:spcAft>
                <a:spcPts val="0"/>
              </a:spcAft>
            </a:pPr>
            <a:r>
              <a:rPr lang="en-US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DevRTT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0.25 *  106 - 100.75 + 0.75 * 5 = 5.06ms</a:t>
            </a:r>
            <a:endParaRPr lang="en-IN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TimeoutInterval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100.75 + 4 * 5.06 = 120.99ms</a:t>
            </a:r>
            <a:endParaRPr lang="en-IN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After obtaining second </a:t>
            </a:r>
            <a:r>
              <a:rPr lang="en-US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sampleRTT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120ms:</a:t>
            </a:r>
            <a:endParaRPr lang="en-IN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endParaRPr lang="en-US" i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EstimatedRTT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0.125 * 120 + 0.875 * 100.75 = 103.15ms</a:t>
            </a:r>
            <a:endParaRPr lang="en-IN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DevRTT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0.25 *  90 - 105.54 + 0.75 *14.06 = 14.42ms</a:t>
            </a:r>
            <a:endParaRPr lang="en-IN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TimeoutInterval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105.54 + 4 *14.42 = 163.22ms</a:t>
            </a:r>
            <a:endParaRPr lang="en-IN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After obtaining Third </a:t>
            </a:r>
            <a:r>
              <a:rPr lang="en-US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sampleRTT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140ms:</a:t>
            </a:r>
            <a:endParaRPr lang="en-IN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EstimatedRTT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0.125 * 140 + 0.875 * 103.15 = 107.76ms</a:t>
            </a:r>
            <a:endParaRPr lang="en-IN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DevRTT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0.25 *  140 - 107.76 + 0.75 * 8 = 14.06ms</a:t>
            </a:r>
            <a:endParaRPr lang="en-IN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US" i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TimeoutInterval</a:t>
            </a:r>
            <a:r>
              <a:rPr lang="en-US" i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= 107.76 + 4 *14.06 = 164ms</a:t>
            </a:r>
            <a:endParaRPr lang="en-IN" sz="11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135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933</Words>
  <Application>Microsoft Macintosh PowerPoint</Application>
  <PresentationFormat>Widescreen</PresentationFormat>
  <Paragraphs>132</Paragraphs>
  <Slides>12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5" baseType="lpstr">
      <vt:lpstr>ＭＳ Ｐゴシック</vt:lpstr>
      <vt:lpstr>Arial</vt:lpstr>
      <vt:lpstr>Calibri</vt:lpstr>
      <vt:lpstr>Calibri Light</vt:lpstr>
      <vt:lpstr>Courier</vt:lpstr>
      <vt:lpstr>Courier New</vt:lpstr>
      <vt:lpstr>Symbol</vt:lpstr>
      <vt:lpstr>Tahoma</vt:lpstr>
      <vt:lpstr>Times</vt:lpstr>
      <vt:lpstr>Times New Roman</vt:lpstr>
      <vt:lpstr>Wingdings</vt:lpstr>
      <vt:lpstr>Office Theme</vt:lpstr>
      <vt:lpstr>Picture</vt:lpstr>
      <vt:lpstr>IT694 Computer Networks Week 6-Lec 1</vt:lpstr>
      <vt:lpstr>Reliable Data Transfer: stop-and-wait operation</vt:lpstr>
      <vt:lpstr>Stop and Wait – Alternating Bit Protocol</vt:lpstr>
      <vt:lpstr>PowerPoint Presentation</vt:lpstr>
      <vt:lpstr>Reliable Data Transfer : pipelined protocols operation</vt:lpstr>
      <vt:lpstr>Pipelining: increased utilization</vt:lpstr>
      <vt:lpstr>TCP Sliding Window</vt:lpstr>
      <vt:lpstr>TCP round trip time, timeout</vt:lpstr>
      <vt:lpstr>TCP round trip time, timeout</vt:lpstr>
      <vt:lpstr>TCP round trip time, timeout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5-Lec 2</dc:title>
  <dc:creator>Microsoft Office User</dc:creator>
  <cp:lastModifiedBy>Microsoft Office User</cp:lastModifiedBy>
  <cp:revision>11</cp:revision>
  <dcterms:created xsi:type="dcterms:W3CDTF">2024-08-21T12:21:47Z</dcterms:created>
  <dcterms:modified xsi:type="dcterms:W3CDTF">2025-02-14T03:28:46Z</dcterms:modified>
</cp:coreProperties>
</file>