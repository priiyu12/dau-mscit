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76" r:id="rId2"/>
    <p:sldId id="268" r:id="rId3"/>
    <p:sldId id="277" r:id="rId4"/>
    <p:sldId id="278" r:id="rId5"/>
    <p:sldId id="273" r:id="rId6"/>
    <p:sldId id="274" r:id="rId7"/>
    <p:sldId id="271" r:id="rId8"/>
    <p:sldId id="272" r:id="rId9"/>
    <p:sldId id="275" r:id="rId10"/>
    <p:sldId id="1110" r:id="rId11"/>
    <p:sldId id="1111" r:id="rId12"/>
    <p:sldId id="1112" r:id="rId13"/>
    <p:sldId id="1113" r:id="rId14"/>
    <p:sldId id="111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6538"/>
  </p:normalViewPr>
  <p:slideViewPr>
    <p:cSldViewPr snapToGrid="0" snapToObjects="1">
      <p:cViewPr varScale="1">
        <p:scale>
          <a:sx n="112" d="100"/>
          <a:sy n="112" d="100"/>
        </p:scale>
        <p:origin x="224"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74A7F0-C073-864E-B654-CC4A958C71B6}" type="datetimeFigureOut">
              <a:rPr lang="en-US" smtClean="0"/>
              <a:t>2/25/25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57F10-4149-D949-9AEC-CF0A0BFA8883}" type="slidenum">
              <a:rPr lang="en-US" smtClean="0"/>
              <a:t>‹#›</a:t>
            </a:fld>
            <a:endParaRPr lang="en-US"/>
          </a:p>
        </p:txBody>
      </p:sp>
    </p:spTree>
    <p:extLst>
      <p:ext uri="{BB962C8B-B14F-4D97-AF65-F5344CB8AC3E}">
        <p14:creationId xmlns:p14="http://schemas.microsoft.com/office/powerpoint/2010/main" val="2188069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C85D20-FC40-294D-80D2-53640716ABA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3896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2601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8005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1899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7816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2804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unACKed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135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0795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24219-A360-8A49-B46A-14B41F1E291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106BB0-A012-D744-88FF-269CA46D6B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C26F92-15E2-2948-9F0E-55697423FAA4}"/>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5" name="Footer Placeholder 4">
            <a:extLst>
              <a:ext uri="{FF2B5EF4-FFF2-40B4-BE49-F238E27FC236}">
                <a16:creationId xmlns:a16="http://schemas.microsoft.com/office/drawing/2014/main" id="{8CCA73B1-65EE-4249-9A8E-C3205953F4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198A18-1266-F344-993E-B2C0E67F1B1C}"/>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0082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39C3A-4965-5D44-81E3-FBB33A1389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468FCC-6FBB-0545-BB95-4010B7C4646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124F53-5178-554A-80AE-B8C0CA26D625}"/>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5" name="Footer Placeholder 4">
            <a:extLst>
              <a:ext uri="{FF2B5EF4-FFF2-40B4-BE49-F238E27FC236}">
                <a16:creationId xmlns:a16="http://schemas.microsoft.com/office/drawing/2014/main" id="{B3A3A80A-A921-784A-B3A7-DB1A6AA13F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B0179A-14BF-6C4D-B91F-DD97950390ED}"/>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499693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8524A-5CF2-FB4A-8632-A91A38C614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72E2D2-AEAB-844D-BECA-72AD001D12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A3EB878-1291-2E42-A5FC-511C5C7EAF36}"/>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5" name="Footer Placeholder 4">
            <a:extLst>
              <a:ext uri="{FF2B5EF4-FFF2-40B4-BE49-F238E27FC236}">
                <a16:creationId xmlns:a16="http://schemas.microsoft.com/office/drawing/2014/main" id="{8F976B34-79E0-E54E-B3F9-79B6EDA48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B335A1-3E80-164A-BFC2-6F961CD194BB}"/>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20989249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01BF-E55C-B046-A48B-6F5FAD8466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E23152-2F82-F34B-AE99-48D3503857E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6273AE-5339-E047-9C95-2A6F08014DA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95325B-0BF5-EC48-967E-9F3304161E38}"/>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6" name="Footer Placeholder 5">
            <a:extLst>
              <a:ext uri="{FF2B5EF4-FFF2-40B4-BE49-F238E27FC236}">
                <a16:creationId xmlns:a16="http://schemas.microsoft.com/office/drawing/2014/main" id="{4728401E-E178-9940-9007-7CC56F7611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02B1DE-CABD-914F-8543-44224D3CFDB4}"/>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276245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A510C-BB4A-3246-B490-06254E49AF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112A38-1B83-FA45-9F5D-E47C2E853F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D671870-D829-EF43-8E89-5432DBABF52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10D0D9-D89C-2447-A8AA-689BFF7D1E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5DE9F4E-E602-CD4E-94EF-C318937055A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52F24C-94E1-B946-A214-B4A1D55337A2}"/>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8" name="Footer Placeholder 7">
            <a:extLst>
              <a:ext uri="{FF2B5EF4-FFF2-40B4-BE49-F238E27FC236}">
                <a16:creationId xmlns:a16="http://schemas.microsoft.com/office/drawing/2014/main" id="{47B36EA0-EC11-5C45-B43F-5334F4222E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0233B3-7084-0840-BF4F-37B2D3741CFD}"/>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633073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AA8DA-CD04-B047-BBA5-A95DBE0D16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7C8496-5A37-AE41-BD76-24764768C9E5}"/>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4" name="Footer Placeholder 3">
            <a:extLst>
              <a:ext uri="{FF2B5EF4-FFF2-40B4-BE49-F238E27FC236}">
                <a16:creationId xmlns:a16="http://schemas.microsoft.com/office/drawing/2014/main" id="{01E55979-D6F9-7841-BCBE-C57B3E725A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6800FC2-F4E0-134A-98C3-F7C56F91A1AD}"/>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682691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ACD9E5-DD2A-3A42-9A0B-38747103976D}"/>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3" name="Footer Placeholder 2">
            <a:extLst>
              <a:ext uri="{FF2B5EF4-FFF2-40B4-BE49-F238E27FC236}">
                <a16:creationId xmlns:a16="http://schemas.microsoft.com/office/drawing/2014/main" id="{7B8EA610-6DD1-2342-A77D-4AFD3DFBA5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E4AB5E-9529-0843-AFB1-839E4A4F469B}"/>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810397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D5C8-FB1B-614B-B03C-A6D4ECBE47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2AA409-9FD1-1C44-84E8-A133897D5E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82DE25-3889-AE4F-B2CC-CABAB6AF9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7CD9149-C49E-AC46-980F-78624D0760B4}"/>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6" name="Footer Placeholder 5">
            <a:extLst>
              <a:ext uri="{FF2B5EF4-FFF2-40B4-BE49-F238E27FC236}">
                <a16:creationId xmlns:a16="http://schemas.microsoft.com/office/drawing/2014/main" id="{1BDB2C76-D2ED-494E-ADD6-65222D990E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12B5F6-E45C-C541-BB76-57EC3F94863A}"/>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2939799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B6290-2BBC-8844-A3FA-94DCEA0CE7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9025BB-427F-0C44-A2B1-C2BFA7A96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7B2313-BFDB-414A-9EF2-10516FA82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FB720E8-22C4-3A41-A7FF-2D8BE9BDD266}"/>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6" name="Footer Placeholder 5">
            <a:extLst>
              <a:ext uri="{FF2B5EF4-FFF2-40B4-BE49-F238E27FC236}">
                <a16:creationId xmlns:a16="http://schemas.microsoft.com/office/drawing/2014/main" id="{8BC5882A-8F13-C44A-A79A-D8DDD29E22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D6118D-7A6D-1643-93C0-EAA7C93309D2}"/>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1037989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5C4CC-FDF5-0D4C-A187-FED3957D27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0553FD-B485-144E-B1DD-E9739A0C9C4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B684D2-AD17-EB4B-8759-9979AE700845}"/>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5" name="Footer Placeholder 4">
            <a:extLst>
              <a:ext uri="{FF2B5EF4-FFF2-40B4-BE49-F238E27FC236}">
                <a16:creationId xmlns:a16="http://schemas.microsoft.com/office/drawing/2014/main" id="{C9C5439B-9200-B245-BA90-46D85F5E6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5B88F0-795A-1E4B-A325-E44F7EFD60BF}"/>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4195639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0AFE78-F4AC-F84B-82D4-9DBB6ACCD1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F35C47-BC0A-5F40-B365-E0E6694E72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5042F-9DF2-0E43-9FCB-9818D8D58EFB}"/>
              </a:ext>
            </a:extLst>
          </p:cNvPr>
          <p:cNvSpPr>
            <a:spLocks noGrp="1"/>
          </p:cNvSpPr>
          <p:nvPr>
            <p:ph type="dt" sz="half" idx="10"/>
          </p:nvPr>
        </p:nvSpPr>
        <p:spPr/>
        <p:txBody>
          <a:bodyPr/>
          <a:lstStyle/>
          <a:p>
            <a:fld id="{DB33B84C-BDCA-E14D-BB7A-B710D4823E32}" type="datetimeFigureOut">
              <a:rPr lang="en-US" smtClean="0"/>
              <a:t>2/25/25</a:t>
            </a:fld>
            <a:endParaRPr lang="en-US"/>
          </a:p>
        </p:txBody>
      </p:sp>
      <p:sp>
        <p:nvSpPr>
          <p:cNvPr id="5" name="Footer Placeholder 4">
            <a:extLst>
              <a:ext uri="{FF2B5EF4-FFF2-40B4-BE49-F238E27FC236}">
                <a16:creationId xmlns:a16="http://schemas.microsoft.com/office/drawing/2014/main" id="{E9A8E44C-C2E8-ED47-8F5E-001EB51C04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1D37AA-8079-4545-8F71-AC7E7C3DA4C2}"/>
              </a:ext>
            </a:extLst>
          </p:cNvPr>
          <p:cNvSpPr>
            <a:spLocks noGrp="1"/>
          </p:cNvSpPr>
          <p:nvPr>
            <p:ph type="sldNum" sz="quarter" idx="12"/>
          </p:nvPr>
        </p:nvSpPr>
        <p:spPr/>
        <p:txBody>
          <a:bodyPr/>
          <a:lstStyle/>
          <a:p>
            <a:fld id="{206908F9-F7AB-8F41-B235-41E8ED4AF17D}" type="slidenum">
              <a:rPr lang="en-US" smtClean="0"/>
              <a:t>‹#›</a:t>
            </a:fld>
            <a:endParaRPr lang="en-US"/>
          </a:p>
        </p:txBody>
      </p:sp>
    </p:spTree>
    <p:extLst>
      <p:ext uri="{BB962C8B-B14F-4D97-AF65-F5344CB8AC3E}">
        <p14:creationId xmlns:p14="http://schemas.microsoft.com/office/powerpoint/2010/main" val="3559793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0259B8-A12C-5140-85AB-AE7F00A003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32C774-C2D5-974E-B73B-3F49F564E5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A226F4-52DD-044D-872C-84D4186D65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3B84C-BDCA-E14D-BB7A-B710D4823E32}" type="datetimeFigureOut">
              <a:rPr lang="en-US" smtClean="0"/>
              <a:t>2/25/25</a:t>
            </a:fld>
            <a:endParaRPr lang="en-US"/>
          </a:p>
        </p:txBody>
      </p:sp>
      <p:sp>
        <p:nvSpPr>
          <p:cNvPr id="5" name="Footer Placeholder 4">
            <a:extLst>
              <a:ext uri="{FF2B5EF4-FFF2-40B4-BE49-F238E27FC236}">
                <a16:creationId xmlns:a16="http://schemas.microsoft.com/office/drawing/2014/main" id="{C971695B-31A3-7947-BEFA-7FE70A2092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031EC0D-86F4-E64E-9F06-705BBC0130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6908F9-F7AB-8F41-B235-41E8ED4AF17D}" type="slidenum">
              <a:rPr lang="en-US" smtClean="0"/>
              <a:t>‹#›</a:t>
            </a:fld>
            <a:endParaRPr lang="en-US"/>
          </a:p>
        </p:txBody>
      </p:sp>
    </p:spTree>
    <p:extLst>
      <p:ext uri="{BB962C8B-B14F-4D97-AF65-F5344CB8AC3E}">
        <p14:creationId xmlns:p14="http://schemas.microsoft.com/office/powerpoint/2010/main" val="700109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hyperlink" Target="https://www.youtube.com/watch?v=Ycy4VWr3-24"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hyperlink" Target="https://www.youtube.com/watch?v=Ycy4VWr3-24" TargetMode="Externa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a:t>IT694</a:t>
            </a:r>
            <a:br>
              <a:rPr lang="en-IN" dirty="0"/>
            </a:br>
            <a:r>
              <a:rPr lang="en-IN" dirty="0"/>
              <a:t>Computer Networks</a:t>
            </a:r>
            <a:br>
              <a:rPr lang="en-IN" dirty="0"/>
            </a:br>
            <a:r>
              <a:rPr lang="en-IN" dirty="0"/>
              <a:t>Week7 – Lec2</a:t>
            </a:r>
          </a:p>
        </p:txBody>
      </p:sp>
      <p:sp>
        <p:nvSpPr>
          <p:cNvPr id="3" name="Subtitle 2"/>
          <p:cNvSpPr>
            <a:spLocks noGrp="1"/>
          </p:cNvSpPr>
          <p:nvPr>
            <p:ph type="subTitle" idx="1"/>
          </p:nvPr>
        </p:nvSpPr>
        <p:spPr/>
        <p:txBody>
          <a:bodyPr/>
          <a:lstStyle/>
          <a:p>
            <a:r>
              <a:rPr lang="en-IN" dirty="0"/>
              <a:t>TCP </a:t>
            </a:r>
            <a:r>
              <a:rPr lang="en-IN"/>
              <a:t>Congestion Control</a:t>
            </a:r>
            <a:endParaRPr lang="en-IN" dirty="0"/>
          </a:p>
        </p:txBody>
      </p:sp>
    </p:spTree>
    <p:extLst>
      <p:ext uri="{BB962C8B-B14F-4D97-AF65-F5344CB8AC3E}">
        <p14:creationId xmlns:p14="http://schemas.microsoft.com/office/powerpoint/2010/main" val="130451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7" name="Group 176">
            <a:extLst>
              <a:ext uri="{FF2B5EF4-FFF2-40B4-BE49-F238E27FC236}">
                <a16:creationId xmlns:a16="http://schemas.microsoft.com/office/drawing/2014/main" id="{06DD7C50-58C4-B34F-A819-0EADD89C2A37}"/>
              </a:ext>
            </a:extLst>
          </p:cNvPr>
          <p:cNvGrpSpPr/>
          <p:nvPr/>
        </p:nvGrpSpPr>
        <p:grpSpPr>
          <a:xfrm>
            <a:off x="10476914" y="2368655"/>
            <a:ext cx="717868" cy="1154474"/>
            <a:chOff x="7664720" y="2795550"/>
            <a:chExt cx="717868" cy="1154474"/>
          </a:xfrm>
        </p:grpSpPr>
        <p:sp>
          <p:nvSpPr>
            <p:cNvPr id="178" name="Rectangle 177">
              <a:extLst>
                <a:ext uri="{FF2B5EF4-FFF2-40B4-BE49-F238E27FC236}">
                  <a16:creationId xmlns:a16="http://schemas.microsoft.com/office/drawing/2014/main" id="{F52B9B30-D973-4342-9353-3C55976BEB6A}"/>
                </a:ext>
              </a:extLst>
            </p:cNvPr>
            <p:cNvSpPr/>
            <p:nvPr/>
          </p:nvSpPr>
          <p:spPr>
            <a:xfrm>
              <a:off x="7671781" y="2795550"/>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79" name="Straight Connector 178">
              <a:extLst>
                <a:ext uri="{FF2B5EF4-FFF2-40B4-BE49-F238E27FC236}">
                  <a16:creationId xmlns:a16="http://schemas.microsoft.com/office/drawing/2014/main" id="{224EADA8-9231-C54D-B660-93136571FE39}"/>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EB564AD7-6052-D74E-AFB8-443721B0BA8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BC030439-89A7-D141-93A0-55E98A03659C}"/>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A29CBFF5-3970-894F-B8C7-846B6CF65EF2}"/>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2" name="Freeform 270">
            <a:extLst>
              <a:ext uri="{FF2B5EF4-FFF2-40B4-BE49-F238E27FC236}">
                <a16:creationId xmlns:a16="http://schemas.microsoft.com/office/drawing/2014/main" id="{CE7C7371-97B5-C346-A95F-94B2CF95CEF8}"/>
              </a:ext>
            </a:extLst>
          </p:cNvPr>
          <p:cNvSpPr>
            <a:spLocks/>
          </p:cNvSpPr>
          <p:nvPr/>
        </p:nvSpPr>
        <p:spPr bwMode="auto">
          <a:xfrm flipH="1">
            <a:off x="6810066" y="2305050"/>
            <a:ext cx="250825" cy="120173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34" name="Group 354">
            <a:extLst>
              <a:ext uri="{FF2B5EF4-FFF2-40B4-BE49-F238E27FC236}">
                <a16:creationId xmlns:a16="http://schemas.microsoft.com/office/drawing/2014/main" id="{1BCC2894-BF9B-8F46-AA42-B55DC303E1A8}"/>
              </a:ext>
            </a:extLst>
          </p:cNvPr>
          <p:cNvGrpSpPr>
            <a:grpSpLocks/>
          </p:cNvGrpSpPr>
          <p:nvPr/>
        </p:nvGrpSpPr>
        <p:grpSpPr bwMode="auto">
          <a:xfrm>
            <a:off x="6405254" y="3243263"/>
            <a:ext cx="525462" cy="434975"/>
            <a:chOff x="-44" y="1473"/>
            <a:chExt cx="981" cy="1105"/>
          </a:xfrm>
        </p:grpSpPr>
        <p:pic>
          <p:nvPicPr>
            <p:cNvPr id="135" name="Picture 355" descr="desktop_computer_stylized_medium">
              <a:extLst>
                <a:ext uri="{FF2B5EF4-FFF2-40B4-BE49-F238E27FC236}">
                  <a16:creationId xmlns:a16="http://schemas.microsoft.com/office/drawing/2014/main" id="{3E99589F-1E40-7C43-B8AA-5029A4A263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 name="Freeform 356">
              <a:extLst>
                <a:ext uri="{FF2B5EF4-FFF2-40B4-BE49-F238E27FC236}">
                  <a16:creationId xmlns:a16="http://schemas.microsoft.com/office/drawing/2014/main" id="{B3DD6BB4-576F-9148-8D11-578565B5887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37" name="Group 136">
            <a:extLst>
              <a:ext uri="{FF2B5EF4-FFF2-40B4-BE49-F238E27FC236}">
                <a16:creationId xmlns:a16="http://schemas.microsoft.com/office/drawing/2014/main" id="{147F56F3-1CFD-5745-9F94-FFAF782BC64A}"/>
              </a:ext>
            </a:extLst>
          </p:cNvPr>
          <p:cNvGrpSpPr/>
          <p:nvPr/>
        </p:nvGrpSpPr>
        <p:grpSpPr>
          <a:xfrm>
            <a:off x="7045286" y="2362077"/>
            <a:ext cx="717868" cy="1154474"/>
            <a:chOff x="7664720" y="2799688"/>
            <a:chExt cx="717868" cy="1154474"/>
          </a:xfrm>
        </p:grpSpPr>
        <p:sp>
          <p:nvSpPr>
            <p:cNvPr id="138" name="Rectangle 137">
              <a:extLst>
                <a:ext uri="{FF2B5EF4-FFF2-40B4-BE49-F238E27FC236}">
                  <a16:creationId xmlns:a16="http://schemas.microsoft.com/office/drawing/2014/main" id="{12A18A2C-071A-724E-ABAB-EE121ADBCB05}"/>
                </a:ext>
              </a:extLst>
            </p:cNvPr>
            <p:cNvSpPr/>
            <p:nvPr/>
          </p:nvSpPr>
          <p:spPr>
            <a:xfrm>
              <a:off x="7671781" y="2799688"/>
              <a:ext cx="702570" cy="1154474"/>
            </a:xfrm>
            <a:prstGeom prst="rect">
              <a:avLst/>
            </a:prstGeom>
            <a:solidFill>
              <a:schemeClr val="bg1"/>
            </a:solidFill>
            <a:ln w="19050">
              <a:solidFill>
                <a:schemeClr val="tx1"/>
              </a:solidFill>
            </a:ln>
            <a:effectLst>
              <a:outerShdw blurRad="50800" dist="38100" dir="2700000" algn="tl" rotWithShape="0">
                <a:srgbClr val="0000A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39" name="Straight Connector 138">
              <a:extLst>
                <a:ext uri="{FF2B5EF4-FFF2-40B4-BE49-F238E27FC236}">
                  <a16:creationId xmlns:a16="http://schemas.microsoft.com/office/drawing/2014/main" id="{5A246001-6FA7-F047-AECA-800C5A5F30CD}"/>
                </a:ext>
              </a:extLst>
            </p:cNvPr>
            <p:cNvCxnSpPr/>
            <p:nvPr/>
          </p:nvCxnSpPr>
          <p:spPr>
            <a:xfrm>
              <a:off x="7664720" y="3029172"/>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407FE2E-B4F8-E142-9856-65C553F4A8EF}"/>
                </a:ext>
              </a:extLst>
            </p:cNvPr>
            <p:cNvCxnSpPr/>
            <p:nvPr/>
          </p:nvCxnSpPr>
          <p:spPr>
            <a:xfrm>
              <a:off x="7668839" y="3266304"/>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0F241007-617C-9B47-BDCF-F85615C450A7}"/>
                </a:ext>
              </a:extLst>
            </p:cNvPr>
            <p:cNvCxnSpPr/>
            <p:nvPr/>
          </p:nvCxnSpPr>
          <p:spPr>
            <a:xfrm>
              <a:off x="7680018" y="3499906"/>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2AB2A72B-F1C5-4049-8439-AABBF750CD86}"/>
                </a:ext>
              </a:extLst>
            </p:cNvPr>
            <p:cNvCxnSpPr/>
            <p:nvPr/>
          </p:nvCxnSpPr>
          <p:spPr>
            <a:xfrm>
              <a:off x="7670015" y="3726448"/>
              <a:ext cx="7025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289" name="Rectangle 3">
            <a:extLst>
              <a:ext uri="{FF2B5EF4-FFF2-40B4-BE49-F238E27FC236}">
                <a16:creationId xmlns:a16="http://schemas.microsoft.com/office/drawing/2014/main" id="{D469BBE5-2D5E-1245-BE57-AED04CA89E18}"/>
              </a:ext>
            </a:extLst>
          </p:cNvPr>
          <p:cNvSpPr>
            <a:spLocks noGrp="1" noChangeArrowheads="1"/>
          </p:cNvSpPr>
          <p:nvPr>
            <p:ph idx="1"/>
          </p:nvPr>
        </p:nvSpPr>
        <p:spPr>
          <a:xfrm>
            <a:off x="884903" y="1939313"/>
            <a:ext cx="5562600" cy="2536434"/>
          </a:xfrm>
        </p:spPr>
        <p:txBody>
          <a:bodyPr>
            <a:normAutofit lnSpcReduction="10000"/>
          </a:bodyPr>
          <a:lstStyle/>
          <a:p>
            <a:pPr>
              <a:buFont typeface="Wingdings" charset="0"/>
              <a:buNone/>
              <a:defRPr/>
            </a:pPr>
            <a:r>
              <a:rPr lang="en-US" sz="3200" dirty="0">
                <a:solidFill>
                  <a:srgbClr val="C00000"/>
                </a:solidFill>
              </a:rPr>
              <a:t>E</a:t>
            </a:r>
            <a:r>
              <a:rPr lang="en-US" sz="3200" dirty="0">
                <a:solidFill>
                  <a:srgbClr val="C00000"/>
                </a:solidFill>
                <a:cs typeface="+mn-cs"/>
              </a:rPr>
              <a:t>nd-end congestion control:</a:t>
            </a:r>
          </a:p>
          <a:p>
            <a:pPr marL="466725" indent="-336550">
              <a:defRPr/>
            </a:pPr>
            <a:r>
              <a:rPr lang="en-US" sz="3200" dirty="0"/>
              <a:t>no explicit feedback from network</a:t>
            </a:r>
          </a:p>
          <a:p>
            <a:pPr marL="466725" indent="-336550">
              <a:defRPr/>
            </a:pPr>
            <a:r>
              <a:rPr lang="en-US" sz="3200" dirty="0"/>
              <a:t>congestion </a:t>
            </a:r>
            <a:r>
              <a:rPr lang="en-US" sz="3200" i="1" dirty="0">
                <a:solidFill>
                  <a:srgbClr val="C00000"/>
                </a:solidFill>
              </a:rPr>
              <a:t>inferred</a:t>
            </a:r>
            <a:r>
              <a:rPr lang="en-US" sz="3200" dirty="0"/>
              <a:t> from observed loss, delay</a:t>
            </a:r>
          </a:p>
        </p:txBody>
      </p:sp>
      <p:sp>
        <p:nvSpPr>
          <p:cNvPr id="97284" name="Rectangle 2">
            <a:extLst>
              <a:ext uri="{FF2B5EF4-FFF2-40B4-BE49-F238E27FC236}">
                <a16:creationId xmlns:a16="http://schemas.microsoft.com/office/drawing/2014/main" id="{15E2A5A3-138A-0644-B40C-0B75A1130E15}"/>
              </a:ext>
            </a:extLst>
          </p:cNvPr>
          <p:cNvSpPr>
            <a:spLocks noGrp="1" noChangeArrowheads="1"/>
          </p:cNvSpPr>
          <p:nvPr>
            <p:ph type="title"/>
          </p:nvPr>
        </p:nvSpPr>
        <p:spPr/>
        <p:txBody>
          <a:bodyPr>
            <a:normAutofit/>
          </a:bodyPr>
          <a:lstStyle/>
          <a:p>
            <a:pPr>
              <a:defRPr/>
            </a:pPr>
            <a:r>
              <a:rPr lang="en-US" sz="4800" dirty="0"/>
              <a:t>Approaches towards congestion control</a:t>
            </a:r>
            <a:endParaRPr lang="en-US" sz="5400" dirty="0">
              <a:cs typeface="+mj-cs"/>
            </a:endParaRPr>
          </a:p>
        </p:txBody>
      </p:sp>
      <p:sp>
        <p:nvSpPr>
          <p:cNvPr id="15" name="Freeform 2">
            <a:extLst>
              <a:ext uri="{FF2B5EF4-FFF2-40B4-BE49-F238E27FC236}">
                <a16:creationId xmlns:a16="http://schemas.microsoft.com/office/drawing/2014/main" id="{152A9AF6-236E-E947-A90D-95476DF178A8}"/>
              </a:ext>
            </a:extLst>
          </p:cNvPr>
          <p:cNvSpPr>
            <a:spLocks/>
          </p:cNvSpPr>
          <p:nvPr/>
        </p:nvSpPr>
        <p:spPr bwMode="auto">
          <a:xfrm>
            <a:off x="7675918" y="3459066"/>
            <a:ext cx="2848871" cy="1480906"/>
          </a:xfrm>
          <a:custGeom>
            <a:avLst/>
            <a:gdLst>
              <a:gd name="T0" fmla="*/ 2147483647 w 1794"/>
              <a:gd name="T1" fmla="*/ 2147483647 h 933"/>
              <a:gd name="T2" fmla="*/ 2147483647 w 1794"/>
              <a:gd name="T3" fmla="*/ 2147483647 h 933"/>
              <a:gd name="T4" fmla="*/ 2147483647 w 1794"/>
              <a:gd name="T5" fmla="*/ 2147483647 h 933"/>
              <a:gd name="T6" fmla="*/ 2147483647 w 1794"/>
              <a:gd name="T7" fmla="*/ 2147483647 h 933"/>
              <a:gd name="T8" fmla="*/ 2147483647 w 1794"/>
              <a:gd name="T9" fmla="*/ 2147483647 h 933"/>
              <a:gd name="T10" fmla="*/ 2147483647 w 1794"/>
              <a:gd name="T11" fmla="*/ 2147483647 h 933"/>
              <a:gd name="T12" fmla="*/ 2147483647 w 1794"/>
              <a:gd name="T13" fmla="*/ 2147483647 h 933"/>
              <a:gd name="T14" fmla="*/ 2147483647 w 1794"/>
              <a:gd name="T15" fmla="*/ 2147483647 h 933"/>
              <a:gd name="T16" fmla="*/ 2147483647 w 1794"/>
              <a:gd name="T17" fmla="*/ 2147483647 h 933"/>
              <a:gd name="T18" fmla="*/ 2147483647 w 1794"/>
              <a:gd name="T19" fmla="*/ 2147483647 h 933"/>
              <a:gd name="T20" fmla="*/ 2147483647 w 1794"/>
              <a:gd name="T21" fmla="*/ 2147483647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6" name="Freeform 6">
            <a:extLst>
              <a:ext uri="{FF2B5EF4-FFF2-40B4-BE49-F238E27FC236}">
                <a16:creationId xmlns:a16="http://schemas.microsoft.com/office/drawing/2014/main" id="{57E9EEA9-F362-5541-9FCC-5483A233137E}"/>
              </a:ext>
            </a:extLst>
          </p:cNvPr>
          <p:cNvSpPr>
            <a:spLocks/>
          </p:cNvSpPr>
          <p:nvPr/>
        </p:nvSpPr>
        <p:spPr bwMode="auto">
          <a:xfrm>
            <a:off x="8314293" y="3762231"/>
            <a:ext cx="543096" cy="295229"/>
          </a:xfrm>
          <a:custGeom>
            <a:avLst/>
            <a:gdLst>
              <a:gd name="T0" fmla="*/ 0 w 342"/>
              <a:gd name="T1" fmla="*/ 2147483647 h 186"/>
              <a:gd name="T2" fmla="*/ 2147483647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7" name="Freeform 91">
            <a:extLst>
              <a:ext uri="{FF2B5EF4-FFF2-40B4-BE49-F238E27FC236}">
                <a16:creationId xmlns:a16="http://schemas.microsoft.com/office/drawing/2014/main" id="{E427D45F-306D-1B44-BF5E-891FCB01E246}"/>
              </a:ext>
            </a:extLst>
          </p:cNvPr>
          <p:cNvSpPr>
            <a:spLocks/>
          </p:cNvSpPr>
          <p:nvPr/>
        </p:nvSpPr>
        <p:spPr bwMode="auto">
          <a:xfrm>
            <a:off x="9356021" y="3755882"/>
            <a:ext cx="504984" cy="307927"/>
          </a:xfrm>
          <a:custGeom>
            <a:avLst/>
            <a:gdLst>
              <a:gd name="T0" fmla="*/ 0 w 318"/>
              <a:gd name="T1" fmla="*/ 0 h 194"/>
              <a:gd name="T2" fmla="*/ 2147483647 w 318"/>
              <a:gd name="T3" fmla="*/ 2147483647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8" name="Freeform 92">
            <a:extLst>
              <a:ext uri="{FF2B5EF4-FFF2-40B4-BE49-F238E27FC236}">
                <a16:creationId xmlns:a16="http://schemas.microsoft.com/office/drawing/2014/main" id="{F209776F-AA9D-E941-ADBB-CB44422BD081}"/>
              </a:ext>
            </a:extLst>
          </p:cNvPr>
          <p:cNvSpPr>
            <a:spLocks/>
          </p:cNvSpPr>
          <p:nvPr/>
        </p:nvSpPr>
        <p:spPr bwMode="auto">
          <a:xfrm>
            <a:off x="8290473" y="4147933"/>
            <a:ext cx="481164" cy="238088"/>
          </a:xfrm>
          <a:custGeom>
            <a:avLst/>
            <a:gdLst>
              <a:gd name="T0" fmla="*/ 0 w 294"/>
              <a:gd name="T1" fmla="*/ 0 h 174"/>
              <a:gd name="T2" fmla="*/ 2147483647 w 294"/>
              <a:gd name="T3" fmla="*/ 214748364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19" name="Freeform 93">
            <a:extLst>
              <a:ext uri="{FF2B5EF4-FFF2-40B4-BE49-F238E27FC236}">
                <a16:creationId xmlns:a16="http://schemas.microsoft.com/office/drawing/2014/main" id="{8B9D5253-F5A6-2746-81DB-996216E1FB97}"/>
              </a:ext>
            </a:extLst>
          </p:cNvPr>
          <p:cNvSpPr>
            <a:spLocks/>
          </p:cNvSpPr>
          <p:nvPr/>
        </p:nvSpPr>
        <p:spPr bwMode="auto">
          <a:xfrm>
            <a:off x="9238509" y="4124124"/>
            <a:ext cx="628848" cy="247611"/>
          </a:xfrm>
          <a:custGeom>
            <a:avLst/>
            <a:gdLst>
              <a:gd name="T0" fmla="*/ 0 w 378"/>
              <a:gd name="T1" fmla="*/ 2147483647 h 174"/>
              <a:gd name="T2" fmla="*/ 2147483647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0" name="Freeform 94">
            <a:extLst>
              <a:ext uri="{FF2B5EF4-FFF2-40B4-BE49-F238E27FC236}">
                <a16:creationId xmlns:a16="http://schemas.microsoft.com/office/drawing/2014/main" id="{61F0A20F-097C-EA42-809A-3298AB6693B1}"/>
              </a:ext>
            </a:extLst>
          </p:cNvPr>
          <p:cNvSpPr>
            <a:spLocks/>
          </p:cNvSpPr>
          <p:nvPr/>
        </p:nvSpPr>
        <p:spPr bwMode="auto">
          <a:xfrm>
            <a:off x="9905469" y="4178091"/>
            <a:ext cx="206440" cy="507920"/>
          </a:xfrm>
          <a:custGeom>
            <a:avLst/>
            <a:gdLst>
              <a:gd name="T0" fmla="*/ 0 w 118"/>
              <a:gd name="T1" fmla="*/ 2147483647 h 500"/>
              <a:gd name="T2" fmla="*/ 2147483647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1" name="Freeform 95">
            <a:extLst>
              <a:ext uri="{FF2B5EF4-FFF2-40B4-BE49-F238E27FC236}">
                <a16:creationId xmlns:a16="http://schemas.microsoft.com/office/drawing/2014/main" id="{424EA790-DC83-AE41-B59F-CDBDBE0981CB}"/>
              </a:ext>
            </a:extLst>
          </p:cNvPr>
          <p:cNvSpPr>
            <a:spLocks/>
          </p:cNvSpPr>
          <p:nvPr/>
        </p:nvSpPr>
        <p:spPr bwMode="auto">
          <a:xfrm>
            <a:off x="8670005" y="4711407"/>
            <a:ext cx="736832" cy="74601"/>
          </a:xfrm>
          <a:custGeom>
            <a:avLst/>
            <a:gdLst>
              <a:gd name="T0" fmla="*/ 2147483647 w 370"/>
              <a:gd name="T1" fmla="*/ 2147483647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sp>
        <p:nvSpPr>
          <p:cNvPr id="22" name="Freeform 96">
            <a:extLst>
              <a:ext uri="{FF2B5EF4-FFF2-40B4-BE49-F238E27FC236}">
                <a16:creationId xmlns:a16="http://schemas.microsoft.com/office/drawing/2014/main" id="{72EB3BD6-9F21-2342-8AED-3E9F67894AD9}"/>
              </a:ext>
            </a:extLst>
          </p:cNvPr>
          <p:cNvSpPr>
            <a:spLocks/>
          </p:cNvSpPr>
          <p:nvPr/>
        </p:nvSpPr>
        <p:spPr bwMode="auto">
          <a:xfrm>
            <a:off x="8133261" y="4171742"/>
            <a:ext cx="193736" cy="425383"/>
          </a:xfrm>
          <a:custGeom>
            <a:avLst/>
            <a:gdLst>
              <a:gd name="T0" fmla="*/ 2147483647 w 176"/>
              <a:gd name="T1" fmla="*/ 2147483647 h 412"/>
              <a:gd name="T2" fmla="*/ 2147483647 w 176"/>
              <a:gd name="T3" fmla="*/ 2147483647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grpSp>
        <p:nvGrpSpPr>
          <p:cNvPr id="71" name="Group 70">
            <a:extLst>
              <a:ext uri="{FF2B5EF4-FFF2-40B4-BE49-F238E27FC236}">
                <a16:creationId xmlns:a16="http://schemas.microsoft.com/office/drawing/2014/main" id="{475DCF5F-4092-2C43-896B-19822B08E6B5}"/>
              </a:ext>
            </a:extLst>
          </p:cNvPr>
          <p:cNvGrpSpPr/>
          <p:nvPr/>
        </p:nvGrpSpPr>
        <p:grpSpPr>
          <a:xfrm>
            <a:off x="9719734" y="3946352"/>
            <a:ext cx="578032" cy="285706"/>
            <a:chOff x="7493876" y="2774731"/>
            <a:chExt cx="1481958" cy="894622"/>
          </a:xfrm>
        </p:grpSpPr>
        <p:sp>
          <p:nvSpPr>
            <p:cNvPr id="72" name="Freeform 71">
              <a:extLst>
                <a:ext uri="{FF2B5EF4-FFF2-40B4-BE49-F238E27FC236}">
                  <a16:creationId xmlns:a16="http://schemas.microsoft.com/office/drawing/2014/main" id="{318160F9-6FEC-9A43-8802-7C6CC98A3EE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73" name="Oval 72">
              <a:extLst>
                <a:ext uri="{FF2B5EF4-FFF2-40B4-BE49-F238E27FC236}">
                  <a16:creationId xmlns:a16="http://schemas.microsoft.com/office/drawing/2014/main" id="{5375EF01-0290-9B47-8E36-E43DE1108F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74" name="Group 73">
              <a:extLst>
                <a:ext uri="{FF2B5EF4-FFF2-40B4-BE49-F238E27FC236}">
                  <a16:creationId xmlns:a16="http://schemas.microsoft.com/office/drawing/2014/main" id="{9B178D65-D230-EE4E-A397-C7BE84BE7B28}"/>
                </a:ext>
              </a:extLst>
            </p:cNvPr>
            <p:cNvGrpSpPr/>
            <p:nvPr/>
          </p:nvGrpSpPr>
          <p:grpSpPr>
            <a:xfrm>
              <a:off x="7713663" y="2848339"/>
              <a:ext cx="1042107" cy="425543"/>
              <a:chOff x="7786941" y="2884917"/>
              <a:chExt cx="897649" cy="353919"/>
            </a:xfrm>
          </p:grpSpPr>
          <p:sp>
            <p:nvSpPr>
              <p:cNvPr id="75" name="Freeform 74">
                <a:extLst>
                  <a:ext uri="{FF2B5EF4-FFF2-40B4-BE49-F238E27FC236}">
                    <a16:creationId xmlns:a16="http://schemas.microsoft.com/office/drawing/2014/main" id="{F6706B47-A3DA-2948-AE76-ECB82CD2119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6" name="Freeform 75">
                <a:extLst>
                  <a:ext uri="{FF2B5EF4-FFF2-40B4-BE49-F238E27FC236}">
                    <a16:creationId xmlns:a16="http://schemas.microsoft.com/office/drawing/2014/main" id="{6997E8A2-E352-944A-9B99-BDEBAA2024A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7" name="Freeform 76">
                <a:extLst>
                  <a:ext uri="{FF2B5EF4-FFF2-40B4-BE49-F238E27FC236}">
                    <a16:creationId xmlns:a16="http://schemas.microsoft.com/office/drawing/2014/main" id="{C5522D15-A640-D544-8C5A-740AB151741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8" name="Freeform 77">
                <a:extLst>
                  <a:ext uri="{FF2B5EF4-FFF2-40B4-BE49-F238E27FC236}">
                    <a16:creationId xmlns:a16="http://schemas.microsoft.com/office/drawing/2014/main" id="{0A657C9E-78AA-054A-8253-7E707F297A7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79" name="Group 78">
            <a:extLst>
              <a:ext uri="{FF2B5EF4-FFF2-40B4-BE49-F238E27FC236}">
                <a16:creationId xmlns:a16="http://schemas.microsoft.com/office/drawing/2014/main" id="{0703BE46-EF6B-8F4F-8103-DB506FA237F8}"/>
              </a:ext>
            </a:extLst>
          </p:cNvPr>
          <p:cNvGrpSpPr/>
          <p:nvPr/>
        </p:nvGrpSpPr>
        <p:grpSpPr>
          <a:xfrm>
            <a:off x="9351606" y="4600112"/>
            <a:ext cx="578032" cy="285706"/>
            <a:chOff x="7493876" y="2774731"/>
            <a:chExt cx="1481958" cy="894622"/>
          </a:xfrm>
        </p:grpSpPr>
        <p:sp>
          <p:nvSpPr>
            <p:cNvPr id="80" name="Freeform 79">
              <a:extLst>
                <a:ext uri="{FF2B5EF4-FFF2-40B4-BE49-F238E27FC236}">
                  <a16:creationId xmlns:a16="http://schemas.microsoft.com/office/drawing/2014/main" id="{C93DB37A-DC30-7049-A906-DE4299FCFE9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81" name="Oval 80">
              <a:extLst>
                <a:ext uri="{FF2B5EF4-FFF2-40B4-BE49-F238E27FC236}">
                  <a16:creationId xmlns:a16="http://schemas.microsoft.com/office/drawing/2014/main" id="{4D540D06-51B9-D24C-A5F5-D49982A0863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82" name="Group 81">
              <a:extLst>
                <a:ext uri="{FF2B5EF4-FFF2-40B4-BE49-F238E27FC236}">
                  <a16:creationId xmlns:a16="http://schemas.microsoft.com/office/drawing/2014/main" id="{50B97449-7EBF-F346-9FFA-F3CB1C97A6B6}"/>
                </a:ext>
              </a:extLst>
            </p:cNvPr>
            <p:cNvGrpSpPr/>
            <p:nvPr/>
          </p:nvGrpSpPr>
          <p:grpSpPr>
            <a:xfrm>
              <a:off x="7713663" y="2848339"/>
              <a:ext cx="1042107" cy="425543"/>
              <a:chOff x="7786941" y="2884917"/>
              <a:chExt cx="897649" cy="353919"/>
            </a:xfrm>
          </p:grpSpPr>
          <p:sp>
            <p:nvSpPr>
              <p:cNvPr id="83" name="Freeform 82">
                <a:extLst>
                  <a:ext uri="{FF2B5EF4-FFF2-40B4-BE49-F238E27FC236}">
                    <a16:creationId xmlns:a16="http://schemas.microsoft.com/office/drawing/2014/main" id="{1A098066-DD0C-0547-8ABC-8D18EA23F16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4" name="Freeform 83">
                <a:extLst>
                  <a:ext uri="{FF2B5EF4-FFF2-40B4-BE49-F238E27FC236}">
                    <a16:creationId xmlns:a16="http://schemas.microsoft.com/office/drawing/2014/main" id="{54B9AE5D-1C6E-8747-BA6A-CE53FF8E918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5" name="Freeform 84">
                <a:extLst>
                  <a:ext uri="{FF2B5EF4-FFF2-40B4-BE49-F238E27FC236}">
                    <a16:creationId xmlns:a16="http://schemas.microsoft.com/office/drawing/2014/main" id="{D4A0CA9E-BE5A-D743-94BD-A9A3807788B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6" name="Freeform 85">
                <a:extLst>
                  <a:ext uri="{FF2B5EF4-FFF2-40B4-BE49-F238E27FC236}">
                    <a16:creationId xmlns:a16="http://schemas.microsoft.com/office/drawing/2014/main" id="{208F4AD6-8E7A-EC46-8054-65F26912355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87" name="Group 86">
            <a:extLst>
              <a:ext uri="{FF2B5EF4-FFF2-40B4-BE49-F238E27FC236}">
                <a16:creationId xmlns:a16="http://schemas.microsoft.com/office/drawing/2014/main" id="{2174B89A-A569-2044-B74A-55933EDB42EC}"/>
              </a:ext>
            </a:extLst>
          </p:cNvPr>
          <p:cNvGrpSpPr/>
          <p:nvPr/>
        </p:nvGrpSpPr>
        <p:grpSpPr>
          <a:xfrm>
            <a:off x="8195132" y="4551443"/>
            <a:ext cx="578032" cy="285706"/>
            <a:chOff x="7493876" y="2774731"/>
            <a:chExt cx="1481958" cy="894622"/>
          </a:xfrm>
        </p:grpSpPr>
        <p:sp>
          <p:nvSpPr>
            <p:cNvPr id="88" name="Freeform 87">
              <a:extLst>
                <a:ext uri="{FF2B5EF4-FFF2-40B4-BE49-F238E27FC236}">
                  <a16:creationId xmlns:a16="http://schemas.microsoft.com/office/drawing/2014/main" id="{5E0F2D6A-4975-2240-9DBA-9752CDABCD3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89" name="Oval 88">
              <a:extLst>
                <a:ext uri="{FF2B5EF4-FFF2-40B4-BE49-F238E27FC236}">
                  <a16:creationId xmlns:a16="http://schemas.microsoft.com/office/drawing/2014/main" id="{7671BCEE-CA54-2A42-97FC-01FA73F51C9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90" name="Group 89">
              <a:extLst>
                <a:ext uri="{FF2B5EF4-FFF2-40B4-BE49-F238E27FC236}">
                  <a16:creationId xmlns:a16="http://schemas.microsoft.com/office/drawing/2014/main" id="{BB74E383-7E77-2E4D-BBB3-C0CB1C080B5D}"/>
                </a:ext>
              </a:extLst>
            </p:cNvPr>
            <p:cNvGrpSpPr/>
            <p:nvPr/>
          </p:nvGrpSpPr>
          <p:grpSpPr>
            <a:xfrm>
              <a:off x="7713663" y="2848339"/>
              <a:ext cx="1042107" cy="425543"/>
              <a:chOff x="7786941" y="2884917"/>
              <a:chExt cx="897649" cy="353919"/>
            </a:xfrm>
          </p:grpSpPr>
          <p:sp>
            <p:nvSpPr>
              <p:cNvPr id="91" name="Freeform 90">
                <a:extLst>
                  <a:ext uri="{FF2B5EF4-FFF2-40B4-BE49-F238E27FC236}">
                    <a16:creationId xmlns:a16="http://schemas.microsoft.com/office/drawing/2014/main" id="{23C2C74B-BD87-0F41-9E97-2D6D70231DE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2" name="Freeform 91">
                <a:extLst>
                  <a:ext uri="{FF2B5EF4-FFF2-40B4-BE49-F238E27FC236}">
                    <a16:creationId xmlns:a16="http://schemas.microsoft.com/office/drawing/2014/main" id="{F9A726BB-74B1-444A-9200-225EE583E8C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3" name="Freeform 92">
                <a:extLst>
                  <a:ext uri="{FF2B5EF4-FFF2-40B4-BE49-F238E27FC236}">
                    <a16:creationId xmlns:a16="http://schemas.microsoft.com/office/drawing/2014/main" id="{480EBF5E-6B8D-F547-BD3C-56A7E685D38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4" name="Freeform 93">
                <a:extLst>
                  <a:ext uri="{FF2B5EF4-FFF2-40B4-BE49-F238E27FC236}">
                    <a16:creationId xmlns:a16="http://schemas.microsoft.com/office/drawing/2014/main" id="{BD8743C8-69EE-7C4B-AAD2-C758A3F1F90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95" name="Group 94">
            <a:extLst>
              <a:ext uri="{FF2B5EF4-FFF2-40B4-BE49-F238E27FC236}">
                <a16:creationId xmlns:a16="http://schemas.microsoft.com/office/drawing/2014/main" id="{5E3371FA-1B37-E043-BBA9-FBAEC0EF06BB}"/>
              </a:ext>
            </a:extLst>
          </p:cNvPr>
          <p:cNvGrpSpPr/>
          <p:nvPr/>
        </p:nvGrpSpPr>
        <p:grpSpPr>
          <a:xfrm>
            <a:off x="8800632" y="3636044"/>
            <a:ext cx="578032" cy="285706"/>
            <a:chOff x="7493876" y="2774731"/>
            <a:chExt cx="1481958" cy="894622"/>
          </a:xfrm>
        </p:grpSpPr>
        <p:sp>
          <p:nvSpPr>
            <p:cNvPr id="96" name="Freeform 95">
              <a:extLst>
                <a:ext uri="{FF2B5EF4-FFF2-40B4-BE49-F238E27FC236}">
                  <a16:creationId xmlns:a16="http://schemas.microsoft.com/office/drawing/2014/main" id="{D3C4E5C9-0C6C-FE44-8E48-3AEAB312320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97" name="Oval 96">
              <a:extLst>
                <a:ext uri="{FF2B5EF4-FFF2-40B4-BE49-F238E27FC236}">
                  <a16:creationId xmlns:a16="http://schemas.microsoft.com/office/drawing/2014/main" id="{00F2B9E3-1FE0-3341-9F1D-E60AC91CF4F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98" name="Group 97">
              <a:extLst>
                <a:ext uri="{FF2B5EF4-FFF2-40B4-BE49-F238E27FC236}">
                  <a16:creationId xmlns:a16="http://schemas.microsoft.com/office/drawing/2014/main" id="{D9A4FE6E-757F-104A-A301-53D57A115B9D}"/>
                </a:ext>
              </a:extLst>
            </p:cNvPr>
            <p:cNvGrpSpPr/>
            <p:nvPr/>
          </p:nvGrpSpPr>
          <p:grpSpPr>
            <a:xfrm>
              <a:off x="7713663" y="2848339"/>
              <a:ext cx="1042107" cy="425543"/>
              <a:chOff x="7786941" y="2884917"/>
              <a:chExt cx="897649" cy="353919"/>
            </a:xfrm>
          </p:grpSpPr>
          <p:sp>
            <p:nvSpPr>
              <p:cNvPr id="99" name="Freeform 98">
                <a:extLst>
                  <a:ext uri="{FF2B5EF4-FFF2-40B4-BE49-F238E27FC236}">
                    <a16:creationId xmlns:a16="http://schemas.microsoft.com/office/drawing/2014/main" id="{D1C4D832-AA7B-2F44-88F3-867F1C5C739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0" name="Freeform 99">
                <a:extLst>
                  <a:ext uri="{FF2B5EF4-FFF2-40B4-BE49-F238E27FC236}">
                    <a16:creationId xmlns:a16="http://schemas.microsoft.com/office/drawing/2014/main" id="{17B4F7C5-8F07-6444-9C56-5CCC6DAD801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1" name="Freeform 100">
                <a:extLst>
                  <a:ext uri="{FF2B5EF4-FFF2-40B4-BE49-F238E27FC236}">
                    <a16:creationId xmlns:a16="http://schemas.microsoft.com/office/drawing/2014/main" id="{A4D1016A-A633-4F47-AD16-9F5C4A1B4BB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2" name="Freeform 101">
                <a:extLst>
                  <a:ext uri="{FF2B5EF4-FFF2-40B4-BE49-F238E27FC236}">
                    <a16:creationId xmlns:a16="http://schemas.microsoft.com/office/drawing/2014/main" id="{4E90D1C0-25CA-D549-8BEC-F6FC08E9AF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03" name="Group 102">
            <a:extLst>
              <a:ext uri="{FF2B5EF4-FFF2-40B4-BE49-F238E27FC236}">
                <a16:creationId xmlns:a16="http://schemas.microsoft.com/office/drawing/2014/main" id="{5E0A555A-7D83-9C41-BC45-9CE34B97A2A0}"/>
              </a:ext>
            </a:extLst>
          </p:cNvPr>
          <p:cNvGrpSpPr/>
          <p:nvPr/>
        </p:nvGrpSpPr>
        <p:grpSpPr>
          <a:xfrm>
            <a:off x="8711293" y="4233883"/>
            <a:ext cx="578032" cy="285706"/>
            <a:chOff x="7493876" y="2774731"/>
            <a:chExt cx="1481958" cy="894622"/>
          </a:xfrm>
        </p:grpSpPr>
        <p:sp>
          <p:nvSpPr>
            <p:cNvPr id="104" name="Freeform 103">
              <a:extLst>
                <a:ext uri="{FF2B5EF4-FFF2-40B4-BE49-F238E27FC236}">
                  <a16:creationId xmlns:a16="http://schemas.microsoft.com/office/drawing/2014/main" id="{0CEF8A07-20B9-AE45-8F1F-7A43CAB1D71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05" name="Oval 104">
              <a:extLst>
                <a:ext uri="{FF2B5EF4-FFF2-40B4-BE49-F238E27FC236}">
                  <a16:creationId xmlns:a16="http://schemas.microsoft.com/office/drawing/2014/main" id="{EA79D59C-1529-9C45-BD77-6FFDD5DEAA4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06" name="Group 105">
              <a:extLst>
                <a:ext uri="{FF2B5EF4-FFF2-40B4-BE49-F238E27FC236}">
                  <a16:creationId xmlns:a16="http://schemas.microsoft.com/office/drawing/2014/main" id="{E973AF34-BA3E-0A49-9E54-BD6B223BA524}"/>
                </a:ext>
              </a:extLst>
            </p:cNvPr>
            <p:cNvGrpSpPr/>
            <p:nvPr/>
          </p:nvGrpSpPr>
          <p:grpSpPr>
            <a:xfrm>
              <a:off x="7713663" y="2848339"/>
              <a:ext cx="1042107" cy="425543"/>
              <a:chOff x="7786941" y="2884917"/>
              <a:chExt cx="897649" cy="353919"/>
            </a:xfrm>
          </p:grpSpPr>
          <p:sp>
            <p:nvSpPr>
              <p:cNvPr id="107" name="Freeform 106">
                <a:extLst>
                  <a:ext uri="{FF2B5EF4-FFF2-40B4-BE49-F238E27FC236}">
                    <a16:creationId xmlns:a16="http://schemas.microsoft.com/office/drawing/2014/main" id="{C47C43C3-8FCB-5847-9007-9FF04DAF74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8" name="Freeform 107">
                <a:extLst>
                  <a:ext uri="{FF2B5EF4-FFF2-40B4-BE49-F238E27FC236}">
                    <a16:creationId xmlns:a16="http://schemas.microsoft.com/office/drawing/2014/main" id="{09F2051C-9B20-EE45-9CE2-4D3C79652D1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9" name="Freeform 108">
                <a:extLst>
                  <a:ext uri="{FF2B5EF4-FFF2-40B4-BE49-F238E27FC236}">
                    <a16:creationId xmlns:a16="http://schemas.microsoft.com/office/drawing/2014/main" id="{79216339-F1AE-4C4A-9C17-5BCC324EB3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0" name="Freeform 109">
                <a:extLst>
                  <a:ext uri="{FF2B5EF4-FFF2-40B4-BE49-F238E27FC236}">
                    <a16:creationId xmlns:a16="http://schemas.microsoft.com/office/drawing/2014/main" id="{161D2AE2-963A-F744-92D8-01315F74683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111" name="Group 110">
            <a:extLst>
              <a:ext uri="{FF2B5EF4-FFF2-40B4-BE49-F238E27FC236}">
                <a16:creationId xmlns:a16="http://schemas.microsoft.com/office/drawing/2014/main" id="{EFB94137-26B4-A84C-B882-BC754696ADF8}"/>
              </a:ext>
            </a:extLst>
          </p:cNvPr>
          <p:cNvGrpSpPr/>
          <p:nvPr/>
        </p:nvGrpSpPr>
        <p:grpSpPr>
          <a:xfrm>
            <a:off x="7764614" y="3944180"/>
            <a:ext cx="578032" cy="285706"/>
            <a:chOff x="7493876" y="2774731"/>
            <a:chExt cx="1481958" cy="894622"/>
          </a:xfrm>
        </p:grpSpPr>
        <p:sp>
          <p:nvSpPr>
            <p:cNvPr id="112" name="Freeform 111">
              <a:extLst>
                <a:ext uri="{FF2B5EF4-FFF2-40B4-BE49-F238E27FC236}">
                  <a16:creationId xmlns:a16="http://schemas.microsoft.com/office/drawing/2014/main" id="{56959650-8F47-BD44-967D-3B54247086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sp>
          <p:nvSpPr>
            <p:cNvPr id="113" name="Oval 112">
              <a:extLst>
                <a:ext uri="{FF2B5EF4-FFF2-40B4-BE49-F238E27FC236}">
                  <a16:creationId xmlns:a16="http://schemas.microsoft.com/office/drawing/2014/main" id="{D4F846E9-5E5D-9246-A16E-A37E1F2DB7E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              </a:t>
              </a:r>
            </a:p>
          </p:txBody>
        </p:sp>
        <p:grpSp>
          <p:nvGrpSpPr>
            <p:cNvPr id="114" name="Group 113">
              <a:extLst>
                <a:ext uri="{FF2B5EF4-FFF2-40B4-BE49-F238E27FC236}">
                  <a16:creationId xmlns:a16="http://schemas.microsoft.com/office/drawing/2014/main" id="{6C080F1D-CE13-8A4D-AE86-A9987401AEFE}"/>
                </a:ext>
              </a:extLst>
            </p:cNvPr>
            <p:cNvGrpSpPr/>
            <p:nvPr/>
          </p:nvGrpSpPr>
          <p:grpSpPr>
            <a:xfrm>
              <a:off x="7713663" y="2848339"/>
              <a:ext cx="1042107" cy="425543"/>
              <a:chOff x="7786941" y="2884917"/>
              <a:chExt cx="897649" cy="353919"/>
            </a:xfrm>
          </p:grpSpPr>
          <p:sp>
            <p:nvSpPr>
              <p:cNvPr id="115" name="Freeform 114">
                <a:extLst>
                  <a:ext uri="{FF2B5EF4-FFF2-40B4-BE49-F238E27FC236}">
                    <a16:creationId xmlns:a16="http://schemas.microsoft.com/office/drawing/2014/main" id="{C92B06F2-78EF-804D-8E0C-DCE71C44A56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6" name="Freeform 115">
                <a:extLst>
                  <a:ext uri="{FF2B5EF4-FFF2-40B4-BE49-F238E27FC236}">
                    <a16:creationId xmlns:a16="http://schemas.microsoft.com/office/drawing/2014/main" id="{C074DBD1-927C-2B4D-B10B-DD852445FB2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7" name="Freeform 116">
                <a:extLst>
                  <a:ext uri="{FF2B5EF4-FFF2-40B4-BE49-F238E27FC236}">
                    <a16:creationId xmlns:a16="http://schemas.microsoft.com/office/drawing/2014/main" id="{BC9D84BC-889B-C849-9229-D2795054B39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8" name="Freeform 117">
                <a:extLst>
                  <a:ext uri="{FF2B5EF4-FFF2-40B4-BE49-F238E27FC236}">
                    <a16:creationId xmlns:a16="http://schemas.microsoft.com/office/drawing/2014/main" id="{9073BE05-706B-1446-BB36-AB53194859C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grpSp>
      </p:grpSp>
      <p:grpSp>
        <p:nvGrpSpPr>
          <p:cNvPr id="3" name="Group 2">
            <a:extLst>
              <a:ext uri="{FF2B5EF4-FFF2-40B4-BE49-F238E27FC236}">
                <a16:creationId xmlns:a16="http://schemas.microsoft.com/office/drawing/2014/main" id="{C584E5A3-CC37-804B-8E37-84F25E87BC63}"/>
              </a:ext>
            </a:extLst>
          </p:cNvPr>
          <p:cNvGrpSpPr/>
          <p:nvPr/>
        </p:nvGrpSpPr>
        <p:grpSpPr>
          <a:xfrm>
            <a:off x="8867832" y="4245561"/>
            <a:ext cx="456701" cy="226548"/>
            <a:chOff x="6859123" y="5156933"/>
            <a:chExt cx="456701" cy="226548"/>
          </a:xfrm>
        </p:grpSpPr>
        <p:sp>
          <p:nvSpPr>
            <p:cNvPr id="9" name="Rectangle 8">
              <a:extLst>
                <a:ext uri="{FF2B5EF4-FFF2-40B4-BE49-F238E27FC236}">
                  <a16:creationId xmlns:a16="http://schemas.microsoft.com/office/drawing/2014/main" id="{C093256C-E351-F04F-8F57-8CBAADAD32D9}"/>
                </a:ext>
              </a:extLst>
            </p:cNvPr>
            <p:cNvSpPr/>
            <p:nvPr/>
          </p:nvSpPr>
          <p:spPr>
            <a:xfrm>
              <a:off x="6859123" y="5156933"/>
              <a:ext cx="456701" cy="226548"/>
            </a:xfrm>
            <a:prstGeom prst="rect">
              <a:avLst/>
            </a:prstGeom>
            <a:solidFill>
              <a:srgbClr val="F989B2"/>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cxnSp>
          <p:nvCxnSpPr>
            <p:cNvPr id="11" name="Straight Connector 10">
              <a:extLst>
                <a:ext uri="{FF2B5EF4-FFF2-40B4-BE49-F238E27FC236}">
                  <a16:creationId xmlns:a16="http://schemas.microsoft.com/office/drawing/2014/main" id="{0C154E25-F682-744F-8785-AB5EDB9A5A5F}"/>
                </a:ext>
              </a:extLst>
            </p:cNvPr>
            <p:cNvCxnSpPr/>
            <p:nvPr/>
          </p:nvCxnSpPr>
          <p:spPr>
            <a:xfrm flipV="1">
              <a:off x="724911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E29C5F0A-310C-1443-A4BF-D9B6A1F9EDB9}"/>
                </a:ext>
              </a:extLst>
            </p:cNvPr>
            <p:cNvCxnSpPr/>
            <p:nvPr/>
          </p:nvCxnSpPr>
          <p:spPr>
            <a:xfrm flipV="1">
              <a:off x="7197800"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B65FCB07-1990-1F40-B6A0-2DC9A68091B3}"/>
                </a:ext>
              </a:extLst>
            </p:cNvPr>
            <p:cNvCxnSpPr/>
            <p:nvPr/>
          </p:nvCxnSpPr>
          <p:spPr>
            <a:xfrm flipV="1">
              <a:off x="7146485"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E0B89AD6-5E3A-1642-BCCA-337C835BC035}"/>
                </a:ext>
              </a:extLst>
            </p:cNvPr>
            <p:cNvCxnSpPr/>
            <p:nvPr/>
          </p:nvCxnSpPr>
          <p:spPr>
            <a:xfrm flipV="1">
              <a:off x="709517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35A1AE44-6AB7-1949-9184-889F736756EC}"/>
                </a:ext>
              </a:extLst>
            </p:cNvPr>
            <p:cNvCxnSpPr/>
            <p:nvPr/>
          </p:nvCxnSpPr>
          <p:spPr>
            <a:xfrm flipV="1">
              <a:off x="7043856"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C564862D-347A-7E41-8F9D-0ADF80768A2B}"/>
                </a:ext>
              </a:extLst>
            </p:cNvPr>
            <p:cNvCxnSpPr/>
            <p:nvPr/>
          </p:nvCxnSpPr>
          <p:spPr>
            <a:xfrm flipV="1">
              <a:off x="6992541"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AC855F5F-C9C2-4744-9B1E-696B4F0DB89C}"/>
                </a:ext>
              </a:extLst>
            </p:cNvPr>
            <p:cNvCxnSpPr/>
            <p:nvPr/>
          </p:nvCxnSpPr>
          <p:spPr>
            <a:xfrm flipV="1">
              <a:off x="6941227" y="5189971"/>
              <a:ext cx="0" cy="15575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2D3DD9EA-3345-8345-9221-C06D0834BC89}"/>
              </a:ext>
            </a:extLst>
          </p:cNvPr>
          <p:cNvGrpSpPr/>
          <p:nvPr/>
        </p:nvGrpSpPr>
        <p:grpSpPr>
          <a:xfrm>
            <a:off x="7428575" y="2677315"/>
            <a:ext cx="3355719" cy="1705017"/>
            <a:chOff x="7428575" y="2677315"/>
            <a:chExt cx="3355719" cy="1705017"/>
          </a:xfrm>
        </p:grpSpPr>
        <p:sp>
          <p:nvSpPr>
            <p:cNvPr id="13" name="Freeform 12">
              <a:extLst>
                <a:ext uri="{FF2B5EF4-FFF2-40B4-BE49-F238E27FC236}">
                  <a16:creationId xmlns:a16="http://schemas.microsoft.com/office/drawing/2014/main" id="{F7906425-B196-CC44-BB40-5ACEF23B0A29}"/>
                </a:ext>
              </a:extLst>
            </p:cNvPr>
            <p:cNvSpPr/>
            <p:nvPr/>
          </p:nvSpPr>
          <p:spPr>
            <a:xfrm>
              <a:off x="9335149" y="2701273"/>
              <a:ext cx="1406838" cy="168105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Lst>
              <a:ahLst/>
              <a:cxnLst>
                <a:cxn ang="0">
                  <a:pos x="connsiteX0" y="connsiteY0"/>
                </a:cxn>
                <a:cxn ang="0">
                  <a:pos x="connsiteX1" y="connsiteY1"/>
                </a:cxn>
                <a:cxn ang="0">
                  <a:pos x="connsiteX2" y="connsiteY2"/>
                </a:cxn>
                <a:cxn ang="0">
                  <a:pos x="connsiteX3" y="connsiteY3"/>
                </a:cxn>
              </a:cxnLst>
              <a:rect l="l" t="t" r="r" b="b"/>
              <a:pathLst>
                <a:path w="1541303" h="1681059">
                  <a:moveTo>
                    <a:pt x="0" y="1681059"/>
                  </a:moveTo>
                  <a:lnTo>
                    <a:pt x="539056" y="1465436"/>
                  </a:lnTo>
                  <a:lnTo>
                    <a:pt x="1541303" y="1445471"/>
                  </a:lnTo>
                  <a:lnTo>
                    <a:pt x="1525331" y="0"/>
                  </a:lnTo>
                </a:path>
              </a:pathLst>
            </a:custGeom>
            <a:noFill/>
            <a:ln w="4445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4689" name="Freeform 114688">
              <a:extLst>
                <a:ext uri="{FF2B5EF4-FFF2-40B4-BE49-F238E27FC236}">
                  <a16:creationId xmlns:a16="http://schemas.microsoft.com/office/drawing/2014/main" id="{F4B58868-99E6-0645-9773-CB66EC208FBD}"/>
                </a:ext>
              </a:extLst>
            </p:cNvPr>
            <p:cNvSpPr/>
            <p:nvPr/>
          </p:nvSpPr>
          <p:spPr>
            <a:xfrm>
              <a:off x="7473006" y="2677315"/>
              <a:ext cx="1446868" cy="1701024"/>
            </a:xfrm>
            <a:custGeom>
              <a:avLst/>
              <a:gdLst>
                <a:gd name="connsiteX0" fmla="*/ 0 w 1549289"/>
                <a:gd name="connsiteY0" fmla="*/ 0 h 1701024"/>
                <a:gd name="connsiteX1" fmla="*/ 0 w 1549289"/>
                <a:gd name="connsiteY1" fmla="*/ 1485401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53457 h 1701024"/>
                <a:gd name="connsiteX3" fmla="*/ 1549289 w 1549289"/>
                <a:gd name="connsiteY3" fmla="*/ 1701024 h 1701024"/>
                <a:gd name="connsiteX0" fmla="*/ 0 w 1549289"/>
                <a:gd name="connsiteY0" fmla="*/ 0 h 1701024"/>
                <a:gd name="connsiteX1" fmla="*/ 7986 w 1549289"/>
                <a:gd name="connsiteY1" fmla="*/ 1481408 h 1701024"/>
                <a:gd name="connsiteX2" fmla="*/ 1030198 w 1549289"/>
                <a:gd name="connsiteY2" fmla="*/ 1485401 h 1701024"/>
                <a:gd name="connsiteX3" fmla="*/ 1549289 w 1549289"/>
                <a:gd name="connsiteY3" fmla="*/ 1701024 h 1701024"/>
              </a:gdLst>
              <a:ahLst/>
              <a:cxnLst>
                <a:cxn ang="0">
                  <a:pos x="connsiteX0" y="connsiteY0"/>
                </a:cxn>
                <a:cxn ang="0">
                  <a:pos x="connsiteX1" y="connsiteY1"/>
                </a:cxn>
                <a:cxn ang="0">
                  <a:pos x="connsiteX2" y="connsiteY2"/>
                </a:cxn>
                <a:cxn ang="0">
                  <a:pos x="connsiteX3" y="connsiteY3"/>
                </a:cxn>
              </a:cxnLst>
              <a:rect l="l" t="t" r="r" b="b"/>
              <a:pathLst>
                <a:path w="1549289" h="1701024">
                  <a:moveTo>
                    <a:pt x="0" y="0"/>
                  </a:moveTo>
                  <a:lnTo>
                    <a:pt x="7986" y="1481408"/>
                  </a:lnTo>
                  <a:lnTo>
                    <a:pt x="1030198" y="1485401"/>
                  </a:lnTo>
                  <a:lnTo>
                    <a:pt x="1549289" y="1701024"/>
                  </a:lnTo>
                </a:path>
              </a:pathLst>
            </a:custGeom>
            <a:noFill/>
            <a:ln w="38100">
              <a:solidFill>
                <a:schemeClr val="accent5">
                  <a:lumMod val="75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431762DD-608F-AC4F-8D36-9BC825C14FB4}"/>
                </a:ext>
              </a:extLst>
            </p:cNvPr>
            <p:cNvSpPr txBox="1"/>
            <p:nvPr/>
          </p:nvSpPr>
          <p:spPr>
            <a:xfrm>
              <a:off x="10184578" y="3556614"/>
              <a:ext cx="5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a:ea typeface="+mn-ea"/>
                  <a:cs typeface="+mn-cs"/>
                </a:rPr>
                <a:t>data</a:t>
              </a:r>
            </a:p>
          </p:txBody>
        </p:sp>
        <p:sp>
          <p:nvSpPr>
            <p:cNvPr id="129" name="TextBox 128">
              <a:extLst>
                <a:ext uri="{FF2B5EF4-FFF2-40B4-BE49-F238E27FC236}">
                  <a16:creationId xmlns:a16="http://schemas.microsoft.com/office/drawing/2014/main" id="{38081CC2-E66E-0845-8CCA-2D10C6BE30EA}"/>
                </a:ext>
              </a:extLst>
            </p:cNvPr>
            <p:cNvSpPr txBox="1"/>
            <p:nvPr/>
          </p:nvSpPr>
          <p:spPr>
            <a:xfrm>
              <a:off x="7428575" y="3517694"/>
              <a:ext cx="59971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B9BD5">
                      <a:lumMod val="75000"/>
                    </a:srgbClr>
                  </a:solidFill>
                  <a:effectLst/>
                  <a:uLnTx/>
                  <a:uFillTx/>
                  <a:latin typeface="Calibri"/>
                  <a:ea typeface="+mn-ea"/>
                  <a:cs typeface="+mn-cs"/>
                </a:rPr>
                <a:t>data</a:t>
              </a:r>
            </a:p>
          </p:txBody>
        </p:sp>
      </p:grpSp>
      <p:grpSp>
        <p:nvGrpSpPr>
          <p:cNvPr id="10" name="Group 9">
            <a:extLst>
              <a:ext uri="{FF2B5EF4-FFF2-40B4-BE49-F238E27FC236}">
                <a16:creationId xmlns:a16="http://schemas.microsoft.com/office/drawing/2014/main" id="{57CD35EA-0731-A641-906C-8974E60D529B}"/>
              </a:ext>
            </a:extLst>
          </p:cNvPr>
          <p:cNvGrpSpPr/>
          <p:nvPr/>
        </p:nvGrpSpPr>
        <p:grpSpPr>
          <a:xfrm>
            <a:off x="6799618" y="2691243"/>
            <a:ext cx="4657206" cy="1827509"/>
            <a:chOff x="6799618" y="2691243"/>
            <a:chExt cx="4657206" cy="1827509"/>
          </a:xfrm>
        </p:grpSpPr>
        <p:sp>
          <p:nvSpPr>
            <p:cNvPr id="124" name="Freeform 123">
              <a:extLst>
                <a:ext uri="{FF2B5EF4-FFF2-40B4-BE49-F238E27FC236}">
                  <a16:creationId xmlns:a16="http://schemas.microsoft.com/office/drawing/2014/main" id="{809FCE5A-94F2-AB43-A427-15DC48978945}"/>
                </a:ext>
              </a:extLst>
            </p:cNvPr>
            <p:cNvSpPr/>
            <p:nvPr/>
          </p:nvSpPr>
          <p:spPr>
            <a:xfrm>
              <a:off x="7353946" y="2691243"/>
              <a:ext cx="3498244" cy="1827509"/>
            </a:xfrm>
            <a:custGeom>
              <a:avLst/>
              <a:gdLst>
                <a:gd name="connsiteX0" fmla="*/ 0 w 1541303"/>
                <a:gd name="connsiteY0" fmla="*/ 1605191 h 1605191"/>
                <a:gd name="connsiteX1" fmla="*/ 539056 w 1541303"/>
                <a:gd name="connsiteY1" fmla="*/ 1389568 h 1605191"/>
                <a:gd name="connsiteX2" fmla="*/ 1541303 w 1541303"/>
                <a:gd name="connsiteY2" fmla="*/ 1369603 h 1605191"/>
                <a:gd name="connsiteX3" fmla="*/ 1533317 w 1541303"/>
                <a:gd name="connsiteY3" fmla="*/ 0 h 1605191"/>
                <a:gd name="connsiteX0" fmla="*/ 0 w 1541303"/>
                <a:gd name="connsiteY0" fmla="*/ 1681059 h 1681059"/>
                <a:gd name="connsiteX1" fmla="*/ 539056 w 1541303"/>
                <a:gd name="connsiteY1" fmla="*/ 1465436 h 1681059"/>
                <a:gd name="connsiteX2" fmla="*/ 1541303 w 1541303"/>
                <a:gd name="connsiteY2" fmla="*/ 1445471 h 1681059"/>
                <a:gd name="connsiteX3" fmla="*/ 1525331 w 1541303"/>
                <a:gd name="connsiteY3" fmla="*/ 0 h 1681059"/>
                <a:gd name="connsiteX0" fmla="*/ 0 w 1541303"/>
                <a:gd name="connsiteY0" fmla="*/ 1681059 h 1681059"/>
                <a:gd name="connsiteX1" fmla="*/ 539056 w 1541303"/>
                <a:gd name="connsiteY1" fmla="*/ 1465436 h 1681059"/>
                <a:gd name="connsiteX2" fmla="*/ 920408 w 1541303"/>
                <a:gd name="connsiteY2" fmla="*/ 1455758 h 1681059"/>
                <a:gd name="connsiteX3" fmla="*/ 1541303 w 1541303"/>
                <a:gd name="connsiteY3" fmla="*/ 1445471 h 1681059"/>
                <a:gd name="connsiteX4" fmla="*/ 1525331 w 1541303"/>
                <a:gd name="connsiteY4" fmla="*/ 0 h 1681059"/>
                <a:gd name="connsiteX0" fmla="*/ 0 w 1541303"/>
                <a:gd name="connsiteY0" fmla="*/ 1681059 h 1681059"/>
                <a:gd name="connsiteX1" fmla="*/ 373242 w 1541303"/>
                <a:gd name="connsiteY1" fmla="*/ 1536549 h 1681059"/>
                <a:gd name="connsiteX2" fmla="*/ 539056 w 1541303"/>
                <a:gd name="connsiteY2" fmla="*/ 1465436 h 1681059"/>
                <a:gd name="connsiteX3" fmla="*/ 920408 w 1541303"/>
                <a:gd name="connsiteY3" fmla="*/ 1455758 h 1681059"/>
                <a:gd name="connsiteX4" fmla="*/ 1541303 w 1541303"/>
                <a:gd name="connsiteY4" fmla="*/ 1445471 h 1681059"/>
                <a:gd name="connsiteX5" fmla="*/ 1525331 w 1541303"/>
                <a:gd name="connsiteY5" fmla="*/ 0 h 1681059"/>
                <a:gd name="connsiteX0" fmla="*/ 0 w 1541303"/>
                <a:gd name="connsiteY0" fmla="*/ 1681059 h 1681059"/>
                <a:gd name="connsiteX1" fmla="*/ 373242 w 1541303"/>
                <a:gd name="connsiteY1" fmla="*/ 1536549 h 1681059"/>
                <a:gd name="connsiteX2" fmla="*/ 232427 w 1541303"/>
                <a:gd name="connsiteY2" fmla="*/ 1591633 h 1681059"/>
                <a:gd name="connsiteX3" fmla="*/ 539056 w 1541303"/>
                <a:gd name="connsiteY3" fmla="*/ 1465436 h 1681059"/>
                <a:gd name="connsiteX4" fmla="*/ 920408 w 1541303"/>
                <a:gd name="connsiteY4" fmla="*/ 1455758 h 1681059"/>
                <a:gd name="connsiteX5" fmla="*/ 1541303 w 1541303"/>
                <a:gd name="connsiteY5" fmla="*/ 1445471 h 1681059"/>
                <a:gd name="connsiteX6" fmla="*/ 1525331 w 1541303"/>
                <a:gd name="connsiteY6" fmla="*/ 0 h 1681059"/>
                <a:gd name="connsiteX0" fmla="*/ 0 w 3882856"/>
                <a:gd name="connsiteY0" fmla="*/ 142370 h 1591633"/>
                <a:gd name="connsiteX1" fmla="*/ 2714795 w 3882856"/>
                <a:gd name="connsiteY1" fmla="*/ 1536549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0 w 3882856"/>
                <a:gd name="connsiteY0" fmla="*/ 142370 h 1591633"/>
                <a:gd name="connsiteX1" fmla="*/ 2163604 w 3882856"/>
                <a:gd name="connsiteY1" fmla="*/ 1510843 h 1591633"/>
                <a:gd name="connsiteX2" fmla="*/ 2573980 w 3882856"/>
                <a:gd name="connsiteY2" fmla="*/ 1591633 h 1591633"/>
                <a:gd name="connsiteX3" fmla="*/ 2880609 w 3882856"/>
                <a:gd name="connsiteY3" fmla="*/ 1465436 h 1591633"/>
                <a:gd name="connsiteX4" fmla="*/ 3261961 w 3882856"/>
                <a:gd name="connsiteY4" fmla="*/ 1455758 h 1591633"/>
                <a:gd name="connsiteX5" fmla="*/ 3882856 w 3882856"/>
                <a:gd name="connsiteY5" fmla="*/ 1445471 h 1591633"/>
                <a:gd name="connsiteX6" fmla="*/ 3866884 w 3882856"/>
                <a:gd name="connsiteY6" fmla="*/ 0 h 1591633"/>
                <a:gd name="connsiteX0" fmla="*/ 33110 w 3915966"/>
                <a:gd name="connsiteY0" fmla="*/ 142370 h 1591633"/>
                <a:gd name="connsiteX1" fmla="*/ 0 w 3915966"/>
                <a:gd name="connsiteY1" fmla="*/ 1510843 h 1591633"/>
                <a:gd name="connsiteX2" fmla="*/ 2607090 w 3915966"/>
                <a:gd name="connsiteY2" fmla="*/ 1591633 h 1591633"/>
                <a:gd name="connsiteX3" fmla="*/ 2913719 w 3915966"/>
                <a:gd name="connsiteY3" fmla="*/ 1465436 h 1591633"/>
                <a:gd name="connsiteX4" fmla="*/ 3295071 w 3915966"/>
                <a:gd name="connsiteY4" fmla="*/ 1455758 h 1591633"/>
                <a:gd name="connsiteX5" fmla="*/ 3915966 w 3915966"/>
                <a:gd name="connsiteY5" fmla="*/ 1445471 h 1591633"/>
                <a:gd name="connsiteX6" fmla="*/ 3899994 w 3915966"/>
                <a:gd name="connsiteY6" fmla="*/ 0 h 1591633"/>
                <a:gd name="connsiteX0" fmla="*/ 33110 w 3915966"/>
                <a:gd name="connsiteY0" fmla="*/ 142370 h 1510843"/>
                <a:gd name="connsiteX1" fmla="*/ 0 w 3915966"/>
                <a:gd name="connsiteY1" fmla="*/ 1510843 h 1510843"/>
                <a:gd name="connsiteX2" fmla="*/ 1263312 w 3915966"/>
                <a:gd name="connsiteY2" fmla="*/ 1477792 h 1510843"/>
                <a:gd name="connsiteX3" fmla="*/ 2913719 w 3915966"/>
                <a:gd name="connsiteY3" fmla="*/ 1465436 h 1510843"/>
                <a:gd name="connsiteX4" fmla="*/ 3295071 w 3915966"/>
                <a:gd name="connsiteY4" fmla="*/ 1455758 h 1510843"/>
                <a:gd name="connsiteX5" fmla="*/ 3915966 w 3915966"/>
                <a:gd name="connsiteY5" fmla="*/ 1445471 h 1510843"/>
                <a:gd name="connsiteX6" fmla="*/ 3899994 w 3915966"/>
                <a:gd name="connsiteY6" fmla="*/ 0 h 1510843"/>
                <a:gd name="connsiteX0" fmla="*/ 33110 w 3915966"/>
                <a:gd name="connsiteY0" fmla="*/ 142370 h 1510843"/>
                <a:gd name="connsiteX1" fmla="*/ 0 w 3915966"/>
                <a:gd name="connsiteY1" fmla="*/ 1510843 h 1510843"/>
                <a:gd name="connsiteX2" fmla="*/ 1263312 w 3915966"/>
                <a:gd name="connsiteY2" fmla="*/ 1477792 h 1510843"/>
                <a:gd name="connsiteX3" fmla="*/ 2373740 w 3915966"/>
                <a:gd name="connsiteY3" fmla="*/ 1470447 h 1510843"/>
                <a:gd name="connsiteX4" fmla="*/ 2913719 w 3915966"/>
                <a:gd name="connsiteY4" fmla="*/ 1465436 h 1510843"/>
                <a:gd name="connsiteX5" fmla="*/ 3295071 w 3915966"/>
                <a:gd name="connsiteY5" fmla="*/ 1455758 h 1510843"/>
                <a:gd name="connsiteX6" fmla="*/ 3915966 w 3915966"/>
                <a:gd name="connsiteY6" fmla="*/ 1445471 h 1510843"/>
                <a:gd name="connsiteX7" fmla="*/ 3899994 w 3915966"/>
                <a:gd name="connsiteY7" fmla="*/ 0 h 1510843"/>
                <a:gd name="connsiteX0" fmla="*/ 33110 w 3915966"/>
                <a:gd name="connsiteY0" fmla="*/ 142370 h 1676095"/>
                <a:gd name="connsiteX1" fmla="*/ 0 w 3915966"/>
                <a:gd name="connsiteY1" fmla="*/ 1510843 h 1676095"/>
                <a:gd name="connsiteX2" fmla="*/ 1263312 w 3915966"/>
                <a:gd name="connsiteY2" fmla="*/ 1477792 h 1676095"/>
                <a:gd name="connsiteX3" fmla="*/ 2192692 w 3915966"/>
                <a:gd name="connsiteY3" fmla="*/ 1676095 h 1676095"/>
                <a:gd name="connsiteX4" fmla="*/ 2913719 w 3915966"/>
                <a:gd name="connsiteY4" fmla="*/ 1465436 h 1676095"/>
                <a:gd name="connsiteX5" fmla="*/ 3295071 w 3915966"/>
                <a:gd name="connsiteY5" fmla="*/ 1455758 h 1676095"/>
                <a:gd name="connsiteX6" fmla="*/ 3915966 w 3915966"/>
                <a:gd name="connsiteY6" fmla="*/ 1445471 h 1676095"/>
                <a:gd name="connsiteX7" fmla="*/ 3899994 w 3915966"/>
                <a:gd name="connsiteY7"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609316 w 3915966"/>
                <a:gd name="connsiteY3" fmla="*/ 1551238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33110 w 3915966"/>
                <a:gd name="connsiteY0" fmla="*/ 142370 h 1676095"/>
                <a:gd name="connsiteX1" fmla="*/ 0 w 3915966"/>
                <a:gd name="connsiteY1" fmla="*/ 1510843 h 1676095"/>
                <a:gd name="connsiteX2" fmla="*/ 1263312 w 3915966"/>
                <a:gd name="connsiteY2" fmla="*/ 1477792 h 1676095"/>
                <a:gd name="connsiteX3" fmla="*/ 1589200 w 3915966"/>
                <a:gd name="connsiteY3" fmla="*/ 1661407 h 1676095"/>
                <a:gd name="connsiteX4" fmla="*/ 2192692 w 3915966"/>
                <a:gd name="connsiteY4" fmla="*/ 1676095 h 1676095"/>
                <a:gd name="connsiteX5" fmla="*/ 2913719 w 3915966"/>
                <a:gd name="connsiteY5" fmla="*/ 1465436 h 1676095"/>
                <a:gd name="connsiteX6" fmla="*/ 3295071 w 3915966"/>
                <a:gd name="connsiteY6" fmla="*/ 1455758 h 1676095"/>
                <a:gd name="connsiteX7" fmla="*/ 3915966 w 3915966"/>
                <a:gd name="connsiteY7" fmla="*/ 1445471 h 1676095"/>
                <a:gd name="connsiteX8" fmla="*/ 3899994 w 3915966"/>
                <a:gd name="connsiteY8" fmla="*/ 0 h 1676095"/>
                <a:gd name="connsiteX0" fmla="*/ 17017 w 3915966"/>
                <a:gd name="connsiteY0" fmla="*/ 0 h 1838525"/>
                <a:gd name="connsiteX1" fmla="*/ 0 w 3915966"/>
                <a:gd name="connsiteY1" fmla="*/ 1673273 h 1838525"/>
                <a:gd name="connsiteX2" fmla="*/ 1263312 w 3915966"/>
                <a:gd name="connsiteY2" fmla="*/ 1640222 h 1838525"/>
                <a:gd name="connsiteX3" fmla="*/ 1589200 w 3915966"/>
                <a:gd name="connsiteY3" fmla="*/ 1823837 h 1838525"/>
                <a:gd name="connsiteX4" fmla="*/ 2192692 w 3915966"/>
                <a:gd name="connsiteY4" fmla="*/ 1838525 h 1838525"/>
                <a:gd name="connsiteX5" fmla="*/ 2913719 w 3915966"/>
                <a:gd name="connsiteY5" fmla="*/ 1627866 h 1838525"/>
                <a:gd name="connsiteX6" fmla="*/ 3295071 w 3915966"/>
                <a:gd name="connsiteY6" fmla="*/ 1618188 h 1838525"/>
                <a:gd name="connsiteX7" fmla="*/ 3915966 w 3915966"/>
                <a:gd name="connsiteY7" fmla="*/ 1607901 h 1838525"/>
                <a:gd name="connsiteX8" fmla="*/ 3899994 w 3915966"/>
                <a:gd name="connsiteY8" fmla="*/ 162430 h 1838525"/>
                <a:gd name="connsiteX0" fmla="*/ 0 w 3898949"/>
                <a:gd name="connsiteY0" fmla="*/ 0 h 1838525"/>
                <a:gd name="connsiteX1" fmla="*/ 19193 w 3898949"/>
                <a:gd name="connsiteY1" fmla="*/ 1581465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5137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246295 w 3898949"/>
                <a:gd name="connsiteY2" fmla="*/ 164022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9969 w 3898949"/>
                <a:gd name="connsiteY2" fmla="*/ 1566776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81465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38525"/>
                <a:gd name="connsiteX1" fmla="*/ 15169 w 3898949"/>
                <a:gd name="connsiteY1" fmla="*/ 1588809 h 1838525"/>
                <a:gd name="connsiteX2" fmla="*/ 1185946 w 3898949"/>
                <a:gd name="connsiteY2" fmla="*/ 1592482 h 1838525"/>
                <a:gd name="connsiteX3" fmla="*/ 1572183 w 3898949"/>
                <a:gd name="connsiteY3" fmla="*/ 1823837 h 1838525"/>
                <a:gd name="connsiteX4" fmla="*/ 2175675 w 3898949"/>
                <a:gd name="connsiteY4" fmla="*/ 1838525 h 1838525"/>
                <a:gd name="connsiteX5" fmla="*/ 2896702 w 3898949"/>
                <a:gd name="connsiteY5" fmla="*/ 1627866 h 1838525"/>
                <a:gd name="connsiteX6" fmla="*/ 3278054 w 3898949"/>
                <a:gd name="connsiteY6" fmla="*/ 1618188 h 1838525"/>
                <a:gd name="connsiteX7" fmla="*/ 3898949 w 3898949"/>
                <a:gd name="connsiteY7" fmla="*/ 1607901 h 1838525"/>
                <a:gd name="connsiteX8" fmla="*/ 3882977 w 3898949"/>
                <a:gd name="connsiteY8" fmla="*/ 162430 h 1838525"/>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896702 w 3898949"/>
                <a:gd name="connsiteY5" fmla="*/ 1627866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82977 w 3898949"/>
                <a:gd name="connsiteY8" fmla="*/ 162430 h 1827509"/>
                <a:gd name="connsiteX0" fmla="*/ 0 w 3898949"/>
                <a:gd name="connsiteY0" fmla="*/ 0 h 1827509"/>
                <a:gd name="connsiteX1" fmla="*/ 15169 w 3898949"/>
                <a:gd name="connsiteY1" fmla="*/ 1588809 h 1827509"/>
                <a:gd name="connsiteX2" fmla="*/ 1185946 w 3898949"/>
                <a:gd name="connsiteY2" fmla="*/ 1592482 h 1827509"/>
                <a:gd name="connsiteX3" fmla="*/ 1572183 w 3898949"/>
                <a:gd name="connsiteY3" fmla="*/ 1823837 h 1827509"/>
                <a:gd name="connsiteX4" fmla="*/ 2147513 w 3898949"/>
                <a:gd name="connsiteY4" fmla="*/ 1827509 h 1827509"/>
                <a:gd name="connsiteX5" fmla="*/ 2727724 w 3898949"/>
                <a:gd name="connsiteY5" fmla="*/ 1591143 h 1827509"/>
                <a:gd name="connsiteX6" fmla="*/ 3278054 w 3898949"/>
                <a:gd name="connsiteY6" fmla="*/ 1618188 h 1827509"/>
                <a:gd name="connsiteX7" fmla="*/ 3898949 w 3898949"/>
                <a:gd name="connsiteY7" fmla="*/ 1607901 h 1827509"/>
                <a:gd name="connsiteX8" fmla="*/ 3869708 w 3898949"/>
                <a:gd name="connsiteY8" fmla="*/ 113985 h 1827509"/>
                <a:gd name="connsiteX0" fmla="*/ 0 w 3869708"/>
                <a:gd name="connsiteY0" fmla="*/ 0 h 1827509"/>
                <a:gd name="connsiteX1" fmla="*/ 15169 w 3869708"/>
                <a:gd name="connsiteY1" fmla="*/ 1588809 h 1827509"/>
                <a:gd name="connsiteX2" fmla="*/ 1185946 w 3869708"/>
                <a:gd name="connsiteY2" fmla="*/ 1592482 h 1827509"/>
                <a:gd name="connsiteX3" fmla="*/ 1572183 w 3869708"/>
                <a:gd name="connsiteY3" fmla="*/ 1823837 h 1827509"/>
                <a:gd name="connsiteX4" fmla="*/ 2147513 w 3869708"/>
                <a:gd name="connsiteY4" fmla="*/ 1827509 h 1827509"/>
                <a:gd name="connsiteX5" fmla="*/ 2727724 w 3869708"/>
                <a:gd name="connsiteY5" fmla="*/ 1591143 h 1827509"/>
                <a:gd name="connsiteX6" fmla="*/ 3278054 w 3869708"/>
                <a:gd name="connsiteY6" fmla="*/ 1618188 h 1827509"/>
                <a:gd name="connsiteX7" fmla="*/ 3839239 w 3869708"/>
                <a:gd name="connsiteY7" fmla="*/ 1565511 h 1827509"/>
                <a:gd name="connsiteX8" fmla="*/ 3869708 w 3869708"/>
                <a:gd name="connsiteY8" fmla="*/ 113985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278054 w 3839239"/>
                <a:gd name="connsiteY6" fmla="*/ 1618188 h 1827509"/>
                <a:gd name="connsiteX7" fmla="*/ 3839239 w 3839239"/>
                <a:gd name="connsiteY7" fmla="*/ 1565511 h 1827509"/>
                <a:gd name="connsiteX8" fmla="*/ 3829902 w 3839239"/>
                <a:gd name="connsiteY8" fmla="*/ 126097 h 1827509"/>
                <a:gd name="connsiteX0" fmla="*/ 0 w 3839239"/>
                <a:gd name="connsiteY0" fmla="*/ 0 h 1827509"/>
                <a:gd name="connsiteX1" fmla="*/ 15169 w 3839239"/>
                <a:gd name="connsiteY1" fmla="*/ 1588809 h 1827509"/>
                <a:gd name="connsiteX2" fmla="*/ 1185946 w 3839239"/>
                <a:gd name="connsiteY2" fmla="*/ 1592482 h 1827509"/>
                <a:gd name="connsiteX3" fmla="*/ 1572183 w 3839239"/>
                <a:gd name="connsiteY3" fmla="*/ 1823837 h 1827509"/>
                <a:gd name="connsiteX4" fmla="*/ 2147513 w 3839239"/>
                <a:gd name="connsiteY4" fmla="*/ 1827509 h 1827509"/>
                <a:gd name="connsiteX5" fmla="*/ 2727724 w 3839239"/>
                <a:gd name="connsiteY5" fmla="*/ 1591143 h 1827509"/>
                <a:gd name="connsiteX6" fmla="*/ 3839239 w 3839239"/>
                <a:gd name="connsiteY6" fmla="*/ 1565511 h 1827509"/>
                <a:gd name="connsiteX7" fmla="*/ 3829902 w 3839239"/>
                <a:gd name="connsiteY7" fmla="*/ 126097 h 1827509"/>
                <a:gd name="connsiteX0" fmla="*/ 0 w 3832605"/>
                <a:gd name="connsiteY0" fmla="*/ 0 h 1827509"/>
                <a:gd name="connsiteX1" fmla="*/ 15169 w 3832605"/>
                <a:gd name="connsiteY1" fmla="*/ 1588809 h 1827509"/>
                <a:gd name="connsiteX2" fmla="*/ 1185946 w 3832605"/>
                <a:gd name="connsiteY2" fmla="*/ 1592482 h 1827509"/>
                <a:gd name="connsiteX3" fmla="*/ 1572183 w 3832605"/>
                <a:gd name="connsiteY3" fmla="*/ 1823837 h 1827509"/>
                <a:gd name="connsiteX4" fmla="*/ 2147513 w 3832605"/>
                <a:gd name="connsiteY4" fmla="*/ 1827509 h 1827509"/>
                <a:gd name="connsiteX5" fmla="*/ 2727724 w 3832605"/>
                <a:gd name="connsiteY5" fmla="*/ 1591143 h 1827509"/>
                <a:gd name="connsiteX6" fmla="*/ 3832605 w 3832605"/>
                <a:gd name="connsiteY6" fmla="*/ 1589734 h 1827509"/>
                <a:gd name="connsiteX7" fmla="*/ 3829902 w 3832605"/>
                <a:gd name="connsiteY7" fmla="*/ 126097 h 182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605" h="1827509">
                  <a:moveTo>
                    <a:pt x="0" y="0"/>
                  </a:moveTo>
                  <a:lnTo>
                    <a:pt x="15169" y="1588809"/>
                  </a:lnTo>
                  <a:lnTo>
                    <a:pt x="1185946" y="1592482"/>
                  </a:lnTo>
                  <a:lnTo>
                    <a:pt x="1572183" y="1823837"/>
                  </a:lnTo>
                  <a:lnTo>
                    <a:pt x="2147513" y="1827509"/>
                  </a:lnTo>
                  <a:lnTo>
                    <a:pt x="2727724" y="1591143"/>
                  </a:lnTo>
                  <a:lnTo>
                    <a:pt x="3832605" y="1589734"/>
                  </a:lnTo>
                  <a:cubicBezTo>
                    <a:pt x="3829493" y="1109929"/>
                    <a:pt x="3833014" y="605902"/>
                    <a:pt x="3829902" y="126097"/>
                  </a:cubicBezTo>
                </a:path>
              </a:pathLst>
            </a:custGeom>
            <a:noFill/>
            <a:ln w="25400">
              <a:solidFill>
                <a:srgbClr val="00B050"/>
              </a:solidFill>
              <a:headEnd type="triangle"/>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0" name="TextBox 129">
              <a:extLst>
                <a:ext uri="{FF2B5EF4-FFF2-40B4-BE49-F238E27FC236}">
                  <a16:creationId xmlns:a16="http://schemas.microsoft.com/office/drawing/2014/main" id="{AC21E889-4F82-8649-829E-554EB51D7E5D}"/>
                </a:ext>
              </a:extLst>
            </p:cNvPr>
            <p:cNvSpPr txBox="1"/>
            <p:nvPr/>
          </p:nvSpPr>
          <p:spPr>
            <a:xfrm>
              <a:off x="6799618" y="3650736"/>
              <a:ext cx="647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ACKs</a:t>
              </a:r>
            </a:p>
          </p:txBody>
        </p:sp>
        <p:sp>
          <p:nvSpPr>
            <p:cNvPr id="131" name="TextBox 130">
              <a:extLst>
                <a:ext uri="{FF2B5EF4-FFF2-40B4-BE49-F238E27FC236}">
                  <a16:creationId xmlns:a16="http://schemas.microsoft.com/office/drawing/2014/main" id="{4D544F8A-E5C9-4C42-B077-C996AF3E7BF7}"/>
                </a:ext>
              </a:extLst>
            </p:cNvPr>
            <p:cNvSpPr txBox="1"/>
            <p:nvPr/>
          </p:nvSpPr>
          <p:spPr>
            <a:xfrm>
              <a:off x="10809403" y="3772400"/>
              <a:ext cx="64742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Calibri"/>
                  <a:ea typeface="+mn-ea"/>
                  <a:cs typeface="+mn-cs"/>
                </a:rPr>
                <a:t>ACKs</a:t>
              </a:r>
            </a:p>
          </p:txBody>
        </p:sp>
      </p:grpSp>
      <p:sp>
        <p:nvSpPr>
          <p:cNvPr id="176" name="Freeform 254">
            <a:extLst>
              <a:ext uri="{FF2B5EF4-FFF2-40B4-BE49-F238E27FC236}">
                <a16:creationId xmlns:a16="http://schemas.microsoft.com/office/drawing/2014/main" id="{098028B6-BF7C-6A40-A6E7-BD363548A403}"/>
              </a:ext>
            </a:extLst>
          </p:cNvPr>
          <p:cNvSpPr>
            <a:spLocks/>
          </p:cNvSpPr>
          <p:nvPr/>
        </p:nvSpPr>
        <p:spPr bwMode="auto">
          <a:xfrm>
            <a:off x="11178866" y="2363683"/>
            <a:ext cx="250825" cy="1212850"/>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84" name="Group 289">
            <a:extLst>
              <a:ext uri="{FF2B5EF4-FFF2-40B4-BE49-F238E27FC236}">
                <a16:creationId xmlns:a16="http://schemas.microsoft.com/office/drawing/2014/main" id="{36A89038-0233-574C-A16F-E12F82E32856}"/>
              </a:ext>
            </a:extLst>
          </p:cNvPr>
          <p:cNvGrpSpPr>
            <a:grpSpLocks/>
          </p:cNvGrpSpPr>
          <p:nvPr/>
        </p:nvGrpSpPr>
        <p:grpSpPr bwMode="auto">
          <a:xfrm>
            <a:off x="11355079" y="3260620"/>
            <a:ext cx="231775" cy="441325"/>
            <a:chOff x="4140" y="429"/>
            <a:chExt cx="1425" cy="2396"/>
          </a:xfrm>
        </p:grpSpPr>
        <p:sp>
          <p:nvSpPr>
            <p:cNvPr id="188" name="Freeform 290">
              <a:extLst>
                <a:ext uri="{FF2B5EF4-FFF2-40B4-BE49-F238E27FC236}">
                  <a16:creationId xmlns:a16="http://schemas.microsoft.com/office/drawing/2014/main" id="{9264264F-C8FF-E941-B8DB-F2A13E30F566}"/>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9" name="Rectangle 291">
              <a:extLst>
                <a:ext uri="{FF2B5EF4-FFF2-40B4-BE49-F238E27FC236}">
                  <a16:creationId xmlns:a16="http://schemas.microsoft.com/office/drawing/2014/main" id="{5580AF65-ED2C-7F4A-90B9-25AFA8C927C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Freeform 292">
              <a:extLst>
                <a:ext uri="{FF2B5EF4-FFF2-40B4-BE49-F238E27FC236}">
                  <a16:creationId xmlns:a16="http://schemas.microsoft.com/office/drawing/2014/main" id="{BC0C9A2A-A362-5D48-A13D-A730292A1B69}"/>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1" name="Freeform 293">
              <a:extLst>
                <a:ext uri="{FF2B5EF4-FFF2-40B4-BE49-F238E27FC236}">
                  <a16:creationId xmlns:a16="http://schemas.microsoft.com/office/drawing/2014/main" id="{741E5815-F201-3946-BA11-1961624585EC}"/>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95" name="Rectangle 294">
              <a:extLst>
                <a:ext uri="{FF2B5EF4-FFF2-40B4-BE49-F238E27FC236}">
                  <a16:creationId xmlns:a16="http://schemas.microsoft.com/office/drawing/2014/main" id="{16834F46-BEA1-E54A-99D2-06A1D9E4EFA1}"/>
                </a:ext>
              </a:extLst>
            </p:cNvPr>
            <p:cNvSpPr>
              <a:spLocks noChangeArrowheads="1"/>
            </p:cNvSpPr>
            <p:nvPr/>
          </p:nvSpPr>
          <p:spPr bwMode="auto">
            <a:xfrm>
              <a:off x="4208" y="696"/>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2" name="Group 295">
              <a:extLst>
                <a:ext uri="{FF2B5EF4-FFF2-40B4-BE49-F238E27FC236}">
                  <a16:creationId xmlns:a16="http://schemas.microsoft.com/office/drawing/2014/main" id="{EFE1DB65-55C6-A040-8489-E8E7A5072621}"/>
                </a:ext>
              </a:extLst>
            </p:cNvPr>
            <p:cNvGrpSpPr>
              <a:grpSpLocks/>
            </p:cNvGrpSpPr>
            <p:nvPr/>
          </p:nvGrpSpPr>
          <p:grpSpPr bwMode="auto">
            <a:xfrm>
              <a:off x="4749" y="668"/>
              <a:ext cx="581" cy="145"/>
              <a:chOff x="614" y="2568"/>
              <a:chExt cx="725" cy="139"/>
            </a:xfrm>
          </p:grpSpPr>
          <p:sp>
            <p:nvSpPr>
              <p:cNvPr id="233" name="AutoShape 296">
                <a:extLst>
                  <a:ext uri="{FF2B5EF4-FFF2-40B4-BE49-F238E27FC236}">
                    <a16:creationId xmlns:a16="http://schemas.microsoft.com/office/drawing/2014/main" id="{60C873E6-EA5F-E546-9871-6CD69A03054C}"/>
                  </a:ext>
                </a:extLst>
              </p:cNvPr>
              <p:cNvSpPr>
                <a:spLocks noChangeArrowheads="1"/>
              </p:cNvSpPr>
              <p:nvPr/>
            </p:nvSpPr>
            <p:spPr bwMode="auto">
              <a:xfrm>
                <a:off x="609" y="2570"/>
                <a:ext cx="731"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4" name="AutoShape 297">
                <a:extLst>
                  <a:ext uri="{FF2B5EF4-FFF2-40B4-BE49-F238E27FC236}">
                    <a16:creationId xmlns:a16="http://schemas.microsoft.com/office/drawing/2014/main" id="{AE94AAEC-480B-8047-91E5-519724D0625F}"/>
                  </a:ext>
                </a:extLst>
              </p:cNvPr>
              <p:cNvSpPr>
                <a:spLocks noChangeArrowheads="1"/>
              </p:cNvSpPr>
              <p:nvPr/>
            </p:nvSpPr>
            <p:spPr bwMode="auto">
              <a:xfrm>
                <a:off x="621" y="2587"/>
                <a:ext cx="706"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3" name="Rectangle 298">
              <a:extLst>
                <a:ext uri="{FF2B5EF4-FFF2-40B4-BE49-F238E27FC236}">
                  <a16:creationId xmlns:a16="http://schemas.microsoft.com/office/drawing/2014/main" id="{66AA352A-88C1-474E-8553-BFDBC71D6A7F}"/>
                </a:ext>
              </a:extLst>
            </p:cNvPr>
            <p:cNvSpPr>
              <a:spLocks noChangeArrowheads="1"/>
            </p:cNvSpPr>
            <p:nvPr/>
          </p:nvSpPr>
          <p:spPr bwMode="auto">
            <a:xfrm>
              <a:off x="4228" y="1015"/>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4" name="Group 299">
              <a:extLst>
                <a:ext uri="{FF2B5EF4-FFF2-40B4-BE49-F238E27FC236}">
                  <a16:creationId xmlns:a16="http://schemas.microsoft.com/office/drawing/2014/main" id="{063BD826-F329-CE4F-8A05-BAE407197A8D}"/>
                </a:ext>
              </a:extLst>
            </p:cNvPr>
            <p:cNvGrpSpPr>
              <a:grpSpLocks/>
            </p:cNvGrpSpPr>
            <p:nvPr/>
          </p:nvGrpSpPr>
          <p:grpSpPr bwMode="auto">
            <a:xfrm>
              <a:off x="4747" y="994"/>
              <a:ext cx="581" cy="134"/>
              <a:chOff x="614" y="2568"/>
              <a:chExt cx="725" cy="139"/>
            </a:xfrm>
          </p:grpSpPr>
          <p:sp>
            <p:nvSpPr>
              <p:cNvPr id="231" name="AutoShape 300">
                <a:extLst>
                  <a:ext uri="{FF2B5EF4-FFF2-40B4-BE49-F238E27FC236}">
                    <a16:creationId xmlns:a16="http://schemas.microsoft.com/office/drawing/2014/main" id="{502F9F8E-D733-304B-8917-5387C94462AD}"/>
                  </a:ext>
                </a:extLst>
              </p:cNvPr>
              <p:cNvSpPr>
                <a:spLocks noChangeArrowheads="1"/>
              </p:cNvSpPr>
              <p:nvPr/>
            </p:nvSpPr>
            <p:spPr bwMode="auto">
              <a:xfrm>
                <a:off x="612" y="2572"/>
                <a:ext cx="731"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AutoShape 301">
                <a:extLst>
                  <a:ext uri="{FF2B5EF4-FFF2-40B4-BE49-F238E27FC236}">
                    <a16:creationId xmlns:a16="http://schemas.microsoft.com/office/drawing/2014/main" id="{8FA48F3E-A09B-9947-AC4E-53AB08CAC06B}"/>
                  </a:ext>
                </a:extLst>
              </p:cNvPr>
              <p:cNvSpPr>
                <a:spLocks noChangeArrowheads="1"/>
              </p:cNvSpPr>
              <p:nvPr/>
            </p:nvSpPr>
            <p:spPr bwMode="auto">
              <a:xfrm>
                <a:off x="624" y="2590"/>
                <a:ext cx="706" cy="9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5" name="Rectangle 302">
              <a:extLst>
                <a:ext uri="{FF2B5EF4-FFF2-40B4-BE49-F238E27FC236}">
                  <a16:creationId xmlns:a16="http://schemas.microsoft.com/office/drawing/2014/main" id="{7E665F5D-879D-9E40-84B5-66D85E68A508}"/>
                </a:ext>
              </a:extLst>
            </p:cNvPr>
            <p:cNvSpPr>
              <a:spLocks noChangeArrowheads="1"/>
            </p:cNvSpPr>
            <p:nvPr/>
          </p:nvSpPr>
          <p:spPr bwMode="auto">
            <a:xfrm>
              <a:off x="4218" y="1360"/>
              <a:ext cx="595"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Rectangle 303">
              <a:extLst>
                <a:ext uri="{FF2B5EF4-FFF2-40B4-BE49-F238E27FC236}">
                  <a16:creationId xmlns:a16="http://schemas.microsoft.com/office/drawing/2014/main" id="{7647528B-9EF0-E54D-974E-7DFC94037620}"/>
                </a:ext>
              </a:extLst>
            </p:cNvPr>
            <p:cNvSpPr>
              <a:spLocks noChangeArrowheads="1"/>
            </p:cNvSpPr>
            <p:nvPr/>
          </p:nvSpPr>
          <p:spPr bwMode="auto">
            <a:xfrm>
              <a:off x="4228" y="1653"/>
              <a:ext cx="595"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7" name="Group 304">
              <a:extLst>
                <a:ext uri="{FF2B5EF4-FFF2-40B4-BE49-F238E27FC236}">
                  <a16:creationId xmlns:a16="http://schemas.microsoft.com/office/drawing/2014/main" id="{467A70C4-7121-374D-AFDB-661BA82AC2A8}"/>
                </a:ext>
              </a:extLst>
            </p:cNvPr>
            <p:cNvGrpSpPr>
              <a:grpSpLocks/>
            </p:cNvGrpSpPr>
            <p:nvPr/>
          </p:nvGrpSpPr>
          <p:grpSpPr bwMode="auto">
            <a:xfrm>
              <a:off x="4735" y="1627"/>
              <a:ext cx="582" cy="151"/>
              <a:chOff x="614" y="2568"/>
              <a:chExt cx="725" cy="139"/>
            </a:xfrm>
          </p:grpSpPr>
          <p:sp>
            <p:nvSpPr>
              <p:cNvPr id="229" name="AutoShape 305">
                <a:extLst>
                  <a:ext uri="{FF2B5EF4-FFF2-40B4-BE49-F238E27FC236}">
                    <a16:creationId xmlns:a16="http://schemas.microsoft.com/office/drawing/2014/main" id="{C5AF588B-0651-0545-9142-FD07BC876383}"/>
                  </a:ext>
                </a:extLst>
              </p:cNvPr>
              <p:cNvSpPr>
                <a:spLocks noChangeArrowheads="1"/>
              </p:cNvSpPr>
              <p:nvPr/>
            </p:nvSpPr>
            <p:spPr bwMode="auto">
              <a:xfrm>
                <a:off x="614" y="2568"/>
                <a:ext cx="730" cy="19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AutoShape 306">
                <a:extLst>
                  <a:ext uri="{FF2B5EF4-FFF2-40B4-BE49-F238E27FC236}">
                    <a16:creationId xmlns:a16="http://schemas.microsoft.com/office/drawing/2014/main" id="{9BEB1652-4112-004D-B7AC-1F3734A3C049}"/>
                  </a:ext>
                </a:extLst>
              </p:cNvPr>
              <p:cNvSpPr>
                <a:spLocks noChangeArrowheads="1"/>
              </p:cNvSpPr>
              <p:nvPr/>
            </p:nvSpPr>
            <p:spPr bwMode="auto">
              <a:xfrm>
                <a:off x="627" y="2584"/>
                <a:ext cx="70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08" name="Freeform 307">
              <a:extLst>
                <a:ext uri="{FF2B5EF4-FFF2-40B4-BE49-F238E27FC236}">
                  <a16:creationId xmlns:a16="http://schemas.microsoft.com/office/drawing/2014/main" id="{D7A79ECE-B70D-2548-A773-6DCE4F281A8C}"/>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09" name="Group 308">
              <a:extLst>
                <a:ext uri="{FF2B5EF4-FFF2-40B4-BE49-F238E27FC236}">
                  <a16:creationId xmlns:a16="http://schemas.microsoft.com/office/drawing/2014/main" id="{1ECF4553-693A-DD4D-A0E2-8AA0E2504F64}"/>
                </a:ext>
              </a:extLst>
            </p:cNvPr>
            <p:cNvGrpSpPr>
              <a:grpSpLocks/>
            </p:cNvGrpSpPr>
            <p:nvPr/>
          </p:nvGrpSpPr>
          <p:grpSpPr bwMode="auto">
            <a:xfrm>
              <a:off x="4739" y="1327"/>
              <a:ext cx="582" cy="139"/>
              <a:chOff x="614" y="2568"/>
              <a:chExt cx="725" cy="139"/>
            </a:xfrm>
          </p:grpSpPr>
          <p:sp>
            <p:nvSpPr>
              <p:cNvPr id="227" name="AutoShape 309">
                <a:extLst>
                  <a:ext uri="{FF2B5EF4-FFF2-40B4-BE49-F238E27FC236}">
                    <a16:creationId xmlns:a16="http://schemas.microsoft.com/office/drawing/2014/main" id="{9C16F586-202A-6C49-BECE-8D7B0011EBAC}"/>
                  </a:ext>
                </a:extLst>
              </p:cNvPr>
              <p:cNvSpPr>
                <a:spLocks noChangeArrowheads="1"/>
              </p:cNvSpPr>
              <p:nvPr/>
            </p:nvSpPr>
            <p:spPr bwMode="auto">
              <a:xfrm>
                <a:off x="609" y="2566"/>
                <a:ext cx="730"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8" name="AutoShape 310">
                <a:extLst>
                  <a:ext uri="{FF2B5EF4-FFF2-40B4-BE49-F238E27FC236}">
                    <a16:creationId xmlns:a16="http://schemas.microsoft.com/office/drawing/2014/main" id="{C758F7C7-9330-BE46-A86A-D42B5637C8E5}"/>
                  </a:ext>
                </a:extLst>
              </p:cNvPr>
              <p:cNvSpPr>
                <a:spLocks noChangeArrowheads="1"/>
              </p:cNvSpPr>
              <p:nvPr/>
            </p:nvSpPr>
            <p:spPr bwMode="auto">
              <a:xfrm>
                <a:off x="622" y="2584"/>
                <a:ext cx="70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10" name="Rectangle 311">
              <a:extLst>
                <a:ext uri="{FF2B5EF4-FFF2-40B4-BE49-F238E27FC236}">
                  <a16:creationId xmlns:a16="http://schemas.microsoft.com/office/drawing/2014/main" id="{533FE805-6D97-3D40-A722-65F7EC32A1D2}"/>
                </a:ext>
              </a:extLst>
            </p:cNvPr>
            <p:cNvSpPr>
              <a:spLocks noChangeArrowheads="1"/>
            </p:cNvSpPr>
            <p:nvPr/>
          </p:nvSpPr>
          <p:spPr bwMode="auto">
            <a:xfrm>
              <a:off x="5253" y="429"/>
              <a:ext cx="68" cy="2293"/>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1" name="Freeform 312">
              <a:extLst>
                <a:ext uri="{FF2B5EF4-FFF2-40B4-BE49-F238E27FC236}">
                  <a16:creationId xmlns:a16="http://schemas.microsoft.com/office/drawing/2014/main" id="{620834FD-6B76-EA4B-A18C-65A47D402B0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2" name="Freeform 313">
              <a:extLst>
                <a:ext uri="{FF2B5EF4-FFF2-40B4-BE49-F238E27FC236}">
                  <a16:creationId xmlns:a16="http://schemas.microsoft.com/office/drawing/2014/main" id="{C5A12F9D-49AB-5145-AA15-D382AA5D35C0}"/>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13" name="Oval 314">
              <a:extLst>
                <a:ext uri="{FF2B5EF4-FFF2-40B4-BE49-F238E27FC236}">
                  <a16:creationId xmlns:a16="http://schemas.microsoft.com/office/drawing/2014/main" id="{80DD1625-6CB9-AC4C-88B8-9DC831FCEE6E}"/>
                </a:ext>
              </a:extLst>
            </p:cNvPr>
            <p:cNvSpPr>
              <a:spLocks noChangeArrowheads="1"/>
            </p:cNvSpPr>
            <p:nvPr/>
          </p:nvSpPr>
          <p:spPr bwMode="auto">
            <a:xfrm>
              <a:off x="5516" y="2610"/>
              <a:ext cx="49" cy="95"/>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0" name="Freeform 315">
              <a:extLst>
                <a:ext uri="{FF2B5EF4-FFF2-40B4-BE49-F238E27FC236}">
                  <a16:creationId xmlns:a16="http://schemas.microsoft.com/office/drawing/2014/main" id="{A65F0511-3C28-C743-A21D-6264A2118463}"/>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21" name="AutoShape 316">
              <a:extLst>
                <a:ext uri="{FF2B5EF4-FFF2-40B4-BE49-F238E27FC236}">
                  <a16:creationId xmlns:a16="http://schemas.microsoft.com/office/drawing/2014/main" id="{FADC981B-C983-6D40-AEA7-04B355ECAD3A}"/>
                </a:ext>
              </a:extLst>
            </p:cNvPr>
            <p:cNvSpPr>
              <a:spLocks noChangeArrowheads="1"/>
            </p:cNvSpPr>
            <p:nvPr/>
          </p:nvSpPr>
          <p:spPr bwMode="auto">
            <a:xfrm>
              <a:off x="4140" y="2678"/>
              <a:ext cx="1201" cy="147"/>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AutoShape 317">
              <a:extLst>
                <a:ext uri="{FF2B5EF4-FFF2-40B4-BE49-F238E27FC236}">
                  <a16:creationId xmlns:a16="http://schemas.microsoft.com/office/drawing/2014/main" id="{708D79ED-DBE2-644C-B85E-DB3961F564FD}"/>
                </a:ext>
              </a:extLst>
            </p:cNvPr>
            <p:cNvSpPr>
              <a:spLocks noChangeArrowheads="1"/>
            </p:cNvSpPr>
            <p:nvPr/>
          </p:nvSpPr>
          <p:spPr bwMode="auto">
            <a:xfrm>
              <a:off x="4208" y="2713"/>
              <a:ext cx="1064" cy="78"/>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3" name="Oval 318">
              <a:extLst>
                <a:ext uri="{FF2B5EF4-FFF2-40B4-BE49-F238E27FC236}">
                  <a16:creationId xmlns:a16="http://schemas.microsoft.com/office/drawing/2014/main" id="{87AF5859-5E53-EE4C-954A-8D2D2B200716}"/>
                </a:ext>
              </a:extLst>
            </p:cNvPr>
            <p:cNvSpPr>
              <a:spLocks noChangeArrowheads="1"/>
            </p:cNvSpPr>
            <p:nvPr/>
          </p:nvSpPr>
          <p:spPr bwMode="auto">
            <a:xfrm>
              <a:off x="4306" y="2385"/>
              <a:ext cx="156"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4" name="Oval 319">
              <a:extLst>
                <a:ext uri="{FF2B5EF4-FFF2-40B4-BE49-F238E27FC236}">
                  <a16:creationId xmlns:a16="http://schemas.microsoft.com/office/drawing/2014/main" id="{43616DFE-DE4C-D94C-B77F-413A270CAAE8}"/>
                </a:ext>
              </a:extLst>
            </p:cNvPr>
            <p:cNvSpPr>
              <a:spLocks noChangeArrowheads="1"/>
            </p:cNvSpPr>
            <p:nvPr/>
          </p:nvSpPr>
          <p:spPr bwMode="auto">
            <a:xfrm>
              <a:off x="4482" y="2385"/>
              <a:ext cx="166" cy="138"/>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25" name="Oval 320">
              <a:extLst>
                <a:ext uri="{FF2B5EF4-FFF2-40B4-BE49-F238E27FC236}">
                  <a16:creationId xmlns:a16="http://schemas.microsoft.com/office/drawing/2014/main" id="{63CB7C6A-7959-294B-919F-406DF43820E1}"/>
                </a:ext>
              </a:extLst>
            </p:cNvPr>
            <p:cNvSpPr>
              <a:spLocks noChangeArrowheads="1"/>
            </p:cNvSpPr>
            <p:nvPr/>
          </p:nvSpPr>
          <p:spPr bwMode="auto">
            <a:xfrm>
              <a:off x="4657" y="2377"/>
              <a:ext cx="166" cy="147"/>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Rectangle 321">
              <a:extLst>
                <a:ext uri="{FF2B5EF4-FFF2-40B4-BE49-F238E27FC236}">
                  <a16:creationId xmlns:a16="http://schemas.microsoft.com/office/drawing/2014/main" id="{3ED5D38A-C2F0-8444-B700-8ED29C8B7FB9}"/>
                </a:ext>
              </a:extLst>
            </p:cNvPr>
            <p:cNvSpPr>
              <a:spLocks noChangeArrowheads="1"/>
            </p:cNvSpPr>
            <p:nvPr/>
          </p:nvSpPr>
          <p:spPr bwMode="auto">
            <a:xfrm>
              <a:off x="5057" y="1834"/>
              <a:ext cx="88"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28" name="Rectangle 3">
            <a:extLst>
              <a:ext uri="{FF2B5EF4-FFF2-40B4-BE49-F238E27FC236}">
                <a16:creationId xmlns:a16="http://schemas.microsoft.com/office/drawing/2014/main" id="{4AEA1865-8C28-134C-8B6C-07E3981D0325}"/>
              </a:ext>
            </a:extLst>
          </p:cNvPr>
          <p:cNvSpPr txBox="1">
            <a:spLocks noChangeArrowheads="1"/>
          </p:cNvSpPr>
          <p:nvPr/>
        </p:nvSpPr>
        <p:spPr>
          <a:xfrm>
            <a:off x="921800" y="4257398"/>
            <a:ext cx="5562600" cy="63223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6725" marR="0" lvl="0" indent="-3365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a:ea typeface="+mn-ea"/>
                <a:cs typeface="+mn-cs"/>
              </a:rPr>
              <a:t>approach taken by TCP</a:t>
            </a:r>
            <a:endParaRPr kumimoji="0" lang="en-US" sz="36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3" name="Slide Number Placeholder 2">
            <a:extLst>
              <a:ext uri="{FF2B5EF4-FFF2-40B4-BE49-F238E27FC236}">
                <a16:creationId xmlns:a16="http://schemas.microsoft.com/office/drawing/2014/main" id="{80FEFCD4-E64A-AA4F-ACAB-74CB4ECDD26A}"/>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2</a:t>
            </a:fld>
            <a:endParaRPr lang="en-US" dirty="0"/>
          </a:p>
        </p:txBody>
      </p:sp>
    </p:spTree>
    <p:extLst>
      <p:ext uri="{BB962C8B-B14F-4D97-AF65-F5344CB8AC3E}">
        <p14:creationId xmlns:p14="http://schemas.microsoft.com/office/powerpoint/2010/main" val="1779656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dissolve">
                                      <p:cBhvr>
                                        <p:cTn id="16"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0314C-84A0-BA47-8BEF-5005873336FF}"/>
              </a:ext>
            </a:extLst>
          </p:cNvPr>
          <p:cNvSpPr>
            <a:spLocks noGrp="1"/>
          </p:cNvSpPr>
          <p:nvPr>
            <p:ph type="title"/>
          </p:nvPr>
        </p:nvSpPr>
        <p:spPr/>
        <p:txBody>
          <a:bodyPr/>
          <a:lstStyle/>
          <a:p>
            <a:r>
              <a:rPr lang="en-US" dirty="0"/>
              <a:t>Questions for Congestion Control </a:t>
            </a:r>
          </a:p>
        </p:txBody>
      </p:sp>
      <p:sp>
        <p:nvSpPr>
          <p:cNvPr id="3" name="Content Placeholder 2">
            <a:extLst>
              <a:ext uri="{FF2B5EF4-FFF2-40B4-BE49-F238E27FC236}">
                <a16:creationId xmlns:a16="http://schemas.microsoft.com/office/drawing/2014/main" id="{7BE8D5F0-9C70-4346-A9B8-039E77A63E87}"/>
              </a:ext>
            </a:extLst>
          </p:cNvPr>
          <p:cNvSpPr>
            <a:spLocks noGrp="1"/>
          </p:cNvSpPr>
          <p:nvPr>
            <p:ph idx="1"/>
          </p:nvPr>
        </p:nvSpPr>
        <p:spPr/>
        <p:txBody>
          <a:bodyPr/>
          <a:lstStyle/>
          <a:p>
            <a:pPr marL="514350" indent="-514350">
              <a:buFont typeface="+mj-lt"/>
              <a:buAutoNum type="arabicPeriod"/>
            </a:pPr>
            <a:r>
              <a:rPr lang="en-IN" dirty="0"/>
              <a:t>How does a TCP sender limit the rate at which it sends traffic into its connection? </a:t>
            </a:r>
          </a:p>
          <a:p>
            <a:pPr marL="514350" indent="-514350">
              <a:buFont typeface="+mj-lt"/>
              <a:buAutoNum type="arabicPeriod"/>
            </a:pPr>
            <a:r>
              <a:rPr lang="en-IN" dirty="0"/>
              <a:t>How does a TCP sender perceive that there is congestion on the path between itself and the destination? </a:t>
            </a:r>
          </a:p>
          <a:p>
            <a:pPr marL="514350" indent="-514350">
              <a:buFont typeface="+mj-lt"/>
              <a:buAutoNum type="arabicPeriod"/>
            </a:pPr>
            <a:r>
              <a:rPr lang="en-IN" dirty="0"/>
              <a:t>What algorithm should the sender use to change its send rate as a function of perceived end-to-end congestion?</a:t>
            </a:r>
          </a:p>
          <a:p>
            <a:endParaRPr lang="en-US" dirty="0"/>
          </a:p>
        </p:txBody>
      </p:sp>
    </p:spTree>
    <p:extLst>
      <p:ext uri="{BB962C8B-B14F-4D97-AF65-F5344CB8AC3E}">
        <p14:creationId xmlns:p14="http://schemas.microsoft.com/office/powerpoint/2010/main" val="1176417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0314C-84A0-BA47-8BEF-5005873336FF}"/>
              </a:ext>
            </a:extLst>
          </p:cNvPr>
          <p:cNvSpPr>
            <a:spLocks noGrp="1"/>
          </p:cNvSpPr>
          <p:nvPr>
            <p:ph type="title"/>
          </p:nvPr>
        </p:nvSpPr>
        <p:spPr/>
        <p:txBody>
          <a:bodyPr/>
          <a:lstStyle/>
          <a:p>
            <a:r>
              <a:rPr lang="en-US" dirty="0"/>
              <a:t>Questions for Congestion Control </a:t>
            </a:r>
          </a:p>
        </p:txBody>
      </p:sp>
      <p:sp>
        <p:nvSpPr>
          <p:cNvPr id="3" name="Content Placeholder 2">
            <a:extLst>
              <a:ext uri="{FF2B5EF4-FFF2-40B4-BE49-F238E27FC236}">
                <a16:creationId xmlns:a16="http://schemas.microsoft.com/office/drawing/2014/main" id="{7BE8D5F0-9C70-4346-A9B8-039E77A63E87}"/>
              </a:ext>
            </a:extLst>
          </p:cNvPr>
          <p:cNvSpPr>
            <a:spLocks noGrp="1"/>
          </p:cNvSpPr>
          <p:nvPr>
            <p:ph idx="1"/>
          </p:nvPr>
        </p:nvSpPr>
        <p:spPr>
          <a:xfrm>
            <a:off x="838200" y="1825625"/>
            <a:ext cx="4433596" cy="4351338"/>
          </a:xfrm>
        </p:spPr>
        <p:txBody>
          <a:bodyPr>
            <a:normAutofit/>
          </a:bodyPr>
          <a:lstStyle/>
          <a:p>
            <a:pPr marL="514350" indent="-514350">
              <a:buFont typeface="+mj-lt"/>
              <a:buAutoNum type="arabicPeriod"/>
            </a:pPr>
            <a:r>
              <a:rPr lang="en-IN" sz="2000" dirty="0"/>
              <a:t>How does a TCP sender limit the rate at which it sends traffic into its connection? </a:t>
            </a:r>
          </a:p>
          <a:p>
            <a:pPr marL="514350" indent="-514350">
              <a:buFont typeface="+mj-lt"/>
              <a:buAutoNum type="arabicPeriod"/>
            </a:pPr>
            <a:endParaRPr lang="en-IN" sz="2000" dirty="0"/>
          </a:p>
          <a:p>
            <a:pPr marL="514350" indent="-514350">
              <a:buFont typeface="+mj-lt"/>
              <a:buAutoNum type="arabicPeriod"/>
            </a:pPr>
            <a:r>
              <a:rPr lang="en-IN" sz="2000" dirty="0"/>
              <a:t>How does a TCP sender perceive that there is congestion on the path between itself and the destination? </a:t>
            </a:r>
          </a:p>
          <a:p>
            <a:pPr marL="514350" indent="-514350">
              <a:buFont typeface="+mj-lt"/>
              <a:buAutoNum type="arabicPeriod"/>
            </a:pPr>
            <a:endParaRPr lang="en-IN" sz="2000" dirty="0"/>
          </a:p>
          <a:p>
            <a:pPr marL="514350" indent="-514350">
              <a:buFont typeface="+mj-lt"/>
              <a:buAutoNum type="arabicPeriod"/>
            </a:pPr>
            <a:r>
              <a:rPr lang="en-IN" sz="2000" dirty="0"/>
              <a:t>What algorithm should the sender use to change its send rate as a function of perceived end-to-end congestion?</a:t>
            </a:r>
          </a:p>
          <a:p>
            <a:endParaRPr lang="en-US" sz="2000" dirty="0"/>
          </a:p>
        </p:txBody>
      </p:sp>
      <p:sp>
        <p:nvSpPr>
          <p:cNvPr id="4" name="Rectangle 3">
            <a:extLst>
              <a:ext uri="{FF2B5EF4-FFF2-40B4-BE49-F238E27FC236}">
                <a16:creationId xmlns:a16="http://schemas.microsoft.com/office/drawing/2014/main" id="{79E9D08A-4A2F-8B48-BA98-02F05031BB21}"/>
              </a:ext>
            </a:extLst>
          </p:cNvPr>
          <p:cNvSpPr/>
          <p:nvPr/>
        </p:nvSpPr>
        <p:spPr>
          <a:xfrm>
            <a:off x="5837853" y="3181363"/>
            <a:ext cx="5209592" cy="646331"/>
          </a:xfrm>
          <a:prstGeom prst="rect">
            <a:avLst/>
          </a:prstGeom>
        </p:spPr>
        <p:txBody>
          <a:bodyPr wrap="square">
            <a:spAutoFit/>
          </a:bodyPr>
          <a:lstStyle/>
          <a:p>
            <a:r>
              <a:rPr lang="en-IN" dirty="0">
                <a:solidFill>
                  <a:srgbClr val="141413"/>
                </a:solidFill>
                <a:latin typeface="Helvetica" pitchFamily="2" charset="0"/>
              </a:rPr>
              <a:t>Segment Lost </a:t>
            </a:r>
            <a:r>
              <a:rPr lang="en-IN" dirty="0">
                <a:solidFill>
                  <a:srgbClr val="141413"/>
                </a:solidFill>
                <a:latin typeface="Helvetica" pitchFamily="2" charset="0"/>
                <a:sym typeface="Wingdings" pitchFamily="2" charset="2"/>
              </a:rPr>
              <a:t> </a:t>
            </a:r>
            <a:r>
              <a:rPr lang="en-IN" dirty="0">
                <a:solidFill>
                  <a:srgbClr val="141413"/>
                </a:solidFill>
                <a:latin typeface="Helvetica" pitchFamily="2" charset="0"/>
              </a:rPr>
              <a:t>Congestion </a:t>
            </a:r>
            <a:r>
              <a:rPr lang="en-IN" dirty="0">
                <a:solidFill>
                  <a:srgbClr val="141413"/>
                </a:solidFill>
                <a:latin typeface="Helvetica" pitchFamily="2" charset="0"/>
                <a:sym typeface="Wingdings" pitchFamily="2" charset="2"/>
              </a:rPr>
              <a:t> Decrease </a:t>
            </a:r>
            <a:r>
              <a:rPr lang="en-IN" dirty="0">
                <a:solidFill>
                  <a:srgbClr val="141413"/>
                </a:solidFill>
                <a:latin typeface="Helvetica" pitchFamily="2" charset="0"/>
              </a:rPr>
              <a:t>TCP sender’s rate</a:t>
            </a:r>
            <a:endParaRPr lang="en-IN" dirty="0">
              <a:solidFill>
                <a:srgbClr val="141413"/>
              </a:solidFill>
              <a:effectLst/>
              <a:latin typeface="Helvetica" pitchFamily="2" charset="0"/>
            </a:endParaRPr>
          </a:p>
        </p:txBody>
      </p:sp>
      <p:sp>
        <p:nvSpPr>
          <p:cNvPr id="5" name="Rectangle 4">
            <a:extLst>
              <a:ext uri="{FF2B5EF4-FFF2-40B4-BE49-F238E27FC236}">
                <a16:creationId xmlns:a16="http://schemas.microsoft.com/office/drawing/2014/main" id="{E8A2933F-604E-5644-B4AF-329ABAD5BFC7}"/>
              </a:ext>
            </a:extLst>
          </p:cNvPr>
          <p:cNvSpPr/>
          <p:nvPr/>
        </p:nvSpPr>
        <p:spPr>
          <a:xfrm>
            <a:off x="5757843" y="1690688"/>
            <a:ext cx="6096000" cy="646331"/>
          </a:xfrm>
          <a:prstGeom prst="rect">
            <a:avLst/>
          </a:prstGeom>
        </p:spPr>
        <p:txBody>
          <a:bodyPr>
            <a:spAutoFit/>
          </a:bodyPr>
          <a:lstStyle/>
          <a:p>
            <a:r>
              <a:rPr lang="en-IN" dirty="0">
                <a:solidFill>
                  <a:srgbClr val="141413"/>
                </a:solidFill>
                <a:latin typeface="Helvetica" pitchFamily="2" charset="0"/>
              </a:rPr>
              <a:t>Acknowledgment Arrived </a:t>
            </a:r>
            <a:r>
              <a:rPr lang="en-IN" dirty="0">
                <a:solidFill>
                  <a:srgbClr val="141413"/>
                </a:solidFill>
                <a:latin typeface="Helvetica" pitchFamily="2" charset="0"/>
                <a:sym typeface="Wingdings" pitchFamily="2" charset="2"/>
              </a:rPr>
              <a:t> Segment </a:t>
            </a:r>
            <a:r>
              <a:rPr lang="en-IN" dirty="0">
                <a:solidFill>
                  <a:srgbClr val="141413"/>
                </a:solidFill>
                <a:latin typeface="Helvetica" pitchFamily="2" charset="0"/>
              </a:rPr>
              <a:t>delivered</a:t>
            </a:r>
            <a:r>
              <a:rPr lang="en-IN" dirty="0">
                <a:solidFill>
                  <a:srgbClr val="141413"/>
                </a:solidFill>
                <a:latin typeface="Helvetica" pitchFamily="2" charset="0"/>
                <a:sym typeface="Wingdings" pitchFamily="2" charset="2"/>
              </a:rPr>
              <a:t> </a:t>
            </a:r>
            <a:r>
              <a:rPr lang="en-IN" dirty="0">
                <a:solidFill>
                  <a:srgbClr val="141413"/>
                </a:solidFill>
                <a:latin typeface="Helvetica" pitchFamily="2" charset="0"/>
              </a:rPr>
              <a:t>sender’s rate can be increased when an</a:t>
            </a:r>
            <a:endParaRPr lang="en-IN" dirty="0">
              <a:solidFill>
                <a:srgbClr val="141413"/>
              </a:solidFill>
              <a:effectLst/>
              <a:latin typeface="Helvetica" pitchFamily="2" charset="0"/>
            </a:endParaRPr>
          </a:p>
        </p:txBody>
      </p:sp>
      <p:sp>
        <p:nvSpPr>
          <p:cNvPr id="6" name="Rectangle 5">
            <a:extLst>
              <a:ext uri="{FF2B5EF4-FFF2-40B4-BE49-F238E27FC236}">
                <a16:creationId xmlns:a16="http://schemas.microsoft.com/office/drawing/2014/main" id="{E1651586-DD33-1B4A-BD04-6DF540FDC08B}"/>
              </a:ext>
            </a:extLst>
          </p:cNvPr>
          <p:cNvSpPr/>
          <p:nvPr/>
        </p:nvSpPr>
        <p:spPr>
          <a:xfrm>
            <a:off x="5837853" y="4306053"/>
            <a:ext cx="6585970" cy="2308324"/>
          </a:xfrm>
          <a:prstGeom prst="rect">
            <a:avLst/>
          </a:prstGeom>
        </p:spPr>
        <p:txBody>
          <a:bodyPr wrap="none">
            <a:spAutoFit/>
          </a:bodyPr>
          <a:lstStyle/>
          <a:p>
            <a:r>
              <a:rPr lang="en-IN" dirty="0">
                <a:solidFill>
                  <a:srgbClr val="141413"/>
                </a:solidFill>
                <a:latin typeface="Helvetica" pitchFamily="2" charset="0"/>
              </a:rPr>
              <a:t>Bandwidth probing:  </a:t>
            </a:r>
          </a:p>
          <a:p>
            <a:r>
              <a:rPr lang="en-IN" dirty="0"/>
              <a:t>1. Increase </a:t>
            </a:r>
            <a:r>
              <a:rPr lang="en-IN" dirty="0">
                <a:sym typeface="Wingdings" pitchFamily="2" charset="2"/>
              </a:rPr>
              <a:t></a:t>
            </a:r>
            <a:r>
              <a:rPr lang="en-IN" dirty="0"/>
              <a:t>transmission rate </a:t>
            </a:r>
            <a:r>
              <a:rPr lang="en-IN" dirty="0">
                <a:sym typeface="Wingdings" pitchFamily="2" charset="2"/>
              </a:rPr>
              <a:t> Checking when </a:t>
            </a:r>
            <a:r>
              <a:rPr lang="en-IN" dirty="0"/>
              <a:t>congestion begins</a:t>
            </a:r>
          </a:p>
          <a:p>
            <a:r>
              <a:rPr lang="en-IN" dirty="0"/>
              <a:t>2. Back off </a:t>
            </a:r>
            <a:r>
              <a:rPr lang="en-IN" dirty="0">
                <a:sym typeface="Wingdings" pitchFamily="2" charset="2"/>
              </a:rPr>
              <a:t> Decrease Transmission rate </a:t>
            </a:r>
          </a:p>
          <a:p>
            <a:r>
              <a:rPr lang="en-IN" dirty="0">
                <a:sym typeface="Wingdings" pitchFamily="2" charset="2"/>
              </a:rPr>
              <a:t>Repeat steps 1 and 2</a:t>
            </a:r>
          </a:p>
          <a:p>
            <a:r>
              <a:rPr lang="en-IN" dirty="0">
                <a:sym typeface="Wingdings" pitchFamily="2" charset="2"/>
              </a:rPr>
              <a:t>Collectively </a:t>
            </a:r>
          </a:p>
          <a:p>
            <a:pPr marL="285750" indent="-285750">
              <a:buFont typeface="Wingdings" pitchFamily="2" charset="2"/>
              <a:buChar char="Ø"/>
            </a:pPr>
            <a:r>
              <a:rPr lang="en-IN" dirty="0">
                <a:sym typeface="Wingdings" pitchFamily="2" charset="2"/>
              </a:rPr>
              <a:t>SLOW START</a:t>
            </a:r>
          </a:p>
          <a:p>
            <a:pPr marL="285750" indent="-285750">
              <a:buFont typeface="Wingdings" pitchFamily="2" charset="2"/>
              <a:buChar char="Ø"/>
            </a:pPr>
            <a:r>
              <a:rPr lang="en-IN" dirty="0">
                <a:sym typeface="Wingdings" pitchFamily="2" charset="2"/>
              </a:rPr>
              <a:t>CONGESTION AVOIDANCE</a:t>
            </a:r>
          </a:p>
          <a:p>
            <a:pPr marL="285750" indent="-285750">
              <a:buFont typeface="Wingdings" pitchFamily="2" charset="2"/>
              <a:buChar char="Ø"/>
            </a:pPr>
            <a:r>
              <a:rPr lang="en-IN" dirty="0">
                <a:sym typeface="Wingdings" pitchFamily="2" charset="2"/>
              </a:rPr>
              <a:t>FAST RECOVERY</a:t>
            </a:r>
          </a:p>
        </p:txBody>
      </p:sp>
    </p:spTree>
    <p:extLst>
      <p:ext uri="{BB962C8B-B14F-4D97-AF65-F5344CB8AC3E}">
        <p14:creationId xmlns:p14="http://schemas.microsoft.com/office/powerpoint/2010/main" val="402545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59443"/>
            <a:ext cx="11393310" cy="894622"/>
          </a:xfrm>
        </p:spPr>
        <p:txBody>
          <a:bodyPr>
            <a:normAutofit/>
          </a:bodyPr>
          <a:lstStyle/>
          <a:p>
            <a:r>
              <a:rPr lang="en-US" sz="4800" dirty="0"/>
              <a:t>Q1: TCP congestion control: details</a:t>
            </a:r>
            <a:endParaRPr lang="en-US" sz="4400" b="0" dirty="0"/>
          </a:p>
        </p:txBody>
      </p:sp>
      <p:grpSp>
        <p:nvGrpSpPr>
          <p:cNvPr id="6" name="Group 5">
            <a:extLst>
              <a:ext uri="{FF2B5EF4-FFF2-40B4-BE49-F238E27FC236}">
                <a16:creationId xmlns:a16="http://schemas.microsoft.com/office/drawing/2014/main" id="{E52FB642-7743-D04C-959D-0819117703FA}"/>
              </a:ext>
            </a:extLst>
          </p:cNvPr>
          <p:cNvGrpSpPr/>
          <p:nvPr/>
        </p:nvGrpSpPr>
        <p:grpSpPr>
          <a:xfrm>
            <a:off x="1116489" y="4838128"/>
            <a:ext cx="10034111" cy="1695450"/>
            <a:chOff x="1116489" y="4838128"/>
            <a:chExt cx="10034111" cy="1695450"/>
          </a:xfrm>
        </p:grpSpPr>
        <p:sp>
          <p:nvSpPr>
            <p:cNvPr id="17" name="Rectangle 16">
              <a:extLst>
                <a:ext uri="{FF2B5EF4-FFF2-40B4-BE49-F238E27FC236}">
                  <a16:creationId xmlns:a16="http://schemas.microsoft.com/office/drawing/2014/main" id="{0C3AD1E1-01ED-504A-8B9E-72DE11AF70D1}"/>
                </a:ext>
              </a:extLst>
            </p:cNvPr>
            <p:cNvSpPr/>
            <p:nvPr/>
          </p:nvSpPr>
          <p:spPr>
            <a:xfrm>
              <a:off x="5989208" y="4895568"/>
              <a:ext cx="5161392" cy="3651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2" name="Rectangle 3">
              <a:extLst>
                <a:ext uri="{FF2B5EF4-FFF2-40B4-BE49-F238E27FC236}">
                  <a16:creationId xmlns:a16="http://schemas.microsoft.com/office/drawing/2014/main" id="{A0DE5D89-38AB-C14E-891D-428C6A0ADF69}"/>
                </a:ext>
              </a:extLst>
            </p:cNvPr>
            <p:cNvSpPr txBox="1">
              <a:spLocks noChangeArrowheads="1"/>
            </p:cNvSpPr>
            <p:nvPr/>
          </p:nvSpPr>
          <p:spPr bwMode="auto">
            <a:xfrm>
              <a:off x="1116489" y="4838128"/>
              <a:ext cx="9628822" cy="1695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sender limits transmission:</a:t>
              </a:r>
            </a:p>
            <a:p>
              <a:pPr marL="284163" marR="0" lvl="0" indent="-284163" algn="l" defTabSz="914400" rtl="0" eaLnBrk="0" fontAlgn="base" latinLnBrk="0" hangingPunct="0">
                <a:lnSpc>
                  <a:spcPct val="90000"/>
                </a:lnSpc>
                <a:spcBef>
                  <a:spcPct val="20000"/>
                </a:spcBef>
                <a:spcAft>
                  <a:spcPct val="0"/>
                </a:spcAft>
                <a:buClr>
                  <a:srgbClr val="000099"/>
                </a:buClr>
                <a:buSzPct val="100000"/>
                <a:buFont typeface="Wingdings" charset="2"/>
                <a:buChar char="§"/>
                <a:tabLst/>
                <a:defRPr/>
              </a:pPr>
              <a:r>
                <a:rPr kumimoji="0" lang="en-US" sz="28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cwnd </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is dynamically adjusted in response to observed network congestion (implementing TCP congestion control)</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endParaRPr kumimoji="0" lang="en-US" sz="2800" b="0" i="0" u="none" strike="noStrike" kern="0" cap="none" spc="0" normalizeH="0" baseline="0" noProof="0" dirty="0">
                <a:ln>
                  <a:noFill/>
                </a:ln>
                <a:solidFill>
                  <a:srgbClr val="000000"/>
                </a:solidFill>
                <a:effectLst/>
                <a:uLnTx/>
                <a:uFillTx/>
                <a:latin typeface="Gill Sans MT"/>
                <a:ea typeface="ＭＳ Ｐゴシック" charset="0"/>
                <a:cs typeface="+mn-cs"/>
              </a:endParaRPr>
            </a:p>
          </p:txBody>
        </p:sp>
        <p:grpSp>
          <p:nvGrpSpPr>
            <p:cNvPr id="16" name="Group 15">
              <a:extLst>
                <a:ext uri="{FF2B5EF4-FFF2-40B4-BE49-F238E27FC236}">
                  <a16:creationId xmlns:a16="http://schemas.microsoft.com/office/drawing/2014/main" id="{33A34342-F85F-A641-8C18-F113159FACD0}"/>
                </a:ext>
              </a:extLst>
            </p:cNvPr>
            <p:cNvGrpSpPr/>
            <p:nvPr/>
          </p:nvGrpSpPr>
          <p:grpSpPr>
            <a:xfrm>
              <a:off x="6040008" y="4887177"/>
              <a:ext cx="4888123" cy="397144"/>
              <a:chOff x="5614194" y="4809655"/>
              <a:chExt cx="4888123" cy="397144"/>
            </a:xfrm>
          </p:grpSpPr>
          <p:sp>
            <p:nvSpPr>
              <p:cNvPr id="181" name="Text Box 71">
                <a:extLst>
                  <a:ext uri="{FF2B5EF4-FFF2-40B4-BE49-F238E27FC236}">
                    <a16:creationId xmlns:a16="http://schemas.microsoft.com/office/drawing/2014/main" id="{77C08B5B-9AE1-D240-830E-26ECD6D1665B}"/>
                  </a:ext>
                </a:extLst>
              </p:cNvPr>
              <p:cNvSpPr txBox="1">
                <a:spLocks noChangeArrowheads="1"/>
              </p:cNvSpPr>
              <p:nvPr/>
            </p:nvSpPr>
            <p:spPr bwMode="auto">
              <a:xfrm>
                <a:off x="5614194" y="4868630"/>
                <a:ext cx="4395788" cy="33816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25425" indent="-22542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25425" marR="0" lvl="0" indent="-225425" algn="l" defTabSz="914400" rtl="0" eaLnBrk="0" fontAlgn="base" latinLnBrk="0" hangingPunct="0">
                  <a:lnSpc>
                    <a:spcPct val="85000"/>
                  </a:lnSpc>
                  <a:spcBef>
                    <a:spcPct val="20000"/>
                  </a:spcBef>
                  <a:spcAft>
                    <a:spcPct val="0"/>
                  </a:spcAft>
                  <a:buClr>
                    <a:srgbClr val="000099"/>
                  </a:buClr>
                  <a:buSzPct val="65000"/>
                  <a:buFont typeface="Wingdings" charset="0"/>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LastByteSent- LastByteAcked</a:t>
                </a:r>
                <a:endParaRPr kumimoji="0" lang="en-US" sz="1800" b="0" i="0"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grpSp>
            <p:nvGrpSpPr>
              <p:cNvPr id="15" name="Group 14">
                <a:extLst>
                  <a:ext uri="{FF2B5EF4-FFF2-40B4-BE49-F238E27FC236}">
                    <a16:creationId xmlns:a16="http://schemas.microsoft.com/office/drawing/2014/main" id="{FED586FE-6CBA-AA48-85C7-A1A11BDABF7D}"/>
                  </a:ext>
                </a:extLst>
              </p:cNvPr>
              <p:cNvGrpSpPr/>
              <p:nvPr/>
            </p:nvGrpSpPr>
            <p:grpSpPr>
              <a:xfrm>
                <a:off x="9416467" y="4809655"/>
                <a:ext cx="1085850" cy="366713"/>
                <a:chOff x="7709188" y="4768381"/>
                <a:chExt cx="1085850" cy="366713"/>
              </a:xfrm>
            </p:grpSpPr>
            <p:grpSp>
              <p:nvGrpSpPr>
                <p:cNvPr id="182" name="Group 74">
                  <a:extLst>
                    <a:ext uri="{FF2B5EF4-FFF2-40B4-BE49-F238E27FC236}">
                      <a16:creationId xmlns:a16="http://schemas.microsoft.com/office/drawing/2014/main" id="{059D1AF2-00E8-024F-B782-BBF97100FEB7}"/>
                    </a:ext>
                  </a:extLst>
                </p:cNvPr>
                <p:cNvGrpSpPr>
                  <a:grpSpLocks/>
                </p:cNvGrpSpPr>
                <p:nvPr/>
              </p:nvGrpSpPr>
              <p:grpSpPr bwMode="auto">
                <a:xfrm>
                  <a:off x="7709188" y="4789019"/>
                  <a:ext cx="350837" cy="336550"/>
                  <a:chOff x="2059" y="2097"/>
                  <a:chExt cx="221" cy="212"/>
                </a:xfrm>
              </p:grpSpPr>
              <p:sp>
                <p:nvSpPr>
                  <p:cNvPr id="183" name="Text Box 72">
                    <a:extLst>
                      <a:ext uri="{FF2B5EF4-FFF2-40B4-BE49-F238E27FC236}">
                        <a16:creationId xmlns:a16="http://schemas.microsoft.com/office/drawing/2014/main" id="{50EA1644-3183-7A41-97FA-03AEA0F526B2}"/>
                      </a:ext>
                    </a:extLst>
                  </p:cNvPr>
                  <p:cNvSpPr txBox="1">
                    <a:spLocks noChangeArrowheads="1"/>
                  </p:cNvSpPr>
                  <p:nvPr/>
                </p:nvSpPr>
                <p:spPr bwMode="auto">
                  <a:xfrm>
                    <a:off x="2059" y="2097"/>
                    <a:ext cx="221" cy="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Tahoma" charset="0"/>
                        <a:ea typeface="ＭＳ Ｐゴシック" charset="0"/>
                        <a:cs typeface="+mn-cs"/>
                      </a:rPr>
                      <a:t>&lt;</a:t>
                    </a:r>
                  </a:p>
                </p:txBody>
              </p:sp>
              <p:sp>
                <p:nvSpPr>
                  <p:cNvPr id="184" name="Line 73">
                    <a:extLst>
                      <a:ext uri="{FF2B5EF4-FFF2-40B4-BE49-F238E27FC236}">
                        <a16:creationId xmlns:a16="http://schemas.microsoft.com/office/drawing/2014/main" id="{B966005D-C4C4-C547-86E3-65FDA3A33E10}"/>
                      </a:ext>
                    </a:extLst>
                  </p:cNvPr>
                  <p:cNvSpPr>
                    <a:spLocks noChangeShapeType="1"/>
                  </p:cNvSpPr>
                  <p:nvPr/>
                </p:nvSpPr>
                <p:spPr bwMode="auto">
                  <a:xfrm>
                    <a:off x="2133" y="2269"/>
                    <a:ext cx="85"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5" name="Text Box 75">
                  <a:extLst>
                    <a:ext uri="{FF2B5EF4-FFF2-40B4-BE49-F238E27FC236}">
                      <a16:creationId xmlns:a16="http://schemas.microsoft.com/office/drawing/2014/main" id="{4F80A37A-B578-A447-95BD-D5D7AC31E664}"/>
                    </a:ext>
                  </a:extLst>
                </p:cNvPr>
                <p:cNvSpPr txBox="1">
                  <a:spLocks noChangeArrowheads="1"/>
                </p:cNvSpPr>
                <p:nvPr/>
              </p:nvSpPr>
              <p:spPr bwMode="auto">
                <a:xfrm>
                  <a:off x="8064788" y="4768381"/>
                  <a:ext cx="73025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cwnd</a:t>
                  </a:r>
                </a:p>
              </p:txBody>
            </p:sp>
          </p:grpSp>
        </p:grpSp>
      </p:grpSp>
      <p:sp>
        <p:nvSpPr>
          <p:cNvPr id="165" name="Rectangle 47">
            <a:extLst>
              <a:ext uri="{FF2B5EF4-FFF2-40B4-BE49-F238E27FC236}">
                <a16:creationId xmlns:a16="http://schemas.microsoft.com/office/drawing/2014/main" id="{DE6B816E-28FD-F042-BAC6-6005321F7326}"/>
              </a:ext>
            </a:extLst>
          </p:cNvPr>
          <p:cNvSpPr>
            <a:spLocks noChangeArrowheads="1"/>
          </p:cNvSpPr>
          <p:nvPr/>
        </p:nvSpPr>
        <p:spPr bwMode="auto">
          <a:xfrm>
            <a:off x="1314221" y="2927773"/>
            <a:ext cx="4503412" cy="107541"/>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1" name="Group 10">
            <a:extLst>
              <a:ext uri="{FF2B5EF4-FFF2-40B4-BE49-F238E27FC236}">
                <a16:creationId xmlns:a16="http://schemas.microsoft.com/office/drawing/2014/main" id="{C2EB66EB-894C-A043-A360-C60A865F68A4}"/>
              </a:ext>
            </a:extLst>
          </p:cNvPr>
          <p:cNvGrpSpPr/>
          <p:nvPr/>
        </p:nvGrpSpPr>
        <p:grpSpPr>
          <a:xfrm>
            <a:off x="1289051" y="2849038"/>
            <a:ext cx="1267801" cy="861704"/>
            <a:chOff x="1289051" y="2849038"/>
            <a:chExt cx="1267801" cy="861704"/>
          </a:xfrm>
        </p:grpSpPr>
        <p:sp>
          <p:nvSpPr>
            <p:cNvPr id="168" name="Freeform 53">
              <a:extLst>
                <a:ext uri="{FF2B5EF4-FFF2-40B4-BE49-F238E27FC236}">
                  <a16:creationId xmlns:a16="http://schemas.microsoft.com/office/drawing/2014/main" id="{E3EEFD92-7050-9249-80C1-240C22D52535}"/>
                </a:ext>
              </a:extLst>
            </p:cNvPr>
            <p:cNvSpPr>
              <a:spLocks/>
            </p:cNvSpPr>
            <p:nvPr/>
          </p:nvSpPr>
          <p:spPr bwMode="auto">
            <a:xfrm>
              <a:off x="2369283" y="2849038"/>
              <a:ext cx="187569" cy="464732"/>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Lst>
              <a:ahLst/>
              <a:cxnLst>
                <a:cxn ang="T6">
                  <a:pos x="T0" y="T1"/>
                </a:cxn>
                <a:cxn ang="T7">
                  <a:pos x="T2" y="T3"/>
                </a:cxn>
                <a:cxn ang="T8">
                  <a:pos x="T4" y="T5"/>
                </a:cxn>
              </a:cxnLst>
              <a:rect l="0" t="0" r="r" b="b"/>
              <a:pathLst>
                <a:path w="91" h="242">
                  <a:moveTo>
                    <a:pt x="91" y="0"/>
                  </a:moveTo>
                  <a:lnTo>
                    <a:pt x="88" y="242"/>
                  </a:lnTo>
                  <a:lnTo>
                    <a:pt x="0" y="242"/>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Text Box 57">
              <a:extLst>
                <a:ext uri="{FF2B5EF4-FFF2-40B4-BE49-F238E27FC236}">
                  <a16:creationId xmlns:a16="http://schemas.microsoft.com/office/drawing/2014/main" id="{4DCFBA68-55DB-2E45-83BC-59D80627D5D3}"/>
                </a:ext>
              </a:extLst>
            </p:cNvPr>
            <p:cNvSpPr txBox="1">
              <a:spLocks noChangeArrowheads="1"/>
            </p:cNvSpPr>
            <p:nvPr/>
          </p:nvSpPr>
          <p:spPr bwMode="auto">
            <a:xfrm>
              <a:off x="1289051" y="3119811"/>
              <a:ext cx="986168" cy="5909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last byte</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ACKed</a:t>
              </a:r>
            </a:p>
          </p:txBody>
        </p:sp>
      </p:grpSp>
      <p:grpSp>
        <p:nvGrpSpPr>
          <p:cNvPr id="13" name="Group 12">
            <a:extLst>
              <a:ext uri="{FF2B5EF4-FFF2-40B4-BE49-F238E27FC236}">
                <a16:creationId xmlns:a16="http://schemas.microsoft.com/office/drawing/2014/main" id="{A8C3752B-025F-E94F-8654-13F54E9C670F}"/>
              </a:ext>
            </a:extLst>
          </p:cNvPr>
          <p:cNvGrpSpPr/>
          <p:nvPr/>
        </p:nvGrpSpPr>
        <p:grpSpPr>
          <a:xfrm>
            <a:off x="3824084" y="2948877"/>
            <a:ext cx="1759290" cy="1283237"/>
            <a:chOff x="3824084" y="2948877"/>
            <a:chExt cx="1759290" cy="1283237"/>
          </a:xfrm>
        </p:grpSpPr>
        <p:sp>
          <p:nvSpPr>
            <p:cNvPr id="172" name="Text Box 59">
              <a:extLst>
                <a:ext uri="{FF2B5EF4-FFF2-40B4-BE49-F238E27FC236}">
                  <a16:creationId xmlns:a16="http://schemas.microsoft.com/office/drawing/2014/main" id="{44BFDC0C-7E1F-194B-B1D5-936A1056896B}"/>
                </a:ext>
              </a:extLst>
            </p:cNvPr>
            <p:cNvSpPr txBox="1">
              <a:spLocks noChangeArrowheads="1"/>
            </p:cNvSpPr>
            <p:nvPr/>
          </p:nvSpPr>
          <p:spPr bwMode="auto">
            <a:xfrm>
              <a:off x="3979525" y="3890482"/>
              <a:ext cx="1603849" cy="3416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last byte sent</a:t>
              </a:r>
            </a:p>
          </p:txBody>
        </p:sp>
        <p:sp>
          <p:nvSpPr>
            <p:cNvPr id="180" name="Freeform 69">
              <a:extLst>
                <a:ext uri="{FF2B5EF4-FFF2-40B4-BE49-F238E27FC236}">
                  <a16:creationId xmlns:a16="http://schemas.microsoft.com/office/drawing/2014/main" id="{33A90F9A-C7CE-C44A-B81F-BFED1356069E}"/>
                </a:ext>
              </a:extLst>
            </p:cNvPr>
            <p:cNvSpPr>
              <a:spLocks/>
            </p:cNvSpPr>
            <p:nvPr/>
          </p:nvSpPr>
          <p:spPr bwMode="auto">
            <a:xfrm flipH="1">
              <a:off x="3824084" y="2948877"/>
              <a:ext cx="190240" cy="1102896"/>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grpSp>
        <p:nvGrpSpPr>
          <p:cNvPr id="10" name="Group 9">
            <a:extLst>
              <a:ext uri="{FF2B5EF4-FFF2-40B4-BE49-F238E27FC236}">
                <a16:creationId xmlns:a16="http://schemas.microsoft.com/office/drawing/2014/main" id="{42CF5997-36CB-D147-BC28-3AEB4C853BEA}"/>
              </a:ext>
            </a:extLst>
          </p:cNvPr>
          <p:cNvGrpSpPr/>
          <p:nvPr/>
        </p:nvGrpSpPr>
        <p:grpSpPr>
          <a:xfrm>
            <a:off x="1289051" y="1292332"/>
            <a:ext cx="4641849" cy="1497173"/>
            <a:chOff x="1289051" y="1292332"/>
            <a:chExt cx="4641849" cy="1497173"/>
          </a:xfrm>
        </p:grpSpPr>
        <p:sp>
          <p:nvSpPr>
            <p:cNvPr id="104" name="Rectangle 12">
              <a:extLst>
                <a:ext uri="{FF2B5EF4-FFF2-40B4-BE49-F238E27FC236}">
                  <a16:creationId xmlns:a16="http://schemas.microsoft.com/office/drawing/2014/main" id="{04993FEE-920A-A241-8D22-76E5FD7EE6A9}"/>
                </a:ext>
              </a:extLst>
            </p:cNvPr>
            <p:cNvSpPr>
              <a:spLocks noChangeArrowheads="1"/>
            </p:cNvSpPr>
            <p:nvPr/>
          </p:nvSpPr>
          <p:spPr bwMode="auto">
            <a:xfrm>
              <a:off x="1370854" y="2034797"/>
              <a:ext cx="86000" cy="752789"/>
            </a:xfrm>
            <a:prstGeom prst="rect">
              <a:avLst/>
            </a:prstGeom>
            <a:gradFill rotWithShape="1">
              <a:gsLst>
                <a:gs pos="0">
                  <a:srgbClr val="FFFFFF"/>
                </a:gs>
                <a:gs pos="100000">
                  <a:srgbClr val="33CC33"/>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5" name="Rectangle 13">
              <a:extLst>
                <a:ext uri="{FF2B5EF4-FFF2-40B4-BE49-F238E27FC236}">
                  <a16:creationId xmlns:a16="http://schemas.microsoft.com/office/drawing/2014/main" id="{18E83275-ACB2-EC4C-B6DC-CBDA17C3A868}"/>
                </a:ext>
              </a:extLst>
            </p:cNvPr>
            <p:cNvSpPr>
              <a:spLocks noChangeArrowheads="1"/>
            </p:cNvSpPr>
            <p:nvPr/>
          </p:nvSpPr>
          <p:spPr bwMode="auto">
            <a:xfrm>
              <a:off x="1498805" y="2036716"/>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6" name="Rectangle 14">
              <a:extLst>
                <a:ext uri="{FF2B5EF4-FFF2-40B4-BE49-F238E27FC236}">
                  <a16:creationId xmlns:a16="http://schemas.microsoft.com/office/drawing/2014/main" id="{DAC860B7-5379-0C49-8B6D-4F42EEEC890F}"/>
                </a:ext>
              </a:extLst>
            </p:cNvPr>
            <p:cNvSpPr>
              <a:spLocks noChangeArrowheads="1"/>
            </p:cNvSpPr>
            <p:nvPr/>
          </p:nvSpPr>
          <p:spPr bwMode="auto">
            <a:xfrm>
              <a:off x="1628852"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7" name="Rectangle 15">
              <a:extLst>
                <a:ext uri="{FF2B5EF4-FFF2-40B4-BE49-F238E27FC236}">
                  <a16:creationId xmlns:a16="http://schemas.microsoft.com/office/drawing/2014/main" id="{850E3686-28F1-ED45-BCA0-8626CD94C24A}"/>
                </a:ext>
              </a:extLst>
            </p:cNvPr>
            <p:cNvSpPr>
              <a:spLocks noChangeArrowheads="1"/>
            </p:cNvSpPr>
            <p:nvPr/>
          </p:nvSpPr>
          <p:spPr bwMode="auto">
            <a:xfrm>
              <a:off x="1756801" y="2034797"/>
              <a:ext cx="86000"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8" name="Rectangle 16">
              <a:extLst>
                <a:ext uri="{FF2B5EF4-FFF2-40B4-BE49-F238E27FC236}">
                  <a16:creationId xmlns:a16="http://schemas.microsoft.com/office/drawing/2014/main" id="{2B67993F-458E-AA4F-8BDA-DD554E74E999}"/>
                </a:ext>
              </a:extLst>
            </p:cNvPr>
            <p:cNvSpPr>
              <a:spLocks noChangeArrowheads="1"/>
            </p:cNvSpPr>
            <p:nvPr/>
          </p:nvSpPr>
          <p:spPr bwMode="auto">
            <a:xfrm>
              <a:off x="1882653" y="2034797"/>
              <a:ext cx="86000"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09" name="Rectangle 17">
              <a:extLst>
                <a:ext uri="{FF2B5EF4-FFF2-40B4-BE49-F238E27FC236}">
                  <a16:creationId xmlns:a16="http://schemas.microsoft.com/office/drawing/2014/main" id="{0FAD288D-252F-5745-BF73-6A260AA674C3}"/>
                </a:ext>
              </a:extLst>
            </p:cNvPr>
            <p:cNvSpPr>
              <a:spLocks noChangeArrowheads="1"/>
            </p:cNvSpPr>
            <p:nvPr/>
          </p:nvSpPr>
          <p:spPr bwMode="auto">
            <a:xfrm>
              <a:off x="2010604"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0" name="Rectangle 18">
              <a:extLst>
                <a:ext uri="{FF2B5EF4-FFF2-40B4-BE49-F238E27FC236}">
                  <a16:creationId xmlns:a16="http://schemas.microsoft.com/office/drawing/2014/main" id="{F50804B5-A9B0-B741-A2CB-DC3CFBF3864F}"/>
                </a:ext>
              </a:extLst>
            </p:cNvPr>
            <p:cNvSpPr>
              <a:spLocks noChangeArrowheads="1"/>
            </p:cNvSpPr>
            <p:nvPr/>
          </p:nvSpPr>
          <p:spPr bwMode="auto">
            <a:xfrm>
              <a:off x="2132261"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1" name="Rectangle 19">
              <a:extLst>
                <a:ext uri="{FF2B5EF4-FFF2-40B4-BE49-F238E27FC236}">
                  <a16:creationId xmlns:a16="http://schemas.microsoft.com/office/drawing/2014/main" id="{E9319E92-5123-8943-BEB7-081DA31ABF1D}"/>
                </a:ext>
              </a:extLst>
            </p:cNvPr>
            <p:cNvSpPr>
              <a:spLocks noChangeArrowheads="1"/>
            </p:cNvSpPr>
            <p:nvPr/>
          </p:nvSpPr>
          <p:spPr bwMode="auto">
            <a:xfrm>
              <a:off x="2258113"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2" name="Rectangle 20">
              <a:extLst>
                <a:ext uri="{FF2B5EF4-FFF2-40B4-BE49-F238E27FC236}">
                  <a16:creationId xmlns:a16="http://schemas.microsoft.com/office/drawing/2014/main" id="{C56329EF-B8DA-E848-8471-F7AB6A81A0AD}"/>
                </a:ext>
              </a:extLst>
            </p:cNvPr>
            <p:cNvSpPr>
              <a:spLocks noChangeArrowheads="1"/>
            </p:cNvSpPr>
            <p:nvPr/>
          </p:nvSpPr>
          <p:spPr bwMode="auto">
            <a:xfrm>
              <a:off x="2383965" y="2034797"/>
              <a:ext cx="85998"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3" name="Rectangle 21">
              <a:extLst>
                <a:ext uri="{FF2B5EF4-FFF2-40B4-BE49-F238E27FC236}">
                  <a16:creationId xmlns:a16="http://schemas.microsoft.com/office/drawing/2014/main" id="{B6EA82BD-4235-744C-8CC2-3D0E84463334}"/>
                </a:ext>
              </a:extLst>
            </p:cNvPr>
            <p:cNvSpPr>
              <a:spLocks noChangeArrowheads="1"/>
            </p:cNvSpPr>
            <p:nvPr/>
          </p:nvSpPr>
          <p:spPr bwMode="auto">
            <a:xfrm>
              <a:off x="2524500" y="2034797"/>
              <a:ext cx="86000" cy="752789"/>
            </a:xfrm>
            <a:prstGeom prst="rect">
              <a:avLst/>
            </a:prstGeom>
            <a:solidFill>
              <a:srgbClr val="33CC33"/>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4" name="Rectangle 22">
              <a:extLst>
                <a:ext uri="{FF2B5EF4-FFF2-40B4-BE49-F238E27FC236}">
                  <a16:creationId xmlns:a16="http://schemas.microsoft.com/office/drawing/2014/main" id="{3AB484C5-F544-AD4F-AC56-F33B38DBB98F}"/>
                </a:ext>
              </a:extLst>
            </p:cNvPr>
            <p:cNvSpPr>
              <a:spLocks noChangeArrowheads="1"/>
            </p:cNvSpPr>
            <p:nvPr/>
          </p:nvSpPr>
          <p:spPr bwMode="auto">
            <a:xfrm>
              <a:off x="2654547" y="2036716"/>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5" name="Rectangle 23">
              <a:extLst>
                <a:ext uri="{FF2B5EF4-FFF2-40B4-BE49-F238E27FC236}">
                  <a16:creationId xmlns:a16="http://schemas.microsoft.com/office/drawing/2014/main" id="{1DD6947E-4A84-9D4E-B2FC-3A5E7F6D1E34}"/>
                </a:ext>
              </a:extLst>
            </p:cNvPr>
            <p:cNvSpPr>
              <a:spLocks noChangeArrowheads="1"/>
            </p:cNvSpPr>
            <p:nvPr/>
          </p:nvSpPr>
          <p:spPr bwMode="auto">
            <a:xfrm>
              <a:off x="2782498"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6" name="Rectangle 24">
              <a:extLst>
                <a:ext uri="{FF2B5EF4-FFF2-40B4-BE49-F238E27FC236}">
                  <a16:creationId xmlns:a16="http://schemas.microsoft.com/office/drawing/2014/main" id="{2A55A81B-B032-0840-A48D-1D5352A231AA}"/>
                </a:ext>
              </a:extLst>
            </p:cNvPr>
            <p:cNvSpPr>
              <a:spLocks noChangeArrowheads="1"/>
            </p:cNvSpPr>
            <p:nvPr/>
          </p:nvSpPr>
          <p:spPr bwMode="auto">
            <a:xfrm>
              <a:off x="2910447"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7" name="Rectangle 25">
              <a:extLst>
                <a:ext uri="{FF2B5EF4-FFF2-40B4-BE49-F238E27FC236}">
                  <a16:creationId xmlns:a16="http://schemas.microsoft.com/office/drawing/2014/main" id="{EBC4122E-0CCF-1548-9A66-7DCD08E748CD}"/>
                </a:ext>
              </a:extLst>
            </p:cNvPr>
            <p:cNvSpPr>
              <a:spLocks noChangeArrowheads="1"/>
            </p:cNvSpPr>
            <p:nvPr/>
          </p:nvSpPr>
          <p:spPr bwMode="auto">
            <a:xfrm>
              <a:off x="3038397"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8" name="Rectangle 26">
              <a:extLst>
                <a:ext uri="{FF2B5EF4-FFF2-40B4-BE49-F238E27FC236}">
                  <a16:creationId xmlns:a16="http://schemas.microsoft.com/office/drawing/2014/main" id="{DB7235A0-624C-DB45-8BCC-3CE6B91647F3}"/>
                </a:ext>
              </a:extLst>
            </p:cNvPr>
            <p:cNvSpPr>
              <a:spLocks noChangeArrowheads="1"/>
            </p:cNvSpPr>
            <p:nvPr/>
          </p:nvSpPr>
          <p:spPr bwMode="auto">
            <a:xfrm>
              <a:off x="3164249"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19" name="Rectangle 27">
              <a:extLst>
                <a:ext uri="{FF2B5EF4-FFF2-40B4-BE49-F238E27FC236}">
                  <a16:creationId xmlns:a16="http://schemas.microsoft.com/office/drawing/2014/main" id="{345917A5-9719-BB4F-9C0B-ACD89A8BB0F4}"/>
                </a:ext>
              </a:extLst>
            </p:cNvPr>
            <p:cNvSpPr>
              <a:spLocks noChangeArrowheads="1"/>
            </p:cNvSpPr>
            <p:nvPr/>
          </p:nvSpPr>
          <p:spPr bwMode="auto">
            <a:xfrm>
              <a:off x="3285907"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0" name="Rectangle 28">
              <a:extLst>
                <a:ext uri="{FF2B5EF4-FFF2-40B4-BE49-F238E27FC236}">
                  <a16:creationId xmlns:a16="http://schemas.microsoft.com/office/drawing/2014/main" id="{4C1474B9-991E-6847-8B01-DE0C95138525}"/>
                </a:ext>
              </a:extLst>
            </p:cNvPr>
            <p:cNvSpPr>
              <a:spLocks noChangeArrowheads="1"/>
            </p:cNvSpPr>
            <p:nvPr/>
          </p:nvSpPr>
          <p:spPr bwMode="auto">
            <a:xfrm>
              <a:off x="3411759" y="2034797"/>
              <a:ext cx="85998"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1" name="Rectangle 29">
              <a:extLst>
                <a:ext uri="{FF2B5EF4-FFF2-40B4-BE49-F238E27FC236}">
                  <a16:creationId xmlns:a16="http://schemas.microsoft.com/office/drawing/2014/main" id="{1FEE069D-BAD8-8A43-9829-68BF4DBC5019}"/>
                </a:ext>
              </a:extLst>
            </p:cNvPr>
            <p:cNvSpPr>
              <a:spLocks noChangeArrowheads="1"/>
            </p:cNvSpPr>
            <p:nvPr/>
          </p:nvSpPr>
          <p:spPr bwMode="auto">
            <a:xfrm>
              <a:off x="3539708"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2" name="Rectangle 30">
              <a:extLst>
                <a:ext uri="{FF2B5EF4-FFF2-40B4-BE49-F238E27FC236}">
                  <a16:creationId xmlns:a16="http://schemas.microsoft.com/office/drawing/2014/main" id="{F6A54E32-B859-A84C-B9EB-275C556CD8B7}"/>
                </a:ext>
              </a:extLst>
            </p:cNvPr>
            <p:cNvSpPr>
              <a:spLocks noChangeArrowheads="1"/>
            </p:cNvSpPr>
            <p:nvPr/>
          </p:nvSpPr>
          <p:spPr bwMode="auto">
            <a:xfrm>
              <a:off x="3657170"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Rectangle 31">
              <a:extLst>
                <a:ext uri="{FF2B5EF4-FFF2-40B4-BE49-F238E27FC236}">
                  <a16:creationId xmlns:a16="http://schemas.microsoft.com/office/drawing/2014/main" id="{F693AF70-5D12-874C-A1FE-39895AB51D68}"/>
                </a:ext>
              </a:extLst>
            </p:cNvPr>
            <p:cNvSpPr>
              <a:spLocks noChangeArrowheads="1"/>
            </p:cNvSpPr>
            <p:nvPr/>
          </p:nvSpPr>
          <p:spPr bwMode="auto">
            <a:xfrm>
              <a:off x="3783022" y="2034797"/>
              <a:ext cx="86000" cy="752789"/>
            </a:xfrm>
            <a:prstGeom prst="rect">
              <a:avLst/>
            </a:prstGeom>
            <a:solidFill>
              <a:srgbClr val="FFFF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4" name="Rectangle 32">
              <a:extLst>
                <a:ext uri="{FF2B5EF4-FFF2-40B4-BE49-F238E27FC236}">
                  <a16:creationId xmlns:a16="http://schemas.microsoft.com/office/drawing/2014/main" id="{8AF2AC6B-DBDA-9B44-8499-2FA57D21931E}"/>
                </a:ext>
              </a:extLst>
            </p:cNvPr>
            <p:cNvSpPr>
              <a:spLocks noChangeArrowheads="1"/>
            </p:cNvSpPr>
            <p:nvPr/>
          </p:nvSpPr>
          <p:spPr bwMode="auto">
            <a:xfrm>
              <a:off x="3906778" y="2032876"/>
              <a:ext cx="85998"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5" name="Rectangle 33">
              <a:extLst>
                <a:ext uri="{FF2B5EF4-FFF2-40B4-BE49-F238E27FC236}">
                  <a16:creationId xmlns:a16="http://schemas.microsoft.com/office/drawing/2014/main" id="{3C5EC589-0EEE-AA43-956D-7E1A6B8E7BEA}"/>
                </a:ext>
              </a:extLst>
            </p:cNvPr>
            <p:cNvSpPr>
              <a:spLocks noChangeArrowheads="1"/>
            </p:cNvSpPr>
            <p:nvPr/>
          </p:nvSpPr>
          <p:spPr bwMode="auto">
            <a:xfrm>
              <a:off x="4028435" y="2032876"/>
              <a:ext cx="85998"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Rectangle 34">
              <a:extLst>
                <a:ext uri="{FF2B5EF4-FFF2-40B4-BE49-F238E27FC236}">
                  <a16:creationId xmlns:a16="http://schemas.microsoft.com/office/drawing/2014/main" id="{00489FD8-0BA0-844E-AA41-BDE801D2E271}"/>
                </a:ext>
              </a:extLst>
            </p:cNvPr>
            <p:cNvSpPr>
              <a:spLocks noChangeArrowheads="1"/>
            </p:cNvSpPr>
            <p:nvPr/>
          </p:nvSpPr>
          <p:spPr bwMode="auto">
            <a:xfrm>
              <a:off x="4156384"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7" name="Rectangle 35">
              <a:extLst>
                <a:ext uri="{FF2B5EF4-FFF2-40B4-BE49-F238E27FC236}">
                  <a16:creationId xmlns:a16="http://schemas.microsoft.com/office/drawing/2014/main" id="{7CDE0EFB-7CC4-304D-AD89-8FC08C1FBD45}"/>
                </a:ext>
              </a:extLst>
            </p:cNvPr>
            <p:cNvSpPr>
              <a:spLocks noChangeArrowheads="1"/>
            </p:cNvSpPr>
            <p:nvPr/>
          </p:nvSpPr>
          <p:spPr bwMode="auto">
            <a:xfrm>
              <a:off x="4282236"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8" name="Rectangle 36">
              <a:extLst>
                <a:ext uri="{FF2B5EF4-FFF2-40B4-BE49-F238E27FC236}">
                  <a16:creationId xmlns:a16="http://schemas.microsoft.com/office/drawing/2014/main" id="{6EECC216-B56D-D043-93ED-F50164EF4E4A}"/>
                </a:ext>
              </a:extLst>
            </p:cNvPr>
            <p:cNvSpPr>
              <a:spLocks noChangeArrowheads="1"/>
            </p:cNvSpPr>
            <p:nvPr/>
          </p:nvSpPr>
          <p:spPr bwMode="auto">
            <a:xfrm>
              <a:off x="4399698"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29" name="Rectangle 37">
              <a:extLst>
                <a:ext uri="{FF2B5EF4-FFF2-40B4-BE49-F238E27FC236}">
                  <a16:creationId xmlns:a16="http://schemas.microsoft.com/office/drawing/2014/main" id="{2DDF4004-027D-3448-8C19-8E608E21464E}"/>
                </a:ext>
              </a:extLst>
            </p:cNvPr>
            <p:cNvSpPr>
              <a:spLocks noChangeArrowheads="1"/>
            </p:cNvSpPr>
            <p:nvPr/>
          </p:nvSpPr>
          <p:spPr bwMode="auto">
            <a:xfrm>
              <a:off x="4525550" y="2032876"/>
              <a:ext cx="86000" cy="752789"/>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0" name="Rectangle 38">
              <a:extLst>
                <a:ext uri="{FF2B5EF4-FFF2-40B4-BE49-F238E27FC236}">
                  <a16:creationId xmlns:a16="http://schemas.microsoft.com/office/drawing/2014/main" id="{66B062CA-DE3B-DE43-ABC0-B0129B267927}"/>
                </a:ext>
              </a:extLst>
            </p:cNvPr>
            <p:cNvSpPr>
              <a:spLocks noChangeArrowheads="1"/>
            </p:cNvSpPr>
            <p:nvPr/>
          </p:nvSpPr>
          <p:spPr bwMode="auto">
            <a:xfrm>
              <a:off x="4653501"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Rectangle 39">
              <a:extLst>
                <a:ext uri="{FF2B5EF4-FFF2-40B4-BE49-F238E27FC236}">
                  <a16:creationId xmlns:a16="http://schemas.microsoft.com/office/drawing/2014/main" id="{B8FF22AA-6251-9B4A-8B71-33B1C663B36C}"/>
                </a:ext>
              </a:extLst>
            </p:cNvPr>
            <p:cNvSpPr>
              <a:spLocks noChangeArrowheads="1"/>
            </p:cNvSpPr>
            <p:nvPr/>
          </p:nvSpPr>
          <p:spPr bwMode="auto">
            <a:xfrm>
              <a:off x="4781450" y="2036716"/>
              <a:ext cx="86000"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2" name="Rectangle 40">
              <a:extLst>
                <a:ext uri="{FF2B5EF4-FFF2-40B4-BE49-F238E27FC236}">
                  <a16:creationId xmlns:a16="http://schemas.microsoft.com/office/drawing/2014/main" id="{FAB9104E-A760-C644-B315-33CD7DEB1CB4}"/>
                </a:ext>
              </a:extLst>
            </p:cNvPr>
            <p:cNvSpPr>
              <a:spLocks noChangeArrowheads="1"/>
            </p:cNvSpPr>
            <p:nvPr/>
          </p:nvSpPr>
          <p:spPr bwMode="auto">
            <a:xfrm>
              <a:off x="4909400"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3" name="Rectangle 41">
              <a:extLst>
                <a:ext uri="{FF2B5EF4-FFF2-40B4-BE49-F238E27FC236}">
                  <a16:creationId xmlns:a16="http://schemas.microsoft.com/office/drawing/2014/main" id="{84289F99-D270-C140-AA7A-F6C4AFA078ED}"/>
                </a:ext>
              </a:extLst>
            </p:cNvPr>
            <p:cNvSpPr>
              <a:spLocks noChangeArrowheads="1"/>
            </p:cNvSpPr>
            <p:nvPr/>
          </p:nvSpPr>
          <p:spPr bwMode="auto">
            <a:xfrm>
              <a:off x="5039448"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4" name="Rectangle 42">
              <a:extLst>
                <a:ext uri="{FF2B5EF4-FFF2-40B4-BE49-F238E27FC236}">
                  <a16:creationId xmlns:a16="http://schemas.microsoft.com/office/drawing/2014/main" id="{CDFBFB7B-6E55-9045-8777-DB8B3B13C3C3}"/>
                </a:ext>
              </a:extLst>
            </p:cNvPr>
            <p:cNvSpPr>
              <a:spLocks noChangeArrowheads="1"/>
            </p:cNvSpPr>
            <p:nvPr/>
          </p:nvSpPr>
          <p:spPr bwMode="auto">
            <a:xfrm>
              <a:off x="5165300"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Rectangle 43">
              <a:extLst>
                <a:ext uri="{FF2B5EF4-FFF2-40B4-BE49-F238E27FC236}">
                  <a16:creationId xmlns:a16="http://schemas.microsoft.com/office/drawing/2014/main" id="{AD3CDD9F-C7EC-964D-A02B-C8B9C75CCDA9}"/>
                </a:ext>
              </a:extLst>
            </p:cNvPr>
            <p:cNvSpPr>
              <a:spLocks noChangeArrowheads="1"/>
            </p:cNvSpPr>
            <p:nvPr/>
          </p:nvSpPr>
          <p:spPr bwMode="auto">
            <a:xfrm>
              <a:off x="5291152"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8" name="Rectangle 44">
              <a:extLst>
                <a:ext uri="{FF2B5EF4-FFF2-40B4-BE49-F238E27FC236}">
                  <a16:creationId xmlns:a16="http://schemas.microsoft.com/office/drawing/2014/main" id="{A68B931F-B222-6643-B4DE-15E3E8354B18}"/>
                </a:ext>
              </a:extLst>
            </p:cNvPr>
            <p:cNvSpPr>
              <a:spLocks noChangeArrowheads="1"/>
            </p:cNvSpPr>
            <p:nvPr/>
          </p:nvSpPr>
          <p:spPr bwMode="auto">
            <a:xfrm>
              <a:off x="5412809" y="2034797"/>
              <a:ext cx="85998"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3" name="Rectangle 45">
              <a:extLst>
                <a:ext uri="{FF2B5EF4-FFF2-40B4-BE49-F238E27FC236}">
                  <a16:creationId xmlns:a16="http://schemas.microsoft.com/office/drawing/2014/main" id="{7D3A9CBD-AC18-2744-9564-5C628A27F631}"/>
                </a:ext>
              </a:extLst>
            </p:cNvPr>
            <p:cNvSpPr>
              <a:spLocks noChangeArrowheads="1"/>
            </p:cNvSpPr>
            <p:nvPr/>
          </p:nvSpPr>
          <p:spPr bwMode="auto">
            <a:xfrm>
              <a:off x="5540759" y="2034797"/>
              <a:ext cx="86000" cy="752789"/>
            </a:xfrm>
            <a:prstGeom prst="rect">
              <a:avLst/>
            </a:prstGeom>
            <a:solidFill>
              <a:srgbClr val="B2B2B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4" name="Rectangle 46">
              <a:extLst>
                <a:ext uri="{FF2B5EF4-FFF2-40B4-BE49-F238E27FC236}">
                  <a16:creationId xmlns:a16="http://schemas.microsoft.com/office/drawing/2014/main" id="{7BD5CB89-7651-AC4B-B6A7-CB76771F9558}"/>
                </a:ext>
              </a:extLst>
            </p:cNvPr>
            <p:cNvSpPr>
              <a:spLocks noChangeArrowheads="1"/>
            </p:cNvSpPr>
            <p:nvPr/>
          </p:nvSpPr>
          <p:spPr bwMode="auto">
            <a:xfrm>
              <a:off x="5666611" y="2034797"/>
              <a:ext cx="86000" cy="752789"/>
            </a:xfrm>
            <a:prstGeom prst="rect">
              <a:avLst/>
            </a:prstGeom>
            <a:gradFill rotWithShape="1">
              <a:gsLst>
                <a:gs pos="0">
                  <a:srgbClr val="B2B2B2"/>
                </a:gs>
                <a:gs pos="100000">
                  <a:srgbClr val="FFFFFF"/>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6" name="Rectangle 48">
              <a:extLst>
                <a:ext uri="{FF2B5EF4-FFF2-40B4-BE49-F238E27FC236}">
                  <a16:creationId xmlns:a16="http://schemas.microsoft.com/office/drawing/2014/main" id="{22B83E8B-5347-B046-AB4A-F500B639B452}"/>
                </a:ext>
              </a:extLst>
            </p:cNvPr>
            <p:cNvSpPr>
              <a:spLocks noChangeArrowheads="1"/>
            </p:cNvSpPr>
            <p:nvPr/>
          </p:nvSpPr>
          <p:spPr bwMode="auto">
            <a:xfrm>
              <a:off x="1427488" y="1902290"/>
              <a:ext cx="4503412" cy="107541"/>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Text Box 61">
              <a:extLst>
                <a:ext uri="{FF2B5EF4-FFF2-40B4-BE49-F238E27FC236}">
                  <a16:creationId xmlns:a16="http://schemas.microsoft.com/office/drawing/2014/main" id="{EC2166A2-B157-124D-AD95-CDDC7B2DDCB8}"/>
                </a:ext>
              </a:extLst>
            </p:cNvPr>
            <p:cNvSpPr txBox="1">
              <a:spLocks noChangeArrowheads="1"/>
            </p:cNvSpPr>
            <p:nvPr/>
          </p:nvSpPr>
          <p:spPr bwMode="auto">
            <a:xfrm>
              <a:off x="3220882" y="1648799"/>
              <a:ext cx="805454" cy="3437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Courier New" charset="0"/>
                  <a:ea typeface="ＭＳ Ｐゴシック" charset="0"/>
                  <a:cs typeface="+mn-cs"/>
                </a:rPr>
                <a:t>cwnd</a:t>
              </a:r>
              <a:endParaRPr kumimoji="0" lang="en-US" sz="1400" b="1" i="1" u="none" strike="noStrike" kern="1200" cap="none" spc="0" normalizeH="0" baseline="0" noProof="0" dirty="0">
                <a:ln>
                  <a:noFill/>
                </a:ln>
                <a:solidFill>
                  <a:srgbClr val="000000"/>
                </a:solidFill>
                <a:effectLst/>
                <a:uLnTx/>
                <a:uFillTx/>
                <a:latin typeface="Courier New" charset="0"/>
                <a:ea typeface="ＭＳ Ｐゴシック" charset="0"/>
                <a:cs typeface="+mn-cs"/>
              </a:endParaRPr>
            </a:p>
          </p:txBody>
        </p:sp>
        <p:grpSp>
          <p:nvGrpSpPr>
            <p:cNvPr id="174" name="Group 62">
              <a:extLst>
                <a:ext uri="{FF2B5EF4-FFF2-40B4-BE49-F238E27FC236}">
                  <a16:creationId xmlns:a16="http://schemas.microsoft.com/office/drawing/2014/main" id="{A2ECB346-2348-1D42-A5A0-3073BBFAF723}"/>
                </a:ext>
              </a:extLst>
            </p:cNvPr>
            <p:cNvGrpSpPr>
              <a:grpSpLocks/>
            </p:cNvGrpSpPr>
            <p:nvPr/>
          </p:nvGrpSpPr>
          <p:grpSpPr bwMode="auto">
            <a:xfrm>
              <a:off x="4022141" y="1750580"/>
              <a:ext cx="591506" cy="142108"/>
              <a:chOff x="4250" y="1692"/>
              <a:chExt cx="374" cy="86"/>
            </a:xfrm>
          </p:grpSpPr>
          <p:sp>
            <p:nvSpPr>
              <p:cNvPr id="175" name="Line 63">
                <a:extLst>
                  <a:ext uri="{FF2B5EF4-FFF2-40B4-BE49-F238E27FC236}">
                    <a16:creationId xmlns:a16="http://schemas.microsoft.com/office/drawing/2014/main" id="{D8AB4372-6622-194F-8B2C-95E11AB4BDB8}"/>
                  </a:ext>
                </a:extLst>
              </p:cNvPr>
              <p:cNvSpPr>
                <a:spLocks noChangeShapeType="1"/>
              </p:cNvSpPr>
              <p:nvPr/>
            </p:nvSpPr>
            <p:spPr bwMode="auto">
              <a:xfrm>
                <a:off x="4250" y="1738"/>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6" name="Line 64">
                <a:extLst>
                  <a:ext uri="{FF2B5EF4-FFF2-40B4-BE49-F238E27FC236}">
                    <a16:creationId xmlns:a16="http://schemas.microsoft.com/office/drawing/2014/main" id="{90113FC4-9E6C-1344-9A19-D18BED38D2E9}"/>
                  </a:ext>
                </a:extLst>
              </p:cNvPr>
              <p:cNvSpPr>
                <a:spLocks noChangeShapeType="1"/>
              </p:cNvSpPr>
              <p:nvPr/>
            </p:nvSpPr>
            <p:spPr bwMode="auto">
              <a:xfrm>
                <a:off x="4621" y="1692"/>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77" name="Group 65">
              <a:extLst>
                <a:ext uri="{FF2B5EF4-FFF2-40B4-BE49-F238E27FC236}">
                  <a16:creationId xmlns:a16="http://schemas.microsoft.com/office/drawing/2014/main" id="{DA340DC1-A02D-8B4C-B20C-F58E960E37E4}"/>
                </a:ext>
              </a:extLst>
            </p:cNvPr>
            <p:cNvGrpSpPr>
              <a:grpSpLocks/>
            </p:cNvGrpSpPr>
            <p:nvPr/>
          </p:nvGrpSpPr>
          <p:grpSpPr bwMode="auto">
            <a:xfrm rot="10800000">
              <a:off x="2650352" y="1773625"/>
              <a:ext cx="616676" cy="149790"/>
              <a:chOff x="4250" y="1692"/>
              <a:chExt cx="374" cy="86"/>
            </a:xfrm>
          </p:grpSpPr>
          <p:sp>
            <p:nvSpPr>
              <p:cNvPr id="178" name="Line 66">
                <a:extLst>
                  <a:ext uri="{FF2B5EF4-FFF2-40B4-BE49-F238E27FC236}">
                    <a16:creationId xmlns:a16="http://schemas.microsoft.com/office/drawing/2014/main" id="{996A9ACA-B6A9-274C-AF8C-6FDF8BEA33F2}"/>
                  </a:ext>
                </a:extLst>
              </p:cNvPr>
              <p:cNvSpPr>
                <a:spLocks noChangeShapeType="1"/>
              </p:cNvSpPr>
              <p:nvPr/>
            </p:nvSpPr>
            <p:spPr bwMode="auto">
              <a:xfrm>
                <a:off x="4260" y="1746"/>
                <a:ext cx="374" cy="0"/>
              </a:xfrm>
              <a:prstGeom prst="line">
                <a:avLst/>
              </a:prstGeom>
              <a:noFill/>
              <a:ln w="28575">
                <a:solidFill>
                  <a:srgbClr val="CC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79" name="Line 67">
                <a:extLst>
                  <a:ext uri="{FF2B5EF4-FFF2-40B4-BE49-F238E27FC236}">
                    <a16:creationId xmlns:a16="http://schemas.microsoft.com/office/drawing/2014/main" id="{1CAF8AD6-4F2D-AF41-B54A-FA702FB44D10}"/>
                  </a:ext>
                </a:extLst>
              </p:cNvPr>
              <p:cNvSpPr>
                <a:spLocks noChangeShapeType="1"/>
              </p:cNvSpPr>
              <p:nvPr/>
            </p:nvSpPr>
            <p:spPr bwMode="auto">
              <a:xfrm>
                <a:off x="4632" y="1700"/>
                <a:ext cx="0" cy="86"/>
              </a:xfrm>
              <a:prstGeom prst="line">
                <a:avLst/>
              </a:prstGeom>
              <a:noFill/>
              <a:ln w="952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7" name="Text Box 78">
              <a:extLst>
                <a:ext uri="{FF2B5EF4-FFF2-40B4-BE49-F238E27FC236}">
                  <a16:creationId xmlns:a16="http://schemas.microsoft.com/office/drawing/2014/main" id="{084366A9-52AF-9848-912D-70AD364BF8CE}"/>
                </a:ext>
              </a:extLst>
            </p:cNvPr>
            <p:cNvSpPr txBox="1">
              <a:spLocks noChangeArrowheads="1"/>
            </p:cNvSpPr>
            <p:nvPr/>
          </p:nvSpPr>
          <p:spPr bwMode="auto">
            <a:xfrm>
              <a:off x="1289051" y="1292332"/>
              <a:ext cx="3220754" cy="3693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sender sequence number space </a:t>
              </a:r>
            </a:p>
          </p:txBody>
        </p:sp>
      </p:grpSp>
      <p:sp>
        <p:nvSpPr>
          <p:cNvPr id="198" name="Line 51">
            <a:extLst>
              <a:ext uri="{FF2B5EF4-FFF2-40B4-BE49-F238E27FC236}">
                <a16:creationId xmlns:a16="http://schemas.microsoft.com/office/drawing/2014/main" id="{E6E4B0C6-1414-3D4F-93A5-CCA3CEEBB668}"/>
              </a:ext>
            </a:extLst>
          </p:cNvPr>
          <p:cNvSpPr>
            <a:spLocks noChangeShapeType="1"/>
          </p:cNvSpPr>
          <p:nvPr/>
        </p:nvSpPr>
        <p:spPr bwMode="auto">
          <a:xfrm>
            <a:off x="3908860" y="2875555"/>
            <a:ext cx="700041"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4" name="Group 13">
            <a:extLst>
              <a:ext uri="{FF2B5EF4-FFF2-40B4-BE49-F238E27FC236}">
                <a16:creationId xmlns:a16="http://schemas.microsoft.com/office/drawing/2014/main" id="{BF77D345-5DCD-C84A-8957-E4F03648FFCF}"/>
              </a:ext>
            </a:extLst>
          </p:cNvPr>
          <p:cNvGrpSpPr/>
          <p:nvPr/>
        </p:nvGrpSpPr>
        <p:grpSpPr>
          <a:xfrm>
            <a:off x="4204169" y="2959619"/>
            <a:ext cx="1759165" cy="950582"/>
            <a:chOff x="4204169" y="2959619"/>
            <a:chExt cx="1759165" cy="950582"/>
          </a:xfrm>
        </p:grpSpPr>
        <p:sp>
          <p:nvSpPr>
            <p:cNvPr id="199" name="Freeform 69">
              <a:extLst>
                <a:ext uri="{FF2B5EF4-FFF2-40B4-BE49-F238E27FC236}">
                  <a16:creationId xmlns:a16="http://schemas.microsoft.com/office/drawing/2014/main" id="{59B379E2-D8BE-6243-B6FF-8D00B68FA2FC}"/>
                </a:ext>
              </a:extLst>
            </p:cNvPr>
            <p:cNvSpPr>
              <a:spLocks/>
            </p:cNvSpPr>
            <p:nvPr/>
          </p:nvSpPr>
          <p:spPr bwMode="auto">
            <a:xfrm flipH="1">
              <a:off x="4204169" y="2959619"/>
              <a:ext cx="190240" cy="549834"/>
            </a:xfrm>
            <a:custGeom>
              <a:avLst/>
              <a:gdLst>
                <a:gd name="T0" fmla="*/ 2147483647 w 91"/>
                <a:gd name="T1" fmla="*/ 0 h 242"/>
                <a:gd name="T2" fmla="*/ 2147483647 w 91"/>
                <a:gd name="T3" fmla="*/ 2147483647 h 242"/>
                <a:gd name="T4" fmla="*/ 0 w 91"/>
                <a:gd name="T5" fmla="*/ 2147483647 h 242"/>
                <a:gd name="T6" fmla="*/ 0 60000 65536"/>
                <a:gd name="T7" fmla="*/ 0 60000 65536"/>
                <a:gd name="T8" fmla="*/ 0 60000 65536"/>
                <a:gd name="connsiteX0" fmla="*/ 9412 w 9670"/>
                <a:gd name="connsiteY0" fmla="*/ 0 h 9938"/>
                <a:gd name="connsiteX1" fmla="*/ 9670 w 9670"/>
                <a:gd name="connsiteY1" fmla="*/ 9938 h 9938"/>
                <a:gd name="connsiteX2" fmla="*/ 0 w 9670"/>
                <a:gd name="connsiteY2" fmla="*/ 9938 h 9938"/>
              </a:gdLst>
              <a:ahLst/>
              <a:cxnLst>
                <a:cxn ang="0">
                  <a:pos x="connsiteX0" y="connsiteY0"/>
                </a:cxn>
                <a:cxn ang="0">
                  <a:pos x="connsiteX1" y="connsiteY1"/>
                </a:cxn>
                <a:cxn ang="0">
                  <a:pos x="connsiteX2" y="connsiteY2"/>
                </a:cxn>
              </a:cxnLst>
              <a:rect l="l" t="t" r="r" b="b"/>
              <a:pathLst>
                <a:path w="9670" h="9938">
                  <a:moveTo>
                    <a:pt x="9412" y="0"/>
                  </a:moveTo>
                  <a:lnTo>
                    <a:pt x="9670" y="9938"/>
                  </a:lnTo>
                  <a:lnTo>
                    <a:pt x="0" y="9938"/>
                  </a:lnTo>
                </a:path>
              </a:pathLst>
            </a:custGeom>
            <a:noFill/>
            <a:ln w="19050" cmpd="sng">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00" name="Text Box 59">
              <a:extLst>
                <a:ext uri="{FF2B5EF4-FFF2-40B4-BE49-F238E27FC236}">
                  <a16:creationId xmlns:a16="http://schemas.microsoft.com/office/drawing/2014/main" id="{D18ACC8C-E30F-2B43-A012-02A119CFD507}"/>
                </a:ext>
              </a:extLst>
            </p:cNvPr>
            <p:cNvSpPr txBox="1">
              <a:spLocks noChangeArrowheads="1"/>
            </p:cNvSpPr>
            <p:nvPr/>
          </p:nvSpPr>
          <p:spPr bwMode="auto">
            <a:xfrm>
              <a:off x="4359485" y="3319270"/>
              <a:ext cx="1603849" cy="5909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available but not used</a:t>
              </a:r>
            </a:p>
          </p:txBody>
        </p:sp>
      </p:grpSp>
      <p:grpSp>
        <p:nvGrpSpPr>
          <p:cNvPr id="22" name="Group 21">
            <a:extLst>
              <a:ext uri="{FF2B5EF4-FFF2-40B4-BE49-F238E27FC236}">
                <a16:creationId xmlns:a16="http://schemas.microsoft.com/office/drawing/2014/main" id="{9DAB0D8A-F035-A446-BFCD-CB14C1FE358B}"/>
              </a:ext>
            </a:extLst>
          </p:cNvPr>
          <p:cNvGrpSpPr/>
          <p:nvPr/>
        </p:nvGrpSpPr>
        <p:grpSpPr>
          <a:xfrm>
            <a:off x="7180262" y="1455737"/>
            <a:ext cx="4592627" cy="2538364"/>
            <a:chOff x="7180262" y="1455737"/>
            <a:chExt cx="4592627" cy="2538364"/>
          </a:xfrm>
        </p:grpSpPr>
        <p:sp>
          <p:nvSpPr>
            <p:cNvPr id="103" name="Rectangle 4">
              <a:extLst>
                <a:ext uri="{FF2B5EF4-FFF2-40B4-BE49-F238E27FC236}">
                  <a16:creationId xmlns:a16="http://schemas.microsoft.com/office/drawing/2014/main" id="{3906FFA2-1D5C-7540-9050-9ADF12840292}"/>
                </a:ext>
              </a:extLst>
            </p:cNvPr>
            <p:cNvSpPr txBox="1">
              <a:spLocks noChangeArrowheads="1"/>
            </p:cNvSpPr>
            <p:nvPr/>
          </p:nvSpPr>
          <p:spPr bwMode="auto">
            <a:xfrm>
              <a:off x="7180262" y="1455737"/>
              <a:ext cx="4592627" cy="2447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284163" indent="-284163"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7388" indent="-230188"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0"/>
                <a:buNone/>
                <a:tabLst/>
                <a:defRPr/>
              </a:pP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TCP sending behavior:</a:t>
              </a:r>
            </a:p>
            <a:p>
              <a:pPr marL="284163" marR="0" lvl="0" indent="-284163"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800" b="0" i="1"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roughly:</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send </a:t>
              </a:r>
              <a:r>
                <a:rPr kumimoji="0" lang="en-US" sz="28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cwnd</a:t>
              </a:r>
              <a:r>
                <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 bytes, wait RTT for ACKS, then send more bytes</a:t>
              </a:r>
            </a:p>
          </p:txBody>
        </p:sp>
        <p:grpSp>
          <p:nvGrpSpPr>
            <p:cNvPr id="20" name="Group 19">
              <a:extLst>
                <a:ext uri="{FF2B5EF4-FFF2-40B4-BE49-F238E27FC236}">
                  <a16:creationId xmlns:a16="http://schemas.microsoft.com/office/drawing/2014/main" id="{57FB518A-5432-5D44-890D-C8AC56EDFDD2}"/>
                </a:ext>
              </a:extLst>
            </p:cNvPr>
            <p:cNvGrpSpPr/>
            <p:nvPr/>
          </p:nvGrpSpPr>
          <p:grpSpPr>
            <a:xfrm>
              <a:off x="7513131" y="3110983"/>
              <a:ext cx="3751561" cy="883118"/>
              <a:chOff x="6839655" y="3035314"/>
              <a:chExt cx="3751561" cy="883118"/>
            </a:xfrm>
          </p:grpSpPr>
          <p:sp>
            <p:nvSpPr>
              <p:cNvPr id="19" name="Rectangle 18">
                <a:extLst>
                  <a:ext uri="{FF2B5EF4-FFF2-40B4-BE49-F238E27FC236}">
                    <a16:creationId xmlns:a16="http://schemas.microsoft.com/office/drawing/2014/main" id="{C803E68F-787C-134C-96B7-EA9979048F4F}"/>
                  </a:ext>
                </a:extLst>
              </p:cNvPr>
              <p:cNvSpPr/>
              <p:nvPr/>
            </p:nvSpPr>
            <p:spPr>
              <a:xfrm>
                <a:off x="6839655" y="3035314"/>
                <a:ext cx="3751561" cy="8831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C32ED096-06AB-7A4D-A7B5-17961E51AD24}"/>
                  </a:ext>
                </a:extLst>
              </p:cNvPr>
              <p:cNvGrpSpPr/>
              <p:nvPr/>
            </p:nvGrpSpPr>
            <p:grpSpPr>
              <a:xfrm>
                <a:off x="6869571" y="3107218"/>
                <a:ext cx="3634909" cy="811214"/>
                <a:chOff x="6694950" y="3614743"/>
                <a:chExt cx="3634909" cy="811214"/>
              </a:xfrm>
            </p:grpSpPr>
            <p:sp>
              <p:nvSpPr>
                <p:cNvPr id="188" name="Text Box 79">
                  <a:extLst>
                    <a:ext uri="{FF2B5EF4-FFF2-40B4-BE49-F238E27FC236}">
                      <a16:creationId xmlns:a16="http://schemas.microsoft.com/office/drawing/2014/main" id="{15B5BFBD-DF38-5B40-87E5-F81F37DAA736}"/>
                    </a:ext>
                  </a:extLst>
                </p:cNvPr>
                <p:cNvSpPr txBox="1">
                  <a:spLocks noChangeArrowheads="1"/>
                </p:cNvSpPr>
                <p:nvPr/>
              </p:nvSpPr>
              <p:spPr bwMode="auto">
                <a:xfrm>
                  <a:off x="6694950" y="3723809"/>
                  <a:ext cx="139063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TCP rate</a:t>
                  </a: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189" name="Group 82">
                  <a:extLst>
                    <a:ext uri="{FF2B5EF4-FFF2-40B4-BE49-F238E27FC236}">
                      <a16:creationId xmlns:a16="http://schemas.microsoft.com/office/drawing/2014/main" id="{0CAF5E9A-5B2C-B84F-AC89-1EFE7DC4B6AF}"/>
                    </a:ext>
                  </a:extLst>
                </p:cNvPr>
                <p:cNvGrpSpPr>
                  <a:grpSpLocks/>
                </p:cNvGrpSpPr>
                <p:nvPr/>
              </p:nvGrpSpPr>
              <p:grpSpPr bwMode="auto">
                <a:xfrm>
                  <a:off x="7748588" y="3776663"/>
                  <a:ext cx="931863" cy="441325"/>
                  <a:chOff x="4214" y="2517"/>
                  <a:chExt cx="587" cy="278"/>
                </a:xfrm>
              </p:grpSpPr>
              <p:sp>
                <p:nvSpPr>
                  <p:cNvPr id="190" name="Text Box 80">
                    <a:extLst>
                      <a:ext uri="{FF2B5EF4-FFF2-40B4-BE49-F238E27FC236}">
                        <a16:creationId xmlns:a16="http://schemas.microsoft.com/office/drawing/2014/main" id="{36C86FAE-252E-5441-8D9C-64BC30C08F21}"/>
                      </a:ext>
                    </a:extLst>
                  </p:cNvPr>
                  <p:cNvSpPr txBox="1">
                    <a:spLocks noChangeArrowheads="1"/>
                  </p:cNvSpPr>
                  <p:nvPr/>
                </p:nvSpPr>
                <p:spPr bwMode="auto">
                  <a:xfrm>
                    <a:off x="4216" y="2517"/>
                    <a:ext cx="585"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a:t>
                    </a:r>
                  </a:p>
                </p:txBody>
              </p:sp>
              <p:sp>
                <p:nvSpPr>
                  <p:cNvPr id="191" name="Text Box 81">
                    <a:extLst>
                      <a:ext uri="{FF2B5EF4-FFF2-40B4-BE49-F238E27FC236}">
                        <a16:creationId xmlns:a16="http://schemas.microsoft.com/office/drawing/2014/main" id="{CFDD21D8-7DD6-9E4E-82CD-89F60D95E895}"/>
                      </a:ext>
                    </a:extLst>
                  </p:cNvPr>
                  <p:cNvSpPr txBox="1">
                    <a:spLocks noChangeArrowheads="1"/>
                  </p:cNvSpPr>
                  <p:nvPr/>
                </p:nvSpPr>
                <p:spPr bwMode="auto">
                  <a:xfrm>
                    <a:off x="4214" y="2564"/>
                    <a:ext cx="585"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a:t>
                    </a:r>
                  </a:p>
                </p:txBody>
              </p:sp>
            </p:grpSp>
            <p:grpSp>
              <p:nvGrpSpPr>
                <p:cNvPr id="192" name="Group 86">
                  <a:extLst>
                    <a:ext uri="{FF2B5EF4-FFF2-40B4-BE49-F238E27FC236}">
                      <a16:creationId xmlns:a16="http://schemas.microsoft.com/office/drawing/2014/main" id="{A6A8A6BC-4690-FD46-A7A2-F81368063A97}"/>
                    </a:ext>
                  </a:extLst>
                </p:cNvPr>
                <p:cNvGrpSpPr>
                  <a:grpSpLocks/>
                </p:cNvGrpSpPr>
                <p:nvPr/>
              </p:nvGrpSpPr>
              <p:grpSpPr bwMode="auto">
                <a:xfrm>
                  <a:off x="8320082" y="3614743"/>
                  <a:ext cx="922336" cy="811214"/>
                  <a:chOff x="4335" y="2509"/>
                  <a:chExt cx="581" cy="511"/>
                </a:xfrm>
              </p:grpSpPr>
              <p:sp>
                <p:nvSpPr>
                  <p:cNvPr id="193" name="Text Box 83">
                    <a:extLst>
                      <a:ext uri="{FF2B5EF4-FFF2-40B4-BE49-F238E27FC236}">
                        <a16:creationId xmlns:a16="http://schemas.microsoft.com/office/drawing/2014/main" id="{2EABE0BC-E93A-7840-BC78-8917BD66E877}"/>
                      </a:ext>
                    </a:extLst>
                  </p:cNvPr>
                  <p:cNvSpPr txBox="1">
                    <a:spLocks noChangeArrowheads="1"/>
                  </p:cNvSpPr>
                  <p:nvPr/>
                </p:nvSpPr>
                <p:spPr bwMode="auto">
                  <a:xfrm>
                    <a:off x="4335" y="2509"/>
                    <a:ext cx="581"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ourier" pitchFamily="2" charset="0"/>
                        <a:ea typeface="ＭＳ Ｐゴシック" charset="0"/>
                        <a:cs typeface="+mn-cs"/>
                      </a:rPr>
                      <a:t>cwnd</a:t>
                    </a:r>
                  </a:p>
                </p:txBody>
              </p:sp>
              <p:sp>
                <p:nvSpPr>
                  <p:cNvPr id="194" name="Text Box 84">
                    <a:extLst>
                      <a:ext uri="{FF2B5EF4-FFF2-40B4-BE49-F238E27FC236}">
                        <a16:creationId xmlns:a16="http://schemas.microsoft.com/office/drawing/2014/main" id="{FC380433-330D-4342-82B3-E71BEB72AF06}"/>
                      </a:ext>
                    </a:extLst>
                  </p:cNvPr>
                  <p:cNvSpPr txBox="1">
                    <a:spLocks noChangeArrowheads="1"/>
                  </p:cNvSpPr>
                  <p:nvPr/>
                </p:nvSpPr>
                <p:spPr bwMode="auto">
                  <a:xfrm>
                    <a:off x="4398" y="2729"/>
                    <a:ext cx="463"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charset="0"/>
                        <a:ea typeface="ＭＳ Ｐゴシック" charset="0"/>
                        <a:cs typeface="+mn-cs"/>
                      </a:rPr>
                      <a:t>RTT</a:t>
                    </a:r>
                  </a:p>
                </p:txBody>
              </p:sp>
              <p:sp>
                <p:nvSpPr>
                  <p:cNvPr id="195" name="Line 85">
                    <a:extLst>
                      <a:ext uri="{FF2B5EF4-FFF2-40B4-BE49-F238E27FC236}">
                        <a16:creationId xmlns:a16="http://schemas.microsoft.com/office/drawing/2014/main" id="{1B9F9DB8-E2FB-AE45-88BA-CC221F1D6597}"/>
                      </a:ext>
                    </a:extLst>
                  </p:cNvPr>
                  <p:cNvSpPr>
                    <a:spLocks noChangeShapeType="1"/>
                  </p:cNvSpPr>
                  <p:nvPr/>
                </p:nvSpPr>
                <p:spPr bwMode="auto">
                  <a:xfrm>
                    <a:off x="4430" y="2763"/>
                    <a:ext cx="384" cy="0"/>
                  </a:xfrm>
                  <a:prstGeom prst="line">
                    <a:avLst/>
                  </a:prstGeom>
                  <a:noFill/>
                  <a:ln w="19050">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96" name="Text Box 87">
                  <a:extLst>
                    <a:ext uri="{FF2B5EF4-FFF2-40B4-BE49-F238E27FC236}">
                      <a16:creationId xmlns:a16="http://schemas.microsoft.com/office/drawing/2014/main" id="{2A51BBA4-2F14-2F4F-A04D-EFFFF36AF41D}"/>
                    </a:ext>
                  </a:extLst>
                </p:cNvPr>
                <p:cNvSpPr txBox="1">
                  <a:spLocks noChangeArrowheads="1"/>
                </p:cNvSpPr>
                <p:nvPr/>
              </p:nvSpPr>
              <p:spPr bwMode="auto">
                <a:xfrm>
                  <a:off x="9141713" y="3823464"/>
                  <a:ext cx="118814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bytes/sec</a:t>
                  </a:r>
                </a:p>
              </p:txBody>
            </p:sp>
          </p:grpSp>
        </p:grpSp>
      </p:grpSp>
      <p:grpSp>
        <p:nvGrpSpPr>
          <p:cNvPr id="21" name="Group 20">
            <a:extLst>
              <a:ext uri="{FF2B5EF4-FFF2-40B4-BE49-F238E27FC236}">
                <a16:creationId xmlns:a16="http://schemas.microsoft.com/office/drawing/2014/main" id="{0B0449D2-8107-EC4E-BA6E-0B53574C5B7E}"/>
              </a:ext>
            </a:extLst>
          </p:cNvPr>
          <p:cNvGrpSpPr/>
          <p:nvPr/>
        </p:nvGrpSpPr>
        <p:grpSpPr>
          <a:xfrm>
            <a:off x="2327097" y="2874002"/>
            <a:ext cx="1660913" cy="1379180"/>
            <a:chOff x="2327097" y="2874002"/>
            <a:chExt cx="1660913" cy="1379180"/>
          </a:xfrm>
        </p:grpSpPr>
        <p:sp>
          <p:nvSpPr>
            <p:cNvPr id="171" name="Text Box 58">
              <a:extLst>
                <a:ext uri="{FF2B5EF4-FFF2-40B4-BE49-F238E27FC236}">
                  <a16:creationId xmlns:a16="http://schemas.microsoft.com/office/drawing/2014/main" id="{245049EB-D632-CE4C-A587-BA819860D407}"/>
                </a:ext>
              </a:extLst>
            </p:cNvPr>
            <p:cNvSpPr txBox="1">
              <a:spLocks noChangeArrowheads="1"/>
            </p:cNvSpPr>
            <p:nvPr/>
          </p:nvSpPr>
          <p:spPr bwMode="auto">
            <a:xfrm>
              <a:off x="2327097" y="3412952"/>
              <a:ext cx="1660913" cy="840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sent, but not-yet ACKed </a:t>
              </a:r>
            </a:p>
            <a:p>
              <a:pPr marL="0" marR="0" lvl="0" indent="0" algn="l"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t>
              </a:r>
              <a:r>
                <a:rPr kumimoji="0" lang="en-US" altLang="ja-JP" sz="1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in-flight”)</a:t>
              </a:r>
              <a:endParaRPr kumimoji="0" lang="en-US" altLang="en-US" sz="16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12" name="Group 11">
              <a:extLst>
                <a:ext uri="{FF2B5EF4-FFF2-40B4-BE49-F238E27FC236}">
                  <a16:creationId xmlns:a16="http://schemas.microsoft.com/office/drawing/2014/main" id="{8036A4AF-C412-6643-BB9E-A6741086FD03}"/>
                </a:ext>
              </a:extLst>
            </p:cNvPr>
            <p:cNvGrpSpPr/>
            <p:nvPr/>
          </p:nvGrpSpPr>
          <p:grpSpPr>
            <a:xfrm>
              <a:off x="2644060" y="2874002"/>
              <a:ext cx="1201888" cy="658131"/>
              <a:chOff x="2644060" y="2874003"/>
              <a:chExt cx="1201888" cy="635450"/>
            </a:xfrm>
          </p:grpSpPr>
          <p:sp>
            <p:nvSpPr>
              <p:cNvPr id="167" name="Line 51">
                <a:extLst>
                  <a:ext uri="{FF2B5EF4-FFF2-40B4-BE49-F238E27FC236}">
                    <a16:creationId xmlns:a16="http://schemas.microsoft.com/office/drawing/2014/main" id="{82259C8B-8E68-3B45-95EF-6297D889F723}"/>
                  </a:ext>
                </a:extLst>
              </p:cNvPr>
              <p:cNvSpPr>
                <a:spLocks noChangeShapeType="1"/>
              </p:cNvSpPr>
              <p:nvPr/>
            </p:nvSpPr>
            <p:spPr bwMode="auto">
              <a:xfrm>
                <a:off x="2644060" y="2874003"/>
                <a:ext cx="1201888" cy="0"/>
              </a:xfrm>
              <a:prstGeom prst="line">
                <a:avLst/>
              </a:prstGeom>
              <a:noFill/>
              <a:ln w="28575">
                <a:solidFill>
                  <a:srgbClr val="CC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cxnSp>
            <p:nvCxnSpPr>
              <p:cNvPr id="8" name="Straight Connector 7">
                <a:extLst>
                  <a:ext uri="{FF2B5EF4-FFF2-40B4-BE49-F238E27FC236}">
                    <a16:creationId xmlns:a16="http://schemas.microsoft.com/office/drawing/2014/main" id="{9E977076-799D-1F4B-B884-156CBD02FF8A}"/>
                  </a:ext>
                </a:extLst>
              </p:cNvPr>
              <p:cNvCxnSpPr>
                <a:cxnSpLocks/>
              </p:cNvCxnSpPr>
              <p:nvPr/>
            </p:nvCxnSpPr>
            <p:spPr>
              <a:xfrm>
                <a:off x="2850877" y="2898008"/>
                <a:ext cx="0" cy="61144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88" name="Slide Number Placeholder 2">
            <a:extLst>
              <a:ext uri="{FF2B5EF4-FFF2-40B4-BE49-F238E27FC236}">
                <a16:creationId xmlns:a16="http://schemas.microsoft.com/office/drawing/2014/main" id="{F3E09B12-4970-4049-B7E9-4060B63F1FB2}"/>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5</a:t>
            </a:fld>
            <a:endParaRPr lang="en-US" dirty="0"/>
          </a:p>
        </p:txBody>
      </p:sp>
    </p:spTree>
    <p:extLst>
      <p:ext uri="{BB962C8B-B14F-4D97-AF65-F5344CB8AC3E}">
        <p14:creationId xmlns:p14="http://schemas.microsoft.com/office/powerpoint/2010/main" val="1466429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98"/>
                                        </p:tgtEl>
                                        <p:attrNameLst>
                                          <p:attrName>style.visibility</p:attrName>
                                        </p:attrNameLst>
                                      </p:cBhvr>
                                      <p:to>
                                        <p:strVal val="visible"/>
                                      </p:to>
                                    </p:set>
                                    <p:animEffect transition="in" filter="dissolve">
                                      <p:cBhvr>
                                        <p:cTn id="25" dur="500"/>
                                        <p:tgtEl>
                                          <p:spTgt spid="19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dissolv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9719"/>
            <a:ext cx="11393310" cy="894622"/>
          </a:xfrm>
        </p:spPr>
        <p:txBody>
          <a:bodyPr>
            <a:normAutofit/>
          </a:bodyPr>
          <a:lstStyle/>
          <a:p>
            <a:r>
              <a:rPr lang="en-US" sz="4800" dirty="0"/>
              <a:t>TCP slow start </a:t>
            </a:r>
            <a:endParaRPr lang="en-US" sz="4400" b="0" dirty="0"/>
          </a:p>
        </p:txBody>
      </p:sp>
      <p:sp>
        <p:nvSpPr>
          <p:cNvPr id="88" name="Rectangle 3">
            <a:extLst>
              <a:ext uri="{FF2B5EF4-FFF2-40B4-BE49-F238E27FC236}">
                <a16:creationId xmlns:a16="http://schemas.microsoft.com/office/drawing/2014/main" id="{8A57114D-913B-0446-AF23-3E8C1F4B81CA}"/>
              </a:ext>
            </a:extLst>
          </p:cNvPr>
          <p:cNvSpPr txBox="1">
            <a:spLocks noChangeArrowheads="1"/>
          </p:cNvSpPr>
          <p:nvPr/>
        </p:nvSpPr>
        <p:spPr>
          <a:xfrm>
            <a:off x="1143000" y="1384299"/>
            <a:ext cx="5118100" cy="521425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marR="0" lvl="0" indent="-2635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when connection begins, increase rate exponentially until first loss event: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initially </a:t>
            </a:r>
            <a:r>
              <a:rPr kumimoji="0" lang="en-US"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 = 1 MSS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double </a:t>
            </a:r>
            <a:r>
              <a:rPr kumimoji="0" lang="en-US"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 every RTT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done by incrementing </a:t>
            </a:r>
            <a:r>
              <a:rPr kumimoji="0" lang="en-US"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 for every ACK received</a:t>
            </a:r>
          </a:p>
        </p:txBody>
      </p:sp>
      <p:sp>
        <p:nvSpPr>
          <p:cNvPr id="224" name="Line 6">
            <a:extLst>
              <a:ext uri="{FF2B5EF4-FFF2-40B4-BE49-F238E27FC236}">
                <a16:creationId xmlns:a16="http://schemas.microsoft.com/office/drawing/2014/main" id="{6A528287-EE91-2148-8BF9-9042AB1CFB64}"/>
              </a:ext>
            </a:extLst>
          </p:cNvPr>
          <p:cNvSpPr>
            <a:spLocks noChangeShapeType="1"/>
          </p:cNvSpPr>
          <p:nvPr/>
        </p:nvSpPr>
        <p:spPr bwMode="auto">
          <a:xfrm>
            <a:off x="7585075" y="2306590"/>
            <a:ext cx="2505075" cy="3524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Text Box 8">
            <a:extLst>
              <a:ext uri="{FF2B5EF4-FFF2-40B4-BE49-F238E27FC236}">
                <a16:creationId xmlns:a16="http://schemas.microsoft.com/office/drawing/2014/main" id="{BF8683E2-9BD1-4641-8269-1F97FE166C40}"/>
              </a:ext>
            </a:extLst>
          </p:cNvPr>
          <p:cNvSpPr txBox="1">
            <a:spLocks noChangeArrowheads="1"/>
          </p:cNvSpPr>
          <p:nvPr/>
        </p:nvSpPr>
        <p:spPr bwMode="auto">
          <a:xfrm>
            <a:off x="7181850" y="1168352"/>
            <a:ext cx="869950" cy="36671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Host A</a:t>
            </a:r>
          </a:p>
        </p:txBody>
      </p:sp>
      <p:sp>
        <p:nvSpPr>
          <p:cNvPr id="226" name="Text Box 9">
            <a:extLst>
              <a:ext uri="{FF2B5EF4-FFF2-40B4-BE49-F238E27FC236}">
                <a16:creationId xmlns:a16="http://schemas.microsoft.com/office/drawing/2014/main" id="{C49CE5EE-9C21-9E4F-B95D-B87D2E6CA9D2}"/>
              </a:ext>
            </a:extLst>
          </p:cNvPr>
          <p:cNvSpPr txBox="1">
            <a:spLocks noChangeArrowheads="1"/>
          </p:cNvSpPr>
          <p:nvPr/>
        </p:nvSpPr>
        <p:spPr bwMode="auto">
          <a:xfrm rot="408567">
            <a:off x="8591550" y="2273252"/>
            <a:ext cx="1208088"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one segment</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28" name="Text Box 12">
            <a:extLst>
              <a:ext uri="{FF2B5EF4-FFF2-40B4-BE49-F238E27FC236}">
                <a16:creationId xmlns:a16="http://schemas.microsoft.com/office/drawing/2014/main" id="{51858FD0-9B85-8441-9B12-8875189F665C}"/>
              </a:ext>
            </a:extLst>
          </p:cNvPr>
          <p:cNvSpPr txBox="1">
            <a:spLocks noChangeArrowheads="1"/>
          </p:cNvSpPr>
          <p:nvPr/>
        </p:nvSpPr>
        <p:spPr bwMode="auto">
          <a:xfrm>
            <a:off x="9618663" y="1154065"/>
            <a:ext cx="869950" cy="366712"/>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Host B</a:t>
            </a:r>
          </a:p>
        </p:txBody>
      </p:sp>
      <p:sp>
        <p:nvSpPr>
          <p:cNvPr id="229" name="Line 13">
            <a:extLst>
              <a:ext uri="{FF2B5EF4-FFF2-40B4-BE49-F238E27FC236}">
                <a16:creationId xmlns:a16="http://schemas.microsoft.com/office/drawing/2014/main" id="{A18AC8EC-DBD1-E34E-B3EA-D3876A530333}"/>
              </a:ext>
            </a:extLst>
          </p:cNvPr>
          <p:cNvSpPr>
            <a:spLocks noChangeShapeType="1"/>
          </p:cNvSpPr>
          <p:nvPr/>
        </p:nvSpPr>
        <p:spPr bwMode="auto">
          <a:xfrm>
            <a:off x="7580313" y="2120852"/>
            <a:ext cx="0" cy="3848100"/>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Line 14">
            <a:extLst>
              <a:ext uri="{FF2B5EF4-FFF2-40B4-BE49-F238E27FC236}">
                <a16:creationId xmlns:a16="http://schemas.microsoft.com/office/drawing/2014/main" id="{77B3310E-1B60-414E-9423-328982307B1D}"/>
              </a:ext>
            </a:extLst>
          </p:cNvPr>
          <p:cNvSpPr>
            <a:spLocks noChangeShapeType="1"/>
          </p:cNvSpPr>
          <p:nvPr/>
        </p:nvSpPr>
        <p:spPr bwMode="auto">
          <a:xfrm>
            <a:off x="10094913" y="2158952"/>
            <a:ext cx="0" cy="3848100"/>
          </a:xfrm>
          <a:prstGeom prst="line">
            <a:avLst/>
          </a:prstGeom>
          <a:noFill/>
          <a:ln w="19050">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E69B56F2-B7D2-5247-8C5B-11CDFE50D6C7}"/>
              </a:ext>
            </a:extLst>
          </p:cNvPr>
          <p:cNvGrpSpPr/>
          <p:nvPr/>
        </p:nvGrpSpPr>
        <p:grpSpPr>
          <a:xfrm>
            <a:off x="7254875" y="2270077"/>
            <a:ext cx="304800" cy="830263"/>
            <a:chOff x="7254875" y="2270077"/>
            <a:chExt cx="304800" cy="830263"/>
          </a:xfrm>
        </p:grpSpPr>
        <p:sp>
          <p:nvSpPr>
            <p:cNvPr id="227" name="Text Box 10">
              <a:extLst>
                <a:ext uri="{FF2B5EF4-FFF2-40B4-BE49-F238E27FC236}">
                  <a16:creationId xmlns:a16="http://schemas.microsoft.com/office/drawing/2014/main" id="{A25707E3-FE96-074A-AE26-F8222C4C395A}"/>
                </a:ext>
              </a:extLst>
            </p:cNvPr>
            <p:cNvSpPr txBox="1">
              <a:spLocks noChangeArrowheads="1"/>
            </p:cNvSpPr>
            <p:nvPr/>
          </p:nvSpPr>
          <p:spPr bwMode="auto">
            <a:xfrm rot="-5400000">
              <a:off x="7142956" y="2510584"/>
              <a:ext cx="528637"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RTT</a:t>
              </a:r>
              <a:endParaRPr kumimoji="0" lang="en-US" sz="10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231" name="Line 15">
              <a:extLst>
                <a:ext uri="{FF2B5EF4-FFF2-40B4-BE49-F238E27FC236}">
                  <a16:creationId xmlns:a16="http://schemas.microsoft.com/office/drawing/2014/main" id="{1BE79FAE-9CDC-7B45-A6C0-E89FC9FC2363}"/>
                </a:ext>
              </a:extLst>
            </p:cNvPr>
            <p:cNvSpPr>
              <a:spLocks noChangeShapeType="1"/>
            </p:cNvSpPr>
            <p:nvPr/>
          </p:nvSpPr>
          <p:spPr bwMode="auto">
            <a:xfrm flipH="1" flipV="1">
              <a:off x="7399338" y="2270077"/>
              <a:ext cx="4762" cy="219075"/>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2" name="Line 16">
              <a:extLst>
                <a:ext uri="{FF2B5EF4-FFF2-40B4-BE49-F238E27FC236}">
                  <a16:creationId xmlns:a16="http://schemas.microsoft.com/office/drawing/2014/main" id="{59A77926-4B5A-AC4A-B560-0B735D6BC784}"/>
                </a:ext>
              </a:extLst>
            </p:cNvPr>
            <p:cNvSpPr>
              <a:spLocks noChangeShapeType="1"/>
            </p:cNvSpPr>
            <p:nvPr/>
          </p:nvSpPr>
          <p:spPr bwMode="auto">
            <a:xfrm>
              <a:off x="7408863" y="2876502"/>
              <a:ext cx="4762" cy="223838"/>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33" name="Line 17">
            <a:extLst>
              <a:ext uri="{FF2B5EF4-FFF2-40B4-BE49-F238E27FC236}">
                <a16:creationId xmlns:a16="http://schemas.microsoft.com/office/drawing/2014/main" id="{6F1B852B-55C3-8747-96CA-AA2F2AB5E525}"/>
              </a:ext>
            </a:extLst>
          </p:cNvPr>
          <p:cNvSpPr>
            <a:spLocks noChangeShapeType="1"/>
          </p:cNvSpPr>
          <p:nvPr/>
        </p:nvSpPr>
        <p:spPr bwMode="auto">
          <a:xfrm flipV="1">
            <a:off x="7561263" y="2711402"/>
            <a:ext cx="2505075" cy="352425"/>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34" name="Group 18">
            <a:extLst>
              <a:ext uri="{FF2B5EF4-FFF2-40B4-BE49-F238E27FC236}">
                <a16:creationId xmlns:a16="http://schemas.microsoft.com/office/drawing/2014/main" id="{065B59AF-8C8D-9041-B965-0C2B0A5F8CEF}"/>
              </a:ext>
            </a:extLst>
          </p:cNvPr>
          <p:cNvGrpSpPr>
            <a:grpSpLocks/>
          </p:cNvGrpSpPr>
          <p:nvPr/>
        </p:nvGrpSpPr>
        <p:grpSpPr bwMode="auto">
          <a:xfrm>
            <a:off x="9809163" y="5453015"/>
            <a:ext cx="615950" cy="366712"/>
            <a:chOff x="3317" y="3527"/>
            <a:chExt cx="388" cy="231"/>
          </a:xfrm>
        </p:grpSpPr>
        <p:sp>
          <p:nvSpPr>
            <p:cNvPr id="235" name="Rectangle 19">
              <a:extLst>
                <a:ext uri="{FF2B5EF4-FFF2-40B4-BE49-F238E27FC236}">
                  <a16:creationId xmlns:a16="http://schemas.microsoft.com/office/drawing/2014/main" id="{87C76A64-BE9B-B84D-B23B-73554D8DC2C9}"/>
                </a:ext>
              </a:extLst>
            </p:cNvPr>
            <p:cNvSpPr>
              <a:spLocks noChangeArrowheads="1"/>
            </p:cNvSpPr>
            <p:nvPr/>
          </p:nvSpPr>
          <p:spPr bwMode="auto">
            <a:xfrm>
              <a:off x="3342" y="3576"/>
              <a:ext cx="324" cy="15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6" name="Text Box 20">
              <a:extLst>
                <a:ext uri="{FF2B5EF4-FFF2-40B4-BE49-F238E27FC236}">
                  <a16:creationId xmlns:a16="http://schemas.microsoft.com/office/drawing/2014/main" id="{0453126D-C0BC-5F4F-8DBD-30CD1FA8A1CD}"/>
                </a:ext>
              </a:extLst>
            </p:cNvPr>
            <p:cNvSpPr txBox="1">
              <a:spLocks noChangeArrowheads="1"/>
            </p:cNvSpPr>
            <p:nvPr/>
          </p:nvSpPr>
          <p:spPr bwMode="auto">
            <a:xfrm>
              <a:off x="3317" y="3527"/>
              <a:ext cx="388" cy="23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rPr>
                <a:t>time</a:t>
              </a:r>
              <a:endParaRPr kumimoji="0" lang="en-US" sz="10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5" name="Group 4">
            <a:extLst>
              <a:ext uri="{FF2B5EF4-FFF2-40B4-BE49-F238E27FC236}">
                <a16:creationId xmlns:a16="http://schemas.microsoft.com/office/drawing/2014/main" id="{4100408E-3418-754E-97D5-873085045522}"/>
              </a:ext>
            </a:extLst>
          </p:cNvPr>
          <p:cNvGrpSpPr/>
          <p:nvPr/>
        </p:nvGrpSpPr>
        <p:grpSpPr>
          <a:xfrm>
            <a:off x="7585075" y="3087640"/>
            <a:ext cx="2509838" cy="438150"/>
            <a:chOff x="7585075" y="3087640"/>
            <a:chExt cx="2509838" cy="438150"/>
          </a:xfrm>
        </p:grpSpPr>
        <p:sp>
          <p:nvSpPr>
            <p:cNvPr id="237" name="Line 21">
              <a:extLst>
                <a:ext uri="{FF2B5EF4-FFF2-40B4-BE49-F238E27FC236}">
                  <a16:creationId xmlns:a16="http://schemas.microsoft.com/office/drawing/2014/main" id="{9884C69B-71B1-0942-8DD7-4BADAC4C58CF}"/>
                </a:ext>
              </a:extLst>
            </p:cNvPr>
            <p:cNvSpPr>
              <a:spLocks noChangeShapeType="1"/>
            </p:cNvSpPr>
            <p:nvPr/>
          </p:nvSpPr>
          <p:spPr bwMode="auto">
            <a:xfrm>
              <a:off x="7589838" y="3087640"/>
              <a:ext cx="2505075" cy="3524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8" name="Line 22">
              <a:extLst>
                <a:ext uri="{FF2B5EF4-FFF2-40B4-BE49-F238E27FC236}">
                  <a16:creationId xmlns:a16="http://schemas.microsoft.com/office/drawing/2014/main" id="{51BC13AD-02C4-1049-8BE5-DF4431F8416C}"/>
                </a:ext>
              </a:extLst>
            </p:cNvPr>
            <p:cNvSpPr>
              <a:spLocks noChangeShapeType="1"/>
            </p:cNvSpPr>
            <p:nvPr/>
          </p:nvSpPr>
          <p:spPr bwMode="auto">
            <a:xfrm>
              <a:off x="7585075" y="3173365"/>
              <a:ext cx="2505075" cy="352425"/>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6" name="Group 5">
            <a:extLst>
              <a:ext uri="{FF2B5EF4-FFF2-40B4-BE49-F238E27FC236}">
                <a16:creationId xmlns:a16="http://schemas.microsoft.com/office/drawing/2014/main" id="{C604703D-5DBE-F940-8D53-F844A095856D}"/>
              </a:ext>
            </a:extLst>
          </p:cNvPr>
          <p:cNvGrpSpPr/>
          <p:nvPr/>
        </p:nvGrpSpPr>
        <p:grpSpPr>
          <a:xfrm>
            <a:off x="7558088" y="3697240"/>
            <a:ext cx="2555875" cy="612775"/>
            <a:chOff x="7558088" y="3697240"/>
            <a:chExt cx="2555875" cy="612775"/>
          </a:xfrm>
        </p:grpSpPr>
        <p:sp>
          <p:nvSpPr>
            <p:cNvPr id="239" name="Line 23">
              <a:extLst>
                <a:ext uri="{FF2B5EF4-FFF2-40B4-BE49-F238E27FC236}">
                  <a16:creationId xmlns:a16="http://schemas.microsoft.com/office/drawing/2014/main" id="{4B52376E-4BCD-9A4A-845B-15A59AA4FC46}"/>
                </a:ext>
              </a:extLst>
            </p:cNvPr>
            <p:cNvSpPr>
              <a:spLocks noChangeShapeType="1"/>
            </p:cNvSpPr>
            <p:nvPr/>
          </p:nvSpPr>
          <p:spPr bwMode="auto">
            <a:xfrm flipV="1">
              <a:off x="7585075" y="3697240"/>
              <a:ext cx="2528888" cy="361950"/>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0" name="Line 24">
              <a:extLst>
                <a:ext uri="{FF2B5EF4-FFF2-40B4-BE49-F238E27FC236}">
                  <a16:creationId xmlns:a16="http://schemas.microsoft.com/office/drawing/2014/main" id="{645C0ACA-0EDA-5E4A-9046-377D9678C0E7}"/>
                </a:ext>
              </a:extLst>
            </p:cNvPr>
            <p:cNvSpPr>
              <a:spLocks noChangeShapeType="1"/>
            </p:cNvSpPr>
            <p:nvPr/>
          </p:nvSpPr>
          <p:spPr bwMode="auto">
            <a:xfrm flipV="1">
              <a:off x="7558088" y="3957590"/>
              <a:ext cx="2505075" cy="352425"/>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41" name="Text Box 25">
            <a:extLst>
              <a:ext uri="{FF2B5EF4-FFF2-40B4-BE49-F238E27FC236}">
                <a16:creationId xmlns:a16="http://schemas.microsoft.com/office/drawing/2014/main" id="{01076F6F-B790-D24D-9445-FAC03A5C45E4}"/>
              </a:ext>
            </a:extLst>
          </p:cNvPr>
          <p:cNvSpPr txBox="1">
            <a:spLocks noChangeArrowheads="1"/>
          </p:cNvSpPr>
          <p:nvPr/>
        </p:nvSpPr>
        <p:spPr bwMode="auto">
          <a:xfrm rot="408567">
            <a:off x="8589963" y="3059065"/>
            <a:ext cx="1277937"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two segments</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42" name="Text Box 26">
            <a:extLst>
              <a:ext uri="{FF2B5EF4-FFF2-40B4-BE49-F238E27FC236}">
                <a16:creationId xmlns:a16="http://schemas.microsoft.com/office/drawing/2014/main" id="{1B8C0342-7E57-2343-86AD-47B5AB1AA675}"/>
              </a:ext>
            </a:extLst>
          </p:cNvPr>
          <p:cNvSpPr txBox="1">
            <a:spLocks noChangeArrowheads="1"/>
          </p:cNvSpPr>
          <p:nvPr/>
        </p:nvSpPr>
        <p:spPr bwMode="auto">
          <a:xfrm rot="408567">
            <a:off x="8682038" y="4073477"/>
            <a:ext cx="1306512" cy="30480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four segments</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nvGrpSpPr>
          <p:cNvPr id="243" name="Group 27">
            <a:extLst>
              <a:ext uri="{FF2B5EF4-FFF2-40B4-BE49-F238E27FC236}">
                <a16:creationId xmlns:a16="http://schemas.microsoft.com/office/drawing/2014/main" id="{B634F089-4244-B04A-8749-7ACF0E0264A8}"/>
              </a:ext>
            </a:extLst>
          </p:cNvPr>
          <p:cNvGrpSpPr>
            <a:grpSpLocks/>
          </p:cNvGrpSpPr>
          <p:nvPr/>
        </p:nvGrpSpPr>
        <p:grpSpPr bwMode="auto">
          <a:xfrm>
            <a:off x="7580316" y="4092527"/>
            <a:ext cx="2519363" cy="652463"/>
            <a:chOff x="3954" y="2214"/>
            <a:chExt cx="1587" cy="411"/>
          </a:xfrm>
        </p:grpSpPr>
        <p:sp>
          <p:nvSpPr>
            <p:cNvPr id="244" name="Line 28">
              <a:extLst>
                <a:ext uri="{FF2B5EF4-FFF2-40B4-BE49-F238E27FC236}">
                  <a16:creationId xmlns:a16="http://schemas.microsoft.com/office/drawing/2014/main" id="{6F92F39D-0B5B-8944-8B48-2B288C8AA12C}"/>
                </a:ext>
              </a:extLst>
            </p:cNvPr>
            <p:cNvSpPr>
              <a:spLocks noChangeShapeType="1"/>
            </p:cNvSpPr>
            <p:nvPr/>
          </p:nvSpPr>
          <p:spPr bwMode="auto">
            <a:xfrm>
              <a:off x="3963" y="2214"/>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5" name="Line 29">
              <a:extLst>
                <a:ext uri="{FF2B5EF4-FFF2-40B4-BE49-F238E27FC236}">
                  <a16:creationId xmlns:a16="http://schemas.microsoft.com/office/drawing/2014/main" id="{C48577E5-7DD4-034F-9CF0-3D303E956AEB}"/>
                </a:ext>
              </a:extLst>
            </p:cNvPr>
            <p:cNvSpPr>
              <a:spLocks noChangeShapeType="1"/>
            </p:cNvSpPr>
            <p:nvPr/>
          </p:nvSpPr>
          <p:spPr bwMode="auto">
            <a:xfrm>
              <a:off x="3954" y="2274"/>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6" name="Line 30">
              <a:extLst>
                <a:ext uri="{FF2B5EF4-FFF2-40B4-BE49-F238E27FC236}">
                  <a16:creationId xmlns:a16="http://schemas.microsoft.com/office/drawing/2014/main" id="{B96B9B7F-8E30-7743-AEDD-727B51D6B27C}"/>
                </a:ext>
              </a:extLst>
            </p:cNvPr>
            <p:cNvSpPr>
              <a:spLocks noChangeShapeType="1"/>
            </p:cNvSpPr>
            <p:nvPr/>
          </p:nvSpPr>
          <p:spPr bwMode="auto">
            <a:xfrm>
              <a:off x="3963" y="2340"/>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7" name="Line 31">
              <a:extLst>
                <a:ext uri="{FF2B5EF4-FFF2-40B4-BE49-F238E27FC236}">
                  <a16:creationId xmlns:a16="http://schemas.microsoft.com/office/drawing/2014/main" id="{B83505EC-39A5-D64D-8E5C-39A07A090F7F}"/>
                </a:ext>
              </a:extLst>
            </p:cNvPr>
            <p:cNvSpPr>
              <a:spLocks noChangeShapeType="1"/>
            </p:cNvSpPr>
            <p:nvPr/>
          </p:nvSpPr>
          <p:spPr bwMode="auto">
            <a:xfrm>
              <a:off x="3957" y="2403"/>
              <a:ext cx="1578" cy="222"/>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48" name="Group 32">
            <a:extLst>
              <a:ext uri="{FF2B5EF4-FFF2-40B4-BE49-F238E27FC236}">
                <a16:creationId xmlns:a16="http://schemas.microsoft.com/office/drawing/2014/main" id="{00C5C000-11E9-BE42-9849-B1B7B9E99FE0}"/>
              </a:ext>
            </a:extLst>
          </p:cNvPr>
          <p:cNvGrpSpPr>
            <a:grpSpLocks/>
          </p:cNvGrpSpPr>
          <p:nvPr/>
        </p:nvGrpSpPr>
        <p:grpSpPr bwMode="auto">
          <a:xfrm flipV="1">
            <a:off x="7866063" y="4473527"/>
            <a:ext cx="2228850" cy="604838"/>
            <a:chOff x="3954" y="2214"/>
            <a:chExt cx="1587" cy="411"/>
          </a:xfrm>
        </p:grpSpPr>
        <p:sp>
          <p:nvSpPr>
            <p:cNvPr id="249" name="Line 33">
              <a:extLst>
                <a:ext uri="{FF2B5EF4-FFF2-40B4-BE49-F238E27FC236}">
                  <a16:creationId xmlns:a16="http://schemas.microsoft.com/office/drawing/2014/main" id="{4332886D-58A3-5C48-9DD4-0435A9D316B6}"/>
                </a:ext>
              </a:extLst>
            </p:cNvPr>
            <p:cNvSpPr>
              <a:spLocks noChangeShapeType="1"/>
            </p:cNvSpPr>
            <p:nvPr/>
          </p:nvSpPr>
          <p:spPr bwMode="auto">
            <a:xfrm>
              <a:off x="3963" y="2214"/>
              <a:ext cx="1578" cy="222"/>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0" name="Line 34">
              <a:extLst>
                <a:ext uri="{FF2B5EF4-FFF2-40B4-BE49-F238E27FC236}">
                  <a16:creationId xmlns:a16="http://schemas.microsoft.com/office/drawing/2014/main" id="{C0026D13-F3ED-354E-AB62-DED685C67E13}"/>
                </a:ext>
              </a:extLst>
            </p:cNvPr>
            <p:cNvSpPr>
              <a:spLocks noChangeShapeType="1"/>
            </p:cNvSpPr>
            <p:nvPr/>
          </p:nvSpPr>
          <p:spPr bwMode="auto">
            <a:xfrm>
              <a:off x="3954" y="2274"/>
              <a:ext cx="1578" cy="220"/>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1" name="Line 35">
              <a:extLst>
                <a:ext uri="{FF2B5EF4-FFF2-40B4-BE49-F238E27FC236}">
                  <a16:creationId xmlns:a16="http://schemas.microsoft.com/office/drawing/2014/main" id="{36EDBC83-2FCD-4D49-9A45-B0773BAEE370}"/>
                </a:ext>
              </a:extLst>
            </p:cNvPr>
            <p:cNvSpPr>
              <a:spLocks noChangeShapeType="1"/>
            </p:cNvSpPr>
            <p:nvPr/>
          </p:nvSpPr>
          <p:spPr bwMode="auto">
            <a:xfrm>
              <a:off x="3963" y="2340"/>
              <a:ext cx="1578" cy="222"/>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2" name="Line 36">
              <a:extLst>
                <a:ext uri="{FF2B5EF4-FFF2-40B4-BE49-F238E27FC236}">
                  <a16:creationId xmlns:a16="http://schemas.microsoft.com/office/drawing/2014/main" id="{8BA1B8D7-7D1E-2947-8988-7C4595578CA6}"/>
                </a:ext>
              </a:extLst>
            </p:cNvPr>
            <p:cNvSpPr>
              <a:spLocks noChangeShapeType="1"/>
            </p:cNvSpPr>
            <p:nvPr/>
          </p:nvSpPr>
          <p:spPr bwMode="auto">
            <a:xfrm>
              <a:off x="3957" y="2403"/>
              <a:ext cx="1578" cy="222"/>
            </a:xfrm>
            <a:prstGeom prst="line">
              <a:avLst/>
            </a:prstGeom>
            <a:noFill/>
            <a:ln w="28575">
              <a:solidFill>
                <a:srgbClr val="3333CC"/>
              </a:solidFill>
              <a:round/>
              <a:headEnd type="triangle" w="med" len="me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53" name="Group 43">
            <a:extLst>
              <a:ext uri="{FF2B5EF4-FFF2-40B4-BE49-F238E27FC236}">
                <a16:creationId xmlns:a16="http://schemas.microsoft.com/office/drawing/2014/main" id="{D0982D30-E871-F344-B80E-157861960777}"/>
              </a:ext>
            </a:extLst>
          </p:cNvPr>
          <p:cNvGrpSpPr>
            <a:grpSpLocks/>
          </p:cNvGrpSpPr>
          <p:nvPr/>
        </p:nvGrpSpPr>
        <p:grpSpPr bwMode="auto">
          <a:xfrm>
            <a:off x="7142163" y="1492202"/>
            <a:ext cx="654050" cy="601663"/>
            <a:chOff x="-44" y="1473"/>
            <a:chExt cx="981" cy="1105"/>
          </a:xfrm>
        </p:grpSpPr>
        <p:pic>
          <p:nvPicPr>
            <p:cNvPr id="254" name="Picture 44" descr="desktop_computer_stylized_medium">
              <a:extLst>
                <a:ext uri="{FF2B5EF4-FFF2-40B4-BE49-F238E27FC236}">
                  <a16:creationId xmlns:a16="http://schemas.microsoft.com/office/drawing/2014/main" id="{0C5F9445-24EE-C948-8E49-3FEF71FC59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5" name="Freeform 45">
              <a:extLst>
                <a:ext uri="{FF2B5EF4-FFF2-40B4-BE49-F238E27FC236}">
                  <a16:creationId xmlns:a16="http://schemas.microsoft.com/office/drawing/2014/main" id="{568D3F7F-13C8-1742-BB47-FC4C8107BA4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56" name="Group 46">
            <a:extLst>
              <a:ext uri="{FF2B5EF4-FFF2-40B4-BE49-F238E27FC236}">
                <a16:creationId xmlns:a16="http://schemas.microsoft.com/office/drawing/2014/main" id="{514EF769-BED4-DE47-BE55-0913ABFB155D}"/>
              </a:ext>
            </a:extLst>
          </p:cNvPr>
          <p:cNvGrpSpPr>
            <a:grpSpLocks/>
          </p:cNvGrpSpPr>
          <p:nvPr/>
        </p:nvGrpSpPr>
        <p:grpSpPr bwMode="auto">
          <a:xfrm>
            <a:off x="9877425" y="1506490"/>
            <a:ext cx="382588" cy="547687"/>
            <a:chOff x="4140" y="429"/>
            <a:chExt cx="1425" cy="2396"/>
          </a:xfrm>
        </p:grpSpPr>
        <p:sp>
          <p:nvSpPr>
            <p:cNvPr id="257" name="Freeform 47">
              <a:extLst>
                <a:ext uri="{FF2B5EF4-FFF2-40B4-BE49-F238E27FC236}">
                  <a16:creationId xmlns:a16="http://schemas.microsoft.com/office/drawing/2014/main" id="{9A7FEAB4-C4F3-E042-96AB-2FC0D99EA405}"/>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8" name="Rectangle 48">
              <a:extLst>
                <a:ext uri="{FF2B5EF4-FFF2-40B4-BE49-F238E27FC236}">
                  <a16:creationId xmlns:a16="http://schemas.microsoft.com/office/drawing/2014/main" id="{0E59C13E-BE84-BA48-8D46-C29C0270384D}"/>
                </a:ext>
              </a:extLst>
            </p:cNvPr>
            <p:cNvSpPr>
              <a:spLocks noChangeArrowheads="1"/>
            </p:cNvSpPr>
            <p:nvPr/>
          </p:nvSpPr>
          <p:spPr bwMode="auto">
            <a:xfrm>
              <a:off x="4205" y="429"/>
              <a:ext cx="1047"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9" name="Freeform 49">
              <a:extLst>
                <a:ext uri="{FF2B5EF4-FFF2-40B4-BE49-F238E27FC236}">
                  <a16:creationId xmlns:a16="http://schemas.microsoft.com/office/drawing/2014/main" id="{CF502E49-4DFE-2340-8749-43933F8387F8}"/>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0" name="Freeform 50">
              <a:extLst>
                <a:ext uri="{FF2B5EF4-FFF2-40B4-BE49-F238E27FC236}">
                  <a16:creationId xmlns:a16="http://schemas.microsoft.com/office/drawing/2014/main" id="{C8ED811D-DAEF-B141-A80E-204FE9D19196}"/>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1" name="Rectangle 51">
              <a:extLst>
                <a:ext uri="{FF2B5EF4-FFF2-40B4-BE49-F238E27FC236}">
                  <a16:creationId xmlns:a16="http://schemas.microsoft.com/office/drawing/2014/main" id="{E540E7B8-30E6-B846-823A-6925D9600320}"/>
                </a:ext>
              </a:extLst>
            </p:cNvPr>
            <p:cNvSpPr>
              <a:spLocks noChangeArrowheads="1"/>
            </p:cNvSpPr>
            <p:nvPr/>
          </p:nvSpPr>
          <p:spPr bwMode="auto">
            <a:xfrm>
              <a:off x="4211" y="693"/>
              <a:ext cx="597"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2" name="Group 52">
              <a:extLst>
                <a:ext uri="{FF2B5EF4-FFF2-40B4-BE49-F238E27FC236}">
                  <a16:creationId xmlns:a16="http://schemas.microsoft.com/office/drawing/2014/main" id="{DE3F2659-D2D6-6C4C-9DF4-EEDFBE720D96}"/>
                </a:ext>
              </a:extLst>
            </p:cNvPr>
            <p:cNvGrpSpPr>
              <a:grpSpLocks/>
            </p:cNvGrpSpPr>
            <p:nvPr/>
          </p:nvGrpSpPr>
          <p:grpSpPr bwMode="auto">
            <a:xfrm>
              <a:off x="4749" y="668"/>
              <a:ext cx="581" cy="145"/>
              <a:chOff x="614" y="2568"/>
              <a:chExt cx="725" cy="139"/>
            </a:xfrm>
          </p:grpSpPr>
          <p:sp>
            <p:nvSpPr>
              <p:cNvPr id="287" name="AutoShape 53">
                <a:extLst>
                  <a:ext uri="{FF2B5EF4-FFF2-40B4-BE49-F238E27FC236}">
                    <a16:creationId xmlns:a16="http://schemas.microsoft.com/office/drawing/2014/main" id="{0ABA0FE6-EF08-7D42-838B-AEB8F187397A}"/>
                  </a:ext>
                </a:extLst>
              </p:cNvPr>
              <p:cNvSpPr>
                <a:spLocks noChangeArrowheads="1"/>
              </p:cNvSpPr>
              <p:nvPr/>
            </p:nvSpPr>
            <p:spPr bwMode="auto">
              <a:xfrm>
                <a:off x="614" y="2565"/>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8" name="AutoShape 54">
                <a:extLst>
                  <a:ext uri="{FF2B5EF4-FFF2-40B4-BE49-F238E27FC236}">
                    <a16:creationId xmlns:a16="http://schemas.microsoft.com/office/drawing/2014/main" id="{AD5B052B-FFFB-424E-B4B9-AC7809F4BBB1}"/>
                  </a:ext>
                </a:extLst>
              </p:cNvPr>
              <p:cNvSpPr>
                <a:spLocks noChangeArrowheads="1"/>
              </p:cNvSpPr>
              <p:nvPr/>
            </p:nvSpPr>
            <p:spPr bwMode="auto">
              <a:xfrm>
                <a:off x="629" y="2579"/>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3" name="Rectangle 55">
              <a:extLst>
                <a:ext uri="{FF2B5EF4-FFF2-40B4-BE49-F238E27FC236}">
                  <a16:creationId xmlns:a16="http://schemas.microsoft.com/office/drawing/2014/main" id="{E9301038-767E-E14B-8FDB-B55EE9CA10CE}"/>
                </a:ext>
              </a:extLst>
            </p:cNvPr>
            <p:cNvSpPr>
              <a:spLocks noChangeArrowheads="1"/>
            </p:cNvSpPr>
            <p:nvPr/>
          </p:nvSpPr>
          <p:spPr bwMode="auto">
            <a:xfrm>
              <a:off x="4223" y="1019"/>
              <a:ext cx="597"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4" name="Group 56">
              <a:extLst>
                <a:ext uri="{FF2B5EF4-FFF2-40B4-BE49-F238E27FC236}">
                  <a16:creationId xmlns:a16="http://schemas.microsoft.com/office/drawing/2014/main" id="{2654E7B8-586D-8C4D-A5CD-CC6977E9551F}"/>
                </a:ext>
              </a:extLst>
            </p:cNvPr>
            <p:cNvGrpSpPr>
              <a:grpSpLocks/>
            </p:cNvGrpSpPr>
            <p:nvPr/>
          </p:nvGrpSpPr>
          <p:grpSpPr bwMode="auto">
            <a:xfrm>
              <a:off x="4747" y="994"/>
              <a:ext cx="581" cy="134"/>
              <a:chOff x="614" y="2568"/>
              <a:chExt cx="725" cy="139"/>
            </a:xfrm>
          </p:grpSpPr>
          <p:sp>
            <p:nvSpPr>
              <p:cNvPr id="285" name="AutoShape 57">
                <a:extLst>
                  <a:ext uri="{FF2B5EF4-FFF2-40B4-BE49-F238E27FC236}">
                    <a16:creationId xmlns:a16="http://schemas.microsoft.com/office/drawing/2014/main" id="{4E195FC5-FC94-1542-9BBD-0BDFF1D5CB13}"/>
                  </a:ext>
                </a:extLst>
              </p:cNvPr>
              <p:cNvSpPr>
                <a:spLocks noChangeArrowheads="1"/>
              </p:cNvSpPr>
              <p:nvPr/>
            </p:nvSpPr>
            <p:spPr bwMode="auto">
              <a:xfrm>
                <a:off x="617" y="2565"/>
                <a:ext cx="723" cy="14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6" name="AutoShape 58">
                <a:extLst>
                  <a:ext uri="{FF2B5EF4-FFF2-40B4-BE49-F238E27FC236}">
                    <a16:creationId xmlns:a16="http://schemas.microsoft.com/office/drawing/2014/main" id="{7E2D9C3B-E255-964C-9508-E66C9FF597CE}"/>
                  </a:ext>
                </a:extLst>
              </p:cNvPr>
              <p:cNvSpPr>
                <a:spLocks noChangeArrowheads="1"/>
              </p:cNvSpPr>
              <p:nvPr/>
            </p:nvSpPr>
            <p:spPr bwMode="auto">
              <a:xfrm>
                <a:off x="631" y="2580"/>
                <a:ext cx="694"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5" name="Rectangle 59">
              <a:extLst>
                <a:ext uri="{FF2B5EF4-FFF2-40B4-BE49-F238E27FC236}">
                  <a16:creationId xmlns:a16="http://schemas.microsoft.com/office/drawing/2014/main" id="{0D35C755-AFBC-C143-94D5-E34C8F255668}"/>
                </a:ext>
              </a:extLst>
            </p:cNvPr>
            <p:cNvSpPr>
              <a:spLocks noChangeArrowheads="1"/>
            </p:cNvSpPr>
            <p:nvPr/>
          </p:nvSpPr>
          <p:spPr bwMode="auto">
            <a:xfrm>
              <a:off x="4217" y="1360"/>
              <a:ext cx="597"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6" name="Rectangle 60">
              <a:extLst>
                <a:ext uri="{FF2B5EF4-FFF2-40B4-BE49-F238E27FC236}">
                  <a16:creationId xmlns:a16="http://schemas.microsoft.com/office/drawing/2014/main" id="{8990E763-A8F8-E645-8A01-F6B16D853137}"/>
                </a:ext>
              </a:extLst>
            </p:cNvPr>
            <p:cNvSpPr>
              <a:spLocks noChangeArrowheads="1"/>
            </p:cNvSpPr>
            <p:nvPr/>
          </p:nvSpPr>
          <p:spPr bwMode="auto">
            <a:xfrm>
              <a:off x="4229" y="1658"/>
              <a:ext cx="597"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7" name="Group 61">
              <a:extLst>
                <a:ext uri="{FF2B5EF4-FFF2-40B4-BE49-F238E27FC236}">
                  <a16:creationId xmlns:a16="http://schemas.microsoft.com/office/drawing/2014/main" id="{6F65B17F-5946-9A47-9972-2B907C05984E}"/>
                </a:ext>
              </a:extLst>
            </p:cNvPr>
            <p:cNvGrpSpPr>
              <a:grpSpLocks/>
            </p:cNvGrpSpPr>
            <p:nvPr/>
          </p:nvGrpSpPr>
          <p:grpSpPr bwMode="auto">
            <a:xfrm>
              <a:off x="4735" y="1627"/>
              <a:ext cx="582" cy="151"/>
              <a:chOff x="614" y="2568"/>
              <a:chExt cx="725" cy="139"/>
            </a:xfrm>
          </p:grpSpPr>
          <p:sp>
            <p:nvSpPr>
              <p:cNvPr id="283" name="AutoShape 62">
                <a:extLst>
                  <a:ext uri="{FF2B5EF4-FFF2-40B4-BE49-F238E27FC236}">
                    <a16:creationId xmlns:a16="http://schemas.microsoft.com/office/drawing/2014/main" id="{F08D8399-0C1A-1847-A17B-5B4FDBE7FAAE}"/>
                  </a:ext>
                </a:extLst>
              </p:cNvPr>
              <p:cNvSpPr>
                <a:spLocks noChangeArrowheads="1"/>
              </p:cNvSpPr>
              <p:nvPr/>
            </p:nvSpPr>
            <p:spPr bwMode="auto">
              <a:xfrm>
                <a:off x="617" y="2571"/>
                <a:ext cx="722" cy="134"/>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4" name="AutoShape 63">
                <a:extLst>
                  <a:ext uri="{FF2B5EF4-FFF2-40B4-BE49-F238E27FC236}">
                    <a16:creationId xmlns:a16="http://schemas.microsoft.com/office/drawing/2014/main" id="{99FEA9D9-F58C-C34F-AA76-A96DFE0CE70A}"/>
                  </a:ext>
                </a:extLst>
              </p:cNvPr>
              <p:cNvSpPr>
                <a:spLocks noChangeArrowheads="1"/>
              </p:cNvSpPr>
              <p:nvPr/>
            </p:nvSpPr>
            <p:spPr bwMode="auto">
              <a:xfrm>
                <a:off x="631" y="2584"/>
                <a:ext cx="692" cy="102"/>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8" name="Freeform 64">
              <a:extLst>
                <a:ext uri="{FF2B5EF4-FFF2-40B4-BE49-F238E27FC236}">
                  <a16:creationId xmlns:a16="http://schemas.microsoft.com/office/drawing/2014/main" id="{76F83DEB-6CB2-5740-875B-1B89844BE263}"/>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69" name="Group 65">
              <a:extLst>
                <a:ext uri="{FF2B5EF4-FFF2-40B4-BE49-F238E27FC236}">
                  <a16:creationId xmlns:a16="http://schemas.microsoft.com/office/drawing/2014/main" id="{7398C74D-4650-204D-91E2-CBB3BD641926}"/>
                </a:ext>
              </a:extLst>
            </p:cNvPr>
            <p:cNvGrpSpPr>
              <a:grpSpLocks/>
            </p:cNvGrpSpPr>
            <p:nvPr/>
          </p:nvGrpSpPr>
          <p:grpSpPr bwMode="auto">
            <a:xfrm>
              <a:off x="4739" y="1327"/>
              <a:ext cx="582" cy="139"/>
              <a:chOff x="614" y="2568"/>
              <a:chExt cx="725" cy="139"/>
            </a:xfrm>
          </p:grpSpPr>
          <p:sp>
            <p:nvSpPr>
              <p:cNvPr id="281" name="AutoShape 66">
                <a:extLst>
                  <a:ext uri="{FF2B5EF4-FFF2-40B4-BE49-F238E27FC236}">
                    <a16:creationId xmlns:a16="http://schemas.microsoft.com/office/drawing/2014/main" id="{039023CA-977C-5946-9E46-D41AFAF2B198}"/>
                  </a:ext>
                </a:extLst>
              </p:cNvPr>
              <p:cNvSpPr>
                <a:spLocks noChangeArrowheads="1"/>
              </p:cNvSpPr>
              <p:nvPr/>
            </p:nvSpPr>
            <p:spPr bwMode="auto">
              <a:xfrm>
                <a:off x="612" y="2566"/>
                <a:ext cx="729"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2" name="AutoShape 67">
                <a:extLst>
                  <a:ext uri="{FF2B5EF4-FFF2-40B4-BE49-F238E27FC236}">
                    <a16:creationId xmlns:a16="http://schemas.microsoft.com/office/drawing/2014/main" id="{A95F4972-A071-D241-8DB3-965104C3EDEE}"/>
                  </a:ext>
                </a:extLst>
              </p:cNvPr>
              <p:cNvSpPr>
                <a:spLocks noChangeArrowheads="1"/>
              </p:cNvSpPr>
              <p:nvPr/>
            </p:nvSpPr>
            <p:spPr bwMode="auto">
              <a:xfrm>
                <a:off x="626" y="2580"/>
                <a:ext cx="700"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70" name="Rectangle 68">
              <a:extLst>
                <a:ext uri="{FF2B5EF4-FFF2-40B4-BE49-F238E27FC236}">
                  <a16:creationId xmlns:a16="http://schemas.microsoft.com/office/drawing/2014/main" id="{87EA3775-452B-1C4A-BCB4-1F82D746EBF2}"/>
                </a:ext>
              </a:extLst>
            </p:cNvPr>
            <p:cNvSpPr>
              <a:spLocks noChangeArrowheads="1"/>
            </p:cNvSpPr>
            <p:nvPr/>
          </p:nvSpPr>
          <p:spPr bwMode="auto">
            <a:xfrm>
              <a:off x="5252" y="429"/>
              <a:ext cx="65"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1" name="Freeform 69">
              <a:extLst>
                <a:ext uri="{FF2B5EF4-FFF2-40B4-BE49-F238E27FC236}">
                  <a16:creationId xmlns:a16="http://schemas.microsoft.com/office/drawing/2014/main" id="{45913A8B-722F-4340-A919-72B4EE032AF2}"/>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2" name="Freeform 70">
              <a:extLst>
                <a:ext uri="{FF2B5EF4-FFF2-40B4-BE49-F238E27FC236}">
                  <a16:creationId xmlns:a16="http://schemas.microsoft.com/office/drawing/2014/main" id="{2676EFF8-49E0-8440-A1AD-B54B20D4F452}"/>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3" name="Oval 71">
              <a:extLst>
                <a:ext uri="{FF2B5EF4-FFF2-40B4-BE49-F238E27FC236}">
                  <a16:creationId xmlns:a16="http://schemas.microsoft.com/office/drawing/2014/main" id="{1F85A707-5AE3-F64D-94EF-B9C82DB6D43A}"/>
                </a:ext>
              </a:extLst>
            </p:cNvPr>
            <p:cNvSpPr>
              <a:spLocks noChangeArrowheads="1"/>
            </p:cNvSpPr>
            <p:nvPr/>
          </p:nvSpPr>
          <p:spPr bwMode="auto">
            <a:xfrm>
              <a:off x="5518" y="2610"/>
              <a:ext cx="47"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4" name="Freeform 72">
              <a:extLst>
                <a:ext uri="{FF2B5EF4-FFF2-40B4-BE49-F238E27FC236}">
                  <a16:creationId xmlns:a16="http://schemas.microsoft.com/office/drawing/2014/main" id="{CAAAAF2D-30B7-D84B-BF96-1507DDCB2A1E}"/>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75" name="AutoShape 73">
              <a:extLst>
                <a:ext uri="{FF2B5EF4-FFF2-40B4-BE49-F238E27FC236}">
                  <a16:creationId xmlns:a16="http://schemas.microsoft.com/office/drawing/2014/main" id="{BA3EE2C3-2176-8A45-B380-5804587A3840}"/>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AutoShape 74">
              <a:extLst>
                <a:ext uri="{FF2B5EF4-FFF2-40B4-BE49-F238E27FC236}">
                  <a16:creationId xmlns:a16="http://schemas.microsoft.com/office/drawing/2014/main" id="{08D47FAF-BF1B-1F44-985D-760303B47B3A}"/>
                </a:ext>
              </a:extLst>
            </p:cNvPr>
            <p:cNvSpPr>
              <a:spLocks noChangeArrowheads="1"/>
            </p:cNvSpPr>
            <p:nvPr/>
          </p:nvSpPr>
          <p:spPr bwMode="auto">
            <a:xfrm>
              <a:off x="4205" y="2714"/>
              <a:ext cx="1070" cy="76"/>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7" name="Oval 75">
              <a:extLst>
                <a:ext uri="{FF2B5EF4-FFF2-40B4-BE49-F238E27FC236}">
                  <a16:creationId xmlns:a16="http://schemas.microsoft.com/office/drawing/2014/main" id="{AF962D89-4DC3-CB40-AD48-4E975B0F2900}"/>
                </a:ext>
              </a:extLst>
            </p:cNvPr>
            <p:cNvSpPr>
              <a:spLocks noChangeArrowheads="1"/>
            </p:cNvSpPr>
            <p:nvPr/>
          </p:nvSpPr>
          <p:spPr bwMode="auto">
            <a:xfrm>
              <a:off x="4306" y="2381"/>
              <a:ext cx="160"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8" name="Oval 76">
              <a:extLst>
                <a:ext uri="{FF2B5EF4-FFF2-40B4-BE49-F238E27FC236}">
                  <a16:creationId xmlns:a16="http://schemas.microsoft.com/office/drawing/2014/main" id="{BA8014D1-6702-5849-87C3-1AE05DDF6085}"/>
                </a:ext>
              </a:extLst>
            </p:cNvPr>
            <p:cNvSpPr>
              <a:spLocks noChangeArrowheads="1"/>
            </p:cNvSpPr>
            <p:nvPr/>
          </p:nvSpPr>
          <p:spPr bwMode="auto">
            <a:xfrm>
              <a:off x="4489" y="2387"/>
              <a:ext cx="160" cy="139"/>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79" name="Oval 77">
              <a:extLst>
                <a:ext uri="{FF2B5EF4-FFF2-40B4-BE49-F238E27FC236}">
                  <a16:creationId xmlns:a16="http://schemas.microsoft.com/office/drawing/2014/main" id="{3083C069-59B7-F047-91ED-17672B32B7F3}"/>
                </a:ext>
              </a:extLst>
            </p:cNvPr>
            <p:cNvSpPr>
              <a:spLocks noChangeArrowheads="1"/>
            </p:cNvSpPr>
            <p:nvPr/>
          </p:nvSpPr>
          <p:spPr bwMode="auto">
            <a:xfrm>
              <a:off x="4660" y="2381"/>
              <a:ext cx="160" cy="139"/>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0" name="Rectangle 78">
              <a:extLst>
                <a:ext uri="{FF2B5EF4-FFF2-40B4-BE49-F238E27FC236}">
                  <a16:creationId xmlns:a16="http://schemas.microsoft.com/office/drawing/2014/main" id="{A0E616B9-1439-8B49-B42F-245B61F69E59}"/>
                </a:ext>
              </a:extLst>
            </p:cNvPr>
            <p:cNvSpPr>
              <a:spLocks noChangeArrowheads="1"/>
            </p:cNvSpPr>
            <p:nvPr/>
          </p:nvSpPr>
          <p:spPr bwMode="auto">
            <a:xfrm>
              <a:off x="5062" y="1832"/>
              <a:ext cx="83" cy="764"/>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73" name="Rectangle 3">
            <a:extLst>
              <a:ext uri="{FF2B5EF4-FFF2-40B4-BE49-F238E27FC236}">
                <a16:creationId xmlns:a16="http://schemas.microsoft.com/office/drawing/2014/main" id="{E8DFB3C6-E718-DE4A-87C1-CF7178F7C295}"/>
              </a:ext>
            </a:extLst>
          </p:cNvPr>
          <p:cNvSpPr txBox="1">
            <a:spLocks noChangeArrowheads="1"/>
          </p:cNvSpPr>
          <p:nvPr/>
        </p:nvSpPr>
        <p:spPr>
          <a:xfrm>
            <a:off x="971582" y="4187777"/>
            <a:ext cx="5118100" cy="190500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3700" marR="0" lvl="0" indent="-263525"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b="0" i="1" u="none" strike="noStrike" kern="1200" cap="none" spc="0" normalizeH="0" baseline="0" noProof="0" dirty="0">
                <a:ln>
                  <a:noFill/>
                </a:ln>
                <a:solidFill>
                  <a:srgbClr val="CC0000"/>
                </a:solidFill>
                <a:effectLst/>
                <a:uLnTx/>
                <a:uFillTx/>
                <a:latin typeface="Calibri" panose="020F0502020204030204"/>
                <a:ea typeface="+mn-ea"/>
                <a:cs typeface="+mn-cs"/>
              </a:rPr>
              <a:t>summary: </a:t>
            </a:r>
            <a:r>
              <a:rPr kumimoji="0" lang="en-US" b="0" i="0" u="none" strike="noStrike" kern="1200" cap="none" spc="0" normalizeH="0" baseline="0" noProof="0" dirty="0">
                <a:ln>
                  <a:noFill/>
                </a:ln>
                <a:solidFill>
                  <a:prstClr val="black"/>
                </a:solidFill>
                <a:effectLst/>
                <a:uLnTx/>
                <a:uFillTx/>
                <a:latin typeface="Calibri" panose="020F0502020204030204"/>
                <a:ea typeface="+mn-ea"/>
                <a:cs typeface="+mn-cs"/>
              </a:rPr>
              <a:t>initial rate is slow, but ramps up exponentially fast</a:t>
            </a:r>
          </a:p>
        </p:txBody>
      </p:sp>
      <p:sp>
        <p:nvSpPr>
          <p:cNvPr id="74" name="Slide Number Placeholder 2">
            <a:extLst>
              <a:ext uri="{FF2B5EF4-FFF2-40B4-BE49-F238E27FC236}">
                <a16:creationId xmlns:a16="http://schemas.microsoft.com/office/drawing/2014/main" id="{E6BF77EC-AB9F-944C-99D2-21B2DB400DBA}"/>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6</a:t>
            </a:fld>
            <a:endParaRPr lang="en-US" dirty="0"/>
          </a:p>
        </p:txBody>
      </p:sp>
      <p:sp>
        <p:nvSpPr>
          <p:cNvPr id="3" name="Rectangle 2">
            <a:extLst>
              <a:ext uri="{FF2B5EF4-FFF2-40B4-BE49-F238E27FC236}">
                <a16:creationId xmlns:a16="http://schemas.microsoft.com/office/drawing/2014/main" id="{5E0BF5C3-9098-8345-990E-BB9330446E08}"/>
              </a:ext>
            </a:extLst>
          </p:cNvPr>
          <p:cNvSpPr/>
          <p:nvPr/>
        </p:nvSpPr>
        <p:spPr>
          <a:xfrm>
            <a:off x="1228726" y="5545387"/>
            <a:ext cx="6096000" cy="646331"/>
          </a:xfrm>
          <a:prstGeom prst="rect">
            <a:avLst/>
          </a:prstGeom>
        </p:spPr>
        <p:txBody>
          <a:bodyPr>
            <a:spAutoFit/>
          </a:bodyPr>
          <a:lstStyle/>
          <a:p>
            <a:r>
              <a:rPr lang="en-IN" dirty="0">
                <a:solidFill>
                  <a:srgbClr val="141413"/>
                </a:solidFill>
                <a:latin typeface="Helvetica" pitchFamily="2" charset="0"/>
              </a:rPr>
              <a:t>if MSS = 500 bytes and RTT = 200 </a:t>
            </a:r>
            <a:r>
              <a:rPr lang="en-IN" dirty="0" err="1">
                <a:solidFill>
                  <a:srgbClr val="141413"/>
                </a:solidFill>
                <a:latin typeface="Helvetica" pitchFamily="2" charset="0"/>
              </a:rPr>
              <a:t>msec</a:t>
            </a:r>
            <a:r>
              <a:rPr lang="en-IN" dirty="0">
                <a:solidFill>
                  <a:srgbClr val="141413"/>
                </a:solidFill>
                <a:latin typeface="Helvetica" pitchFamily="2" charset="0"/>
              </a:rPr>
              <a:t>, the resulting initial sending rate is only about </a:t>
            </a:r>
            <a:r>
              <a:rPr lang="en-IN" b="1" dirty="0">
                <a:solidFill>
                  <a:srgbClr val="141413"/>
                </a:solidFill>
                <a:latin typeface="Helvetica" pitchFamily="2" charset="0"/>
              </a:rPr>
              <a:t>20 kbps</a:t>
            </a:r>
            <a:endParaRPr lang="en-IN" b="1" dirty="0">
              <a:solidFill>
                <a:srgbClr val="141413"/>
              </a:solidFill>
              <a:effectLst/>
              <a:latin typeface="Helvetica" pitchFamily="2" charset="0"/>
            </a:endParaRPr>
          </a:p>
        </p:txBody>
      </p:sp>
    </p:spTree>
    <p:extLst>
      <p:ext uri="{BB962C8B-B14F-4D97-AF65-F5344CB8AC3E}">
        <p14:creationId xmlns:p14="http://schemas.microsoft.com/office/powerpoint/2010/main" val="5108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
                                        </p:tgtEl>
                                        <p:attrNameLst>
                                          <p:attrName>style.visibility</p:attrName>
                                        </p:attrNameLst>
                                      </p:cBhvr>
                                      <p:to>
                                        <p:strVal val="visible"/>
                                      </p:to>
                                    </p:set>
                                    <p:animEffect transition="in" filter="wipe(left)">
                                      <p:cBhvr>
                                        <p:cTn id="7" dur="500"/>
                                        <p:tgtEl>
                                          <p:spTgt spid="2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dissolve">
                                      <p:cBhvr>
                                        <p:cTn id="10" dur="500"/>
                                        <p:tgtEl>
                                          <p:spTgt spid="226"/>
                                        </p:tgtEl>
                                      </p:cBhvr>
                                    </p:animEffect>
                                  </p:childTnLst>
                                </p:cTn>
                              </p:par>
                            </p:childTnLst>
                          </p:cTn>
                        </p:par>
                        <p:par>
                          <p:cTn id="11" fill="hold">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233"/>
                                        </p:tgtEl>
                                        <p:attrNameLst>
                                          <p:attrName>style.visibility</p:attrName>
                                        </p:attrNameLst>
                                      </p:cBhvr>
                                      <p:to>
                                        <p:strVal val="visible"/>
                                      </p:to>
                                    </p:set>
                                    <p:animEffect transition="in" filter="wipe(right)">
                                      <p:cBhvr>
                                        <p:cTn id="14" dur="500"/>
                                        <p:tgtEl>
                                          <p:spTgt spid="233"/>
                                        </p:tgtEl>
                                      </p:cBhvr>
                                    </p:animEffect>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dissolve">
                                      <p:cBhvr>
                                        <p:cTn id="26" dur="500"/>
                                        <p:tgtEl>
                                          <p:spTgt spid="241"/>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243"/>
                                        </p:tgtEl>
                                        <p:attrNameLst>
                                          <p:attrName>style.visibility</p:attrName>
                                        </p:attrNameLst>
                                      </p:cBhvr>
                                      <p:to>
                                        <p:strVal val="visible"/>
                                      </p:to>
                                    </p:set>
                                    <p:animEffect transition="in" filter="wipe(left)">
                                      <p:cBhvr>
                                        <p:cTn id="34" dur="500"/>
                                        <p:tgtEl>
                                          <p:spTgt spid="24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42"/>
                                        </p:tgtEl>
                                        <p:attrNameLst>
                                          <p:attrName>style.visibility</p:attrName>
                                        </p:attrNameLst>
                                      </p:cBhvr>
                                      <p:to>
                                        <p:strVal val="visible"/>
                                      </p:to>
                                    </p:set>
                                    <p:animEffect transition="in" filter="dissolve">
                                      <p:cBhvr>
                                        <p:cTn id="37" dur="500"/>
                                        <p:tgtEl>
                                          <p:spTgt spid="242"/>
                                        </p:tgtEl>
                                      </p:cBhvr>
                                    </p:animEffect>
                                  </p:childTnLst>
                                </p:cTn>
                              </p:par>
                            </p:childTnLst>
                          </p:cTn>
                        </p:par>
                        <p:par>
                          <p:cTn id="38" fill="hold">
                            <p:stCondLst>
                              <p:cond delay="1500"/>
                            </p:stCondLst>
                            <p:childTnLst>
                              <p:par>
                                <p:cTn id="39" presetID="22" presetClass="entr" presetSubtype="2" fill="hold" nodeType="afterEffect">
                                  <p:stCondLst>
                                    <p:cond delay="0"/>
                                  </p:stCondLst>
                                  <p:childTnLst>
                                    <p:set>
                                      <p:cBhvr>
                                        <p:cTn id="40" dur="1" fill="hold">
                                          <p:stCondLst>
                                            <p:cond delay="0"/>
                                          </p:stCondLst>
                                        </p:cTn>
                                        <p:tgtEl>
                                          <p:spTgt spid="248"/>
                                        </p:tgtEl>
                                        <p:attrNameLst>
                                          <p:attrName>style.visibility</p:attrName>
                                        </p:attrNameLst>
                                      </p:cBhvr>
                                      <p:to>
                                        <p:strVal val="visible"/>
                                      </p:to>
                                    </p:set>
                                    <p:animEffect transition="in" filter="wipe(right)">
                                      <p:cBhvr>
                                        <p:cTn id="41" dur="500"/>
                                        <p:tgtEl>
                                          <p:spTgt spid="248"/>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dissolve">
                                      <p:cBhvr>
                                        <p:cTn id="46" dur="500"/>
                                        <p:tgtEl>
                                          <p:spTgt spid="73"/>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26" grpId="0"/>
      <p:bldP spid="233" grpId="0" animBg="1"/>
      <p:bldP spid="241" grpId="0"/>
      <p:bldP spid="242" grpId="0"/>
      <p:bldP spid="7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8153"/>
            <a:ext cx="11393310" cy="894622"/>
          </a:xfrm>
        </p:spPr>
        <p:txBody>
          <a:bodyPr>
            <a:normAutofit/>
          </a:bodyPr>
          <a:lstStyle/>
          <a:p>
            <a:r>
              <a:rPr lang="en-US" sz="4800" dirty="0"/>
              <a:t>TCP congestion control: AIMD</a:t>
            </a:r>
            <a:endParaRPr lang="en-US" sz="4400" b="0" dirty="0"/>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901700" y="1168400"/>
            <a:ext cx="10274300" cy="144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approach: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senders can</a:t>
            </a:r>
            <a:r>
              <a:rPr kumimoji="0" lang="en-US" sz="2800" b="0" i="1" u="none" strike="noStrike" kern="1200" cap="none" spc="0" normalizeH="0" baseline="0" noProof="0" dirty="0">
                <a:ln>
                  <a:noFill/>
                </a:ln>
                <a:solidFill>
                  <a:srgbClr val="FF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increase sending rate until packet loss (congestion) occurs, then decrease sending rate on loss event</a:t>
            </a: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141" name="Text Box 13">
            <a:extLst>
              <a:ext uri="{FF2B5EF4-FFF2-40B4-BE49-F238E27FC236}">
                <a16:creationId xmlns:a16="http://schemas.microsoft.com/office/drawing/2014/main" id="{2FD36304-869C-CE42-8550-F12B5FFE2394}"/>
              </a:ext>
            </a:extLst>
          </p:cNvPr>
          <p:cNvSpPr txBox="1">
            <a:spLocks noChangeArrowheads="1"/>
          </p:cNvSpPr>
          <p:nvPr/>
        </p:nvSpPr>
        <p:spPr bwMode="auto">
          <a:xfrm>
            <a:off x="8688708" y="4380805"/>
            <a:ext cx="2769156" cy="15081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AIMD</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sawtooth</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behavior: </a:t>
            </a:r>
            <a:r>
              <a:rPr kumimoji="0" lang="en-US" sz="2800" b="0" i="1" u="none" strike="noStrike" kern="1200" cap="none" spc="0" normalizeH="0" baseline="0" noProof="0" dirty="0">
                <a:ln>
                  <a:noFill/>
                </a:ln>
                <a:solidFill>
                  <a:srgbClr val="0013A3"/>
                </a:solidFill>
                <a:effectLst/>
                <a:uLnTx/>
                <a:uFillTx/>
                <a:latin typeface="Calibri" panose="020F0502020204030204"/>
                <a:ea typeface="ＭＳ Ｐゴシック" charset="0"/>
                <a:cs typeface="+mn-cs"/>
              </a:rPr>
              <a:t>probing</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for bandwidth</a:t>
            </a:r>
          </a:p>
        </p:txBody>
      </p:sp>
      <p:sp>
        <p:nvSpPr>
          <p:cNvPr id="35" name="Rectangle 11">
            <a:extLst>
              <a:ext uri="{FF2B5EF4-FFF2-40B4-BE49-F238E27FC236}">
                <a16:creationId xmlns:a16="http://schemas.microsoft.com/office/drawing/2014/main" id="{F39215FA-39B5-484D-8395-F0F1A1C5D622}"/>
              </a:ext>
            </a:extLst>
          </p:cNvPr>
          <p:cNvSpPr>
            <a:spLocks noChangeArrowheads="1"/>
          </p:cNvSpPr>
          <p:nvPr/>
        </p:nvSpPr>
        <p:spPr bwMode="auto">
          <a:xfrm>
            <a:off x="4717339" y="3774454"/>
            <a:ext cx="685800" cy="30480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6" name="Line 19">
            <a:extLst>
              <a:ext uri="{FF2B5EF4-FFF2-40B4-BE49-F238E27FC236}">
                <a16:creationId xmlns:a16="http://schemas.microsoft.com/office/drawing/2014/main" id="{D3F6ABF2-92A9-2C40-8D08-91E54606260B}"/>
              </a:ext>
            </a:extLst>
          </p:cNvPr>
          <p:cNvSpPr>
            <a:spLocks noChangeShapeType="1"/>
          </p:cNvSpPr>
          <p:nvPr/>
        </p:nvSpPr>
        <p:spPr bwMode="auto">
          <a:xfrm flipV="1">
            <a:off x="3898189" y="5196854"/>
            <a:ext cx="169863" cy="16986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7" name="Line 20">
            <a:extLst>
              <a:ext uri="{FF2B5EF4-FFF2-40B4-BE49-F238E27FC236}">
                <a16:creationId xmlns:a16="http://schemas.microsoft.com/office/drawing/2014/main" id="{38434DE2-13CB-044F-991F-ED186F200404}"/>
              </a:ext>
            </a:extLst>
          </p:cNvPr>
          <p:cNvSpPr>
            <a:spLocks noChangeShapeType="1"/>
          </p:cNvSpPr>
          <p:nvPr/>
        </p:nvSpPr>
        <p:spPr bwMode="auto">
          <a:xfrm>
            <a:off x="4079164" y="5185741"/>
            <a:ext cx="0" cy="642938"/>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8" name="Line 21">
            <a:extLst>
              <a:ext uri="{FF2B5EF4-FFF2-40B4-BE49-F238E27FC236}">
                <a16:creationId xmlns:a16="http://schemas.microsoft.com/office/drawing/2014/main" id="{1937BB13-75B0-4947-8F7E-C69526352422}"/>
              </a:ext>
            </a:extLst>
          </p:cNvPr>
          <p:cNvSpPr>
            <a:spLocks noChangeShapeType="1"/>
          </p:cNvSpPr>
          <p:nvPr/>
        </p:nvSpPr>
        <p:spPr bwMode="auto">
          <a:xfrm flipV="1">
            <a:off x="4068052" y="4869829"/>
            <a:ext cx="982662" cy="98107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39" name="Line 22">
            <a:extLst>
              <a:ext uri="{FF2B5EF4-FFF2-40B4-BE49-F238E27FC236}">
                <a16:creationId xmlns:a16="http://schemas.microsoft.com/office/drawing/2014/main" id="{D3110501-FE57-9545-B9AC-7B103AF98E40}"/>
              </a:ext>
            </a:extLst>
          </p:cNvPr>
          <p:cNvSpPr>
            <a:spLocks noChangeShapeType="1"/>
          </p:cNvSpPr>
          <p:nvPr/>
        </p:nvSpPr>
        <p:spPr bwMode="auto">
          <a:xfrm>
            <a:off x="5039602" y="4871416"/>
            <a:ext cx="0" cy="801688"/>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1" name="Line 23">
            <a:extLst>
              <a:ext uri="{FF2B5EF4-FFF2-40B4-BE49-F238E27FC236}">
                <a16:creationId xmlns:a16="http://schemas.microsoft.com/office/drawing/2014/main" id="{AAAA55BA-D404-204C-AECA-45F566AECF40}"/>
              </a:ext>
            </a:extLst>
          </p:cNvPr>
          <p:cNvSpPr>
            <a:spLocks noChangeShapeType="1"/>
          </p:cNvSpPr>
          <p:nvPr/>
        </p:nvSpPr>
        <p:spPr bwMode="auto">
          <a:xfrm flipV="1">
            <a:off x="5031664" y="5168279"/>
            <a:ext cx="525463" cy="52387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3" name="Line 24">
            <a:extLst>
              <a:ext uri="{FF2B5EF4-FFF2-40B4-BE49-F238E27FC236}">
                <a16:creationId xmlns:a16="http://schemas.microsoft.com/office/drawing/2014/main" id="{43AEBE7F-F2BB-5943-A7EA-ACC4591C9E55}"/>
              </a:ext>
            </a:extLst>
          </p:cNvPr>
          <p:cNvSpPr>
            <a:spLocks noChangeShapeType="1"/>
          </p:cNvSpPr>
          <p:nvPr/>
        </p:nvSpPr>
        <p:spPr bwMode="auto">
          <a:xfrm>
            <a:off x="5557127" y="5163516"/>
            <a:ext cx="0" cy="68897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4" name="Line 25">
            <a:extLst>
              <a:ext uri="{FF2B5EF4-FFF2-40B4-BE49-F238E27FC236}">
                <a16:creationId xmlns:a16="http://schemas.microsoft.com/office/drawing/2014/main" id="{6F7F0A4B-818C-8448-8543-A37DAD19EABE}"/>
              </a:ext>
            </a:extLst>
          </p:cNvPr>
          <p:cNvSpPr>
            <a:spLocks noChangeShapeType="1"/>
          </p:cNvSpPr>
          <p:nvPr/>
        </p:nvSpPr>
        <p:spPr bwMode="auto">
          <a:xfrm flipV="1">
            <a:off x="5568240" y="4849191"/>
            <a:ext cx="969963" cy="98107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5" name="Line 26">
            <a:extLst>
              <a:ext uri="{FF2B5EF4-FFF2-40B4-BE49-F238E27FC236}">
                <a16:creationId xmlns:a16="http://schemas.microsoft.com/office/drawing/2014/main" id="{19538173-60A5-BC46-A9E4-749776021102}"/>
              </a:ext>
            </a:extLst>
          </p:cNvPr>
          <p:cNvSpPr>
            <a:spLocks noChangeShapeType="1"/>
          </p:cNvSpPr>
          <p:nvPr/>
        </p:nvSpPr>
        <p:spPr bwMode="auto">
          <a:xfrm>
            <a:off x="6533440" y="4849191"/>
            <a:ext cx="11113" cy="835025"/>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6" name="Line 29">
            <a:extLst>
              <a:ext uri="{FF2B5EF4-FFF2-40B4-BE49-F238E27FC236}">
                <a16:creationId xmlns:a16="http://schemas.microsoft.com/office/drawing/2014/main" id="{30FAE305-421D-C042-8E51-7C7D81EEF5FE}"/>
              </a:ext>
            </a:extLst>
          </p:cNvPr>
          <p:cNvSpPr>
            <a:spLocks noChangeShapeType="1"/>
          </p:cNvSpPr>
          <p:nvPr/>
        </p:nvSpPr>
        <p:spPr bwMode="auto">
          <a:xfrm flipV="1">
            <a:off x="6538202" y="5012704"/>
            <a:ext cx="666750" cy="66675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7" name="Line 30">
            <a:extLst>
              <a:ext uri="{FF2B5EF4-FFF2-40B4-BE49-F238E27FC236}">
                <a16:creationId xmlns:a16="http://schemas.microsoft.com/office/drawing/2014/main" id="{031213C2-BAEE-5346-905B-3F89E1716013}"/>
              </a:ext>
            </a:extLst>
          </p:cNvPr>
          <p:cNvSpPr>
            <a:spLocks noChangeShapeType="1"/>
          </p:cNvSpPr>
          <p:nvPr/>
        </p:nvSpPr>
        <p:spPr bwMode="auto">
          <a:xfrm>
            <a:off x="7204952" y="4998416"/>
            <a:ext cx="0" cy="74771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48" name="Line 31">
            <a:extLst>
              <a:ext uri="{FF2B5EF4-FFF2-40B4-BE49-F238E27FC236}">
                <a16:creationId xmlns:a16="http://schemas.microsoft.com/office/drawing/2014/main" id="{AEA390E0-709D-FA45-91DE-52C0460D608A}"/>
              </a:ext>
            </a:extLst>
          </p:cNvPr>
          <p:cNvSpPr>
            <a:spLocks noChangeShapeType="1"/>
          </p:cNvSpPr>
          <p:nvPr/>
        </p:nvSpPr>
        <p:spPr bwMode="auto">
          <a:xfrm flipV="1">
            <a:off x="7195427" y="4746004"/>
            <a:ext cx="876300" cy="101441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grpSp>
        <p:nvGrpSpPr>
          <p:cNvPr id="53" name="Group 52">
            <a:extLst>
              <a:ext uri="{FF2B5EF4-FFF2-40B4-BE49-F238E27FC236}">
                <a16:creationId xmlns:a16="http://schemas.microsoft.com/office/drawing/2014/main" id="{82C492E2-E058-BD40-8FFC-FCED8F0093C0}"/>
              </a:ext>
            </a:extLst>
          </p:cNvPr>
          <p:cNvGrpSpPr/>
          <p:nvPr/>
        </p:nvGrpSpPr>
        <p:grpSpPr>
          <a:xfrm>
            <a:off x="3439503" y="4254500"/>
            <a:ext cx="4602061" cy="2566366"/>
            <a:chOff x="4099903" y="3937000"/>
            <a:chExt cx="4602061" cy="2566366"/>
          </a:xfrm>
        </p:grpSpPr>
        <p:sp>
          <p:nvSpPr>
            <p:cNvPr id="54" name="Text Box 12">
              <a:extLst>
                <a:ext uri="{FF2B5EF4-FFF2-40B4-BE49-F238E27FC236}">
                  <a16:creationId xmlns:a16="http://schemas.microsoft.com/office/drawing/2014/main" id="{18CC901F-184A-1147-B991-15E650618DC6}"/>
                </a:ext>
              </a:extLst>
            </p:cNvPr>
            <p:cNvSpPr txBox="1">
              <a:spLocks noChangeArrowheads="1"/>
            </p:cNvSpPr>
            <p:nvPr/>
          </p:nvSpPr>
          <p:spPr bwMode="auto">
            <a:xfrm rot="16200000">
              <a:off x="3117142" y="4919761"/>
              <a:ext cx="2273300" cy="307777"/>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TCP sender  Sending rate</a:t>
              </a:r>
            </a:p>
          </p:txBody>
        </p:sp>
        <p:sp>
          <p:nvSpPr>
            <p:cNvPr id="55" name="Line 17">
              <a:extLst>
                <a:ext uri="{FF2B5EF4-FFF2-40B4-BE49-F238E27FC236}">
                  <a16:creationId xmlns:a16="http://schemas.microsoft.com/office/drawing/2014/main" id="{EF2F6AD0-B3EF-0B4C-88EA-BCCC113FD5FC}"/>
                </a:ext>
              </a:extLst>
            </p:cNvPr>
            <p:cNvSpPr>
              <a:spLocks noChangeShapeType="1"/>
            </p:cNvSpPr>
            <p:nvPr/>
          </p:nvSpPr>
          <p:spPr bwMode="auto">
            <a:xfrm>
              <a:off x="4558589" y="6176341"/>
              <a:ext cx="414337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6" name="Line 18">
              <a:extLst>
                <a:ext uri="{FF2B5EF4-FFF2-40B4-BE49-F238E27FC236}">
                  <a16:creationId xmlns:a16="http://schemas.microsoft.com/office/drawing/2014/main" id="{11B2DFEF-102F-D74F-9B47-304A5DF4E68F}"/>
                </a:ext>
              </a:extLst>
            </p:cNvPr>
            <p:cNvSpPr>
              <a:spLocks noChangeShapeType="1"/>
            </p:cNvSpPr>
            <p:nvPr/>
          </p:nvSpPr>
          <p:spPr bwMode="auto">
            <a:xfrm>
              <a:off x="4546600" y="4203700"/>
              <a:ext cx="877" cy="1974229"/>
            </a:xfrm>
            <a:prstGeom prst="line">
              <a:avLst/>
            </a:prstGeom>
            <a:noFill/>
            <a:ln w="2857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58" name="Text Box 40">
              <a:extLst>
                <a:ext uri="{FF2B5EF4-FFF2-40B4-BE49-F238E27FC236}">
                  <a16:creationId xmlns:a16="http://schemas.microsoft.com/office/drawing/2014/main" id="{27E5BB5F-DA02-D949-9477-C50B724C7125}"/>
                </a:ext>
              </a:extLst>
            </p:cNvPr>
            <p:cNvSpPr txBox="1">
              <a:spLocks noChangeArrowheads="1"/>
            </p:cNvSpPr>
            <p:nvPr/>
          </p:nvSpPr>
          <p:spPr bwMode="auto">
            <a:xfrm>
              <a:off x="6125452" y="6166816"/>
              <a:ext cx="57626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Tahoma" charset="0"/>
                  <a:ea typeface="ＭＳ Ｐゴシック" charset="0"/>
                  <a:cs typeface="+mn-cs"/>
                </a:rPr>
                <a:t>time</a:t>
              </a:r>
            </a:p>
          </p:txBody>
        </p:sp>
      </p:grpSp>
      <p:grpSp>
        <p:nvGrpSpPr>
          <p:cNvPr id="9" name="Group 8">
            <a:extLst>
              <a:ext uri="{FF2B5EF4-FFF2-40B4-BE49-F238E27FC236}">
                <a16:creationId xmlns:a16="http://schemas.microsoft.com/office/drawing/2014/main" id="{CE38AC8E-A4ED-7042-8221-EEFB417FF7BA}"/>
              </a:ext>
            </a:extLst>
          </p:cNvPr>
          <p:cNvGrpSpPr/>
          <p:nvPr/>
        </p:nvGrpSpPr>
        <p:grpSpPr>
          <a:xfrm>
            <a:off x="965200" y="2146300"/>
            <a:ext cx="5054600" cy="1905000"/>
            <a:chOff x="0" y="4533900"/>
            <a:chExt cx="4762500" cy="1905000"/>
          </a:xfrm>
        </p:grpSpPr>
        <p:sp>
          <p:nvSpPr>
            <p:cNvPr id="3" name="Rectangle 2">
              <a:extLst>
                <a:ext uri="{FF2B5EF4-FFF2-40B4-BE49-F238E27FC236}">
                  <a16:creationId xmlns:a16="http://schemas.microsoft.com/office/drawing/2014/main" id="{EA9A0FF2-0607-BD44-8404-E086F64972BE}"/>
                </a:ext>
              </a:extLst>
            </p:cNvPr>
            <p:cNvSpPr/>
            <p:nvPr/>
          </p:nvSpPr>
          <p:spPr>
            <a:xfrm>
              <a:off x="406846" y="4737100"/>
              <a:ext cx="4334880" cy="1435100"/>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0" name="Rectangle 8">
              <a:extLst>
                <a:ext uri="{FF2B5EF4-FFF2-40B4-BE49-F238E27FC236}">
                  <a16:creationId xmlns:a16="http://schemas.microsoft.com/office/drawing/2014/main" id="{83C5ED77-5FA7-AC4C-AB2A-245D62DB4EB6}"/>
                </a:ext>
              </a:extLst>
            </p:cNvPr>
            <p:cNvSpPr>
              <a:spLocks noChangeArrowheads="1"/>
            </p:cNvSpPr>
            <p:nvPr/>
          </p:nvSpPr>
          <p:spPr bwMode="auto">
            <a:xfrm>
              <a:off x="0" y="4991100"/>
              <a:ext cx="4762500" cy="144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57200" marR="0" lvl="1"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600" b="0" i="0" u="none" strike="noStrike" kern="1200" cap="none" spc="0" normalizeH="0" baseline="0" noProof="0" dirty="0">
                  <a:ln>
                    <a:noFill/>
                  </a:ln>
                  <a:solidFill>
                    <a:prstClr val="black"/>
                  </a:solidFill>
                  <a:effectLst/>
                  <a:uLnTx/>
                  <a:uFillTx/>
                  <a:latin typeface="Calibri"/>
                  <a:ea typeface="ＭＳ Ｐゴシック" charset="0"/>
                  <a:cs typeface="+mn-cs"/>
                </a:rPr>
                <a:t>increase sending rate </a:t>
              </a:r>
              <a:r>
                <a:rPr kumimoji="0" lang="en-US" sz="2600" b="0" i="0" u="none" strike="noStrike" kern="1200" cap="none" spc="0" normalizeH="0" baseline="0" noProof="0" dirty="0">
                  <a:ln>
                    <a:noFill/>
                  </a:ln>
                  <a:solidFill>
                    <a:prstClr val="black"/>
                  </a:solidFill>
                  <a:effectLst/>
                  <a:uLnTx/>
                  <a:uFillTx/>
                  <a:latin typeface="Gill Sans MT" charset="0"/>
                  <a:ea typeface="ＭＳ Ｐゴシック" charset="0"/>
                  <a:cs typeface="+mn-cs"/>
                </a:rPr>
                <a:t>by </a:t>
              </a:r>
              <a:r>
                <a:rPr kumimoji="0" lang="en-US" sz="2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 maximum segment size every RTT until loss detected</a:t>
              </a:r>
              <a:endParaRPr kumimoji="0" lang="en-US" sz="26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136" name="Rectangle 8">
              <a:extLst>
                <a:ext uri="{FF2B5EF4-FFF2-40B4-BE49-F238E27FC236}">
                  <a16:creationId xmlns:a16="http://schemas.microsoft.com/office/drawing/2014/main" id="{91ECB6E6-4418-7243-B13D-E7E4DAE72D34}"/>
                </a:ext>
              </a:extLst>
            </p:cNvPr>
            <p:cNvSpPr>
              <a:spLocks noChangeArrowheads="1"/>
            </p:cNvSpPr>
            <p:nvPr/>
          </p:nvSpPr>
          <p:spPr bwMode="auto">
            <a:xfrm>
              <a:off x="508000" y="4533900"/>
              <a:ext cx="2667000" cy="444500"/>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800" b="0" i="1" u="sng" strike="noStrike" kern="1200" cap="none" spc="0" normalizeH="0" baseline="0" noProof="0" dirty="0">
                  <a:ln>
                    <a:noFill/>
                  </a:ln>
                  <a:solidFill>
                    <a:srgbClr val="00B050"/>
                  </a:solidFill>
                  <a:effectLst/>
                  <a:uLnTx/>
                  <a:uFillTx/>
                  <a:latin typeface="Calibri" panose="020F0502020204030204"/>
                  <a:ea typeface="ＭＳ Ｐゴシック" charset="0"/>
                  <a:cs typeface="+mn-cs"/>
                </a:rPr>
                <a:t>A</a:t>
              </a:r>
              <a:r>
                <a:rPr kumimoji="0" lang="en-US" sz="2800" b="0" i="1" u="none" strike="noStrike" kern="1200" cap="none" spc="0" normalizeH="0" baseline="0" noProof="0" dirty="0">
                  <a:ln>
                    <a:noFill/>
                  </a:ln>
                  <a:solidFill>
                    <a:srgbClr val="00B050"/>
                  </a:solidFill>
                  <a:effectLst/>
                  <a:uLnTx/>
                  <a:uFillTx/>
                  <a:latin typeface="Calibri" panose="020F0502020204030204"/>
                  <a:ea typeface="ＭＳ Ｐゴシック" charset="0"/>
                  <a:cs typeface="+mn-cs"/>
                </a:rPr>
                <a:t>dditive </a:t>
              </a:r>
              <a:r>
                <a:rPr kumimoji="0" lang="en-US" sz="2800" b="0" i="1" u="sng" strike="noStrike" kern="1200" cap="none" spc="0" normalizeH="0" baseline="0" noProof="0" dirty="0">
                  <a:ln>
                    <a:noFill/>
                  </a:ln>
                  <a:solidFill>
                    <a:srgbClr val="00B050"/>
                  </a:solidFill>
                  <a:effectLst/>
                  <a:uLnTx/>
                  <a:uFillTx/>
                  <a:latin typeface="Calibri" panose="020F0502020204030204"/>
                  <a:ea typeface="ＭＳ Ｐゴシック" charset="0"/>
                  <a:cs typeface="+mn-cs"/>
                </a:rPr>
                <a:t>I</a:t>
              </a:r>
              <a:r>
                <a:rPr kumimoji="0" lang="en-US" sz="2800" b="0" i="1" u="none" strike="noStrike" kern="1200" cap="none" spc="0" normalizeH="0" baseline="0" noProof="0" dirty="0">
                  <a:ln>
                    <a:noFill/>
                  </a:ln>
                  <a:solidFill>
                    <a:srgbClr val="00B050"/>
                  </a:solidFill>
                  <a:effectLst/>
                  <a:uLnTx/>
                  <a:uFillTx/>
                  <a:latin typeface="Calibri" panose="020F0502020204030204"/>
                  <a:ea typeface="ＭＳ Ｐゴシック" charset="0"/>
                  <a:cs typeface="+mn-cs"/>
                </a:rPr>
                <a:t>ncrease</a:t>
              </a:r>
              <a:endParaRPr kumimoji="0" lang="en-US" sz="2800" b="0" i="0" u="none" strike="noStrike" kern="1200" cap="none" spc="0" normalizeH="0" baseline="0" noProof="0" dirty="0">
                <a:ln>
                  <a:noFill/>
                </a:ln>
                <a:solidFill>
                  <a:srgbClr val="00B050"/>
                </a:solidFill>
                <a:effectLst/>
                <a:uLnTx/>
                <a:uFillTx/>
                <a:latin typeface="Gill Sans MT" charset="0"/>
                <a:ea typeface="ＭＳ Ｐゴシック" charset="0"/>
                <a:cs typeface="+mn-cs"/>
              </a:endParaRPr>
            </a:p>
          </p:txBody>
        </p:sp>
      </p:grpSp>
      <p:grpSp>
        <p:nvGrpSpPr>
          <p:cNvPr id="63" name="Group 62">
            <a:extLst>
              <a:ext uri="{FF2B5EF4-FFF2-40B4-BE49-F238E27FC236}">
                <a16:creationId xmlns:a16="http://schemas.microsoft.com/office/drawing/2014/main" id="{29F4C833-80E3-E14A-98F5-D02EBF4C0AC6}"/>
              </a:ext>
            </a:extLst>
          </p:cNvPr>
          <p:cNvGrpSpPr/>
          <p:nvPr/>
        </p:nvGrpSpPr>
        <p:grpSpPr>
          <a:xfrm>
            <a:off x="6007100" y="2197100"/>
            <a:ext cx="4749800" cy="1422400"/>
            <a:chOff x="38100" y="4533900"/>
            <a:chExt cx="4749800" cy="1422400"/>
          </a:xfrm>
        </p:grpSpPr>
        <p:sp>
          <p:nvSpPr>
            <p:cNvPr id="64" name="Rectangle 63">
              <a:extLst>
                <a:ext uri="{FF2B5EF4-FFF2-40B4-BE49-F238E27FC236}">
                  <a16:creationId xmlns:a16="http://schemas.microsoft.com/office/drawing/2014/main" id="{7ED9889A-D576-6948-99EB-B6AAAAF94FF1}"/>
                </a:ext>
              </a:extLst>
            </p:cNvPr>
            <p:cNvSpPr/>
            <p:nvPr/>
          </p:nvSpPr>
          <p:spPr>
            <a:xfrm>
              <a:off x="342900" y="4686300"/>
              <a:ext cx="4267200" cy="1270000"/>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65" name="Rectangle 8">
              <a:extLst>
                <a:ext uri="{FF2B5EF4-FFF2-40B4-BE49-F238E27FC236}">
                  <a16:creationId xmlns:a16="http://schemas.microsoft.com/office/drawing/2014/main" id="{12492D08-6387-3C44-BE8F-DFB7A535E296}"/>
                </a:ext>
              </a:extLst>
            </p:cNvPr>
            <p:cNvSpPr>
              <a:spLocks noChangeArrowheads="1"/>
            </p:cNvSpPr>
            <p:nvPr/>
          </p:nvSpPr>
          <p:spPr bwMode="auto">
            <a:xfrm>
              <a:off x="38100" y="4991100"/>
              <a:ext cx="4749800" cy="825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457200" marR="0" lvl="1"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sending rate in half at each loss event</a:t>
              </a:r>
              <a:endParaRPr kumimoji="0" lang="en-US" sz="2600" b="0" i="1" u="none" strike="noStrike" kern="1200" cap="none" spc="0" normalizeH="0" baseline="0" noProof="0" dirty="0">
                <a:ln>
                  <a:noFill/>
                </a:ln>
                <a:solidFill>
                  <a:prstClr val="black"/>
                </a:solidFill>
                <a:effectLst/>
                <a:uLnTx/>
                <a:uFillTx/>
                <a:latin typeface="Calibri"/>
                <a:ea typeface="ＭＳ Ｐゴシック" charset="0"/>
                <a:cs typeface="+mn-cs"/>
              </a:endParaRPr>
            </a:p>
            <a:p>
              <a:pPr marL="342900" marR="0" lvl="0" indent="-342900" algn="l" defTabSz="914400" rtl="0" eaLnBrk="1" fontAlgn="auto" latinLnBrk="0" hangingPunct="1">
                <a:lnSpc>
                  <a:spcPct val="85000"/>
                </a:lnSpc>
                <a:spcBef>
                  <a:spcPct val="20000"/>
                </a:spcBef>
                <a:spcAft>
                  <a:spcPts val="0"/>
                </a:spcAft>
                <a:buClr>
                  <a:srgbClr val="000099"/>
                </a:buClr>
                <a:buSzPct val="65000"/>
                <a:buFont typeface="Wingdings" charset="0"/>
                <a:buChar char="v"/>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66" name="Rectangle 8">
              <a:extLst>
                <a:ext uri="{FF2B5EF4-FFF2-40B4-BE49-F238E27FC236}">
                  <a16:creationId xmlns:a16="http://schemas.microsoft.com/office/drawing/2014/main" id="{4FA342B4-82DA-FE44-A283-F18BBA2F6E1B}"/>
                </a:ext>
              </a:extLst>
            </p:cNvPr>
            <p:cNvSpPr>
              <a:spLocks noChangeArrowheads="1"/>
            </p:cNvSpPr>
            <p:nvPr/>
          </p:nvSpPr>
          <p:spPr bwMode="auto">
            <a:xfrm>
              <a:off x="508000" y="4533900"/>
              <a:ext cx="3746500" cy="444500"/>
            </a:xfrm>
            <a:prstGeom prst="rect">
              <a:avLst/>
            </a:prstGeom>
            <a:solidFill>
              <a:schemeClr val="bg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Tx/>
                <a:buFontTx/>
                <a:buNone/>
                <a:tabLst/>
                <a:defRPr/>
              </a:pPr>
              <a:r>
                <a:rPr kumimoji="0" lang="en-US" sz="2800" b="0" i="1"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M</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ultiplicative </a:t>
              </a:r>
              <a:r>
                <a:rPr kumimoji="0" lang="en-US" sz="2800" b="0" i="1"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D</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ecrease</a:t>
              </a:r>
              <a:endParaRPr kumimoji="0" lang="en-US" sz="2800" b="0" i="0" u="none" strike="noStrike" kern="1200" cap="none" spc="0" normalizeH="0" baseline="0" noProof="0" dirty="0">
                <a:ln>
                  <a:noFill/>
                </a:ln>
                <a:solidFill>
                  <a:srgbClr val="C00000"/>
                </a:solidFill>
                <a:effectLst/>
                <a:uLnTx/>
                <a:uFillTx/>
                <a:latin typeface="Gill Sans MT" charset="0"/>
                <a:ea typeface="ＭＳ Ｐゴシック" charset="0"/>
                <a:cs typeface="+mn-cs"/>
              </a:endParaRPr>
            </a:p>
          </p:txBody>
        </p:sp>
      </p:grpSp>
      <p:grpSp>
        <p:nvGrpSpPr>
          <p:cNvPr id="33" name="Group 32">
            <a:extLst>
              <a:ext uri="{FF2B5EF4-FFF2-40B4-BE49-F238E27FC236}">
                <a16:creationId xmlns:a16="http://schemas.microsoft.com/office/drawing/2014/main" id="{08B9E571-5EFE-DF45-ABEE-F217088B731C}"/>
              </a:ext>
            </a:extLst>
          </p:cNvPr>
          <p:cNvGrpSpPr/>
          <p:nvPr/>
        </p:nvGrpSpPr>
        <p:grpSpPr>
          <a:xfrm>
            <a:off x="3952943" y="3784600"/>
            <a:ext cx="3599234" cy="1591283"/>
            <a:chOff x="3965643" y="3797300"/>
            <a:chExt cx="3599234" cy="1591283"/>
          </a:xfrm>
        </p:grpSpPr>
        <p:grpSp>
          <p:nvGrpSpPr>
            <p:cNvPr id="32" name="Group 31">
              <a:extLst>
                <a:ext uri="{FF2B5EF4-FFF2-40B4-BE49-F238E27FC236}">
                  <a16:creationId xmlns:a16="http://schemas.microsoft.com/office/drawing/2014/main" id="{B98081F5-35B5-A849-A6DC-D92ECEF0752A}"/>
                </a:ext>
              </a:extLst>
            </p:cNvPr>
            <p:cNvGrpSpPr/>
            <p:nvPr/>
          </p:nvGrpSpPr>
          <p:grpSpPr>
            <a:xfrm>
              <a:off x="3965643" y="4159386"/>
              <a:ext cx="3599234" cy="1229197"/>
              <a:chOff x="3965643" y="4159386"/>
              <a:chExt cx="3599234" cy="1229197"/>
            </a:xfrm>
          </p:grpSpPr>
          <p:cxnSp>
            <p:nvCxnSpPr>
              <p:cNvPr id="11" name="Straight Arrow Connector 10">
                <a:extLst>
                  <a:ext uri="{FF2B5EF4-FFF2-40B4-BE49-F238E27FC236}">
                    <a16:creationId xmlns:a16="http://schemas.microsoft.com/office/drawing/2014/main" id="{01079667-0DAA-D94E-A312-DB3C9977FD14}"/>
                  </a:ext>
                </a:extLst>
              </p:cNvPr>
              <p:cNvCxnSpPr>
                <a:cxnSpLocks/>
              </p:cNvCxnSpPr>
              <p:nvPr/>
            </p:nvCxnSpPr>
            <p:spPr>
              <a:xfrm>
                <a:off x="3972128" y="4163438"/>
                <a:ext cx="0" cy="10562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4E7717F-1A0D-FF4E-812D-3FD618E53878}"/>
                  </a:ext>
                </a:extLst>
              </p:cNvPr>
              <p:cNvCxnSpPr>
                <a:cxnSpLocks/>
              </p:cNvCxnSpPr>
              <p:nvPr/>
            </p:nvCxnSpPr>
            <p:spPr>
              <a:xfrm>
                <a:off x="4480128" y="4163438"/>
                <a:ext cx="0" cy="122136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D125F63-AD27-6B45-AE19-4ABD9BFAAB03}"/>
                  </a:ext>
                </a:extLst>
              </p:cNvPr>
              <p:cNvCxnSpPr>
                <a:cxnSpLocks/>
              </p:cNvCxnSpPr>
              <p:nvPr/>
            </p:nvCxnSpPr>
            <p:spPr>
              <a:xfrm>
                <a:off x="5295630" y="4163438"/>
                <a:ext cx="0" cy="1225145"/>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72EFC86-C803-E843-B374-808FCECBC349}"/>
                  </a:ext>
                </a:extLst>
              </p:cNvPr>
              <p:cNvCxnSpPr>
                <a:cxnSpLocks/>
              </p:cNvCxnSpPr>
              <p:nvPr/>
            </p:nvCxnSpPr>
            <p:spPr>
              <a:xfrm>
                <a:off x="5964941" y="4171542"/>
                <a:ext cx="0" cy="1204339"/>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19D5D13-5D07-4C47-B49B-8AC41BCDCFBB}"/>
                  </a:ext>
                </a:extLst>
              </p:cNvPr>
              <p:cNvCxnSpPr>
                <a:cxnSpLocks/>
              </p:cNvCxnSpPr>
              <p:nvPr/>
            </p:nvCxnSpPr>
            <p:spPr>
              <a:xfrm>
                <a:off x="6794500" y="4165056"/>
                <a:ext cx="0" cy="11938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49C30FB-E09A-8645-AF59-0F93ED23D5ED}"/>
                  </a:ext>
                </a:extLst>
              </p:cNvPr>
              <p:cNvCxnSpPr>
                <a:cxnSpLocks/>
              </p:cNvCxnSpPr>
              <p:nvPr/>
            </p:nvCxnSpPr>
            <p:spPr>
              <a:xfrm>
                <a:off x="7559743" y="4159386"/>
                <a:ext cx="0" cy="110652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E80244-8AE8-9244-8BD7-F7A494EF70AA}"/>
                  </a:ext>
                </a:extLst>
              </p:cNvPr>
              <p:cNvCxnSpPr>
                <a:cxnSpLocks/>
              </p:cNvCxnSpPr>
              <p:nvPr/>
            </p:nvCxnSpPr>
            <p:spPr>
              <a:xfrm>
                <a:off x="3965643" y="4162357"/>
                <a:ext cx="3599234"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CA3311EB-6DA1-BE40-8300-E0A7E76CCC9C}"/>
                </a:ext>
              </a:extLst>
            </p:cNvPr>
            <p:cNvCxnSpPr/>
            <p:nvPr/>
          </p:nvCxnSpPr>
          <p:spPr>
            <a:xfrm>
              <a:off x="5651500" y="3797300"/>
              <a:ext cx="0" cy="38100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46745885-D0C9-5C4A-8189-6C1C08532D61}"/>
              </a:ext>
            </a:extLst>
          </p:cNvPr>
          <p:cNvGrpSpPr/>
          <p:nvPr/>
        </p:nvGrpSpPr>
        <p:grpSpPr>
          <a:xfrm>
            <a:off x="4108450" y="3622675"/>
            <a:ext cx="3819526" cy="1695450"/>
            <a:chOff x="4108450" y="3622675"/>
            <a:chExt cx="3819526" cy="1695450"/>
          </a:xfrm>
        </p:grpSpPr>
        <p:grpSp>
          <p:nvGrpSpPr>
            <p:cNvPr id="85" name="Group 84">
              <a:extLst>
                <a:ext uri="{FF2B5EF4-FFF2-40B4-BE49-F238E27FC236}">
                  <a16:creationId xmlns:a16="http://schemas.microsoft.com/office/drawing/2014/main" id="{CE8174FE-3375-6647-833E-1BBA1779B8E0}"/>
                </a:ext>
              </a:extLst>
            </p:cNvPr>
            <p:cNvGrpSpPr/>
            <p:nvPr/>
          </p:nvGrpSpPr>
          <p:grpSpPr>
            <a:xfrm>
              <a:off x="4108450" y="3975100"/>
              <a:ext cx="3819526" cy="1343025"/>
              <a:chOff x="4108450" y="3975100"/>
              <a:chExt cx="3819526" cy="1343025"/>
            </a:xfrm>
          </p:grpSpPr>
          <p:cxnSp>
            <p:nvCxnSpPr>
              <p:cNvPr id="61" name="Straight Arrow Connector 60">
                <a:extLst>
                  <a:ext uri="{FF2B5EF4-FFF2-40B4-BE49-F238E27FC236}">
                    <a16:creationId xmlns:a16="http://schemas.microsoft.com/office/drawing/2014/main" id="{D9182BCB-9C63-4F4E-9BFE-C6ED53E7206A}"/>
                  </a:ext>
                </a:extLst>
              </p:cNvPr>
              <p:cNvCxnSpPr>
                <a:cxnSpLocks/>
              </p:cNvCxnSpPr>
              <p:nvPr/>
            </p:nvCxnSpPr>
            <p:spPr>
              <a:xfrm flipH="1">
                <a:off x="7245350" y="3981450"/>
                <a:ext cx="679450" cy="125412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3A530988-F896-F240-A4FD-4D4D80C11F42}"/>
                  </a:ext>
                </a:extLst>
              </p:cNvPr>
              <p:cNvCxnSpPr>
                <a:cxnSpLocks/>
              </p:cNvCxnSpPr>
              <p:nvPr/>
            </p:nvCxnSpPr>
            <p:spPr>
              <a:xfrm flipH="1">
                <a:off x="4108450" y="3975100"/>
                <a:ext cx="3816350" cy="133985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6D2A9933-F916-0E46-A509-25FD8F001806}"/>
                  </a:ext>
                </a:extLst>
              </p:cNvPr>
              <p:cNvCxnSpPr>
                <a:cxnSpLocks/>
              </p:cNvCxnSpPr>
              <p:nvPr/>
            </p:nvCxnSpPr>
            <p:spPr>
              <a:xfrm flipH="1">
                <a:off x="5070475" y="3978275"/>
                <a:ext cx="2854325" cy="129857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BDE4AE1E-DD47-A648-8E75-B628D3E56B38}"/>
                  </a:ext>
                </a:extLst>
              </p:cNvPr>
              <p:cNvCxnSpPr>
                <a:cxnSpLocks/>
              </p:cNvCxnSpPr>
              <p:nvPr/>
            </p:nvCxnSpPr>
            <p:spPr>
              <a:xfrm flipH="1">
                <a:off x="5607050" y="3984625"/>
                <a:ext cx="2320926" cy="13335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2C801921-8F99-4345-AADF-C79B5379ABCC}"/>
                  </a:ext>
                </a:extLst>
              </p:cNvPr>
              <p:cNvCxnSpPr>
                <a:cxnSpLocks/>
              </p:cNvCxnSpPr>
              <p:nvPr/>
            </p:nvCxnSpPr>
            <p:spPr>
              <a:xfrm flipH="1">
                <a:off x="6565900" y="3984625"/>
                <a:ext cx="1358900" cy="119380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87" name="Straight Connector 86">
              <a:extLst>
                <a:ext uri="{FF2B5EF4-FFF2-40B4-BE49-F238E27FC236}">
                  <a16:creationId xmlns:a16="http://schemas.microsoft.com/office/drawing/2014/main" id="{E7A7E738-8F7C-B641-98A4-26125EAB1AA9}"/>
                </a:ext>
              </a:extLst>
            </p:cNvPr>
            <p:cNvCxnSpPr/>
            <p:nvPr/>
          </p:nvCxnSpPr>
          <p:spPr>
            <a:xfrm flipV="1">
              <a:off x="7921625" y="3622675"/>
              <a:ext cx="0" cy="358775"/>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9" name="Slide Number Placeholder 2">
            <a:extLst>
              <a:ext uri="{FF2B5EF4-FFF2-40B4-BE49-F238E27FC236}">
                <a16:creationId xmlns:a16="http://schemas.microsoft.com/office/drawing/2014/main" id="{F67FBF66-1006-C849-9ABA-320AB4C17D74}"/>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7</a:t>
            </a:fld>
            <a:endParaRPr lang="en-US" dirty="0"/>
          </a:p>
        </p:txBody>
      </p:sp>
    </p:spTree>
    <p:extLst>
      <p:ext uri="{BB962C8B-B14F-4D97-AF65-F5344CB8AC3E}">
        <p14:creationId xmlns:p14="http://schemas.microsoft.com/office/powerpoint/2010/main" val="1370079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dissolv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left)">
                                      <p:cBhvr>
                                        <p:cTn id="12" dur="500"/>
                                        <p:tgtEl>
                                          <p:spTgt spid="36"/>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up)">
                                      <p:cBhvr>
                                        <p:cTn id="16" dur="500"/>
                                        <p:tgtEl>
                                          <p:spTgt spid="37"/>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500"/>
                                        <p:tgtEl>
                                          <p:spTgt spid="38"/>
                                        </p:tgtEl>
                                      </p:cBhvr>
                                    </p:animEffect>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up)">
                                      <p:cBhvr>
                                        <p:cTn id="24" dur="500"/>
                                        <p:tgtEl>
                                          <p:spTgt spid="39"/>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500"/>
                                        <p:tgtEl>
                                          <p:spTgt spid="41"/>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up)">
                                      <p:cBhvr>
                                        <p:cTn id="32" dur="500"/>
                                        <p:tgtEl>
                                          <p:spTgt spid="43"/>
                                        </p:tgtEl>
                                      </p:cBhvr>
                                    </p:animEffect>
                                  </p:childTnLst>
                                </p:cTn>
                              </p:par>
                            </p:childTnLst>
                          </p:cTn>
                        </p:par>
                        <p:par>
                          <p:cTn id="33" fill="hold">
                            <p:stCondLst>
                              <p:cond delay="3000"/>
                            </p:stCondLst>
                            <p:childTnLst>
                              <p:par>
                                <p:cTn id="34" presetID="22" presetClass="entr" presetSubtype="4" fill="hold" grpId="0" nodeType="afterEffect">
                                  <p:stCondLst>
                                    <p:cond delay="0"/>
                                  </p:stCondLst>
                                  <p:childTnLst>
                                    <p:set>
                                      <p:cBhvr>
                                        <p:cTn id="35" dur="1" fill="hold">
                                          <p:stCondLst>
                                            <p:cond delay="0"/>
                                          </p:stCondLst>
                                        </p:cTn>
                                        <p:tgtEl>
                                          <p:spTgt spid="44"/>
                                        </p:tgtEl>
                                        <p:attrNameLst>
                                          <p:attrName>style.visibility</p:attrName>
                                        </p:attrNameLst>
                                      </p:cBhvr>
                                      <p:to>
                                        <p:strVal val="visible"/>
                                      </p:to>
                                    </p:set>
                                    <p:animEffect transition="in" filter="wipe(down)">
                                      <p:cBhvr>
                                        <p:cTn id="36" dur="500"/>
                                        <p:tgtEl>
                                          <p:spTgt spid="44"/>
                                        </p:tgtEl>
                                      </p:cBhvr>
                                    </p:animEffect>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up)">
                                      <p:cBhvr>
                                        <p:cTn id="40" dur="500"/>
                                        <p:tgtEl>
                                          <p:spTgt spid="45"/>
                                        </p:tgtEl>
                                      </p:cBhvr>
                                    </p:animEffect>
                                  </p:childTnLst>
                                </p:cTn>
                              </p:par>
                            </p:childTnLst>
                          </p:cTn>
                        </p:par>
                        <p:par>
                          <p:cTn id="41" fill="hold">
                            <p:stCondLst>
                              <p:cond delay="4000"/>
                            </p:stCondLst>
                            <p:childTnLst>
                              <p:par>
                                <p:cTn id="42" presetID="22" presetClass="entr" presetSubtype="4" fill="hold" grpId="0" nodeType="after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down)">
                                      <p:cBhvr>
                                        <p:cTn id="44" dur="500"/>
                                        <p:tgtEl>
                                          <p:spTgt spid="46"/>
                                        </p:tgtEl>
                                      </p:cBhvr>
                                    </p:animEffect>
                                  </p:childTnLst>
                                </p:cTn>
                              </p:par>
                            </p:childTnLst>
                          </p:cTn>
                        </p:par>
                        <p:par>
                          <p:cTn id="45" fill="hold">
                            <p:stCondLst>
                              <p:cond delay="4500"/>
                            </p:stCondLst>
                            <p:childTnLst>
                              <p:par>
                                <p:cTn id="46" presetID="22" presetClass="entr" presetSubtype="1" fill="hold" grpId="0" nodeType="after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wipe(up)">
                                      <p:cBhvr>
                                        <p:cTn id="48" dur="500"/>
                                        <p:tgtEl>
                                          <p:spTgt spid="47"/>
                                        </p:tgtEl>
                                      </p:cBhvr>
                                    </p:animEffect>
                                  </p:childTnLst>
                                </p:cTn>
                              </p:par>
                            </p:childTnLst>
                          </p:cTn>
                        </p:par>
                        <p:par>
                          <p:cTn id="49" fill="hold">
                            <p:stCondLst>
                              <p:cond delay="5000"/>
                            </p:stCondLst>
                            <p:childTnLst>
                              <p:par>
                                <p:cTn id="50" presetID="22" presetClass="entr" presetSubtype="4" fill="hold" grpId="0" nodeType="after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wipe(down)">
                                      <p:cBhvr>
                                        <p:cTn id="52" dur="500"/>
                                        <p:tgtEl>
                                          <p:spTgt spid="48"/>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dissolve">
                                      <p:cBhvr>
                                        <p:cTn id="57" dur="500"/>
                                        <p:tgtEl>
                                          <p:spTgt spid="9"/>
                                        </p:tgtEl>
                                      </p:cBhvr>
                                    </p:animEffect>
                                  </p:childTnLst>
                                </p:cTn>
                              </p:par>
                            </p:childTnLst>
                          </p:cTn>
                        </p:par>
                        <p:par>
                          <p:cTn id="58" fill="hold">
                            <p:stCondLst>
                              <p:cond delay="500"/>
                            </p:stCondLst>
                            <p:childTnLst>
                              <p:par>
                                <p:cTn id="59" presetID="22" presetClass="entr" presetSubtype="1" fill="hold" nodeType="afterEffect">
                                  <p:stCondLst>
                                    <p:cond delay="1000"/>
                                  </p:stCondLst>
                                  <p:childTnLst>
                                    <p:set>
                                      <p:cBhvr>
                                        <p:cTn id="60" dur="1" fill="hold">
                                          <p:stCondLst>
                                            <p:cond delay="0"/>
                                          </p:stCondLst>
                                        </p:cTn>
                                        <p:tgtEl>
                                          <p:spTgt spid="33"/>
                                        </p:tgtEl>
                                        <p:attrNameLst>
                                          <p:attrName>style.visibility</p:attrName>
                                        </p:attrNameLst>
                                      </p:cBhvr>
                                      <p:to>
                                        <p:strVal val="visible"/>
                                      </p:to>
                                    </p:set>
                                    <p:animEffect transition="in" filter="wipe(up)">
                                      <p:cBhvr>
                                        <p:cTn id="61" dur="500"/>
                                        <p:tgtEl>
                                          <p:spTgt spid="33"/>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dissolve">
                                      <p:cBhvr>
                                        <p:cTn id="66" dur="500"/>
                                        <p:tgtEl>
                                          <p:spTgt spid="63"/>
                                        </p:tgtEl>
                                      </p:cBhvr>
                                    </p:animEffect>
                                  </p:childTnLst>
                                </p:cTn>
                              </p:par>
                              <p:par>
                                <p:cTn id="67" presetID="9" presetClass="exit" presetSubtype="0" fill="hold" nodeType="withEffect">
                                  <p:stCondLst>
                                    <p:cond delay="0"/>
                                  </p:stCondLst>
                                  <p:childTnLst>
                                    <p:animEffect transition="out" filter="dissolve">
                                      <p:cBhvr>
                                        <p:cTn id="68" dur="500"/>
                                        <p:tgtEl>
                                          <p:spTgt spid="33"/>
                                        </p:tgtEl>
                                      </p:cBhvr>
                                    </p:animEffect>
                                    <p:set>
                                      <p:cBhvr>
                                        <p:cTn id="69" dur="1" fill="hold">
                                          <p:stCondLst>
                                            <p:cond delay="499"/>
                                          </p:stCondLst>
                                        </p:cTn>
                                        <p:tgtEl>
                                          <p:spTgt spid="33"/>
                                        </p:tgtEl>
                                        <p:attrNameLst>
                                          <p:attrName>style.visibility</p:attrName>
                                        </p:attrNameLst>
                                      </p:cBhvr>
                                      <p:to>
                                        <p:strVal val="hidden"/>
                                      </p:to>
                                    </p:set>
                                  </p:childTnLst>
                                </p:cTn>
                              </p:par>
                            </p:childTnLst>
                          </p:cTn>
                        </p:par>
                        <p:par>
                          <p:cTn id="70" fill="hold">
                            <p:stCondLst>
                              <p:cond delay="500"/>
                            </p:stCondLst>
                            <p:childTnLst>
                              <p:par>
                                <p:cTn id="71" presetID="22" presetClass="entr" presetSubtype="1" fill="hold" nodeType="afterEffect">
                                  <p:stCondLst>
                                    <p:cond delay="1000"/>
                                  </p:stCondLst>
                                  <p:childTnLst>
                                    <p:set>
                                      <p:cBhvr>
                                        <p:cTn id="72" dur="1" fill="hold">
                                          <p:stCondLst>
                                            <p:cond delay="0"/>
                                          </p:stCondLst>
                                        </p:cTn>
                                        <p:tgtEl>
                                          <p:spTgt spid="88"/>
                                        </p:tgtEl>
                                        <p:attrNameLst>
                                          <p:attrName>style.visibility</p:attrName>
                                        </p:attrNameLst>
                                      </p:cBhvr>
                                      <p:to>
                                        <p:strVal val="visible"/>
                                      </p:to>
                                    </p:set>
                                    <p:animEffect transition="in" filter="wipe(up)">
                                      <p:cBhvr>
                                        <p:cTn id="73" dur="500"/>
                                        <p:tgtEl>
                                          <p:spTgt spid="88"/>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141"/>
                                        </p:tgtEl>
                                        <p:attrNameLst>
                                          <p:attrName>style.visibility</p:attrName>
                                        </p:attrNameLst>
                                      </p:cBhvr>
                                      <p:to>
                                        <p:strVal val="visible"/>
                                      </p:to>
                                    </p:set>
                                    <p:animEffect transition="in" filter="dissolve">
                                      <p:cBhvr>
                                        <p:cTn id="78" dur="500"/>
                                        <p:tgtEl>
                                          <p:spTgt spid="141"/>
                                        </p:tgtEl>
                                      </p:cBhvr>
                                    </p:animEffect>
                                  </p:childTnLst>
                                </p:cTn>
                              </p:par>
                              <p:par>
                                <p:cTn id="79" presetID="9" presetClass="exit" presetSubtype="0" fill="hold" nodeType="withEffect">
                                  <p:stCondLst>
                                    <p:cond delay="0"/>
                                  </p:stCondLst>
                                  <p:childTnLst>
                                    <p:animEffect transition="out" filter="dissolve">
                                      <p:cBhvr>
                                        <p:cTn id="80" dur="500"/>
                                        <p:tgtEl>
                                          <p:spTgt spid="88"/>
                                        </p:tgtEl>
                                      </p:cBhvr>
                                    </p:animEffect>
                                    <p:set>
                                      <p:cBhvr>
                                        <p:cTn id="81" dur="1" fill="hold">
                                          <p:stCondLst>
                                            <p:cond delay="499"/>
                                          </p:stCondLst>
                                        </p:cTn>
                                        <p:tgtEl>
                                          <p:spTgt spid="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36" grpId="0" animBg="1"/>
      <p:bldP spid="37" grpId="0" animBg="1"/>
      <p:bldP spid="38" grpId="0" animBg="1"/>
      <p:bldP spid="39" grpId="0" animBg="1"/>
      <p:bldP spid="41" grpId="0" animBg="1"/>
      <p:bldP spid="43" grpId="0" animBg="1"/>
      <p:bldP spid="44" grpId="0" animBg="1"/>
      <p:bldP spid="45" grpId="0" animBg="1"/>
      <p:bldP spid="46" grpId="0" animBg="1"/>
      <p:bldP spid="47" grpId="0" animBg="1"/>
      <p:bldP spid="4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1390" y="258153"/>
            <a:ext cx="11393310" cy="894622"/>
          </a:xfrm>
        </p:spPr>
        <p:txBody>
          <a:bodyPr>
            <a:normAutofit/>
          </a:bodyPr>
          <a:lstStyle/>
          <a:p>
            <a:r>
              <a:rPr lang="en-US" sz="4800" b="0" dirty="0"/>
              <a:t>TCP AIMD: more</a:t>
            </a:r>
            <a:endParaRPr lang="en-US" sz="4400" b="0" dirty="0"/>
          </a:p>
        </p:txBody>
      </p:sp>
      <p:sp>
        <p:nvSpPr>
          <p:cNvPr id="135" name="Rectangle 8">
            <a:extLst>
              <a:ext uri="{FF2B5EF4-FFF2-40B4-BE49-F238E27FC236}">
                <a16:creationId xmlns:a16="http://schemas.microsoft.com/office/drawing/2014/main" id="{C755821F-F513-514B-9B5B-FF9A16FD83AB}"/>
              </a:ext>
            </a:extLst>
          </p:cNvPr>
          <p:cNvSpPr>
            <a:spLocks noChangeArrowheads="1"/>
          </p:cNvSpPr>
          <p:nvPr/>
        </p:nvSpPr>
        <p:spPr bwMode="auto">
          <a:xfrm>
            <a:off x="901700" y="1361440"/>
            <a:ext cx="9847580" cy="17678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Multiplicative decrease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detail:  sending rate is </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in half on loss detected by triple duplicate ACK (TCP Reno)</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Cut to 1 MSS (maximum segment size) when loss detected by timeout (TCP Tahoe)</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49" name="Rectangle 8">
            <a:extLst>
              <a:ext uri="{FF2B5EF4-FFF2-40B4-BE49-F238E27FC236}">
                <a16:creationId xmlns:a16="http://schemas.microsoft.com/office/drawing/2014/main" id="{FEB15F8D-408A-A649-8405-2EA6EA738400}"/>
              </a:ext>
            </a:extLst>
          </p:cNvPr>
          <p:cNvSpPr>
            <a:spLocks noChangeArrowheads="1"/>
          </p:cNvSpPr>
          <p:nvPr/>
        </p:nvSpPr>
        <p:spPr bwMode="auto">
          <a:xfrm>
            <a:off x="861060" y="3362960"/>
            <a:ext cx="9847580" cy="17678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Why</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2800" b="0" i="0"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A</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I</a:t>
            </a:r>
            <a:r>
              <a:rPr kumimoji="0" lang="en-US" sz="2800" b="0" i="0" u="sng" strike="noStrike" kern="1200" cap="none" spc="0" normalizeH="0" baseline="0" noProof="0" dirty="0">
                <a:ln>
                  <a:noFill/>
                </a:ln>
                <a:solidFill>
                  <a:srgbClr val="C00000"/>
                </a:solidFill>
                <a:effectLst/>
                <a:uLnTx/>
                <a:uFillTx/>
                <a:latin typeface="Calibri" panose="020F0502020204030204"/>
                <a:ea typeface="ＭＳ Ｐゴシック" charset="0"/>
                <a:cs typeface="+mn-cs"/>
              </a:rPr>
              <a:t>M</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D</a:t>
            </a:r>
            <a:r>
              <a:rPr kumimoji="0" lang="en-US" sz="28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a:t>
            </a:r>
            <a:r>
              <a:rPr kumimoji="0" lang="en-US" sz="28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 </a:t>
            </a:r>
          </a:p>
          <a:p>
            <a:pPr marL="406400" marR="0" lvl="0" indent="-3048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AIMD – a distributed, asynchronous algorithm – has been shown to:</a:t>
            </a:r>
          </a:p>
          <a:p>
            <a:pPr marL="690563" marR="0" lvl="1" indent="-284163"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optimize congested flow rates network wide!</a:t>
            </a:r>
          </a:p>
          <a:p>
            <a:pPr marL="690563" marR="0" lvl="1" indent="-284163" algn="l" defTabSz="914400" rtl="0" eaLnBrk="1" fontAlgn="auto" latinLnBrk="0" hangingPunct="1">
              <a:lnSpc>
                <a:spcPct val="85000"/>
              </a:lnSpc>
              <a:spcBef>
                <a:spcPct val="20000"/>
              </a:spcBef>
              <a:spcAft>
                <a:spcPts val="0"/>
              </a:spcAft>
              <a:buClr>
                <a:srgbClr val="000099"/>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have desirable stability properties</a:t>
            </a:r>
          </a:p>
          <a:p>
            <a:pPr marL="101600" marR="0" lvl="0" indent="0" algn="l" defTabSz="914400" rtl="0" eaLnBrk="1" fontAlgn="auto" latinLnBrk="0" hangingPunct="1">
              <a:lnSpc>
                <a:spcPct val="85000"/>
              </a:lnSpc>
              <a:spcBef>
                <a:spcPct val="20000"/>
              </a:spcBef>
              <a:spcAft>
                <a:spcPts val="0"/>
              </a:spcAft>
              <a:buClr>
                <a:srgbClr val="000099"/>
              </a:buClr>
              <a:buSzPct val="100000"/>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a:p>
            <a:pPr marL="292100" marR="0" lvl="0" indent="-292100"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endPar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endParaRPr>
          </a:p>
        </p:txBody>
      </p:sp>
      <p:sp>
        <p:nvSpPr>
          <p:cNvPr id="5" name="Slide Number Placeholder 2">
            <a:extLst>
              <a:ext uri="{FF2B5EF4-FFF2-40B4-BE49-F238E27FC236}">
                <a16:creationId xmlns:a16="http://schemas.microsoft.com/office/drawing/2014/main" id="{1DCE9A74-28EC-4B49-833C-3052DE209801}"/>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8</a:t>
            </a:fld>
            <a:endParaRPr lang="en-US" dirty="0"/>
          </a:p>
        </p:txBody>
      </p:sp>
    </p:spTree>
    <p:extLst>
      <p:ext uri="{BB962C8B-B14F-4D97-AF65-F5344CB8AC3E}">
        <p14:creationId xmlns:p14="http://schemas.microsoft.com/office/powerpoint/2010/main" val="2874045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46743"/>
            <a:ext cx="11393310" cy="894622"/>
          </a:xfrm>
        </p:spPr>
        <p:txBody>
          <a:bodyPr>
            <a:normAutofit/>
          </a:bodyPr>
          <a:lstStyle/>
          <a:p>
            <a:r>
              <a:rPr lang="en-US" sz="4800" dirty="0"/>
              <a:t>TCP: from slow start to congestion avoidance</a:t>
            </a:r>
            <a:endParaRPr lang="en-US" sz="4400" b="0" dirty="0"/>
          </a:p>
        </p:txBody>
      </p:sp>
      <p:sp>
        <p:nvSpPr>
          <p:cNvPr id="76" name="Rectangle 3">
            <a:extLst>
              <a:ext uri="{FF2B5EF4-FFF2-40B4-BE49-F238E27FC236}">
                <a16:creationId xmlns:a16="http://schemas.microsoft.com/office/drawing/2014/main" id="{2C9AD9FD-A93B-FF4D-B019-6827A14601C2}"/>
              </a:ext>
            </a:extLst>
          </p:cNvPr>
          <p:cNvSpPr txBox="1">
            <a:spLocks noChangeArrowheads="1"/>
          </p:cNvSpPr>
          <p:nvPr/>
        </p:nvSpPr>
        <p:spPr>
          <a:xfrm>
            <a:off x="952500" y="1382665"/>
            <a:ext cx="5054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should the exponential increase switch to linear?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a:t>
            </a:r>
            <a:r>
              <a:rPr kumimoji="0" lang="en-US" sz="28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gets to 1/2 of its value before timeout.</a:t>
            </a:r>
          </a:p>
        </p:txBody>
      </p:sp>
      <p:sp>
        <p:nvSpPr>
          <p:cNvPr id="77" name="Rectangle 4">
            <a:extLst>
              <a:ext uri="{FF2B5EF4-FFF2-40B4-BE49-F238E27FC236}">
                <a16:creationId xmlns:a16="http://schemas.microsoft.com/office/drawing/2014/main" id="{38B71F69-39D9-954A-BA33-6A5861B7704D}"/>
              </a:ext>
            </a:extLst>
          </p:cNvPr>
          <p:cNvSpPr txBox="1">
            <a:spLocks noChangeArrowheads="1"/>
          </p:cNvSpPr>
          <p:nvPr/>
        </p:nvSpPr>
        <p:spPr>
          <a:xfrm>
            <a:off x="952500" y="3528965"/>
            <a:ext cx="4927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variable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loss event,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is set to 1/2 of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just before loss event</a:t>
            </a:r>
          </a:p>
        </p:txBody>
      </p:sp>
      <p:pic>
        <p:nvPicPr>
          <p:cNvPr id="79" name="Picture 7">
            <a:extLst>
              <a:ext uri="{FF2B5EF4-FFF2-40B4-BE49-F238E27FC236}">
                <a16:creationId xmlns:a16="http://schemas.microsoft.com/office/drawing/2014/main" id="{E19775EA-E95E-BD43-909F-67A89A00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1387" y="1889345"/>
            <a:ext cx="5536882" cy="31575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7" name="Rectangle 6">
            <a:extLst>
              <a:ext uri="{FF2B5EF4-FFF2-40B4-BE49-F238E27FC236}">
                <a16:creationId xmlns:a16="http://schemas.microsoft.com/office/drawing/2014/main" id="{7E5A3F5F-F42B-F04E-BB6A-D57835C29067}"/>
              </a:ext>
            </a:extLst>
          </p:cNvPr>
          <p:cNvSpPr/>
          <p:nvPr/>
        </p:nvSpPr>
        <p:spPr>
          <a:xfrm>
            <a:off x="7851775" y="3825875"/>
            <a:ext cx="850900"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9BEA2FA-AD20-B940-ADBA-D9DD40684573}"/>
              </a:ext>
            </a:extLst>
          </p:cNvPr>
          <p:cNvSpPr/>
          <p:nvPr/>
        </p:nvSpPr>
        <p:spPr>
          <a:xfrm>
            <a:off x="7677150" y="3924300"/>
            <a:ext cx="8509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D72B7EED-D8C9-284D-9A93-58D1D9D479F7}"/>
              </a:ext>
            </a:extLst>
          </p:cNvPr>
          <p:cNvPicPr>
            <a:picLocks noChangeAspect="1"/>
          </p:cNvPicPr>
          <p:nvPr/>
        </p:nvPicPr>
        <p:blipFill>
          <a:blip r:embed="rId4"/>
          <a:stretch>
            <a:fillRect/>
          </a:stretch>
        </p:blipFill>
        <p:spPr>
          <a:xfrm>
            <a:off x="10020300" y="3804496"/>
            <a:ext cx="1003300" cy="234103"/>
          </a:xfrm>
          <a:prstGeom prst="rect">
            <a:avLst/>
          </a:prstGeom>
        </p:spPr>
      </p:pic>
      <p:sp>
        <p:nvSpPr>
          <p:cNvPr id="4" name="Rectangle 3">
            <a:extLst>
              <a:ext uri="{FF2B5EF4-FFF2-40B4-BE49-F238E27FC236}">
                <a16:creationId xmlns:a16="http://schemas.microsoft.com/office/drawing/2014/main" id="{F9E33F83-60EE-F54A-B838-917BE2E70995}"/>
              </a:ext>
            </a:extLst>
          </p:cNvPr>
          <p:cNvSpPr/>
          <p:nvPr/>
        </p:nvSpPr>
        <p:spPr>
          <a:xfrm>
            <a:off x="9194800" y="1892300"/>
            <a:ext cx="2133600" cy="248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A184EDA-6A29-2941-A0A9-C122E26F942B}"/>
              </a:ext>
            </a:extLst>
          </p:cNvPr>
          <p:cNvSpPr txBox="1"/>
          <p:nvPr/>
        </p:nvSpPr>
        <p:spPr>
          <a:xfrm>
            <a:off x="9067800" y="2197100"/>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X</a:t>
            </a:r>
          </a:p>
        </p:txBody>
      </p:sp>
      <p:sp>
        <p:nvSpPr>
          <p:cNvPr id="13" name="Slide Number Placeholder 2">
            <a:extLst>
              <a:ext uri="{FF2B5EF4-FFF2-40B4-BE49-F238E27FC236}">
                <a16:creationId xmlns:a16="http://schemas.microsoft.com/office/drawing/2014/main" id="{632F645E-415D-7B49-B6B8-127E8033C54D}"/>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9</a:t>
            </a:fld>
            <a:endParaRPr lang="en-US" dirty="0"/>
          </a:p>
        </p:txBody>
      </p:sp>
      <p:sp>
        <p:nvSpPr>
          <p:cNvPr id="3" name="Rectangle 2">
            <a:extLst>
              <a:ext uri="{FF2B5EF4-FFF2-40B4-BE49-F238E27FC236}">
                <a16:creationId xmlns:a16="http://schemas.microsoft.com/office/drawing/2014/main" id="{32289A02-F40A-0B45-8630-4493CA5B6C36}"/>
              </a:ext>
            </a:extLst>
          </p:cNvPr>
          <p:cNvSpPr/>
          <p:nvPr/>
        </p:nvSpPr>
        <p:spPr>
          <a:xfrm>
            <a:off x="1802598" y="5675265"/>
            <a:ext cx="2681183" cy="369332"/>
          </a:xfrm>
          <a:prstGeom prst="rect">
            <a:avLst/>
          </a:prstGeom>
        </p:spPr>
        <p:txBody>
          <a:bodyPr wrap="none">
            <a:spAutoFit/>
          </a:bodyPr>
          <a:lstStyle/>
          <a:p>
            <a:r>
              <a:rPr lang="en-US" dirty="0"/>
              <a:t>Congestion window </a:t>
            </a:r>
            <a:r>
              <a:rPr lang="en-US" dirty="0">
                <a:hlinkClick r:id="rId5"/>
              </a:rPr>
              <a:t>VIDEO</a:t>
            </a:r>
            <a:endParaRPr lang="en-US" dirty="0"/>
          </a:p>
        </p:txBody>
      </p:sp>
    </p:spTree>
    <p:extLst>
      <p:ext uri="{BB962C8B-B14F-4D97-AF65-F5344CB8AC3E}">
        <p14:creationId xmlns:p14="http://schemas.microsoft.com/office/powerpoint/2010/main" val="2176876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unACKed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unACKed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C0000"/>
                  </a:solidFill>
                  <a:effectLst/>
                  <a:uLnTx/>
                  <a:uFillTx/>
                  <a:latin typeface="Tahoma" charset="0"/>
                  <a:ea typeface="ＭＳ Ｐゴシック" charset="0"/>
                  <a:cs typeface="+mn-cs"/>
                </a:rPr>
                <a:t>TCP fast retransmit</a:t>
              </a:r>
            </a:p>
          </p:txBody>
        </p:sp>
      </p:grpSp>
      <p:sp>
        <p:nvSpPr>
          <p:cNvPr id="53" name="Slide Number Placeholder 2">
            <a:extLst>
              <a:ext uri="{FF2B5EF4-FFF2-40B4-BE49-F238E27FC236}">
                <a16:creationId xmlns:a16="http://schemas.microsoft.com/office/drawing/2014/main" id="{16A9B416-8E8B-FD4A-BF46-FBBC16EEB4F4}"/>
              </a:ext>
            </a:extLst>
          </p:cNvPr>
          <p:cNvSpPr>
            <a:spLocks noGrp="1"/>
          </p:cNvSpPr>
          <p:nvPr>
            <p:ph type="sldNum" sz="quarter" idx="4"/>
          </p:nvPr>
        </p:nvSpPr>
        <p:spPr>
          <a:xfrm>
            <a:off x="9219616" y="6443089"/>
            <a:ext cx="2743200" cy="365125"/>
          </a:xfrm>
        </p:spPr>
        <p:txBody>
          <a:bodyPr/>
          <a:lstStyle/>
          <a:p>
            <a:r>
              <a:rPr lang="en-US" dirty="0"/>
              <a:t>Transport Layer: 3-</a:t>
            </a:r>
            <a:fld id="{C4204591-24BD-A542-B9D5-F8D8A88D2FEE}" type="slidenum">
              <a:rPr lang="en-US" smtClean="0"/>
              <a:pPr/>
              <a:t>10</a:t>
            </a:fld>
            <a:endParaRPr lang="en-US" dirty="0"/>
          </a:p>
        </p:txBody>
      </p:sp>
    </p:spTree>
    <p:extLst>
      <p:ext uri="{BB962C8B-B14F-4D97-AF65-F5344CB8AC3E}">
        <p14:creationId xmlns:p14="http://schemas.microsoft.com/office/powerpoint/2010/main" val="4072184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12800" y="246743"/>
            <a:ext cx="11393310" cy="894622"/>
          </a:xfrm>
        </p:spPr>
        <p:txBody>
          <a:bodyPr>
            <a:normAutofit/>
          </a:bodyPr>
          <a:lstStyle/>
          <a:p>
            <a:r>
              <a:rPr lang="en-US" sz="4800" dirty="0"/>
              <a:t>TCP: from slow start to congestion avoidance</a:t>
            </a:r>
            <a:endParaRPr lang="en-US" sz="4400" b="0" dirty="0"/>
          </a:p>
        </p:txBody>
      </p:sp>
      <p:sp>
        <p:nvSpPr>
          <p:cNvPr id="76" name="Rectangle 3">
            <a:extLst>
              <a:ext uri="{FF2B5EF4-FFF2-40B4-BE49-F238E27FC236}">
                <a16:creationId xmlns:a16="http://schemas.microsoft.com/office/drawing/2014/main" id="{2C9AD9FD-A93B-FF4D-B019-6827A14601C2}"/>
              </a:ext>
            </a:extLst>
          </p:cNvPr>
          <p:cNvSpPr txBox="1">
            <a:spLocks noChangeArrowheads="1"/>
          </p:cNvSpPr>
          <p:nvPr/>
        </p:nvSpPr>
        <p:spPr>
          <a:xfrm>
            <a:off x="952500" y="1382665"/>
            <a:ext cx="5054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Q: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should the exponential increase switch to linear?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when </a:t>
            </a:r>
            <a:r>
              <a:rPr kumimoji="0" lang="en-US" sz="28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gets to 1/2 of its value before timeout.</a:t>
            </a:r>
          </a:p>
        </p:txBody>
      </p:sp>
      <p:sp>
        <p:nvSpPr>
          <p:cNvPr id="77" name="Rectangle 4">
            <a:extLst>
              <a:ext uri="{FF2B5EF4-FFF2-40B4-BE49-F238E27FC236}">
                <a16:creationId xmlns:a16="http://schemas.microsoft.com/office/drawing/2014/main" id="{38B71F69-39D9-954A-BA33-6A5861B7704D}"/>
              </a:ext>
            </a:extLst>
          </p:cNvPr>
          <p:cNvSpPr txBox="1">
            <a:spLocks noChangeArrowheads="1"/>
          </p:cNvSpPr>
          <p:nvPr/>
        </p:nvSpPr>
        <p:spPr>
          <a:xfrm>
            <a:off x="952500" y="3528965"/>
            <a:ext cx="4927600" cy="19050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Implementation: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variable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on loss event,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ssthresh</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is set to 1/2 of </a:t>
            </a:r>
            <a:r>
              <a:rPr kumimoji="0" lang="en-US" sz="2400" b="1" i="0" u="none" strike="noStrike" kern="1200" cap="none" spc="0" normalizeH="0" baseline="0" noProof="0" dirty="0">
                <a:ln>
                  <a:noFill/>
                </a:ln>
                <a:solidFill>
                  <a:prstClr val="black"/>
                </a:solidFill>
                <a:effectLst/>
                <a:uLnTx/>
                <a:uFillTx/>
                <a:latin typeface="Courier New" charset="0"/>
                <a:ea typeface="+mn-ea"/>
                <a:cs typeface="+mn-cs"/>
              </a:rPr>
              <a:t>cwnd</a:t>
            </a:r>
            <a:r>
              <a:rPr kumimoji="0" lang="en-US" sz="2400" b="0" i="0" u="none" strike="noStrike" kern="1200" cap="none" spc="0" normalizeH="0" baseline="0" noProof="0" dirty="0">
                <a:ln>
                  <a:noFill/>
                </a:ln>
                <a:solidFill>
                  <a:prstClr val="black"/>
                </a:solidFill>
                <a:effectLst/>
                <a:uLnTx/>
                <a:uFillTx/>
                <a:latin typeface="Courier New" charset="0"/>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just before loss event</a:t>
            </a:r>
          </a:p>
        </p:txBody>
      </p:sp>
      <p:pic>
        <p:nvPicPr>
          <p:cNvPr id="79" name="Picture 7">
            <a:extLst>
              <a:ext uri="{FF2B5EF4-FFF2-40B4-BE49-F238E27FC236}">
                <a16:creationId xmlns:a16="http://schemas.microsoft.com/office/drawing/2014/main" id="{E19775EA-E95E-BD43-909F-67A89A00EF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1387" y="1889345"/>
            <a:ext cx="5536882" cy="31575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7" name="Rectangle 6">
            <a:extLst>
              <a:ext uri="{FF2B5EF4-FFF2-40B4-BE49-F238E27FC236}">
                <a16:creationId xmlns:a16="http://schemas.microsoft.com/office/drawing/2014/main" id="{7E5A3F5F-F42B-F04E-BB6A-D57835C29067}"/>
              </a:ext>
            </a:extLst>
          </p:cNvPr>
          <p:cNvSpPr/>
          <p:nvPr/>
        </p:nvSpPr>
        <p:spPr>
          <a:xfrm>
            <a:off x="7851775" y="3825875"/>
            <a:ext cx="850900"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79BEA2FA-AD20-B940-ADBA-D9DD40684573}"/>
              </a:ext>
            </a:extLst>
          </p:cNvPr>
          <p:cNvSpPr/>
          <p:nvPr/>
        </p:nvSpPr>
        <p:spPr>
          <a:xfrm>
            <a:off x="7677150" y="3924300"/>
            <a:ext cx="8509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8" name="Picture 7">
            <a:extLst>
              <a:ext uri="{FF2B5EF4-FFF2-40B4-BE49-F238E27FC236}">
                <a16:creationId xmlns:a16="http://schemas.microsoft.com/office/drawing/2014/main" id="{D72B7EED-D8C9-284D-9A93-58D1D9D479F7}"/>
              </a:ext>
            </a:extLst>
          </p:cNvPr>
          <p:cNvPicPr>
            <a:picLocks noChangeAspect="1"/>
          </p:cNvPicPr>
          <p:nvPr/>
        </p:nvPicPr>
        <p:blipFill>
          <a:blip r:embed="rId4"/>
          <a:stretch>
            <a:fillRect/>
          </a:stretch>
        </p:blipFill>
        <p:spPr>
          <a:xfrm>
            <a:off x="10020300" y="3804496"/>
            <a:ext cx="1003300" cy="234103"/>
          </a:xfrm>
          <a:prstGeom prst="rect">
            <a:avLst/>
          </a:prstGeom>
        </p:spPr>
      </p:pic>
      <p:sp>
        <p:nvSpPr>
          <p:cNvPr id="4" name="Rectangle 3">
            <a:extLst>
              <a:ext uri="{FF2B5EF4-FFF2-40B4-BE49-F238E27FC236}">
                <a16:creationId xmlns:a16="http://schemas.microsoft.com/office/drawing/2014/main" id="{F9E33F83-60EE-F54A-B838-917BE2E70995}"/>
              </a:ext>
            </a:extLst>
          </p:cNvPr>
          <p:cNvSpPr/>
          <p:nvPr/>
        </p:nvSpPr>
        <p:spPr>
          <a:xfrm>
            <a:off x="9194800" y="1892300"/>
            <a:ext cx="2133600" cy="248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A184EDA-6A29-2941-A0A9-C122E26F942B}"/>
              </a:ext>
            </a:extLst>
          </p:cNvPr>
          <p:cNvSpPr txBox="1"/>
          <p:nvPr/>
        </p:nvSpPr>
        <p:spPr>
          <a:xfrm>
            <a:off x="9067800" y="2197100"/>
            <a:ext cx="31130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0000"/>
                </a:solidFill>
                <a:effectLst/>
                <a:uLnTx/>
                <a:uFillTx/>
                <a:latin typeface="Calibri"/>
                <a:ea typeface="+mn-ea"/>
                <a:cs typeface="+mn-cs"/>
              </a:rPr>
              <a:t>X</a:t>
            </a:r>
          </a:p>
        </p:txBody>
      </p:sp>
      <p:sp>
        <p:nvSpPr>
          <p:cNvPr id="13" name="Slide Number Placeholder 2">
            <a:extLst>
              <a:ext uri="{FF2B5EF4-FFF2-40B4-BE49-F238E27FC236}">
                <a16:creationId xmlns:a16="http://schemas.microsoft.com/office/drawing/2014/main" id="{632F645E-415D-7B49-B6B8-127E8033C54D}"/>
              </a:ext>
            </a:extLst>
          </p:cNvPr>
          <p:cNvSpPr>
            <a:spLocks noGrp="1"/>
          </p:cNvSpPr>
          <p:nvPr>
            <p:ph type="sldNum" sz="quarter" idx="4294967295"/>
          </p:nvPr>
        </p:nvSpPr>
        <p:spPr>
          <a:xfrm>
            <a:off x="9219616" y="6443089"/>
            <a:ext cx="2743200" cy="365125"/>
          </a:xfrm>
        </p:spPr>
        <p:txBody>
          <a:bodyPr/>
          <a:lstStyle/>
          <a:p>
            <a:r>
              <a:rPr lang="en-US" dirty="0"/>
              <a:t>Transport Layer: 3-</a:t>
            </a:r>
            <a:fld id="{C4204591-24BD-A542-B9D5-F8D8A88D2FEE}" type="slidenum">
              <a:rPr lang="en-US" smtClean="0"/>
              <a:pPr/>
              <a:t>11</a:t>
            </a:fld>
            <a:endParaRPr lang="en-US" dirty="0"/>
          </a:p>
        </p:txBody>
      </p:sp>
      <p:sp>
        <p:nvSpPr>
          <p:cNvPr id="3" name="Rectangle 2">
            <a:extLst>
              <a:ext uri="{FF2B5EF4-FFF2-40B4-BE49-F238E27FC236}">
                <a16:creationId xmlns:a16="http://schemas.microsoft.com/office/drawing/2014/main" id="{32289A02-F40A-0B45-8630-4493CA5B6C36}"/>
              </a:ext>
            </a:extLst>
          </p:cNvPr>
          <p:cNvSpPr/>
          <p:nvPr/>
        </p:nvSpPr>
        <p:spPr>
          <a:xfrm>
            <a:off x="1802598" y="5675265"/>
            <a:ext cx="2681183" cy="369332"/>
          </a:xfrm>
          <a:prstGeom prst="rect">
            <a:avLst/>
          </a:prstGeom>
        </p:spPr>
        <p:txBody>
          <a:bodyPr wrap="none">
            <a:spAutoFit/>
          </a:bodyPr>
          <a:lstStyle/>
          <a:p>
            <a:r>
              <a:rPr lang="en-US" dirty="0"/>
              <a:t>Congestion window </a:t>
            </a:r>
            <a:r>
              <a:rPr lang="en-US" dirty="0">
                <a:hlinkClick r:id="rId5"/>
              </a:rPr>
              <a:t>VIDEO</a:t>
            </a:r>
            <a:endParaRPr lang="en-US" dirty="0"/>
          </a:p>
        </p:txBody>
      </p:sp>
    </p:spTree>
    <p:extLst>
      <p:ext uri="{BB962C8B-B14F-4D97-AF65-F5344CB8AC3E}">
        <p14:creationId xmlns:p14="http://schemas.microsoft.com/office/powerpoint/2010/main" val="127781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dissolve">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6A57F2-9695-4648-AF25-2EED13734ED7}"/>
              </a:ext>
            </a:extLst>
          </p:cNvPr>
          <p:cNvPicPr/>
          <p:nvPr/>
        </p:nvPicPr>
        <p:blipFill>
          <a:blip r:embed="rId2"/>
          <a:stretch>
            <a:fillRect/>
          </a:stretch>
        </p:blipFill>
        <p:spPr>
          <a:xfrm>
            <a:off x="513184" y="219352"/>
            <a:ext cx="5250582" cy="2431058"/>
          </a:xfrm>
          <a:prstGeom prst="rect">
            <a:avLst/>
          </a:prstGeom>
        </p:spPr>
      </p:pic>
      <p:sp>
        <p:nvSpPr>
          <p:cNvPr id="6" name="Rectangle 5">
            <a:extLst>
              <a:ext uri="{FF2B5EF4-FFF2-40B4-BE49-F238E27FC236}">
                <a16:creationId xmlns:a16="http://schemas.microsoft.com/office/drawing/2014/main" id="{F48D6209-B4A0-4747-B64A-A50B113DCDD6}"/>
              </a:ext>
            </a:extLst>
          </p:cNvPr>
          <p:cNvSpPr/>
          <p:nvPr/>
        </p:nvSpPr>
        <p:spPr>
          <a:xfrm>
            <a:off x="734010" y="2557104"/>
            <a:ext cx="6096000" cy="3693319"/>
          </a:xfrm>
          <a:prstGeom prst="rect">
            <a:avLst/>
          </a:prstGeom>
        </p:spPr>
        <p:txBody>
          <a:bodyPr>
            <a:spAutoFit/>
          </a:bodyPr>
          <a:lstStyle/>
          <a:p>
            <a:pPr marL="342900" indent="-342900">
              <a:buFont typeface="+mj-lt"/>
              <a:buAutoNum type="arabicPeriod"/>
            </a:pPr>
            <a:r>
              <a:rPr lang="en-IN" dirty="0">
                <a:solidFill>
                  <a:srgbClr val="000000"/>
                </a:solidFill>
                <a:latin typeface="Times New Roman" panose="02020603050405020304" pitchFamily="18" charset="0"/>
              </a:rPr>
              <a:t>Name the event at B which occurs that causes the sender to decrease its window.</a:t>
            </a: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dirty="0">
                <a:solidFill>
                  <a:srgbClr val="000000"/>
                </a:solidFill>
                <a:latin typeface="Times New Roman" panose="02020603050405020304" pitchFamily="18" charset="0"/>
              </a:rPr>
              <a:t>Does the event at B necessitate that the network discarded a packet (Yes or No)? Why or</a:t>
            </a:r>
          </a:p>
          <a:p>
            <a:pPr marL="342900" indent="-342900">
              <a:buFont typeface="+mj-lt"/>
              <a:buAutoNum type="arabicPeriod"/>
            </a:pPr>
            <a:endParaRPr lang="en-IN" b="1" dirty="0">
              <a:solidFill>
                <a:srgbClr val="000000"/>
              </a:solidFill>
              <a:latin typeface="Times New Roman" panose="02020603050405020304" pitchFamily="18" charset="0"/>
            </a:endParaRP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dirty="0">
                <a:solidFill>
                  <a:srgbClr val="000000"/>
                </a:solidFill>
                <a:latin typeface="Times New Roman" panose="02020603050405020304" pitchFamily="18" charset="0"/>
              </a:rPr>
              <a:t>Name the event at D which occurs that causes the sender to decrease its window.</a:t>
            </a: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dirty="0"/>
              <a:t>For a lightly-loaded network, is the event at D MORE likely or LESS likely to occur when the sender has multiple TCP segments outstanding? (Write “MORE” or “LESS”)</a:t>
            </a:r>
          </a:p>
        </p:txBody>
      </p:sp>
      <p:sp>
        <p:nvSpPr>
          <p:cNvPr id="7" name="Rectangle 6">
            <a:extLst>
              <a:ext uri="{FF2B5EF4-FFF2-40B4-BE49-F238E27FC236}">
                <a16:creationId xmlns:a16="http://schemas.microsoft.com/office/drawing/2014/main" id="{404C1B98-FB16-2D4E-ABB7-73FA7C4F15E4}"/>
              </a:ext>
            </a:extLst>
          </p:cNvPr>
          <p:cNvSpPr/>
          <p:nvPr/>
        </p:nvSpPr>
        <p:spPr>
          <a:xfrm>
            <a:off x="7418537" y="2557104"/>
            <a:ext cx="3771433" cy="2585323"/>
          </a:xfrm>
          <a:prstGeom prst="rect">
            <a:avLst/>
          </a:prstGeom>
        </p:spPr>
        <p:txBody>
          <a:bodyPr wrap="square">
            <a:spAutoFit/>
          </a:bodyPr>
          <a:lstStyle/>
          <a:p>
            <a:pPr marL="342900" indent="-342900">
              <a:buFont typeface="+mj-lt"/>
              <a:buAutoNum type="arabicPeriod"/>
            </a:pPr>
            <a:r>
              <a:rPr lang="en-IN" b="1" dirty="0">
                <a:solidFill>
                  <a:srgbClr val="000000"/>
                </a:solidFill>
                <a:latin typeface="Times New Roman" panose="02020603050405020304" pitchFamily="18" charset="0"/>
              </a:rPr>
              <a:t>Triple duplicate ACK</a:t>
            </a:r>
            <a:endParaRPr lang="en-IN" dirty="0">
              <a:solidFill>
                <a:srgbClr val="000000"/>
              </a:solidFill>
              <a:latin typeface="Times New Roman" panose="02020603050405020304" pitchFamily="18" charset="0"/>
            </a:endParaRPr>
          </a:p>
          <a:p>
            <a:pPr marL="342900" indent="-342900">
              <a:buFont typeface="+mj-lt"/>
              <a:buAutoNum type="arabicPeriod"/>
            </a:pPr>
            <a:endParaRPr lang="en-IN" b="1" dirty="0">
              <a:solidFill>
                <a:srgbClr val="000000"/>
              </a:solidFill>
              <a:latin typeface="Times New Roman" panose="02020603050405020304" pitchFamily="18" charset="0"/>
            </a:endParaRPr>
          </a:p>
          <a:p>
            <a:pPr marL="342900" indent="-342900">
              <a:buFont typeface="+mj-lt"/>
              <a:buAutoNum type="arabicPeriod"/>
            </a:pPr>
            <a:r>
              <a:rPr lang="en-IN" b="1" dirty="0">
                <a:solidFill>
                  <a:srgbClr val="000000"/>
                </a:solidFill>
                <a:latin typeface="Times New Roman" panose="02020603050405020304" pitchFamily="18" charset="0"/>
              </a:rPr>
              <a:t>No. It could be due to reordering due to queuing or asymmetric paths.</a:t>
            </a:r>
            <a:endParaRPr lang="en-IN" dirty="0">
              <a:solidFill>
                <a:srgbClr val="000000"/>
              </a:solidFill>
              <a:latin typeface="Times New Roman" panose="02020603050405020304" pitchFamily="18" charset="0"/>
            </a:endParaRP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b="1" dirty="0">
                <a:solidFill>
                  <a:srgbClr val="000000"/>
                </a:solidFill>
                <a:latin typeface="Times New Roman" panose="02020603050405020304" pitchFamily="18" charset="0"/>
              </a:rPr>
              <a:t>Timeout</a:t>
            </a:r>
            <a:endParaRPr lang="en-IN" dirty="0">
              <a:solidFill>
                <a:srgbClr val="000000"/>
              </a:solidFill>
              <a:latin typeface="Times New Roman" panose="02020603050405020304" pitchFamily="18" charset="0"/>
            </a:endParaRPr>
          </a:p>
          <a:p>
            <a:pPr marL="342900" indent="-342900">
              <a:buFont typeface="+mj-lt"/>
              <a:buAutoNum type="arabicPeriod"/>
            </a:pPr>
            <a:endParaRPr lang="en-IN" dirty="0">
              <a:solidFill>
                <a:srgbClr val="000000"/>
              </a:solidFill>
              <a:latin typeface="Times New Roman" panose="02020603050405020304" pitchFamily="18" charset="0"/>
            </a:endParaRPr>
          </a:p>
          <a:p>
            <a:pPr marL="342900" indent="-342900">
              <a:buFont typeface="+mj-lt"/>
              <a:buAutoNum type="arabicPeriod"/>
            </a:pPr>
            <a:r>
              <a:rPr lang="en-IN" b="1" dirty="0"/>
              <a:t>LESS</a:t>
            </a:r>
            <a:endParaRPr lang="en-IN" dirty="0"/>
          </a:p>
        </p:txBody>
      </p:sp>
    </p:spTree>
    <p:extLst>
      <p:ext uri="{BB962C8B-B14F-4D97-AF65-F5344CB8AC3E}">
        <p14:creationId xmlns:p14="http://schemas.microsoft.com/office/powerpoint/2010/main" val="4210847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F35F48-9508-A04A-8D28-C96E75B7FA7F}"/>
              </a:ext>
            </a:extLst>
          </p:cNvPr>
          <p:cNvSpPr/>
          <p:nvPr/>
        </p:nvSpPr>
        <p:spPr>
          <a:xfrm>
            <a:off x="247650" y="2740789"/>
            <a:ext cx="11593830" cy="3970318"/>
          </a:xfrm>
          <a:prstGeom prst="rect">
            <a:avLst/>
          </a:prstGeom>
        </p:spPr>
        <p:txBody>
          <a:bodyPr wrap="square">
            <a:spAutoFit/>
          </a:bodyPr>
          <a:lstStyle/>
          <a:p>
            <a:pPr marL="342900" indent="-342900">
              <a:buAutoNum type="alphaLcParenBoth"/>
            </a:pPr>
            <a:r>
              <a:rPr lang="en-IN" dirty="0">
                <a:solidFill>
                  <a:srgbClr val="000000"/>
                </a:solidFill>
                <a:latin typeface="Times New Roman" panose="02020603050405020304" pitchFamily="18" charset="0"/>
              </a:rPr>
              <a:t>How much time has progressed by point B?</a:t>
            </a:r>
          </a:p>
          <a:p>
            <a:pPr marL="342900" indent="-342900">
              <a:buAutoNum type="alphaLcParenBoth"/>
            </a:pPr>
            <a:endParaRPr lang="en-IN" dirty="0">
              <a:solidFill>
                <a:srgbClr val="000000"/>
              </a:solidFill>
              <a:effectLst/>
              <a:latin typeface="Times New Roman" panose="02020603050405020304" pitchFamily="18" charset="0"/>
            </a:endParaRPr>
          </a:p>
          <a:p>
            <a:r>
              <a:rPr lang="en-IN" dirty="0">
                <a:solidFill>
                  <a:srgbClr val="000000"/>
                </a:solidFill>
                <a:latin typeface="Times New Roman" panose="02020603050405020304" pitchFamily="18" charset="0"/>
              </a:rPr>
              <a:t>ANS: </a:t>
            </a:r>
            <a:r>
              <a:rPr lang="en-IN" b="1" dirty="0"/>
              <a:t>1 RTT (TCP handshake) + 3-4 RTT in slow-start (1, 2, 4, (8) MSS) = 4 or 5 RTT = 400 or 500 </a:t>
            </a:r>
            <a:r>
              <a:rPr lang="en-IN" b="1" dirty="0" err="1"/>
              <a:t>ms</a:t>
            </a:r>
            <a:endParaRPr lang="en-IN" dirty="0"/>
          </a:p>
          <a:p>
            <a:endParaRPr lang="en-IN" dirty="0">
              <a:solidFill>
                <a:srgbClr val="000000"/>
              </a:solidFill>
              <a:effectLst/>
              <a:latin typeface="Times New Roman" panose="02020603050405020304" pitchFamily="18" charset="0"/>
            </a:endParaRPr>
          </a:p>
          <a:p>
            <a:endParaRPr lang="en-IN" dirty="0">
              <a:solidFill>
                <a:srgbClr val="000000"/>
              </a:solidFill>
              <a:latin typeface="Times New Roman" panose="02020603050405020304" pitchFamily="18" charset="0"/>
            </a:endParaRPr>
          </a:p>
          <a:p>
            <a:r>
              <a:rPr lang="en-IN" dirty="0">
                <a:solidFill>
                  <a:srgbClr val="000000"/>
                </a:solidFill>
                <a:effectLst/>
                <a:latin typeface="Times New Roman" panose="02020603050405020304" pitchFamily="18" charset="0"/>
              </a:rPr>
              <a:t>(b) </a:t>
            </a:r>
            <a:r>
              <a:rPr lang="en-IN" dirty="0"/>
              <a:t>How much time has progressed between points C and D?</a:t>
            </a:r>
          </a:p>
          <a:p>
            <a:r>
              <a:rPr lang="en-IN" dirty="0">
                <a:solidFill>
                  <a:srgbClr val="000000"/>
                </a:solidFill>
                <a:effectLst/>
                <a:latin typeface="Times New Roman" panose="02020603050405020304" pitchFamily="18" charset="0"/>
              </a:rPr>
              <a:t>ANS: </a:t>
            </a:r>
            <a:r>
              <a:rPr lang="en-IN" b="1" dirty="0">
                <a:solidFill>
                  <a:srgbClr val="000000"/>
                </a:solidFill>
                <a:effectLst/>
                <a:latin typeface="Times New Roman" panose="02020603050405020304" pitchFamily="18" charset="0"/>
              </a:rPr>
              <a:t>from graph, this means going from 4MSS (4000 bytes) to 16MSS(16K bytes)</a:t>
            </a:r>
          </a:p>
          <a:p>
            <a:r>
              <a:rPr lang="en-IN" b="1" dirty="0">
                <a:solidFill>
                  <a:srgbClr val="000000"/>
                </a:solidFill>
                <a:latin typeface="Times New Roman" panose="02020603050405020304" pitchFamily="18" charset="0"/>
              </a:rPr>
              <a:t>Each 1MSS-2MSS-4MSS = ~3 RTTs , so 4-8-12-16(total 4 transactions 4 * 3 RTTs) </a:t>
            </a:r>
          </a:p>
          <a:p>
            <a:endParaRPr lang="en-IN" dirty="0">
              <a:solidFill>
                <a:srgbClr val="000000"/>
              </a:solidFill>
              <a:effectLst/>
              <a:latin typeface="Times New Roman" panose="02020603050405020304" pitchFamily="18" charset="0"/>
            </a:endParaRPr>
          </a:p>
          <a:p>
            <a:r>
              <a:rPr lang="en-IN" dirty="0">
                <a:solidFill>
                  <a:srgbClr val="000000"/>
                </a:solidFill>
                <a:latin typeface="Times New Roman" panose="02020603050405020304" pitchFamily="18" charset="0"/>
              </a:rPr>
              <a:t>(c)</a:t>
            </a:r>
            <a:r>
              <a:rPr lang="en-IN" dirty="0"/>
              <a:t> How much time has progressed between points E and F?</a:t>
            </a:r>
          </a:p>
          <a:p>
            <a:r>
              <a:rPr lang="en-IN" b="1" dirty="0"/>
              <a:t>First: slow start to 8K window size (1-&gt;2, 2-&gt;4, 4-&gt;8 MSS), then AI from 8 to 10</a:t>
            </a:r>
            <a:endParaRPr lang="en-IN" dirty="0"/>
          </a:p>
          <a:p>
            <a:r>
              <a:rPr lang="en-IN" b="1" dirty="0"/>
              <a:t>MSS window size (8-&gt;9-&gt;(10) MSS). Again, similar question about “where” F</a:t>
            </a:r>
            <a:endParaRPr lang="en-IN" dirty="0"/>
          </a:p>
          <a:p>
            <a:r>
              <a:rPr lang="en-IN" b="1" dirty="0"/>
              <a:t>exists as question (a), so we will accept either 5 or 6 RTT = 500 or 600 </a:t>
            </a:r>
            <a:r>
              <a:rPr lang="en-IN" b="1" dirty="0" err="1"/>
              <a:t>ms</a:t>
            </a:r>
            <a:r>
              <a:rPr lang="en-IN" b="1" dirty="0"/>
              <a:t>.</a:t>
            </a:r>
            <a:endParaRPr lang="en-IN" dirty="0"/>
          </a:p>
          <a:p>
            <a:endParaRPr lang="en-IN" dirty="0">
              <a:solidFill>
                <a:srgbClr val="000000"/>
              </a:solidFill>
              <a:effectLst/>
              <a:latin typeface="Times New Roman" panose="02020603050405020304" pitchFamily="18" charset="0"/>
            </a:endParaRPr>
          </a:p>
        </p:txBody>
      </p:sp>
      <p:pic>
        <p:nvPicPr>
          <p:cNvPr id="3" name="Picture 2">
            <a:extLst>
              <a:ext uri="{FF2B5EF4-FFF2-40B4-BE49-F238E27FC236}">
                <a16:creationId xmlns:a16="http://schemas.microsoft.com/office/drawing/2014/main" id="{BE25F93A-3CD8-2F43-9DF0-B4ED5B07317F}"/>
              </a:ext>
            </a:extLst>
          </p:cNvPr>
          <p:cNvPicPr/>
          <p:nvPr/>
        </p:nvPicPr>
        <p:blipFill>
          <a:blip r:embed="rId2"/>
          <a:stretch>
            <a:fillRect/>
          </a:stretch>
        </p:blipFill>
        <p:spPr>
          <a:xfrm>
            <a:off x="513184" y="219352"/>
            <a:ext cx="5250582" cy="2431058"/>
          </a:xfrm>
          <a:prstGeom prst="rect">
            <a:avLst/>
          </a:prstGeom>
        </p:spPr>
      </p:pic>
      <p:sp>
        <p:nvSpPr>
          <p:cNvPr id="4" name="Rectangle 3">
            <a:extLst>
              <a:ext uri="{FF2B5EF4-FFF2-40B4-BE49-F238E27FC236}">
                <a16:creationId xmlns:a16="http://schemas.microsoft.com/office/drawing/2014/main" id="{099C50A0-A52C-4941-8938-C8449CF61618}"/>
              </a:ext>
            </a:extLst>
          </p:cNvPr>
          <p:cNvSpPr/>
          <p:nvPr/>
        </p:nvSpPr>
        <p:spPr>
          <a:xfrm>
            <a:off x="5763766" y="419218"/>
            <a:ext cx="6096000" cy="2031325"/>
          </a:xfrm>
          <a:prstGeom prst="rect">
            <a:avLst/>
          </a:prstGeom>
        </p:spPr>
        <p:txBody>
          <a:bodyPr>
            <a:spAutoFit/>
          </a:bodyPr>
          <a:lstStyle/>
          <a:p>
            <a:r>
              <a:rPr lang="en-IN" dirty="0">
                <a:solidFill>
                  <a:srgbClr val="000000"/>
                </a:solidFill>
                <a:latin typeface="Times New Roman" panose="02020603050405020304" pitchFamily="18" charset="0"/>
              </a:rPr>
              <a:t>Assume that the network has an MSS of 1000 bytes and the round-trip-time between sender and receiver of 100 milliseconds. Assume at time 0 the sender attempts to open the connection. Also assume that the sender can “write” a full window’s worth of data instantaneously, so the only latency you need to worry about is the actual propagation delay of the network. </a:t>
            </a:r>
          </a:p>
        </p:txBody>
      </p:sp>
    </p:spTree>
    <p:extLst>
      <p:ext uri="{BB962C8B-B14F-4D97-AF65-F5344CB8AC3E}">
        <p14:creationId xmlns:p14="http://schemas.microsoft.com/office/powerpoint/2010/main" val="248110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ED00E-83A1-F945-B319-AEC46D52EC4E}"/>
              </a:ext>
            </a:extLst>
          </p:cNvPr>
          <p:cNvSpPr>
            <a:spLocks noGrp="1"/>
          </p:cNvSpPr>
          <p:nvPr>
            <p:ph type="title"/>
          </p:nvPr>
        </p:nvSpPr>
        <p:spPr/>
        <p:txBody>
          <a:bodyPr/>
          <a:lstStyle/>
          <a:p>
            <a:r>
              <a:rPr lang="en-US" dirty="0"/>
              <a:t>TCP Congestion</a:t>
            </a:r>
          </a:p>
        </p:txBody>
      </p:sp>
      <p:sp>
        <p:nvSpPr>
          <p:cNvPr id="3" name="Content Placeholder 2">
            <a:extLst>
              <a:ext uri="{FF2B5EF4-FFF2-40B4-BE49-F238E27FC236}">
                <a16:creationId xmlns:a16="http://schemas.microsoft.com/office/drawing/2014/main" id="{C5A727A7-807A-D741-8AD7-ED87863E1AE7}"/>
              </a:ext>
            </a:extLst>
          </p:cNvPr>
          <p:cNvSpPr>
            <a:spLocks noGrp="1"/>
          </p:cNvSpPr>
          <p:nvPr>
            <p:ph idx="1"/>
          </p:nvPr>
        </p:nvSpPr>
        <p:spPr/>
        <p:txBody>
          <a:bodyPr/>
          <a:lstStyle/>
          <a:p>
            <a:r>
              <a:rPr lang="en-US" dirty="0"/>
              <a:t>What and why congestion?</a:t>
            </a:r>
          </a:p>
          <a:p>
            <a:r>
              <a:rPr lang="en-US" dirty="0"/>
              <a:t>Where congestion?</a:t>
            </a:r>
          </a:p>
          <a:p>
            <a:r>
              <a:rPr lang="en-US" dirty="0"/>
              <a:t>How does Transport layer learn about congestion?</a:t>
            </a:r>
          </a:p>
          <a:p>
            <a:r>
              <a:rPr lang="en-US" dirty="0"/>
              <a:t>What does Transport layer do after learning about congestion?</a:t>
            </a:r>
          </a:p>
          <a:p>
            <a:r>
              <a:rPr lang="en-US" dirty="0"/>
              <a:t>What is the algorithm for congestion control?</a:t>
            </a:r>
          </a:p>
          <a:p>
            <a:r>
              <a:rPr lang="en-US" dirty="0"/>
              <a:t>What are the different stages in the CC </a:t>
            </a:r>
            <a:r>
              <a:rPr lang="en-US" dirty="0" err="1"/>
              <a:t>algo</a:t>
            </a:r>
            <a:r>
              <a:rPr lang="en-US" dirty="0"/>
              <a:t>?</a:t>
            </a:r>
          </a:p>
          <a:p>
            <a:r>
              <a:rPr lang="en-US" dirty="0"/>
              <a:t>Significance of each stage</a:t>
            </a:r>
          </a:p>
          <a:p>
            <a:r>
              <a:rPr lang="en-US" dirty="0"/>
              <a:t>What and why </a:t>
            </a:r>
            <a:r>
              <a:rPr lang="en-US"/>
              <a:t>Fast recovery?</a:t>
            </a:r>
          </a:p>
        </p:txBody>
      </p:sp>
    </p:spTree>
    <p:extLst>
      <p:ext uri="{BB962C8B-B14F-4D97-AF65-F5344CB8AC3E}">
        <p14:creationId xmlns:p14="http://schemas.microsoft.com/office/powerpoint/2010/main" val="66901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1429</Words>
  <Application>Microsoft Macintosh PowerPoint</Application>
  <PresentationFormat>Widescreen</PresentationFormat>
  <Paragraphs>194</Paragraphs>
  <Slides>14</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ＭＳ Ｐゴシック</vt:lpstr>
      <vt:lpstr>Arial</vt:lpstr>
      <vt:lpstr>Calibri</vt:lpstr>
      <vt:lpstr>Calibri Light</vt:lpstr>
      <vt:lpstr>Courier</vt:lpstr>
      <vt:lpstr>Courier New</vt:lpstr>
      <vt:lpstr>Gill Sans MT</vt:lpstr>
      <vt:lpstr>Helvetica</vt:lpstr>
      <vt:lpstr>Tahoma</vt:lpstr>
      <vt:lpstr>Times New Roman</vt:lpstr>
      <vt:lpstr>Wingdings</vt:lpstr>
      <vt:lpstr>Office Theme</vt:lpstr>
      <vt:lpstr>IT694 Computer Networks Week7 – Lec2</vt:lpstr>
      <vt:lpstr>Approaches towards congestion control</vt:lpstr>
      <vt:lpstr>Questions for Congestion Control </vt:lpstr>
      <vt:lpstr>Questions for Congestion Control </vt:lpstr>
      <vt:lpstr>Q1: TCP congestion control: details</vt:lpstr>
      <vt:lpstr>TCP slow start </vt:lpstr>
      <vt:lpstr>TCP congestion control: AIMD</vt:lpstr>
      <vt:lpstr>TCP AIMD: more</vt:lpstr>
      <vt:lpstr>TCP: from slow start to congestion avoidance</vt:lpstr>
      <vt:lpstr>TCP fast retransmit</vt:lpstr>
      <vt:lpstr>TCP: from slow start to congestion avoidance</vt:lpstr>
      <vt:lpstr>PowerPoint Presentation</vt:lpstr>
      <vt:lpstr>PowerPoint Presentation</vt:lpstr>
      <vt:lpstr>TCP Congestion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IT694 Computer Networks Week7 – Lec2</dc:title>
  <dc:creator>Microsoft Office User</dc:creator>
  <cp:lastModifiedBy>Microsoft Office User</cp:lastModifiedBy>
  <cp:revision>9</cp:revision>
  <dcterms:created xsi:type="dcterms:W3CDTF">2025-02-18T05:38:00Z</dcterms:created>
  <dcterms:modified xsi:type="dcterms:W3CDTF">2025-02-25T06:15:00Z</dcterms:modified>
</cp:coreProperties>
</file>