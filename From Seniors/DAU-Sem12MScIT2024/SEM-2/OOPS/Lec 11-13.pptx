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y="5143500" cx="9144000"/>
  <p:notesSz cx="6858000" cy="9144000"/>
  <p:embeddedFontLst>
    <p:embeddedFont>
      <p:font typeface="Roboto Mon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57EA045-85B0-4DC0-AF37-A452FF1A251F}">
  <a:tblStyle styleId="{457EA045-85B0-4DC0-AF37-A452FF1A251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Mono-bold.fntdata"/><Relationship Id="rId30" Type="http://schemas.openxmlformats.org/officeDocument/2006/relationships/font" Target="fonts/RobotoMono-regular.fntdata"/><Relationship Id="rId11" Type="http://schemas.openxmlformats.org/officeDocument/2006/relationships/slide" Target="slides/slide4.xml"/><Relationship Id="rId33" Type="http://schemas.openxmlformats.org/officeDocument/2006/relationships/font" Target="fonts/RobotoMono-boldItalic.fntdata"/><Relationship Id="rId10" Type="http://schemas.openxmlformats.org/officeDocument/2006/relationships/slide" Target="slides/slide3.xml"/><Relationship Id="rId32" Type="http://schemas.openxmlformats.org/officeDocument/2006/relationships/font" Target="fonts/RobotoMono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8332b18dc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8332b18dc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a1b81242e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2a1b81242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2f2aeeef1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2f2aeeef1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2f2aeeef1d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2f2aeeef1d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2f2aeeef1d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2f2aeeef1d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2f2aeeef1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2f2aeeef1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2f2aeeef1d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2f2aeeef1d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2f2aeeef1d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2f2aeeef1d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2f2aeeef1d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2f2aeeef1d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2f2aeeef1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2f2aeeef1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2f2aeeef1d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2f2aeeef1d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2f2aeeef1d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2f2aeeef1d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2f2aeeef1d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2f2aeeef1d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310fda4b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310fda4b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3404043ea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3404043ea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3404043ea1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3404043ea1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3404043ea1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3404043ea1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3404043ea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3404043e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3404043ea1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3404043ea1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3404043ea1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3404043ea1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3404043ea1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3404043ea1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3404043ea1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3404043ea1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4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8.png"/><Relationship Id="rId6" Type="http://schemas.openxmlformats.org/officeDocument/2006/relationships/image" Target="../media/image15.png"/><Relationship Id="rId7" Type="http://schemas.openxmlformats.org/officeDocument/2006/relationships/image" Target="../media/image21.png"/><Relationship Id="rId8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9" Type="http://schemas.openxmlformats.org/officeDocument/2006/relationships/image" Target="../media/image32.gif"/><Relationship Id="rId5" Type="http://schemas.openxmlformats.org/officeDocument/2006/relationships/image" Target="../media/image5.png"/><Relationship Id="rId6" Type="http://schemas.openxmlformats.org/officeDocument/2006/relationships/image" Target="../media/image18.png"/><Relationship Id="rId7" Type="http://schemas.openxmlformats.org/officeDocument/2006/relationships/image" Target="../media/image27.gif"/><Relationship Id="rId8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image" Target="../media/image5.png"/><Relationship Id="rId6" Type="http://schemas.openxmlformats.org/officeDocument/2006/relationships/image" Target="../media/image13.png"/><Relationship Id="rId7" Type="http://schemas.openxmlformats.org/officeDocument/2006/relationships/image" Target="../media/image29.png"/><Relationship Id="rId8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image" Target="../media/image5.png"/><Relationship Id="rId6" Type="http://schemas.openxmlformats.org/officeDocument/2006/relationships/image" Target="../media/image26.png"/><Relationship Id="rId7" Type="http://schemas.openxmlformats.org/officeDocument/2006/relationships/image" Target="../media/image3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39.png"/><Relationship Id="rId5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35.png"/><Relationship Id="rId5" Type="http://schemas.openxmlformats.org/officeDocument/2006/relationships/image" Target="../media/image4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png"/><Relationship Id="rId4" Type="http://schemas.openxmlformats.org/officeDocument/2006/relationships/image" Target="../media/image5.png"/><Relationship Id="rId5" Type="http://schemas.openxmlformats.org/officeDocument/2006/relationships/image" Target="../media/image23.png"/><Relationship Id="rId6" Type="http://schemas.openxmlformats.org/officeDocument/2006/relationships/image" Target="../media/image3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7.png"/><Relationship Id="rId4" Type="http://schemas.openxmlformats.org/officeDocument/2006/relationships/image" Target="../media/image5.png"/><Relationship Id="rId5" Type="http://schemas.openxmlformats.org/officeDocument/2006/relationships/image" Target="../media/image3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30.png"/><Relationship Id="rId5" Type="http://schemas.openxmlformats.org/officeDocument/2006/relationships/image" Target="../media/image3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273075" y="507925"/>
            <a:ext cx="8520600" cy="111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/>
              <a:t>Object Oriented Programming</a:t>
            </a:r>
            <a:endParaRPr b="1" sz="3300"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3959528"/>
            <a:ext cx="8520600" cy="9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" sz="1700">
                <a:solidFill>
                  <a:srgbClr val="0000FF"/>
                </a:solidFill>
              </a:rPr>
              <a:t>Sourish Dasgupta</a:t>
            </a:r>
            <a:endParaRPr b="1" sz="17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600">
                <a:solidFill>
                  <a:srgbClr val="0000FF"/>
                </a:solidFill>
              </a:rPr>
              <a:t>Assistant Professor, DA-IICT, Gandhinagar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i="1" lang="en" sz="1600">
                <a:solidFill>
                  <a:srgbClr val="0000FF"/>
                </a:solidFill>
              </a:rPr>
              <a:t>https://daiict.ac.in/faculty/sourish-dasgupta</a:t>
            </a:r>
            <a:endParaRPr i="1" sz="1900"/>
          </a:p>
        </p:txBody>
      </p:sp>
      <p:sp>
        <p:nvSpPr>
          <p:cNvPr id="101" name="Google Shape;101;p25"/>
          <p:cNvSpPr txBox="1"/>
          <p:nvPr>
            <p:ph idx="1" type="subTitle"/>
          </p:nvPr>
        </p:nvSpPr>
        <p:spPr>
          <a:xfrm>
            <a:off x="273075" y="14667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" sz="2000">
                <a:solidFill>
                  <a:schemeClr val="dk1"/>
                </a:solidFill>
              </a:rPr>
              <a:t>Creational Design Patterns: Singleton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102" name="Google Shape;102;p25"/>
          <p:cNvSpPr txBox="1"/>
          <p:nvPr>
            <p:ph idx="1" type="subTitle"/>
          </p:nvPr>
        </p:nvSpPr>
        <p:spPr>
          <a:xfrm>
            <a:off x="273075" y="20835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2000"/>
              <a:t>IT560</a:t>
            </a:r>
            <a:endParaRPr sz="1900"/>
          </a:p>
        </p:txBody>
      </p:sp>
      <p:pic>
        <p:nvPicPr>
          <p:cNvPr id="103" name="Google Shape;10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0175" y="2769669"/>
            <a:ext cx="1146397" cy="11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250" y="955900"/>
            <a:ext cx="4339750" cy="1726038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9" name="Google Shape;109;p26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6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11" name="Google Shape;111;p26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4" name="Google Shape;11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6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Singleton Design Pattern : </a:t>
            </a:r>
            <a:r>
              <a:rPr i="1" lang="en"/>
              <a:t>Just </a:t>
            </a:r>
            <a:r>
              <a:rPr i="1" lang="en">
                <a:solidFill>
                  <a:srgbClr val="FF0000"/>
                </a:solidFill>
                <a:highlight>
                  <a:srgbClr val="FFFF00"/>
                </a:highlight>
              </a:rPr>
              <a:t>one</a:t>
            </a:r>
            <a:r>
              <a:rPr i="1" lang="en"/>
              <a:t> object!</a:t>
            </a:r>
            <a:endParaRPr i="1"/>
          </a:p>
        </p:txBody>
      </p:sp>
      <p:sp>
        <p:nvSpPr>
          <p:cNvPr id="116" name="Google Shape;116;p26"/>
          <p:cNvSpPr/>
          <p:nvPr/>
        </p:nvSpPr>
        <p:spPr>
          <a:xfrm>
            <a:off x="413350" y="1378625"/>
            <a:ext cx="4110300" cy="1244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7" name="Google Shape;117;p26"/>
          <p:cNvCxnSpPr/>
          <p:nvPr/>
        </p:nvCxnSpPr>
        <p:spPr>
          <a:xfrm>
            <a:off x="718679" y="1730950"/>
            <a:ext cx="1585200" cy="1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8" name="Google Shape;118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7175" y="1488510"/>
            <a:ext cx="4253976" cy="287179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9" name="Google Shape;119;p26"/>
          <p:cNvSpPr/>
          <p:nvPr/>
        </p:nvSpPr>
        <p:spPr>
          <a:xfrm>
            <a:off x="4817050" y="1531300"/>
            <a:ext cx="2888700" cy="572700"/>
          </a:xfrm>
          <a:prstGeom prst="rect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0" name="Google Shape;120;p26"/>
          <p:cNvGrpSpPr/>
          <p:nvPr/>
        </p:nvGrpSpPr>
        <p:grpSpPr>
          <a:xfrm>
            <a:off x="6284925" y="2835025"/>
            <a:ext cx="2768968" cy="397439"/>
            <a:chOff x="6284925" y="2835025"/>
            <a:chExt cx="2768968" cy="397439"/>
          </a:xfrm>
        </p:grpSpPr>
        <p:cxnSp>
          <p:nvCxnSpPr>
            <p:cNvPr id="121" name="Google Shape;121;p26"/>
            <p:cNvCxnSpPr/>
            <p:nvPr/>
          </p:nvCxnSpPr>
          <p:spPr>
            <a:xfrm>
              <a:off x="6284925" y="2835025"/>
              <a:ext cx="164400" cy="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" name="Google Shape;122;p26"/>
            <p:cNvCxnSpPr/>
            <p:nvPr/>
          </p:nvCxnSpPr>
          <p:spPr>
            <a:xfrm>
              <a:off x="6402375" y="2846550"/>
              <a:ext cx="458100" cy="211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3" name="Google Shape;123;p26"/>
            <p:cNvSpPr txBox="1"/>
            <p:nvPr/>
          </p:nvSpPr>
          <p:spPr>
            <a:xfrm>
              <a:off x="6848594" y="2893764"/>
              <a:ext cx="2205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2"/>
                  </a:solidFill>
                </a:rPr>
                <a:t>Get method of dictionary </a:t>
              </a:r>
              <a:r>
                <a:rPr lang="en" sz="1000">
                  <a:solidFill>
                    <a:schemeClr val="dk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animals</a:t>
              </a:r>
              <a:endParaRPr sz="10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250" y="955900"/>
            <a:ext cx="4673550" cy="185881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9" name="Google Shape;129;p27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7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31" name="Google Shape;131;p27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32" name="Google Shape;132;p27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4" name="Google Shape;13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7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Singleton Design Pattern : </a:t>
            </a:r>
            <a:r>
              <a:rPr i="1" lang="en"/>
              <a:t>Just </a:t>
            </a:r>
            <a:r>
              <a:rPr i="1" lang="en">
                <a:solidFill>
                  <a:srgbClr val="FF0000"/>
                </a:solidFill>
                <a:highlight>
                  <a:srgbClr val="FFFF00"/>
                </a:highlight>
              </a:rPr>
              <a:t>one</a:t>
            </a:r>
            <a:r>
              <a:rPr i="1" lang="en"/>
              <a:t> object!</a:t>
            </a:r>
            <a:endParaRPr i="1"/>
          </a:p>
        </p:txBody>
      </p:sp>
      <p:pic>
        <p:nvPicPr>
          <p:cNvPr id="136" name="Google Shape;136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94575" y="2055524"/>
            <a:ext cx="4673550" cy="237332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7" name="Google Shape;137;p27"/>
          <p:cNvSpPr/>
          <p:nvPr/>
        </p:nvSpPr>
        <p:spPr>
          <a:xfrm>
            <a:off x="4431550" y="2775850"/>
            <a:ext cx="1841700" cy="281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3823" y="3284675"/>
            <a:ext cx="3988725" cy="790095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8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45" name="Google Shape;145;p28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46" name="Google Shape;146;p28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8" name="Google Shape;14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8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Singleton Design Pattern : </a:t>
            </a:r>
            <a:r>
              <a:rPr lang="en"/>
              <a:t>In C++</a:t>
            </a:r>
            <a:endParaRPr/>
          </a:p>
        </p:txBody>
      </p:sp>
      <p:pic>
        <p:nvPicPr>
          <p:cNvPr id="150" name="Google Shape;150;p28"/>
          <p:cNvPicPr preferRelativeResize="0"/>
          <p:nvPr/>
        </p:nvPicPr>
        <p:blipFill rotWithShape="1">
          <a:blip r:embed="rId4">
            <a:alphaModFix/>
          </a:blip>
          <a:srcRect b="5311" l="0" r="0" t="0"/>
          <a:stretch/>
        </p:blipFill>
        <p:spPr>
          <a:xfrm>
            <a:off x="185667" y="682300"/>
            <a:ext cx="4551875" cy="3480859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1" name="Google Shape;151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88650" y="1141587"/>
            <a:ext cx="4132499" cy="2862364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2" name="Google Shape;152;p28"/>
          <p:cNvSpPr/>
          <p:nvPr/>
        </p:nvSpPr>
        <p:spPr>
          <a:xfrm>
            <a:off x="391925" y="2200425"/>
            <a:ext cx="3180300" cy="393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3" name="Google Shape;153;p28"/>
          <p:cNvGrpSpPr/>
          <p:nvPr/>
        </p:nvGrpSpPr>
        <p:grpSpPr>
          <a:xfrm>
            <a:off x="391925" y="3210575"/>
            <a:ext cx="4610150" cy="1202788"/>
            <a:chOff x="391925" y="3210575"/>
            <a:chExt cx="4610150" cy="1202788"/>
          </a:xfrm>
        </p:grpSpPr>
        <p:sp>
          <p:nvSpPr>
            <p:cNvPr id="154" name="Google Shape;154;p28"/>
            <p:cNvSpPr/>
            <p:nvPr/>
          </p:nvSpPr>
          <p:spPr>
            <a:xfrm>
              <a:off x="391925" y="3210575"/>
              <a:ext cx="2370000" cy="712800"/>
            </a:xfrm>
            <a:prstGeom prst="rect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8"/>
            <p:cNvSpPr txBox="1"/>
            <p:nvPr/>
          </p:nvSpPr>
          <p:spPr>
            <a:xfrm>
              <a:off x="1232575" y="4028463"/>
              <a:ext cx="3769500" cy="384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1"/>
                  </a:solidFill>
                </a:rPr>
                <a:t>Check if instance already exists</a:t>
              </a:r>
              <a:endParaRPr sz="1300">
                <a:solidFill>
                  <a:schemeClr val="dk1"/>
                </a:solidFill>
              </a:endParaRPr>
            </a:p>
          </p:txBody>
        </p:sp>
      </p:grpSp>
      <p:cxnSp>
        <p:nvCxnSpPr>
          <p:cNvPr id="156" name="Google Shape;156;p28"/>
          <p:cNvCxnSpPr/>
          <p:nvPr/>
        </p:nvCxnSpPr>
        <p:spPr>
          <a:xfrm rot="10800000">
            <a:off x="7255650" y="2302775"/>
            <a:ext cx="10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7" name="Google Shape;157;p28"/>
          <p:cNvGrpSpPr/>
          <p:nvPr/>
        </p:nvGrpSpPr>
        <p:grpSpPr>
          <a:xfrm>
            <a:off x="7255650" y="2348475"/>
            <a:ext cx="1575900" cy="869775"/>
            <a:chOff x="7255650" y="2348475"/>
            <a:chExt cx="1575900" cy="869775"/>
          </a:xfrm>
        </p:grpSpPr>
        <p:cxnSp>
          <p:nvCxnSpPr>
            <p:cNvPr id="158" name="Google Shape;158;p28"/>
            <p:cNvCxnSpPr/>
            <p:nvPr/>
          </p:nvCxnSpPr>
          <p:spPr>
            <a:xfrm>
              <a:off x="7347200" y="2348475"/>
              <a:ext cx="198000" cy="236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159" name="Google Shape;159;p28"/>
            <p:cNvSpPr txBox="1"/>
            <p:nvPr/>
          </p:nvSpPr>
          <p:spPr>
            <a:xfrm>
              <a:off x="7255650" y="2571750"/>
              <a:ext cx="15759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2"/>
                  </a:solidFill>
                </a:rPr>
                <a:t>Don’t want unnecessary copies! </a:t>
              </a:r>
              <a:r>
                <a:rPr lang="en" sz="1000">
                  <a:solidFill>
                    <a:schemeClr val="dk2"/>
                  </a:solidFill>
                  <a:highlight>
                    <a:srgbClr val="FFFF00"/>
                  </a:highlight>
                </a:rPr>
                <a:t>Read-only</a:t>
              </a:r>
              <a:r>
                <a:rPr lang="en" sz="1000">
                  <a:solidFill>
                    <a:schemeClr val="dk2"/>
                  </a:solidFill>
                </a:rPr>
                <a:t> is needed here</a:t>
              </a:r>
              <a:endParaRPr sz="1000">
                <a:solidFill>
                  <a:schemeClr val="dk2"/>
                </a:solidFill>
              </a:endParaRPr>
            </a:p>
          </p:txBody>
        </p:sp>
      </p:grpSp>
      <p:cxnSp>
        <p:nvCxnSpPr>
          <p:cNvPr id="160" name="Google Shape;160;p28"/>
          <p:cNvCxnSpPr/>
          <p:nvPr/>
        </p:nvCxnSpPr>
        <p:spPr>
          <a:xfrm rot="10800000">
            <a:off x="5900925" y="2793950"/>
            <a:ext cx="5676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" name="Google Shape;161;p28"/>
          <p:cNvSpPr/>
          <p:nvPr/>
        </p:nvSpPr>
        <p:spPr>
          <a:xfrm>
            <a:off x="5537200" y="2311400"/>
            <a:ext cx="1471200" cy="204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2" name="Google Shape;162;p28"/>
          <p:cNvGrpSpPr/>
          <p:nvPr/>
        </p:nvGrpSpPr>
        <p:grpSpPr>
          <a:xfrm>
            <a:off x="5374500" y="1648250"/>
            <a:ext cx="3457800" cy="663150"/>
            <a:chOff x="5374500" y="1648250"/>
            <a:chExt cx="3457800" cy="663150"/>
          </a:xfrm>
        </p:grpSpPr>
        <p:sp>
          <p:nvSpPr>
            <p:cNvPr id="163" name="Google Shape;163;p28"/>
            <p:cNvSpPr txBox="1"/>
            <p:nvPr/>
          </p:nvSpPr>
          <p:spPr>
            <a:xfrm>
              <a:off x="5374500" y="1648250"/>
              <a:ext cx="3457800" cy="384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1"/>
                  </a:solidFill>
                </a:rPr>
                <a:t>Returns an </a:t>
              </a:r>
              <a:r>
                <a:rPr i="1" lang="en" sz="1300">
                  <a:solidFill>
                    <a:schemeClr val="dk1"/>
                  </a:solidFill>
                </a:rPr>
                <a:t>iterator</a:t>
              </a:r>
              <a:r>
                <a:rPr lang="en" sz="1300">
                  <a:solidFill>
                    <a:schemeClr val="dk1"/>
                  </a:solidFill>
                </a:rPr>
                <a:t> to the key-value pair</a:t>
              </a:r>
              <a:endParaRPr sz="1300">
                <a:solidFill>
                  <a:schemeClr val="dk1"/>
                </a:solidFill>
              </a:endParaRPr>
            </a:p>
          </p:txBody>
        </p:sp>
        <p:cxnSp>
          <p:nvCxnSpPr>
            <p:cNvPr id="164" name="Google Shape;164;p28"/>
            <p:cNvCxnSpPr>
              <a:stCxn id="161" idx="0"/>
              <a:endCxn id="163" idx="2"/>
            </p:cNvCxnSpPr>
            <p:nvPr/>
          </p:nvCxnSpPr>
          <p:spPr>
            <a:xfrm flipH="1" rot="10800000">
              <a:off x="6272800" y="2033300"/>
              <a:ext cx="830700" cy="278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grpSp>
        <p:nvGrpSpPr>
          <p:cNvPr id="165" name="Google Shape;165;p28"/>
          <p:cNvGrpSpPr/>
          <p:nvPr/>
        </p:nvGrpSpPr>
        <p:grpSpPr>
          <a:xfrm>
            <a:off x="1956350" y="884300"/>
            <a:ext cx="4569372" cy="1316125"/>
            <a:chOff x="1956350" y="884300"/>
            <a:chExt cx="4569372" cy="1316125"/>
          </a:xfrm>
        </p:grpSpPr>
        <p:pic>
          <p:nvPicPr>
            <p:cNvPr id="166" name="Google Shape;166;p28"/>
            <p:cNvPicPr preferRelativeResize="0"/>
            <p:nvPr/>
          </p:nvPicPr>
          <p:blipFill rotWithShape="1">
            <a:blip r:embed="rId6">
              <a:alphaModFix/>
            </a:blip>
            <a:srcRect b="0" l="0" r="0" t="53042"/>
            <a:stretch/>
          </p:blipFill>
          <p:spPr>
            <a:xfrm>
              <a:off x="1956350" y="884300"/>
              <a:ext cx="4569372" cy="2814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cxnSp>
          <p:nvCxnSpPr>
            <p:cNvPr id="167" name="Google Shape;167;p28"/>
            <p:cNvCxnSpPr>
              <a:stCxn id="152" idx="0"/>
              <a:endCxn id="166" idx="2"/>
            </p:cNvCxnSpPr>
            <p:nvPr/>
          </p:nvCxnSpPr>
          <p:spPr>
            <a:xfrm flipH="1" rot="10800000">
              <a:off x="1982075" y="1165725"/>
              <a:ext cx="2259000" cy="1034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9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74" name="Google Shape;174;p29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75" name="Google Shape;175;p29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7" name="Google Shape;17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9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Singleton Design Pattern : </a:t>
            </a:r>
            <a:r>
              <a:rPr i="1" lang="en"/>
              <a:t>In C++</a:t>
            </a:r>
            <a:endParaRPr i="1"/>
          </a:p>
        </p:txBody>
      </p:sp>
      <p:pic>
        <p:nvPicPr>
          <p:cNvPr id="179" name="Google Shape;179;p29"/>
          <p:cNvPicPr preferRelativeResize="0"/>
          <p:nvPr/>
        </p:nvPicPr>
        <p:blipFill rotWithShape="1">
          <a:blip r:embed="rId4">
            <a:alphaModFix/>
          </a:blip>
          <a:srcRect b="5311" l="0" r="0" t="0"/>
          <a:stretch/>
        </p:blipFill>
        <p:spPr>
          <a:xfrm>
            <a:off x="215300" y="831325"/>
            <a:ext cx="4551875" cy="3480859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0" name="Google Shape;180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17412" y="1008913"/>
            <a:ext cx="4072026" cy="3125672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1" name="Google Shape;181;p29"/>
          <p:cNvSpPr/>
          <p:nvPr/>
        </p:nvSpPr>
        <p:spPr>
          <a:xfrm>
            <a:off x="4974508" y="1586600"/>
            <a:ext cx="3993900" cy="513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2" name="Google Shape;182;p29"/>
          <p:cNvCxnSpPr/>
          <p:nvPr/>
        </p:nvCxnSpPr>
        <p:spPr>
          <a:xfrm rot="10800000">
            <a:off x="5769692" y="2478567"/>
            <a:ext cx="5676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675" y="1026375"/>
            <a:ext cx="7440449" cy="314232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8" name="Google Shape;188;p30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0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90" name="Google Shape;190;p30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91" name="Google Shape;191;p30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3" name="Google Shape;19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0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Singleton Design Pattern: Post-mortem</a:t>
            </a:r>
            <a:endParaRPr i="1"/>
          </a:p>
        </p:txBody>
      </p:sp>
      <p:cxnSp>
        <p:nvCxnSpPr>
          <p:cNvPr id="195" name="Google Shape;195;p30"/>
          <p:cNvCxnSpPr/>
          <p:nvPr/>
        </p:nvCxnSpPr>
        <p:spPr>
          <a:xfrm>
            <a:off x="3646304" y="2718457"/>
            <a:ext cx="3977400" cy="34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6" name="Google Shape;196;p30"/>
          <p:cNvGrpSpPr/>
          <p:nvPr/>
        </p:nvGrpSpPr>
        <p:grpSpPr>
          <a:xfrm>
            <a:off x="4030250" y="1619500"/>
            <a:ext cx="3875357" cy="763325"/>
            <a:chOff x="4030250" y="1695700"/>
            <a:chExt cx="3875357" cy="763325"/>
          </a:xfrm>
        </p:grpSpPr>
        <p:cxnSp>
          <p:nvCxnSpPr>
            <p:cNvPr id="197" name="Google Shape;197;p30"/>
            <p:cNvCxnSpPr/>
            <p:nvPr/>
          </p:nvCxnSpPr>
          <p:spPr>
            <a:xfrm flipH="1" rot="10800000">
              <a:off x="4030250" y="1930725"/>
              <a:ext cx="657600" cy="528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8" name="Google Shape;198;p30"/>
            <p:cNvSpPr txBox="1"/>
            <p:nvPr/>
          </p:nvSpPr>
          <p:spPr>
            <a:xfrm>
              <a:off x="4676107" y="1695700"/>
              <a:ext cx="3229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</a:rPr>
                <a:t>Calls </a:t>
              </a:r>
              <a:r>
                <a:rPr lang="en">
                  <a:solidFill>
                    <a:schemeClr val="dk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object.__new__(cls)</a:t>
              </a:r>
              <a:endParaRPr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199" name="Google Shape;199;p30"/>
          <p:cNvSpPr txBox="1"/>
          <p:nvPr/>
        </p:nvSpPr>
        <p:spPr>
          <a:xfrm>
            <a:off x="1428516" y="2383875"/>
            <a:ext cx="4755900" cy="5079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</a:rPr>
              <a:t>Why not </a:t>
            </a:r>
            <a:r>
              <a:rPr lang="en" sz="21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object.__new__(cls)</a:t>
            </a:r>
            <a:r>
              <a:rPr lang="en" sz="2100">
                <a:solidFill>
                  <a:schemeClr val="dk2"/>
                </a:solidFill>
              </a:rPr>
              <a:t>?</a:t>
            </a:r>
            <a:endParaRPr sz="2100">
              <a:solidFill>
                <a:schemeClr val="dk2"/>
              </a:solidFill>
            </a:endParaRPr>
          </a:p>
        </p:txBody>
      </p:sp>
      <p:sp>
        <p:nvSpPr>
          <p:cNvPr id="200" name="Google Shape;200;p30"/>
          <p:cNvSpPr txBox="1"/>
          <p:nvPr/>
        </p:nvSpPr>
        <p:spPr>
          <a:xfrm>
            <a:off x="6273025" y="660046"/>
            <a:ext cx="2688300" cy="39405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✅ </a:t>
            </a:r>
            <a:r>
              <a:rPr b="1" lang="en" sz="1000">
                <a:solidFill>
                  <a:srgbClr val="FF0000"/>
                </a:solidFill>
                <a:highlight>
                  <a:srgbClr val="FFFF00"/>
                </a:highlight>
              </a:rPr>
              <a:t>Future-proofing</a:t>
            </a:r>
            <a:r>
              <a:rPr b="1" lang="en" sz="1000">
                <a:solidFill>
                  <a:schemeClr val="dk1"/>
                </a:solidFill>
              </a:rPr>
              <a:t> for inheritance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If </a:t>
            </a: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AnimalRegistry</a:t>
            </a:r>
            <a:r>
              <a:rPr lang="en" sz="1000">
                <a:solidFill>
                  <a:schemeClr val="dk1"/>
                </a:solidFill>
              </a:rPr>
              <a:t> </a:t>
            </a:r>
            <a:r>
              <a:rPr i="1" lang="en" sz="1000">
                <a:solidFill>
                  <a:schemeClr val="dk1"/>
                </a:solidFill>
                <a:highlight>
                  <a:srgbClr val="FFFF00"/>
                </a:highlight>
              </a:rPr>
              <a:t>ever</a:t>
            </a:r>
            <a:r>
              <a:rPr lang="en" sz="1000">
                <a:solidFill>
                  <a:schemeClr val="dk1"/>
                </a:solidFill>
              </a:rPr>
              <a:t> </a:t>
            </a:r>
            <a:r>
              <a:rPr b="1" lang="en" sz="1000">
                <a:solidFill>
                  <a:schemeClr val="dk1"/>
                </a:solidFill>
              </a:rPr>
              <a:t>inherits from another class</a:t>
            </a:r>
            <a:r>
              <a:rPr lang="en" sz="1000">
                <a:solidFill>
                  <a:schemeClr val="dk1"/>
                </a:solidFill>
              </a:rPr>
              <a:t>, using </a:t>
            </a: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super()</a:t>
            </a:r>
            <a:r>
              <a:rPr lang="en" sz="1000">
                <a:solidFill>
                  <a:schemeClr val="dk1"/>
                </a:solidFill>
              </a:rPr>
              <a:t> ensures we call the </a:t>
            </a:r>
            <a:r>
              <a:rPr i="1" lang="en" sz="1000">
                <a:solidFill>
                  <a:schemeClr val="dk1"/>
                </a:solidFill>
                <a:highlight>
                  <a:srgbClr val="FFFF00"/>
                </a:highlight>
              </a:rPr>
              <a:t>correct </a:t>
            </a: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__new__</a:t>
            </a:r>
            <a:r>
              <a:rPr lang="en" sz="1000">
                <a:solidFill>
                  <a:schemeClr val="dk1"/>
                </a:solidFill>
              </a:rPr>
              <a:t> method from the </a:t>
            </a:r>
            <a:r>
              <a:rPr i="1" lang="en" sz="1000" u="sng">
                <a:solidFill>
                  <a:srgbClr val="FF0000"/>
                </a:solidFill>
                <a:highlight>
                  <a:srgbClr val="FFFF00"/>
                </a:highlight>
              </a:rPr>
              <a:t>proper</a:t>
            </a:r>
            <a:r>
              <a:rPr lang="en" sz="1000">
                <a:solidFill>
                  <a:schemeClr val="dk1"/>
                </a:solidFill>
              </a:rPr>
              <a:t> superclass.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✅ </a:t>
            </a:r>
            <a:r>
              <a:rPr b="1" lang="en" sz="1000">
                <a:solidFill>
                  <a:schemeClr val="dk1"/>
                </a:solidFill>
              </a:rPr>
              <a:t>Maintains consistency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Using </a:t>
            </a: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super()</a:t>
            </a:r>
            <a:r>
              <a:rPr lang="en" sz="1000">
                <a:solidFill>
                  <a:schemeClr val="dk1"/>
                </a:solidFill>
              </a:rPr>
              <a:t> makes it clear that we’re using </a:t>
            </a: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__new__</a:t>
            </a:r>
            <a:r>
              <a:rPr lang="en" sz="1000">
                <a:solidFill>
                  <a:schemeClr val="dk1"/>
                </a:solidFill>
              </a:rPr>
              <a:t> in the </a:t>
            </a:r>
            <a:r>
              <a:rPr b="1" lang="en" sz="1000">
                <a:solidFill>
                  <a:schemeClr val="dk1"/>
                </a:solidFill>
                <a:highlight>
                  <a:srgbClr val="FFFF00"/>
                </a:highlight>
              </a:rPr>
              <a:t>context of inheritance</a:t>
            </a:r>
            <a:r>
              <a:rPr lang="en" sz="1000">
                <a:solidFill>
                  <a:schemeClr val="dk1"/>
                </a:solidFill>
              </a:rPr>
              <a:t>, even if </a:t>
            </a: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AnimalRegistry</a:t>
            </a:r>
            <a:r>
              <a:rPr lang="en" sz="1000">
                <a:solidFill>
                  <a:schemeClr val="dk1"/>
                </a:solidFill>
              </a:rPr>
              <a:t> </a:t>
            </a:r>
            <a:r>
              <a:rPr i="1" lang="en" sz="1000" u="sng">
                <a:solidFill>
                  <a:schemeClr val="dk1"/>
                </a:solidFill>
                <a:highlight>
                  <a:srgbClr val="FFFF00"/>
                </a:highlight>
              </a:rPr>
              <a:t>currently</a:t>
            </a:r>
            <a:r>
              <a:rPr i="1" lang="en" sz="1000" u="sng">
                <a:solidFill>
                  <a:schemeClr val="dk1"/>
                </a:solidFill>
              </a:rPr>
              <a:t> doesn’t inherit from anything</a:t>
            </a:r>
            <a:r>
              <a:rPr lang="en" sz="1000">
                <a:solidFill>
                  <a:schemeClr val="dk1"/>
                </a:solidFill>
              </a:rPr>
              <a:t>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✅ </a:t>
            </a:r>
            <a:r>
              <a:rPr b="1" lang="en" sz="1000">
                <a:solidFill>
                  <a:schemeClr val="dk1"/>
                </a:solidFill>
              </a:rPr>
              <a:t>Best Practice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super()</a:t>
            </a:r>
            <a:r>
              <a:rPr lang="en" sz="1000">
                <a:solidFill>
                  <a:schemeClr val="dk1"/>
                </a:solidFill>
              </a:rPr>
              <a:t> ensures Python’s method resolution order (MRO) is followed, making the Singleton more maintainable.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726" y="839500"/>
            <a:ext cx="7880033" cy="35342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6" name="Google Shape;206;p31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1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08" name="Google Shape;208;p31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09" name="Google Shape;209;p31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1" name="Google Shape;21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1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Singleton Design Pattern: w/o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super()</a:t>
            </a:r>
            <a:endParaRPr i="1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13" name="Google Shape;213;p31"/>
          <p:cNvCxnSpPr/>
          <p:nvPr/>
        </p:nvCxnSpPr>
        <p:spPr>
          <a:xfrm>
            <a:off x="1485554" y="2458969"/>
            <a:ext cx="3026100" cy="1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14" name="Google Shape;214;p31"/>
          <p:cNvGrpSpPr/>
          <p:nvPr/>
        </p:nvGrpSpPr>
        <p:grpSpPr>
          <a:xfrm>
            <a:off x="3948050" y="3346025"/>
            <a:ext cx="1844801" cy="698325"/>
            <a:chOff x="3948050" y="3346025"/>
            <a:chExt cx="1844801" cy="698325"/>
          </a:xfrm>
        </p:grpSpPr>
        <p:cxnSp>
          <p:nvCxnSpPr>
            <p:cNvPr id="215" name="Google Shape;215;p31"/>
            <p:cNvCxnSpPr/>
            <p:nvPr/>
          </p:nvCxnSpPr>
          <p:spPr>
            <a:xfrm flipH="1" rot="10800000">
              <a:off x="3948050" y="3586250"/>
              <a:ext cx="986400" cy="458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6" name="Google Shape;216;p31"/>
            <p:cNvSpPr txBox="1"/>
            <p:nvPr/>
          </p:nvSpPr>
          <p:spPr>
            <a:xfrm>
              <a:off x="4888651" y="3346025"/>
              <a:ext cx="9042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188038"/>
                  </a:solidFill>
                </a:rPr>
                <a:t>Works!!</a:t>
              </a:r>
              <a:endParaRPr sz="1500">
                <a:solidFill>
                  <a:srgbClr val="188038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32"/>
          <p:cNvPicPr preferRelativeResize="0"/>
          <p:nvPr/>
        </p:nvPicPr>
        <p:blipFill rotWithShape="1">
          <a:blip r:embed="rId3">
            <a:alphaModFix/>
          </a:blip>
          <a:srcRect b="0" l="0" r="2818" t="0"/>
          <a:stretch/>
        </p:blipFill>
        <p:spPr>
          <a:xfrm>
            <a:off x="580900" y="822496"/>
            <a:ext cx="4186275" cy="361907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2" name="Google Shape;222;p32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2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24" name="Google Shape;224;p32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25" name="Google Shape;225;p32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7" name="Google Shape;22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2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Singleton Design Pattern: w/o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super()</a:t>
            </a:r>
            <a:endParaRPr i="1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29" name="Google Shape;229;p32"/>
          <p:cNvCxnSpPr/>
          <p:nvPr/>
        </p:nvCxnSpPr>
        <p:spPr>
          <a:xfrm>
            <a:off x="1335004" y="3118907"/>
            <a:ext cx="19320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0" name="Google Shape;230;p32"/>
          <p:cNvGrpSpPr/>
          <p:nvPr/>
        </p:nvGrpSpPr>
        <p:grpSpPr>
          <a:xfrm>
            <a:off x="2574150" y="3598713"/>
            <a:ext cx="1844801" cy="698325"/>
            <a:chOff x="3948050" y="3346025"/>
            <a:chExt cx="1844801" cy="698325"/>
          </a:xfrm>
        </p:grpSpPr>
        <p:cxnSp>
          <p:nvCxnSpPr>
            <p:cNvPr id="231" name="Google Shape;231;p32"/>
            <p:cNvCxnSpPr/>
            <p:nvPr/>
          </p:nvCxnSpPr>
          <p:spPr>
            <a:xfrm flipH="1" rot="10800000">
              <a:off x="3948050" y="3586250"/>
              <a:ext cx="986400" cy="458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2" name="Google Shape;232;p32"/>
            <p:cNvSpPr txBox="1"/>
            <p:nvPr/>
          </p:nvSpPr>
          <p:spPr>
            <a:xfrm>
              <a:off x="4888651" y="3346025"/>
              <a:ext cx="9042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188038"/>
                  </a:solidFill>
                </a:rPr>
                <a:t>Works!!</a:t>
              </a:r>
              <a:endParaRPr sz="1500">
                <a:solidFill>
                  <a:srgbClr val="188038"/>
                </a:solidFill>
              </a:endParaRPr>
            </a:p>
          </p:txBody>
        </p:sp>
      </p:grpSp>
      <p:cxnSp>
        <p:nvCxnSpPr>
          <p:cNvPr id="233" name="Google Shape;233;p32"/>
          <p:cNvCxnSpPr/>
          <p:nvPr/>
        </p:nvCxnSpPr>
        <p:spPr>
          <a:xfrm flipH="1" rot="10800000">
            <a:off x="1792954" y="2306354"/>
            <a:ext cx="781200" cy="6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34" name="Google Shape;23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33475" y="3377625"/>
            <a:ext cx="2336025" cy="805125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5" name="Google Shape;235;p32"/>
          <p:cNvSpPr txBox="1"/>
          <p:nvPr/>
        </p:nvSpPr>
        <p:spPr>
          <a:xfrm>
            <a:off x="5225700" y="753725"/>
            <a:ext cx="3517800" cy="2385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✅ </a:t>
            </a: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r1 is r2</a:t>
            </a:r>
            <a:r>
              <a:rPr b="1" lang="en" sz="1300">
                <a:solidFill>
                  <a:schemeClr val="dk1"/>
                </a:solidFill>
              </a:rPr>
              <a:t> prints </a:t>
            </a: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" sz="1300">
                <a:solidFill>
                  <a:schemeClr val="dk1"/>
                </a:solidFill>
              </a:rPr>
              <a:t>, confirming that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AnimalRegistry</a:t>
            </a:r>
            <a:r>
              <a:rPr lang="en" sz="1300">
                <a:solidFill>
                  <a:schemeClr val="dk1"/>
                </a:solidFill>
              </a:rPr>
              <a:t> is a </a:t>
            </a:r>
            <a:r>
              <a:rPr b="1" lang="en" sz="1300">
                <a:solidFill>
                  <a:schemeClr val="dk1"/>
                </a:solidFill>
              </a:rPr>
              <a:t>Singleton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❌ </a:t>
            </a: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BaseRegistry.__new__()</a:t>
            </a:r>
            <a:r>
              <a:rPr b="1" lang="en" sz="1300">
                <a:solidFill>
                  <a:schemeClr val="dk1"/>
                </a:solidFill>
              </a:rPr>
              <a:t> is not called at all</a:t>
            </a:r>
            <a:r>
              <a:rPr lang="en" sz="1300">
                <a:solidFill>
                  <a:schemeClr val="dk1"/>
                </a:solidFill>
              </a:rPr>
              <a:t> because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object.__new__(cls)</a:t>
            </a:r>
            <a:r>
              <a:rPr lang="en" sz="1300">
                <a:solidFill>
                  <a:schemeClr val="dk1"/>
                </a:solidFill>
              </a:rPr>
              <a:t> is used, </a:t>
            </a:r>
            <a:r>
              <a:rPr b="1" i="1" lang="en" sz="1300">
                <a:solidFill>
                  <a:srgbClr val="FF0000"/>
                </a:solidFill>
                <a:highlight>
                  <a:srgbClr val="FFFF00"/>
                </a:highlight>
              </a:rPr>
              <a:t>bypassing inheritance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❌ </a:t>
            </a: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BaseRegistry.__init__()</a:t>
            </a:r>
            <a:r>
              <a:rPr b="1" lang="en" sz="1300">
                <a:solidFill>
                  <a:schemeClr val="dk1"/>
                </a:solidFill>
              </a:rPr>
              <a:t> is called twice</a:t>
            </a:r>
            <a:r>
              <a:rPr lang="en" sz="1300">
                <a:solidFill>
                  <a:schemeClr val="dk1"/>
                </a:solidFill>
              </a:rPr>
              <a:t> because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__init__</a:t>
            </a:r>
            <a:r>
              <a:rPr lang="en" sz="1300">
                <a:solidFill>
                  <a:schemeClr val="dk1"/>
                </a:solidFill>
              </a:rPr>
              <a:t> runs every time an instance is returned.</a:t>
            </a:r>
            <a:endParaRPr sz="1300">
              <a:solidFill>
                <a:schemeClr val="dk1"/>
              </a:solidFill>
            </a:endParaRPr>
          </a:p>
        </p:txBody>
      </p:sp>
      <p:cxnSp>
        <p:nvCxnSpPr>
          <p:cNvPr id="236" name="Google Shape;236;p32"/>
          <p:cNvCxnSpPr/>
          <p:nvPr/>
        </p:nvCxnSpPr>
        <p:spPr>
          <a:xfrm>
            <a:off x="1111604" y="1326247"/>
            <a:ext cx="19320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675" y="1026375"/>
            <a:ext cx="7440449" cy="314232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2" name="Google Shape;242;p33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3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44" name="Google Shape;244;p33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45" name="Google Shape;245;p33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7" name="Google Shape;24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3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Singleton Design Pattern: Handling Multiple Inheritance</a:t>
            </a:r>
            <a:endParaRPr i="1"/>
          </a:p>
        </p:txBody>
      </p:sp>
      <p:cxnSp>
        <p:nvCxnSpPr>
          <p:cNvPr id="249" name="Google Shape;249;p33"/>
          <p:cNvCxnSpPr/>
          <p:nvPr/>
        </p:nvCxnSpPr>
        <p:spPr>
          <a:xfrm>
            <a:off x="3646304" y="2718457"/>
            <a:ext cx="3977400" cy="34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" name="Google Shape;250;p33"/>
          <p:cNvSpPr txBox="1"/>
          <p:nvPr/>
        </p:nvSpPr>
        <p:spPr>
          <a:xfrm>
            <a:off x="1428516" y="2383875"/>
            <a:ext cx="4755900" cy="5079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</a:rPr>
              <a:t>Why not </a:t>
            </a:r>
            <a:r>
              <a:rPr lang="en" sz="21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super()</a:t>
            </a:r>
            <a:r>
              <a:rPr lang="en" sz="21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.__new__(cls)</a:t>
            </a:r>
            <a:r>
              <a:rPr lang="en" sz="2100">
                <a:solidFill>
                  <a:schemeClr val="dk2"/>
                </a:solidFill>
              </a:rPr>
              <a:t>?</a:t>
            </a:r>
            <a:endParaRPr sz="21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450" y="740841"/>
            <a:ext cx="3054675" cy="377927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6" name="Google Shape;256;p34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4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58" name="Google Shape;258;p34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59" name="Google Shape;259;p34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1" name="Google Shape;26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4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/>
              <a:t>Handling Multiple Inheritance using </a:t>
            </a:r>
            <a:r>
              <a:rPr lang="en" sz="2120">
                <a:latin typeface="Courier New"/>
                <a:ea typeface="Courier New"/>
                <a:cs typeface="Courier New"/>
                <a:sym typeface="Courier New"/>
              </a:rPr>
              <a:t>super(AnimalRegistry,cls)</a:t>
            </a:r>
            <a:endParaRPr i="1" sz="212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63" name="Google Shape;263;p34"/>
          <p:cNvCxnSpPr/>
          <p:nvPr/>
        </p:nvCxnSpPr>
        <p:spPr>
          <a:xfrm>
            <a:off x="1632978" y="3376088"/>
            <a:ext cx="736200" cy="10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34"/>
          <p:cNvCxnSpPr/>
          <p:nvPr/>
        </p:nvCxnSpPr>
        <p:spPr>
          <a:xfrm>
            <a:off x="882193" y="3904797"/>
            <a:ext cx="3960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" name="Google Shape;265;p34"/>
          <p:cNvSpPr txBox="1"/>
          <p:nvPr/>
        </p:nvSpPr>
        <p:spPr>
          <a:xfrm>
            <a:off x="6066175" y="1917250"/>
            <a:ext cx="2862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Use Python 3+ instead!!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super() just works!</a:t>
            </a:r>
            <a:endParaRPr sz="1800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66" name="Google Shape;266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73950" y="834178"/>
            <a:ext cx="3435004" cy="72105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7" name="Google Shape;267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36159" y="837202"/>
            <a:ext cx="1866200" cy="799800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8" name="Google Shape;268;p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2438" y="1460288"/>
            <a:ext cx="3054675" cy="72106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69" name="Google Shape;269;p34"/>
          <p:cNvGrpSpPr/>
          <p:nvPr/>
        </p:nvGrpSpPr>
        <p:grpSpPr>
          <a:xfrm>
            <a:off x="3673925" y="1778925"/>
            <a:ext cx="3215400" cy="2125866"/>
            <a:chOff x="3673925" y="1778925"/>
            <a:chExt cx="3215400" cy="2125866"/>
          </a:xfrm>
        </p:grpSpPr>
        <p:sp>
          <p:nvSpPr>
            <p:cNvPr id="270" name="Google Shape;270;p34"/>
            <p:cNvSpPr txBox="1"/>
            <p:nvPr/>
          </p:nvSpPr>
          <p:spPr>
            <a:xfrm>
              <a:off x="3673925" y="3119691"/>
              <a:ext cx="3215400" cy="7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/>
                <a:t>Method Resolution Order (MRO): </a:t>
              </a:r>
              <a:br>
                <a:rPr lang="en" sz="1300"/>
              </a:br>
              <a:br>
                <a:rPr lang="en" sz="1300"/>
              </a:br>
              <a:r>
                <a:rPr i="1" lang="en" sz="1300">
                  <a:highlight>
                    <a:srgbClr val="FFFF00"/>
                  </a:highlight>
                </a:rPr>
                <a:t>C3 Linearization: Left-right in same level</a:t>
              </a:r>
              <a:endParaRPr i="1" sz="1300">
                <a:highlight>
                  <a:srgbClr val="FFFF00"/>
                </a:highlight>
              </a:endParaRPr>
            </a:p>
          </p:txBody>
        </p:sp>
        <p:pic>
          <p:nvPicPr>
            <p:cNvPr id="271" name="Google Shape;271;p34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523700" y="1778925"/>
              <a:ext cx="1227800" cy="1322775"/>
            </a:xfrm>
            <a:prstGeom prst="rect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grpSp>
        <p:nvGrpSpPr>
          <p:cNvPr id="272" name="Google Shape;272;p34"/>
          <p:cNvGrpSpPr/>
          <p:nvPr/>
        </p:nvGrpSpPr>
        <p:grpSpPr>
          <a:xfrm>
            <a:off x="5739775" y="2849438"/>
            <a:ext cx="2821200" cy="920312"/>
            <a:chOff x="5739775" y="2849438"/>
            <a:chExt cx="2821200" cy="920312"/>
          </a:xfrm>
        </p:grpSpPr>
        <p:cxnSp>
          <p:nvCxnSpPr>
            <p:cNvPr id="273" name="Google Shape;273;p34"/>
            <p:cNvCxnSpPr/>
            <p:nvPr/>
          </p:nvCxnSpPr>
          <p:spPr>
            <a:xfrm>
              <a:off x="5739775" y="2849438"/>
              <a:ext cx="1402500" cy="443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74" name="Google Shape;274;p34"/>
            <p:cNvSpPr txBox="1"/>
            <p:nvPr/>
          </p:nvSpPr>
          <p:spPr>
            <a:xfrm>
              <a:off x="7142275" y="3154150"/>
              <a:ext cx="14187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rgbClr val="FF0000"/>
                  </a:solidFill>
                </a:rPr>
                <a:t>(the dreaded) Diamond</a:t>
              </a:r>
              <a:endParaRPr i="1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6900" y="695275"/>
            <a:ext cx="3580825" cy="224932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80" name="Google Shape;28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675" y="695275"/>
            <a:ext cx="3215400" cy="3758673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1" name="Google Shape;281;p35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5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83" name="Google Shape;283;p35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84" name="Google Shape;284;p35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6" name="Google Shape;286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5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/>
              <a:t>Handling Multiple Inheritance: Is C++ Any better?</a:t>
            </a:r>
            <a:endParaRPr i="1" sz="212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88" name="Google Shape;288;p35"/>
          <p:cNvCxnSpPr/>
          <p:nvPr/>
        </p:nvCxnSpPr>
        <p:spPr>
          <a:xfrm>
            <a:off x="4818193" y="921797"/>
            <a:ext cx="13845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89" name="Google Shape;289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38423" y="3166698"/>
            <a:ext cx="3517800" cy="711647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90" name="Google Shape;290;p35"/>
          <p:cNvGrpSpPr/>
          <p:nvPr/>
        </p:nvGrpSpPr>
        <p:grpSpPr>
          <a:xfrm>
            <a:off x="7320750" y="699700"/>
            <a:ext cx="1618200" cy="978663"/>
            <a:chOff x="7320750" y="699700"/>
            <a:chExt cx="1618200" cy="978663"/>
          </a:xfrm>
        </p:grpSpPr>
        <p:sp>
          <p:nvSpPr>
            <p:cNvPr id="291" name="Google Shape;291;p35"/>
            <p:cNvSpPr txBox="1"/>
            <p:nvPr/>
          </p:nvSpPr>
          <p:spPr>
            <a:xfrm>
              <a:off x="7320750" y="699700"/>
              <a:ext cx="1618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800">
                  <a:solidFill>
                    <a:srgbClr val="FF0000"/>
                  </a:solidFill>
                </a:rPr>
                <a:t>No super()</a:t>
              </a:r>
              <a:r>
                <a:rPr lang="en" sz="1800">
                  <a:solidFill>
                    <a:srgbClr val="FF0000"/>
                  </a:solidFill>
                </a:rPr>
                <a:t> !!</a:t>
              </a:r>
              <a:endParaRPr sz="1800">
                <a:solidFill>
                  <a:srgbClr val="FF0000"/>
                </a:solidFill>
              </a:endParaRPr>
            </a:p>
          </p:txBody>
        </p:sp>
        <p:pic>
          <p:nvPicPr>
            <p:cNvPr descr="a cartoon panda bear is crying with tears coming out of its eyes . (Provided by Tenor)" id="292" name="Google Shape;292;p35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786875" y="1161390"/>
              <a:ext cx="548700" cy="51697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3" name="Google Shape;293;p35"/>
          <p:cNvGrpSpPr/>
          <p:nvPr/>
        </p:nvGrpSpPr>
        <p:grpSpPr>
          <a:xfrm>
            <a:off x="7150632" y="1761679"/>
            <a:ext cx="2077500" cy="2740184"/>
            <a:chOff x="7150632" y="1761679"/>
            <a:chExt cx="2077500" cy="2740184"/>
          </a:xfrm>
        </p:grpSpPr>
        <p:grpSp>
          <p:nvGrpSpPr>
            <p:cNvPr id="294" name="Google Shape;294;p35"/>
            <p:cNvGrpSpPr/>
            <p:nvPr/>
          </p:nvGrpSpPr>
          <p:grpSpPr>
            <a:xfrm>
              <a:off x="7150632" y="1761679"/>
              <a:ext cx="2077500" cy="2288859"/>
              <a:chOff x="3508675" y="1796913"/>
              <a:chExt cx="2077500" cy="2288859"/>
            </a:xfrm>
          </p:grpSpPr>
          <p:sp>
            <p:nvSpPr>
              <p:cNvPr id="295" name="Google Shape;295;p35"/>
              <p:cNvSpPr txBox="1"/>
              <p:nvPr/>
            </p:nvSpPr>
            <p:spPr>
              <a:xfrm>
                <a:off x="3508675" y="3131471"/>
                <a:ext cx="2077500" cy="95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Method Resolution Order (MRO): </a:t>
                </a:r>
                <a:br>
                  <a:rPr lang="en" sz="1000"/>
                </a:br>
                <a:br>
                  <a:rPr lang="en" sz="1000"/>
                </a:br>
                <a:r>
                  <a:rPr i="1" lang="en" sz="1000">
                    <a:highlight>
                      <a:srgbClr val="FFFF00"/>
                    </a:highlight>
                  </a:rPr>
                  <a:t>C3 Linearization: Left-right in same level</a:t>
                </a:r>
                <a:endParaRPr i="1" sz="1000">
                  <a:highlight>
                    <a:srgbClr val="FFFF00"/>
                  </a:highlight>
                </a:endParaRPr>
              </a:p>
            </p:txBody>
          </p:sp>
          <p:pic>
            <p:nvPicPr>
              <p:cNvPr id="296" name="Google Shape;296;p35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3874600" y="1796913"/>
                <a:ext cx="1227800" cy="13227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a red cross on a white background that looks like a starfish (Provided by Tenor)" id="297" name="Google Shape;297;p35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7986334" y="4050521"/>
              <a:ext cx="406075" cy="451341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98" name="Google Shape;298;p35"/>
          <p:cNvCxnSpPr/>
          <p:nvPr/>
        </p:nvCxnSpPr>
        <p:spPr>
          <a:xfrm>
            <a:off x="4767168" y="1589760"/>
            <a:ext cx="18231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35"/>
          <p:cNvSpPr txBox="1"/>
          <p:nvPr/>
        </p:nvSpPr>
        <p:spPr>
          <a:xfrm>
            <a:off x="3596275" y="3969918"/>
            <a:ext cx="341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 u="sng">
                <a:solidFill>
                  <a:srgbClr val="188038"/>
                </a:solidFill>
              </a:rPr>
              <a:t>Compiles and runs though!!</a:t>
            </a:r>
            <a:endParaRPr i="1" sz="1800" u="sng">
              <a:solidFill>
                <a:srgbClr val="188038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6900" y="695275"/>
            <a:ext cx="3580825" cy="224932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05" name="Google Shape;30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675" y="695275"/>
            <a:ext cx="3215400" cy="3758673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6" name="Google Shape;306;p36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6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08" name="Google Shape;308;p36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09" name="Google Shape;309;p36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1" name="Google Shape;311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6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/>
              <a:t>Handling Multiple Inheritance: The Dreaded Diamond</a:t>
            </a:r>
            <a:endParaRPr i="1" sz="212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13" name="Google Shape;313;p36"/>
          <p:cNvCxnSpPr/>
          <p:nvPr/>
        </p:nvCxnSpPr>
        <p:spPr>
          <a:xfrm>
            <a:off x="4818193" y="921797"/>
            <a:ext cx="13845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14" name="Google Shape;314;p36"/>
          <p:cNvGrpSpPr/>
          <p:nvPr/>
        </p:nvGrpSpPr>
        <p:grpSpPr>
          <a:xfrm>
            <a:off x="140675" y="636550"/>
            <a:ext cx="2961876" cy="1206000"/>
            <a:chOff x="140675" y="636550"/>
            <a:chExt cx="2961876" cy="1206000"/>
          </a:xfrm>
        </p:grpSpPr>
        <p:pic>
          <p:nvPicPr>
            <p:cNvPr id="315" name="Google Shape;315;p3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40675" y="636550"/>
              <a:ext cx="2961876" cy="1206000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cxnSp>
          <p:nvCxnSpPr>
            <p:cNvPr id="316" name="Google Shape;316;p36"/>
            <p:cNvCxnSpPr/>
            <p:nvPr/>
          </p:nvCxnSpPr>
          <p:spPr>
            <a:xfrm>
              <a:off x="425993" y="1172447"/>
              <a:ext cx="1549200" cy="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17" name="Google Shape;317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88638" y="1762199"/>
            <a:ext cx="3437975" cy="393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8" name="Google Shape;318;p3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14150" y="3105963"/>
            <a:ext cx="3386975" cy="1065112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319" name="Google Shape;319;p36"/>
          <p:cNvCxnSpPr/>
          <p:nvPr/>
        </p:nvCxnSpPr>
        <p:spPr>
          <a:xfrm>
            <a:off x="6178818" y="3771710"/>
            <a:ext cx="19029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6900" y="695275"/>
            <a:ext cx="3580825" cy="224932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25" name="Google Shape;325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675" y="695275"/>
            <a:ext cx="3215400" cy="3758673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6" name="Google Shape;326;p37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7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28" name="Google Shape;328;p37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29" name="Google Shape;329;p37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1" name="Google Shape;331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7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/>
              <a:t>Handling Multiple Inheritance: Solving the Dreaded Diamond</a:t>
            </a:r>
            <a:endParaRPr i="1" sz="212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33" name="Google Shape;333;p37"/>
          <p:cNvCxnSpPr/>
          <p:nvPr/>
        </p:nvCxnSpPr>
        <p:spPr>
          <a:xfrm>
            <a:off x="4818193" y="921797"/>
            <a:ext cx="13845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34" name="Google Shape;334;p37"/>
          <p:cNvGrpSpPr/>
          <p:nvPr/>
        </p:nvGrpSpPr>
        <p:grpSpPr>
          <a:xfrm>
            <a:off x="4680100" y="2453900"/>
            <a:ext cx="4341051" cy="705525"/>
            <a:chOff x="3237125" y="3139438"/>
            <a:chExt cx="4341051" cy="705525"/>
          </a:xfrm>
        </p:grpSpPr>
        <p:pic>
          <p:nvPicPr>
            <p:cNvPr id="335" name="Google Shape;335;p37"/>
            <p:cNvPicPr preferRelativeResize="0"/>
            <p:nvPr/>
          </p:nvPicPr>
          <p:blipFill rotWithShape="1">
            <a:blip r:embed="rId6">
              <a:alphaModFix/>
            </a:blip>
            <a:srcRect b="0" l="0" r="4525" t="0"/>
            <a:stretch/>
          </p:blipFill>
          <p:spPr>
            <a:xfrm>
              <a:off x="3237125" y="3139438"/>
              <a:ext cx="4341051" cy="705525"/>
            </a:xfrm>
            <a:prstGeom prst="rect">
              <a:avLst/>
            </a:prstGeom>
            <a:noFill/>
            <a:ln cap="flat" cmpd="sng" w="28575">
              <a:solidFill>
                <a:srgbClr val="188038"/>
              </a:solidFill>
              <a:prstDash val="solid"/>
              <a:round/>
              <a:headEnd len="sm" w="sm" type="none"/>
              <a:tailEnd len="sm" w="sm" type="none"/>
            </a:ln>
          </p:spPr>
        </p:pic>
        <p:cxnSp>
          <p:nvCxnSpPr>
            <p:cNvPr id="336" name="Google Shape;336;p37"/>
            <p:cNvCxnSpPr/>
            <p:nvPr/>
          </p:nvCxnSpPr>
          <p:spPr>
            <a:xfrm>
              <a:off x="4136843" y="3456910"/>
              <a:ext cx="515700" cy="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7" name="Google Shape;337;p37"/>
            <p:cNvCxnSpPr/>
            <p:nvPr/>
          </p:nvCxnSpPr>
          <p:spPr>
            <a:xfrm>
              <a:off x="4183555" y="3691512"/>
              <a:ext cx="515700" cy="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38" name="Google Shape;338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88650" y="3295700"/>
            <a:ext cx="3656350" cy="104468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CCCC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8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8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45" name="Google Shape;345;p38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46" name="Google Shape;346;p38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8" name="Google Shape;34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8"/>
          <p:cNvSpPr txBox="1"/>
          <p:nvPr>
            <p:ph type="title"/>
          </p:nvPr>
        </p:nvSpPr>
        <p:spPr>
          <a:xfrm>
            <a:off x="311700" y="19984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/>
              <a:t>Be careful with Singletons!</a:t>
            </a:r>
            <a:endParaRPr i="1" sz="322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9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9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56" name="Google Shape;356;p39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57" name="Google Shape;357;p39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9" name="Google Shape;35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39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Singleton Design Pattern : </a:t>
            </a:r>
            <a:r>
              <a:rPr i="1" lang="en"/>
              <a:t>Beware of </a:t>
            </a:r>
            <a:r>
              <a:rPr i="1" lang="en">
                <a:solidFill>
                  <a:srgbClr val="0000FF"/>
                </a:solidFill>
              </a:rPr>
              <a:t>global instances</a:t>
            </a:r>
            <a:r>
              <a:rPr i="1" lang="en"/>
              <a:t>!</a:t>
            </a:r>
            <a:endParaRPr i="1"/>
          </a:p>
        </p:txBody>
      </p:sp>
      <p:pic>
        <p:nvPicPr>
          <p:cNvPr id="361" name="Google Shape;361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2800" y="786000"/>
            <a:ext cx="5601499" cy="364177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362" name="Google Shape;362;p39"/>
          <p:cNvCxnSpPr/>
          <p:nvPr/>
        </p:nvCxnSpPr>
        <p:spPr>
          <a:xfrm>
            <a:off x="2585850" y="2329975"/>
            <a:ext cx="21138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39"/>
          <p:cNvCxnSpPr/>
          <p:nvPr/>
        </p:nvCxnSpPr>
        <p:spPr>
          <a:xfrm>
            <a:off x="3031825" y="4336663"/>
            <a:ext cx="30066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" name="Google Shape;364;p39"/>
          <p:cNvCxnSpPr/>
          <p:nvPr/>
        </p:nvCxnSpPr>
        <p:spPr>
          <a:xfrm flipH="1" rot="10800000">
            <a:off x="1493475" y="3586375"/>
            <a:ext cx="1233300" cy="15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0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40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71" name="Google Shape;371;p40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72" name="Google Shape;372;p40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74" name="Google Shape;37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40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Singleton Design Pattern : </a:t>
            </a:r>
            <a:r>
              <a:rPr i="1" lang="en"/>
              <a:t>Beware of </a:t>
            </a:r>
            <a:r>
              <a:rPr i="1" lang="en" u="sng">
                <a:solidFill>
                  <a:srgbClr val="0000FF"/>
                </a:solidFill>
              </a:rPr>
              <a:t>silent</a:t>
            </a:r>
            <a:r>
              <a:rPr i="1" lang="en">
                <a:solidFill>
                  <a:srgbClr val="0000FF"/>
                </a:solidFill>
              </a:rPr>
              <a:t> dependencies</a:t>
            </a:r>
            <a:r>
              <a:rPr i="1" lang="en"/>
              <a:t>!</a:t>
            </a:r>
            <a:endParaRPr i="1"/>
          </a:p>
        </p:txBody>
      </p:sp>
      <p:pic>
        <p:nvPicPr>
          <p:cNvPr id="376" name="Google Shape;37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825" y="1076275"/>
            <a:ext cx="4956820" cy="302637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77" name="Google Shape;377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1851" y="1339500"/>
            <a:ext cx="4573475" cy="2000250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78" name="Google Shape;378;p40"/>
          <p:cNvSpPr/>
          <p:nvPr/>
        </p:nvSpPr>
        <p:spPr>
          <a:xfrm>
            <a:off x="4640900" y="1683975"/>
            <a:ext cx="2970900" cy="516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40"/>
          <p:cNvSpPr txBox="1"/>
          <p:nvPr/>
        </p:nvSpPr>
        <p:spPr>
          <a:xfrm>
            <a:off x="5415923" y="3445425"/>
            <a:ext cx="3252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Dependency Injection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(testing/alternatives easy!!)</a:t>
            </a:r>
            <a:endParaRPr sz="1800">
              <a:solidFill>
                <a:schemeClr val="dk1"/>
              </a:solidFill>
            </a:endParaRPr>
          </a:p>
        </p:txBody>
      </p:sp>
      <p:grpSp>
        <p:nvGrpSpPr>
          <p:cNvPr id="380" name="Google Shape;380;p40"/>
          <p:cNvGrpSpPr/>
          <p:nvPr/>
        </p:nvGrpSpPr>
        <p:grpSpPr>
          <a:xfrm>
            <a:off x="6836850" y="938400"/>
            <a:ext cx="2182025" cy="769050"/>
            <a:chOff x="6836850" y="938400"/>
            <a:chExt cx="2182025" cy="769050"/>
          </a:xfrm>
        </p:grpSpPr>
        <p:cxnSp>
          <p:nvCxnSpPr>
            <p:cNvPr id="381" name="Google Shape;381;p40"/>
            <p:cNvCxnSpPr/>
            <p:nvPr/>
          </p:nvCxnSpPr>
          <p:spPr>
            <a:xfrm flipH="1" rot="10800000">
              <a:off x="6836850" y="1132050"/>
              <a:ext cx="481500" cy="575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82" name="Google Shape;382;p40"/>
            <p:cNvSpPr txBox="1"/>
            <p:nvPr/>
          </p:nvSpPr>
          <p:spPr>
            <a:xfrm>
              <a:off x="7283375" y="938400"/>
              <a:ext cx="17355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Logger</a:t>
              </a:r>
              <a:r>
                <a:rPr lang="en" sz="1300">
                  <a:solidFill>
                    <a:schemeClr val="dk2"/>
                  </a:solidFill>
                </a:rPr>
                <a:t> swappable</a:t>
              </a:r>
              <a:endParaRPr sz="1300"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1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41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89" name="Google Shape;389;p41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90" name="Google Shape;390;p41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92" name="Google Shape;39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1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Singleton Design Pattern: </a:t>
            </a:r>
            <a:r>
              <a:rPr i="1" lang="en" sz="2020"/>
              <a:t>Breaking </a:t>
            </a:r>
            <a:r>
              <a:rPr i="1" lang="en" sz="2020">
                <a:highlight>
                  <a:srgbClr val="FFFF00"/>
                </a:highlight>
              </a:rPr>
              <a:t>Single Responsibility Principle (</a:t>
            </a:r>
            <a:r>
              <a:rPr lang="en" sz="2020" u="sng">
                <a:highlight>
                  <a:srgbClr val="FFFF00"/>
                </a:highlight>
              </a:rPr>
              <a:t>SRP</a:t>
            </a:r>
            <a:r>
              <a:rPr i="1" lang="en" sz="2020">
                <a:highlight>
                  <a:srgbClr val="FFFF00"/>
                </a:highlight>
              </a:rPr>
              <a:t>)</a:t>
            </a:r>
            <a:endParaRPr i="1" sz="2020">
              <a:highlight>
                <a:srgbClr val="FFFF00"/>
              </a:highlight>
            </a:endParaRPr>
          </a:p>
        </p:txBody>
      </p:sp>
      <p:pic>
        <p:nvPicPr>
          <p:cNvPr id="394" name="Google Shape;394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575" y="1414550"/>
            <a:ext cx="7200900" cy="2971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95" name="Google Shape;395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38875" y="836163"/>
            <a:ext cx="4029075" cy="301942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100" y="920675"/>
            <a:ext cx="4960226" cy="197282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01" name="Google Shape;401;p42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42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403" name="Google Shape;403;p42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404" name="Google Shape;404;p42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06" name="Google Shape;40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42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Singleton Design Pattern : </a:t>
            </a:r>
            <a:r>
              <a:rPr i="1" lang="en"/>
              <a:t>Beware of </a:t>
            </a:r>
            <a:r>
              <a:rPr i="1" lang="en">
                <a:solidFill>
                  <a:srgbClr val="FF0000"/>
                </a:solidFill>
                <a:highlight>
                  <a:srgbClr val="FFFF00"/>
                </a:highlight>
              </a:rPr>
              <a:t>multi</a:t>
            </a:r>
            <a:r>
              <a:rPr i="1" lang="en">
                <a:highlight>
                  <a:srgbClr val="FFFF00"/>
                </a:highlight>
              </a:rPr>
              <a:t>-threading!</a:t>
            </a:r>
            <a:endParaRPr i="1">
              <a:highlight>
                <a:srgbClr val="FFFF00"/>
              </a:highlight>
            </a:endParaRPr>
          </a:p>
        </p:txBody>
      </p:sp>
      <p:pic>
        <p:nvPicPr>
          <p:cNvPr id="408" name="Google Shape;408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81650" y="1840200"/>
            <a:ext cx="5750651" cy="2570176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409" name="Google Shape;409;p42"/>
          <p:cNvGrpSpPr/>
          <p:nvPr/>
        </p:nvGrpSpPr>
        <p:grpSpPr>
          <a:xfrm>
            <a:off x="3983275" y="1937100"/>
            <a:ext cx="5111900" cy="979900"/>
            <a:chOff x="3983275" y="1937100"/>
            <a:chExt cx="5111900" cy="979900"/>
          </a:xfrm>
        </p:grpSpPr>
        <p:cxnSp>
          <p:nvCxnSpPr>
            <p:cNvPr id="410" name="Google Shape;410;p42"/>
            <p:cNvCxnSpPr/>
            <p:nvPr/>
          </p:nvCxnSpPr>
          <p:spPr>
            <a:xfrm flipH="1" rot="10800000">
              <a:off x="3983275" y="2905300"/>
              <a:ext cx="986400" cy="11700"/>
            </a:xfrm>
            <a:prstGeom prst="straightConnector1">
              <a:avLst/>
            </a:prstGeom>
            <a:noFill/>
            <a:ln cap="flat" cmpd="sng" w="19050">
              <a:solidFill>
                <a:srgbClr val="18803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11" name="Google Shape;411;p42"/>
            <p:cNvGrpSpPr/>
            <p:nvPr/>
          </p:nvGrpSpPr>
          <p:grpSpPr>
            <a:xfrm>
              <a:off x="4711350" y="1937100"/>
              <a:ext cx="4383825" cy="709800"/>
              <a:chOff x="4711350" y="1937100"/>
              <a:chExt cx="4383825" cy="709800"/>
            </a:xfrm>
          </p:grpSpPr>
          <p:cxnSp>
            <p:nvCxnSpPr>
              <p:cNvPr id="412" name="Google Shape;412;p42"/>
              <p:cNvCxnSpPr/>
              <p:nvPr/>
            </p:nvCxnSpPr>
            <p:spPr>
              <a:xfrm flipH="1" rot="10800000">
                <a:off x="4711350" y="2341500"/>
                <a:ext cx="681000" cy="30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413" name="Google Shape;413;p42"/>
              <p:cNvSpPr txBox="1"/>
              <p:nvPr/>
            </p:nvSpPr>
            <p:spPr>
              <a:xfrm>
                <a:off x="5433675" y="1937100"/>
                <a:ext cx="3661500" cy="58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solidFill>
                      <a:schemeClr val="dk2"/>
                    </a:solidFill>
                  </a:rPr>
                  <a:t>Prevent multiple threads from accessing </a:t>
                </a:r>
                <a:r>
                  <a:rPr i="1" lang="en" sz="1300" u="sng">
                    <a:solidFill>
                      <a:schemeClr val="dk2"/>
                    </a:solidFill>
                  </a:rPr>
                  <a:t>in parallel</a:t>
                </a:r>
                <a:endParaRPr i="1" sz="1300" u="sng">
                  <a:solidFill>
                    <a:schemeClr val="dk2"/>
                  </a:solidFill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52475"/>
            <a:ext cx="6602251" cy="311015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19" name="Google Shape;419;p43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3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421" name="Google Shape;421;p43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422" name="Google Shape;422;p43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24" name="Google Shape;424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43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Singleton Design Pattern : </a:t>
            </a:r>
            <a:r>
              <a:rPr i="1" lang="en"/>
              <a:t>Beware of </a:t>
            </a:r>
            <a:r>
              <a:rPr i="1" lang="en">
                <a:solidFill>
                  <a:srgbClr val="FF0000"/>
                </a:solidFill>
                <a:highlight>
                  <a:srgbClr val="FFFF00"/>
                </a:highlight>
              </a:rPr>
              <a:t>concurrent</a:t>
            </a:r>
            <a:r>
              <a:rPr i="1" lang="en">
                <a:solidFill>
                  <a:srgbClr val="0000FF"/>
                </a:solidFill>
                <a:highlight>
                  <a:srgbClr val="FFFF00"/>
                </a:highlight>
              </a:rPr>
              <a:t> </a:t>
            </a:r>
            <a:r>
              <a:rPr i="1" lang="en">
                <a:highlight>
                  <a:srgbClr val="FFFF00"/>
                </a:highlight>
              </a:rPr>
              <a:t>threads</a:t>
            </a:r>
            <a:r>
              <a:rPr i="1" lang="en"/>
              <a:t>!</a:t>
            </a:r>
            <a:endParaRPr i="1"/>
          </a:p>
        </p:txBody>
      </p:sp>
      <p:cxnSp>
        <p:nvCxnSpPr>
          <p:cNvPr id="426" name="Google Shape;426;p43"/>
          <p:cNvCxnSpPr/>
          <p:nvPr/>
        </p:nvCxnSpPr>
        <p:spPr>
          <a:xfrm flipH="1" rot="10800000">
            <a:off x="547803" y="2348614"/>
            <a:ext cx="1968900" cy="1800"/>
          </a:xfrm>
          <a:prstGeom prst="straightConnector1">
            <a:avLst/>
          </a:prstGeom>
          <a:noFill/>
          <a:ln cap="flat" cmpd="sng" w="19050">
            <a:solidFill>
              <a:srgbClr val="18803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" name="Google Shape;427;p43"/>
          <p:cNvCxnSpPr/>
          <p:nvPr/>
        </p:nvCxnSpPr>
        <p:spPr>
          <a:xfrm>
            <a:off x="1242220" y="3218517"/>
            <a:ext cx="3220500" cy="12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28" name="Google Shape;428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16700" y="895900"/>
            <a:ext cx="6063836" cy="233492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29" name="Google Shape;429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36849" y="2348624"/>
            <a:ext cx="4995450" cy="1962175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44"/>
          <p:cNvPicPr preferRelativeResize="0"/>
          <p:nvPr/>
        </p:nvPicPr>
        <p:blipFill rotWithShape="1">
          <a:blip r:embed="rId3">
            <a:alphaModFix/>
          </a:blip>
          <a:srcRect b="0" l="0" r="28036" t="5365"/>
          <a:stretch/>
        </p:blipFill>
        <p:spPr>
          <a:xfrm>
            <a:off x="312425" y="824926"/>
            <a:ext cx="3768951" cy="3516554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35" name="Google Shape;435;p44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44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437" name="Google Shape;437;p44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438" name="Google Shape;438;p44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40" name="Google Shape;440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44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Singleton Design Pattern : </a:t>
            </a:r>
            <a:r>
              <a:rPr i="1" lang="en"/>
              <a:t>Beware of </a:t>
            </a:r>
            <a:r>
              <a:rPr i="1" lang="en">
                <a:solidFill>
                  <a:srgbClr val="FF0000"/>
                </a:solidFill>
                <a:highlight>
                  <a:srgbClr val="FFFF00"/>
                </a:highlight>
              </a:rPr>
              <a:t>concurrent</a:t>
            </a:r>
            <a:r>
              <a:rPr i="1" lang="en">
                <a:solidFill>
                  <a:srgbClr val="0000FF"/>
                </a:solidFill>
                <a:highlight>
                  <a:srgbClr val="FFFF00"/>
                </a:highlight>
              </a:rPr>
              <a:t> </a:t>
            </a:r>
            <a:r>
              <a:rPr i="1" lang="en">
                <a:highlight>
                  <a:srgbClr val="FFFF00"/>
                </a:highlight>
              </a:rPr>
              <a:t>threads</a:t>
            </a:r>
            <a:r>
              <a:rPr i="1" lang="en"/>
              <a:t>!</a:t>
            </a:r>
            <a:endParaRPr i="1"/>
          </a:p>
        </p:txBody>
      </p:sp>
      <p:cxnSp>
        <p:nvCxnSpPr>
          <p:cNvPr id="442" name="Google Shape;442;p44"/>
          <p:cNvCxnSpPr/>
          <p:nvPr/>
        </p:nvCxnSpPr>
        <p:spPr>
          <a:xfrm>
            <a:off x="3250500" y="3468925"/>
            <a:ext cx="6459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3" name="Google Shape;443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1851" y="894625"/>
            <a:ext cx="4757824" cy="3171882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5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45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450" name="Google Shape;450;p45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451" name="Google Shape;451;p45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53" name="Google Shape;45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5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Singleton Design Pattern : </a:t>
            </a:r>
            <a:r>
              <a:rPr i="1" lang="en"/>
              <a:t>Beware of </a:t>
            </a:r>
            <a:r>
              <a:rPr i="1" lang="en">
                <a:solidFill>
                  <a:srgbClr val="FF0000"/>
                </a:solidFill>
                <a:highlight>
                  <a:srgbClr val="FFFF00"/>
                </a:highlight>
              </a:rPr>
              <a:t>concurrent</a:t>
            </a:r>
            <a:r>
              <a:rPr i="1" lang="en">
                <a:solidFill>
                  <a:srgbClr val="0000FF"/>
                </a:solidFill>
                <a:highlight>
                  <a:srgbClr val="FFFF00"/>
                </a:highlight>
              </a:rPr>
              <a:t> </a:t>
            </a:r>
            <a:r>
              <a:rPr i="1" lang="en">
                <a:highlight>
                  <a:srgbClr val="FFFF00"/>
                </a:highlight>
              </a:rPr>
              <a:t>threads</a:t>
            </a:r>
            <a:r>
              <a:rPr i="1" lang="en"/>
              <a:t>!</a:t>
            </a:r>
            <a:endParaRPr i="1"/>
          </a:p>
        </p:txBody>
      </p:sp>
      <p:cxnSp>
        <p:nvCxnSpPr>
          <p:cNvPr id="455" name="Google Shape;455;p45"/>
          <p:cNvCxnSpPr/>
          <p:nvPr/>
        </p:nvCxnSpPr>
        <p:spPr>
          <a:xfrm>
            <a:off x="5798775" y="4259988"/>
            <a:ext cx="6459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56" name="Google Shape;456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150" y="1138313"/>
            <a:ext cx="6602251" cy="311015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57" name="Google Shape;457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48148" y="920050"/>
            <a:ext cx="4754275" cy="2645600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458" name="Google Shape;458;p45"/>
          <p:cNvCxnSpPr/>
          <p:nvPr/>
        </p:nvCxnSpPr>
        <p:spPr>
          <a:xfrm>
            <a:off x="953550" y="2834800"/>
            <a:ext cx="18672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9" name="Google Shape;459;p45"/>
          <p:cNvSpPr txBox="1"/>
          <p:nvPr/>
        </p:nvSpPr>
        <p:spPr>
          <a:xfrm>
            <a:off x="3607750" y="3686568"/>
            <a:ext cx="5411100" cy="4617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If GIL then still ok, else Python can be tricky!</a:t>
            </a:r>
            <a:endParaRPr b="1" sz="1800">
              <a:solidFill>
                <a:schemeClr val="dk2"/>
              </a:solidFill>
            </a:endParaRPr>
          </a:p>
        </p:txBody>
      </p:sp>
      <p:grpSp>
        <p:nvGrpSpPr>
          <p:cNvPr id="460" name="Google Shape;460;p45"/>
          <p:cNvGrpSpPr/>
          <p:nvPr/>
        </p:nvGrpSpPr>
        <p:grpSpPr>
          <a:xfrm>
            <a:off x="2033925" y="1690239"/>
            <a:ext cx="2585073" cy="991886"/>
            <a:chOff x="2033925" y="1690239"/>
            <a:chExt cx="2585073" cy="991886"/>
          </a:xfrm>
        </p:grpSpPr>
        <p:cxnSp>
          <p:nvCxnSpPr>
            <p:cNvPr id="461" name="Google Shape;461;p45"/>
            <p:cNvCxnSpPr/>
            <p:nvPr/>
          </p:nvCxnSpPr>
          <p:spPr>
            <a:xfrm flipH="1" rot="10800000">
              <a:off x="2033925" y="2130125"/>
              <a:ext cx="540300" cy="55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62" name="Google Shape;462;p45"/>
            <p:cNvSpPr txBox="1"/>
            <p:nvPr/>
          </p:nvSpPr>
          <p:spPr>
            <a:xfrm>
              <a:off x="2533398" y="1690239"/>
              <a:ext cx="20856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300">
                  <a:solidFill>
                    <a:srgbClr val="188038"/>
                  </a:solidFill>
                </a:rPr>
                <a:t>Double-checking </a:t>
              </a:r>
              <a:endParaRPr i="1" sz="1300">
                <a:solidFill>
                  <a:srgbClr val="188038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300">
                  <a:solidFill>
                    <a:srgbClr val="188038"/>
                  </a:solidFill>
                </a:rPr>
                <a:t>(performance booster)</a:t>
              </a:r>
              <a:endParaRPr i="1" sz="1300">
                <a:solidFill>
                  <a:srgbClr val="188038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6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6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469" name="Google Shape;469;p46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470" name="Google Shape;470;p46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72" name="Google Shape;47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46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Singleton Design Pattern : </a:t>
            </a:r>
            <a:r>
              <a:rPr i="1" lang="en"/>
              <a:t>Beware of multi-threading!</a:t>
            </a:r>
            <a:endParaRPr i="1"/>
          </a:p>
        </p:txBody>
      </p:sp>
      <p:graphicFrame>
        <p:nvGraphicFramePr>
          <p:cNvPr id="474" name="Google Shape;474;p46"/>
          <p:cNvGraphicFramePr/>
          <p:nvPr/>
        </p:nvGraphicFramePr>
        <p:xfrm>
          <a:off x="234850" y="1100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{457EA045-85B0-4DC0-AF37-A452FF1A251F}</a:tableStyleId>
              </a:tblPr>
              <a:tblGrid>
                <a:gridCol w="3040775"/>
                <a:gridCol w="5679825"/>
              </a:tblGrid>
              <a:tr h="360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Problem</a:t>
                      </a:r>
                      <a:endParaRPr b="1"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Why is it Bad?</a:t>
                      </a:r>
                      <a:endParaRPr b="1"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1️⃣ Introduces </a:t>
                      </a:r>
                      <a:r>
                        <a:rPr b="1" lang="en" sz="1200">
                          <a:highlight>
                            <a:srgbClr val="F4CCCC"/>
                          </a:highlight>
                        </a:rPr>
                        <a:t>Global State</a:t>
                      </a:r>
                      <a:endParaRPr b="1" sz="1200">
                        <a:highlight>
                          <a:srgbClr val="F4CCCC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Makes debugging harder because any part of the code can change the shared instance.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2️⃣ </a:t>
                      </a:r>
                      <a:r>
                        <a:rPr b="1" lang="en" sz="1200">
                          <a:highlight>
                            <a:srgbClr val="F4CCCC"/>
                          </a:highlight>
                        </a:rPr>
                        <a:t>Hidden</a:t>
                      </a:r>
                      <a:r>
                        <a:rPr b="1" lang="en" sz="1200"/>
                        <a:t> Dependencies (Bad Design)</a:t>
                      </a:r>
                      <a:endParaRPr b="1"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Code that depends on a Singleton does not explicitly state its dependency, making it harder to understand.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3️⃣ </a:t>
                      </a:r>
                      <a:r>
                        <a:rPr b="1" lang="en" sz="1200">
                          <a:highlight>
                            <a:srgbClr val="F4CCCC"/>
                          </a:highlight>
                        </a:rPr>
                        <a:t>Breaks</a:t>
                      </a:r>
                      <a:r>
                        <a:rPr b="1" lang="en" sz="1200"/>
                        <a:t> the Single Responsibility Principle (</a:t>
                      </a:r>
                      <a:r>
                        <a:rPr b="1" lang="en" sz="1200">
                          <a:highlight>
                            <a:srgbClr val="F4CCCC"/>
                          </a:highlight>
                        </a:rPr>
                        <a:t>SRP</a:t>
                      </a:r>
                      <a:r>
                        <a:rPr b="1" lang="en" sz="1200"/>
                        <a:t>)</a:t>
                      </a:r>
                      <a:endParaRPr b="1"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Singleton both </a:t>
                      </a:r>
                      <a:r>
                        <a:rPr b="1" lang="en" sz="1200"/>
                        <a:t>manages its instance</a:t>
                      </a:r>
                      <a:r>
                        <a:rPr lang="en" sz="1200"/>
                        <a:t> and </a:t>
                      </a:r>
                      <a:r>
                        <a:rPr b="1" lang="en" sz="1200"/>
                        <a:t>performs logic</a:t>
                      </a:r>
                      <a:r>
                        <a:rPr lang="en" sz="1200"/>
                        <a:t>, violating SRP.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4️⃣ </a:t>
                      </a:r>
                      <a:r>
                        <a:rPr b="1" lang="en" sz="1200">
                          <a:highlight>
                            <a:srgbClr val="F4CCCC"/>
                          </a:highlight>
                        </a:rPr>
                        <a:t>Hard to Mock</a:t>
                      </a:r>
                      <a:r>
                        <a:rPr b="1" lang="en" sz="1200"/>
                        <a:t> in Unit Tests</a:t>
                      </a:r>
                      <a:endParaRPr b="1"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Since the Singleton </a:t>
                      </a:r>
                      <a:r>
                        <a:rPr b="1" lang="en" sz="1200"/>
                        <a:t>forces a single instance</a:t>
                      </a:r>
                      <a:r>
                        <a:rPr lang="en" sz="1200"/>
                        <a:t>, replacing it with a mock object in tests is difficult.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5️⃣ Causes </a:t>
                      </a:r>
                      <a:r>
                        <a:rPr b="1" lang="en" sz="1200">
                          <a:highlight>
                            <a:srgbClr val="F4CCCC"/>
                          </a:highlight>
                        </a:rPr>
                        <a:t>Thread-Safety Issues</a:t>
                      </a:r>
                      <a:endParaRPr b="1" sz="1200">
                        <a:highlight>
                          <a:srgbClr val="F4CCCC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poorly implemented Singleton can lead to </a:t>
                      </a:r>
                      <a:r>
                        <a:rPr b="1" lang="en" sz="1200"/>
                        <a:t>race conditions in multi-threaded environments</a:t>
                      </a:r>
                      <a:r>
                        <a:rPr lang="en" sz="1200"/>
                        <a:t>.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