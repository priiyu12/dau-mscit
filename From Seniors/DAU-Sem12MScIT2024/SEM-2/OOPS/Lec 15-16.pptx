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53A7FA-01DA-4E6E-8F58-60E6E2920E2E}">
  <a:tblStyle styleId="{1453A7FA-01DA-4E6E-8F58-60E6E2920E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7b943e5b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7b943e5b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7b943e5b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7b943e5b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7b943e5b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7b943e5b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7b943e5b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7b943e5b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7b943e5bd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7b943e5b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7b943e5b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7b943e5b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b758d0f7ab9c8ed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6b758d0f7ab9c8ed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b758d0f7ab9c8ed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b758d0f7ab9c8ed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6b758d0f7ab9c8ed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6b758d0f7ab9c8ed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6b758d0f7ab9c8ed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6b758d0f7ab9c8ed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6b758d0f7ab9c8ed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6b758d0f7ab9c8ed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7b943e5b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37b943e5b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6b758d0f7ab9c8ed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6b758d0f7ab9c8ed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b758d0f7ab9c8ed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b758d0f7ab9c8ed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Creational Design Patterns: Prototype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Design Pattern : </a:t>
            </a:r>
            <a:r>
              <a:rPr lang="en"/>
              <a:t>Let’s </a:t>
            </a:r>
            <a:r>
              <a:rPr i="1" lang="en">
                <a:highlight>
                  <a:srgbClr val="FFFF00"/>
                </a:highlight>
              </a:rPr>
              <a:t>clone from a </a:t>
            </a:r>
            <a:r>
              <a:rPr i="1" lang="en" u="sng">
                <a:solidFill>
                  <a:srgbClr val="FF0000"/>
                </a:solidFill>
                <a:highlight>
                  <a:srgbClr val="FFFF00"/>
                </a:highlight>
              </a:rPr>
              <a:t>template</a:t>
            </a:r>
            <a:r>
              <a:rPr i="1" lang="en">
                <a:highlight>
                  <a:srgbClr val="FFFF00"/>
                </a:highlight>
              </a:rPr>
              <a:t>!</a:t>
            </a:r>
            <a:endParaRPr i="1"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800" y="771475"/>
            <a:ext cx="5387785" cy="36708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26"/>
          <p:cNvSpPr/>
          <p:nvPr/>
        </p:nvSpPr>
        <p:spPr>
          <a:xfrm>
            <a:off x="2697300" y="1303200"/>
            <a:ext cx="1309800" cy="183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26"/>
          <p:cNvCxnSpPr/>
          <p:nvPr/>
        </p:nvCxnSpPr>
        <p:spPr>
          <a:xfrm>
            <a:off x="3886200" y="1743450"/>
            <a:ext cx="611100" cy="4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26"/>
          <p:cNvCxnSpPr/>
          <p:nvPr/>
        </p:nvCxnSpPr>
        <p:spPr>
          <a:xfrm>
            <a:off x="3275100" y="2276850"/>
            <a:ext cx="2455200" cy="7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26"/>
          <p:cNvSpPr/>
          <p:nvPr/>
        </p:nvSpPr>
        <p:spPr>
          <a:xfrm>
            <a:off x="1790500" y="3124375"/>
            <a:ext cx="3756900" cy="737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26"/>
          <p:cNvGrpSpPr/>
          <p:nvPr/>
        </p:nvGrpSpPr>
        <p:grpSpPr>
          <a:xfrm>
            <a:off x="1611431" y="932400"/>
            <a:ext cx="2107019" cy="2632175"/>
            <a:chOff x="1611431" y="932400"/>
            <a:chExt cx="2107019" cy="2632175"/>
          </a:xfrm>
        </p:grpSpPr>
        <p:cxnSp>
          <p:nvCxnSpPr>
            <p:cNvPr id="121" name="Google Shape;121;p26"/>
            <p:cNvCxnSpPr/>
            <p:nvPr/>
          </p:nvCxnSpPr>
          <p:spPr>
            <a:xfrm>
              <a:off x="1611431" y="932400"/>
              <a:ext cx="6225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26"/>
            <p:cNvCxnSpPr/>
            <p:nvPr/>
          </p:nvCxnSpPr>
          <p:spPr>
            <a:xfrm>
              <a:off x="2758450" y="3564575"/>
              <a:ext cx="9600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7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 Design Pattern : </a:t>
            </a:r>
            <a:r>
              <a:rPr lang="en" sz="2300"/>
              <a:t>Let’s not re-initialize </a:t>
            </a:r>
            <a:r>
              <a:rPr i="1" lang="en" sz="2300">
                <a:highlight>
                  <a:srgbClr val="FFFF00"/>
                </a:highlight>
              </a:rPr>
              <a:t>common stuffs</a:t>
            </a:r>
            <a:endParaRPr i="1" sz="2300"/>
          </a:p>
        </p:txBody>
      </p:sp>
      <p:pic>
        <p:nvPicPr>
          <p:cNvPr id="134" name="Google Shape;13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225" y="684963"/>
            <a:ext cx="3547725" cy="37676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27"/>
          <p:cNvSpPr/>
          <p:nvPr/>
        </p:nvSpPr>
        <p:spPr>
          <a:xfrm>
            <a:off x="1297225" y="637392"/>
            <a:ext cx="3219900" cy="452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27"/>
          <p:cNvCxnSpPr/>
          <p:nvPr/>
        </p:nvCxnSpPr>
        <p:spPr>
          <a:xfrm>
            <a:off x="2536456" y="2141350"/>
            <a:ext cx="936600" cy="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7"/>
          <p:cNvSpPr txBox="1"/>
          <p:nvPr/>
        </p:nvSpPr>
        <p:spPr>
          <a:xfrm>
            <a:off x="5376125" y="915875"/>
            <a:ext cx="3456300" cy="2385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🚀 </a:t>
            </a:r>
            <a:r>
              <a:rPr b="1" lang="en" sz="1300">
                <a:solidFill>
                  <a:schemeClr val="dk1"/>
                </a:solidFill>
                <a:highlight>
                  <a:srgbClr val="D9EAD3"/>
                </a:highlight>
              </a:rPr>
              <a:t>Fast</a:t>
            </a:r>
            <a:r>
              <a:rPr b="1" lang="en" sz="1300">
                <a:solidFill>
                  <a:schemeClr val="dk1"/>
                </a:solidFill>
              </a:rPr>
              <a:t> Object Creation</a:t>
            </a:r>
            <a:r>
              <a:rPr lang="en" sz="1300">
                <a:solidFill>
                  <a:schemeClr val="dk1"/>
                </a:solidFill>
              </a:rPr>
              <a:t> – Instead of </a:t>
            </a:r>
            <a:r>
              <a:rPr lang="en" sz="1300">
                <a:solidFill>
                  <a:schemeClr val="dk1"/>
                </a:solidFill>
                <a:highlight>
                  <a:srgbClr val="F4CCCC"/>
                </a:highlight>
              </a:rPr>
              <a:t>reinitializing </a:t>
            </a:r>
            <a:r>
              <a:rPr lang="en" sz="1300">
                <a:solidFill>
                  <a:schemeClr val="dk1"/>
                </a:solidFill>
              </a:rPr>
              <a:t>animals with all their properties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🚀 </a:t>
            </a:r>
            <a:r>
              <a:rPr b="1" lang="en" sz="1300">
                <a:solidFill>
                  <a:schemeClr val="dk1"/>
                </a:solidFill>
                <a:highlight>
                  <a:srgbClr val="D9EAD3"/>
                </a:highlight>
              </a:rPr>
              <a:t>Preserves Object State</a:t>
            </a:r>
            <a:r>
              <a:rPr lang="en" sz="1300">
                <a:solidFill>
                  <a:schemeClr val="dk1"/>
                </a:solidFill>
              </a:rPr>
              <a:t> – A copied animal inherits attributes like </a:t>
            </a:r>
            <a:r>
              <a:rPr b="1" lang="en" sz="1300">
                <a:solidFill>
                  <a:schemeClr val="dk1"/>
                </a:solidFill>
                <a:highlight>
                  <a:srgbClr val="FFFF00"/>
                </a:highlight>
              </a:rPr>
              <a:t>age, species, health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🚀 </a:t>
            </a:r>
            <a:r>
              <a:rPr b="1" lang="en" sz="1300">
                <a:solidFill>
                  <a:schemeClr val="dk1"/>
                </a:solidFill>
              </a:rPr>
              <a:t>Avoids Redundant Initialization</a:t>
            </a:r>
            <a:r>
              <a:rPr lang="en" sz="1300">
                <a:solidFill>
                  <a:schemeClr val="dk1"/>
                </a:solidFill>
              </a:rPr>
              <a:t> – If many animals are similar (e.g., multiple lions with </a:t>
            </a:r>
            <a:r>
              <a:rPr lang="en" sz="1300">
                <a:solidFill>
                  <a:schemeClr val="dk1"/>
                </a:solidFill>
                <a:highlight>
                  <a:srgbClr val="FFFF00"/>
                </a:highlight>
              </a:rPr>
              <a:t>slight variations</a:t>
            </a:r>
            <a:r>
              <a:rPr lang="en" sz="1300">
                <a:solidFill>
                  <a:schemeClr val="dk1"/>
                </a:solidFill>
              </a:rPr>
              <a:t>), cloning is more efficient</a:t>
            </a:r>
            <a:endParaRPr sz="1600"/>
          </a:p>
        </p:txBody>
      </p:sp>
      <p:grpSp>
        <p:nvGrpSpPr>
          <p:cNvPr id="138" name="Google Shape;138;p27"/>
          <p:cNvGrpSpPr/>
          <p:nvPr/>
        </p:nvGrpSpPr>
        <p:grpSpPr>
          <a:xfrm>
            <a:off x="3766050" y="1426925"/>
            <a:ext cx="1610075" cy="681900"/>
            <a:chOff x="3766050" y="1426925"/>
            <a:chExt cx="1610075" cy="681900"/>
          </a:xfrm>
        </p:grpSpPr>
        <p:sp>
          <p:nvSpPr>
            <p:cNvPr id="139" name="Google Shape;139;p27"/>
            <p:cNvSpPr/>
            <p:nvPr/>
          </p:nvSpPr>
          <p:spPr>
            <a:xfrm>
              <a:off x="3766050" y="1426925"/>
              <a:ext cx="751200" cy="452100"/>
            </a:xfrm>
            <a:prstGeom prst="rect">
              <a:avLst/>
            </a:prstGeom>
            <a:noFill/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" name="Google Shape;140;p27"/>
            <p:cNvCxnSpPr>
              <a:stCxn id="137" idx="1"/>
              <a:endCxn id="139" idx="3"/>
            </p:cNvCxnSpPr>
            <p:nvPr/>
          </p:nvCxnSpPr>
          <p:spPr>
            <a:xfrm rot="10800000">
              <a:off x="4517225" y="1653125"/>
              <a:ext cx="858900" cy="455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1" name="Google Shape;141;p27"/>
          <p:cNvSpPr txBox="1"/>
          <p:nvPr/>
        </p:nvSpPr>
        <p:spPr>
          <a:xfrm>
            <a:off x="3567375" y="1913020"/>
            <a:ext cx="1774500" cy="384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FF0000"/>
                </a:solidFill>
              </a:rPr>
              <a:t>Only</a:t>
            </a:r>
            <a:r>
              <a:rPr i="1" lang="en" sz="1300">
                <a:solidFill>
                  <a:srgbClr val="FF0000"/>
                </a:solidFill>
              </a:rPr>
              <a:t> what is needed</a:t>
            </a:r>
            <a:endParaRPr i="1" sz="13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we get a “manager” (zoo-keeper) instead? </a:t>
            </a:r>
            <a:endParaRPr sz="31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1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(somewhat similar to Object Pool)</a:t>
            </a:r>
            <a:endParaRPr sz="31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55" y="901825"/>
            <a:ext cx="5013761" cy="3458838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 Design Pattern : Let’s create a prototype manager</a:t>
            </a:r>
            <a:endParaRPr i="1" sz="2300"/>
          </a:p>
        </p:txBody>
      </p:sp>
      <p:sp>
        <p:nvSpPr>
          <p:cNvPr id="165" name="Google Shape;165;p29"/>
          <p:cNvSpPr/>
          <p:nvPr/>
        </p:nvSpPr>
        <p:spPr>
          <a:xfrm>
            <a:off x="462325" y="2021025"/>
            <a:ext cx="3517800" cy="65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29"/>
          <p:cNvCxnSpPr/>
          <p:nvPr/>
        </p:nvCxnSpPr>
        <p:spPr>
          <a:xfrm flipH="1" rot="10800000">
            <a:off x="2586606" y="1917175"/>
            <a:ext cx="1776900" cy="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7" name="Google Shape;16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176" y="699275"/>
            <a:ext cx="3920448" cy="345885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81225"/>
            <a:ext cx="4185601" cy="369964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Design Pattern : Let’s </a:t>
            </a:r>
            <a:r>
              <a:rPr i="1" lang="en">
                <a:highlight>
                  <a:srgbClr val="FFFF00"/>
                </a:highlight>
              </a:rPr>
              <a:t>clone with C++!</a:t>
            </a:r>
            <a:endParaRPr i="1"/>
          </a:p>
        </p:txBody>
      </p:sp>
      <p:sp>
        <p:nvSpPr>
          <p:cNvPr id="180" name="Google Shape;180;p30"/>
          <p:cNvSpPr/>
          <p:nvPr/>
        </p:nvSpPr>
        <p:spPr>
          <a:xfrm>
            <a:off x="511075" y="1283725"/>
            <a:ext cx="2910600" cy="263100"/>
          </a:xfrm>
          <a:prstGeom prst="rect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/>
          <p:nvPr/>
        </p:nvSpPr>
        <p:spPr>
          <a:xfrm>
            <a:off x="428225" y="3146375"/>
            <a:ext cx="3756900" cy="11826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30"/>
          <p:cNvCxnSpPr/>
          <p:nvPr/>
        </p:nvCxnSpPr>
        <p:spPr>
          <a:xfrm>
            <a:off x="2758450" y="3564575"/>
            <a:ext cx="96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3" name="Google Shape;183;p30"/>
          <p:cNvGrpSpPr/>
          <p:nvPr/>
        </p:nvGrpSpPr>
        <p:grpSpPr>
          <a:xfrm>
            <a:off x="738425" y="1672771"/>
            <a:ext cx="3757007" cy="669379"/>
            <a:chOff x="738425" y="1672771"/>
            <a:chExt cx="3757007" cy="669379"/>
          </a:xfrm>
        </p:grpSpPr>
        <p:cxnSp>
          <p:nvCxnSpPr>
            <p:cNvPr id="184" name="Google Shape;184;p30"/>
            <p:cNvCxnSpPr/>
            <p:nvPr/>
          </p:nvCxnSpPr>
          <p:spPr>
            <a:xfrm>
              <a:off x="738425" y="2342150"/>
              <a:ext cx="1640100" cy="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30"/>
            <p:cNvGrpSpPr/>
            <p:nvPr/>
          </p:nvGrpSpPr>
          <p:grpSpPr>
            <a:xfrm>
              <a:off x="2115450" y="1672771"/>
              <a:ext cx="2379982" cy="665854"/>
              <a:chOff x="2115450" y="1672771"/>
              <a:chExt cx="2379982" cy="665854"/>
            </a:xfrm>
          </p:grpSpPr>
          <p:cxnSp>
            <p:nvCxnSpPr>
              <p:cNvPr id="186" name="Google Shape;186;p30"/>
              <p:cNvCxnSpPr/>
              <p:nvPr/>
            </p:nvCxnSpPr>
            <p:spPr>
              <a:xfrm flipH="1" rot="10800000">
                <a:off x="2115450" y="1894025"/>
                <a:ext cx="961500" cy="444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7" name="Google Shape;187;p30"/>
              <p:cNvSpPr txBox="1"/>
              <p:nvPr/>
            </p:nvSpPr>
            <p:spPr>
              <a:xfrm>
                <a:off x="3038932" y="1672771"/>
                <a:ext cx="145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2"/>
                    </a:solidFill>
                  </a:rPr>
                  <a:t>Direct initialization</a:t>
                </a:r>
                <a:endParaRPr sz="1200">
                  <a:solidFill>
                    <a:schemeClr val="dk2"/>
                  </a:solidFill>
                </a:endParaRPr>
              </a:p>
            </p:txBody>
          </p:sp>
        </p:grpSp>
      </p:grpSp>
      <p:sp>
        <p:nvSpPr>
          <p:cNvPr id="188" name="Google Shape;188;p30"/>
          <p:cNvSpPr/>
          <p:nvPr/>
        </p:nvSpPr>
        <p:spPr>
          <a:xfrm>
            <a:off x="511075" y="1960275"/>
            <a:ext cx="3207300" cy="1154700"/>
          </a:xfrm>
          <a:prstGeom prst="rect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30"/>
          <p:cNvGrpSpPr/>
          <p:nvPr/>
        </p:nvGrpSpPr>
        <p:grpSpPr>
          <a:xfrm>
            <a:off x="878850" y="2934509"/>
            <a:ext cx="2411882" cy="503591"/>
            <a:chOff x="878850" y="2934509"/>
            <a:chExt cx="2411882" cy="503591"/>
          </a:xfrm>
        </p:grpSpPr>
        <p:cxnSp>
          <p:nvCxnSpPr>
            <p:cNvPr id="190" name="Google Shape;190;p30"/>
            <p:cNvCxnSpPr/>
            <p:nvPr/>
          </p:nvCxnSpPr>
          <p:spPr>
            <a:xfrm>
              <a:off x="878850" y="3426700"/>
              <a:ext cx="873900" cy="11400"/>
            </a:xfrm>
            <a:prstGeom prst="straightConnector1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" name="Google Shape;191;p30"/>
            <p:cNvSpPr txBox="1"/>
            <p:nvPr/>
          </p:nvSpPr>
          <p:spPr>
            <a:xfrm>
              <a:off x="1834232" y="2934509"/>
              <a:ext cx="1456500" cy="3693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200">
                  <a:solidFill>
                    <a:srgbClr val="FF0000"/>
                  </a:solidFill>
                </a:rPr>
                <a:t>BEWARE!!</a:t>
              </a:r>
              <a:endParaRPr b="1" i="1" sz="1200">
                <a:solidFill>
                  <a:srgbClr val="FF0000"/>
                </a:solidFill>
              </a:endParaRPr>
            </a:p>
          </p:txBody>
        </p:sp>
      </p:grpSp>
      <p:pic>
        <p:nvPicPr>
          <p:cNvPr id="192" name="Google Shape;19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5100" y="1113200"/>
            <a:ext cx="4316050" cy="161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4200" y="2899950"/>
            <a:ext cx="3885376" cy="5727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25" y="771475"/>
            <a:ext cx="4770425" cy="3468349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2" name="Google Shape;202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Design Pattern : Let’s </a:t>
            </a:r>
            <a:r>
              <a:rPr i="1" lang="en">
                <a:highlight>
                  <a:srgbClr val="FFFF00"/>
                </a:highlight>
              </a:rPr>
              <a:t>clone with C++!</a:t>
            </a:r>
            <a:endParaRPr i="1"/>
          </a:p>
        </p:txBody>
      </p:sp>
      <p:sp>
        <p:nvSpPr>
          <p:cNvPr id="206" name="Google Shape;206;p31"/>
          <p:cNvSpPr/>
          <p:nvPr/>
        </p:nvSpPr>
        <p:spPr>
          <a:xfrm>
            <a:off x="547775" y="1655625"/>
            <a:ext cx="3227700" cy="617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1"/>
          <p:cNvPicPr preferRelativeResize="0"/>
          <p:nvPr/>
        </p:nvPicPr>
        <p:blipFill rotWithShape="1">
          <a:blip r:embed="rId5">
            <a:alphaModFix/>
          </a:blip>
          <a:srcRect b="2181" l="0" r="0" t="0"/>
          <a:stretch/>
        </p:blipFill>
        <p:spPr>
          <a:xfrm>
            <a:off x="5501946" y="674962"/>
            <a:ext cx="2902955" cy="379358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" name="Google Shape;208;p31"/>
          <p:cNvSpPr/>
          <p:nvPr/>
        </p:nvSpPr>
        <p:spPr>
          <a:xfrm>
            <a:off x="5553400" y="1309100"/>
            <a:ext cx="2549100" cy="496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5678875" y="971650"/>
            <a:ext cx="2549100" cy="281400"/>
          </a:xfrm>
          <a:prstGeom prst="rect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31"/>
          <p:cNvGrpSpPr/>
          <p:nvPr/>
        </p:nvGrpSpPr>
        <p:grpSpPr>
          <a:xfrm>
            <a:off x="1839275" y="2088900"/>
            <a:ext cx="1670100" cy="6600"/>
            <a:chOff x="1839275" y="2088900"/>
            <a:chExt cx="1670100" cy="6600"/>
          </a:xfrm>
        </p:grpSpPr>
        <p:cxnSp>
          <p:nvCxnSpPr>
            <p:cNvPr id="211" name="Google Shape;211;p31"/>
            <p:cNvCxnSpPr/>
            <p:nvPr/>
          </p:nvCxnSpPr>
          <p:spPr>
            <a:xfrm flipH="1" rot="10800000">
              <a:off x="1839275" y="2088900"/>
              <a:ext cx="429300" cy="6600"/>
            </a:xfrm>
            <a:prstGeom prst="straightConnector1">
              <a:avLst/>
            </a:prstGeom>
            <a:noFill/>
            <a:ln cap="flat" cmpd="sng" w="28575">
              <a:solidFill>
                <a:srgbClr val="BF9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31"/>
            <p:cNvCxnSpPr/>
            <p:nvPr/>
          </p:nvCxnSpPr>
          <p:spPr>
            <a:xfrm>
              <a:off x="2829875" y="2095500"/>
              <a:ext cx="679500" cy="0"/>
            </a:xfrm>
            <a:prstGeom prst="straightConnector1">
              <a:avLst/>
            </a:prstGeom>
            <a:noFill/>
            <a:ln cap="flat" cmpd="sng" w="28575">
              <a:solidFill>
                <a:srgbClr val="BF9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2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Key Takeaways</a:t>
            </a:r>
            <a:endParaRPr i="1" sz="2300"/>
          </a:p>
        </p:txBody>
      </p:sp>
      <p:graphicFrame>
        <p:nvGraphicFramePr>
          <p:cNvPr id="224" name="Google Shape;224;p32"/>
          <p:cNvGraphicFramePr/>
          <p:nvPr/>
        </p:nvGraphicFramePr>
        <p:xfrm>
          <a:off x="30480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{1453A7FA-01DA-4E6E-8F58-60E6E2920E2E}</a:tableStyleId>
              </a:tblPr>
              <a:tblGrid>
                <a:gridCol w="2177600"/>
                <a:gridCol w="6343000"/>
              </a:tblGrid>
              <a:tr h="57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Advantage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Descriptions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Fast Object Creation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Cloning is </a:t>
                      </a:r>
                      <a:r>
                        <a:rPr lang="en" sz="1500">
                          <a:highlight>
                            <a:srgbClr val="D9EAD3"/>
                          </a:highlight>
                        </a:rPr>
                        <a:t>faster</a:t>
                      </a:r>
                      <a:r>
                        <a:rPr lang="en" sz="1500"/>
                        <a:t> than re-initializing every attribute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Encapsulated Cloning Logic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500" u="sng">
                          <a:highlight>
                            <a:srgbClr val="FFFF00"/>
                          </a:highlight>
                        </a:rPr>
                        <a:t>Objects know how to clone themselves</a:t>
                      </a:r>
                      <a:r>
                        <a:rPr lang="en" sz="1500"/>
                        <a:t>, keeping code clean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Independent Objects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Each cloned animal is a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separate object in memory</a:t>
                      </a:r>
                      <a:r>
                        <a:rPr lang="en" sz="1500"/>
                        <a:t> and can be </a:t>
                      </a:r>
                      <a:r>
                        <a:rPr lang="en" sz="1500">
                          <a:highlight>
                            <a:srgbClr val="D9EAD3"/>
                          </a:highlight>
                        </a:rPr>
                        <a:t>modified independently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500">
                          <a:highlight>
                            <a:srgbClr val="F4CCCC"/>
                          </a:highlight>
                        </a:rPr>
                        <a:t>NT: Does NOT automatically assign a new unique ID</a:t>
                      </a:r>
                      <a:endParaRPr i="1" sz="15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Ideal for Large Systems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Useful in </a:t>
                      </a:r>
                      <a:r>
                        <a:rPr b="1" lang="en" sz="1500"/>
                        <a:t>games, simulations, and automation</a:t>
                      </a:r>
                      <a:r>
                        <a:rPr lang="en" sz="1500"/>
                        <a:t> where predefined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templates</a:t>
                      </a:r>
                      <a:r>
                        <a:rPr lang="en" sz="1500"/>
                        <a:t> are needed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" name="Google Shape;2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Regular vs Deep Constructors</a:t>
            </a:r>
            <a:endParaRPr i="1" sz="2300"/>
          </a:p>
        </p:txBody>
      </p:sp>
      <p:graphicFrame>
        <p:nvGraphicFramePr>
          <p:cNvPr id="236" name="Google Shape;236;p33"/>
          <p:cNvGraphicFramePr/>
          <p:nvPr/>
        </p:nvGraphicFramePr>
        <p:xfrm>
          <a:off x="144780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{1453A7FA-01DA-4E6E-8F58-60E6E2920E2E}</a:tableStyleId>
              </a:tblPr>
              <a:tblGrid>
                <a:gridCol w="1968625"/>
                <a:gridCol w="2197725"/>
                <a:gridCol w="2226525"/>
              </a:tblGrid>
              <a:tr h="651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Feature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Regular Constructor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Deep Copy Constructor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Purpose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Initializes a new object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Creates a copy of an existing object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Used When?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 a1("Lion", 5);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 a2 = a1;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Handles Dynamic Memory?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 (Allocates new memory)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Prevents Memory Issues?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 (Avoids shared pointers)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When Needed?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Always for </a:t>
                      </a: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new</a:t>
                      </a:r>
                      <a:r>
                        <a:rPr lang="en" sz="1200"/>
                        <a:t> objects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Needed when objects have pointers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Python vs C++</a:t>
            </a:r>
            <a:endParaRPr i="1" sz="2300"/>
          </a:p>
        </p:txBody>
      </p:sp>
      <p:graphicFrame>
        <p:nvGraphicFramePr>
          <p:cNvPr id="248" name="Google Shape;248;p34"/>
          <p:cNvGraphicFramePr/>
          <p:nvPr/>
        </p:nvGraphicFramePr>
        <p:xfrm>
          <a:off x="1081075" y="953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{1453A7FA-01DA-4E6E-8F58-60E6E2920E2E}</a:tableStyleId>
              </a:tblPr>
              <a:tblGrid>
                <a:gridCol w="1546775"/>
                <a:gridCol w="1918400"/>
                <a:gridCol w="3294425"/>
              </a:tblGrid>
              <a:tr h="484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Feature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Python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C++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Memory Management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9EAD3"/>
                          </a:highlight>
                        </a:rPr>
                        <a:t>Handled automatically</a:t>
                      </a:r>
                      <a:endParaRPr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4CCCC"/>
                          </a:highlight>
                        </a:rPr>
                        <a:t>Manual</a:t>
                      </a:r>
                      <a:r>
                        <a:rPr lang="en"/>
                        <a:t> allocation (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new</a:t>
                      </a:r>
                      <a:r>
                        <a:rPr lang="en"/>
                        <a:t>) and deallocation (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delete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Cloning Method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9EAD3"/>
                          </a:highlight>
                        </a:rPr>
                        <a:t>Uses </a:t>
                      </a:r>
                      <a:r>
                        <a:rPr lang="en">
                          <a:solidFill>
                            <a:srgbClr val="188038"/>
                          </a:solidFill>
                          <a:highlight>
                            <a:srgbClr val="D9EAD3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copy.deepcopy()</a:t>
                      </a:r>
                      <a:endParaRPr>
                        <a:solidFill>
                          <a:srgbClr val="188038"/>
                        </a:solidFill>
                        <a:highlight>
                          <a:srgbClr val="D9EAD3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Uses a </a:t>
                      </a:r>
                      <a:r>
                        <a:rPr lang="en">
                          <a:highlight>
                            <a:srgbClr val="FCE5CD"/>
                          </a:highlight>
                        </a:rPr>
                        <a:t>deep copy constructor and </a:t>
                      </a:r>
                      <a:r>
                        <a:rPr lang="en">
                          <a:solidFill>
                            <a:srgbClr val="188038"/>
                          </a:solidFill>
                          <a:highlight>
                            <a:srgbClr val="FCE5CD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clone()</a:t>
                      </a:r>
                      <a:r>
                        <a:rPr lang="en">
                          <a:highlight>
                            <a:srgbClr val="FCE5CD"/>
                          </a:highlight>
                        </a:rPr>
                        <a:t> function</a:t>
                      </a:r>
                      <a:endParaRPr>
                        <a:highlight>
                          <a:srgbClr val="FCE5CD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highlight>
                            <a:srgbClr val="FFFF00"/>
                          </a:highlight>
                        </a:rPr>
                        <a:t>String Storage</a:t>
                      </a:r>
                      <a:endParaRPr b="1" i="1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highlight>
                            <a:srgbClr val="FFFF00"/>
                          </a:highlight>
                        </a:rPr>
                        <a:t>Uses Python </a:t>
                      </a:r>
                      <a:r>
                        <a:rPr i="1" lang="en">
                          <a:solidFill>
                            <a:srgbClr val="188038"/>
                          </a:solidFill>
                          <a:highlight>
                            <a:srgbClr val="FFFF00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</a:t>
                      </a:r>
                      <a:r>
                        <a:rPr i="1" lang="en">
                          <a:highlight>
                            <a:srgbClr val="FFFF00"/>
                          </a:highlight>
                        </a:rPr>
                        <a:t> (immutable)</a:t>
                      </a:r>
                      <a:endParaRPr i="1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highlight>
                            <a:srgbClr val="FFFF00"/>
                          </a:highlight>
                        </a:rPr>
                        <a:t>Uses dynamically allocated </a:t>
                      </a:r>
                      <a:r>
                        <a:rPr i="1" lang="en">
                          <a:solidFill>
                            <a:srgbClr val="188038"/>
                          </a:solidFill>
                          <a:highlight>
                            <a:srgbClr val="FFFF00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char*</a:t>
                      </a:r>
                      <a:endParaRPr i="1">
                        <a:solidFill>
                          <a:srgbClr val="188038"/>
                        </a:solidFill>
                        <a:highlight>
                          <a:srgbClr val="FFFF00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Garbage Collection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9EAD3"/>
                          </a:highlight>
                        </a:rPr>
                        <a:t>Automatic</a:t>
                      </a:r>
                      <a:endParaRPr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CFE2F3"/>
                          </a:highlight>
                        </a:rPr>
                        <a:t>Needs explicit destructor</a:t>
                      </a:r>
                      <a:endParaRPr>
                        <a:highlight>
                          <a:srgbClr val="CFE2F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Python vs C++</a:t>
            </a:r>
            <a:endParaRPr i="1" sz="2300"/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71475"/>
            <a:ext cx="5573400" cy="15886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1" name="Google Shape;26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0" y="1998125"/>
            <a:ext cx="4383075" cy="173046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2" name="Google Shape;262;p35"/>
          <p:cNvSpPr txBox="1"/>
          <p:nvPr/>
        </p:nvSpPr>
        <p:spPr>
          <a:xfrm>
            <a:off x="793175" y="2571750"/>
            <a:ext cx="30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String Default: </a:t>
            </a:r>
            <a:r>
              <a:rPr i="1" lang="en" sz="1800">
                <a:solidFill>
                  <a:schemeClr val="dk2"/>
                </a:solidFill>
              </a:rPr>
              <a:t>Immutable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5157750" y="3828175"/>
            <a:ext cx="30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String Default: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i="1" lang="en" sz="1800">
                <a:solidFill>
                  <a:schemeClr val="dk2"/>
                </a:solidFill>
              </a:rPr>
              <a:t>utable</a:t>
            </a:r>
            <a:endParaRPr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1" name="Google Shape;271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3" name="Google Shape;2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Python vs C++</a:t>
            </a:r>
            <a:endParaRPr i="1" sz="2300"/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71475"/>
            <a:ext cx="5573400" cy="15886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36"/>
          <p:cNvSpPr txBox="1"/>
          <p:nvPr/>
        </p:nvSpPr>
        <p:spPr>
          <a:xfrm>
            <a:off x="5913175" y="1042788"/>
            <a:ext cx="30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String Default: </a:t>
            </a:r>
            <a:r>
              <a:rPr i="1" lang="en" sz="1800">
                <a:solidFill>
                  <a:schemeClr val="dk2"/>
                </a:solidFill>
              </a:rPr>
              <a:t>Immutable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277" name="Google Shape;27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2975" y="2688425"/>
            <a:ext cx="7088290" cy="1470387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78" name="Google Shape;278;p36"/>
          <p:cNvGrpSpPr/>
          <p:nvPr/>
        </p:nvGrpSpPr>
        <p:grpSpPr>
          <a:xfrm>
            <a:off x="4023775" y="1928200"/>
            <a:ext cx="4902900" cy="1881800"/>
            <a:chOff x="4023775" y="1928200"/>
            <a:chExt cx="4902900" cy="1881800"/>
          </a:xfrm>
        </p:grpSpPr>
        <p:cxnSp>
          <p:nvCxnSpPr>
            <p:cNvPr id="279" name="Google Shape;279;p36"/>
            <p:cNvCxnSpPr/>
            <p:nvPr/>
          </p:nvCxnSpPr>
          <p:spPr>
            <a:xfrm flipH="1" rot="10800000">
              <a:off x="4023775" y="3799500"/>
              <a:ext cx="3270300" cy="105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" name="Google Shape;280;p36"/>
            <p:cNvSpPr txBox="1"/>
            <p:nvPr/>
          </p:nvSpPr>
          <p:spPr>
            <a:xfrm>
              <a:off x="5926675" y="1928200"/>
              <a:ext cx="3000000" cy="6156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species</a:t>
              </a:r>
              <a:r>
                <a:rPr lang="en">
                  <a:solidFill>
                    <a:schemeClr val="dk1"/>
                  </a:solidFill>
                </a:rPr>
                <a:t> and </a:t>
              </a:r>
              <a:r>
                <a:rPr lang="en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name</a:t>
              </a:r>
              <a:r>
                <a:rPr lang="en">
                  <a:solidFill>
                    <a:schemeClr val="dk1"/>
                  </a:solidFill>
                </a:rPr>
                <a:t> are immutable (</a:t>
              </a:r>
              <a:r>
                <a:rPr lang="en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str</a:t>
              </a:r>
              <a:r>
                <a:rPr lang="en">
                  <a:solidFill>
                    <a:schemeClr val="dk1"/>
                  </a:solidFill>
                </a:rPr>
                <a:t>)</a:t>
              </a:r>
              <a:r>
                <a:rPr lang="en">
                  <a:solidFill>
                    <a:schemeClr val="dk1"/>
                  </a:solidFill>
                </a:rPr>
                <a:t> → </a:t>
              </a:r>
              <a:r>
                <a:rPr i="1" lang="en" u="sng">
                  <a:solidFill>
                    <a:srgbClr val="FF0000"/>
                  </a:solidFill>
                  <a:highlight>
                    <a:srgbClr val="FFFF00"/>
                  </a:highlight>
                </a:rPr>
                <a:t>no </a:t>
              </a:r>
              <a:r>
                <a:rPr i="1" lang="en" u="sng">
                  <a:solidFill>
                    <a:srgbClr val="FF0000"/>
                  </a:solidFill>
                  <a:highlight>
                    <a:srgbClr val="FFFF00"/>
                  </a:highlight>
                </a:rPr>
                <a:t>need of deep copying</a:t>
              </a:r>
              <a:r>
                <a:rPr lang="en">
                  <a:solidFill>
                    <a:schemeClr val="dk1"/>
                  </a:solidFill>
                  <a:highlight>
                    <a:srgbClr val="FFFF00"/>
                  </a:highlight>
                </a:rPr>
                <a:t>.</a:t>
              </a:r>
              <a:endParaRPr>
                <a:solidFill>
                  <a:schemeClr val="dk1"/>
                </a:solidFill>
                <a:highlight>
                  <a:srgbClr val="FFFF00"/>
                </a:highlight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7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Python vs C++</a:t>
            </a:r>
            <a:endParaRPr i="1" sz="2300"/>
          </a:p>
        </p:txBody>
      </p:sp>
      <p:sp>
        <p:nvSpPr>
          <p:cNvPr id="292" name="Google Shape;292;p37"/>
          <p:cNvSpPr txBox="1"/>
          <p:nvPr/>
        </p:nvSpPr>
        <p:spPr>
          <a:xfrm>
            <a:off x="3260988" y="935650"/>
            <a:ext cx="302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String Default: </a:t>
            </a:r>
            <a:r>
              <a:rPr i="1" lang="en">
                <a:solidFill>
                  <a:srgbClr val="FF0000"/>
                </a:solidFill>
              </a:rPr>
              <a:t>mutable</a:t>
            </a:r>
            <a:endParaRPr i="1">
              <a:solidFill>
                <a:srgbClr val="FF0000"/>
              </a:solidFill>
            </a:endParaRPr>
          </a:p>
        </p:txBody>
      </p:sp>
      <p:pic>
        <p:nvPicPr>
          <p:cNvPr id="293" name="Google Shape;29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925" y="728125"/>
            <a:ext cx="3027000" cy="119507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4" name="Google Shape;29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2150" y="1808601"/>
            <a:ext cx="5044683" cy="2556987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95" name="Google Shape;295;p37"/>
          <p:cNvGrpSpPr/>
          <p:nvPr/>
        </p:nvGrpSpPr>
        <p:grpSpPr>
          <a:xfrm>
            <a:off x="2559025" y="1389950"/>
            <a:ext cx="6462125" cy="2366192"/>
            <a:chOff x="2559025" y="1389950"/>
            <a:chExt cx="6462125" cy="2366192"/>
          </a:xfrm>
        </p:grpSpPr>
        <p:cxnSp>
          <p:nvCxnSpPr>
            <p:cNvPr id="296" name="Google Shape;296;p37"/>
            <p:cNvCxnSpPr/>
            <p:nvPr/>
          </p:nvCxnSpPr>
          <p:spPr>
            <a:xfrm flipH="1" rot="10800000">
              <a:off x="2559025" y="3086050"/>
              <a:ext cx="2459700" cy="2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37"/>
            <p:cNvCxnSpPr/>
            <p:nvPr/>
          </p:nvCxnSpPr>
          <p:spPr>
            <a:xfrm flipH="1" rot="10800000">
              <a:off x="2565383" y="3754042"/>
              <a:ext cx="2459700" cy="2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" name="Google Shape;298;p37"/>
            <p:cNvSpPr txBox="1"/>
            <p:nvPr/>
          </p:nvSpPr>
          <p:spPr>
            <a:xfrm>
              <a:off x="5503350" y="1389950"/>
              <a:ext cx="3517800" cy="646500"/>
            </a:xfrm>
            <a:prstGeom prst="rect">
              <a:avLst/>
            </a:prstGeom>
            <a:solidFill>
              <a:srgbClr val="EFEFEF"/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500" u="sng">
                  <a:solidFill>
                    <a:schemeClr val="dk1"/>
                  </a:solidFill>
                  <a:highlight>
                    <a:srgbClr val="FFFF00"/>
                  </a:highlight>
                </a:rPr>
                <a:t>E</a:t>
              </a:r>
              <a:r>
                <a:rPr i="1" lang="en" sz="1500" u="sng">
                  <a:solidFill>
                    <a:schemeClr val="dk1"/>
                  </a:solidFill>
                  <a:highlight>
                    <a:srgbClr val="FFFF00"/>
                  </a:highlight>
                </a:rPr>
                <a:t>xplicit</a:t>
              </a:r>
              <a:r>
                <a:rPr lang="en" sz="1500">
                  <a:solidFill>
                    <a:schemeClr val="dk1"/>
                  </a:solidFill>
                </a:rPr>
                <a:t> deep copy of </a:t>
              </a:r>
              <a:r>
                <a:rPr lang="en" sz="15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char*</a:t>
              </a:r>
              <a:r>
                <a:rPr lang="en" sz="1500">
                  <a:solidFill>
                    <a:schemeClr val="dk1"/>
                  </a:solidFill>
                </a:rPr>
                <a:t> to prevent memory issues.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6" name="Google Shape;306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8" name="Google Shape;3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cloning go haywire?</a:t>
            </a:r>
            <a:endParaRPr sz="31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When to avoid?</a:t>
            </a:r>
            <a:endParaRPr i="1" sz="2300"/>
          </a:p>
        </p:txBody>
      </p:sp>
      <p:graphicFrame>
        <p:nvGraphicFramePr>
          <p:cNvPr id="321" name="Google Shape;321;p39"/>
          <p:cNvGraphicFramePr/>
          <p:nvPr/>
        </p:nvGraphicFramePr>
        <p:xfrm>
          <a:off x="319163" y="114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{1453A7FA-01DA-4E6E-8F58-60E6E2920E2E}</a:tableStyleId>
              </a:tblPr>
              <a:tblGrid>
                <a:gridCol w="2093750"/>
                <a:gridCol w="3176300"/>
                <a:gridCol w="3081200"/>
              </a:tblGrid>
              <a:tr h="485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Criteria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Prototype is a BAD Choice When...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Why?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Objects Have Unique Identity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Each object has a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unique </a:t>
                      </a:r>
                      <a:r>
                        <a:rPr b="1" lang="en">
                          <a:highlight>
                            <a:srgbClr val="F4CCCC"/>
                          </a:highlight>
                        </a:rPr>
                        <a:t>ID, serial number, or real-world identity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would create </a:t>
                      </a:r>
                      <a:r>
                        <a:rPr b="1" lang="en"/>
                        <a:t>duplicate IDs</a:t>
                      </a:r>
                      <a:r>
                        <a:rPr lang="en"/>
                        <a:t>, breaking identity uniqueness.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Objects Contain Constantly Changing Data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object’s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attributes</a:t>
                      </a:r>
                      <a:r>
                        <a:rPr lang="en"/>
                        <a:t> (e.g., </a:t>
                      </a:r>
                      <a:r>
                        <a:rPr b="1" lang="en"/>
                        <a:t>GPS, health status, timestamps</a:t>
                      </a:r>
                      <a:r>
                        <a:rPr lang="en"/>
                        <a:t>)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change frequently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cloned object </a:t>
                      </a:r>
                      <a:r>
                        <a:rPr b="1" lang="en"/>
                        <a:t>copies outdated values</a:t>
                      </a:r>
                      <a:r>
                        <a:rPr lang="en"/>
                        <a:t>, leading to </a:t>
                      </a:r>
                      <a:r>
                        <a:rPr b="1" lang="en"/>
                        <a:t>inaccurate data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 Creation is Simple and Efficient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object’s </a:t>
                      </a:r>
                      <a:r>
                        <a:rPr b="1" lang="en"/>
                        <a:t>construction is cheap</a:t>
                      </a:r>
                      <a:r>
                        <a:rPr lang="en"/>
                        <a:t> (e.g., primitive types,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lightweight objects</a:t>
                      </a:r>
                      <a:r>
                        <a:rPr lang="en"/>
                        <a:t>).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Creating a new object from scratch </a:t>
                      </a:r>
                      <a:r>
                        <a:rPr b="1" lang="en"/>
                        <a:t>is more efficient</a:t>
                      </a:r>
                      <a:r>
                        <a:rPr lang="en"/>
                        <a:t> than cloning.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8" name="Google Shape;328;p4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1" name="Google Shape;33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2" name="Google Shape;332;p40"/>
          <p:cNvGraphicFramePr/>
          <p:nvPr/>
        </p:nvGraphicFramePr>
        <p:xfrm>
          <a:off x="4572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{1453A7FA-01DA-4E6E-8F58-60E6E2920E2E}</a:tableStyleId>
              </a:tblPr>
              <a:tblGrid>
                <a:gridCol w="2143125"/>
                <a:gridCol w="2976025"/>
                <a:gridCol w="30691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Criteria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Prototype is a BAD Choice When...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Why?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Cloning Would Cause Logical Errors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Objects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require </a:t>
                      </a:r>
                      <a:r>
                        <a:rPr b="1" lang="en">
                          <a:solidFill>
                            <a:srgbClr val="FF0000"/>
                          </a:solidFill>
                          <a:highlight>
                            <a:srgbClr val="F4CCCC"/>
                          </a:highlight>
                        </a:rPr>
                        <a:t>strict </a:t>
                      </a:r>
                      <a:r>
                        <a:rPr b="1" lang="en">
                          <a:highlight>
                            <a:srgbClr val="F4CCCC"/>
                          </a:highlight>
                        </a:rPr>
                        <a:t>uniqueness</a:t>
                      </a:r>
                      <a:r>
                        <a:rPr lang="en"/>
                        <a:t> (e.g., </a:t>
                      </a:r>
                      <a:r>
                        <a:rPr b="1" lang="en"/>
                        <a:t>wildlife tracking, transaction records</a:t>
                      </a:r>
                      <a:r>
                        <a:rPr lang="en"/>
                        <a:t>).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creates </a:t>
                      </a:r>
                      <a:r>
                        <a:rPr b="1" lang="en"/>
                        <a:t>misleading copies</a:t>
                      </a:r>
                      <a:r>
                        <a:rPr lang="en"/>
                        <a:t>, making real-world tracking </a:t>
                      </a:r>
                      <a:r>
                        <a:rPr b="1" lang="en"/>
                        <a:t>impossible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Objects Have Complex Dependencies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Objects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rely on </a:t>
                      </a:r>
                      <a:r>
                        <a:rPr b="1" lang="en">
                          <a:highlight>
                            <a:srgbClr val="F4CCCC"/>
                          </a:highlight>
                        </a:rPr>
                        <a:t>external resources</a:t>
                      </a:r>
                      <a:r>
                        <a:rPr b="1" lang="en"/>
                        <a:t> (e.g., database connections, network sockets)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would </a:t>
                      </a:r>
                      <a:r>
                        <a:rPr b="1" lang="en"/>
                        <a:t>copy references</a:t>
                      </a:r>
                      <a:r>
                        <a:rPr lang="en"/>
                        <a:t>, leading to </a:t>
                      </a:r>
                      <a:r>
                        <a:rPr b="1" lang="en"/>
                        <a:t>shared state issues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Object’s State Cannot Be Copied Reliably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4CCCC"/>
                          </a:highlight>
                        </a:rPr>
                        <a:t>Objects hold </a:t>
                      </a:r>
                      <a:r>
                        <a:rPr b="1" lang="en">
                          <a:highlight>
                            <a:srgbClr val="F4CCCC"/>
                          </a:highlight>
                        </a:rPr>
                        <a:t>unique or non-copyable attributes</a:t>
                      </a:r>
                      <a:r>
                        <a:rPr lang="en"/>
                        <a:t> (e.g., </a:t>
                      </a:r>
                      <a:r>
                        <a:rPr b="1" lang="en"/>
                        <a:t>file handles, hardware locks</a:t>
                      </a:r>
                      <a:r>
                        <a:rPr lang="en"/>
                        <a:t>).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such objects </a:t>
                      </a:r>
                      <a:r>
                        <a:rPr b="1" lang="en"/>
                        <a:t>causes runtime errors</a:t>
                      </a:r>
                      <a:r>
                        <a:rPr lang="en"/>
                        <a:t> or </a:t>
                      </a:r>
                      <a:r>
                        <a:rPr b="1" lang="en"/>
                        <a:t>unintended side effects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40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When to avoid?</a:t>
            </a:r>
            <a:endParaRPr i="1"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