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D90114-6E4D-4D73-BCB0-18013F920344}">
  <a:tblStyle styleId="{54D90114-6E4D-4D73-BCB0-18013F9203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332b18dc6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332b18d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a1b8124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a1b8124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10f6d13d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10f6d13d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10f6d13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10f6d13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10f6d13d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10f6d13d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10f6d13d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10f6d13d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10f6d13d5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10f6d13d5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10f6d13d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310f6d13d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10f6d13d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310f6d13d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10f6d13d5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10f6d13d5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/>
              <a:t>Object Oriented Programming</a:t>
            </a:r>
            <a:endParaRPr b="1" sz="33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1700">
                <a:solidFill>
                  <a:srgbClr val="0000FF"/>
                </a:solidFill>
              </a:rPr>
              <a:t>Sourish Dasgupta</a:t>
            </a:r>
            <a:endParaRPr b="1" sz="17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Assistant Professor, DA-IICT, Gandhinagar</a:t>
            </a:r>
            <a:endParaRPr sz="1600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i="1" lang="en" sz="1600">
                <a:solidFill>
                  <a:srgbClr val="0000FF"/>
                </a:solidFill>
              </a:rPr>
              <a:t>https://daiict.ac.in/faculty/sourish-dasgupta</a:t>
            </a:r>
            <a:endParaRPr i="1" sz="1900"/>
          </a:p>
        </p:txBody>
      </p:sp>
      <p:sp>
        <p:nvSpPr>
          <p:cNvPr id="101" name="Google Shape;101;p25"/>
          <p:cNvSpPr txBox="1"/>
          <p:nvPr>
            <p:ph idx="1" type="subTitle"/>
          </p:nvPr>
        </p:nvSpPr>
        <p:spPr>
          <a:xfrm>
            <a:off x="273075" y="14667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dk1"/>
                </a:solidFill>
              </a:rPr>
              <a:t>Creational Design Patterns: Object Pool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73075" y="20835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2000"/>
              <a:t>IT560</a:t>
            </a:r>
            <a:endParaRPr sz="19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175" y="2769669"/>
            <a:ext cx="1146397" cy="11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6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0" name="Google Shape;110;p26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6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</a:t>
            </a:r>
            <a:r>
              <a:rPr i="1" lang="en">
                <a:highlight>
                  <a:srgbClr val="FFFF00"/>
                </a:highlight>
              </a:rPr>
              <a:t>Reusing</a:t>
            </a:r>
            <a:r>
              <a:rPr i="1" lang="en"/>
              <a:t> without destroying</a:t>
            </a:r>
            <a:endParaRPr i="1"/>
          </a:p>
        </p:txBody>
      </p:sp>
      <p:sp>
        <p:nvSpPr>
          <p:cNvPr id="115" name="Google Shape;115;p26"/>
          <p:cNvSpPr txBox="1"/>
          <p:nvPr/>
        </p:nvSpPr>
        <p:spPr>
          <a:xfrm>
            <a:off x="5603571" y="955371"/>
            <a:ext cx="32355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1️⃣ </a:t>
            </a:r>
            <a:r>
              <a:rPr b="1" lang="en" sz="1500">
                <a:solidFill>
                  <a:schemeClr val="dk1"/>
                </a:solidFill>
              </a:rPr>
              <a:t>Initialize a pool</a:t>
            </a:r>
            <a:r>
              <a:rPr lang="en" sz="1500">
                <a:solidFill>
                  <a:schemeClr val="dk1"/>
                </a:solidFill>
              </a:rPr>
              <a:t> with a fixed number of pre-created objects.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2️⃣ </a:t>
            </a:r>
            <a:r>
              <a:rPr b="1" lang="en" sz="1500">
                <a:solidFill>
                  <a:schemeClr val="dk1"/>
                </a:solidFill>
                <a:highlight>
                  <a:srgbClr val="F4CCCC"/>
                </a:highlight>
              </a:rPr>
              <a:t>Acquire an object</a:t>
            </a:r>
            <a:r>
              <a:rPr lang="en" sz="1500">
                <a:solidFill>
                  <a:schemeClr val="dk1"/>
                </a:solidFill>
                <a:highlight>
                  <a:srgbClr val="F4CCCC"/>
                </a:highlight>
              </a:rPr>
              <a:t> from the pool when needed.</a:t>
            </a:r>
            <a:endParaRPr sz="1500">
              <a:solidFill>
                <a:schemeClr val="dk1"/>
              </a:solidFill>
              <a:highlight>
                <a:srgbClr val="F4CCC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3️⃣ </a:t>
            </a:r>
            <a:r>
              <a:rPr b="1" lang="en" sz="1500">
                <a:solidFill>
                  <a:schemeClr val="dk1"/>
                </a:solidFill>
              </a:rPr>
              <a:t>Use the object</a:t>
            </a:r>
            <a:r>
              <a:rPr lang="en" sz="1500">
                <a:solidFill>
                  <a:schemeClr val="dk1"/>
                </a:solidFill>
              </a:rPr>
              <a:t> as required.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4️⃣ </a:t>
            </a:r>
            <a:r>
              <a:rPr b="1" i="1" lang="en" sz="1500" u="sng">
                <a:solidFill>
                  <a:schemeClr val="dk1"/>
                </a:solidFill>
                <a:highlight>
                  <a:srgbClr val="D9EAD3"/>
                </a:highlight>
              </a:rPr>
              <a:t>Release the object</a:t>
            </a:r>
            <a:r>
              <a:rPr i="1" lang="en" sz="1500" u="sng">
                <a:solidFill>
                  <a:schemeClr val="dk1"/>
                </a:solidFill>
                <a:highlight>
                  <a:srgbClr val="D9EAD3"/>
                </a:highlight>
              </a:rPr>
              <a:t> back into the pool for reuse</a:t>
            </a:r>
            <a:r>
              <a:rPr i="1" lang="en" sz="1500">
                <a:solidFill>
                  <a:schemeClr val="dk1"/>
                </a:solidFill>
                <a:highlight>
                  <a:srgbClr val="D9EAD3"/>
                </a:highlight>
              </a:rPr>
              <a:t>.</a:t>
            </a:r>
            <a:endParaRPr i="1" sz="1500"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  <p:pic>
        <p:nvPicPr>
          <p:cNvPr id="116" name="Google Shape;11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373" y="847675"/>
            <a:ext cx="5244522" cy="3518401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" name="Google Shape;117;p26"/>
          <p:cNvSpPr/>
          <p:nvPr/>
        </p:nvSpPr>
        <p:spPr>
          <a:xfrm>
            <a:off x="460325" y="3410200"/>
            <a:ext cx="3851700" cy="8121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847675"/>
            <a:ext cx="6775631" cy="35259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" name="Google Shape;123;p27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7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5" name="Google Shape;125;p27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26" name="Google Shape;126;p27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7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</a:t>
            </a:r>
            <a:r>
              <a:rPr i="1" lang="en">
                <a:highlight>
                  <a:srgbClr val="FFFF00"/>
                </a:highlight>
              </a:rPr>
              <a:t>Reusing</a:t>
            </a:r>
            <a:r>
              <a:rPr i="1" lang="en"/>
              <a:t> without destroying</a:t>
            </a:r>
            <a:endParaRPr i="1"/>
          </a:p>
        </p:txBody>
      </p:sp>
      <p:sp>
        <p:nvSpPr>
          <p:cNvPr id="130" name="Google Shape;130;p27"/>
          <p:cNvSpPr/>
          <p:nvPr/>
        </p:nvSpPr>
        <p:spPr>
          <a:xfrm>
            <a:off x="1131075" y="2096613"/>
            <a:ext cx="6244800" cy="1454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7"/>
          <p:cNvSpPr/>
          <p:nvPr/>
        </p:nvSpPr>
        <p:spPr>
          <a:xfrm>
            <a:off x="1131075" y="3648200"/>
            <a:ext cx="3696600" cy="6552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" name="Google Shape;132;p27"/>
          <p:cNvCxnSpPr/>
          <p:nvPr/>
        </p:nvCxnSpPr>
        <p:spPr>
          <a:xfrm flipH="1" rot="10800000">
            <a:off x="2349675" y="1971550"/>
            <a:ext cx="27300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" name="Google Shape;133;p27"/>
          <p:cNvGrpSpPr/>
          <p:nvPr/>
        </p:nvGrpSpPr>
        <p:grpSpPr>
          <a:xfrm>
            <a:off x="3864550" y="982150"/>
            <a:ext cx="4659625" cy="913200"/>
            <a:chOff x="3102550" y="982150"/>
            <a:chExt cx="4659625" cy="913200"/>
          </a:xfrm>
        </p:grpSpPr>
        <p:cxnSp>
          <p:nvCxnSpPr>
            <p:cNvPr id="134" name="Google Shape;134;p27"/>
            <p:cNvCxnSpPr/>
            <p:nvPr/>
          </p:nvCxnSpPr>
          <p:spPr>
            <a:xfrm flipH="1" rot="10800000">
              <a:off x="3102550" y="1367050"/>
              <a:ext cx="974700" cy="528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5" name="Google Shape;135;p27"/>
            <p:cNvSpPr txBox="1"/>
            <p:nvPr/>
          </p:nvSpPr>
          <p:spPr>
            <a:xfrm>
              <a:off x="4065575" y="982150"/>
              <a:ext cx="36966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</a:rPr>
                <a:t>Trivia: Python’s way of getting </a:t>
              </a:r>
              <a:endParaRPr b="1" sz="13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</a:rPr>
                <a:t>away w/o a variable</a:t>
              </a:r>
              <a:endParaRPr b="1" sz="1300">
                <a:solidFill>
                  <a:schemeClr val="dk1"/>
                </a:solidFill>
              </a:endParaRPr>
            </a:p>
          </p:txBody>
        </p:sp>
      </p:grpSp>
      <p:cxnSp>
        <p:nvCxnSpPr>
          <p:cNvPr id="136" name="Google Shape;136;p27"/>
          <p:cNvCxnSpPr/>
          <p:nvPr/>
        </p:nvCxnSpPr>
        <p:spPr>
          <a:xfrm flipH="1" rot="10800000">
            <a:off x="3336175" y="2881641"/>
            <a:ext cx="1974000" cy="3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8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3" name="Google Shape;143;p28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44" name="Google Shape;144;p28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6" name="Google Shape;14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</a:t>
            </a:r>
            <a:r>
              <a:rPr i="1" lang="en">
                <a:highlight>
                  <a:srgbClr val="FFFF00"/>
                </a:highlight>
              </a:rPr>
              <a:t>Reusing</a:t>
            </a:r>
            <a:r>
              <a:rPr i="1" lang="en"/>
              <a:t> without destroying</a:t>
            </a:r>
            <a:endParaRPr i="1"/>
          </a:p>
        </p:txBody>
      </p:sp>
      <p:pic>
        <p:nvPicPr>
          <p:cNvPr id="148" name="Google Shape;148;p28"/>
          <p:cNvPicPr preferRelativeResize="0"/>
          <p:nvPr/>
        </p:nvPicPr>
        <p:blipFill rotWithShape="1">
          <a:blip r:embed="rId4">
            <a:alphaModFix/>
          </a:blip>
          <a:srcRect b="55148" l="0" r="14207" t="0"/>
          <a:stretch/>
        </p:blipFill>
        <p:spPr>
          <a:xfrm>
            <a:off x="565725" y="1395600"/>
            <a:ext cx="3742598" cy="28956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9" name="Google Shape;149;p28"/>
          <p:cNvPicPr preferRelativeResize="0"/>
          <p:nvPr/>
        </p:nvPicPr>
        <p:blipFill rotWithShape="1">
          <a:blip r:embed="rId4">
            <a:alphaModFix/>
          </a:blip>
          <a:srcRect b="0" l="0" r="0" t="43703"/>
          <a:stretch/>
        </p:blipFill>
        <p:spPr>
          <a:xfrm>
            <a:off x="4506750" y="1395600"/>
            <a:ext cx="3475500" cy="2895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" name="Google Shape;150;p28"/>
          <p:cNvSpPr/>
          <p:nvPr/>
        </p:nvSpPr>
        <p:spPr>
          <a:xfrm>
            <a:off x="440975" y="1266425"/>
            <a:ext cx="3992100" cy="716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28"/>
          <p:cNvGrpSpPr/>
          <p:nvPr/>
        </p:nvGrpSpPr>
        <p:grpSpPr>
          <a:xfrm>
            <a:off x="3642725" y="821250"/>
            <a:ext cx="3863775" cy="439975"/>
            <a:chOff x="3642725" y="821250"/>
            <a:chExt cx="3863775" cy="439975"/>
          </a:xfrm>
        </p:grpSpPr>
        <p:cxnSp>
          <p:nvCxnSpPr>
            <p:cNvPr id="152" name="Google Shape;152;p28"/>
            <p:cNvCxnSpPr/>
            <p:nvPr/>
          </p:nvCxnSpPr>
          <p:spPr>
            <a:xfrm flipH="1" rot="10800000">
              <a:off x="3642725" y="1038025"/>
              <a:ext cx="786900" cy="223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3" name="Google Shape;153;p28"/>
            <p:cNvSpPr txBox="1"/>
            <p:nvPr/>
          </p:nvSpPr>
          <p:spPr>
            <a:xfrm>
              <a:off x="4406300" y="821250"/>
              <a:ext cx="3100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u="sng">
                  <a:solidFill>
                    <a:srgbClr val="FF0000"/>
                  </a:solidFill>
                </a:rPr>
                <a:t>Every interaction is via the pool</a:t>
              </a:r>
              <a:endParaRPr b="1" i="1" u="sng">
                <a:solidFill>
                  <a:srgbClr val="FF0000"/>
                </a:solidFill>
              </a:endParaRPr>
            </a:p>
          </p:txBody>
        </p:sp>
      </p:grpSp>
      <p:cxnSp>
        <p:nvCxnSpPr>
          <p:cNvPr id="154" name="Google Shape;154;p28"/>
          <p:cNvCxnSpPr/>
          <p:nvPr/>
        </p:nvCxnSpPr>
        <p:spPr>
          <a:xfrm>
            <a:off x="3431350" y="1895350"/>
            <a:ext cx="634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6852" y="712496"/>
            <a:ext cx="5012650" cy="363635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" name="Google Shape;160;p29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9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</a:t>
            </a:r>
            <a:r>
              <a:rPr i="1" lang="en">
                <a:highlight>
                  <a:srgbClr val="FFFF00"/>
                </a:highlight>
              </a:rPr>
              <a:t>Reusing</a:t>
            </a:r>
            <a:r>
              <a:rPr i="1" lang="en"/>
              <a:t> without destroying</a:t>
            </a:r>
            <a:endParaRPr i="1"/>
          </a:p>
        </p:txBody>
      </p:sp>
      <p:sp>
        <p:nvSpPr>
          <p:cNvPr id="167" name="Google Shape;167;p29"/>
          <p:cNvSpPr/>
          <p:nvPr/>
        </p:nvSpPr>
        <p:spPr>
          <a:xfrm>
            <a:off x="1741725" y="3787075"/>
            <a:ext cx="4425900" cy="6552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0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4" name="Google Shape;174;p30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75" name="Google Shape;175;p30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</a:t>
            </a:r>
            <a:r>
              <a:rPr lang="en"/>
              <a:t>Takeaways</a:t>
            </a:r>
            <a:endParaRPr/>
          </a:p>
        </p:txBody>
      </p:sp>
      <p:graphicFrame>
        <p:nvGraphicFramePr>
          <p:cNvPr id="179" name="Google Shape;179;p30"/>
          <p:cNvGraphicFramePr/>
          <p:nvPr/>
        </p:nvGraphicFramePr>
        <p:xfrm>
          <a:off x="916063" y="892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{54D90114-6E4D-4D73-BCB0-18013F920344}</a:tableStyleId>
              </a:tblPr>
              <a:tblGrid>
                <a:gridCol w="2542375"/>
                <a:gridCol w="4883725"/>
              </a:tblGrid>
              <a:tr h="550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Advantage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Explanation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Performance Boost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highlight>
                            <a:srgbClr val="D9EAD3"/>
                          </a:highlight>
                        </a:rPr>
                        <a:t>Avoids </a:t>
                      </a:r>
                      <a:r>
                        <a:rPr lang="en" sz="1700">
                          <a:highlight>
                            <a:srgbClr val="F4CCCC"/>
                          </a:highlight>
                        </a:rPr>
                        <a:t>repeated object creation</a:t>
                      </a:r>
                      <a:r>
                        <a:rPr lang="en" sz="1700"/>
                        <a:t> and </a:t>
                      </a:r>
                      <a:r>
                        <a:rPr lang="en" sz="1700" u="sng">
                          <a:solidFill>
                            <a:srgbClr val="FF0000"/>
                          </a:solidFill>
                        </a:rPr>
                        <a:t>destruction</a:t>
                      </a:r>
                      <a:r>
                        <a:rPr lang="en" sz="1700"/>
                        <a:t>.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Efficient Memory Usage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Keeps a </a:t>
                      </a:r>
                      <a:r>
                        <a:rPr lang="en" sz="1700">
                          <a:highlight>
                            <a:srgbClr val="FFFF00"/>
                          </a:highlight>
                        </a:rPr>
                        <a:t>fixed number of objects active</a:t>
                      </a:r>
                      <a:r>
                        <a:rPr lang="en" sz="1700"/>
                        <a:t>, reducing memory bloat.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Ideal for </a:t>
                      </a:r>
                      <a:r>
                        <a:rPr b="1" lang="en" sz="1500">
                          <a:highlight>
                            <a:srgbClr val="FFFF00"/>
                          </a:highlight>
                        </a:rPr>
                        <a:t>Repeated </a:t>
                      </a:r>
                      <a:r>
                        <a:rPr b="1" lang="en" sz="1500"/>
                        <a:t>Interactions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Perfect when the </a:t>
                      </a:r>
                      <a:r>
                        <a:rPr b="1" i="1" lang="en" sz="1700">
                          <a:highlight>
                            <a:srgbClr val="FFFF00"/>
                          </a:highlight>
                        </a:rPr>
                        <a:t>same</a:t>
                      </a:r>
                      <a:r>
                        <a:rPr b="1" i="1" lang="en" sz="1700"/>
                        <a:t> objects are used frequently</a:t>
                      </a:r>
                      <a:r>
                        <a:rPr lang="en" sz="1700"/>
                        <a:t>.</a:t>
                      </a:r>
                      <a:endParaRPr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1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6" name="Google Shape;186;p31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</a:t>
            </a:r>
            <a:r>
              <a:rPr b="1" lang="en" sz="1000">
                <a:solidFill>
                  <a:schemeClr val="lt1"/>
                </a:solidFill>
              </a:rPr>
              <a:t>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87" name="Google Shape;187;p31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1"/>
          <p:cNvSpPr txBox="1"/>
          <p:nvPr>
            <p:ph type="title"/>
          </p:nvPr>
        </p:nvSpPr>
        <p:spPr>
          <a:xfrm>
            <a:off x="311700" y="19984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When does the pool get muddy?</a:t>
            </a:r>
            <a:endParaRPr i="1" sz="322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2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7" name="Google Shape;197;p32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198" name="Google Shape;198;p32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" name="Google Shape;2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Takeaways</a:t>
            </a:r>
            <a:endParaRPr/>
          </a:p>
        </p:txBody>
      </p:sp>
      <p:graphicFrame>
        <p:nvGraphicFramePr>
          <p:cNvPr id="202" name="Google Shape;202;p32"/>
          <p:cNvGraphicFramePr/>
          <p:nvPr/>
        </p:nvGraphicFramePr>
        <p:xfrm>
          <a:off x="240343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{54D90114-6E4D-4D73-BCB0-18013F920344}</a:tableStyleId>
              </a:tblPr>
              <a:tblGrid>
                <a:gridCol w="2775200"/>
                <a:gridCol w="5904700"/>
              </a:tblGrid>
              <a:tr h="582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Scenario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Why Object Pool is </a:t>
                      </a:r>
                      <a:r>
                        <a:rPr b="1" lang="en" sz="1500">
                          <a:highlight>
                            <a:srgbClr val="F4CCCC"/>
                          </a:highlight>
                        </a:rPr>
                        <a:t>NOT</a:t>
                      </a:r>
                      <a:r>
                        <a:rPr b="1" lang="en" sz="1500"/>
                        <a:t> Ideal?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Animals require unique attributes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If every animal must have a </a:t>
                      </a:r>
                      <a:r>
                        <a:rPr lang="en" sz="1800">
                          <a:highlight>
                            <a:srgbClr val="F4CCCC"/>
                          </a:highlight>
                        </a:rPr>
                        <a:t>distinct identity</a:t>
                      </a:r>
                      <a:r>
                        <a:rPr lang="en" sz="1800"/>
                        <a:t>, pooling might cause state issues.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highlight>
                            <a:srgbClr val="F4CCCC"/>
                          </a:highlight>
                        </a:rPr>
                        <a:t>Short-lived</a:t>
                      </a:r>
                      <a:r>
                        <a:rPr b="1" lang="en" sz="1500"/>
                        <a:t> animals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If animals are rarely reused, pooling adds unnecessary complexity.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Memory is not a concern</a:t>
                      </a:r>
                      <a:endParaRPr b="1"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If system </a:t>
                      </a:r>
                      <a:r>
                        <a:rPr lang="en" sz="1800">
                          <a:highlight>
                            <a:srgbClr val="D9EAD3"/>
                          </a:highlight>
                        </a:rPr>
                        <a:t>resources are sufficient</a:t>
                      </a:r>
                      <a:r>
                        <a:rPr lang="en" sz="1800"/>
                        <a:t>, object pooling may be </a:t>
                      </a:r>
                      <a:r>
                        <a:rPr lang="en" sz="1800">
                          <a:highlight>
                            <a:srgbClr val="F4CCCC"/>
                          </a:highlight>
                        </a:rPr>
                        <a:t>overkill</a:t>
                      </a:r>
                      <a:r>
                        <a:rPr lang="en" sz="1800"/>
                        <a:t>.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3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09" name="Google Shape;209;p33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2" name="Google Shape;21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3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Object Mgmt.: </a:t>
            </a:r>
            <a:r>
              <a:rPr i="1" lang="en"/>
              <a:t>Much better off without a pool</a:t>
            </a:r>
            <a:r>
              <a:rPr lang="en"/>
              <a:t>!</a:t>
            </a:r>
            <a:endParaRPr i="1"/>
          </a:p>
        </p:txBody>
      </p:sp>
      <p:pic>
        <p:nvPicPr>
          <p:cNvPr id="214" name="Google Shape;21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650" y="812550"/>
            <a:ext cx="6112974" cy="35184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5" name="Google Shape;21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3700" y="923650"/>
            <a:ext cx="4438500" cy="2897575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16" name="Google Shape;216;p33"/>
          <p:cNvCxnSpPr/>
          <p:nvPr/>
        </p:nvCxnSpPr>
        <p:spPr>
          <a:xfrm>
            <a:off x="2640123" y="2082979"/>
            <a:ext cx="634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33"/>
          <p:cNvSpPr txBox="1"/>
          <p:nvPr/>
        </p:nvSpPr>
        <p:spPr>
          <a:xfrm>
            <a:off x="762000" y="838200"/>
            <a:ext cx="7177500" cy="34170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🚀 </a:t>
            </a:r>
            <a:r>
              <a:rPr b="1" lang="en" sz="2100">
                <a:solidFill>
                  <a:schemeClr val="dk1"/>
                </a:solidFill>
              </a:rPr>
              <a:t>Objects (animals) are created dynamically when needed.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🚀 </a:t>
            </a:r>
            <a:r>
              <a:rPr b="1" lang="en" sz="2100">
                <a:solidFill>
                  <a:schemeClr val="dk1"/>
                </a:solidFill>
              </a:rPr>
              <a:t>Each object has a unique state (name, age, health).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🚀 </a:t>
            </a:r>
            <a:r>
              <a:rPr b="1" lang="en" sz="2100">
                <a:solidFill>
                  <a:schemeClr val="dk1"/>
                </a:solidFill>
              </a:rPr>
              <a:t>Objects (animals) are removed (die) when they are no longer valid.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🚀 </a:t>
            </a:r>
            <a:r>
              <a:rPr b="1" lang="en" sz="2100">
                <a:solidFill>
                  <a:schemeClr val="dk1"/>
                </a:solidFill>
              </a:rPr>
              <a:t>The number of objects is not fixed and changes over time.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/>
          <p:nvPr/>
        </p:nvSpPr>
        <p:spPr>
          <a:xfrm>
            <a:off x="-150" y="4691500"/>
            <a:ext cx="9144000" cy="45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4"/>
          <p:cNvSpPr txBox="1"/>
          <p:nvPr/>
        </p:nvSpPr>
        <p:spPr>
          <a:xfrm>
            <a:off x="6066175" y="4776875"/>
            <a:ext cx="177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Sourish Dasgupta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547775" y="4776850"/>
            <a:ext cx="35178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IT560: Creational Design Patterns: Object Pool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4241850" y="4518475"/>
            <a:ext cx="646800" cy="655200"/>
          </a:xfrm>
          <a:prstGeom prst="ellipse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106" y="4665724"/>
            <a:ext cx="40605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4"/>
          <p:cNvSpPr txBox="1"/>
          <p:nvPr>
            <p:ph type="title"/>
          </p:nvPr>
        </p:nvSpPr>
        <p:spPr>
          <a:xfrm>
            <a:off x="311700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Pool Design Pattern : Takeaways</a:t>
            </a:r>
            <a:endParaRPr/>
          </a:p>
        </p:txBody>
      </p:sp>
      <p:graphicFrame>
        <p:nvGraphicFramePr>
          <p:cNvPr id="229" name="Google Shape;229;p34"/>
          <p:cNvGraphicFramePr/>
          <p:nvPr/>
        </p:nvGraphicFramePr>
        <p:xfrm>
          <a:off x="474684" y="8556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{54D90114-6E4D-4D73-BCB0-18013F920344}</a:tableStyleId>
              </a:tblPr>
              <a:tblGrid>
                <a:gridCol w="1763650"/>
                <a:gridCol w="6535250"/>
              </a:tblGrid>
              <a:tr h="509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Issue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Why Object Pool Fails?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Animals are not reusable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Once an animal </a:t>
                      </a:r>
                      <a:r>
                        <a:rPr b="1" lang="en" sz="1600">
                          <a:highlight>
                            <a:srgbClr val="FFFF00"/>
                          </a:highlight>
                        </a:rPr>
                        <a:t>dies</a:t>
                      </a:r>
                      <a:r>
                        <a:rPr lang="en" sz="1600"/>
                        <a:t>, it </a:t>
                      </a:r>
                      <a:r>
                        <a:rPr lang="en" sz="1600">
                          <a:highlight>
                            <a:srgbClr val="F4CCCC"/>
                          </a:highlight>
                        </a:rPr>
                        <a:t>cannot be returned to the pool</a:t>
                      </a:r>
                      <a:r>
                        <a:rPr lang="en" sz="1600"/>
                        <a:t>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Each animal is unique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highlight>
                            <a:srgbClr val="FFFF00"/>
                          </a:highlight>
                        </a:rPr>
                        <a:t>Different names, ages, and health conditions</a:t>
                      </a:r>
                      <a:r>
                        <a:rPr lang="en" sz="1600"/>
                        <a:t> mean animals </a:t>
                      </a:r>
                      <a:r>
                        <a:rPr b="1" lang="en" sz="1600"/>
                        <a:t>cannot be simply </a:t>
                      </a:r>
                      <a:r>
                        <a:rPr b="1" lang="en" sz="1600">
                          <a:highlight>
                            <a:srgbClr val="F4CCCC"/>
                          </a:highlight>
                        </a:rPr>
                        <a:t>reset</a:t>
                      </a:r>
                      <a:r>
                        <a:rPr b="1" lang="en" sz="1600"/>
                        <a:t> and reused</a:t>
                      </a:r>
                      <a:r>
                        <a:rPr lang="en" sz="1600"/>
                        <a:t>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State retention is required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Object pools usually </a:t>
                      </a:r>
                      <a:r>
                        <a:rPr b="1" lang="en" sz="1600">
                          <a:highlight>
                            <a:srgbClr val="F4CCCC"/>
                          </a:highlight>
                        </a:rPr>
                        <a:t>reset</a:t>
                      </a:r>
                      <a:r>
                        <a:rPr b="1" lang="en" sz="1600"/>
                        <a:t> object states</a:t>
                      </a:r>
                      <a:r>
                        <a:rPr lang="en" sz="1600"/>
                        <a:t>, but these animals have </a:t>
                      </a:r>
                      <a:r>
                        <a:rPr b="1" lang="en" sz="1600">
                          <a:highlight>
                            <a:srgbClr val="FFFF00"/>
                          </a:highlight>
                        </a:rPr>
                        <a:t>progressive </a:t>
                      </a:r>
                      <a:r>
                        <a:rPr b="1" lang="en" sz="1600"/>
                        <a:t>aging and health decline</a:t>
                      </a:r>
                      <a:r>
                        <a:rPr lang="en" sz="1600"/>
                        <a:t>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/>
                        <a:t>Variable object count</a:t>
                      </a:r>
                      <a:endParaRPr b="1"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Object pools </a:t>
                      </a:r>
                      <a:r>
                        <a:rPr b="1" lang="en" sz="1600">
                          <a:highlight>
                            <a:srgbClr val="F4CCCC"/>
                          </a:highlight>
                        </a:rPr>
                        <a:t>assume a fixed number</a:t>
                      </a:r>
                      <a:r>
                        <a:rPr b="1" lang="en" sz="1600"/>
                        <a:t> of objects</a:t>
                      </a:r>
                      <a:r>
                        <a:rPr lang="en" sz="1600"/>
                        <a:t>, but here, animals are </a:t>
                      </a:r>
                      <a:r>
                        <a:rPr b="1" lang="en" sz="1600">
                          <a:highlight>
                            <a:srgbClr val="FFFF00"/>
                          </a:highlight>
                        </a:rPr>
                        <a:t>born and die dynamically</a:t>
                      </a:r>
                      <a:r>
                        <a:rPr lang="en" sz="1600"/>
                        <a:t>.</a:t>
                      </a:r>
                      <a:endParaRPr sz="16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